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BRD-11 User Access Maintenance sign-off pack, release set v2.1.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(Mon 2-Nov-2026).</a:t>
            </a:r>
          </a:p>
          <a:p>
            <a:r>
              <a:t>2. Kick-off and screen walkthrough on SIT: 2 sessions, Mon 9 and Tue 10-Nov-2026.</a:t>
            </a:r>
          </a:p>
          <a:p>
            <a:r>
              <a:t>3. Review with the workbook; configuration inputs started: 8 working days after the walkthroughs, until Fri 20-Nov-2026.</a:t>
            </a:r>
          </a:p>
          <a:p>
            <a:r>
              <a:t>4. Comments consolidated and a Q&amp;A session: 3 working days, Q&amp;A on Tue 24-Nov-2026.</a:t>
            </a:r>
          </a:p>
          <a:p>
            <a:r>
              <a:t>5. One revision cycle (v2.2): v2.2 on Thu 26-Nov-2026; check by the reviewers until Fri 27-Nov-2026.</a:t>
            </a:r>
          </a:p>
          <a:p>
            <a:r>
              <a:t>6. Sign-off meeting and signature: Tue 1-Dec-2026.</a:t>
            </a:r>
          </a:p>
          <a:p>
            <a:r>
              <a:t>7. Content freeze; configuration inputs loaded: From Wed 2-Dec-2026; templates final before UAT.</a:t>
            </a:r>
          </a:p>
          <a:p>
            <a:r>
              <a:t>8. Traceability into SIT and UAT: SIT Apr - Jul 2027; UAT Aug - Oct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(BRD-11 sign-off sheet p.19 (Owner: "I own this document and approve all of its contents")).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(BRD-11 sign-off sheet p.19 (Owner: "I own this document and approve all of its contents")).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test lead: Added for this set (author of the FRS set).</a:t>
            </a:r>
          </a:p>
          <a:p>
            <a:r>
              <a:t>Business Analyst, Enterprise Services - Business Process Services (BPS): Prepared by (p.19).</a:t>
            </a:r>
          </a:p>
          <a:p>
            <a:r>
              <a:t>BU representative, Marketing Business System (MBS): Input provider (p.19).</a:t>
            </a:r>
          </a:p>
          <a:p>
            <a:r>
              <a:t>Business Administration (user access maintenance): Added for this set.</a:t>
            </a:r>
          </a:p>
          <a:p>
            <a:r>
              <a:t>Program Manager, Enterprise Services - Business Process Services (BPS): Reviewed by (p.19).</a:t>
            </a:r>
          </a:p>
          <a:p>
            <a:r>
              <a:t>BDOI Information Security: Added for this set.</a:t>
            </a:r>
          </a:p>
          <a:p>
            <a:r>
              <a:t>BDOI Information Technology Group (BDOI IT): Added for this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Marketing Business System: Approved by, owner (p.19).</a:t>
            </a:r>
          </a:p>
          <a:p>
            <a:r>
              <a:t>Unit Head - Claims and Risk Management: Approved by (p.19).</a:t>
            </a:r>
          </a:p>
          <a:p>
            <a:r>
              <a:t>Unit Head - Combank and Corbank Marketing / Corporate Processing: Approved by (p.19).</a:t>
            </a:r>
          </a:p>
          <a:p>
            <a:r>
              <a:t>Head - Comptrollership: Approved by (p.19).</a:t>
            </a:r>
          </a:p>
          <a:p>
            <a:r>
              <a:t>Head - Retail Marketing: Approved by (p.19).</a:t>
            </a:r>
          </a:p>
          <a:p>
            <a:r>
              <a:t>Head - Corporate and Retail Marketing: Approved by (p.19).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runs from client onboarding and KYC, through the quotation or the PRF, the account, payment and placement, issuance and booking, to the hand-off to Operations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 The menus of 40 more personas of the other BRDs are there too, one table and one sheet each.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User Access Maintenance is the source of the users, group profiles and permissions that every BIBS module checks, and of the menus each persona sees. A later change in any BRD that adds a permission, a persona or a screen, or that changes who may approve, is delivered as a group-profile request under this signed set (configuration, no change request) when the permission exists; a new permission, a new separation-of-duties rule, a new request type, or a change to the sign-in and identity integration is raised as a change request against this signed set in the Change Management Register, assessed with its mandays and approved by the owners of both BRDs and by BDOI Information Security; the affected pages of this set are then re-issued and signed as a delta.</a:t>
            </a:r>
          </a:p>
          <a:p>
            <a:r>
              <a:t>IC-01 Every BIBS module (BRD-1 to BRD-13 and the platform) (Out): The signed-in user, the active group profiles and the effective permissions; the sidebar of each persona; the inactivity and session rules</a:t>
            </a:r>
          </a:p>
          <a:p>
            <a:r>
              <a:t>IC-02 BRD-1 New Business (Out / In): Out: the approval right of access requests kept by the New Business Approver; the access requests listed in My Approvals. In: My Approvals (the shared approval list), Lists of Values (business unit groups, user levels, deactivation reasons) and Data Retention (retention rule of cancelled and rejected access requests)</a:t>
            </a:r>
          </a:p>
          <a:p>
            <a:r>
              <a:t>IC-03 BRD-3 Product Maintenance (Out): The role-permission change requests of Product Maintenance (Modify group profile) and the User Access Matrix by area and action class</a:t>
            </a:r>
          </a:p>
          <a:p>
            <a:r>
              <a:t>IC-04 BRD-10 Sanction Screening (Out): The Compliance roles (Compliance Officer, Checker, Unit Compliance Coordinator, Screening Investigator, Screening Approver, AML Committee) and their menus, checked by the persona menu test of the suite BRD-10/11</a:t>
            </a:r>
          </a:p>
          <a:p>
            <a:r>
              <a:t>IC-05 BRD-2 Operations, BRD-4 Collections, BRD-5 Accounting, BRD-6 Renewal, BRD-7 Claims, BRD-8 Employee Benefits, BRD-12 Submitted Policies (Out): The group profiles of their personas and the menus they give; the persona suites of Renewal, Claims and Employee Benefits are checked by the persona menu test</a:t>
            </a:r>
          </a:p>
          <a:p>
            <a:r>
              <a:t>IC-06 BRD-8 Employee Benefits (partner portal) (Out): External (portal) users of insurers and client HR, provisioned through access requests of user type External</a:t>
            </a:r>
          </a:p>
          <a:p>
            <a:r>
              <a:t>IC-07 BRD-13 Data Migration (In): The users and group profiles of go-live. Users are out of the migration scope (DMQ30); they are loaded with the bulk request from the users and roles template of this set, and the migration team's own profiles are given through access requests</a:t>
            </a:r>
          </a:p>
          <a:p>
            <a:r>
              <a:t>IC-08 EIAM (BDO Enterprise Identity Access Management on Microsoft Entra ID), owned by BDOI IT (In): The sign-in of BDO users through single sign-on (OpenID Connect, or SAML 2.0 as the fall-back); BIBS keeps the roles, permissions, the inactivity sign-out and the session log</a:t>
            </a:r>
          </a:p>
          <a:p>
            <a:r>
              <a:t>IC-09 UIDM-ISC (BDO identity governance), owned by BDOI IT (In / Out): Joiner, mover and leaver provisioning and access certification</a:t>
            </a:r>
          </a:p>
          <a:p>
            <a:r>
              <a:t>IC-10 Messaging (e-mail relay of the BIBS environment) (Out): The access-changed e-mails, the password reset links, the password expiry notices and the batch failure e-mails</a:t>
            </a:r>
          </a:p>
          <a:p>
            <a:r>
              <a:t>IC-11 Audit trail and reports (platform) (Out): Sign-ins, failed sign-ins, sign-outs, parameter changes and every access change with its from and to values, request number, done by and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the approved deltas are scheduled and the configuration inputs are loaded through requests.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Mon 9-Nov-2026</a:t>
            </a:r>
          </a:p>
          <a:p>
            <a:r>
              <a:t>Workbooks returned by Fri 20-Nov-2026; Q&amp;A on Tue 24-Nov-2026; sign-off on Tue 1-Dec-2026</a:t>
            </a:r>
          </a:p>
          <a:p>
            <a:r>
              <a:t>Configuration input templates filled in: users and role matrix before the first data migration mock; parameters agreed with Information Security before UAT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BRD-11 User Access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BRD-11 User Access Maintenance business sign-off pack, release set v2.1</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User Access Maintenance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19 screens, 157 fields, 74 business rules, 220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00_BIBS_StartHere_BRD-11_User_Access_Maintenance_v2.1.docx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01_BIBS_GuideDeck_BRD-11_User_Access_Maintenance_v2.1.pptx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entry and exit criteria, change control</a:t>
                      </a:r>
                    </a:p>
                  </a:txBody>
                  <a:tcPr marL="73152" marR="73152" marT="36576" marB="36576">
                    <a:solidFill>
                      <a:srgbClr val="E5F5FF"/>
                    </a:solidFill>
                  </a:tcPr>
                </a:tc>
                <a:tc>
                  <a:txBody>
                    <a:bodyPr/>
                    <a:lstStyle/>
                    <a:p>
                      <a:r>
                        <a:rPr sz="1000" b="0">
                          <a:solidFill>
                            <a:srgbClr val="4B4B4B"/>
                          </a:solidFill>
                          <a:latin typeface="Arial"/>
                        </a:rPr>
                        <a:t>Business owner, Business Administration, Information Security, BDOI IT;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02_BIBS_FRS_BRD-11_User_Access_Maintenance_v2.1.docx</a:t>
                      </a:r>
                    </a:p>
                  </a:txBody>
                  <a:tcPr marL="73152" marR="73152" marT="36576" marB="36576">
                    <a:solidFill>
                      <a:srgbClr val="FFFFFF"/>
                    </a:solidFill>
                  </a:tcPr>
                </a:tc>
                <a:tc>
                  <a:txBody>
                    <a:bodyPr/>
                    <a:lstStyle/>
                    <a:p>
                      <a:r>
                        <a:rPr sz="1000" b="0">
                          <a:solidFill>
                            <a:srgbClr val="4B4B4B"/>
                          </a:solidFill>
                          <a:latin typeface="Arial"/>
                        </a:rPr>
                        <a:t>Functional Requirements Specification v2.1: requirements, the menu of every persona, 19 screen specifications with screenshots, walkthroughs, messages, notifications, reports, the bulk upload, configuration inputs, cross-BRD contract</a:t>
                      </a:r>
                    </a:p>
                  </a:txBody>
                  <a:tcPr marL="73152" marR="73152" marT="36576" marB="36576">
                    <a:solidFill>
                      <a:srgbClr val="FFFFFF"/>
                    </a:solidFill>
                  </a:tcPr>
                </a:tc>
                <a:tc>
                  <a:txBody>
                    <a:bodyPr/>
                    <a:lstStyle/>
                    <a:p>
                      <a:r>
                        <a:rPr sz="1000" b="0">
                          <a:solidFill>
                            <a:srgbClr val="4B4B4B"/>
                          </a:solidFill>
                          <a:latin typeface="Arial"/>
                        </a:rPr>
                        <a:t>Business Administration for the requests and reports; Information Security for the role matrix and the separation of duties; BDOI IT for sign-in and identity integration</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03_BIBS_Signoff_BRD-11_User_Access_Maintenance_v2.1.xlsx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one menu sheet per persona;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signatories sign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04_BIBS_TestPlan_BRD-11_User_Access_Maintenance_v2.1.xlsx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FRs and to the screens, including one screen case and one message case per screen and the access checks by persona</a:t>
                      </a:r>
                    </a:p>
                  </a:txBody>
                  <a:tcPr marL="73152" marR="73152" marT="36576" marB="36576">
                    <a:solidFill>
                      <a:srgbClr val="FFFFFF"/>
                    </a:solidFill>
                  </a:tcPr>
                </a:tc>
                <a:tc>
                  <a:txBody>
                    <a:bodyPr/>
                    <a:lstStyle/>
                    <a:p>
                      <a:r>
                        <a:rPr sz="1000" b="0">
                          <a:solidFill>
                            <a:srgbClr val="4B4B4B"/>
                          </a:solidFill>
                          <a:latin typeface="Arial"/>
                        </a:rPr>
                        <a:t>Business users who will run UAT; Information Security;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05_BIBS_TestPlan_BRD-11_User_Access_Maintenance_Summary_v2.1.docx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Business owner, Information Security,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06_BIBS_Templates_BRD-11_Configuration_Inputs_v2.1.xlsx</a:t>
                      </a:r>
                    </a:p>
                  </a:txBody>
                  <a:tcPr marL="73152" marR="73152" marT="36576" marB="36576">
                    <a:solidFill>
                      <a:srgbClr val="E5F5FF"/>
                    </a:solidFill>
                  </a:tcPr>
                </a:tc>
                <a:tc>
                  <a:txBody>
                    <a:bodyPr/>
                    <a:lstStyle/>
                    <a:p>
                      <a:r>
                        <a:rPr sz="1000" b="0">
                          <a:solidFill>
                            <a:srgbClr val="4B4B4B"/>
                          </a:solidFill>
                          <a:latin typeface="Arial"/>
                        </a:rPr>
                        <a:t>Configuration input templates: users and roles load, role-to-permission matrix, approval rules and limits, separation-of-duties rules, password and session parameters, lists of values</a:t>
                      </a:r>
                    </a:p>
                  </a:txBody>
                  <a:tcPr marL="73152" marR="73152" marT="36576" marB="36576">
                    <a:solidFill>
                      <a:srgbClr val="E5F5FF"/>
                    </a:solidFill>
                  </a:tcPr>
                </a:tc>
                <a:tc>
                  <a:txBody>
                    <a:bodyPr/>
                    <a:lstStyle/>
                    <a:p>
                      <a:r>
                        <a:rPr sz="1000" b="0">
                          <a:solidFill>
                            <a:srgbClr val="4B4B4B"/>
                          </a:solidFill>
                          <a:latin typeface="Arial"/>
                        </a:rPr>
                        <a:t>Business Administration, Information Security, BDOI IT, the unit heads who name their users</a:t>
                      </a:r>
                    </a:p>
                  </a:txBody>
                  <a:tcPr marL="73152" marR="73152" marT="36576" marB="36576">
                    <a:solidFill>
                      <a:srgbClr val="E5F5FF"/>
                    </a:solidFill>
                  </a:tcPr>
                </a:tc>
                <a:tc>
                  <a:txBody>
                    <a:bodyPr/>
                    <a:lstStyle/>
                    <a:p>
                      <a:r>
                        <a:rPr sz="1000" b="0">
                          <a:solidFill>
                            <a:srgbClr val="4B4B4B"/>
                          </a:solidFill>
                          <a:latin typeface="Arial"/>
                        </a:rPr>
                        <a:t>During the review; filled in before the first data migration mock and final before UAT</a:t>
                      </a:r>
                    </a:p>
                  </a:txBody>
                  <a:tcPr marL="73152" marR="73152" marT="36576" marB="36576">
                    <a:solidFill>
                      <a:srgbClr val="E5F5FF"/>
                    </a:solidFill>
                  </a:tcPr>
                </a:tc>
              </a:tr>
              <a:tr h="365760">
                <a:tc>
                  <a:txBody>
                    <a:bodyPr/>
                    <a:lstStyle/>
                    <a:p>
                      <a:r>
                        <a:rPr sz="1000" b="0">
                          <a:solidFill>
                            <a:srgbClr val="4B4B4B"/>
                          </a:solidFill>
                          <a:latin typeface="Arial"/>
                        </a:rPr>
                        <a:t>07_BIBS_UXDeck_BRD-11_User_Access_Maintenance_v2.1.pptx</a:t>
                      </a:r>
                    </a:p>
                  </a:txBody>
                  <a:tcPr marL="73152" marR="73152" marT="36576" marB="36576">
                    <a:solidFill>
                      <a:srgbClr val="FFFFFF"/>
                    </a:solidFill>
                  </a:tcPr>
                </a:tc>
                <a:tc>
                  <a:txBody>
                    <a:bodyPr/>
                    <a:lstStyle/>
                    <a:p>
                      <a:r>
                        <a:rPr sz="1000" b="0">
                          <a:solidFill>
                            <a:srgbClr val="4B4B4B"/>
                          </a:solidFill>
                          <a:latin typeface="Arial"/>
                        </a:rPr>
                        <a:t>UX Screen Deck for the BDOI UX Design team: design foundation, navigation and personas, every flow step by step and every screen with all its states</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FFFFFF"/>
                    </a:solidFill>
                  </a:tcPr>
                </a:tc>
              </a:tr>
              <a:tr h="365760">
                <a:tc>
                  <a:txBody>
                    <a:bodyPr/>
                    <a:lstStyle/>
                    <a:p>
                      <a:r>
                        <a:rPr sz="1000" b="0">
                          <a:solidFill>
                            <a:srgbClr val="4B4B4B"/>
                          </a:solidFill>
                          <a:latin typeface="Arial"/>
                        </a:rPr>
                        <a:t>08_BIBS_UXScreens_BRD-11_User_Access_Maintenance_v2.1.xlsx</a:t>
                      </a:r>
                    </a:p>
                  </a:txBody>
                  <a:tcPr marL="73152" marR="73152" marT="36576" marB="36576">
                    <a:solidFill>
                      <a:srgbClr val="E5F5FF"/>
                    </a:solidFill>
                  </a:tcPr>
                </a:tc>
                <a:tc>
                  <a:txBody>
                    <a:bodyPr/>
                    <a:lstStyle/>
                    <a:p>
                      <a:r>
                        <a:rPr sz="1000" b="0">
                          <a:solidFill>
                            <a:srgbClr val="4B4B4B"/>
                          </a:solidFill>
                          <a:latin typeface="Arial"/>
                        </a:rPr>
                        <a:t>UX screen register: one row per screen image with the screen, personas, flow and step, state, FRS section and requirements, UXD status and comments, and the Changed in this issue flag</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E5F5FF"/>
                    </a:solidFill>
                  </a:tcPr>
                </a:tc>
              </a:tr>
              <a:tr h="365760">
                <a:tc>
                  <a:txBody>
                    <a:bodyPr/>
                    <a:lstStyle/>
                    <a:p>
                      <a:r>
                        <a:rPr sz="1000" b="0">
                          <a:solidFill>
                            <a:srgbClr val="4B4B4B"/>
                          </a:solidFill>
                          <a:latin typeface="Arial"/>
                        </a:rPr>
                        <a:t>09_BIBS_UXScreens_BRD-11_User_Access_Maintenance_v2.1.zip</a:t>
                      </a:r>
                    </a:p>
                  </a:txBody>
                  <a:tcPr marL="73152" marR="73152" marT="36576" marB="36576">
                    <a:solidFill>
                      <a:srgbClr val="FFFF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Imported into the design tool at each issue</a:t>
                      </a:r>
                    </a:p>
                  </a:txBody>
                  <a:tcPr marL="73152" marR="73152" marT="36576" marB="36576">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Business owner (Product Owner, Marketing Business System)</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14 (walkthroughs), 19 (configuration inputs), 21 (sign-off) and 22 (proposed rules for confirmation); workbook Sign-off certificate</a:t>
                      </a:r>
                    </a:p>
                  </a:txBody>
                  <a:tcPr marL="73152" marR="73152" marT="36576" marB="36576">
                    <a:solidFill>
                      <a:srgbClr val="FFFFFF"/>
                    </a:solidFill>
                  </a:tcPr>
                </a:tc>
              </a:tr>
              <a:tr h="365760">
                <a:tc>
                  <a:txBody>
                    <a:bodyPr/>
                    <a:lstStyle/>
                    <a:p>
                      <a:r>
                        <a:rPr sz="1100" b="0">
                          <a:solidFill>
                            <a:srgbClr val="4B4B4B"/>
                          </a:solidFill>
                          <a:latin typeface="Arial"/>
                        </a:rPr>
                        <a:t>Business Administration (process owner of user access)</a:t>
                      </a:r>
                    </a:p>
                  </a:txBody>
                  <a:tcPr marL="73152" marR="73152" marT="36576" marB="36576">
                    <a:solidFill>
                      <a:srgbClr val="E5F5FF"/>
                    </a:solidFill>
                  </a:tcPr>
                </a:tc>
                <a:tc>
                  <a:txBody>
                    <a:bodyPr/>
                    <a:lstStyle/>
                    <a:p>
                      <a:r>
                        <a:rPr sz="1100" b="0">
                          <a:solidFill>
                            <a:srgbClr val="4B4B4B"/>
                          </a:solidFill>
                          <a:latin typeface="Arial"/>
                        </a:rPr>
                        <a:t>FRS chapter 13 screens SCR-UA-06 to SCR-UA-12, SCR-UA-14 and SCR-UA-17; walkthroughs A and B; chapter 18 (bulk upload); chapter 19 templates CI-01, CI-03 and CI-06; workbook Screen catalogue, Field register, Business rules and Messages of those screens</a:t>
                      </a:r>
                    </a:p>
                  </a:txBody>
                  <a:tcPr marL="73152" marR="73152" marT="36576" marB="36576">
                    <a:solidFill>
                      <a:srgbClr val="E5F5FF"/>
                    </a:solidFill>
                  </a:tcPr>
                </a:tc>
              </a:tr>
              <a:tr h="365760">
                <a:tc>
                  <a:txBody>
                    <a:bodyPr/>
                    <a:lstStyle/>
                    <a:p>
                      <a:r>
                        <a:rPr sz="1100" b="0">
                          <a:solidFill>
                            <a:srgbClr val="4B4B4B"/>
                          </a:solidFill>
                          <a:latin typeface="Arial"/>
                        </a:rPr>
                        <a:t>BDOI Information Security</a:t>
                      </a:r>
                    </a:p>
                  </a:txBody>
                  <a:tcPr marL="73152" marR="73152" marT="36576" marB="36576">
                    <a:solidFill>
                      <a:srgbClr val="FFFFFF"/>
                    </a:solidFill>
                  </a:tcPr>
                </a:tc>
                <a:tc>
                  <a:txBody>
                    <a:bodyPr/>
                    <a:lstStyle/>
                    <a:p>
                      <a:r>
                        <a:rPr sz="1100" b="0">
                          <a:solidFill>
                            <a:srgbClr val="4B4B4B"/>
                          </a:solidFill>
                          <a:latin typeface="Arial"/>
                        </a:rPr>
                        <a:t>FRS chapter 3 (personas and permissions), chapter 12 (menu of every persona) and its workbook sheets Menu by persona and Menu &lt;role&gt;; chapter 13 rules of SCR-UA-07, SCR-UA-08, SCR-UA-12, SCR-UA-15, SCR-UA-16 and SCR-UA-18 (separation of duties, second approval, emergency path); walkthroughs C and D; templates CI-02, CI-04 and CI-05</a:t>
                      </a:r>
                    </a:p>
                  </a:txBody>
                  <a:tcPr marL="73152" marR="73152" marT="36576" marB="36576">
                    <a:solidFill>
                      <a:srgbClr val="FFFFFF"/>
                    </a:solidFill>
                  </a:tcPr>
                </a:tc>
              </a:tr>
              <a:tr h="365760">
                <a:tc>
                  <a:txBody>
                    <a:bodyPr/>
                    <a:lstStyle/>
                    <a:p>
                      <a:r>
                        <a:rPr sz="1100" b="0">
                          <a:solidFill>
                            <a:srgbClr val="4B4B4B"/>
                          </a:solidFill>
                          <a:latin typeface="Arial"/>
                        </a:rPr>
                        <a:t>BDOI IT</a:t>
                      </a:r>
                    </a:p>
                  </a:txBody>
                  <a:tcPr marL="73152" marR="73152" marT="36576" marB="36576">
                    <a:solidFill>
                      <a:srgbClr val="E5F5FF"/>
                    </a:solidFill>
                  </a:tcPr>
                </a:tc>
                <a:tc>
                  <a:txBody>
                    <a:bodyPr/>
                    <a:lstStyle/>
                    <a:p>
                      <a:r>
                        <a:rPr sz="1100" b="0">
                          <a:solidFill>
                            <a:srgbClr val="4B4B4B"/>
                          </a:solidFill>
                          <a:latin typeface="Arial"/>
                        </a:rPr>
                        <a:t>FRS chapter 7 (interfaces: EIAM on Entra ID, UIDM-ISC), chapter 8 (non-functional requirements), screens SCR-UA-01 to SCR-UA-05, SCR-UA-15 and SCR-UA-18, chapter 20 lines IC-08 to IC-11; template CI-05; the caveats of the Guide deck</a:t>
                      </a:r>
                    </a:p>
                  </a:txBody>
                  <a:tcPr marL="73152" marR="73152" marT="36576" marB="36576">
                    <a:solidFill>
                      <a:srgbClr val="E5F5FF"/>
                    </a:solidFill>
                  </a:tcPr>
                </a:tc>
              </a:tr>
              <a:tr h="365760">
                <a:tc>
                  <a:txBody>
                    <a:bodyPr/>
                    <a:lstStyle/>
                    <a:p>
                      <a:r>
                        <a:rPr sz="1100" b="0">
                          <a:solidFill>
                            <a:srgbClr val="4B4B4B"/>
                          </a:solidFill>
                          <a:latin typeface="Arial"/>
                        </a:rPr>
                        <a:t>Unit heads of the other BRDs (New Business, Operations, Finance, Compliance, Claims, Employee Benefits)</a:t>
                      </a:r>
                    </a:p>
                  </a:txBody>
                  <a:tcPr marL="73152" marR="73152" marT="36576" marB="36576">
                    <a:solidFill>
                      <a:srgbClr val="FFFFFF"/>
                    </a:solidFill>
                  </a:tcPr>
                </a:tc>
                <a:tc>
                  <a:txBody>
                    <a:bodyPr/>
                    <a:lstStyle/>
                    <a:p>
                      <a:r>
                        <a:rPr sz="1100" b="0">
                          <a:solidFill>
                            <a:srgbClr val="4B4B4B"/>
                          </a:solidFill>
                          <a:latin typeface="Arial"/>
                        </a:rPr>
                        <a:t>FRS chapter 12, the menu table of their personas, and the workbook sheet Menu &lt;role&gt; of each; walkthrough A (a new user sees exactly the menu of the persona)</a:t>
                      </a:r>
                    </a:p>
                  </a:txBody>
                  <a:tcPr marL="73152" marR="73152" marT="36576" marB="36576">
                    <a:solidFill>
                      <a:srgbClr val="FFFFFF"/>
                    </a:solidFill>
                  </a:tcPr>
                </a:tc>
              </a:tr>
              <a:tr h="365760">
                <a:tc>
                  <a:txBody>
                    <a:bodyPr/>
                    <a:lstStyle/>
                    <a:p>
                      <a:r>
                        <a:rPr sz="1100" b="0">
                          <a:solidFill>
                            <a:srgbClr val="4B4B4B"/>
                          </a:solidFill>
                          <a:latin typeface="Arial"/>
                        </a:rPr>
                        <a:t>BDOI UX Design team</a:t>
                      </a:r>
                    </a:p>
                  </a:txBody>
                  <a:tcPr marL="73152" marR="73152" marT="36576" marB="36576">
                    <a:solidFill>
                      <a:srgbClr val="E5F5FF"/>
                    </a:solidFill>
                  </a:tcPr>
                </a:tc>
                <a:tc>
                  <a:txBody>
                    <a:bodyPr/>
                    <a:lstStyle/>
                    <a:p>
                      <a:r>
                        <a:rPr sz="1100" b="0">
                          <a:solidFill>
                            <a:srgbClr val="4B4B4B"/>
                          </a:solidFill>
                          <a:latin typeface="Arial"/>
                        </a:rPr>
                        <a:t>07 UX Screen Deck: design foundation and navigation first, then the personas, flows and screens of the design work; 08 UX screen register (filter Changed in this issue at each new issue); 09 image package in the design tool</a:t>
                      </a:r>
                    </a:p>
                  </a:txBody>
                  <a:tcPr marL="73152" marR="73152" marT="36576" marB="36576">
                    <a:solidFill>
                      <a:srgbClr val="E5F5FF"/>
                    </a:solidFill>
                  </a:tcPr>
                </a:tc>
              </a:tr>
              <a:tr h="365760">
                <a:tc>
                  <a:txBody>
                    <a:bodyPr/>
                    <a:lstStyle/>
                    <a:p>
                      <a:r>
                        <a:rPr sz="1100" b="0">
                          <a:solidFill>
                            <a:srgbClr val="4B4B4B"/>
                          </a:solidFill>
                          <a:latin typeface="Arial"/>
                        </a:rPr>
                        <a:t>iorta TechNXT project team</a:t>
                      </a:r>
                    </a:p>
                  </a:txBody>
                  <a:tcPr marL="73152" marR="73152" marT="36576" marB="36576">
                    <a:solidFill>
                      <a:srgbClr val="FFFF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v2.1 in the BRD-11 folder of Drop 0;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(Mon 2-Nov-2026)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2 sessions, Mon 9 and Tue 10-Nov-2026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 configuration inputs started</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 first drafts of the templates (users, role matrix, rules, parameters)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8 working days after the walkthroughs, until Fri 20-Nov-2026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3 working days, Q&amp;A on Tue 24-Nov-2026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(v2.2)</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v2.2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v2.2 on Thu 26-Nov-2026; check by the reviewers until Fri 27-Nov-2026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Tue 1-Dec-2026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 configuration inputs loaded</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 role matrix implemented by group-profile requests; users loaded by bulk requests before the first mock</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Wed 2-Dec-2026; templates final before UAT</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messages and persona menus;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Apr - Jul 2027; UAT Aug - Oct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v2.1, workbook, test plan, configuration input templates, guide and deck</a:t>
                      </a:r>
                    </a:p>
                  </a:txBody>
                  <a:tcPr marL="73152" marR="73152" marT="36576" marB="36576">
                    <a:solidFill>
                      <a:srgbClr val="FFFFFF"/>
                    </a:solidFill>
                  </a:tcPr>
                </a:tc>
                <a:tc>
                  <a:txBody>
                    <a:bodyPr/>
                    <a:lstStyle/>
                    <a:p>
                      <a:r>
                        <a:rPr sz="1000" b="0">
                          <a:solidFill>
                            <a:srgbClr val="4B4B4B"/>
                          </a:solidFill>
                          <a:latin typeface="Arial"/>
                        </a:rPr>
                        <a:t>Release set v2.1 in the BRD-11 folder of Drop 0; invitations to the sessions</a:t>
                      </a:r>
                    </a:p>
                  </a:txBody>
                  <a:tcPr marL="73152" marR="73152" marT="36576" marB="36576">
                    <a:solidFill>
                      <a:srgbClr val="FFFFFF"/>
                    </a:solidFill>
                  </a:tcPr>
                </a:tc>
                <a:tc>
                  <a:txBody>
                    <a:bodyPr/>
                    <a:lstStyle/>
                    <a:p>
                      <a:r>
                        <a:rPr sz="1000" b="0">
                          <a:solidFill>
                            <a:srgbClr val="4B4B4B"/>
                          </a:solidFill>
                          <a:latin typeface="Arial"/>
                        </a:rPr>
                        <a:t>Day 0 (Mon 2-Nov-2026)</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BDOI Product Owner; C: Business Administration, Information Security, BDOI IT; I: unit heads of the other BRDs</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to D</a:t>
                      </a:r>
                    </a:p>
                  </a:txBody>
                  <a:tcPr marL="73152" marR="73152" marT="36576" marB="36576">
                    <a:solidFill>
                      <a:srgbClr val="E5F5FF"/>
                    </a:solidFill>
                  </a:tcPr>
                </a:tc>
                <a:tc>
                  <a:txBody>
                    <a:bodyPr/>
                    <a:lstStyle/>
                    <a:p>
                      <a:r>
                        <a:rPr sz="1000" b="0">
                          <a:solidFill>
                            <a:srgbClr val="4B4B4B"/>
                          </a:solidFill>
                          <a:latin typeface="Arial"/>
                        </a:rPr>
                        <a:t>Screens shown live;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2 sessions, Mon 9 and Tue 10-Nov-2026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 configuration inputs started</a:t>
                      </a:r>
                    </a:p>
                  </a:txBody>
                  <a:tcPr marL="73152" marR="73152" marT="36576" marB="36576">
                    <a:solidFill>
                      <a:srgbClr val="FFFFFF"/>
                    </a:solidFill>
                  </a:tcPr>
                </a:tc>
                <a:tc>
                  <a:txBody>
                    <a:bodyPr/>
                    <a:lstStyle/>
                    <a:p>
                      <a:r>
                        <a:rPr sz="1000" b="0">
                          <a:solidFill>
                            <a:srgbClr val="4B4B4B"/>
                          </a:solidFill>
                          <a:latin typeface="Arial"/>
                        </a:rPr>
                        <a:t>R: Business Administration, Information Security, BDOI IT, unit heads for their menus; A: BDOI Product Owner;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 the menu sheet of each persona; the configuration input templates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 first drafts of the templates (users, role matrix, rules, parameters)</a:t>
                      </a:r>
                    </a:p>
                  </a:txBody>
                  <a:tcPr marL="73152" marR="73152" marT="36576" marB="36576">
                    <a:solidFill>
                      <a:srgbClr val="FFFFFF"/>
                    </a:solidFill>
                  </a:tcPr>
                </a:tc>
                <a:tc>
                  <a:txBody>
                    <a:bodyPr/>
                    <a:lstStyle/>
                    <a:p>
                      <a:r>
                        <a:rPr sz="1000" b="0">
                          <a:solidFill>
                            <a:srgbClr val="4B4B4B"/>
                          </a:solidFill>
                          <a:latin typeface="Arial"/>
                        </a:rPr>
                        <a:t>8 working days after the walkthroughs, until Fri 20-Nov-2026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BDOI Product Owner;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3 working days, Q&amp;A on Tue 24-Nov-2026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(v2.2)</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v2.2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v2.2 on Thu 26-Nov-2026; check by the reviewers until Fri 27-Nov-2026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BDOI Product Owner; C: Business Administration, Information Security, BDOI IT</a:t>
                      </a:r>
                    </a:p>
                  </a:txBody>
                  <a:tcPr marL="73152" marR="73152" marT="36576" marB="36576">
                    <a:solidFill>
                      <a:srgbClr val="E5F5FF"/>
                    </a:solidFill>
                  </a:tcPr>
                </a:tc>
                <a:tc>
                  <a:txBody>
                    <a:bodyPr/>
                    <a:lstStyle/>
                    <a:p>
                      <a:r>
                        <a:rPr sz="1000" b="0">
                          <a:solidFill>
                            <a:srgbClr val="4B4B4B"/>
                          </a:solidFill>
                          <a:latin typeface="Arial"/>
                        </a:rPr>
                        <a:t>v2.2 (or v2.1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Tue 1-Dec-2026</a:t>
                      </a:r>
                    </a:p>
                  </a:txBody>
                  <a:tcPr marL="73152" marR="73152" marT="36576" marB="36576">
                    <a:solidFill>
                      <a:srgbClr val="E5F5FF"/>
                    </a:solidFill>
                  </a:tcPr>
                </a:tc>
              </a:tr>
              <a:tr h="365760">
                <a:tc>
                  <a:txBody>
                    <a:bodyPr/>
                    <a:lstStyle/>
                    <a:p>
                      <a:r>
                        <a:rPr sz="1000" b="0">
                          <a:solidFill>
                            <a:srgbClr val="4B4B4B"/>
                          </a:solidFill>
                          <a:latin typeface="Arial"/>
                        </a:rPr>
                        <a:t>7. Content freeze; configuration inputs loaded</a:t>
                      </a:r>
                    </a:p>
                  </a:txBody>
                  <a:tcPr marL="73152" marR="73152" marT="36576" marB="36576">
                    <a:solidFill>
                      <a:srgbClr val="FFFFFF"/>
                    </a:solidFill>
                  </a:tcPr>
                </a:tc>
                <a:tc>
                  <a:txBody>
                    <a:bodyPr/>
                    <a:lstStyle/>
                    <a:p>
                      <a:r>
                        <a:rPr sz="1000" b="0">
                          <a:solidFill>
                            <a:srgbClr val="4B4B4B"/>
                          </a:solidFill>
                          <a:latin typeface="Arial"/>
                        </a:rPr>
                        <a:t>R: iorta TechNXT delivery lead; A: BDOI Product Owner; I: BDOI IT, Information Security, other BRD owners, Data Migration working group</a:t>
                      </a:r>
                    </a:p>
                  </a:txBody>
                  <a:tcPr marL="73152" marR="73152" marT="36576" marB="36576">
                    <a:solidFill>
                      <a:srgbClr val="FFFFFF"/>
                    </a:solidFill>
                  </a:tcPr>
                </a:tc>
                <a:tc>
                  <a:txBody>
                    <a:bodyPr/>
                    <a:lstStyle/>
                    <a:p>
                      <a:r>
                        <a:rPr sz="1000" b="0">
                          <a:solidFill>
                            <a:srgbClr val="4B4B4B"/>
                          </a:solidFill>
                          <a:latin typeface="Arial"/>
                        </a:rPr>
                        <a:t>Signed set; change requests with mandays; filled configuration input templates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 role matrix implemented by group-profile requests; users loaded by bulk requests before the first mock</a:t>
                      </a:r>
                    </a:p>
                  </a:txBody>
                  <a:tcPr marL="73152" marR="73152" marT="36576" marB="36576">
                    <a:solidFill>
                      <a:srgbClr val="FFFFFF"/>
                    </a:solidFill>
                  </a:tcPr>
                </a:tc>
                <a:tc>
                  <a:txBody>
                    <a:bodyPr/>
                    <a:lstStyle/>
                    <a:p>
                      <a:r>
                        <a:rPr sz="1000" b="0">
                          <a:solidFill>
                            <a:srgbClr val="4B4B4B"/>
                          </a:solidFill>
                          <a:latin typeface="Arial"/>
                        </a:rPr>
                        <a:t>From Wed 2-Dec-2026; templates final before UAT</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BDOI Product Owner; C: business users, Information Security</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messages and persona menus; results against each row</a:t>
                      </a:r>
                    </a:p>
                  </a:txBody>
                  <a:tcPr marL="73152" marR="73152" marT="36576" marB="36576">
                    <a:solidFill>
                      <a:srgbClr val="E5F5FF"/>
                    </a:solidFill>
                  </a:tcPr>
                </a:tc>
                <a:tc>
                  <a:txBody>
                    <a:bodyPr/>
                    <a:lstStyle/>
                    <a:p>
                      <a:r>
                        <a:rPr sz="1000" b="0">
                          <a:solidFill>
                            <a:srgbClr val="4B4B4B"/>
                          </a:solidFill>
                          <a:latin typeface="Arial"/>
                        </a:rPr>
                        <a:t>SIT Apr - Jul 2027; UAT Aug - Oct 2027</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Screens and fields (FRS screen specifications; workbook Screen catalogue, Field register)</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BU representative (MBS), Business Administration</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Business rules and validations (four eyes, password and session rules)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BU representative (MBS), Business Administration, BA (BPS)</a:t>
                      </a:r>
                    </a:p>
                  </a:txBody>
                  <a:tcPr marL="73152" marR="73152" marT="36576" marB="36576">
                    <a:solidFill>
                      <a:srgbClr val="E5F5FF"/>
                    </a:solidFill>
                  </a:tcPr>
                </a:tc>
                <a:tc>
                  <a:txBody>
                    <a:bodyPr/>
                    <a:lstStyle/>
                    <a:p>
                      <a:r>
                        <a:rPr sz="900" b="0">
                          <a:solidFill>
                            <a:srgbClr val="4B4B4B"/>
                          </a:solidFill>
                          <a:latin typeface="Arial"/>
                        </a:rPr>
                        <a:t>Program Manager (BPS), Information Security</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r h="365760">
                <a:tc>
                  <a:txBody>
                    <a:bodyPr/>
                    <a:lstStyle/>
                    <a:p>
                      <a:r>
                        <a:rPr sz="900" b="0">
                          <a:solidFill>
                            <a:srgbClr val="4B4B4B"/>
                          </a:solidFill>
                          <a:latin typeface="Arial"/>
                        </a:rPr>
                        <a:t>Messages and notifications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Business Administration</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Documents and reports (access reports, audit log)</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BU representative (MBS), Business Administration</a:t>
                      </a:r>
                    </a:p>
                  </a:txBody>
                  <a:tcPr marL="73152" marR="73152" marT="36576" marB="36576">
                    <a:solidFill>
                      <a:srgbClr val="E5F5FF"/>
                    </a:solidFill>
                  </a:tcPr>
                </a:tc>
                <a:tc>
                  <a:txBody>
                    <a:bodyPr/>
                    <a:lstStyle/>
                    <a:p>
                      <a:r>
                        <a:rPr sz="900" b="0">
                          <a:solidFill>
                            <a:srgbClr val="4B4B4B"/>
                          </a:solidFill>
                          <a:latin typeface="Arial"/>
                        </a:rPr>
                        <a:t>Program Manager (BPS), Information Security</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r h="365760">
                <a:tc>
                  <a:txBody>
                    <a:bodyPr/>
                    <a:lstStyle/>
                    <a:p>
                      <a:r>
                        <a:rPr sz="900" b="0">
                          <a:solidFill>
                            <a:srgbClr val="4B4B4B"/>
                          </a:solidFill>
                          <a:latin typeface="Arial"/>
                        </a:rPr>
                        <a:t>Walkthroughs (end-to-end, screen by screen)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BU representative (MBS), Business Administration</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BU representative (MBS), Business Administration</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Proposed business rules and clarifications for confirmation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 BU representative (MBS)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Role matrix and menus by persona (who may do what)</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BU representative (MBS), Business Administration</a:t>
                      </a:r>
                    </a:p>
                  </a:txBody>
                  <a:tcPr marL="73152" marR="73152" marT="36576" marB="36576">
                    <a:solidFill>
                      <a:srgbClr val="E5F5FF"/>
                    </a:solidFill>
                  </a:tcPr>
                </a:tc>
                <a:tc>
                  <a:txBody>
                    <a:bodyPr/>
                    <a:lstStyle/>
                    <a:p>
                      <a:r>
                        <a:rPr sz="900" b="0">
                          <a:solidFill>
                            <a:srgbClr val="4B4B4B"/>
                          </a:solidFill>
                          <a:latin typeface="Arial"/>
                        </a:rPr>
                        <a:t>Information Security, BDOI IT</a:t>
                      </a:r>
                    </a:p>
                  </a:txBody>
                  <a:tcPr marL="73152" marR="73152" marT="36576" marB="36576">
                    <a:solidFill>
                      <a:srgbClr val="E5F5FF"/>
                    </a:solidFill>
                  </a:tcPr>
                </a:tc>
                <a:tc>
                  <a:txBody>
                    <a:bodyPr/>
                    <a:lstStyle/>
                    <a:p>
                      <a:r>
                        <a:rPr sz="900" b="0">
                          <a:solidFill>
                            <a:srgbClr val="4B4B4B"/>
                          </a:solidFill>
                          <a:latin typeface="Arial"/>
                        </a:rPr>
                        <a:t>Product Owner, UH Claims and Risk Management, UH Combank and Corbank, Head Comptrollership, Head Retail Marketing, Head Corporate and Retail Marketing</a:t>
                      </a:r>
                    </a:p>
                  </a:txBody>
                  <a:tcPr marL="73152" marR="73152" marT="36576" marB="36576">
                    <a:solidFill>
                      <a:srgbClr val="E5F5FF"/>
                    </a:solidFill>
                  </a:tcPr>
                </a:tc>
              </a:tr>
              <a:tr h="365760">
                <a:tc>
                  <a:txBody>
                    <a:bodyPr/>
                    <a:lstStyle/>
                    <a:p>
                      <a:r>
                        <a:rPr sz="900" b="0">
                          <a:solidFill>
                            <a:srgbClr val="4B4B4B"/>
                          </a:solidFill>
                          <a:latin typeface="Arial"/>
                        </a:rPr>
                        <a:t>Interfaces and sign-in (EIAM, UIDM-ISC, directory)</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Business Administration</a:t>
                      </a:r>
                    </a:p>
                  </a:txBody>
                  <a:tcPr marL="73152" marR="73152" marT="36576" marB="36576">
                    <a:solidFill>
                      <a:srgbClr val="FFFFFF"/>
                    </a:solidFill>
                  </a:tcPr>
                </a:tc>
                <a:tc>
                  <a:txBody>
                    <a:bodyPr/>
                    <a:lstStyle/>
                    <a:p>
                      <a:r>
                        <a:rPr sz="900" b="0">
                          <a:solidFill>
                            <a:srgbClr val="4B4B4B"/>
                          </a:solidFill>
                          <a:latin typeface="Arial"/>
                        </a:rPr>
                        <a:t>BDOI IT, Information Security</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Test plan (04 workbook, 05 summary)</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BU representative (MBS), Business Administration</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r h="365760">
                <a:tc>
                  <a:txBody>
                    <a:bodyPr/>
                    <a:lstStyle/>
                    <a:p>
                      <a:r>
                        <a:rPr sz="900" b="0">
                          <a:solidFill>
                            <a:srgbClr val="4B4B4B"/>
                          </a:solidFill>
                          <a:latin typeface="Arial"/>
                        </a:rPr>
                        <a:t>Configuration inputs (06 templates, Drop 0)</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Business Administration, BU representative (MBS)</a:t>
                      </a:r>
                    </a:p>
                  </a:txBody>
                  <a:tcPr marL="73152" marR="73152" marT="36576" marB="36576">
                    <a:solidFill>
                      <a:srgbClr val="FFFFFF"/>
                    </a:solidFill>
                  </a:tcPr>
                </a:tc>
                <a:tc>
                  <a:txBody>
                    <a:bodyPr/>
                    <a:lstStyle/>
                    <a:p>
                      <a:r>
                        <a:rPr sz="900" b="0">
                          <a:solidFill>
                            <a:srgbClr val="4B4B4B"/>
                          </a:solidFill>
                          <a:latin typeface="Arial"/>
                        </a:rPr>
                        <a:t>Information Security, 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Technical Specification (separate document, not part of the business sign-off)</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 Information Security</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292608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Business Analyst, Enterprise Services - Business Process Services (BPS)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BU representative, Marketing Business System (MBS) (BDOI)</a:t>
                      </a:r>
                    </a:p>
                  </a:txBody>
                  <a:tcPr marL="73152" marR="73152" marT="36576" marB="36576">
                    <a:solidFill>
                      <a:srgbClr val="FFFFFF"/>
                    </a:solidFill>
                  </a:tcPr>
                </a:tc>
                <a:tc>
                  <a:txBody>
                    <a:bodyPr/>
                    <a:lstStyle/>
                    <a:p>
                      <a:r>
                        <a:rPr sz="900" b="0">
                          <a:solidFill>
                            <a:srgbClr val="4B4B4B"/>
                          </a:solidFill>
                          <a:latin typeface="Arial"/>
                        </a:rPr>
                        <a:t>The request, approval, group-profile and report screens match the business input</a:t>
                      </a:r>
                    </a:p>
                  </a:txBody>
                  <a:tcPr marL="73152" marR="73152" marT="36576" marB="36576">
                    <a:solidFill>
                      <a:srgbClr val="FFFFFF"/>
                    </a:solidFill>
                  </a:tcPr>
                </a:tc>
              </a:tr>
              <a:tr h="365760">
                <a:tc>
                  <a:txBody>
                    <a:bodyPr/>
                    <a:lstStyle/>
                    <a:p>
                      <a:r>
                        <a:rPr sz="900" b="0">
                          <a:solidFill>
                            <a:srgbClr val="4B4B4B"/>
                          </a:solidFill>
                          <a:latin typeface="Arial"/>
                        </a:rPr>
                        <a:t>Input provided by</a:t>
                      </a:r>
                    </a:p>
                  </a:txBody>
                  <a:tcPr marL="73152" marR="73152" marT="36576" marB="36576">
                    <a:solidFill>
                      <a:srgbClr val="E5F5FF"/>
                    </a:solidFill>
                  </a:tcPr>
                </a:tc>
                <a:tc>
                  <a:txBody>
                    <a:bodyPr/>
                    <a:lstStyle/>
                    <a:p>
                      <a:r>
                        <a:rPr sz="900" b="0">
                          <a:solidFill>
                            <a:srgbClr val="4B4B4B"/>
                          </a:solidFill>
                          <a:latin typeface="Arial"/>
                        </a:rPr>
                        <a:t>Business Administration (user access maintenance) (BDOI)</a:t>
                      </a:r>
                    </a:p>
                  </a:txBody>
                  <a:tcPr marL="73152" marR="73152" marT="36576" marB="36576">
                    <a:solidFill>
                      <a:srgbClr val="E5F5FF"/>
                    </a:solidFill>
                  </a:tcPr>
                </a:tc>
                <a:tc>
                  <a:txBody>
                    <a:bodyPr/>
                    <a:lstStyle/>
                    <a:p>
                      <a:r>
                        <a:rPr sz="900" b="0">
                          <a:solidFill>
                            <a:srgbClr val="4B4B4B"/>
                          </a:solidFill>
                          <a:latin typeface="Arial"/>
                        </a:rPr>
                        <a:t>The daily handling of the requests and the configuration inputs of templates CI-01 to CI-06</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Program Manager, Enterprise Services - Business Process Services (BPS) (BDO Unibank ESG)</a:t>
                      </a:r>
                    </a:p>
                  </a:txBody>
                  <a:tcPr marL="73152" marR="73152" marT="36576" marB="36576">
                    <a:solidFill>
                      <a:srgbClr val="FFFFFF"/>
                    </a:solidFill>
                  </a:tcPr>
                </a:tc>
                <a:tc>
                  <a:txBody>
                    <a:bodyPr/>
                    <a:lstStyle/>
                    <a:p>
                      <a:r>
                        <a:rPr sz="900" b="0">
                          <a:solidFill>
                            <a:srgbClr val="4B4B4B"/>
                          </a:solidFill>
                          <a:latin typeface="Arial"/>
                        </a:rPr>
                        <a:t>Traceability of every BRD requirement to the set and completeness of the set ("validated the completeness of business requirements")</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BDOI Information Security (BDOI)</a:t>
                      </a:r>
                    </a:p>
                  </a:txBody>
                  <a:tcPr marL="73152" marR="73152" marT="36576" marB="36576">
                    <a:solidFill>
                      <a:srgbClr val="E5F5FF"/>
                    </a:solidFill>
                  </a:tcPr>
                </a:tc>
                <a:tc>
                  <a:txBody>
                    <a:bodyPr/>
                    <a:lstStyle/>
                    <a:p>
                      <a:r>
                        <a:rPr sz="900" b="0">
                          <a:solidFill>
                            <a:srgbClr val="4B4B4B"/>
                          </a:solidFill>
                          <a:latin typeface="Arial"/>
                        </a:rPr>
                        <a:t>The role matrix, the menus by persona, the separation-of-duties rules, the password and session rules and the audit log</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BDOI Information Technology Group (BDOI IT) (BDOI)</a:t>
                      </a:r>
                    </a:p>
                  </a:txBody>
                  <a:tcPr marL="73152" marR="73152" marT="36576" marB="36576">
                    <a:solidFill>
                      <a:srgbClr val="FFFFFF"/>
                    </a:solidFill>
                  </a:tcPr>
                </a:tc>
                <a:tc>
                  <a:txBody>
                    <a:bodyPr/>
                    <a:lstStyle/>
                    <a:p>
                      <a:r>
                        <a:rPr sz="900" b="0">
                          <a:solidFill>
                            <a:srgbClr val="4B4B4B"/>
                          </a:solidFill>
                          <a:latin typeface="Arial"/>
                        </a:rPr>
                        <a:t>Sign-in and identity interfaces (EIAM, UIDM-ISC), the System Administrator functions and the Technical Specification (a separate document); not the business screens</a:t>
                      </a:r>
                    </a:p>
                  </a:txBody>
                  <a:tcPr marL="73152" marR="73152" marT="36576" marB="36576">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Marketing Business System (BDOI)</a:t>
                      </a:r>
                    </a:p>
                  </a:txBody>
                  <a:tcPr marL="73152" marR="73152" marT="36576" marB="36576">
                    <a:solidFill>
                      <a:srgbClr val="FFFFFF"/>
                    </a:solidFill>
                  </a:tcPr>
                </a:tc>
                <a:tc>
                  <a:txBody>
                    <a:bodyPr/>
                    <a:lstStyle/>
                    <a:p>
                      <a:r>
                        <a:rPr sz="900" b="0">
                          <a:solidFill>
                            <a:srgbClr val="4B4B4B"/>
                          </a:solidFill>
                          <a:latin typeface="Arial"/>
                        </a:rPr>
                        <a:t>Owns the set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Unit Head - Claims and Risk Management (BDOI)</a:t>
                      </a:r>
                    </a:p>
                  </a:txBody>
                  <a:tcPr marL="73152" marR="73152" marT="36576" marB="36576">
                    <a:solidFill>
                      <a:srgbClr val="E5F5FF"/>
                    </a:solidFill>
                  </a:tcPr>
                </a:tc>
                <a:tc>
                  <a:txBody>
                    <a:bodyPr/>
                    <a:lstStyle/>
                    <a:p>
                      <a:r>
                        <a:rPr sz="900" b="0">
                          <a:solidFill>
                            <a:srgbClr val="4B4B4B"/>
                          </a:solidFill>
                          <a:latin typeface="Arial"/>
                        </a:rPr>
                        <a:t>The access of the Claims and Risk Management users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Combank and Corbank Marketing / Corporate Processing (BDOI)</a:t>
                      </a:r>
                    </a:p>
                  </a:txBody>
                  <a:tcPr marL="73152" marR="73152" marT="36576" marB="36576">
                    <a:solidFill>
                      <a:srgbClr val="FFFFFF"/>
                    </a:solidFill>
                  </a:tcPr>
                </a:tc>
                <a:tc>
                  <a:txBody>
                    <a:bodyPr/>
                    <a:lstStyle/>
                    <a:p>
                      <a:r>
                        <a:rPr sz="900" b="0">
                          <a:solidFill>
                            <a:srgbClr val="4B4B4B"/>
                          </a:solidFill>
                          <a:latin typeface="Arial"/>
                        </a:rPr>
                        <a:t>The access of the Combank, Corbank and Corporate Processing users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Comptrollership (BDOI)</a:t>
                      </a:r>
                    </a:p>
                  </a:txBody>
                  <a:tcPr marL="73152" marR="73152" marT="36576" marB="36576">
                    <a:solidFill>
                      <a:srgbClr val="E5F5FF"/>
                    </a:solidFill>
                  </a:tcPr>
                </a:tc>
                <a:tc>
                  <a:txBody>
                    <a:bodyPr/>
                    <a:lstStyle/>
                    <a:p>
                      <a:r>
                        <a:rPr sz="900" b="0">
                          <a:solidFill>
                            <a:srgbClr val="4B4B4B"/>
                          </a:solidFill>
                          <a:latin typeface="Arial"/>
                        </a:rPr>
                        <a:t>The access of the Comptrollership users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Retail Marketing (BDOI)</a:t>
                      </a:r>
                    </a:p>
                  </a:txBody>
                  <a:tcPr marL="73152" marR="73152" marT="36576" marB="36576">
                    <a:solidFill>
                      <a:srgbClr val="FFFFFF"/>
                    </a:solidFill>
                  </a:tcPr>
                </a:tc>
                <a:tc>
                  <a:txBody>
                    <a:bodyPr/>
                    <a:lstStyle/>
                    <a:p>
                      <a:r>
                        <a:rPr sz="900" b="0">
                          <a:solidFill>
                            <a:srgbClr val="4B4B4B"/>
                          </a:solidFill>
                          <a:latin typeface="Arial"/>
                        </a:rPr>
                        <a:t>The access of the Retail Marketing users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Corporate and Retail Marketing (BDOI)</a:t>
                      </a:r>
                    </a:p>
                  </a:txBody>
                  <a:tcPr marL="73152" marR="73152" marT="36576" marB="36576">
                    <a:solidFill>
                      <a:srgbClr val="E5F5FF"/>
                    </a:solidFill>
                  </a:tcPr>
                </a:tc>
                <a:tc>
                  <a:txBody>
                    <a:bodyPr/>
                    <a:lstStyle/>
                    <a:p>
                      <a:r>
                        <a:rPr sz="900" b="0">
                          <a:solidFill>
                            <a:srgbClr val="4B4B4B"/>
                          </a:solidFill>
                          <a:latin typeface="Arial"/>
                        </a:rPr>
                        <a:t>The access of the Corporate Marketing users</a:t>
                      </a:r>
                    </a:p>
                  </a:txBody>
                  <a:tcPr marL="73152" marR="73152" marT="36576" marB="36576">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field-register.png"/>
          <p:cNvPicPr>
            <a:picLocks noChangeAspect="1"/>
          </p:cNvPicPr>
          <p:nvPr/>
        </p:nvPicPr>
        <p:blipFill>
          <a:blip r:embed="rId3"/>
          <a:stretch>
            <a:fillRect/>
          </a:stretch>
        </p:blipFill>
        <p:spPr>
          <a:xfrm>
            <a:off x="548640" y="1325880"/>
            <a:ext cx="7498079" cy="2459896"/>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User Access Maintenance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11_process_flow.png"/>
          <p:cNvPicPr>
            <a:picLocks noChangeAspect="1"/>
          </p:cNvPicPr>
          <p:nvPr/>
        </p:nvPicPr>
        <p:blipFill>
          <a:blip r:embed="rId3"/>
          <a:stretch>
            <a:fillRect/>
          </a:stretch>
        </p:blipFill>
        <p:spPr>
          <a:xfrm>
            <a:off x="3869697" y="1325880"/>
            <a:ext cx="4452301"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BRD-11 process from the client to the booked invoice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User Access Maintenance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graphicFrame>
        <p:nvGraphicFramePr>
          <p:cNvPr id="9" name="Table 8"/>
          <p:cNvGraphicFramePr>
            <a:graphicFrameLocks noGrp="1"/>
          </p:cNvGraphicFramePr>
          <p:nvPr/>
        </p:nvGraphicFramePr>
        <p:xfrm>
          <a:off x="548640" y="1371600"/>
          <a:ext cx="11094413" cy="329184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Requestor</a:t>
                      </a:r>
                    </a:p>
                  </a:txBody>
                  <a:tcPr marL="73152" marR="73152" marT="36576" marB="36576">
                    <a:solidFill>
                      <a:srgbClr val="FFFFFF"/>
                    </a:solidFill>
                  </a:tcPr>
                </a:tc>
                <a:tc>
                  <a:txBody>
                    <a:bodyPr/>
                    <a:lstStyle/>
                    <a:p>
                      <a:r>
                        <a:rPr sz="1000" b="0">
                          <a:solidFill>
                            <a:srgbClr val="4B4B4B"/>
                          </a:solidFill>
                          <a:latin typeface="Arial"/>
                        </a:rPr>
                        <a:t>requestor</a:t>
                      </a:r>
                    </a:p>
                  </a:txBody>
                  <a:tcPr marL="73152" marR="73152" marT="36576" marB="36576">
                    <a:solidFill>
                      <a:srgbClr val="FFFFFF"/>
                    </a:solidFill>
                  </a:tcPr>
                </a:tc>
                <a:tc>
                  <a:txBody>
                    <a:bodyPr/>
                    <a:lstStyle/>
                    <a:p>
                      <a:r>
                        <a:rPr sz="1000" b="0">
                          <a:solidFill>
                            <a:srgbClr val="4B4B4B"/>
                          </a:solidFill>
                          <a:latin typeface="Arial"/>
                        </a:rPr>
                        <a:t>2</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Approver</a:t>
                      </a:r>
                    </a:p>
                  </a:txBody>
                  <a:tcPr marL="73152" marR="73152" marT="36576" marB="36576">
                    <a:solidFill>
                      <a:srgbClr val="E5F5FF"/>
                    </a:solidFill>
                  </a:tcPr>
                </a:tc>
                <a:tc>
                  <a:txBody>
                    <a:bodyPr/>
                    <a:lstStyle/>
                    <a:p>
                      <a:r>
                        <a:rPr sz="1000" b="0">
                          <a:solidFill>
                            <a:srgbClr val="4B4B4B"/>
                          </a:solidFill>
                          <a:latin typeface="Arial"/>
                        </a:rPr>
                        <a:t>uamapprover</a:t>
                      </a:r>
                    </a:p>
                  </a:txBody>
                  <a:tcPr marL="73152" marR="73152" marT="36576" marB="36576">
                    <a:solidFill>
                      <a:srgbClr val="E5F5FF"/>
                    </a:solidFill>
                  </a:tcPr>
                </a:tc>
                <a:tc>
                  <a:txBody>
                    <a:bodyPr/>
                    <a:lstStyle/>
                    <a:p>
                      <a:r>
                        <a:rPr sz="1000" b="0">
                          <a:solidFill>
                            <a:srgbClr val="4B4B4B"/>
                          </a:solidFill>
                          <a:latin typeface="Arial"/>
                        </a:rPr>
                        <a:t>5</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r h="365760">
                <a:tc>
                  <a:txBody>
                    <a:bodyPr/>
                    <a:lstStyle/>
                    <a:p>
                      <a:r>
                        <a:rPr sz="1000" b="0">
                          <a:solidFill>
                            <a:srgbClr val="4B4B4B"/>
                          </a:solidFill>
                          <a:latin typeface="Arial"/>
                        </a:rPr>
                        <a:t>Second Approver</a:t>
                      </a:r>
                    </a:p>
                  </a:txBody>
                  <a:tcPr marL="73152" marR="73152" marT="36576" marB="36576">
                    <a:solidFill>
                      <a:srgbClr val="FFFFFF"/>
                    </a:solidFill>
                  </a:tcPr>
                </a:tc>
                <a:tc>
                  <a:txBody>
                    <a:bodyPr/>
                    <a:lstStyle/>
                    <a:p>
                      <a:r>
                        <a:rPr sz="1000" b="0">
                          <a:solidFill>
                            <a:srgbClr val="4B4B4B"/>
                          </a:solidFill>
                          <a:latin typeface="Arial"/>
                        </a:rPr>
                        <a:t>secapprover</a:t>
                      </a:r>
                    </a:p>
                  </a:txBody>
                  <a:tcPr marL="73152" marR="73152" marT="36576" marB="36576">
                    <a:solidFill>
                      <a:srgbClr val="FFFFFF"/>
                    </a:solidFill>
                  </a:tcPr>
                </a:tc>
                <a:tc>
                  <a:txBody>
                    <a:bodyPr/>
                    <a:lstStyle/>
                    <a:p>
                      <a:r>
                        <a:rPr sz="1000" b="0">
                          <a:solidFill>
                            <a:srgbClr val="4B4B4B"/>
                          </a:solidFill>
                          <a:latin typeface="Arial"/>
                        </a:rPr>
                        <a:t>2</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Business Administrator</a:t>
                      </a:r>
                    </a:p>
                  </a:txBody>
                  <a:tcPr marL="73152" marR="73152" marT="36576" marB="36576">
                    <a:solidFill>
                      <a:srgbClr val="E5F5FF"/>
                    </a:solidFill>
                  </a:tcPr>
                </a:tc>
                <a:tc>
                  <a:txBody>
                    <a:bodyPr/>
                    <a:lstStyle/>
                    <a:p>
                      <a:r>
                        <a:rPr sz="1000" b="0">
                          <a:solidFill>
                            <a:srgbClr val="4B4B4B"/>
                          </a:solidFill>
                          <a:latin typeface="Arial"/>
                        </a:rPr>
                        <a:t>badmin</a:t>
                      </a:r>
                    </a:p>
                  </a:txBody>
                  <a:tcPr marL="73152" marR="73152" marT="36576" marB="36576">
                    <a:solidFill>
                      <a:srgbClr val="E5F5FF"/>
                    </a:solidFill>
                  </a:tcPr>
                </a:tc>
                <a:tc>
                  <a:txBody>
                    <a:bodyPr/>
                    <a:lstStyle/>
                    <a:p>
                      <a:r>
                        <a:rPr sz="1000" b="0">
                          <a:solidFill>
                            <a:srgbClr val="4B4B4B"/>
                          </a:solidFill>
                          <a:latin typeface="Arial"/>
                        </a:rPr>
                        <a:t>6</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r h="365760">
                <a:tc>
                  <a:txBody>
                    <a:bodyPr/>
                    <a:lstStyle/>
                    <a:p>
                      <a:r>
                        <a:rPr sz="1000" b="0">
                          <a:solidFill>
                            <a:srgbClr val="4B4B4B"/>
                          </a:solidFill>
                          <a:latin typeface="Arial"/>
                        </a:rPr>
                        <a:t>System Administrator</a:t>
                      </a:r>
                    </a:p>
                  </a:txBody>
                  <a:tcPr marL="73152" marR="73152" marT="36576" marB="36576">
                    <a:solidFill>
                      <a:srgbClr val="FFFFFF"/>
                    </a:solidFill>
                  </a:tcPr>
                </a:tc>
                <a:tc>
                  <a:txBody>
                    <a:bodyPr/>
                    <a:lstStyle/>
                    <a:p>
                      <a:r>
                        <a:rPr sz="1000" b="0">
                          <a:solidFill>
                            <a:srgbClr val="4B4B4B"/>
                          </a:solidFill>
                          <a:latin typeface="Arial"/>
                        </a:rPr>
                        <a:t>admin</a:t>
                      </a:r>
                    </a:p>
                  </a:txBody>
                  <a:tcPr marL="73152" marR="73152" marT="36576" marB="36576">
                    <a:solidFill>
                      <a:srgbClr val="FFFFFF"/>
                    </a:solidFill>
                  </a:tcPr>
                </a:tc>
                <a:tc>
                  <a:txBody>
                    <a:bodyPr/>
                    <a:lstStyle/>
                    <a:p>
                      <a:r>
                        <a:rPr sz="1000" b="0">
                          <a:solidFill>
                            <a:srgbClr val="4B4B4B"/>
                          </a:solidFill>
                          <a:latin typeface="Arial"/>
                        </a:rPr>
                        <a:t>5</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Auditor</a:t>
                      </a:r>
                    </a:p>
                  </a:txBody>
                  <a:tcPr marL="73152" marR="73152" marT="36576" marB="36576">
                    <a:solidFill>
                      <a:srgbClr val="E5F5FF"/>
                    </a:solidFill>
                  </a:tcPr>
                </a:tc>
                <a:tc>
                  <a:txBody>
                    <a:bodyPr/>
                    <a:lstStyle/>
                    <a:p>
                      <a:r>
                        <a:rPr sz="1000" b="0">
                          <a:solidFill>
                            <a:srgbClr val="4B4B4B"/>
                          </a:solidFill>
                          <a:latin typeface="Arial"/>
                        </a:rPr>
                        <a:t>auditor</a:t>
                      </a:r>
                    </a:p>
                  </a:txBody>
                  <a:tcPr marL="73152" marR="73152" marT="36576" marB="36576">
                    <a:solidFill>
                      <a:srgbClr val="E5F5FF"/>
                    </a:solidFill>
                  </a:tcPr>
                </a:tc>
                <a:tc>
                  <a:txBody>
                    <a:bodyPr/>
                    <a:lstStyle/>
                    <a:p>
                      <a:r>
                        <a:rPr sz="1000" b="0">
                          <a:solidFill>
                            <a:srgbClr val="4B4B4B"/>
                          </a:solidFill>
                          <a:latin typeface="Arial"/>
                        </a:rPr>
                        <a:t>4</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r h="365760">
                <a:tc>
                  <a:txBody>
                    <a:bodyPr/>
                    <a:lstStyle/>
                    <a:p>
                      <a:r>
                        <a:rPr sz="1000" b="0">
                          <a:solidFill>
                            <a:srgbClr val="4B4B4B"/>
                          </a:solidFill>
                          <a:latin typeface="Arial"/>
                        </a:rPr>
                        <a:t>Information Security Officer</a:t>
                      </a:r>
                    </a:p>
                  </a:txBody>
                  <a:tcPr marL="73152" marR="73152" marT="36576" marB="36576">
                    <a:solidFill>
                      <a:srgbClr val="FFFFFF"/>
                    </a:solidFill>
                  </a:tcPr>
                </a:tc>
                <a:tc>
                  <a:txBody>
                    <a:bodyPr/>
                    <a:lstStyle/>
                    <a:p>
                      <a:r>
                        <a:rPr sz="1000" b="0">
                          <a:solidFill>
                            <a:srgbClr val="4B4B4B"/>
                          </a:solidFill>
                          <a:latin typeface="Arial"/>
                        </a:rPr>
                        <a:t>infosec</a:t>
                      </a:r>
                    </a:p>
                  </a:txBody>
                  <a:tcPr marL="73152" marR="73152" marT="36576" marB="36576">
                    <a:solidFill>
                      <a:srgbClr val="FFFFFF"/>
                    </a:solidFill>
                  </a:tcPr>
                </a:tc>
                <a:tc>
                  <a:txBody>
                    <a:bodyPr/>
                    <a:lstStyle/>
                    <a:p>
                      <a:r>
                        <a:rPr sz="1000" b="0">
                          <a:solidFill>
                            <a:srgbClr val="4B4B4B"/>
                          </a:solidFill>
                          <a:latin typeface="Arial"/>
                        </a:rPr>
                        <a:t>5</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New Business Approver (keeps the access approval right)</a:t>
                      </a:r>
                    </a:p>
                  </a:txBody>
                  <a:tcPr marL="73152" marR="73152" marT="36576" marB="36576">
                    <a:solidFill>
                      <a:srgbClr val="E5F5FF"/>
                    </a:solidFill>
                  </a:tcPr>
                </a:tc>
                <a:tc>
                  <a:txBody>
                    <a:bodyPr/>
                    <a:lstStyle/>
                    <a:p>
                      <a:r>
                        <a:rPr sz="1000" b="0">
                          <a:solidFill>
                            <a:srgbClr val="4B4B4B"/>
                          </a:solidFill>
                          <a:latin typeface="Arial"/>
                        </a:rPr>
                        <a:t>approver</a:t>
                      </a:r>
                    </a:p>
                  </a:txBody>
                  <a:tcPr marL="73152" marR="73152" marT="36576" marB="36576">
                    <a:solidFill>
                      <a:srgbClr val="E5F5FF"/>
                    </a:solidFill>
                  </a:tcPr>
                </a:tc>
                <a:tc>
                  <a:txBody>
                    <a:bodyPr/>
                    <a:lstStyle/>
                    <a:p>
                      <a:r>
                        <a:rPr sz="1000" b="0">
                          <a:solidFill>
                            <a:srgbClr val="4B4B4B"/>
                          </a:solidFill>
                          <a:latin typeface="Arial"/>
                        </a:rPr>
                        <a:t>4</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User Access Maintenance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scr-ua-07-02-filled.png"/>
          <p:cNvPicPr>
            <a:picLocks noChangeAspect="1"/>
          </p:cNvPicPr>
          <p:nvPr/>
        </p:nvPicPr>
        <p:blipFill>
          <a:blip r:embed="rId3"/>
          <a:stretch>
            <a:fillRect/>
          </a:stretch>
        </p:blipFill>
        <p:spPr>
          <a:xfrm>
            <a:off x="2693240" y="1325880"/>
            <a:ext cx="1120847"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An enrolment request with its group profile and approver</a:t>
            </a:r>
          </a:p>
        </p:txBody>
      </p:sp>
      <p:pic>
        <p:nvPicPr>
          <p:cNvPr id="11" name="Picture 10" descr="scr-ua-08-02-approve.png"/>
          <p:cNvPicPr>
            <a:picLocks noChangeAspect="1"/>
          </p:cNvPicPr>
          <p:nvPr/>
        </p:nvPicPr>
        <p:blipFill>
          <a:blip r:embed="rId4"/>
          <a:stretch>
            <a:fillRect/>
          </a:stretch>
        </p:blipFill>
        <p:spPr>
          <a:xfrm>
            <a:off x="6597347" y="1325880"/>
            <a:ext cx="4681367"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The chosen approver decides; nothing changes before</a:t>
            </a:r>
          </a:p>
        </p:txBody>
      </p:sp>
      <p:pic>
        <p:nvPicPr>
          <p:cNvPr id="13" name="Picture 12" descr="scr-ua-16-01-implement.png"/>
          <p:cNvPicPr>
            <a:picLocks noChangeAspect="1"/>
          </p:cNvPicPr>
          <p:nvPr/>
        </p:nvPicPr>
        <p:blipFill>
          <a:blip r:embed="rId5"/>
          <a:stretch>
            <a:fillRect/>
          </a:stretch>
        </p:blipFill>
        <p:spPr>
          <a:xfrm>
            <a:off x="2683578" y="3566160"/>
            <a:ext cx="1140171"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Group-profile changes implemented by the System Administrator</a:t>
            </a:r>
          </a:p>
        </p:txBody>
      </p:sp>
      <p:pic>
        <p:nvPicPr>
          <p:cNvPr id="15" name="Picture 14" descr="scr-ua-17-01-audit_log.png"/>
          <p:cNvPicPr>
            <a:picLocks noChangeAspect="1"/>
          </p:cNvPicPr>
          <p:nvPr/>
        </p:nvPicPr>
        <p:blipFill>
          <a:blip r:embed="rId6"/>
          <a:stretch>
            <a:fillRect/>
          </a:stretch>
        </p:blipFill>
        <p:spPr>
          <a:xfrm>
            <a:off x="8367945" y="3566160"/>
            <a:ext cx="1140171"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The User Access Audit Log with from and to values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Access changes only through an approved request: the requester and the user concerned never decide it, and only the approver chosen by the requester does.</a:t>
            </a:r>
          </a:p>
          <a:p>
            <a:pPr>
              <a:spcAft>
                <a:spcPts val="600"/>
              </a:spcAft>
            </a:pPr>
            <a:r>
              <a:rPr sz="1400">
                <a:solidFill>
                  <a:srgbClr val="004EA8"/>
                </a:solidFill>
                <a:latin typeface="Arial"/>
              </a:rPr>
              <a:t>•  </a:t>
            </a:r>
            <a:r>
              <a:rPr sz="1400">
                <a:solidFill>
                  <a:srgbClr val="4B4B4B"/>
                </a:solidFill>
                <a:latin typeface="Arial"/>
              </a:rPr>
              <a:t>A privileged change (a High or Admin profile) or a change outside working hours needs a second approval by another approver, and raises an alert.</a:t>
            </a:r>
          </a:p>
          <a:p>
            <a:pPr>
              <a:spcAft>
                <a:spcPts val="600"/>
              </a:spcAft>
            </a:pPr>
            <a:r>
              <a:rPr sz="1400">
                <a:solidFill>
                  <a:srgbClr val="004EA8"/>
                </a:solidFill>
                <a:latin typeface="Arial"/>
              </a:rPr>
              <a:t>•  </a:t>
            </a:r>
            <a:r>
              <a:rPr sz="1400">
                <a:solidFill>
                  <a:srgbClr val="4B4B4B"/>
                </a:solidFill>
                <a:latin typeface="Arial"/>
              </a:rPr>
              <a:t>Group-profile changes are approved in order and implemented by a System Administrator who did not raise them; direct edits are an audited, alerted emergency path, closed as delivered.</a:t>
            </a:r>
          </a:p>
          <a:p>
            <a:pPr>
              <a:spcAft>
                <a:spcPts val="600"/>
              </a:spcAft>
            </a:pPr>
            <a:r>
              <a:rPr sz="1400">
                <a:solidFill>
                  <a:srgbClr val="004EA8"/>
                </a:solidFill>
                <a:latin typeface="Arial"/>
              </a:rPr>
              <a:t>•  </a:t>
            </a:r>
            <a:r>
              <a:rPr sz="1400">
                <a:solidFill>
                  <a:srgbClr val="4B4B4B"/>
                </a:solidFill>
                <a:latin typeface="Arial"/>
              </a:rPr>
              <a:t>The account locks after 3 failed sign-ins; the session warns at 15 minutes of inactivity and ends at 30.</a:t>
            </a:r>
          </a:p>
          <a:p>
            <a:pPr>
              <a:spcAft>
                <a:spcPts val="600"/>
              </a:spcAft>
            </a:pPr>
            <a:r>
              <a:rPr sz="1400">
                <a:solidFill>
                  <a:srgbClr val="004EA8"/>
                </a:solidFill>
                <a:latin typeface="Arial"/>
              </a:rPr>
              <a:t>•  </a:t>
            </a:r>
            <a:r>
              <a:rPr sz="1400">
                <a:solidFill>
                  <a:srgbClr val="4B4B4B"/>
                </a:solidFill>
                <a:latin typeface="Arial"/>
              </a:rPr>
              <a:t>Passwords: at least 10 characters with upper and lower case, a digit and a symbol; not one of the last 8; expire after 90 days; changed at the first sign-in after an administrator sets them.</a:t>
            </a:r>
          </a:p>
          <a:p>
            <a:pPr>
              <a:spcAft>
                <a:spcPts val="600"/>
              </a:spcAft>
            </a:pPr>
            <a:r>
              <a:rPr sz="1400">
                <a:solidFill>
                  <a:srgbClr val="004EA8"/>
                </a:solidFill>
                <a:latin typeface="Arial"/>
              </a:rPr>
              <a:t>•  </a:t>
            </a:r>
            <a:r>
              <a:rPr sz="1400">
                <a:solidFill>
                  <a:srgbClr val="4B4B4B"/>
                </a:solidFill>
                <a:latin typeface="Arial"/>
              </a:rPr>
              <a:t>Every change is logged, never to be changed, with its from and to values, approver and request number; four reports give the BRD samples A to D.</a:t>
            </a:r>
          </a:p>
          <a:p>
            <a:pPr>
              <a:spcAft>
                <a:spcPts val="600"/>
              </a:spcAft>
            </a:pPr>
            <a:r>
              <a:rPr sz="1400">
                <a:solidFill>
                  <a:srgbClr val="004EA8"/>
                </a:solidFill>
                <a:latin typeface="Arial"/>
              </a:rPr>
              <a:t>•  </a:t>
            </a:r>
            <a:r>
              <a:rPr sz="1400">
                <a:solidFill>
                  <a:srgbClr val="4B4B4B"/>
                </a:solidFill>
                <a:latin typeface="Arial"/>
              </a:rPr>
              <a:t>Every persona sees exactly the menu of its group profiles; the insurer functions are hidden from BDOI.</a:t>
            </a:r>
          </a:p>
          <a:p>
            <a:pPr lvl="1">
              <a:spcAft>
                <a:spcPts val="600"/>
              </a:spcAft>
            </a:pPr>
            <a:r>
              <a:rPr sz="1200">
                <a:solidFill>
                  <a:srgbClr val="656565"/>
                </a:solidFill>
                <a:latin typeface="Arial"/>
              </a:rPr>
              <a:t>–  </a:t>
            </a:r>
            <a:r>
              <a:rPr sz="1200">
                <a:solidFill>
                  <a:srgbClr val="4B4B4B"/>
                </a:solidFill>
                <a:latin typeface="Arial"/>
              </a:rPr>
              <a:t>Full list: FRS chapter 13 per screen, 74 rules on the Business rules sheet and 220 messages in FRS chapter 15 and on the Messages sheet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brd11_contract_map.png"/>
          <p:cNvPicPr>
            <a:picLocks noChangeAspect="1"/>
          </p:cNvPicPr>
          <p:nvPr/>
        </p:nvPicPr>
        <p:blipFill>
          <a:blip r:embed="rId3"/>
          <a:stretch>
            <a:fillRect/>
          </a:stretch>
        </p:blipFill>
        <p:spPr>
          <a:xfrm>
            <a:off x="548640" y="1325880"/>
            <a:ext cx="11094415" cy="3261182"/>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User Access Maintenance takes from and hands to the other BRDs and systems (FRS chapter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configuration when it is a new profile or a changed grant;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Other BRDs change the role matrix</a:t>
                      </a:r>
                    </a:p>
                  </a:txBody>
                  <a:tcPr marL="73152" marR="73152" marT="36576" marB="36576">
                    <a:solidFill>
                      <a:srgbClr val="E5F5FF"/>
                    </a:solidFill>
                  </a:tcPr>
                </a:tc>
                <a:tc>
                  <a:txBody>
                    <a:bodyPr/>
                    <a:lstStyle/>
                    <a:p>
                      <a:r>
                        <a:rPr sz="1000" b="0">
                          <a:solidFill>
                            <a:srgbClr val="4B4B4B"/>
                          </a:solidFill>
                          <a:latin typeface="Arial"/>
                        </a:rPr>
                        <a:t>Every BRD adds permissions and personas; the menus of chapter 12 follow the grants.</a:t>
                      </a:r>
                    </a:p>
                  </a:txBody>
                  <a:tcPr marL="73152" marR="73152" marT="36576" marB="36576">
                    <a:solidFill>
                      <a:srgbClr val="E5F5FF"/>
                    </a:solidFill>
                  </a:tcPr>
                </a:tc>
                <a:tc>
                  <a:txBody>
                    <a:bodyPr/>
                    <a:lstStyle/>
                    <a:p>
                      <a:r>
                        <a:rPr sz="1000" b="0">
                          <a:solidFill>
                            <a:srgbClr val="4B4B4B"/>
                          </a:solidFill>
                          <a:latin typeface="Arial"/>
                        </a:rPr>
                        <a:t>A new persona of an existing permission is a group-profile request under this signed set; a new permission or rule is a change request against the other BRD, and this set's menu pages are re-issued as a delta.</a:t>
                      </a:r>
                    </a:p>
                  </a:txBody>
                  <a:tcPr marL="73152" marR="73152" marT="36576" marB="36576">
                    <a:solidFill>
                      <a:srgbClr val="E5F5FF"/>
                    </a:solidFill>
                  </a:tcPr>
                </a:tc>
              </a:tr>
              <a:tr h="365760">
                <a:tc>
                  <a:txBody>
                    <a:bodyPr/>
                    <a:lstStyle/>
                    <a:p>
                      <a:r>
                        <a:rPr sz="1000" b="0">
                          <a:solidFill>
                            <a:srgbClr val="4B4B4B"/>
                          </a:solidFill>
                          <a:latin typeface="Arial"/>
                        </a:rPr>
                        <a:t>Identity integrations owned by BDOI IT</a:t>
                      </a:r>
                    </a:p>
                  </a:txBody>
                  <a:tcPr marL="73152" marR="73152" marT="36576" marB="36576">
                    <a:solidFill>
                      <a:srgbClr val="FFFFFF"/>
                    </a:solidFill>
                  </a:tcPr>
                </a:tc>
                <a:tc>
                  <a:txBody>
                    <a:bodyPr/>
                    <a:lstStyle/>
                    <a:p>
                      <a:r>
                        <a:rPr sz="1000" b="0">
                          <a:solidFill>
                            <a:srgbClr val="4B4B4B"/>
                          </a:solidFill>
                          <a:latin typeface="Arial"/>
                        </a:rPr>
                        <a:t>Sign-in through EIAM on Microsoft Entra ID and provisioning from UIDM-ISC are named by BDOI for Drop 0. Single sign-on with OpenID Connect and SAML 2.0 is part of BIBS; the UIDM-ISC option is open (IQ05). Details: Authentication and Identity Integration Requirements v1.0, 03-Oct-2026.</a:t>
                      </a:r>
                    </a:p>
                  </a:txBody>
                  <a:tcPr marL="73152" marR="73152" marT="36576" marB="36576">
                    <a:solidFill>
                      <a:srgbClr val="FFFFFF"/>
                    </a:solidFill>
                  </a:tcPr>
                </a:tc>
                <a:tc>
                  <a:txBody>
                    <a:bodyPr/>
                    <a:lstStyle/>
                    <a:p>
                      <a:r>
                        <a:rPr sz="1000" b="0">
                          <a:solidFill>
                            <a:srgbClr val="4B4B4B"/>
                          </a:solidFill>
                          <a:latin typeface="Arial"/>
                        </a:rPr>
                        <a:t>Single sign-on is switched on by configuration once BDOI IT registers BIBS in EIAM for each environment (not a change request); until then SIT uses local sign-in. The matching by Windows ID or UPN and the EIAM sign-out are proposed rules for confirmation (CLR-UA-22, CLR-UA-23). The UIDM-ISC option chosen by BDOI IT is a change request if it goes beyond aggregation; the screens of this set do not change.</a:t>
                      </a:r>
                    </a:p>
                  </a:txBody>
                  <a:tcPr marL="73152" marR="73152" marT="36576" marB="36576">
                    <a:solidFill>
                      <a:srgbClr val="FFFFFF"/>
                    </a:solidFill>
                  </a:tcPr>
                </a:tc>
              </a:tr>
              <a:tr h="365760">
                <a:tc>
                  <a:txBody>
                    <a:bodyPr/>
                    <a:lstStyle/>
                    <a:p>
                      <a:r>
                        <a:rPr sz="1000" b="0">
                          <a:solidFill>
                            <a:srgbClr val="4B4B4B"/>
                          </a:solidFill>
                          <a:latin typeface="Arial"/>
                        </a:rPr>
                        <a:t>Points for confirmation</a:t>
                      </a:r>
                    </a:p>
                  </a:txBody>
                  <a:tcPr marL="73152" marR="73152" marT="36576" marB="36576">
                    <a:solidFill>
                      <a:srgbClr val="E5F5FF"/>
                    </a:solidFill>
                  </a:tcPr>
                </a:tc>
                <a:tc>
                  <a:txBody>
                    <a:bodyPr/>
                    <a:lstStyle/>
                    <a:p>
                      <a:r>
                        <a:rPr sz="1000" b="0">
                          <a:solidFill>
                            <a:srgbClr val="4B4B4B"/>
                          </a:solidFill>
                          <a:latin typeface="Arial"/>
                        </a:rPr>
                        <a:t>A single session per device, an external access-control list and the dormancy values are listed for decision in FRS chapter 22.</a:t>
                      </a:r>
                    </a:p>
                  </a:txBody>
                  <a:tcPr marL="73152" marR="73152" marT="36576" marB="36576">
                    <a:solidFill>
                      <a:srgbClr val="E5F5FF"/>
                    </a:solidFill>
                  </a:tcPr>
                </a:tc>
                <a:tc>
                  <a:txBody>
                    <a:bodyPr/>
                    <a:lstStyle/>
                    <a:p>
                      <a:r>
                        <a:rPr sz="1000" b="0">
                          <a:solidFill>
                            <a:srgbClr val="4B4B4B"/>
                          </a:solidFill>
                          <a:latin typeface="Arial"/>
                        </a:rPr>
                        <a:t>Each item is decided with the review; a decision that only sets a value is configuration, a new rule is a change request.</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(who the requesters and approvers are, the approval chain, privileged profiles, working hours, password values, business units and user levels) follow the assumptions of section 10.1; chapter 22 lists the proposed rules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(profiles, parameters, lists, the approvers themselves);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Information Security asks that the Auditor also sees a new report: a group-profile request (configuration). Asking for a third approval level on all requests is a change request.</a:t>
                      </a:r>
                    </a:p>
                  </a:txBody>
                  <a:tcPr marL="73152" marR="73152" marT="36576" marB="36576">
                    <a:solidFill>
                      <a:srgbClr val="FFFFFF"/>
                    </a:solidFill>
                  </a:tcPr>
                </a:tc>
              </a:tr>
              <a:tr h="365760">
                <a:tc>
                  <a:txBody>
                    <a:bodyPr/>
                    <a:lstStyle/>
                    <a:p>
                      <a:r>
                        <a:rPr sz="1100" b="0">
                          <a:solidFill>
                            <a:srgbClr val="4B4B4B"/>
                          </a:solidFill>
                          <a:latin typeface="Arial"/>
                        </a:rPr>
                        <a:t>Other BRDs change the role matrix</a:t>
                      </a:r>
                    </a:p>
                  </a:txBody>
                  <a:tcPr marL="73152" marR="73152" marT="36576" marB="36576">
                    <a:solidFill>
                      <a:srgbClr val="E5F5FF"/>
                    </a:solidFill>
                  </a:tcPr>
                </a:tc>
                <a:tc>
                  <a:txBody>
                    <a:bodyPr/>
                    <a:lstStyle/>
                    <a:p>
                      <a:r>
                        <a:rPr sz="1100" b="0">
                          <a:solidFill>
                            <a:srgbClr val="4B4B4B"/>
                          </a:solidFill>
                          <a:latin typeface="Arial"/>
                        </a:rPr>
                        <a:t>Claims adds a Claims Reports viewer: the profile is requested, approved and implemented; the menu sheet of the persona is added in the next version of the set.</a:t>
                      </a:r>
                    </a:p>
                  </a:txBody>
                  <a:tcPr marL="73152" marR="73152" marT="36576" marB="36576">
                    <a:solidFill>
                      <a:srgbClr val="E5F5FF"/>
                    </a:solidFill>
                  </a:tcPr>
                </a:tc>
              </a:tr>
              <a:tr h="365760">
                <a:tc>
                  <a:txBody>
                    <a:bodyPr/>
                    <a:lstStyle/>
                    <a:p>
                      <a:r>
                        <a:rPr sz="1100" b="0">
                          <a:solidFill>
                            <a:srgbClr val="4B4B4B"/>
                          </a:solidFill>
                          <a:latin typeface="Arial"/>
                        </a:rPr>
                        <a:t>Identity integrations owned by BDOI IT</a:t>
                      </a:r>
                    </a:p>
                  </a:txBody>
                  <a:tcPr marL="73152" marR="73152" marT="36576" marB="36576">
                    <a:solidFill>
                      <a:srgbClr val="FFFFFF"/>
                    </a:solidFill>
                  </a:tcPr>
                </a:tc>
                <a:tc>
                  <a:txBody>
                    <a:bodyPr/>
                    <a:lstStyle/>
                    <a:p>
                      <a:r>
                        <a:rPr sz="1100" b="0">
                          <a:solidFill>
                            <a:srgbClr val="4B4B4B"/>
                          </a:solidFill>
                          <a:latin typeface="Arial"/>
                        </a:rPr>
                        <a:t>When single sign-on is switched on, the Login page shows Sign in with the BDO identity provider; the BIBS password rules then apply only to the break-glass administrators.</a:t>
                      </a:r>
                    </a:p>
                  </a:txBody>
                  <a:tcPr marL="73152" marR="73152" marT="36576" marB="36576">
                    <a:solidFill>
                      <a:srgbClr val="FFFFFF"/>
                    </a:solidFill>
                  </a:tcPr>
                </a:tc>
              </a:tr>
              <a:tr h="365760">
                <a:tc>
                  <a:txBody>
                    <a:bodyPr/>
                    <a:lstStyle/>
                    <a:p>
                      <a:r>
                        <a:rPr sz="1100" b="0">
                          <a:solidFill>
                            <a:srgbClr val="4B4B4B"/>
                          </a:solidFill>
                          <a:latin typeface="Arial"/>
                        </a:rPr>
                        <a:t>Points for confirmation</a:t>
                      </a:r>
                    </a:p>
                  </a:txBody>
                  <a:tcPr marL="73152" marR="73152" marT="36576" marB="36576">
                    <a:solidFill>
                      <a:srgbClr val="E5F5FF"/>
                    </a:solidFill>
                  </a:tcPr>
                </a:tc>
                <a:tc>
                  <a:txBody>
                    <a:bodyPr/>
                    <a:lstStyle/>
                    <a:p>
                      <a:r>
                        <a:rPr sz="1100" b="0">
                          <a:solidFill>
                            <a:srgbClr val="4B4B4B"/>
                          </a:solidFill>
                          <a:latin typeface="Arial"/>
                        </a:rPr>
                        <a:t>Information Security asks for deactivation after 60 days without sign-in instead of 90: a change of the parameter UAM_DORMANT_DAYS under the second approval.</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Working hours of 07:00-19:00 instead of 08:00-18:00: a change of the parameter UAM_WORKING_HOURS, not a change request.</a:t>
                      </a:r>
                    </a:p>
                  </a:txBody>
                  <a:tcPr marL="73152" marR="73152" marT="36576" marB="3657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 the persona menus are checked by the persona menu test.</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 including the menu sheet of every persona.</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v2.1,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every signatory of the Who signs what matrix: prepared, input, reviewed and approved as on the BRD approval sheet; the Product Owner approves the whole set.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Role-to-permission matrix and users of the templates loaded by group-profile and bulk requests, and checked with the reports.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users and roles, role-to-permission matrix, approval rules, separation-of-duties rules, password and session parameters, lists of values</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BDOI IT decisions on EIAM and UIDM-ISC recorded as change requests or assumptions</a:t>
            </a:r>
          </a:p>
          <a:p>
            <a:pPr lvl="1">
              <a:spcAft>
                <a:spcPts val="600"/>
              </a:spcAft>
            </a:pPr>
            <a:r>
              <a:rPr sz="1400">
                <a:solidFill>
                  <a:srgbClr val="656565"/>
                </a:solidFill>
                <a:latin typeface="Arial"/>
              </a:rPr>
              <a:t>–  </a:t>
            </a:r>
            <a:r>
              <a:rPr sz="1400">
                <a:solidFill>
                  <a:srgbClr val="4B4B4B"/>
                </a:solidFill>
                <a:latin typeface="Arial"/>
              </a:rPr>
              <a:t>After sign-off the content is frozen as signed, the approved deltas are scheduled and the configuration inputs are loaded through requests.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Product Owner, Marketing Business System</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Process owner</a:t>
                      </a:r>
                    </a:p>
                  </a:txBody>
                  <a:tcPr marL="73152" marR="73152" marT="36576" marB="36576">
                    <a:solidFill>
                      <a:srgbClr val="E5F5FF"/>
                    </a:solidFill>
                  </a:tcPr>
                </a:tc>
                <a:tc>
                  <a:txBody>
                    <a:bodyPr/>
                    <a:lstStyle/>
                    <a:p>
                      <a:r>
                        <a:rPr sz="1000" b="0">
                          <a:solidFill>
                            <a:srgbClr val="4B4B4B"/>
                          </a:solidFill>
                          <a:latin typeface="Arial"/>
                        </a:rPr>
                        <a:t>Business Administration (user access maintenance)</a:t>
                      </a:r>
                    </a:p>
                  </a:txBody>
                  <a:tcPr marL="73152" marR="73152" marT="36576" marB="36576">
                    <a:solidFill>
                      <a:srgbClr val="E5F5FF"/>
                    </a:solidFill>
                  </a:tcPr>
                </a:tc>
                <a:tc>
                  <a:txBody>
                    <a:bodyPr/>
                    <a:lstStyle/>
                    <a:p>
                      <a:r>
                        <a:rPr sz="1000" b="0">
                          <a:solidFill>
                            <a:srgbClr val="4B4B4B"/>
                          </a:solidFill>
                          <a:latin typeface="Arial"/>
                        </a:rPr>
                        <a:t>Coordinates the review of the requests and reports and the configuration inputs; signs for the business input with the BU representative of MBS</a:t>
                      </a:r>
                    </a:p>
                  </a:txBody>
                  <a:tcPr marL="73152" marR="73152" marT="36576" marB="36576">
                    <a:solidFill>
                      <a:srgbClr val="E5F5FF"/>
                    </a:solidFill>
                  </a:tcPr>
                </a:tc>
              </a:tr>
              <a:tr h="365760">
                <a:tc>
                  <a:txBody>
                    <a:bodyPr/>
                    <a:lstStyle/>
                    <a:p>
                      <a:r>
                        <a:rPr sz="1000" b="0">
                          <a:solidFill>
                            <a:srgbClr val="4B4B4B"/>
                          </a:solidFill>
                          <a:latin typeface="Arial"/>
                        </a:rPr>
                        <a:t>Information Security</a:t>
                      </a:r>
                    </a:p>
                  </a:txBody>
                  <a:tcPr marL="73152" marR="73152" marT="36576" marB="36576">
                    <a:solidFill>
                      <a:srgbClr val="FFFFFF"/>
                    </a:solidFill>
                  </a:tcPr>
                </a:tc>
                <a:tc>
                  <a:txBody>
                    <a:bodyPr/>
                    <a:lstStyle/>
                    <a:p>
                      <a:r>
                        <a:rPr sz="1000" b="0">
                          <a:solidFill>
                            <a:srgbClr val="4B4B4B"/>
                          </a:solidFill>
                          <a:latin typeface="Arial"/>
                        </a:rPr>
                        <a:t>BDOI Information Security</a:t>
                      </a:r>
                    </a:p>
                  </a:txBody>
                  <a:tcPr marL="73152" marR="73152" marT="36576" marB="36576">
                    <a:solidFill>
                      <a:srgbClr val="FFFFFF"/>
                    </a:solidFill>
                  </a:tcPr>
                </a:tc>
                <a:tc>
                  <a:txBody>
                    <a:bodyPr/>
                    <a:lstStyle/>
                    <a:p>
                      <a:r>
                        <a:rPr sz="1000" b="0">
                          <a:solidFill>
                            <a:srgbClr val="4B4B4B"/>
                          </a:solidFill>
                          <a:latin typeface="Arial"/>
                        </a:rPr>
                        <a:t>Reviews and signs the role matrix, the menus by persona and the separation-of-duties rules</a:t>
                      </a:r>
                    </a:p>
                  </a:txBody>
                  <a:tcPr marL="73152" marR="73152" marT="36576" marB="36576">
                    <a:solidFill>
                      <a:srgbClr val="FFFFFF"/>
                    </a:solidFill>
                  </a:tcPr>
                </a:tc>
              </a:tr>
              <a:tr h="365760">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Reviews and signs the sign-in and identity integration assumptions (EIAM, UIDM-ISC) and the System Administrator functions</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Business Project Services, BDO Unibank ESG</a:t>
                      </a:r>
                    </a:p>
                  </a:txBody>
                  <a:tcPr marL="73152" marR="73152" marT="36576" marB="36576">
                    <a:solidFill>
                      <a:srgbClr val="FFFFFF"/>
                    </a:solidFill>
                  </a:tcPr>
                </a:tc>
                <a:tc>
                  <a:txBody>
                    <a:bodyPr/>
                    <a:lstStyle/>
                    <a:p>
                      <a:r>
                        <a:rPr sz="1000" b="0">
                          <a:solidFill>
                            <a:srgbClr val="4B4B4B"/>
                          </a:solidFill>
                          <a:latin typeface="Arial"/>
                        </a:rPr>
                        <a:t>Business Analyst: the BRD as written; Program Manager: traceability and completeness;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Mon 9-Nov-2026</a:t>
            </a:r>
          </a:p>
          <a:p>
            <a:pPr>
              <a:spcAft>
                <a:spcPts val="600"/>
              </a:spcAft>
            </a:pPr>
            <a:r>
              <a:rPr sz="1600">
                <a:solidFill>
                  <a:srgbClr val="004EA8"/>
                </a:solidFill>
                <a:latin typeface="Arial"/>
              </a:rPr>
              <a:t>•  </a:t>
            </a:r>
            <a:r>
              <a:rPr sz="1600">
                <a:solidFill>
                  <a:srgbClr val="4B4B4B"/>
                </a:solidFill>
                <a:latin typeface="Arial"/>
              </a:rPr>
              <a:t>Workbooks returned by Fri 20-Nov-2026; Q&amp;A on Tue 24-Nov-2026; sign-off on Tue 1-Dec-2026</a:t>
            </a:r>
          </a:p>
          <a:p>
            <a:pPr>
              <a:spcAft>
                <a:spcPts val="600"/>
              </a:spcAft>
            </a:pPr>
            <a:r>
              <a:rPr sz="1600">
                <a:solidFill>
                  <a:srgbClr val="004EA8"/>
                </a:solidFill>
                <a:latin typeface="Arial"/>
              </a:rPr>
              <a:t>•  </a:t>
            </a:r>
            <a:r>
              <a:rPr sz="1600">
                <a:solidFill>
                  <a:srgbClr val="4B4B4B"/>
                </a:solidFill>
                <a:latin typeface="Arial"/>
              </a:rPr>
              <a:t>Configuration input templates filled in: users and role matrix before the first data migration mock; parameters agreed with Information Security before UAT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BRD-11 User Access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