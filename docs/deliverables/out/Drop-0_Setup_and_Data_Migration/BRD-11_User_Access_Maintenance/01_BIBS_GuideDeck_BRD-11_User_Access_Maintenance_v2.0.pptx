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BRD-11 User Access Maintenance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00 to 05 so they sort in reading order in the BRD folder. 00 Start Here is the short version of this deck; 02 FRS and 03 workbook carry the same rows; 04 and 05 are the test plan traced to the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FRS. Each role starts with its chapters and its sheets of the workbook; the walkthroughs in chapter 14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Pack issued: Day 0 (Mon 2-Nov-2026).</a:t>
            </a:r>
          </a:p>
          <a:p>
            <a:r>
              <a:t>2. Kick-off and screen walkthrough on SIT: 2 sessions, Mon 9 and Tue 10-Nov-2026.</a:t>
            </a:r>
          </a:p>
          <a:p>
            <a:r>
              <a:t>3. Review with the workbook; configuration inputs started: 8 working days after the walkthroughs, until Fri 20-Nov-2026.</a:t>
            </a:r>
          </a:p>
          <a:p>
            <a:r>
              <a:t>4. Comments consolidated and a Q&amp;A session: 3 working days, Q&amp;A on Tue 24-Nov-2026.</a:t>
            </a:r>
          </a:p>
          <a:p>
            <a:r>
              <a:t>5. One revision cycle (v2.1): v2.1 on Thu 26-Nov-2026; check by the reviewers until Fri 27-Nov-2026.</a:t>
            </a:r>
          </a:p>
          <a:p>
            <a:r>
              <a:t>6. Sign-off meeting and signature: Tue 1-Dec-2026.</a:t>
            </a:r>
          </a:p>
          <a:p>
            <a:r>
              <a:t>7. Content freeze; configuration inputs loaded: From Wed 2-Dec-2026; templates final before UAT.</a:t>
            </a:r>
          </a:p>
          <a:p>
            <a:r>
              <a:t>8. Traceability into SIT and UAT: SIT Apr - Jul 2027; UAT Aug - Oct 2027.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(BRD-11 sign-off sheet p.19 (Owner: "I own this document and approve all of its contents")).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(BRD-11 sign-off sheet p.19 (Owner: "I own this document and approve all of its contents")).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test lead: Added for this set (author of the FRS set).</a:t>
            </a:r>
          </a:p>
          <a:p>
            <a:r>
              <a:t>Business Analyst, Enterprise Services - Business Process Services (BPS): Prepared by (p.19).</a:t>
            </a:r>
          </a:p>
          <a:p>
            <a:r>
              <a:t>BU representative, Marketing Business System (MBS): Input provider (p.19).</a:t>
            </a:r>
          </a:p>
          <a:p>
            <a:r>
              <a:t>Business Administration (user access maintenance): Added for this set.</a:t>
            </a:r>
          </a:p>
          <a:p>
            <a:r>
              <a:t>Program Manager, Enterprise Services - Business Process Services (BPS): Reviewed by (p.19).</a:t>
            </a:r>
          </a:p>
          <a:p>
            <a:r>
              <a:t>BDOI Information Security: Added for this set.</a:t>
            </a:r>
          </a:p>
          <a:p>
            <a:r>
              <a:t>BDOI Information Technology Group (BDOI IT): Added for this set.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Product Owner, Marketing Business System: Approved by, owner (p.19).</a:t>
            </a:r>
          </a:p>
          <a:p>
            <a:r>
              <a:t>Unit Head - Claims and Risk Management: Approved by (p.19).</a:t>
            </a:r>
          </a:p>
          <a:p>
            <a:r>
              <a:t>Unit Head - Combank and Corbank Marketing / Corporate Processing: Approved by (p.19).</a:t>
            </a:r>
          </a:p>
          <a:p>
            <a:r>
              <a:t>Head - Comptrollership: Approved by (p.19).</a:t>
            </a:r>
          </a:p>
          <a:p>
            <a:r>
              <a:t>Head - Retail Marketing: Approved by (p.19).</a:t>
            </a:r>
          </a:p>
          <a:p>
            <a:r>
              <a:t>Head - Corporate and Retail Marketing: Approved by (p.19).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FRS,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runs from client onboarding and KYC, through the quotation or the PRF, the account, payment and placement, issuance and booking, to the hand-off to Operations and Accounting.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FRS chapter 12 and on the Menu by persona sheet of the workbook. The menus of 40 more personas of the other BRDs are there too, one table and one sheet each.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FRS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User Access Maintenance is the source of the users, group profiles and permissions that every BIBS module checks, and of the menus each persona sees. A later change in any BRD that adds a permission, a persona or a screen, or that changes who may approve, is delivered as a group-profile request under this signed set (configuration, no change request) when the permission exists; a new permission, a new separation-of-duties rule, a new request type, or a change to the sign-in and identity integration is raised as a change request against this signed set in the Change Management Register, assessed with its mandays and approved by the owners of both BRDs and by BDOI Information Security; the affected pages of this set are then re-issued and signed as a delta.</a:t>
            </a:r>
          </a:p>
          <a:p>
            <a:r>
              <a:t>IC-01 Every BIBS module (BRD-1 to BRD-13 and the platform) (Out): The signed-in user, the active group profiles and the effective permissions; the sidebar of each persona; the inactivity and session rules</a:t>
            </a:r>
          </a:p>
          <a:p>
            <a:r>
              <a:t>IC-02 BRD-1 New Business (Out / In): Out: the approval right of access requests kept by the New Business Approver; the access requests listed in My Approvals. In: My Approvals (the shared approval list), Lists of Values (business unit groups, user levels, deactivation reasons) and Data Retention (retention rule of cancelled and rejected access requests)</a:t>
            </a:r>
          </a:p>
          <a:p>
            <a:r>
              <a:t>IC-03 BRD-3 Product Maintenance (Out): The role-permission change requests of Product Maintenance (Modify group profile) and the User Access Matrix by area and action class</a:t>
            </a:r>
          </a:p>
          <a:p>
            <a:r>
              <a:t>IC-04 BRD-10 Sanction Screening (Out): The Compliance roles (Compliance Officer, Checker, Unit Compliance Coordinator, Screening Investigator, Screening Approver, AML Committee) and their menus, checked by the persona menu test of the suite BRD-10/11</a:t>
            </a:r>
          </a:p>
          <a:p>
            <a:r>
              <a:t>IC-05 BRD-2 Operations, BRD-4 Collections, BRD-5 Accounting, BRD-6 Renewal, BRD-7 Claims, BRD-8 Employee Benefits, BRD-12 Submitted Policies (Out): The group profiles of their personas and the menus they give; the persona suites of Renewal, Claims and Employee Benefits are checked by the persona menu test</a:t>
            </a:r>
          </a:p>
          <a:p>
            <a:r>
              <a:t>IC-06 BRD-8 Employee Benefits (partner portal) (Out): External (portal) users of insurers and client HR, provisioned through access requests of user type External</a:t>
            </a:r>
          </a:p>
          <a:p>
            <a:r>
              <a:t>IC-07 BRD-13 Data Migration (In): The users and group profiles of go-live. Users are out of the migration scope (DMQ30); they are loaded with the bulk request from the users and roles template of this set, and the migration team's own profiles are given through access requests</a:t>
            </a:r>
          </a:p>
          <a:p>
            <a:r>
              <a:t>IC-08 EIAM (BDO Enterprise Identity Access Management on Microsoft Entra ID), owned by BDOI IT (In): The target sign-in of BDO users with OpenID Connect; BIBS keeps the roles, permissions, the inactivity sign-out and the session log</a:t>
            </a:r>
          </a:p>
          <a:p>
            <a:r>
              <a:t>IC-09 UIDM-ISC (BDO identity governance), owned by BDOI IT (In / Out): Joiner, mover and leaver provisioning and access certification</a:t>
            </a:r>
          </a:p>
          <a:p>
            <a:r>
              <a:t>IC-10 Messaging (e-mail relay of the BIBS environment) (Out): The access-changed e-mails, the password reset links, the password expiry notices and the batch failure e-mails</a:t>
            </a:r>
          </a:p>
          <a:p>
            <a:r>
              <a:t>IC-11 Audit trail and reports (platform) (Out): Sign-ins, failed sign-ins, sign-outs, parameter changes and every access change with its from and to values, request number, done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sign-off the content is frozen as signed, the approved deltas are scheduled and the configuration inputs are loaded through requests.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SIT walkthrough on Mon 9-Nov-2026</a:t>
            </a:r>
          </a:p>
          <a:p>
            <a:r>
              <a:t>Workbooks returned by Fri 20-Nov-2026; Q&amp;A on Tue 24-Nov-2026; sign-off on Tue 1-Dec-2026</a:t>
            </a:r>
          </a:p>
          <a:p>
            <a:r>
              <a:t>Configuration input templates filled in: users and role matrix before the first data migration mock; parameters agreed with Information Security before UAT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BRD-11 User Access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BRD-11 User Access Maintenance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User Access Maintenance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19 screens, 152 fields, 74 business rules, 191 messages</a:t>
            </a:r>
          </a:p>
          <a:p>
            <a:pPr lvl="1">
              <a:spcAft>
                <a:spcPts val="600"/>
              </a:spcAft>
            </a:pPr>
            <a:r>
              <a:rPr sz="1600">
                <a:solidFill>
                  <a:srgbClr val="656565"/>
                </a:solidFill>
                <a:latin typeface="Arial"/>
              </a:rPr>
              <a:t>–  </a:t>
            </a:r>
            <a:r>
              <a:rPr sz="1600">
                <a:solidFill>
                  <a:srgbClr val="4B4B4B"/>
                </a:solidFill>
                <a:latin typeface="Arial"/>
              </a:rPr>
              <a:t>Every screen with numbered fields, the navigation per persona, three end-to-end walkthroughs</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00_BIBS_StartHere_BRD-11_User_Access_Maintenance_v2.0.docx</a:t>
                      </a:r>
                    </a:p>
                  </a:txBody>
                  <a:tcPr marL="73152" marR="73152" marT="36576" marB="36576">
                    <a:solidFill>
                      <a:srgbClr val="FFFFFF"/>
                    </a:solidFill>
                  </a:tcPr>
                </a:tc>
                <a:tc>
                  <a:txBody>
                    <a:bodyPr/>
                    <a:lstStyle/>
                    <a:p>
                      <a:r>
                        <a:rPr sz="1000" b="0">
                          <a:solidFill>
                            <a:srgbClr val="4B4B4B"/>
                          </a:solidFill>
                          <a:latin typeface="Arial"/>
                        </a:rPr>
                        <a:t>Start Here: the map of the pack, who reads what, the steps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01_BIBS_GuideDeck_BRD-11_User_Access_Maintenance_v2.0.pptx</a:t>
                      </a:r>
                    </a:p>
                  </a:txBody>
                  <a:tcPr marL="73152" marR="73152" marT="36576" marB="36576">
                    <a:solidFill>
                      <a:srgbClr val="E5F5FF"/>
                    </a:solidFill>
                  </a:tcPr>
                </a:tc>
                <a:tc>
                  <a:txBody>
                    <a:bodyPr/>
                    <a:lstStyle/>
                    <a:p>
                      <a:r>
                        <a:rPr sz="1000" b="0">
                          <a:solidFill>
                            <a:srgbClr val="4B4B4B"/>
                          </a:solidFill>
                          <a:latin typeface="Arial"/>
                        </a:rPr>
                        <a:t>Sign-off Pack Guide: purpose, approach, the module at a glance, caveats, entry and exit criteria, change control</a:t>
                      </a:r>
                    </a:p>
                  </a:txBody>
                  <a:tcPr marL="73152" marR="73152" marT="36576" marB="36576">
                    <a:solidFill>
                      <a:srgbClr val="E5F5FF"/>
                    </a:solidFill>
                  </a:tcPr>
                </a:tc>
                <a:tc>
                  <a:txBody>
                    <a:bodyPr/>
                    <a:lstStyle/>
                    <a:p>
                      <a:r>
                        <a:rPr sz="1000" b="0">
                          <a:solidFill>
                            <a:srgbClr val="4B4B4B"/>
                          </a:solidFill>
                          <a:latin typeface="Arial"/>
                        </a:rPr>
                        <a:t>Business owner, Business Administration, Information Security, BDOI IT;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02_BIBS_FRS_BRD-11_User_Access_Maintenance_v2.0.docx</a:t>
                      </a:r>
                    </a:p>
                  </a:txBody>
                  <a:tcPr marL="73152" marR="73152" marT="36576" marB="36576">
                    <a:solidFill>
                      <a:srgbClr val="FFFFFF"/>
                    </a:solidFill>
                  </a:tcPr>
                </a:tc>
                <a:tc>
                  <a:txBody>
                    <a:bodyPr/>
                    <a:lstStyle/>
                    <a:p>
                      <a:r>
                        <a:rPr sz="1000" b="0">
                          <a:solidFill>
                            <a:srgbClr val="4B4B4B"/>
                          </a:solidFill>
                          <a:latin typeface="Arial"/>
                        </a:rPr>
                        <a:t>Functional Requirements Specification v2.0: requirements, the menu of every persona, 18 screen specifications with screenshots, walkthroughs, messages, notifications, reports, the bulk upload, configuration inputs, cross-BRD contract</a:t>
                      </a:r>
                    </a:p>
                  </a:txBody>
                  <a:tcPr marL="73152" marR="73152" marT="36576" marB="36576">
                    <a:solidFill>
                      <a:srgbClr val="FFFFFF"/>
                    </a:solidFill>
                  </a:tcPr>
                </a:tc>
                <a:tc>
                  <a:txBody>
                    <a:bodyPr/>
                    <a:lstStyle/>
                    <a:p>
                      <a:r>
                        <a:rPr sz="1000" b="0">
                          <a:solidFill>
                            <a:srgbClr val="4B4B4B"/>
                          </a:solidFill>
                          <a:latin typeface="Arial"/>
                        </a:rPr>
                        <a:t>Business Administration for the requests and reports; Information Security for the role matrix and the separation of duties; BDOI IT for sign-in and identity integration</a:t>
                      </a:r>
                    </a:p>
                  </a:txBody>
                  <a:tcPr marL="73152" marR="73152" marT="36576" marB="36576">
                    <a:solidFill>
                      <a:srgbClr val="FFFFFF"/>
                    </a:solidFill>
                  </a:tcPr>
                </a:tc>
                <a:tc>
                  <a:txBody>
                    <a:bodyPr/>
                    <a:lstStyle/>
                    <a:p>
                      <a:r>
                        <a:rPr sz="1000" b="0">
                          <a:solidFill>
                            <a:srgbClr val="4B4B4B"/>
                          </a:solidFill>
                          <a:latin typeface="Arial"/>
                        </a:rPr>
                        <a:t>During the review, with the SIT walkthroughs</a:t>
                      </a:r>
                    </a:p>
                  </a:txBody>
                  <a:tcPr marL="73152" marR="73152" marT="36576" marB="36576">
                    <a:solidFill>
                      <a:srgbClr val="FFFFFF"/>
                    </a:solidFill>
                  </a:tcPr>
                </a:tc>
              </a:tr>
              <a:tr h="365760">
                <a:tc>
                  <a:txBody>
                    <a:bodyPr/>
                    <a:lstStyle/>
                    <a:p>
                      <a:r>
                        <a:rPr sz="1000" b="0">
                          <a:solidFill>
                            <a:srgbClr val="4B4B4B"/>
                          </a:solidFill>
                          <a:latin typeface="Arial"/>
                        </a:rPr>
                        <a:t>03_BIBS_Signoff_BRD-11_User_Access_Maintenance_v2.0.xlsx</a:t>
                      </a:r>
                    </a:p>
                  </a:txBody>
                  <a:tcPr marL="73152" marR="73152" marT="36576" marB="36576">
                    <a:solidFill>
                      <a:srgbClr val="E5F5FF"/>
                    </a:solidFill>
                  </a:tcPr>
                </a:tc>
                <a:tc>
                  <a:txBody>
                    <a:bodyPr/>
                    <a:lstStyle/>
                    <a:p>
                      <a:r>
                        <a:rPr sz="1000" b="0">
                          <a:solidFill>
                            <a:srgbClr val="4B4B4B"/>
                          </a:solidFill>
                          <a:latin typeface="Arial"/>
                        </a:rPr>
                        <a:t>Sign-off workbook: one row per screen, field, rule and message with the BU review columns; one menu sheet per persona;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signatories sign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04_BIBS_TestPlan_BRD-11_User_Access_Maintenance_v2.0.xlsx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FRs and to the screens, including one screen case and one message case per screen and the access checks by persona</a:t>
                      </a:r>
                    </a:p>
                  </a:txBody>
                  <a:tcPr marL="73152" marR="73152" marT="36576" marB="36576">
                    <a:solidFill>
                      <a:srgbClr val="FFFFFF"/>
                    </a:solidFill>
                  </a:tcPr>
                </a:tc>
                <a:tc>
                  <a:txBody>
                    <a:bodyPr/>
                    <a:lstStyle/>
                    <a:p>
                      <a:r>
                        <a:rPr sz="1000" b="0">
                          <a:solidFill>
                            <a:srgbClr val="4B4B4B"/>
                          </a:solidFill>
                          <a:latin typeface="Arial"/>
                        </a:rPr>
                        <a:t>Business users who will run UAT; Information Security; BDOI IT</a:t>
                      </a:r>
                    </a:p>
                  </a:txBody>
                  <a:tcPr marL="73152" marR="73152" marT="36576" marB="36576">
                    <a:solidFill>
                      <a:srgbClr val="FFFFFF"/>
                    </a:solidFill>
                  </a:tcPr>
                </a:tc>
                <a:tc>
                  <a:txBody>
                    <a:bodyPr/>
                    <a:lstStyle/>
                    <a:p>
                      <a:r>
                        <a:rPr sz="1000" b="0">
                          <a:solidFill>
                            <a:srgbClr val="4B4B4B"/>
                          </a:solidFill>
                          <a:latin typeface="Arial"/>
                        </a:rPr>
                        <a:t>After the screens; used again in SIT and UAT</a:t>
                      </a:r>
                    </a:p>
                  </a:txBody>
                  <a:tcPr marL="73152" marR="73152" marT="36576" marB="36576">
                    <a:solidFill>
                      <a:srgbClr val="FFFFFF"/>
                    </a:solidFill>
                  </a:tcPr>
                </a:tc>
              </a:tr>
              <a:tr h="365760">
                <a:tc>
                  <a:txBody>
                    <a:bodyPr/>
                    <a:lstStyle/>
                    <a:p>
                      <a:r>
                        <a:rPr sz="1000" b="0">
                          <a:solidFill>
                            <a:srgbClr val="4B4B4B"/>
                          </a:solidFill>
                          <a:latin typeface="Arial"/>
                        </a:rPr>
                        <a:t>05_BIBS_TestPlan_BRD-11_User_Access_Maintenance_Summary_v2.0.docx</a:t>
                      </a:r>
                    </a:p>
                  </a:txBody>
                  <a:tcPr marL="73152" marR="73152" marT="36576" marB="36576">
                    <a:solidFill>
                      <a:srgbClr val="E5F5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E5F5FF"/>
                    </a:solidFill>
                  </a:tcPr>
                </a:tc>
                <a:tc>
                  <a:txBody>
                    <a:bodyPr/>
                    <a:lstStyle/>
                    <a:p>
                      <a:r>
                        <a:rPr sz="1000" b="0">
                          <a:solidFill>
                            <a:srgbClr val="4B4B4B"/>
                          </a:solidFill>
                          <a:latin typeface="Arial"/>
                        </a:rPr>
                        <a:t>Business owner, Information Security, BDOI IT</a:t>
                      </a:r>
                    </a:p>
                  </a:txBody>
                  <a:tcPr marL="73152" marR="73152" marT="36576" marB="36576">
                    <a:solidFill>
                      <a:srgbClr val="E5F5FF"/>
                    </a:solidFill>
                  </a:tcPr>
                </a:tc>
                <a:tc>
                  <a:txBody>
                    <a:bodyPr/>
                    <a:lstStyle/>
                    <a:p>
                      <a:r>
                        <a:rPr sz="1000" b="0">
                          <a:solidFill>
                            <a:srgbClr val="4B4B4B"/>
                          </a:solidFill>
                          <a:latin typeface="Arial"/>
                        </a:rPr>
                        <a:t>Before sign-off</a:t>
                      </a:r>
                    </a:p>
                  </a:txBody>
                  <a:tcPr marL="73152" marR="73152" marT="36576" marB="36576">
                    <a:solidFill>
                      <a:srgbClr val="E5F5FF"/>
                    </a:solidFill>
                  </a:tcPr>
                </a:tc>
              </a:tr>
              <a:tr h="365760">
                <a:tc>
                  <a:txBody>
                    <a:bodyPr/>
                    <a:lstStyle/>
                    <a:p>
                      <a:r>
                        <a:rPr sz="1000" b="0">
                          <a:solidFill>
                            <a:srgbClr val="4B4B4B"/>
                          </a:solidFill>
                          <a:latin typeface="Arial"/>
                        </a:rPr>
                        <a:t>06_BIBS_Templates_BRD-11_Configuration_Inputs_v2.0.xlsx</a:t>
                      </a:r>
                    </a:p>
                  </a:txBody>
                  <a:tcPr marL="73152" marR="73152" marT="36576" marB="36576">
                    <a:solidFill>
                      <a:srgbClr val="FFFFFF"/>
                    </a:solidFill>
                  </a:tcPr>
                </a:tc>
                <a:tc>
                  <a:txBody>
                    <a:bodyPr/>
                    <a:lstStyle/>
                    <a:p>
                      <a:r>
                        <a:rPr sz="1000" b="0">
                          <a:solidFill>
                            <a:srgbClr val="4B4B4B"/>
                          </a:solidFill>
                          <a:latin typeface="Arial"/>
                        </a:rPr>
                        <a:t>Configuration input templates: users and roles load, role-to-permission matrix, approval rules and limits, separation-of-duties rules, password and session parameters, lists of values</a:t>
                      </a:r>
                    </a:p>
                  </a:txBody>
                  <a:tcPr marL="73152" marR="73152" marT="36576" marB="36576">
                    <a:solidFill>
                      <a:srgbClr val="FFFFFF"/>
                    </a:solidFill>
                  </a:tcPr>
                </a:tc>
                <a:tc>
                  <a:txBody>
                    <a:bodyPr/>
                    <a:lstStyle/>
                    <a:p>
                      <a:r>
                        <a:rPr sz="1000" b="0">
                          <a:solidFill>
                            <a:srgbClr val="4B4B4B"/>
                          </a:solidFill>
                          <a:latin typeface="Arial"/>
                        </a:rPr>
                        <a:t>Business Administration, Information Security, BDOI IT, the unit heads who name their users</a:t>
                      </a:r>
                    </a:p>
                  </a:txBody>
                  <a:tcPr marL="73152" marR="73152" marT="36576" marB="36576">
                    <a:solidFill>
                      <a:srgbClr val="FFFFFF"/>
                    </a:solidFill>
                  </a:tcPr>
                </a:tc>
                <a:tc>
                  <a:txBody>
                    <a:bodyPr/>
                    <a:lstStyle/>
                    <a:p>
                      <a:r>
                        <a:rPr sz="1000" b="0">
                          <a:solidFill>
                            <a:srgbClr val="4B4B4B"/>
                          </a:solidFill>
                          <a:latin typeface="Arial"/>
                        </a:rPr>
                        <a:t>During the review; filled in before the first data migration mock and final before UAT</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Business owner (Product Owner, Marketing Business System)</a:t>
                      </a:r>
                    </a:p>
                  </a:txBody>
                  <a:tcPr marL="73152" marR="73152" marT="36576" marB="36576">
                    <a:solidFill>
                      <a:srgbClr val="FFFFFF"/>
                    </a:solidFill>
                  </a:tcPr>
                </a:tc>
                <a:tc>
                  <a:txBody>
                    <a:bodyPr/>
                    <a:lstStyle/>
                    <a:p>
                      <a:r>
                        <a:rPr sz="1100" b="0">
                          <a:solidFill>
                            <a:srgbClr val="4B4B4B"/>
                          </a:solidFill>
                          <a:latin typeface="Arial"/>
                        </a:rPr>
                        <a:t>00 Start Here; 01 Guide deck; FRS chapters 1-3 (context and personas), 14 (walkthroughs), 19 (configuration inputs), 21 (sign-off) and 22 (proposed rules for confirmation); workbook Sign-off certificate</a:t>
                      </a:r>
                    </a:p>
                  </a:txBody>
                  <a:tcPr marL="73152" marR="73152" marT="36576" marB="36576">
                    <a:solidFill>
                      <a:srgbClr val="FFFFFF"/>
                    </a:solidFill>
                  </a:tcPr>
                </a:tc>
              </a:tr>
              <a:tr h="365760">
                <a:tc>
                  <a:txBody>
                    <a:bodyPr/>
                    <a:lstStyle/>
                    <a:p>
                      <a:r>
                        <a:rPr sz="1100" b="0">
                          <a:solidFill>
                            <a:srgbClr val="4B4B4B"/>
                          </a:solidFill>
                          <a:latin typeface="Arial"/>
                        </a:rPr>
                        <a:t>Business Administration (process owner of user access)</a:t>
                      </a:r>
                    </a:p>
                  </a:txBody>
                  <a:tcPr marL="73152" marR="73152" marT="36576" marB="36576">
                    <a:solidFill>
                      <a:srgbClr val="E5F5FF"/>
                    </a:solidFill>
                  </a:tcPr>
                </a:tc>
                <a:tc>
                  <a:txBody>
                    <a:bodyPr/>
                    <a:lstStyle/>
                    <a:p>
                      <a:r>
                        <a:rPr sz="1100" b="0">
                          <a:solidFill>
                            <a:srgbClr val="4B4B4B"/>
                          </a:solidFill>
                          <a:latin typeface="Arial"/>
                        </a:rPr>
                        <a:t>FRS chapter 13 screens SCR-UA-06 to SCR-UA-12, SCR-UA-14 and SCR-UA-17; walkthroughs A and B; chapter 18 (bulk upload); chapter 19 templates CI-01, CI-03 and CI-06; workbook Screen catalogue, Field register, Business rules and Messages of those screens</a:t>
                      </a:r>
                    </a:p>
                  </a:txBody>
                  <a:tcPr marL="73152" marR="73152" marT="36576" marB="36576">
                    <a:solidFill>
                      <a:srgbClr val="E5F5FF"/>
                    </a:solidFill>
                  </a:tcPr>
                </a:tc>
              </a:tr>
              <a:tr h="365760">
                <a:tc>
                  <a:txBody>
                    <a:bodyPr/>
                    <a:lstStyle/>
                    <a:p>
                      <a:r>
                        <a:rPr sz="1100" b="0">
                          <a:solidFill>
                            <a:srgbClr val="4B4B4B"/>
                          </a:solidFill>
                          <a:latin typeface="Arial"/>
                        </a:rPr>
                        <a:t>BDOI Information Security</a:t>
                      </a:r>
                    </a:p>
                  </a:txBody>
                  <a:tcPr marL="73152" marR="73152" marT="36576" marB="36576">
                    <a:solidFill>
                      <a:srgbClr val="FFFFFF"/>
                    </a:solidFill>
                  </a:tcPr>
                </a:tc>
                <a:tc>
                  <a:txBody>
                    <a:bodyPr/>
                    <a:lstStyle/>
                    <a:p>
                      <a:r>
                        <a:rPr sz="1100" b="0">
                          <a:solidFill>
                            <a:srgbClr val="4B4B4B"/>
                          </a:solidFill>
                          <a:latin typeface="Arial"/>
                        </a:rPr>
                        <a:t>FRS chapter 3 (personas and permissions), chapter 12 (menu of every persona) and its workbook sheets Menu by persona and Menu &lt;role&gt;; chapter 13 rules of SCR-UA-07, SCR-UA-08, SCR-UA-12, SCR-UA-15, SCR-UA-16 and SCR-UA-18 (separation of duties, second approval, emergency path); walkthroughs C and D; templates CI-02, CI-04 and CI-05</a:t>
                      </a:r>
                    </a:p>
                  </a:txBody>
                  <a:tcPr marL="73152" marR="73152" marT="36576" marB="36576">
                    <a:solidFill>
                      <a:srgbClr val="FFFFFF"/>
                    </a:solidFill>
                  </a:tcPr>
                </a:tc>
              </a:tr>
              <a:tr h="365760">
                <a:tc>
                  <a:txBody>
                    <a:bodyPr/>
                    <a:lstStyle/>
                    <a:p>
                      <a:r>
                        <a:rPr sz="1100" b="0">
                          <a:solidFill>
                            <a:srgbClr val="4B4B4B"/>
                          </a:solidFill>
                          <a:latin typeface="Arial"/>
                        </a:rPr>
                        <a:t>BDOI IT</a:t>
                      </a:r>
                    </a:p>
                  </a:txBody>
                  <a:tcPr marL="73152" marR="73152" marT="36576" marB="36576">
                    <a:solidFill>
                      <a:srgbClr val="E5F5FF"/>
                    </a:solidFill>
                  </a:tcPr>
                </a:tc>
                <a:tc>
                  <a:txBody>
                    <a:bodyPr/>
                    <a:lstStyle/>
                    <a:p>
                      <a:r>
                        <a:rPr sz="1100" b="0">
                          <a:solidFill>
                            <a:srgbClr val="4B4B4B"/>
                          </a:solidFill>
                          <a:latin typeface="Arial"/>
                        </a:rPr>
                        <a:t>FRS chapter 7 (interfaces: EIAM on Entra ID, UIDM-ISC), chapter 8 (non-functional requirements), screens SCR-UA-01 to SCR-UA-05, SCR-UA-15 and SCR-UA-18, chapter 20 lines IC-08 to IC-11; template CI-05; the caveats of the Guide deck</a:t>
                      </a:r>
                    </a:p>
                  </a:txBody>
                  <a:tcPr marL="73152" marR="73152" marT="36576" marB="36576">
                    <a:solidFill>
                      <a:srgbClr val="E5F5FF"/>
                    </a:solidFill>
                  </a:tcPr>
                </a:tc>
              </a:tr>
              <a:tr h="365760">
                <a:tc>
                  <a:txBody>
                    <a:bodyPr/>
                    <a:lstStyle/>
                    <a:p>
                      <a:r>
                        <a:rPr sz="1100" b="0">
                          <a:solidFill>
                            <a:srgbClr val="4B4B4B"/>
                          </a:solidFill>
                          <a:latin typeface="Arial"/>
                        </a:rPr>
                        <a:t>Unit heads of the other BRDs (New Business, Operations, Finance, Compliance, Claims, Employee Benefits)</a:t>
                      </a:r>
                    </a:p>
                  </a:txBody>
                  <a:tcPr marL="73152" marR="73152" marT="36576" marB="36576">
                    <a:solidFill>
                      <a:srgbClr val="FFFFFF"/>
                    </a:solidFill>
                  </a:tcPr>
                </a:tc>
                <a:tc>
                  <a:txBody>
                    <a:bodyPr/>
                    <a:lstStyle/>
                    <a:p>
                      <a:r>
                        <a:rPr sz="1100" b="0">
                          <a:solidFill>
                            <a:srgbClr val="4B4B4B"/>
                          </a:solidFill>
                          <a:latin typeface="Arial"/>
                        </a:rPr>
                        <a:t>FRS chapter 12, the menu table of their personas, and the workbook sheet Menu &lt;role&gt; of each; walkthrough A (a new user sees exactly the menu of the persona)</a:t>
                      </a:r>
                    </a:p>
                  </a:txBody>
                  <a:tcPr marL="73152" marR="73152" marT="36576" marB="36576">
                    <a:solidFill>
                      <a:srgbClr val="FFFFFF"/>
                    </a:solidFill>
                  </a:tcPr>
                </a:tc>
              </a:tr>
              <a:tr h="365760">
                <a:tc>
                  <a:txBody>
                    <a:bodyPr/>
                    <a:lstStyle/>
                    <a:p>
                      <a:r>
                        <a:rPr sz="1100" b="0">
                          <a:solidFill>
                            <a:srgbClr val="4B4B4B"/>
                          </a:solidFill>
                          <a:latin typeface="Arial"/>
                        </a:rPr>
                        <a:t>iorta TechNXT project team</a:t>
                      </a:r>
                    </a:p>
                  </a:txBody>
                  <a:tcPr marL="73152" marR="73152" marT="36576" marB="36576">
                    <a:solidFill>
                      <a:srgbClr val="E5F5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SIT and UAT</a:t>
                      </a:r>
                    </a:p>
                  </a:txBody>
                  <a:tcPr marL="73152" marR="73152" marT="36576" marB="36576">
                    <a:solidFill>
                      <a:srgbClr val="E5F5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Pack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BRD-11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2-Nov-2026)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screen walkthrough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Screens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2 sessions, Mon 9 and Tue 10-Nov-2026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configuration inputs started</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comments log entries; first drafts of the templates (users, role matrix, rules, parameters)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8 working days after the walkthroughs, until Fri 20-Nov-2026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Tue 24-Nov-2026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Thu 26-Nov-2026; check by the reviewers until Fri 27-Nov-2026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open items accepted as assumptions or change requests</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Tue 1-Dec-2026</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Content freeze; configuration inputs loaded</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Content frozen as signed; approved deltas scheduled in the Change Management Register; role matrix implemented by group-profile requests; users loaded by bulk requests before the first mock</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Wed 2-Dec-2026; templates final before UAT</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SIT and UAT runs traced to the signed screens, rules, messages and persona menus;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SIT Apr - Jul 2027; UAT Aug - Oct 2027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Pack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FRS v2.0, workbook, test plan, configuration input templates, guide and deck</a:t>
                      </a:r>
                    </a:p>
                  </a:txBody>
                  <a:tcPr marL="73152" marR="73152" marT="36576" marB="36576">
                    <a:solidFill>
                      <a:srgbClr val="FFFFFF"/>
                    </a:solidFill>
                  </a:tcPr>
                </a:tc>
                <a:tc>
                  <a:txBody>
                    <a:bodyPr/>
                    <a:lstStyle/>
                    <a:p>
                      <a:r>
                        <a:rPr sz="1000" b="0">
                          <a:solidFill>
                            <a:srgbClr val="4B4B4B"/>
                          </a:solidFill>
                          <a:latin typeface="Arial"/>
                        </a:rPr>
                        <a:t>Release set v2.0 in the BRD-11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2-Nov-2026)</a:t>
                      </a:r>
                    </a:p>
                  </a:txBody>
                  <a:tcPr marL="73152" marR="73152" marT="36576" marB="36576">
                    <a:solidFill>
                      <a:srgbClr val="FFFFFF"/>
                    </a:solidFill>
                  </a:tcPr>
                </a:tc>
              </a:tr>
              <a:tr h="365760">
                <a:tc>
                  <a:txBody>
                    <a:bodyPr/>
                    <a:lstStyle/>
                    <a:p>
                      <a:r>
                        <a:rPr sz="1000" b="0">
                          <a:solidFill>
                            <a:srgbClr val="4B4B4B"/>
                          </a:solidFill>
                          <a:latin typeface="Arial"/>
                        </a:rPr>
                        <a:t>2. Kick-off and screen walkthrough on SIT</a:t>
                      </a:r>
                    </a:p>
                  </a:txBody>
                  <a:tcPr marL="73152" marR="73152" marT="36576" marB="36576">
                    <a:solidFill>
                      <a:srgbClr val="E5F5FF"/>
                    </a:solidFill>
                  </a:tcPr>
                </a:tc>
                <a:tc>
                  <a:txBody>
                    <a:bodyPr/>
                    <a:lstStyle/>
                    <a:p>
                      <a:r>
                        <a:rPr sz="1000" b="0">
                          <a:solidFill>
                            <a:srgbClr val="4B4B4B"/>
                          </a:solidFill>
                          <a:latin typeface="Arial"/>
                        </a:rPr>
                        <a:t>R: iorta TechNXT Business Analysis; A: BDOI Product Owner; C: Business Administration, Information Security, BDOI IT; I: unit heads of the other BRDs</a:t>
                      </a:r>
                    </a:p>
                  </a:txBody>
                  <a:tcPr marL="73152" marR="73152" marT="36576" marB="36576">
                    <a:solidFill>
                      <a:srgbClr val="E5F5FF"/>
                    </a:solidFill>
                  </a:tcPr>
                </a:tc>
                <a:tc>
                  <a:txBody>
                    <a:bodyPr/>
                    <a:lstStyle/>
                    <a:p>
                      <a:r>
                        <a:rPr sz="1000" b="0">
                          <a:solidFill>
                            <a:srgbClr val="4B4B4B"/>
                          </a:solidFill>
                          <a:latin typeface="Arial"/>
                        </a:rPr>
                        <a:t>Guide deck; SIT users with seed data; walkthroughs A to D</a:t>
                      </a:r>
                    </a:p>
                  </a:txBody>
                  <a:tcPr marL="73152" marR="73152" marT="36576" marB="36576">
                    <a:solidFill>
                      <a:srgbClr val="E5F5FF"/>
                    </a:solidFill>
                  </a:tcPr>
                </a:tc>
                <a:tc>
                  <a:txBody>
                    <a:bodyPr/>
                    <a:lstStyle/>
                    <a:p>
                      <a:r>
                        <a:rPr sz="1000" b="0">
                          <a:solidFill>
                            <a:srgbClr val="4B4B4B"/>
                          </a:solidFill>
                          <a:latin typeface="Arial"/>
                        </a:rPr>
                        <a:t>Screens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2 sessions, Mon 9 and Tue 10-Nov-2026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configuration inputs started</a:t>
                      </a:r>
                    </a:p>
                  </a:txBody>
                  <a:tcPr marL="73152" marR="73152" marT="36576" marB="36576">
                    <a:solidFill>
                      <a:srgbClr val="FFFFFF"/>
                    </a:solidFill>
                  </a:tcPr>
                </a:tc>
                <a:tc>
                  <a:txBody>
                    <a:bodyPr/>
                    <a:lstStyle/>
                    <a:p>
                      <a:r>
                        <a:rPr sz="1000" b="0">
                          <a:solidFill>
                            <a:srgbClr val="4B4B4B"/>
                          </a:solidFill>
                          <a:latin typeface="Arial"/>
                        </a:rPr>
                        <a:t>R: Business Administration, Information Security, BDOI IT, unit heads for their menus; A: BDOI Product Owner; C: iorta TechNXT (questions)</a:t>
                      </a:r>
                    </a:p>
                  </a:txBody>
                  <a:tcPr marL="73152" marR="73152" marT="36576" marB="36576">
                    <a:solidFill>
                      <a:srgbClr val="FFFFFF"/>
                    </a:solidFill>
                  </a:tcPr>
                </a:tc>
                <a:tc>
                  <a:txBody>
                    <a:bodyPr/>
                    <a:lstStyle/>
                    <a:p>
                      <a:r>
                        <a:rPr sz="1000" b="0">
                          <a:solidFill>
                            <a:srgbClr val="4B4B4B"/>
                          </a:solidFill>
                          <a:latin typeface="Arial"/>
                        </a:rPr>
                        <a:t>FRS chapters of the area; workbook sheets with the BU review columns; the menu sheet of each persona; the configuration input templates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comments log entries; first drafts of the templates (users, role matrix, rules, parameters)</a:t>
                      </a:r>
                    </a:p>
                  </a:txBody>
                  <a:tcPr marL="73152" marR="73152" marT="36576" marB="36576">
                    <a:solidFill>
                      <a:srgbClr val="FFFFFF"/>
                    </a:solidFill>
                  </a:tcPr>
                </a:tc>
                <a:tc>
                  <a:txBody>
                    <a:bodyPr/>
                    <a:lstStyle/>
                    <a:p>
                      <a:r>
                        <a:rPr sz="1000" b="0">
                          <a:solidFill>
                            <a:srgbClr val="4B4B4B"/>
                          </a:solidFill>
                          <a:latin typeface="Arial"/>
                        </a:rPr>
                        <a:t>8 working days after the walkthroughs, until Fri 20-Nov-2026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BDOI Product Owner;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Tue 24-Nov-2026</a:t>
                      </a:r>
                    </a:p>
                  </a:txBody>
                  <a:tcPr marL="73152" marR="73152" marT="36576" marB="36576">
                    <a:solidFill>
                      <a:srgbClr val="E5F5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change requests raised for the rest</a:t>
                      </a:r>
                    </a:p>
                  </a:txBody>
                  <a:tcPr marL="73152" marR="73152" marT="36576" marB="36576">
                    <a:solidFill>
                      <a:srgbClr val="FFFFFF"/>
                    </a:solidFill>
                  </a:tcPr>
                </a:tc>
                <a:tc>
                  <a:txBody>
                    <a:bodyPr/>
                    <a:lstStyle/>
                    <a:p>
                      <a:r>
                        <a:rPr sz="1000" b="0">
                          <a:solidFill>
                            <a:srgbClr val="4B4B4B"/>
                          </a:solidFill>
                          <a:latin typeface="Arial"/>
                        </a:rPr>
                        <a:t>v2.1 on Thu 26-Nov-2026; check by the reviewers until Fri 27-Nov-2026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BDOI Product Owner; C: Business Administration, Information Security,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items with their decision</a:t>
                      </a:r>
                    </a:p>
                  </a:txBody>
                  <a:tcPr marL="73152" marR="73152" marT="36576" marB="36576">
                    <a:solidFill>
                      <a:srgbClr val="E5F5FF"/>
                    </a:solidFill>
                  </a:tcPr>
                </a:tc>
                <a:tc>
                  <a:txBody>
                    <a:bodyPr/>
                    <a:lstStyle/>
                    <a:p>
                      <a:r>
                        <a:rPr sz="1000" b="0">
                          <a:solidFill>
                            <a:srgbClr val="4B4B4B"/>
                          </a:solidFill>
                          <a:latin typeface="Arial"/>
                        </a:rPr>
                        <a:t>Signed sign-off certificate; minutes; open items accepted as assumptions or change requests</a:t>
                      </a:r>
                    </a:p>
                  </a:txBody>
                  <a:tcPr marL="73152" marR="73152" marT="36576" marB="36576">
                    <a:solidFill>
                      <a:srgbClr val="E5F5FF"/>
                    </a:solidFill>
                  </a:tcPr>
                </a:tc>
                <a:tc>
                  <a:txBody>
                    <a:bodyPr/>
                    <a:lstStyle/>
                    <a:p>
                      <a:r>
                        <a:rPr sz="1000" b="0">
                          <a:solidFill>
                            <a:srgbClr val="4B4B4B"/>
                          </a:solidFill>
                          <a:latin typeface="Arial"/>
                        </a:rPr>
                        <a:t>Tue 1-Dec-2026</a:t>
                      </a:r>
                    </a:p>
                  </a:txBody>
                  <a:tcPr marL="73152" marR="73152" marT="36576" marB="36576">
                    <a:solidFill>
                      <a:srgbClr val="E5F5FF"/>
                    </a:solidFill>
                  </a:tcPr>
                </a:tc>
              </a:tr>
              <a:tr h="365760">
                <a:tc>
                  <a:txBody>
                    <a:bodyPr/>
                    <a:lstStyle/>
                    <a:p>
                      <a:r>
                        <a:rPr sz="1000" b="0">
                          <a:solidFill>
                            <a:srgbClr val="4B4B4B"/>
                          </a:solidFill>
                          <a:latin typeface="Arial"/>
                        </a:rPr>
                        <a:t>7. Content freeze; configuration inputs loaded</a:t>
                      </a:r>
                    </a:p>
                  </a:txBody>
                  <a:tcPr marL="73152" marR="73152" marT="36576" marB="36576">
                    <a:solidFill>
                      <a:srgbClr val="FFFFFF"/>
                    </a:solidFill>
                  </a:tcPr>
                </a:tc>
                <a:tc>
                  <a:txBody>
                    <a:bodyPr/>
                    <a:lstStyle/>
                    <a:p>
                      <a:r>
                        <a:rPr sz="1000" b="0">
                          <a:solidFill>
                            <a:srgbClr val="4B4B4B"/>
                          </a:solidFill>
                          <a:latin typeface="Arial"/>
                        </a:rPr>
                        <a:t>R: iorta TechNXT delivery lead; A: BDOI Product Owner; I: BDOI IT, Information Security, other BRD owners, Data Migration working group</a:t>
                      </a:r>
                    </a:p>
                  </a:txBody>
                  <a:tcPr marL="73152" marR="73152" marT="36576" marB="36576">
                    <a:solidFill>
                      <a:srgbClr val="FFFFFF"/>
                    </a:solidFill>
                  </a:tcPr>
                </a:tc>
                <a:tc>
                  <a:txBody>
                    <a:bodyPr/>
                    <a:lstStyle/>
                    <a:p>
                      <a:r>
                        <a:rPr sz="1000" b="0">
                          <a:solidFill>
                            <a:srgbClr val="4B4B4B"/>
                          </a:solidFill>
                          <a:latin typeface="Arial"/>
                        </a:rPr>
                        <a:t>Signed set; change requests with mandays; filled configuration input templates</a:t>
                      </a:r>
                    </a:p>
                  </a:txBody>
                  <a:tcPr marL="73152" marR="73152" marT="36576" marB="36576">
                    <a:solidFill>
                      <a:srgbClr val="FFFFFF"/>
                    </a:solidFill>
                  </a:tcPr>
                </a:tc>
                <a:tc>
                  <a:txBody>
                    <a:bodyPr/>
                    <a:lstStyle/>
                    <a:p>
                      <a:r>
                        <a:rPr sz="1000" b="0">
                          <a:solidFill>
                            <a:srgbClr val="4B4B4B"/>
                          </a:solidFill>
                          <a:latin typeface="Arial"/>
                        </a:rPr>
                        <a:t>Content frozen as signed; approved deltas scheduled in the Change Management Register; role matrix implemented by group-profile requests; users loaded by bulk requests before the first mock</a:t>
                      </a:r>
                    </a:p>
                  </a:txBody>
                  <a:tcPr marL="73152" marR="73152" marT="36576" marB="36576">
                    <a:solidFill>
                      <a:srgbClr val="FFFFFF"/>
                    </a:solidFill>
                  </a:tcPr>
                </a:tc>
                <a:tc>
                  <a:txBody>
                    <a:bodyPr/>
                    <a:lstStyle/>
                    <a:p>
                      <a:r>
                        <a:rPr sz="1000" b="0">
                          <a:solidFill>
                            <a:srgbClr val="4B4B4B"/>
                          </a:solidFill>
                          <a:latin typeface="Arial"/>
                        </a:rPr>
                        <a:t>From Wed 2-Dec-2026; templates final before UAT</a:t>
                      </a:r>
                    </a:p>
                  </a:txBody>
                  <a:tcPr marL="73152" marR="73152" marT="36576" marB="36576">
                    <a:solidFill>
                      <a:srgbClr val="FFFFFF"/>
                    </a:solidFill>
                  </a:tcPr>
                </a:tc>
              </a:tr>
              <a:tr h="365760">
                <a:tc>
                  <a:txBody>
                    <a:bodyPr/>
                    <a:lstStyle/>
                    <a:p>
                      <a:r>
                        <a:rPr sz="1000" b="0">
                          <a:solidFill>
                            <a:srgbClr val="4B4B4B"/>
                          </a:solidFill>
                          <a:latin typeface="Arial"/>
                        </a:rPr>
                        <a:t>8. Traceability into SIT and UAT</a:t>
                      </a:r>
                    </a:p>
                  </a:txBody>
                  <a:tcPr marL="73152" marR="73152" marT="36576" marB="36576">
                    <a:solidFill>
                      <a:srgbClr val="E5F5FF"/>
                    </a:solidFill>
                  </a:tcPr>
                </a:tc>
                <a:tc>
                  <a:txBody>
                    <a:bodyPr/>
                    <a:lstStyle/>
                    <a:p>
                      <a:r>
                        <a:rPr sz="1000" b="0">
                          <a:solidFill>
                            <a:srgbClr val="4B4B4B"/>
                          </a:solidFill>
                          <a:latin typeface="Arial"/>
                        </a:rPr>
                        <a:t>R: iorta TechNXT test lead; A: BDOI Product Owner; C: business users, Information Security</a:t>
                      </a:r>
                    </a:p>
                  </a:txBody>
                  <a:tcPr marL="73152" marR="73152" marT="36576" marB="36576">
                    <a:solidFill>
                      <a:srgbClr val="E5F5FF"/>
                    </a:solidFill>
                  </a:tcPr>
                </a:tc>
                <a:tc>
                  <a:txBody>
                    <a:bodyPr/>
                    <a:lstStyle/>
                    <a:p>
                      <a:r>
                        <a:rPr sz="1000" b="0">
                          <a:solidFill>
                            <a:srgbClr val="4B4B4B"/>
                          </a:solidFill>
                          <a:latin typeface="Arial"/>
                        </a:rPr>
                        <a:t>Signed FRS rows and test plan</a:t>
                      </a:r>
                    </a:p>
                  </a:txBody>
                  <a:tcPr marL="73152" marR="73152" marT="36576" marB="36576">
                    <a:solidFill>
                      <a:srgbClr val="E5F5FF"/>
                    </a:solidFill>
                  </a:tcPr>
                </a:tc>
                <a:tc>
                  <a:txBody>
                    <a:bodyPr/>
                    <a:lstStyle/>
                    <a:p>
                      <a:r>
                        <a:rPr sz="1000" b="0">
                          <a:solidFill>
                            <a:srgbClr val="4B4B4B"/>
                          </a:solidFill>
                          <a:latin typeface="Arial"/>
                        </a:rPr>
                        <a:t>SIT and UAT runs traced to the signed screens, rules, messages and persona menus; results against each row</a:t>
                      </a:r>
                    </a:p>
                  </a:txBody>
                  <a:tcPr marL="73152" marR="73152" marT="36576" marB="36576">
                    <a:solidFill>
                      <a:srgbClr val="E5F5FF"/>
                    </a:solidFill>
                  </a:tcPr>
                </a:tc>
                <a:tc>
                  <a:txBody>
                    <a:bodyPr/>
                    <a:lstStyle/>
                    <a:p>
                      <a:r>
                        <a:rPr sz="1000" b="0">
                          <a:solidFill>
                            <a:srgbClr val="4B4B4B"/>
                          </a:solidFill>
                          <a:latin typeface="Arial"/>
                        </a:rPr>
                        <a:t>SIT Apr - Jul 2027; UAT Aug - Oct 2027</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256032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Screens and fields (FRS screen specifications; workbook Screen catalogue, Field register)</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 representative (MBS), 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Business rules and validations (four eyes, password and session rules)</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 BA (BPS)</a:t>
                      </a:r>
                    </a:p>
                  </a:txBody>
                  <a:tcPr marL="73152" marR="73152" marT="36576" marB="36576">
                    <a:solidFill>
                      <a:srgbClr val="E5F5FF"/>
                    </a:solidFill>
                  </a:tcPr>
                </a:tc>
                <a:tc>
                  <a:txBody>
                    <a:bodyPr/>
                    <a:lstStyle/>
                    <a:p>
                      <a:r>
                        <a:rPr sz="900" b="0">
                          <a:solidFill>
                            <a:srgbClr val="4B4B4B"/>
                          </a:solidFill>
                          <a:latin typeface="Arial"/>
                        </a:rPr>
                        <a:t>Program Manager (BPS), Information Security</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Messages and notifications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Documents and reports (access reports, audit log)</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 representative (MBS), Business Administration</a:t>
                      </a:r>
                    </a:p>
                  </a:txBody>
                  <a:tcPr marL="73152" marR="73152" marT="36576" marB="36576">
                    <a:solidFill>
                      <a:srgbClr val="E5F5FF"/>
                    </a:solidFill>
                  </a:tcPr>
                </a:tc>
                <a:tc>
                  <a:txBody>
                    <a:bodyPr/>
                    <a:lstStyle/>
                    <a:p>
                      <a:r>
                        <a:rPr sz="900" b="0">
                          <a:solidFill>
                            <a:srgbClr val="4B4B4B"/>
                          </a:solidFill>
                          <a:latin typeface="Arial"/>
                        </a:rPr>
                        <a:t>Program Manager (BPS), Information Security</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Walkthroughs (end-to-end, screen by screen)</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 representative (MBS), Business Administration</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Proposed business rules and clarifications for confirmation</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BA (BPS), BU representative (MBS)</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Role matrix and menus by persona (who may do what)</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 representative (MBS), Business Administration</a:t>
                      </a:r>
                    </a:p>
                  </a:txBody>
                  <a:tcPr marL="73152" marR="73152" marT="36576" marB="36576">
                    <a:solidFill>
                      <a:srgbClr val="FFFFFF"/>
                    </a:solidFill>
                  </a:tcPr>
                </a:tc>
                <a:tc>
                  <a:txBody>
                    <a:bodyPr/>
                    <a:lstStyle/>
                    <a:p>
                      <a:r>
                        <a:rPr sz="900" b="0">
                          <a:solidFill>
                            <a:srgbClr val="4B4B4B"/>
                          </a:solidFill>
                          <a:latin typeface="Arial"/>
                        </a:rPr>
                        <a:t>Information Security, BDOI IT</a:t>
                      </a:r>
                    </a:p>
                  </a:txBody>
                  <a:tcPr marL="73152" marR="73152" marT="36576" marB="36576">
                    <a:solidFill>
                      <a:srgbClr val="FFFFFF"/>
                    </a:solidFill>
                  </a:tcPr>
                </a:tc>
                <a:tc>
                  <a:txBody>
                    <a:bodyPr/>
                    <a:lstStyle/>
                    <a:p>
                      <a:r>
                        <a:rPr sz="900" b="0">
                          <a:solidFill>
                            <a:srgbClr val="4B4B4B"/>
                          </a:solidFill>
                          <a:latin typeface="Arial"/>
                        </a:rPr>
                        <a:t>Product Owner, UH Claims and Risk Management, UH Combank and Corbank, Head Comptrollership, Head Retail Marketing, Head Corporate and Retail Marketing</a:t>
                      </a:r>
                    </a:p>
                  </a:txBody>
                  <a:tcPr marL="73152" marR="73152" marT="36576" marB="36576">
                    <a:solidFill>
                      <a:srgbClr val="FFFFFF"/>
                    </a:solidFill>
                  </a:tcPr>
                </a:tc>
              </a:tr>
              <a:tr h="365760">
                <a:tc>
                  <a:txBody>
                    <a:bodyPr/>
                    <a:lstStyle/>
                    <a:p>
                      <a:r>
                        <a:rPr sz="900" b="0">
                          <a:solidFill>
                            <a:srgbClr val="4B4B4B"/>
                          </a:solidFill>
                          <a:latin typeface="Arial"/>
                        </a:rPr>
                        <a:t>Interfaces and sign-in (EIAM, UIDM-ISC, directory)</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Business Administration</a:t>
                      </a:r>
                    </a:p>
                  </a:txBody>
                  <a:tcPr marL="73152" marR="73152" marT="36576" marB="36576">
                    <a:solidFill>
                      <a:srgbClr val="E5F5FF"/>
                    </a:solidFill>
                  </a:tcPr>
                </a:tc>
                <a:tc>
                  <a:txBody>
                    <a:bodyPr/>
                    <a:lstStyle/>
                    <a:p>
                      <a:r>
                        <a:rPr sz="900" b="0">
                          <a:solidFill>
                            <a:srgbClr val="4B4B4B"/>
                          </a:solidFill>
                          <a:latin typeface="Arial"/>
                        </a:rPr>
                        <a:t>BDOI IT, Information Security</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Test plan (04 workbook, 05 summary)</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BU representative (MBS), Business Administration</a:t>
                      </a:r>
                    </a:p>
                  </a:txBody>
                  <a:tcPr marL="73152" marR="73152" marT="36576" marB="36576">
                    <a:solidFill>
                      <a:srgbClr val="FFFFFF"/>
                    </a:solidFill>
                  </a:tcPr>
                </a:tc>
                <a:tc>
                  <a:txBody>
                    <a:bodyPr/>
                    <a:lstStyle/>
                    <a:p>
                      <a:r>
                        <a:rPr sz="900" b="0">
                          <a:solidFill>
                            <a:srgbClr val="4B4B4B"/>
                          </a:solidFill>
                          <a:latin typeface="Arial"/>
                        </a:rPr>
                        <a:t>Program Manager (BPS), BDOI IT</a:t>
                      </a:r>
                    </a:p>
                  </a:txBody>
                  <a:tcPr marL="73152" marR="73152" marT="36576" marB="36576">
                    <a:solidFill>
                      <a:srgbClr val="FFFFFF"/>
                    </a:solidFill>
                  </a:tcPr>
                </a:tc>
                <a:tc>
                  <a:txBody>
                    <a:bodyPr/>
                    <a:lstStyle/>
                    <a:p>
                      <a:r>
                        <a:rPr sz="900" b="0">
                          <a:solidFill>
                            <a:srgbClr val="4B4B4B"/>
                          </a:solidFill>
                          <a:latin typeface="Arial"/>
                        </a:rPr>
                        <a:t>Product Owner</a:t>
                      </a:r>
                    </a:p>
                  </a:txBody>
                  <a:tcPr marL="73152" marR="73152" marT="36576" marB="36576">
                    <a:solidFill>
                      <a:srgbClr val="FFFFFF"/>
                    </a:solidFill>
                  </a:tcPr>
                </a:tc>
              </a:tr>
              <a:tr h="365760">
                <a:tc>
                  <a:txBody>
                    <a:bodyPr/>
                    <a:lstStyle/>
                    <a:p>
                      <a:r>
                        <a:rPr sz="900" b="0">
                          <a:solidFill>
                            <a:srgbClr val="4B4B4B"/>
                          </a:solidFill>
                          <a:latin typeface="Arial"/>
                        </a:rPr>
                        <a:t>Configuration inputs (06 templates, Drop 0)</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Business Administration, BU representative (MBS)</a:t>
                      </a:r>
                    </a:p>
                  </a:txBody>
                  <a:tcPr marL="73152" marR="73152" marT="36576" marB="36576">
                    <a:solidFill>
                      <a:srgbClr val="E5F5FF"/>
                    </a:solidFill>
                  </a:tcPr>
                </a:tc>
                <a:tc>
                  <a:txBody>
                    <a:bodyPr/>
                    <a:lstStyle/>
                    <a:p>
                      <a:r>
                        <a:rPr sz="900" b="0">
                          <a:solidFill>
                            <a:srgbClr val="4B4B4B"/>
                          </a:solidFill>
                          <a:latin typeface="Arial"/>
                        </a:rPr>
                        <a:t>Information Security, Program Manager (BPS)</a:t>
                      </a:r>
                    </a:p>
                  </a:txBody>
                  <a:tcPr marL="73152" marR="73152" marT="36576" marB="36576">
                    <a:solidFill>
                      <a:srgbClr val="E5F5FF"/>
                    </a:solidFill>
                  </a:tcPr>
                </a:tc>
                <a:tc>
                  <a:txBody>
                    <a:bodyPr/>
                    <a:lstStyle/>
                    <a:p>
                      <a:r>
                        <a:rPr sz="900" b="0">
                          <a:solidFill>
                            <a:srgbClr val="4B4B4B"/>
                          </a:solidFill>
                          <a:latin typeface="Arial"/>
                        </a:rPr>
                        <a:t>Product Owner</a:t>
                      </a:r>
                    </a:p>
                  </a:txBody>
                  <a:tcPr marL="73152" marR="73152" marT="36576" marB="36576">
                    <a:solidFill>
                      <a:srgbClr val="E5F5FF"/>
                    </a:solidFill>
                  </a:tcPr>
                </a:tc>
              </a:tr>
              <a:tr h="365760">
                <a:tc>
                  <a:txBody>
                    <a:bodyPr/>
                    <a:lstStyle/>
                    <a:p>
                      <a:r>
                        <a:rPr sz="900" b="0">
                          <a:solidFill>
                            <a:srgbClr val="4B4B4B"/>
                          </a:solidFill>
                          <a:latin typeface="Arial"/>
                        </a:rPr>
                        <a:t>Technical Specification (separate document, not part of the business sign-off)</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 Information Security</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Business Analyst, Enterprise Services - Business Process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BU representative, Marketing Business System (MBS) (BDOI)</a:t>
                      </a:r>
                    </a:p>
                  </a:txBody>
                  <a:tcPr marL="73152" marR="73152" marT="36576" marB="36576">
                    <a:solidFill>
                      <a:srgbClr val="FFFFFF"/>
                    </a:solidFill>
                  </a:tcPr>
                </a:tc>
                <a:tc>
                  <a:txBody>
                    <a:bodyPr/>
                    <a:lstStyle/>
                    <a:p>
                      <a:r>
                        <a:rPr sz="900" b="0">
                          <a:solidFill>
                            <a:srgbClr val="4B4B4B"/>
                          </a:solidFill>
                          <a:latin typeface="Arial"/>
                        </a:rPr>
                        <a:t>The request, approval, group-profile and report screens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Business Administration (user access maintenance) (BDOI)</a:t>
                      </a:r>
                    </a:p>
                  </a:txBody>
                  <a:tcPr marL="73152" marR="73152" marT="36576" marB="36576">
                    <a:solidFill>
                      <a:srgbClr val="E5F5FF"/>
                    </a:solidFill>
                  </a:tcPr>
                </a:tc>
                <a:tc>
                  <a:txBody>
                    <a:bodyPr/>
                    <a:lstStyle/>
                    <a:p>
                      <a:r>
                        <a:rPr sz="900" b="0">
                          <a:solidFill>
                            <a:srgbClr val="4B4B4B"/>
                          </a:solidFill>
                          <a:latin typeface="Arial"/>
                        </a:rPr>
                        <a:t>The daily handling of the requests and the configuration inputs of templates CI-01 to CI-06</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Program Manager, Enterprise Services - Business Process Services (BPS) (BDO Unibank ESG)</a:t>
                      </a:r>
                    </a:p>
                  </a:txBody>
                  <a:tcPr marL="73152" marR="73152" marT="36576" marB="36576">
                    <a:solidFill>
                      <a:srgbClr val="FFFFFF"/>
                    </a:solidFill>
                  </a:tcPr>
                </a:tc>
                <a:tc>
                  <a:txBody>
                    <a:bodyPr/>
                    <a:lstStyle/>
                    <a:p>
                      <a:r>
                        <a:rPr sz="900" b="0">
                          <a:solidFill>
                            <a:srgbClr val="4B4B4B"/>
                          </a:solidFill>
                          <a:latin typeface="Arial"/>
                        </a:rPr>
                        <a:t>Traceability of every BRD requirement to the set and completeness of the set ("validated the completeness of business requirements")</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Security (BDOI)</a:t>
                      </a:r>
                    </a:p>
                  </a:txBody>
                  <a:tcPr marL="73152" marR="73152" marT="36576" marB="36576">
                    <a:solidFill>
                      <a:srgbClr val="E5F5FF"/>
                    </a:solidFill>
                  </a:tcPr>
                </a:tc>
                <a:tc>
                  <a:txBody>
                    <a:bodyPr/>
                    <a:lstStyle/>
                    <a:p>
                      <a:r>
                        <a:rPr sz="900" b="0">
                          <a:solidFill>
                            <a:srgbClr val="4B4B4B"/>
                          </a:solidFill>
                          <a:latin typeface="Arial"/>
                        </a:rPr>
                        <a:t>The role matrix, the menus by persona, the separation-of-duties rules, the password and session rules and the audit log</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BDOI Information Technology Group (BDOI IT) (BDOI)</a:t>
                      </a:r>
                    </a:p>
                  </a:txBody>
                  <a:tcPr marL="73152" marR="73152" marT="36576" marB="36576">
                    <a:solidFill>
                      <a:srgbClr val="FFFFFF"/>
                    </a:solidFill>
                  </a:tcPr>
                </a:tc>
                <a:tc>
                  <a:txBody>
                    <a:bodyPr/>
                    <a:lstStyle/>
                    <a:p>
                      <a:r>
                        <a:rPr sz="900" b="0">
                          <a:solidFill>
                            <a:srgbClr val="4B4B4B"/>
                          </a:solidFill>
                          <a:latin typeface="Arial"/>
                        </a:rPr>
                        <a:t>Sign-in and identity interfaces (EIAM, UIDM-ISC), the System Administrator functions and the Technical Specification (a separate document); not the business screens</a:t>
                      </a:r>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256032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and Risk Management (BDOI)</a:t>
                      </a:r>
                    </a:p>
                  </a:txBody>
                  <a:tcPr marL="73152" marR="73152" marT="36576" marB="36576">
                    <a:solidFill>
                      <a:srgbClr val="E5F5FF"/>
                    </a:solidFill>
                  </a:tcPr>
                </a:tc>
                <a:tc>
                  <a:txBody>
                    <a:bodyPr/>
                    <a:lstStyle/>
                    <a:p>
                      <a:r>
                        <a:rPr sz="900" b="0">
                          <a:solidFill>
                            <a:srgbClr val="4B4B4B"/>
                          </a:solidFill>
                          <a:latin typeface="Arial"/>
                        </a:rPr>
                        <a:t>The access of the Claims and Risk Management users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Marketing / Corporate Processing (BDOI)</a:t>
                      </a:r>
                    </a:p>
                  </a:txBody>
                  <a:tcPr marL="73152" marR="73152" marT="36576" marB="36576">
                    <a:solidFill>
                      <a:srgbClr val="FFFFFF"/>
                    </a:solidFill>
                  </a:tcPr>
                </a:tc>
                <a:tc>
                  <a:txBody>
                    <a:bodyPr/>
                    <a:lstStyle/>
                    <a:p>
                      <a:r>
                        <a:rPr sz="900" b="0">
                          <a:solidFill>
                            <a:srgbClr val="4B4B4B"/>
                          </a:solidFill>
                          <a:latin typeface="Arial"/>
                        </a:rPr>
                        <a:t>The access of the Combank, Corbank and Corporate Processing users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The access of the Comptrollership users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Retail Marketing (BDOI)</a:t>
                      </a:r>
                    </a:p>
                  </a:txBody>
                  <a:tcPr marL="73152" marR="73152" marT="36576" marB="36576">
                    <a:solidFill>
                      <a:srgbClr val="FFFFFF"/>
                    </a:solidFill>
                  </a:tcPr>
                </a:tc>
                <a:tc>
                  <a:txBody>
                    <a:bodyPr/>
                    <a:lstStyle/>
                    <a:p>
                      <a:r>
                        <a:rPr sz="900" b="0">
                          <a:solidFill>
                            <a:srgbClr val="4B4B4B"/>
                          </a:solidFill>
                          <a:latin typeface="Arial"/>
                        </a:rPr>
                        <a:t>The access of the Retail Marketing users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Corporate and Retail Marketing (BDOI)</a:t>
                      </a:r>
                    </a:p>
                  </a:txBody>
                  <a:tcPr marL="73152" marR="73152" marT="36576" marB="36576">
                    <a:solidFill>
                      <a:srgbClr val="E5F5FF"/>
                    </a:solidFill>
                  </a:tcPr>
                </a:tc>
                <a:tc>
                  <a:txBody>
                    <a:bodyPr/>
                    <a:lstStyle/>
                    <a:p>
                      <a:r>
                        <a:rPr sz="900" b="0">
                          <a:solidFill>
                            <a:srgbClr val="4B4B4B"/>
                          </a:solidFill>
                          <a:latin typeface="Arial"/>
                        </a:rPr>
                        <a:t>The access of the Corporate Marketing users</a:t>
                      </a:r>
                    </a:p>
                  </a:txBody>
                  <a:tcPr marL="73152" marR="73152" marT="36576" marB="36576">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pic>
        <p:nvPicPr>
          <p:cNvPr id="9" name="Picture 8" descr="signoff-workbook-field-register.png"/>
          <p:cNvPicPr>
            <a:picLocks noChangeAspect="1"/>
          </p:cNvPicPr>
          <p:nvPr/>
        </p:nvPicPr>
        <p:blipFill>
          <a:blip r:embed="rId3"/>
          <a:stretch>
            <a:fillRect/>
          </a:stretch>
        </p:blipFill>
        <p:spPr>
          <a:xfrm>
            <a:off x="548640" y="1325880"/>
            <a:ext cx="7498079" cy="2459896"/>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Field register sheet of the sign-off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area on Screen standards, Screen catalogue, Field register, Business rules, Messages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Reviewer and Review date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brd11_process_flow.png"/>
          <p:cNvPicPr>
            <a:picLocks noChangeAspect="1"/>
          </p:cNvPicPr>
          <p:nvPr/>
        </p:nvPicPr>
        <p:blipFill>
          <a:blip r:embed="rId3"/>
          <a:stretch>
            <a:fillRect/>
          </a:stretch>
        </p:blipFill>
        <p:spPr>
          <a:xfrm>
            <a:off x="3869697" y="1325880"/>
            <a:ext cx="4452301"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BRD-11 process from the client to the booked invoice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graphicFrame>
        <p:nvGraphicFramePr>
          <p:cNvPr id="9" name="Table 8"/>
          <p:cNvGraphicFramePr>
            <a:graphicFrameLocks noGrp="1"/>
          </p:cNvGraphicFramePr>
          <p:nvPr/>
        </p:nvGraphicFramePr>
        <p:xfrm>
          <a:off x="548640" y="1371600"/>
          <a:ext cx="11094413" cy="329184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Requestor</a:t>
                      </a:r>
                    </a:p>
                  </a:txBody>
                  <a:tcPr marL="73152" marR="73152" marT="36576" marB="36576">
                    <a:solidFill>
                      <a:srgbClr val="FFFFFF"/>
                    </a:solidFill>
                  </a:tcPr>
                </a:tc>
                <a:tc>
                  <a:txBody>
                    <a:bodyPr/>
                    <a:lstStyle/>
                    <a:p>
                      <a:r>
                        <a:rPr sz="1000" b="0">
                          <a:solidFill>
                            <a:srgbClr val="4B4B4B"/>
                          </a:solidFill>
                          <a:latin typeface="Arial"/>
                        </a:rPr>
                        <a:t>requestor</a:t>
                      </a:r>
                    </a:p>
                  </a:txBody>
                  <a:tcPr marL="73152" marR="73152" marT="36576" marB="36576">
                    <a:solidFill>
                      <a:srgbClr val="FFFFFF"/>
                    </a:solidFill>
                  </a:tcPr>
                </a:tc>
                <a:tc>
                  <a:txBody>
                    <a:bodyPr/>
                    <a:lstStyle/>
                    <a:p>
                      <a:r>
                        <a:rPr sz="1000" b="0">
                          <a:solidFill>
                            <a:srgbClr val="4B4B4B"/>
                          </a:solidFill>
                          <a:latin typeface="Arial"/>
                        </a:rPr>
                        <a:t>2</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Approver</a:t>
                      </a:r>
                    </a:p>
                  </a:txBody>
                  <a:tcPr marL="73152" marR="73152" marT="36576" marB="36576">
                    <a:solidFill>
                      <a:srgbClr val="E5F5FF"/>
                    </a:solidFill>
                  </a:tcPr>
                </a:tc>
                <a:tc>
                  <a:txBody>
                    <a:bodyPr/>
                    <a:lstStyle/>
                    <a:p>
                      <a:r>
                        <a:rPr sz="1000" b="0">
                          <a:solidFill>
                            <a:srgbClr val="4B4B4B"/>
                          </a:solidFill>
                          <a:latin typeface="Arial"/>
                        </a:rPr>
                        <a:t>uamapprover</a:t>
                      </a:r>
                    </a:p>
                  </a:txBody>
                  <a:tcPr marL="73152" marR="73152" marT="36576" marB="36576">
                    <a:solidFill>
                      <a:srgbClr val="E5F5FF"/>
                    </a:solidFill>
                  </a:tcPr>
                </a:tc>
                <a:tc>
                  <a:txBody>
                    <a:bodyPr/>
                    <a:lstStyle/>
                    <a:p>
                      <a:r>
                        <a:rPr sz="1000" b="0">
                          <a:solidFill>
                            <a:srgbClr val="4B4B4B"/>
                          </a:solidFill>
                          <a:latin typeface="Arial"/>
                        </a:rPr>
                        <a:t>5</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Second Approver</a:t>
                      </a:r>
                    </a:p>
                  </a:txBody>
                  <a:tcPr marL="73152" marR="73152" marT="36576" marB="36576">
                    <a:solidFill>
                      <a:srgbClr val="FFFFFF"/>
                    </a:solidFill>
                  </a:tcPr>
                </a:tc>
                <a:tc>
                  <a:txBody>
                    <a:bodyPr/>
                    <a:lstStyle/>
                    <a:p>
                      <a:r>
                        <a:rPr sz="1000" b="0">
                          <a:solidFill>
                            <a:srgbClr val="4B4B4B"/>
                          </a:solidFill>
                          <a:latin typeface="Arial"/>
                        </a:rPr>
                        <a:t>secapprover</a:t>
                      </a:r>
                    </a:p>
                  </a:txBody>
                  <a:tcPr marL="73152" marR="73152" marT="36576" marB="36576">
                    <a:solidFill>
                      <a:srgbClr val="FFFFFF"/>
                    </a:solidFill>
                  </a:tcPr>
                </a:tc>
                <a:tc>
                  <a:txBody>
                    <a:bodyPr/>
                    <a:lstStyle/>
                    <a:p>
                      <a:r>
                        <a:rPr sz="1000" b="0">
                          <a:solidFill>
                            <a:srgbClr val="4B4B4B"/>
                          </a:solidFill>
                          <a:latin typeface="Arial"/>
                        </a:rPr>
                        <a:t>2</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Business Administrator</a:t>
                      </a:r>
                    </a:p>
                  </a:txBody>
                  <a:tcPr marL="73152" marR="73152" marT="36576" marB="36576">
                    <a:solidFill>
                      <a:srgbClr val="E5F5FF"/>
                    </a:solidFill>
                  </a:tcPr>
                </a:tc>
                <a:tc>
                  <a:txBody>
                    <a:bodyPr/>
                    <a:lstStyle/>
                    <a:p>
                      <a:r>
                        <a:rPr sz="1000" b="0">
                          <a:solidFill>
                            <a:srgbClr val="4B4B4B"/>
                          </a:solidFill>
                          <a:latin typeface="Arial"/>
                        </a:rPr>
                        <a:t>badmin</a:t>
                      </a:r>
                    </a:p>
                  </a:txBody>
                  <a:tcPr marL="73152" marR="73152" marT="36576" marB="36576">
                    <a:solidFill>
                      <a:srgbClr val="E5F5FF"/>
                    </a:solidFill>
                  </a:tcPr>
                </a:tc>
                <a:tc>
                  <a:txBody>
                    <a:bodyPr/>
                    <a:lstStyle/>
                    <a:p>
                      <a:r>
                        <a:rPr sz="1000" b="0">
                          <a:solidFill>
                            <a:srgbClr val="4B4B4B"/>
                          </a:solidFill>
                          <a:latin typeface="Arial"/>
                        </a:rPr>
                        <a:t>6</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System Administrator</a:t>
                      </a:r>
                    </a:p>
                  </a:txBody>
                  <a:tcPr marL="73152" marR="73152" marT="36576" marB="36576">
                    <a:solidFill>
                      <a:srgbClr val="FFFFFF"/>
                    </a:solidFill>
                  </a:tcPr>
                </a:tc>
                <a:tc>
                  <a:txBody>
                    <a:bodyPr/>
                    <a:lstStyle/>
                    <a:p>
                      <a:r>
                        <a:rPr sz="1000" b="0">
                          <a:solidFill>
                            <a:srgbClr val="4B4B4B"/>
                          </a:solidFill>
                          <a:latin typeface="Arial"/>
                        </a:rPr>
                        <a:t>admin</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Auditor</a:t>
                      </a:r>
                    </a:p>
                  </a:txBody>
                  <a:tcPr marL="73152" marR="73152" marT="36576" marB="36576">
                    <a:solidFill>
                      <a:srgbClr val="E5F5FF"/>
                    </a:solidFill>
                  </a:tcPr>
                </a:tc>
                <a:tc>
                  <a:txBody>
                    <a:bodyPr/>
                    <a:lstStyle/>
                    <a:p>
                      <a:r>
                        <a:rPr sz="1000" b="0">
                          <a:solidFill>
                            <a:srgbClr val="4B4B4B"/>
                          </a:solidFill>
                          <a:latin typeface="Arial"/>
                        </a:rPr>
                        <a:t>auditor</a:t>
                      </a:r>
                    </a:p>
                  </a:txBody>
                  <a:tcPr marL="73152" marR="73152" marT="36576" marB="36576">
                    <a:solidFill>
                      <a:srgbClr val="E5F5FF"/>
                    </a:solidFill>
                  </a:tcPr>
                </a:tc>
                <a:tc>
                  <a:txBody>
                    <a:bodyPr/>
                    <a:lstStyle/>
                    <a:p>
                      <a:r>
                        <a:rPr sz="1000" b="0">
                          <a:solidFill>
                            <a:srgbClr val="4B4B4B"/>
                          </a:solidFill>
                          <a:latin typeface="Arial"/>
                        </a:rPr>
                        <a:t>4</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r h="365760">
                <a:tc>
                  <a:txBody>
                    <a:bodyPr/>
                    <a:lstStyle/>
                    <a:p>
                      <a:r>
                        <a:rPr sz="1000" b="0">
                          <a:solidFill>
                            <a:srgbClr val="4B4B4B"/>
                          </a:solidFill>
                          <a:latin typeface="Arial"/>
                        </a:rPr>
                        <a:t>Information Security Officer</a:t>
                      </a:r>
                    </a:p>
                  </a:txBody>
                  <a:tcPr marL="73152" marR="73152" marT="36576" marB="36576">
                    <a:solidFill>
                      <a:srgbClr val="FFFFFF"/>
                    </a:solidFill>
                  </a:tcPr>
                </a:tc>
                <a:tc>
                  <a:txBody>
                    <a:bodyPr/>
                    <a:lstStyle/>
                    <a:p>
                      <a:r>
                        <a:rPr sz="1000" b="0">
                          <a:solidFill>
                            <a:srgbClr val="4B4B4B"/>
                          </a:solidFill>
                          <a:latin typeface="Arial"/>
                        </a:rPr>
                        <a:t>infosec</a:t>
                      </a:r>
                    </a:p>
                  </a:txBody>
                  <a:tcPr marL="73152" marR="73152" marT="36576" marB="36576">
                    <a:solidFill>
                      <a:srgbClr val="FFFFFF"/>
                    </a:solidFill>
                  </a:tcPr>
                </a:tc>
                <a:tc>
                  <a:txBody>
                    <a:bodyPr/>
                    <a:lstStyle/>
                    <a:p>
                      <a:r>
                        <a:rPr sz="1000" b="0">
                          <a:solidFill>
                            <a:srgbClr val="4B4B4B"/>
                          </a:solidFill>
                          <a:latin typeface="Arial"/>
                        </a:rPr>
                        <a:t>5</a:t>
                      </a:r>
                    </a:p>
                  </a:txBody>
                  <a:tcPr marL="73152" marR="73152" marT="36576" marB="36576">
                    <a:solidFill>
                      <a:srgbClr val="FFFFFF"/>
                    </a:solidFill>
                  </a:tcPr>
                </a:tc>
                <a:tc>
                  <a:txBody>
                    <a:bodyPr/>
                    <a:lstStyle/>
                    <a:p>
                      <a:r>
                        <a:rPr sz="1000" b="0">
                          <a:solidFill>
                            <a:srgbClr val="4B4B4B"/>
                          </a:solidFill>
                          <a:latin typeface="Arial"/>
                        </a:rPr>
                        <a:t>User Access</a:t>
                      </a:r>
                    </a:p>
                  </a:txBody>
                  <a:tcPr marL="73152" marR="73152" marT="36576" marB="36576">
                    <a:solidFill>
                      <a:srgbClr val="FFFFFF"/>
                    </a:solidFill>
                  </a:tcPr>
                </a:tc>
              </a:tr>
              <a:tr h="365760">
                <a:tc>
                  <a:txBody>
                    <a:bodyPr/>
                    <a:lstStyle/>
                    <a:p>
                      <a:r>
                        <a:rPr sz="1000" b="0">
                          <a:solidFill>
                            <a:srgbClr val="4B4B4B"/>
                          </a:solidFill>
                          <a:latin typeface="Arial"/>
                        </a:rPr>
                        <a:t>New Business Approver (keeps the access approval right)</a:t>
                      </a:r>
                    </a:p>
                  </a:txBody>
                  <a:tcPr marL="73152" marR="73152" marT="36576" marB="36576">
                    <a:solidFill>
                      <a:srgbClr val="E5F5FF"/>
                    </a:solidFill>
                  </a:tcPr>
                </a:tc>
                <a:tc>
                  <a:txBody>
                    <a:bodyPr/>
                    <a:lstStyle/>
                    <a:p>
                      <a:r>
                        <a:rPr sz="1000" b="0">
                          <a:solidFill>
                            <a:srgbClr val="4B4B4B"/>
                          </a:solidFill>
                          <a:latin typeface="Arial"/>
                        </a:rPr>
                        <a:t>approver</a:t>
                      </a:r>
                    </a:p>
                  </a:txBody>
                  <a:tcPr marL="73152" marR="73152" marT="36576" marB="36576">
                    <a:solidFill>
                      <a:srgbClr val="E5F5FF"/>
                    </a:solidFill>
                  </a:tcPr>
                </a:tc>
                <a:tc>
                  <a:txBody>
                    <a:bodyPr/>
                    <a:lstStyle/>
                    <a:p>
                      <a:r>
                        <a:rPr sz="1000" b="0">
                          <a:solidFill>
                            <a:srgbClr val="4B4B4B"/>
                          </a:solidFill>
                          <a:latin typeface="Arial"/>
                        </a:rPr>
                        <a:t>4</a:t>
                      </a:r>
                    </a:p>
                  </a:txBody>
                  <a:tcPr marL="73152" marR="73152" marT="36576" marB="36576">
                    <a:solidFill>
                      <a:srgbClr val="E5F5FF"/>
                    </a:solidFill>
                  </a:tcPr>
                </a:tc>
                <a:tc>
                  <a:txBody>
                    <a:bodyPr/>
                    <a:lstStyle/>
                    <a:p>
                      <a:r>
                        <a:rPr sz="1000" b="0">
                          <a:solidFill>
                            <a:srgbClr val="4B4B4B"/>
                          </a:solidFill>
                          <a:latin typeface="Arial"/>
                        </a:rPr>
                        <a:t>User Access</a:t>
                      </a:r>
                    </a:p>
                  </a:txBody>
                  <a:tcPr marL="73152" marR="73152" marT="36576" marB="36576">
                    <a:solidFill>
                      <a:srgbClr val="E5F5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User Access Maintenance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scr-ua-07-02-filled.png"/>
          <p:cNvPicPr>
            <a:picLocks noChangeAspect="1"/>
          </p:cNvPicPr>
          <p:nvPr/>
        </p:nvPicPr>
        <p:blipFill>
          <a:blip r:embed="rId3"/>
          <a:stretch>
            <a:fillRect/>
          </a:stretch>
        </p:blipFill>
        <p:spPr>
          <a:xfrm>
            <a:off x="2675969" y="1325880"/>
            <a:ext cx="1155389"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An enrolment request with its group profile and approver</a:t>
            </a:r>
          </a:p>
        </p:txBody>
      </p:sp>
      <p:pic>
        <p:nvPicPr>
          <p:cNvPr id="11" name="Picture 10" descr="scr-ua-08-02-approve.png"/>
          <p:cNvPicPr>
            <a:picLocks noChangeAspect="1"/>
          </p:cNvPicPr>
          <p:nvPr/>
        </p:nvPicPr>
        <p:blipFill>
          <a:blip r:embed="rId4"/>
          <a:stretch>
            <a:fillRect/>
          </a:stretch>
        </p:blipFill>
        <p:spPr>
          <a:xfrm>
            <a:off x="6603490" y="1325880"/>
            <a:ext cx="4669080"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The chosen approver decides; nothing changes before</a:t>
            </a:r>
          </a:p>
        </p:txBody>
      </p:sp>
      <p:pic>
        <p:nvPicPr>
          <p:cNvPr id="13" name="Picture 12" descr="scr-ua-16-01-implement.png"/>
          <p:cNvPicPr>
            <a:picLocks noChangeAspect="1"/>
          </p:cNvPicPr>
          <p:nvPr/>
        </p:nvPicPr>
        <p:blipFill>
          <a:blip r:embed="rId5"/>
          <a:stretch>
            <a:fillRect/>
          </a:stretch>
        </p:blipFill>
        <p:spPr>
          <a:xfrm>
            <a:off x="2279243" y="3566160"/>
            <a:ext cx="1948840"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Group-profile changes implemented by the System Administrator</a:t>
            </a:r>
          </a:p>
        </p:txBody>
      </p:sp>
      <p:pic>
        <p:nvPicPr>
          <p:cNvPr id="15" name="Picture 14" descr="scr-ua-17-01-audit_log.png"/>
          <p:cNvPicPr>
            <a:picLocks noChangeAspect="1"/>
          </p:cNvPicPr>
          <p:nvPr/>
        </p:nvPicPr>
        <p:blipFill>
          <a:blip r:embed="rId6"/>
          <a:stretch>
            <a:fillRect/>
          </a:stretch>
        </p:blipFill>
        <p:spPr>
          <a:xfrm>
            <a:off x="8182072" y="3566160"/>
            <a:ext cx="1511916"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The User Access Audit Log with from and to values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Access changes only through an approved request: the requester and the user concerned never decide it, and only the approver chosen by the requester does.</a:t>
            </a:r>
          </a:p>
          <a:p>
            <a:pPr>
              <a:spcAft>
                <a:spcPts val="600"/>
              </a:spcAft>
            </a:pPr>
            <a:r>
              <a:rPr sz="1400">
                <a:solidFill>
                  <a:srgbClr val="004EA8"/>
                </a:solidFill>
                <a:latin typeface="Arial"/>
              </a:rPr>
              <a:t>•  </a:t>
            </a:r>
            <a:r>
              <a:rPr sz="1400">
                <a:solidFill>
                  <a:srgbClr val="4B4B4B"/>
                </a:solidFill>
                <a:latin typeface="Arial"/>
              </a:rPr>
              <a:t>A privileged change (a High or Admin profile) or a change outside working hours needs a second approval by another approver, and raises an alert.</a:t>
            </a:r>
          </a:p>
          <a:p>
            <a:pPr>
              <a:spcAft>
                <a:spcPts val="600"/>
              </a:spcAft>
            </a:pPr>
            <a:r>
              <a:rPr sz="1400">
                <a:solidFill>
                  <a:srgbClr val="004EA8"/>
                </a:solidFill>
                <a:latin typeface="Arial"/>
              </a:rPr>
              <a:t>•  </a:t>
            </a:r>
            <a:r>
              <a:rPr sz="1400">
                <a:solidFill>
                  <a:srgbClr val="4B4B4B"/>
                </a:solidFill>
                <a:latin typeface="Arial"/>
              </a:rPr>
              <a:t>Group-profile changes are approved in order and implemented by a System Administrator who did not raise them; direct edits are an audited, alerted emergency path, closed as delivered.</a:t>
            </a:r>
          </a:p>
          <a:p>
            <a:pPr>
              <a:spcAft>
                <a:spcPts val="600"/>
              </a:spcAft>
            </a:pPr>
            <a:r>
              <a:rPr sz="1400">
                <a:solidFill>
                  <a:srgbClr val="004EA8"/>
                </a:solidFill>
                <a:latin typeface="Arial"/>
              </a:rPr>
              <a:t>•  </a:t>
            </a:r>
            <a:r>
              <a:rPr sz="1400">
                <a:solidFill>
                  <a:srgbClr val="4B4B4B"/>
                </a:solidFill>
                <a:latin typeface="Arial"/>
              </a:rPr>
              <a:t>The account locks after 3 failed sign-ins; the session warns at 15 minutes of inactivity and ends at 30.</a:t>
            </a:r>
          </a:p>
          <a:p>
            <a:pPr>
              <a:spcAft>
                <a:spcPts val="600"/>
              </a:spcAft>
            </a:pPr>
            <a:r>
              <a:rPr sz="1400">
                <a:solidFill>
                  <a:srgbClr val="004EA8"/>
                </a:solidFill>
                <a:latin typeface="Arial"/>
              </a:rPr>
              <a:t>•  </a:t>
            </a:r>
            <a:r>
              <a:rPr sz="1400">
                <a:solidFill>
                  <a:srgbClr val="4B4B4B"/>
                </a:solidFill>
                <a:latin typeface="Arial"/>
              </a:rPr>
              <a:t>Passwords: at least 10 characters with upper and lower case, a digit and a symbol; not one of the last 8; expire after 90 days; changed at the first sign-in after an administrator sets them.</a:t>
            </a:r>
          </a:p>
          <a:p>
            <a:pPr>
              <a:spcAft>
                <a:spcPts val="600"/>
              </a:spcAft>
            </a:pPr>
            <a:r>
              <a:rPr sz="1400">
                <a:solidFill>
                  <a:srgbClr val="004EA8"/>
                </a:solidFill>
                <a:latin typeface="Arial"/>
              </a:rPr>
              <a:t>•  </a:t>
            </a:r>
            <a:r>
              <a:rPr sz="1400">
                <a:solidFill>
                  <a:srgbClr val="4B4B4B"/>
                </a:solidFill>
                <a:latin typeface="Arial"/>
              </a:rPr>
              <a:t>Every change is logged, never to be changed, with its from and to values, approver and request number; four reports give the BRD samples A to D.</a:t>
            </a:r>
          </a:p>
          <a:p>
            <a:pPr>
              <a:spcAft>
                <a:spcPts val="600"/>
              </a:spcAft>
            </a:pPr>
            <a:r>
              <a:rPr sz="1400">
                <a:solidFill>
                  <a:srgbClr val="004EA8"/>
                </a:solidFill>
                <a:latin typeface="Arial"/>
              </a:rPr>
              <a:t>•  </a:t>
            </a:r>
            <a:r>
              <a:rPr sz="1400">
                <a:solidFill>
                  <a:srgbClr val="4B4B4B"/>
                </a:solidFill>
                <a:latin typeface="Arial"/>
              </a:rPr>
              <a:t>Every persona sees exactly the menu of its group profiles; the insurer functions are hidden from BDOI.</a:t>
            </a:r>
          </a:p>
          <a:p>
            <a:pPr lvl="1">
              <a:spcAft>
                <a:spcPts val="600"/>
              </a:spcAft>
            </a:pPr>
            <a:r>
              <a:rPr sz="1200">
                <a:solidFill>
                  <a:srgbClr val="656565"/>
                </a:solidFill>
                <a:latin typeface="Arial"/>
              </a:rPr>
              <a:t>–  </a:t>
            </a:r>
            <a:r>
              <a:rPr sz="1200">
                <a:solidFill>
                  <a:srgbClr val="4B4B4B"/>
                </a:solidFill>
                <a:latin typeface="Arial"/>
              </a:rPr>
              <a:t>Full list: FRS chapter 13 per screen, 74 rules on the Business rules sheet and 191 messages in FRS chapter 15 and on the Messages sheet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brd11_contract_map.png"/>
          <p:cNvPicPr>
            <a:picLocks noChangeAspect="1"/>
          </p:cNvPicPr>
          <p:nvPr/>
        </p:nvPicPr>
        <p:blipFill>
          <a:blip r:embed="rId3"/>
          <a:stretch>
            <a:fillRect/>
          </a:stretch>
        </p:blipFill>
        <p:spPr>
          <a:xfrm>
            <a:off x="548640" y="1325880"/>
            <a:ext cx="11094415" cy="3261182"/>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User Access Maintenance takes from and hands to the other BRDs and systems (FRS chapter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SIT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configuration when it is a new profile or a changed grant;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Other BRDs change the role matrix</a:t>
                      </a:r>
                    </a:p>
                  </a:txBody>
                  <a:tcPr marL="73152" marR="73152" marT="36576" marB="36576">
                    <a:solidFill>
                      <a:srgbClr val="E5F5FF"/>
                    </a:solidFill>
                  </a:tcPr>
                </a:tc>
                <a:tc>
                  <a:txBody>
                    <a:bodyPr/>
                    <a:lstStyle/>
                    <a:p>
                      <a:r>
                        <a:rPr sz="1000" b="0">
                          <a:solidFill>
                            <a:srgbClr val="4B4B4B"/>
                          </a:solidFill>
                          <a:latin typeface="Arial"/>
                        </a:rPr>
                        <a:t>Every BRD adds permissions and personas; the menus of chapter 12 follow the grants.</a:t>
                      </a:r>
                    </a:p>
                  </a:txBody>
                  <a:tcPr marL="73152" marR="73152" marT="36576" marB="36576">
                    <a:solidFill>
                      <a:srgbClr val="E5F5FF"/>
                    </a:solidFill>
                  </a:tcPr>
                </a:tc>
                <a:tc>
                  <a:txBody>
                    <a:bodyPr/>
                    <a:lstStyle/>
                    <a:p>
                      <a:r>
                        <a:rPr sz="1000" b="0">
                          <a:solidFill>
                            <a:srgbClr val="4B4B4B"/>
                          </a:solidFill>
                          <a:latin typeface="Arial"/>
                        </a:rPr>
                        <a:t>A new persona of an existing permission is a group-profile request under this signed set; a new permission or rule is a change request against the other BRD, and this set's menu pages are re-issued as a delta.</a:t>
                      </a:r>
                    </a:p>
                  </a:txBody>
                  <a:tcPr marL="73152" marR="73152" marT="36576" marB="36576">
                    <a:solidFill>
                      <a:srgbClr val="E5F5FF"/>
                    </a:solidFill>
                  </a:tcPr>
                </a:tc>
              </a:tr>
              <a:tr h="365760">
                <a:tc>
                  <a:txBody>
                    <a:bodyPr/>
                    <a:lstStyle/>
                    <a:p>
                      <a:r>
                        <a:rPr sz="1000" b="0">
                          <a:solidFill>
                            <a:srgbClr val="4B4B4B"/>
                          </a:solidFill>
                          <a:latin typeface="Arial"/>
                        </a:rPr>
                        <a:t>Identity integrations owned by BDOI IT</a:t>
                      </a:r>
                    </a:p>
                  </a:txBody>
                  <a:tcPr marL="73152" marR="73152" marT="36576" marB="36576">
                    <a:solidFill>
                      <a:srgbClr val="FFFFFF"/>
                    </a:solidFill>
                  </a:tcPr>
                </a:tc>
                <a:tc>
                  <a:txBody>
                    <a:bodyPr/>
                    <a:lstStyle/>
                    <a:p>
                      <a:r>
                        <a:rPr sz="1000" b="0">
                          <a:solidFill>
                            <a:srgbClr val="4B4B4B"/>
                          </a:solidFill>
                          <a:latin typeface="Arial"/>
                        </a:rPr>
                        <a:t>Sign-in through EIAM on Microsoft Entra ID and provisioning from UIDM-ISC are named by BDOI for Drop 0; their specifications are open (IQ04, IQ05).</a:t>
                      </a:r>
                    </a:p>
                  </a:txBody>
                  <a:tcPr marL="73152" marR="73152" marT="36576" marB="36576">
                    <a:solidFill>
                      <a:srgbClr val="FFFFFF"/>
                    </a:solidFill>
                  </a:tcPr>
                </a:tc>
                <a:tc>
                  <a:txBody>
                    <a:bodyPr/>
                    <a:lstStyle/>
                    <a:p>
                      <a:r>
                        <a:rPr sz="1000" b="0">
                          <a:solidFill>
                            <a:srgbClr val="4B4B4B"/>
                          </a:solidFill>
                          <a:latin typeface="Arial"/>
                        </a:rPr>
                        <a:t>In this set: local sign-in, and every change as a BIBS request. The integrations are change requests once BDOI IT gives the specifications; the screens of this set do not change.</a:t>
                      </a:r>
                    </a:p>
                  </a:txBody>
                  <a:tcPr marL="73152" marR="73152" marT="36576" marB="36576">
                    <a:solidFill>
                      <a:srgbClr val="FFFFFF"/>
                    </a:solidFill>
                  </a:tcPr>
                </a:tc>
              </a:tr>
              <a:tr h="365760">
                <a:tc>
                  <a:txBody>
                    <a:bodyPr/>
                    <a:lstStyle/>
                    <a:p>
                      <a:r>
                        <a:rPr sz="1000" b="0">
                          <a:solidFill>
                            <a:srgbClr val="4B4B4B"/>
                          </a:solidFill>
                          <a:latin typeface="Arial"/>
                        </a:rPr>
                        <a:t>Points for confirmation</a:t>
                      </a:r>
                    </a:p>
                  </a:txBody>
                  <a:tcPr marL="73152" marR="73152" marT="36576" marB="36576">
                    <a:solidFill>
                      <a:srgbClr val="E5F5FF"/>
                    </a:solidFill>
                  </a:tcPr>
                </a:tc>
                <a:tc>
                  <a:txBody>
                    <a:bodyPr/>
                    <a:lstStyle/>
                    <a:p>
                      <a:r>
                        <a:rPr sz="1000" b="0">
                          <a:solidFill>
                            <a:srgbClr val="4B4B4B"/>
                          </a:solidFill>
                          <a:latin typeface="Arial"/>
                        </a:rPr>
                        <a:t>A single session per device, an external access-control list and the dormancy values are listed for decision in FRS chapter 22.</a:t>
                      </a:r>
                    </a:p>
                  </a:txBody>
                  <a:tcPr marL="73152" marR="73152" marT="36576" marB="36576">
                    <a:solidFill>
                      <a:srgbClr val="E5F5FF"/>
                    </a:solidFill>
                  </a:tcPr>
                </a:tc>
                <a:tc>
                  <a:txBody>
                    <a:bodyPr/>
                    <a:lstStyle/>
                    <a:p>
                      <a:r>
                        <a:rPr sz="1000" b="0">
                          <a:solidFill>
                            <a:srgbClr val="4B4B4B"/>
                          </a:solidFill>
                          <a:latin typeface="Arial"/>
                        </a:rPr>
                        <a:t>Each item is decided with the review; a decision that only sets a value is configuration, a new rule is a change request.</a:t>
                      </a:r>
                    </a:p>
                  </a:txBody>
                  <a:tcPr marL="73152" marR="73152" marT="36576" marB="36576">
                    <a:solidFill>
                      <a:srgbClr val="E5F5FF"/>
                    </a:solidFill>
                  </a:tcPr>
                </a:tc>
              </a:tr>
              <a:tr h="365760">
                <a:tc>
                  <a:txBody>
                    <a:bodyPr/>
                    <a:lstStyle/>
                    <a:p>
                      <a:r>
                        <a:rPr sz="1000" b="0">
                          <a:solidFill>
                            <a:srgbClr val="4B4B4B"/>
                          </a:solidFill>
                          <a:latin typeface="Arial"/>
                        </a:rPr>
                        <a:t>Open questions and assumptions</a:t>
                      </a:r>
                    </a:p>
                  </a:txBody>
                  <a:tcPr marL="73152" marR="73152" marT="36576" marB="36576">
                    <a:solidFill>
                      <a:srgbClr val="FFFFFF"/>
                    </a:solidFill>
                  </a:tcPr>
                </a:tc>
                <a:tc>
                  <a:txBody>
                    <a:bodyPr/>
                    <a:lstStyle/>
                    <a:p>
                      <a:r>
                        <a:rPr sz="1000" b="0">
                          <a:solidFill>
                            <a:srgbClr val="4B4B4B"/>
                          </a:solidFill>
                          <a:latin typeface="Arial"/>
                        </a:rPr>
                        <a:t>Open questions of FRS section 10.3 (who the requesters and approvers are, the approval chain, privileged profiles, working hours, password values, business units and user levels) follow the assumptions of section 10.1; chapter 22 lists the proposed rules for confirmation.</a:t>
                      </a:r>
                    </a:p>
                  </a:txBody>
                  <a:tcPr marL="73152" marR="73152" marT="36576" marB="36576">
                    <a:solidFill>
                      <a:srgbClr val="FFFFFF"/>
                    </a:solidFill>
                  </a:tcPr>
                </a:tc>
                <a:tc>
                  <a:txBody>
                    <a:bodyPr/>
                    <a:lstStyle/>
                    <a:p>
                      <a:r>
                        <a:rPr sz="1000" b="0">
                          <a:solidFill>
                            <a:srgbClr val="4B4B4B"/>
                          </a:solidFill>
                          <a:latin typeface="Arial"/>
                        </a:rPr>
                        <a:t>Answered as configuration where possible (profiles, parameters, lists, the approvers themselves); otherwise a change request; the assumption stands until then.</a:t>
                      </a:r>
                    </a:p>
                  </a:txBody>
                  <a:tcPr marL="73152" marR="73152" marT="36576" marB="36576">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Information Security asks that the Auditor also sees a new report: a group-profile request (configuration). Asking for a third approval level on all requests is a change request.</a:t>
                      </a:r>
                    </a:p>
                  </a:txBody>
                  <a:tcPr marL="73152" marR="73152" marT="36576" marB="36576">
                    <a:solidFill>
                      <a:srgbClr val="FFFFFF"/>
                    </a:solidFill>
                  </a:tcPr>
                </a:tc>
              </a:tr>
              <a:tr h="365760">
                <a:tc>
                  <a:txBody>
                    <a:bodyPr/>
                    <a:lstStyle/>
                    <a:p>
                      <a:r>
                        <a:rPr sz="1100" b="0">
                          <a:solidFill>
                            <a:srgbClr val="4B4B4B"/>
                          </a:solidFill>
                          <a:latin typeface="Arial"/>
                        </a:rPr>
                        <a:t>Other BRDs change the role matrix</a:t>
                      </a:r>
                    </a:p>
                  </a:txBody>
                  <a:tcPr marL="73152" marR="73152" marT="36576" marB="36576">
                    <a:solidFill>
                      <a:srgbClr val="E5F5FF"/>
                    </a:solidFill>
                  </a:tcPr>
                </a:tc>
                <a:tc>
                  <a:txBody>
                    <a:bodyPr/>
                    <a:lstStyle/>
                    <a:p>
                      <a:r>
                        <a:rPr sz="1100" b="0">
                          <a:solidFill>
                            <a:srgbClr val="4B4B4B"/>
                          </a:solidFill>
                          <a:latin typeface="Arial"/>
                        </a:rPr>
                        <a:t>Claims adds a Claims Reports viewer: the profile is requested, approved and implemented; the menu sheet of the persona is added in the next version of the set.</a:t>
                      </a:r>
                    </a:p>
                  </a:txBody>
                  <a:tcPr marL="73152" marR="73152" marT="36576" marB="36576">
                    <a:solidFill>
                      <a:srgbClr val="E5F5FF"/>
                    </a:solidFill>
                  </a:tcPr>
                </a:tc>
              </a:tr>
              <a:tr h="365760">
                <a:tc>
                  <a:txBody>
                    <a:bodyPr/>
                    <a:lstStyle/>
                    <a:p>
                      <a:r>
                        <a:rPr sz="1100" b="0">
                          <a:solidFill>
                            <a:srgbClr val="4B4B4B"/>
                          </a:solidFill>
                          <a:latin typeface="Arial"/>
                        </a:rPr>
                        <a:t>Identity integrations owned by BDOI IT</a:t>
                      </a:r>
                    </a:p>
                  </a:txBody>
                  <a:tcPr marL="73152" marR="73152" marT="36576" marB="36576">
                    <a:solidFill>
                      <a:srgbClr val="FFFFFF"/>
                    </a:solidFill>
                  </a:tcPr>
                </a:tc>
                <a:tc>
                  <a:txBody>
                    <a:bodyPr/>
                    <a:lstStyle/>
                    <a:p>
                      <a:r>
                        <a:rPr sz="1100" b="0">
                          <a:solidFill>
                            <a:srgbClr val="4B4B4B"/>
                          </a:solidFill>
                          <a:latin typeface="Arial"/>
                        </a:rPr>
                        <a:t>When Entra ID sign-in is enabled, the Login page redirects to BDO's sign-in; the BIBS password rules then apply only to the break-glass administrator.</a:t>
                      </a:r>
                    </a:p>
                  </a:txBody>
                  <a:tcPr marL="73152" marR="73152" marT="36576" marB="36576">
                    <a:solidFill>
                      <a:srgbClr val="FFFFFF"/>
                    </a:solidFill>
                  </a:tcPr>
                </a:tc>
              </a:tr>
              <a:tr h="365760">
                <a:tc>
                  <a:txBody>
                    <a:bodyPr/>
                    <a:lstStyle/>
                    <a:p>
                      <a:r>
                        <a:rPr sz="1100" b="0">
                          <a:solidFill>
                            <a:srgbClr val="4B4B4B"/>
                          </a:solidFill>
                          <a:latin typeface="Arial"/>
                        </a:rPr>
                        <a:t>Points for confirmation</a:t>
                      </a:r>
                    </a:p>
                  </a:txBody>
                  <a:tcPr marL="73152" marR="73152" marT="36576" marB="36576">
                    <a:solidFill>
                      <a:srgbClr val="E5F5FF"/>
                    </a:solidFill>
                  </a:tcPr>
                </a:tc>
                <a:tc>
                  <a:txBody>
                    <a:bodyPr/>
                    <a:lstStyle/>
                    <a:p>
                      <a:r>
                        <a:rPr sz="1100" b="0">
                          <a:solidFill>
                            <a:srgbClr val="4B4B4B"/>
                          </a:solidFill>
                          <a:latin typeface="Arial"/>
                        </a:rPr>
                        <a:t>Information Security asks for deactivation after 60 days without sign-in instead of 90: a change of the parameter UAM_DORMANT_DAYS under the second approval.</a:t>
                      </a:r>
                    </a:p>
                  </a:txBody>
                  <a:tcPr marL="73152" marR="73152" marT="36576" marB="36576">
                    <a:solidFill>
                      <a:srgbClr val="E5F5FF"/>
                    </a:solidFill>
                  </a:tcPr>
                </a:tc>
              </a:tr>
              <a:tr h="365760">
                <a:tc>
                  <a:txBody>
                    <a:bodyPr/>
                    <a:lstStyle/>
                    <a:p>
                      <a:r>
                        <a:rPr sz="1100" b="0">
                          <a:solidFill>
                            <a:srgbClr val="4B4B4B"/>
                          </a:solidFill>
                          <a:latin typeface="Arial"/>
                        </a:rPr>
                        <a:t>Open questions and assumptions</a:t>
                      </a:r>
                    </a:p>
                  </a:txBody>
                  <a:tcPr marL="73152" marR="73152" marT="36576" marB="36576">
                    <a:solidFill>
                      <a:srgbClr val="FFFFFF"/>
                    </a:solidFill>
                  </a:tcPr>
                </a:tc>
                <a:tc>
                  <a:txBody>
                    <a:bodyPr/>
                    <a:lstStyle/>
                    <a:p>
                      <a:r>
                        <a:rPr sz="1100" b="0">
                          <a:solidFill>
                            <a:srgbClr val="4B4B4B"/>
                          </a:solidFill>
                          <a:latin typeface="Arial"/>
                        </a:rPr>
                        <a:t>Working hours of 07:00-19:00 instead of 08:00-18:00: a change of the parameter UAM_WORKING_HOURS, not a change request.</a:t>
                      </a:r>
                    </a:p>
                  </a:txBody>
                  <a:tcPr marL="73152" marR="73152" marT="36576" marB="36576">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screenshot of the set is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FRS and to the screens; the persona menus are checked by the persona menu test.</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 including the menu sheet of every persona.</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Open questions closed or accepted as assumptions.</a:t>
            </a:r>
          </a:p>
          <a:p>
            <a:pPr>
              <a:spcAft>
                <a:spcPts val="600"/>
              </a:spcAft>
            </a:pPr>
            <a:r>
              <a:rPr sz="1200">
                <a:solidFill>
                  <a:srgbClr val="004EA8"/>
                </a:solidFill>
                <a:latin typeface="Arial"/>
              </a:rPr>
              <a:t>•  </a:t>
            </a:r>
            <a:r>
              <a:rPr sz="1200">
                <a:solidFill>
                  <a:srgbClr val="4B4B4B"/>
                </a:solidFill>
                <a:latin typeface="Arial"/>
              </a:rPr>
              <a:t>The sign-off certificate signed by every signatory of the Who signs what matrix: prepared, input, reviewed and approved as on the BRD approval sheet; the Product Owner approves the whole set.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Content frozen as signed;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Role-to-permission matrix and users of the templates loaded by group-profile and bulk requests, and checked with the reports.</a:t>
            </a:r>
          </a:p>
          <a:p>
            <a:pPr>
              <a:spcAft>
                <a:spcPts val="600"/>
              </a:spcAft>
            </a:pPr>
            <a:r>
              <a:rPr sz="1200">
                <a:solidFill>
                  <a:srgbClr val="004EA8"/>
                </a:solidFill>
                <a:latin typeface="Arial"/>
              </a:rPr>
              <a:t>•  </a:t>
            </a:r>
            <a:r>
              <a:rPr sz="1200">
                <a:solidFill>
                  <a:srgbClr val="4B4B4B"/>
                </a:solidFill>
                <a:latin typeface="Arial"/>
              </a:rPr>
              <a:t>Test plan agreed for SIT and UAT.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FRS, sign-off workbook and screens</a:t>
            </a:r>
          </a:p>
          <a:p>
            <a:pPr>
              <a:spcAft>
                <a:spcPts val="600"/>
              </a:spcAft>
            </a:pPr>
            <a:r>
              <a:rPr sz="1600">
                <a:solidFill>
                  <a:srgbClr val="004EA8"/>
                </a:solidFill>
                <a:latin typeface="Arial"/>
              </a:rPr>
              <a:t>•  </a:t>
            </a:r>
            <a:r>
              <a:rPr sz="1600">
                <a:solidFill>
                  <a:srgbClr val="4B4B4B"/>
                </a:solidFill>
                <a:latin typeface="Arial"/>
              </a:rPr>
              <a:t>☐  Open questions closed or accepted as assumptions</a:t>
            </a:r>
          </a:p>
          <a:p>
            <a:pPr>
              <a:spcAft>
                <a:spcPts val="600"/>
              </a:spcAft>
            </a:pPr>
            <a:r>
              <a:rPr sz="1600">
                <a:solidFill>
                  <a:srgbClr val="004EA8"/>
                </a:solidFill>
                <a:latin typeface="Arial"/>
              </a:rPr>
              <a:t>•  </a:t>
            </a:r>
            <a:r>
              <a:rPr sz="1600">
                <a:solidFill>
                  <a:srgbClr val="4B4B4B"/>
                </a:solidFill>
                <a:latin typeface="Arial"/>
              </a:rPr>
              <a:t>☐  Configuration inputs from the business: users and roles, role-to-permission matrix, approval rules, separation-of-duties rules, password and session parameters, lists of values</a:t>
            </a:r>
          </a:p>
          <a:p>
            <a:pPr>
              <a:spcAft>
                <a:spcPts val="600"/>
              </a:spcAft>
            </a:pPr>
            <a:r>
              <a:rPr sz="1600">
                <a:solidFill>
                  <a:srgbClr val="004EA8"/>
                </a:solidFill>
                <a:latin typeface="Arial"/>
              </a:rPr>
              <a:t>•  </a:t>
            </a:r>
            <a:r>
              <a:rPr sz="1600">
                <a:solidFill>
                  <a:srgbClr val="4B4B4B"/>
                </a:solidFill>
                <a:latin typeface="Arial"/>
              </a:rPr>
              <a:t>☐  Agreed test plan</a:t>
            </a:r>
          </a:p>
          <a:p>
            <a:pPr>
              <a:spcAft>
                <a:spcPts val="600"/>
              </a:spcAft>
            </a:pPr>
            <a:r>
              <a:rPr sz="1600">
                <a:solidFill>
                  <a:srgbClr val="004EA8"/>
                </a:solidFill>
                <a:latin typeface="Arial"/>
              </a:rPr>
              <a:t>•  </a:t>
            </a:r>
            <a:r>
              <a:rPr sz="1600">
                <a:solidFill>
                  <a:srgbClr val="4B4B4B"/>
                </a:solidFill>
                <a:latin typeface="Arial"/>
              </a:rPr>
              <a:t>☐  BDOI IT decisions on EIAM and UIDM-ISC recorded as change requests or assumptions</a:t>
            </a:r>
          </a:p>
          <a:p>
            <a:pPr lvl="1">
              <a:spcAft>
                <a:spcPts val="600"/>
              </a:spcAft>
            </a:pPr>
            <a:r>
              <a:rPr sz="1400">
                <a:solidFill>
                  <a:srgbClr val="656565"/>
                </a:solidFill>
                <a:latin typeface="Arial"/>
              </a:rPr>
              <a:t>–  </a:t>
            </a:r>
            <a:r>
              <a:rPr sz="1400">
                <a:solidFill>
                  <a:srgbClr val="4B4B4B"/>
                </a:solidFill>
                <a:latin typeface="Arial"/>
              </a:rPr>
              <a:t>After sign-off the content is frozen as signed, the approved deltas are scheduled and the configuration inputs are loaded through requests.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graphicFrame>
        <p:nvGraphicFramePr>
          <p:cNvPr id="9" name="Table 8"/>
          <p:cNvGraphicFramePr>
            <a:graphicFrameLocks noGrp="1"/>
          </p:cNvGraphicFramePr>
          <p:nvPr/>
        </p:nvGraphicFramePr>
        <p:xfrm>
          <a:off x="548640" y="1371600"/>
          <a:ext cx="11094414" cy="256032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Business owner and 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a:t>
                      </a:r>
                    </a:p>
                  </a:txBody>
                  <a:tcPr marL="73152" marR="73152" marT="36576" marB="36576">
                    <a:solidFill>
                      <a:srgbClr val="FFFFFF"/>
                    </a:solidFill>
                  </a:tcPr>
                </a:tc>
                <a:tc>
                  <a:txBody>
                    <a:bodyPr/>
                    <a:lstStyle/>
                    <a:p>
                      <a:r>
                        <a:rPr sz="1000" b="0">
                          <a:solidFill>
                            <a:srgbClr val="4B4B4B"/>
                          </a:solidFill>
                          <a:latin typeface="Arial"/>
                        </a:rPr>
                        <a:t>Accountable for the sign-off; chairs the sign-off meeting</a:t>
                      </a:r>
                    </a:p>
                  </a:txBody>
                  <a:tcPr marL="73152" marR="73152" marT="36576" marB="36576">
                    <a:solidFill>
                      <a:srgbClr val="FFFFFF"/>
                    </a:solidFill>
                  </a:tcPr>
                </a:tc>
              </a:tr>
              <a:tr h="365760">
                <a:tc>
                  <a:txBody>
                    <a:bodyPr/>
                    <a:lstStyle/>
                    <a:p>
                      <a:r>
                        <a:rPr sz="1000" b="0">
                          <a:solidFill>
                            <a:srgbClr val="4B4B4B"/>
                          </a:solidFill>
                          <a:latin typeface="Arial"/>
                        </a:rPr>
                        <a:t>Process owner</a:t>
                      </a:r>
                    </a:p>
                  </a:txBody>
                  <a:tcPr marL="73152" marR="73152" marT="36576" marB="36576">
                    <a:solidFill>
                      <a:srgbClr val="E5F5FF"/>
                    </a:solidFill>
                  </a:tcPr>
                </a:tc>
                <a:tc>
                  <a:txBody>
                    <a:bodyPr/>
                    <a:lstStyle/>
                    <a:p>
                      <a:r>
                        <a:rPr sz="1000" b="0">
                          <a:solidFill>
                            <a:srgbClr val="4B4B4B"/>
                          </a:solidFill>
                          <a:latin typeface="Arial"/>
                        </a:rPr>
                        <a:t>Business Administration (user access maintenance)</a:t>
                      </a:r>
                    </a:p>
                  </a:txBody>
                  <a:tcPr marL="73152" marR="73152" marT="36576" marB="36576">
                    <a:solidFill>
                      <a:srgbClr val="E5F5FF"/>
                    </a:solidFill>
                  </a:tcPr>
                </a:tc>
                <a:tc>
                  <a:txBody>
                    <a:bodyPr/>
                    <a:lstStyle/>
                    <a:p>
                      <a:r>
                        <a:rPr sz="1000" b="0">
                          <a:solidFill>
                            <a:srgbClr val="4B4B4B"/>
                          </a:solidFill>
                          <a:latin typeface="Arial"/>
                        </a:rPr>
                        <a:t>Coordinates the review of the requests and reports and the configuration inputs; signs for the business input with the BU representative of MBS</a:t>
                      </a:r>
                    </a:p>
                  </a:txBody>
                  <a:tcPr marL="73152" marR="73152" marT="36576" marB="36576">
                    <a:solidFill>
                      <a:srgbClr val="E5F5FF"/>
                    </a:solidFill>
                  </a:tcPr>
                </a:tc>
              </a:tr>
              <a:tr h="365760">
                <a:tc>
                  <a:txBody>
                    <a:bodyPr/>
                    <a:lstStyle/>
                    <a:p>
                      <a:r>
                        <a:rPr sz="1000" b="0">
                          <a:solidFill>
                            <a:srgbClr val="4B4B4B"/>
                          </a:solidFill>
                          <a:latin typeface="Arial"/>
                        </a:rPr>
                        <a:t>Information Security</a:t>
                      </a:r>
                    </a:p>
                  </a:txBody>
                  <a:tcPr marL="73152" marR="73152" marT="36576" marB="36576">
                    <a:solidFill>
                      <a:srgbClr val="FFFFFF"/>
                    </a:solidFill>
                  </a:tcPr>
                </a:tc>
                <a:tc>
                  <a:txBody>
                    <a:bodyPr/>
                    <a:lstStyle/>
                    <a:p>
                      <a:r>
                        <a:rPr sz="1000" b="0">
                          <a:solidFill>
                            <a:srgbClr val="4B4B4B"/>
                          </a:solidFill>
                          <a:latin typeface="Arial"/>
                        </a:rPr>
                        <a:t>BDOI Information Security</a:t>
                      </a:r>
                    </a:p>
                  </a:txBody>
                  <a:tcPr marL="73152" marR="73152" marT="36576" marB="36576">
                    <a:solidFill>
                      <a:srgbClr val="FFFFFF"/>
                    </a:solidFill>
                  </a:tcPr>
                </a:tc>
                <a:tc>
                  <a:txBody>
                    <a:bodyPr/>
                    <a:lstStyle/>
                    <a:p>
                      <a:r>
                        <a:rPr sz="1000" b="0">
                          <a:solidFill>
                            <a:srgbClr val="4B4B4B"/>
                          </a:solidFill>
                          <a:latin typeface="Arial"/>
                        </a:rPr>
                        <a:t>Reviews and signs the role matrix, the menus by persona and the separation-of-duties rules</a:t>
                      </a:r>
                    </a:p>
                  </a:txBody>
                  <a:tcPr marL="73152" marR="73152" marT="36576" marB="36576">
                    <a:solidFill>
                      <a:srgbClr val="FFFFFF"/>
                    </a:solidFill>
                  </a:tcPr>
                </a:tc>
              </a:tr>
              <a:tr h="365760">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BDOI IT</a:t>
                      </a:r>
                    </a:p>
                  </a:txBody>
                  <a:tcPr marL="73152" marR="73152" marT="36576" marB="36576">
                    <a:solidFill>
                      <a:srgbClr val="E5F5FF"/>
                    </a:solidFill>
                  </a:tcPr>
                </a:tc>
                <a:tc>
                  <a:txBody>
                    <a:bodyPr/>
                    <a:lstStyle/>
                    <a:p>
                      <a:r>
                        <a:rPr sz="1000" b="0">
                          <a:solidFill>
                            <a:srgbClr val="4B4B4B"/>
                          </a:solidFill>
                          <a:latin typeface="Arial"/>
                        </a:rPr>
                        <a:t>Reviews and signs the sign-in and identity integration assumptions (EIAM, UIDM-ISC) and the System Administrator functions</a:t>
                      </a:r>
                    </a:p>
                  </a:txBody>
                  <a:tcPr marL="73152" marR="73152" marT="36576" marB="36576">
                    <a:solidFill>
                      <a:srgbClr val="E5F5FF"/>
                    </a:solidFill>
                  </a:tcPr>
                </a:tc>
              </a:tr>
              <a:tr h="365760">
                <a:tc>
                  <a:txBody>
                    <a:bodyPr/>
                    <a:lstStyle/>
                    <a:p>
                      <a:r>
                        <a:rPr sz="1000" b="0">
                          <a:solidFill>
                            <a:srgbClr val="4B4B4B"/>
                          </a:solidFill>
                          <a:latin typeface="Arial"/>
                        </a:rPr>
                        <a:t>BRD owner</a:t>
                      </a:r>
                    </a:p>
                  </a:txBody>
                  <a:tcPr marL="73152" marR="73152" marT="36576" marB="36576">
                    <a:solidFill>
                      <a:srgbClr val="FFFFFF"/>
                    </a:solidFill>
                  </a:tcPr>
                </a:tc>
                <a:tc>
                  <a:txBody>
                    <a:bodyPr/>
                    <a:lstStyle/>
                    <a:p>
                      <a:r>
                        <a:rPr sz="1000" b="0">
                          <a:solidFill>
                            <a:srgbClr val="4B4B4B"/>
                          </a:solidFill>
                          <a:latin typeface="Arial"/>
                        </a:rPr>
                        <a:t>Business Project Services, BDO Unibank ESG</a:t>
                      </a:r>
                    </a:p>
                  </a:txBody>
                  <a:tcPr marL="73152" marR="73152" marT="36576" marB="36576">
                    <a:solidFill>
                      <a:srgbClr val="FFFFFF"/>
                    </a:solidFill>
                  </a:tcPr>
                </a:tc>
                <a:tc>
                  <a:txBody>
                    <a:bodyPr/>
                    <a:lstStyle/>
                    <a:p>
                      <a:r>
                        <a:rPr sz="1000" b="0">
                          <a:solidFill>
                            <a:srgbClr val="4B4B4B"/>
                          </a:solidFill>
                          <a:latin typeface="Arial"/>
                        </a:rPr>
                        <a:t>Business Analyst: the BRD as written; Program Manager: traceability and completeness; sign-off coordination</a:t>
                      </a:r>
                    </a:p>
                  </a:txBody>
                  <a:tcPr marL="73152" marR="73152" marT="36576" marB="36576">
                    <a:solidFill>
                      <a:srgbClr val="FFFFFF"/>
                    </a:solidFill>
                  </a:tcPr>
                </a:tc>
              </a:tr>
              <a:tr h="365760">
                <a:tc>
                  <a:txBody>
                    <a:bodyPr/>
                    <a:lstStyle/>
                    <a:p>
                      <a:r>
                        <a:rPr sz="1000" b="0">
                          <a:solidFill>
                            <a:srgbClr val="4B4B4B"/>
                          </a:solidFill>
                          <a:latin typeface="Arial"/>
                        </a:rPr>
                        <a:t>Delivery</a:t>
                      </a:r>
                    </a:p>
                  </a:txBody>
                  <a:tcPr marL="73152" marR="73152" marT="36576" marB="36576">
                    <a:solidFill>
                      <a:srgbClr val="E5F5FF"/>
                    </a:solidFill>
                  </a:tcPr>
                </a:tc>
                <a:tc>
                  <a:txBody>
                    <a:bodyPr/>
                    <a:lstStyle/>
                    <a:p>
                      <a:r>
                        <a:rPr sz="1000" b="0">
                          <a:solidFill>
                            <a:srgbClr val="4B4B4B"/>
                          </a:solidFill>
                          <a:latin typeface="Arial"/>
                        </a:rPr>
                        <a:t>iorta TechNXT Project Manager, Business Analysis, test lead</a:t>
                      </a:r>
                    </a:p>
                  </a:txBody>
                  <a:tcPr marL="73152" marR="73152" marT="36576" marB="36576">
                    <a:solidFill>
                      <a:srgbClr val="E5F5FF"/>
                    </a:solidFill>
                  </a:tcPr>
                </a:tc>
                <a:tc>
                  <a:txBody>
                    <a:bodyPr/>
                    <a:lstStyle/>
                    <a:p>
                      <a:r>
                        <a:rPr sz="1000" b="0">
                          <a:solidFill>
                            <a:srgbClr val="4B4B4B"/>
                          </a:solidFill>
                          <a:latin typeface="Arial"/>
                        </a:rPr>
                        <a:t>Sessions, answers, comments log, revisions, change requests</a:t>
                      </a:r>
                    </a:p>
                  </a:txBody>
                  <a:tcPr marL="73152" marR="73152" marT="36576" marB="36576">
                    <a:solidFill>
                      <a:srgbClr val="E5F5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BRD-11 User Access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SIT walkthrough on Mon 9-Nov-2026</a:t>
            </a:r>
          </a:p>
          <a:p>
            <a:pPr>
              <a:spcAft>
                <a:spcPts val="600"/>
              </a:spcAft>
            </a:pPr>
            <a:r>
              <a:rPr sz="1600">
                <a:solidFill>
                  <a:srgbClr val="004EA8"/>
                </a:solidFill>
                <a:latin typeface="Arial"/>
              </a:rPr>
              <a:t>•  </a:t>
            </a:r>
            <a:r>
              <a:rPr sz="1600">
                <a:solidFill>
                  <a:srgbClr val="4B4B4B"/>
                </a:solidFill>
                <a:latin typeface="Arial"/>
              </a:rPr>
              <a:t>Workbooks returned by Fri 20-Nov-2026; Q&amp;A on Tue 24-Nov-2026; sign-off on Tue 1-Dec-2026</a:t>
            </a:r>
          </a:p>
          <a:p>
            <a:pPr>
              <a:spcAft>
                <a:spcPts val="600"/>
              </a:spcAft>
            </a:pPr>
            <a:r>
              <a:rPr sz="1600">
                <a:solidFill>
                  <a:srgbClr val="004EA8"/>
                </a:solidFill>
                <a:latin typeface="Arial"/>
              </a:rPr>
              <a:t>•  </a:t>
            </a:r>
            <a:r>
              <a:rPr sz="1600">
                <a:solidFill>
                  <a:srgbClr val="4B4B4B"/>
                </a:solidFill>
                <a:latin typeface="Arial"/>
              </a:rPr>
              <a:t>Configuration input templates filled in: users and role matrix before the first data migration mock; parameters agreed with Information Security before UAT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BRD-11 User Access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