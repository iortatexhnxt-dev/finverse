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 id="570" r:id="rId322"/>
    <p:sldId id="571" r:id="rId323"/>
    <p:sldId id="572" r:id="rId324"/>
    <p:sldId id="573" r:id="rId325"/>
    <p:sldId id="574" r:id="rId326"/>
    <p:sldId id="575" r:id="rId327"/>
    <p:sldId id="576" r:id="rId328"/>
    <p:sldId id="577" r:id="rId329"/>
    <p:sldId id="578" r:id="rId330"/>
    <p:sldId id="579" r:id="rId331"/>
    <p:sldId id="580" r:id="rId332"/>
    <p:sldId id="581" r:id="rId333"/>
    <p:sldId id="582" r:id="rId334"/>
    <p:sldId id="583" r:id="rId335"/>
    <p:sldId id="584" r:id="rId336"/>
    <p:sldId id="585" r:id="rId337"/>
    <p:sldId id="586" r:id="rId338"/>
    <p:sldId id="587" r:id="rId339"/>
    <p:sldId id="588" r:id="rId340"/>
    <p:sldId id="589" r:id="rId341"/>
    <p:sldId id="590" r:id="rId342"/>
    <p:sldId id="591" r:id="rId343"/>
    <p:sldId id="592" r:id="rId344"/>
    <p:sldId id="593" r:id="rId3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 Id="rId320" Type="http://schemas.openxmlformats.org/officeDocument/2006/relationships/slide" Target="slides/slide313.xml"/><Relationship Id="rId321" Type="http://schemas.openxmlformats.org/officeDocument/2006/relationships/slide" Target="slides/slide314.xml"/><Relationship Id="rId322" Type="http://schemas.openxmlformats.org/officeDocument/2006/relationships/slide" Target="slides/slide315.xml"/><Relationship Id="rId323" Type="http://schemas.openxmlformats.org/officeDocument/2006/relationships/slide" Target="slides/slide316.xml"/><Relationship Id="rId324" Type="http://schemas.openxmlformats.org/officeDocument/2006/relationships/slide" Target="slides/slide317.xml"/><Relationship Id="rId325" Type="http://schemas.openxmlformats.org/officeDocument/2006/relationships/slide" Target="slides/slide318.xml"/><Relationship Id="rId326" Type="http://schemas.openxmlformats.org/officeDocument/2006/relationships/slide" Target="slides/slide319.xml"/><Relationship Id="rId327" Type="http://schemas.openxmlformats.org/officeDocument/2006/relationships/slide" Target="slides/slide320.xml"/><Relationship Id="rId328" Type="http://schemas.openxmlformats.org/officeDocument/2006/relationships/slide" Target="slides/slide321.xml"/><Relationship Id="rId329" Type="http://schemas.openxmlformats.org/officeDocument/2006/relationships/slide" Target="slides/slide322.xml"/><Relationship Id="rId330" Type="http://schemas.openxmlformats.org/officeDocument/2006/relationships/slide" Target="slides/slide323.xml"/><Relationship Id="rId331" Type="http://schemas.openxmlformats.org/officeDocument/2006/relationships/slide" Target="slides/slide324.xml"/><Relationship Id="rId332" Type="http://schemas.openxmlformats.org/officeDocument/2006/relationships/slide" Target="slides/slide325.xml"/><Relationship Id="rId333" Type="http://schemas.openxmlformats.org/officeDocument/2006/relationships/slide" Target="slides/slide326.xml"/><Relationship Id="rId334" Type="http://schemas.openxmlformats.org/officeDocument/2006/relationships/slide" Target="slides/slide327.xml"/><Relationship Id="rId335" Type="http://schemas.openxmlformats.org/officeDocument/2006/relationships/slide" Target="slides/slide328.xml"/><Relationship Id="rId336" Type="http://schemas.openxmlformats.org/officeDocument/2006/relationships/slide" Target="slides/slide329.xml"/><Relationship Id="rId337" Type="http://schemas.openxmlformats.org/officeDocument/2006/relationships/slide" Target="slides/slide330.xml"/><Relationship Id="rId338" Type="http://schemas.openxmlformats.org/officeDocument/2006/relationships/slide" Target="slides/slide331.xml"/><Relationship Id="rId339" Type="http://schemas.openxmlformats.org/officeDocument/2006/relationships/slide" Target="slides/slide332.xml"/><Relationship Id="rId340" Type="http://schemas.openxmlformats.org/officeDocument/2006/relationships/slide" Target="slides/slide333.xml"/><Relationship Id="rId341" Type="http://schemas.openxmlformats.org/officeDocument/2006/relationships/slide" Target="slides/slide334.xml"/><Relationship Id="rId342" Type="http://schemas.openxmlformats.org/officeDocument/2006/relationships/slide" Target="slides/slide335.xml"/><Relationship Id="rId343" Type="http://schemas.openxmlformats.org/officeDocument/2006/relationships/slide" Target="slides/slide336.xml"/><Relationship Id="rId344" Type="http://schemas.openxmlformats.org/officeDocument/2006/relationships/slide" Target="slides/slide337.xml"/><Relationship Id="rId345" Type="http://schemas.openxmlformats.org/officeDocument/2006/relationships/slide" Target="slides/slide3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5.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6.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9.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0.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2.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5.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6.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0.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1.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2.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3.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4.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5.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9.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0.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2.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3.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4.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5.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6.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7.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8.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9.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2.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3.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5.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7.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 07 of the BRD-11 User Access Maintenance sign-off set, release set v2.0, for the BDOI UX Design team. The screens are those of the proposed system on SIT with seed data; the names and numbers on them are fictitious.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deck does not replace the FRS: the FRS is signed by the business; the deck is the working material of the UX Design team and follows each issue of the FRS.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register when a new issue arrives: filter Changed in this issue = 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change never waits for the whole set: the delta issue carries the new images and the register with the changed rows flagged; the unchanged rows keep their UXD status and comments.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images carry the Changed badge in this deck and Changed in this issue = Y in the register.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as on the BRD approval sheet (BRD-11 sign-off sheet p.19 (Owner: "I own this document and approve all of its contents")); the names are in the sign-off certificate of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colour tokens of the screens (BDO Style Guide names in the comments). Blue is the dominant colour; yellow is an accent only, never a fill behind text; never pure black.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Nunito everywhere; Arial is the approved fallback. Display sizes (72 to 24) only for dashboards and landing panels.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8 px baseline grid; desktop web uses a 12-column grid; cards have radius 12 on the Dirty White page.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8 px baseline grid; desktop web uses a 12-column grid; cards have radius 12 on the Dirty White page.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BDO outline icon master files replace the equivalents when BDO Marketing Communications supplies them.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stages of the record in their order, with one row of Current Stage, Since, Due and Assigned To and the actions of the stage on the right. Image: components/ux-scr-pm-04-cmp-stepper.png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standard for errors, warnings, information and success messages, and for the toasts. Image: components/ux-scr-ua-07-cmp-notice.png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list of records is a table in a titled card, with the status tabs and the toolbar above it. Image: components/ux-scr-pm-02-cmp-table.png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Hierarchies (regions, branches, teams and their members) in the table style. Image: components/ux-scr-pm-20-cmp-tree.png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actions of a row of a table, never as links inside the row. Image: components/scr-pm-20-02-actions.png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approve, authorise, post, release, cancel, void and deactivate is confirmed in a dialog. Image: components/scr-pm-04-03-return.png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pill per record status, in its own column. Image: components/scr-ua-06-01-list.png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period (period of cover, package term, statement period) in a list. Image: components/scr-pm-10-01-list.png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Labels above the fields, the error under each field and the summary at the top of a long form. Image: components/scr-ua-07-03-error.png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upload checks all rows before anything is saved. Image: components/scr-ua-09-02-validated.png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icon, label and value grid of the record header and of an outcome card. Image: components/scr-pm-13-06-released.png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standards appendix of every FRS, in the same words: BDOI agrees the look of the screens once and checks every screenshot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standards appendix of every FRS, in the same words: BDOI agrees the look of the screens once and checks every screenshot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NAV-UA-01_landing.png.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NAV-UA-01_menu.png.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menu entries in all; entries of the other BRDs: BRD-1: 1; Platform: 3.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NAV-UA-02_landing.png.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NAV-UA-02_menu.png.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menu entries in all; entries of the other BRDs: BRD-1: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NAV-UA-03_landing.png.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NAV-UA-03_menu.png.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menu entries in all; entries of the other BRDs: Platform: 3.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NAV-UA-04_landing.png.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NAV-UA-04_menu.png.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NAV-UA-04_menu.png.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NAV-UA-04_menu.png.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84 menu entries in all; entries of the other BRDs: BRD-1: 10; BRD-2: 5; BRD-3: 10; BRD-4: 11; BRD-5: 14; BRD-6: 3; BRD-8: 5; Platform: 12; Platform / BRD-11: 8.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NAV-UA-05_landing.png.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NAV-UA-05_menu.png.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NAV-UA-05_menu.png.</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NAV-UA-05_menu.png.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122 menu entries in all; entries of the other BRDs: BRD-1: 10; BRD-10: 6; BRD-13: 10; BRD-2: 7; BRD-3: 8; BRD-4: 12; BRD-5: 28; BRD-7: 4; BRD-8: 4; Platform: 14; Platform / BRD-11: 14.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NAV-UA-06_landing.png.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NAV-UA-06_menu.png.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NAV-UA-06_menu.png.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NAV-UA-06_menu.png.</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NAV-UA-06_menu.png.</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154 menu entries in all; entries of the other BRDs: BRD-1: 19; BRD-10: 7; BRD-13: 10; BRD-2: 6; BRD-3: 10; BRD-4: 10; BRD-5: 55; BRD-6: 2; BRD-7: 4; BRD-8: 4; Platform: 14; Platform / BRD-11: 9.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NAV-UA-07_landing.png.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NAV-UA-07_menu.png.</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 menu entries in all; entries of the other BRDs: BRD-1: 1; Platform: 4; Platform / BRD-11: 7.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NAV-UA-08_landing.png.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NAV-UA-08_menu.png.</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NAV-UA-08_menu.png.</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59 menu entries in all; entries of the other BRDs: BRD-1: 19; BRD-2: 1; BRD-3: 9; BRD-4: 1; BRD-5: 13; Platform: 12.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Requestor. Menu and landing page: NAV-UA-01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Approver. Menu and landing page: NAV-UA-02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Approver. Menu and landing page: NAV-UA-03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Administrator. Menu and landing page: NAV-UA-04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 Administrator. Menu and landing page: NAV-UA-05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Auditor. Menu and landing page: NAV-UA-06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Information Security Officer. Menu and landing page: NAV-UA-07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Business Approver (keeps the access approval right). Menu and landing page: NAV-UA-08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Every BIBS module now opens its screens to the new user according to the Marketing Account Officer profile: Clients, Quotation / Proposal, Accounts &amp; Placement, Renewal and the reports of that profile (menu of chapter 12); nothing else is shown or accepted.; The user appears in the User Access Report and in the Group Profile Membership of Marketing Account Officer, with the approver and the request number as Created by.; The change is logged once: the access change log cannot be edited by any user.</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Requestor: Opens User Access › Access Requests › New Request, keeps Enrol new user, enters the user ID a013000196, the full name, e-mail, Windows ID and home branch, ticks Marketing Account Officer, chooses the approver Ulysses Access Approver, writes the justification and clicks Save Draft</a:t>
            </a:r>
          </a:p>
          <a:p>
            <a:r>
              <a:t>2. Requestor: Clicks Edit Request, checks the data and clicks Submit</a:t>
            </a:r>
          </a:p>
          <a:p>
            <a:r>
              <a:t>3. Approver: Opens the notice Access request AR-yyyy-nnnnnn to approve, or User Access › Access Requests</a:t>
            </a:r>
          </a:p>
          <a:p>
            <a:r>
              <a:t>4. Approver: Opens the request, reads the Details tab (current and requested values), clicks Approve and Apply, adds a comment and confirms</a:t>
            </a:r>
          </a:p>
          <a:p>
            <a:r>
              <a:t>5. Marketing Account Officer: The new user opens BIBS and signs in with a013000196 and the temporary password</a:t>
            </a:r>
          </a:p>
          <a:p>
            <a:r>
              <a:t>6. Marketing Account Officer: Enters the temporary password as the current password and a personal password twice, and clicks Change Password</a:t>
            </a:r>
          </a:p>
          <a:p>
            <a:r>
              <a:t>7. Marketing Account Officer: Opens the sidebar and My Profile</a:t>
            </a:r>
          </a:p>
          <a:p>
            <a:r>
              <a:t>8. Auditor: Opens User Access Reports › User Access Audit Log for today, ticks Include Log-ins and Log-outs and clicks Run Report</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SCR-UA-07_wt-a-step-01.png.</a:t>
            </a:r>
          </a:p>
          <a:p>
            <a:r>
              <a:t>Persona does: Opens User Access › Access Requests › New Request, keeps Enrol new user, enters the user ID a013000196, the full name, e-mail, Windows ID and home branch, ticks Marketing Account Officer, chooses the approver Ulysses Access Approver, writes the justification and clicks Save Draft</a:t>
            </a:r>
          </a:p>
          <a:p>
            <a:r>
              <a:t>System does: Draft request</a:t>
            </a:r>
          </a:p>
          <a:p>
            <a:r>
              <a:t>Shown: Toast: AR-yyyy-nnnnnn saved as a draft; the request opens as Draft with Approver Chosen on submission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SCR-UA-08_wt-a-step-02.png.</a:t>
            </a:r>
          </a:p>
          <a:p>
            <a:r>
              <a:t>Persona does: Clicks Edit Request, checks the data and clicks Submit</a:t>
            </a:r>
          </a:p>
          <a:p>
            <a:r>
              <a:t>System does: Pending Approval</a:t>
            </a:r>
          </a:p>
          <a:p>
            <a:r>
              <a:t>Shown: Toast: AR-yyyy-nnnnnn submitted; the status is Pending Approval and the History tab lists Saved and Submitted</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SCR-UA-06_wt-a-step-03.png.</a:t>
            </a:r>
          </a:p>
          <a:p>
            <a:r>
              <a:t>Persona does: Opens the notice Access request AR-yyyy-nnnnnn to approve, or User Access › Access Requests</a:t>
            </a:r>
          </a:p>
          <a:p>
            <a:r>
              <a:t>System does: Request found</a:t>
            </a:r>
          </a:p>
          <a:p>
            <a:r>
              <a:t>Shown: The request is on the Assigned to Me tab with its change: Create user a013000196 with group profiles Marketing Account Officer</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SCR-UA-08_wt-a-step-04.png.</a:t>
            </a:r>
          </a:p>
          <a:p>
            <a:r>
              <a:t>Persona does: Opens the request, reads the Details tab (current and requested values), clicks Approve and Apply, adds a comment and confirms</a:t>
            </a:r>
          </a:p>
          <a:p>
            <a:r>
              <a:t>System does: Approved and applied</a:t>
            </a:r>
          </a:p>
          <a:p>
            <a:r>
              <a:t>Shown: User a013000196 was created, with the temporary password shown once to be given through a secure channel; the status is Approved</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SCR-UA-01_wt-a-step-05.png.</a:t>
            </a:r>
          </a:p>
          <a:p>
            <a:r>
              <a:t>Persona does: The new user opens BIBS and signs in with a013000196 and the temporary password</a:t>
            </a:r>
          </a:p>
          <a:p>
            <a:r>
              <a:t>System does: Forced change</a:t>
            </a:r>
          </a:p>
          <a:p>
            <a:r>
              <a:t>Shown: Change Your Password: Your password was set by an administrator. Choose your own password to continue.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SCR-UA-01_wt-a-step-05.png.</a:t>
            </a:r>
          </a:p>
          <a:p>
            <a:r>
              <a:t>Persona does: The new user opens BIBS and signs in with a013000196 and the temporary password</a:t>
            </a:r>
          </a:p>
          <a:p>
            <a:r>
              <a:t>System does: Forced change</a:t>
            </a:r>
          </a:p>
          <a:p>
            <a:r>
              <a:t>Shown: Change Your Password: Your password was set by an administrator. Choose your own password to continue.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SCR-UA-03_wt-a-step-06.png.</a:t>
            </a:r>
          </a:p>
          <a:p>
            <a:r>
              <a:t>Persona does: Enters the temporary password as the current password and a personal password twice, and clicks Change Password</a:t>
            </a:r>
          </a:p>
          <a:p>
            <a:r>
              <a:t>System does: Signed in</a:t>
            </a:r>
          </a:p>
          <a:p>
            <a:r>
              <a:t>Shown: Toast: Password changed; the home page opens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SCR-UA-05_wt-a-step-07.png.</a:t>
            </a:r>
          </a:p>
          <a:p>
            <a:r>
              <a:t>Persona does: Opens the sidebar and My Profile</a:t>
            </a:r>
          </a:p>
          <a:p>
            <a:r>
              <a:t>System does: Menus of the persona</a:t>
            </a:r>
          </a:p>
          <a:p>
            <a:r>
              <a:t>Shown: The sidebar holds exactly the entries of the Marketing Account Officer (chapter 12); My Profile lists the group profile Marketing Account Officer and its permissions, and the first session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SCR-UA-17_wt-a-step-08.png.</a:t>
            </a:r>
          </a:p>
          <a:p>
            <a:r>
              <a:t>Persona does: Opens User Access Reports › User Access Audit Log for today, ticks Include Log-ins and Log-outs and clicks Run Report</a:t>
            </a:r>
          </a:p>
          <a:p>
            <a:r>
              <a:t>System does: Evidence of the enrolment</a:t>
            </a:r>
          </a:p>
          <a:p>
            <a:r>
              <a:t>Shown: Enroll New User a013000196 with the from and to values of the full name, e-mail and profiles, Done By and Approved By the Approver, the request number, and the Log-in of the new user</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Each change is in the User Access Audit Log with its from and to values, the approver and the request number; the deactivated user keeps the history but can no longer sign in.; The new group profile can be given to users by access requests at once; its content is in the User Group Profile Report and the User Access Matrix.</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Requestor: Opens a New Request of type Modify user for a013000196, ticks Marketing Team Leader / Head (approver) besides the current profile, chooses the approver, writes the justification and clicks Submit</a:t>
            </a:r>
          </a:p>
          <a:p>
            <a:r>
              <a:t>2. Approver: Opens the request: the Details tab shows the group profiles added; clicks Approve and Apply</a:t>
            </a:r>
          </a:p>
          <a:p>
            <a:r>
              <a:t>3. Second Approver: Opens AR-2026-900008 from the Second Approval tab: the tag Privilege increase, first approved by the Approver; clicks Second Approval and confirms</a:t>
            </a:r>
          </a:p>
          <a:p>
            <a:r>
              <a:t>4. Business Administrator: Opens Group Profile Requests › New Group Profile Request, enters the code RENEWAL_ENQUIRY, the name and description, keeps the level Standard, ticks two permissions, adds the approvers Ulysses Access Approver then the New Business Approver, writes the justification and clicks Submit</a:t>
            </a:r>
          </a:p>
          <a:p>
            <a:r>
              <a:t>5. Approver: Approves the group-profile request</a:t>
            </a:r>
          </a:p>
          <a:p>
            <a:r>
              <a:t>6. New Business Approver (keeps the access approval right): Opens the request from My Approvals and approves it</a:t>
            </a:r>
          </a:p>
          <a:p>
            <a:r>
              <a:t>7. System Administrator: Opens Roles &amp; Permissions, finds the request under Approved Requests to Implement, clicks Implement Request and confirms</a:t>
            </a:r>
          </a:p>
          <a:p>
            <a:r>
              <a:t>8. Requestor: Opens a New Request of type Deactivate user for a013000196, chooses the reason Resigned, leaves the effective date blank, chooses the approver and clicks Submit</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Approver: Approves the deactivation</a:t>
            </a:r>
          </a:p>
          <a:p>
            <a:r>
              <a:t>10. System Administrator: Opens Administration › Users with the status Disabled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SCR-UA-07_wt-b-step-01.png.</a:t>
            </a:r>
          </a:p>
          <a:p>
            <a:r>
              <a:t>Persona does: Opens a New Request of type Modify user for a013000196, ticks Marketing Team Leader / Head (approver) besides the current profile, chooses the approver, writes the justification and clicks Submit</a:t>
            </a:r>
          </a:p>
          <a:p>
            <a:r>
              <a:t>System does: Pending Approval</a:t>
            </a:r>
          </a:p>
          <a:p>
            <a:r>
              <a:t>Shown: The Group Profiles show (current) after Marketing Account Officer; toast AR-yyyy-nnnnnn submitted</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SCR-UA-08_wt-b-step-02.png.</a:t>
            </a:r>
          </a:p>
          <a:p>
            <a:r>
              <a:t>Persona does: Opens the request: the Details tab shows the group profiles added; clicks Approve and Apply</a:t>
            </a:r>
          </a:p>
          <a:p>
            <a:r>
              <a:t>System does: Change applied</a:t>
            </a:r>
          </a:p>
          <a:p>
            <a:r>
              <a:t>Shown: The status is Approved; the user receives Your access changed in the app and by e-mail</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SCR-UA-08_wt-b-step-03.png.</a:t>
            </a:r>
          </a:p>
          <a:p>
            <a:r>
              <a:t>Persona does: Opens AR-2026-900008 from the Second Approval tab: the tag Privilege increase, first approved by the Approver; clicks Second Approval and confirms</a:t>
            </a:r>
          </a:p>
          <a:p>
            <a:r>
              <a:t>System does: Second approval given</a:t>
            </a:r>
          </a:p>
          <a:p>
            <a:r>
              <a:t>Shown: The status is Approved; the alert Privileged access change stays in the Alert inbox as evidence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SCR-UA-12_wt-b-step-04.png.</a:t>
            </a:r>
          </a:p>
          <a:p>
            <a:r>
              <a:t>Persona does: Opens Group Profile Requests › New Group Profile Request, enters the code RENEWAL_ENQUIRY, the name and description, keeps the level Standard, ticks two permissions, adds the approvers Ulysses Access Approver then the New Business Approver, writes the justification and clicks Submit</a:t>
            </a:r>
          </a:p>
          <a:p>
            <a:r>
              <a:t>System does: Pending Approval (first approver)</a:t>
            </a:r>
          </a:p>
          <a:p>
            <a:r>
              <a:t>Shown: Toast: AR-yyyy-nnnnnn submitted; the Approvers tab lists the two approvers in order</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SCR-UA-08_wt-b-step-05.png.</a:t>
            </a:r>
          </a:p>
          <a:p>
            <a:r>
              <a:t>Persona does: Approves the group-profile request</a:t>
            </a:r>
          </a:p>
          <a:p>
            <a:r>
              <a:t>System does: Next approver</a:t>
            </a:r>
          </a:p>
          <a:p>
            <a:r>
              <a:t>Shown: The status stays Pending Approval; the request moves to the New Business Approver, who receives the notice</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SCR-UA-08_wt-b-step-06.png.</a:t>
            </a:r>
          </a:p>
          <a:p>
            <a:r>
              <a:t>Persona does: Opens the request from My Approvals and approves it</a:t>
            </a:r>
          </a:p>
          <a:p>
            <a:r>
              <a:t>System does: For implementation</a:t>
            </a:r>
          </a:p>
          <a:p>
            <a:r>
              <a:t>Shown: The status is For Implementation; the System Administrators receive Access request AR-yyyy-nnnnnn to implement</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SCR-UA-16_wt-b-step-07.png.</a:t>
            </a:r>
          </a:p>
          <a:p>
            <a:r>
              <a:t>Persona does: Opens Roles &amp; Permissions, finds the request under Approved Requests to Implement, clicks Implement Request and confirms</a:t>
            </a:r>
          </a:p>
          <a:p>
            <a:r>
              <a:t>System does: Implemented</a:t>
            </a:r>
          </a:p>
          <a:p>
            <a:r>
              <a:t>Shown: Toast: AR-yyyy-nnnnnn implemented; the profile appears in the matrix with its two permissions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SCR-UA-07_wt-b-step-08.png.</a:t>
            </a:r>
          </a:p>
          <a:p>
            <a:r>
              <a:t>Persona does: Opens a New Request of type Deactivate user for a013000196, chooses the reason Resigned, leaves the effective date blank, chooses the approver and clicks Submit</a:t>
            </a:r>
          </a:p>
          <a:p>
            <a:r>
              <a:t>System does: Pending Approval</a:t>
            </a:r>
          </a:p>
          <a:p>
            <a:r>
              <a:t>Shown: Toast: AR-yyyy-nnnnnn submitted</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SCR-UA-08_wt-b-step-09.png.</a:t>
            </a:r>
          </a:p>
          <a:p>
            <a:r>
              <a:t>Persona does: Approves the deactivation</a:t>
            </a:r>
          </a:p>
          <a:p>
            <a:r>
              <a:t>System does: User deactivated</a:t>
            </a:r>
          </a:p>
          <a:p>
            <a:r>
              <a:t>Shown: The status is Approved; the user is Disabled and every open session of the user has ended</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SCR-UA-15_wt-b-step-10.png.</a:t>
            </a:r>
          </a:p>
          <a:p>
            <a:r>
              <a:t>Persona does: Opens Administration › Users with the status Disabled</a:t>
            </a:r>
          </a:p>
          <a:p>
            <a:r>
              <a:t>System does: Evidence of the revocation</a:t>
            </a:r>
          </a:p>
          <a:p>
            <a:r>
              <a:t>Shown: a013000196 is listed Disabled with the profiles it held; Sessions shows the last session ended by the administrator</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A refused action changes nothing; the message names what to correct, and a server refusal shows its reference for support.; Every failed sign-in, lock and unlock is in the audit trail and the User Access Audit Log.; A combination of profiles refused by a separation-of-duties rule is refused the same way on a bulk line and again at approval.</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Requestor: Opens New Request, enters the user ID ab and clicks Submit without a full name, profile, approver or justification</a:t>
            </a:r>
          </a:p>
          <a:p>
            <a:r>
              <a:t>2. Requestor: Enters the user ID a01300019X with the other fields complete and clicks Submit</a:t>
            </a:r>
          </a:p>
          <a:p>
            <a:r>
              <a:t>3. Requestor: Raises a Modify user request for a013000101, which already has a pending request, and clicks Submit</a:t>
            </a:r>
          </a:p>
          <a:p>
            <a:r>
              <a:t>4. Requestor: Raises a Modify user request for himself (requestor), ticks an additional profile and clicks Submit</a:t>
            </a:r>
          </a:p>
          <a:p>
            <a:r>
              <a:t>5. Requestor: Enrols a new user with both the User Access Requestor and the User Access Approver profiles and clicks Submit</a:t>
            </a:r>
          </a:p>
          <a:p>
            <a:r>
              <a:t>6. New Business Approver (keeps the access approval right): Opens AR-2026-900002, assigned to Ulysses Access Approver</a:t>
            </a:r>
          </a:p>
          <a:p>
            <a:r>
              <a:t>7. System Administrator: Clicks Implement Request on a group-profile request he raised himself</a:t>
            </a:r>
          </a:p>
          <a:p>
            <a:r>
              <a:t>8. Marketing Account Officer: User a013000101 enters a wrong password three times, then the right one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System Administrator: Opens Users with the status Locked and clicks Unlock on a013000101</a:t>
            </a:r>
          </a:p>
          <a:p>
            <a:r>
              <a:t>10. Marketing Account Officer: The deactivated user a013000196 tries to sign in</a:t>
            </a:r>
          </a:p>
          <a:p>
            <a:r>
              <a:t>11. Requestor: On My Profile, types a new password that is too short and has no symbol</a:t>
            </a:r>
          </a:p>
          <a:p>
            <a:r>
              <a:t>12. Requestor: Enters the current password as the new password and clicks Change Password</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SCR-UA-07_wt-c-step-01.png.</a:t>
            </a:r>
          </a:p>
          <a:p>
            <a:r>
              <a:t>Persona does: Opens New Request, enters the user ID ab and clicks Submit without a full name, profile, approver or justification</a:t>
            </a:r>
          </a:p>
          <a:p>
            <a:r>
              <a:t>System does: Form corrected</a:t>
            </a:r>
          </a:p>
          <a:p>
            <a:r>
              <a:t>Shown: Under the fields: Use 3 to 50 letters, digits, dots, dashes or underscores; Enter the full name of the new user; Select at least one role; Select the approver; Enter the justification. Nothing is saved</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SCR-UA-07_wt-c-step-02.png.</a:t>
            </a:r>
          </a:p>
          <a:p>
            <a:r>
              <a:t>Persona does: Enters the user ID a01300019X with the other fields complete and clicks Submit</a:t>
            </a:r>
          </a:p>
          <a:p>
            <a:r>
              <a:t>System does: User ID corrected</a:t>
            </a:r>
          </a:p>
          <a:p>
            <a:r>
              <a:t>Shown: Under the user ID: The user ID must be a letter followed by nine digits, for example a013000196</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SCR-UA-07_wt-c-step-03.png.</a:t>
            </a:r>
          </a:p>
          <a:p>
            <a:r>
              <a:t>Persona does: Raises a Modify user request for a013000101, which already has a pending request, and clicks Submit</a:t>
            </a:r>
          </a:p>
          <a:p>
            <a:r>
              <a:t>System does: Wait for the open request</a:t>
            </a:r>
          </a:p>
          <a:p>
            <a:r>
              <a:t>Shown: A request for user a013000101 is already waiting for approval, with its reference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SCR-UA-07_wt-c-step-04.png.</a:t>
            </a:r>
          </a:p>
          <a:p>
            <a:r>
              <a:t>Persona does: Raises a Modify user request for himself (requestor), ticks an additional profile and clicks Submit</a:t>
            </a:r>
          </a:p>
          <a:p>
            <a:r>
              <a:t>System does: Another requester raises it</a:t>
            </a:r>
          </a:p>
          <a:p>
            <a:r>
              <a:t>Shown: You cannot change your own roles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SCR-UA-07_wt-c-step-05.png.</a:t>
            </a:r>
          </a:p>
          <a:p>
            <a:r>
              <a:t>Persona does: Enrols a new user with both the User Access Requestor and the User Access Approver profiles and clicks Submit</a:t>
            </a:r>
          </a:p>
          <a:p>
            <a:r>
              <a:t>System does: One of the two profiles removed</a:t>
            </a:r>
          </a:p>
          <a:p>
            <a:r>
              <a:t>Shown: One user may not hold both User Access Requestor and User Access Approver (separation-of-duties rule SOD-900001): the rule authorised by Information Security</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SCR-UA-08_wt-c-step-06.png.</a:t>
            </a:r>
          </a:p>
          <a:p>
            <a:r>
              <a:t>Persona does: Opens AR-2026-900002, assigned to Ulysses Access Approver</a:t>
            </a:r>
          </a:p>
          <a:p>
            <a:r>
              <a:t>System does: Left to the chosen approver</a:t>
            </a:r>
          </a:p>
          <a:p>
            <a:r>
              <a:t>Shown: The request shows no decision button for this approver; a decision would be refused: Request AR-2026-900002 is assigned to uamapprover for approval</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SCR-UA-16_wt-c-step-07.png.</a:t>
            </a:r>
          </a:p>
          <a:p>
            <a:r>
              <a:t>Persona does: Clicks Implement Request on a group-profile request he raised himself</a:t>
            </a:r>
          </a:p>
          <a:p>
            <a:r>
              <a:t>System does: Another System Administrator implements it</a:t>
            </a:r>
          </a:p>
          <a:p>
            <a:r>
              <a:t>Shown: A request is implemented by someone other than its requester</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SCR-UA-01_wt-c-step-08.png.</a:t>
            </a:r>
          </a:p>
          <a:p>
            <a:r>
              <a:t>Persona does: User a013000101 enters a wrong password three times, then the right one</a:t>
            </a:r>
          </a:p>
          <a:p>
            <a:r>
              <a:t>System does: Account locked</a:t>
            </a:r>
          </a:p>
          <a:p>
            <a:r>
              <a:t>Shown: Invalid user name or password each time, also for the right password: a locked account is refused with the same message as a wrong password; Users shows the lock to the System Administrator</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SCR-UA-01_wt-c-step-08.png.</a:t>
            </a:r>
          </a:p>
          <a:p>
            <a:r>
              <a:t>Persona does: User a013000101 enters a wrong password three times, then the right one</a:t>
            </a:r>
          </a:p>
          <a:p>
            <a:r>
              <a:t>System does: Account locked</a:t>
            </a:r>
          </a:p>
          <a:p>
            <a:r>
              <a:t>Shown: Invalid user name or password each time, also for the right password: a locked account is refused with the same message as a wrong password; Users shows the lock to the System Administrator</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SCR-UA-15_wt-c-step-09.png.</a:t>
            </a:r>
          </a:p>
          <a:p>
            <a:r>
              <a:t>Persona does: Opens Users with the status Locked and clicks Unlock on a013000101</a:t>
            </a:r>
          </a:p>
          <a:p>
            <a:r>
              <a:t>System does: Account unlocked</a:t>
            </a:r>
          </a:p>
          <a:p>
            <a:r>
              <a:t>Shown: The user is Active again; the unlock is in the access change log</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SCR-UA-15_wt-c-step-09.png.</a:t>
            </a:r>
          </a:p>
          <a:p>
            <a:r>
              <a:t>Persona does: Opens Users with the status Locked and clicks Unlock on a013000101</a:t>
            </a:r>
          </a:p>
          <a:p>
            <a:r>
              <a:t>System does: Account unlocked</a:t>
            </a:r>
          </a:p>
          <a:p>
            <a:r>
              <a:t>Shown: The user is Active again; the unlock is in the access change log</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SCR-UA-15_wt-c-step-09.png.</a:t>
            </a:r>
          </a:p>
          <a:p>
            <a:r>
              <a:t>Persona does: Opens Users with the status Locked and clicks Unlock on a013000101</a:t>
            </a:r>
          </a:p>
          <a:p>
            <a:r>
              <a:t>System does: Account unlocked</a:t>
            </a:r>
          </a:p>
          <a:p>
            <a:r>
              <a:t>Shown: The user is Active again; the unlock is in the access change log</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SCR-UA-01_wt-c-step-10.png.</a:t>
            </a:r>
          </a:p>
          <a:p>
            <a:r>
              <a:t>Persona does: The deactivated user a013000196 tries to sign in</a:t>
            </a:r>
          </a:p>
          <a:p>
            <a:r>
              <a:t>System does: Refused</a:t>
            </a:r>
          </a:p>
          <a:p>
            <a:r>
              <a:t>Shown: Invalid user name or password, the same message as a wrong password; the attempt does not count towards the lock-out</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SCR-UA-01_wt-c-step-10.png.</a:t>
            </a:r>
          </a:p>
          <a:p>
            <a:r>
              <a:t>Persona does: The deactivated user a013000196 tries to sign in</a:t>
            </a:r>
          </a:p>
          <a:p>
            <a:r>
              <a:t>System does: Refused</a:t>
            </a:r>
          </a:p>
          <a:p>
            <a:r>
              <a:t>Shown: Invalid user name or password, the same message as a wrong password; the attempt does not count towards the lock-out</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SCR-UA-05_wt-c-step-11.png.</a:t>
            </a:r>
          </a:p>
          <a:p>
            <a:r>
              <a:t>Persona does: On My Profile, types a new password that is too short and has no symbol</a:t>
            </a:r>
          </a:p>
          <a:p>
            <a:r>
              <a:t>System does: Password rules shown</a:t>
            </a:r>
          </a:p>
          <a:p>
            <a:r>
              <a:t>Shown: Still needed: At least 10 characters; A symbol; Change Password stays disabled</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SCR-UA-05_wt-c-step-12.png.</a:t>
            </a:r>
          </a:p>
          <a:p>
            <a:r>
              <a:t>Persona does: Enters the current password as the new password and clicks Change Password</a:t>
            </a:r>
          </a:p>
          <a:p>
            <a:r>
              <a:t>System does: Another password chosen</a:t>
            </a:r>
          </a:p>
          <a:p>
            <a:r>
              <a:t>Shown: You used this password recently. Choose another one</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Information Security signs the role matrix of chapter 12 and the separation-of-duties rules of chapter 13 on the basis of these reports; later changes to the matrix are group-profile requests and show in the same reports.</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Auditor: Opens User Access › User Access Matrix, By Action, and searches USER ACCESS</a:t>
            </a:r>
          </a:p>
          <a:p>
            <a:r>
              <a:t>2. Auditor: Runs the User Group Profile Report for the profile UAM_APPROVER</a:t>
            </a:r>
          </a:p>
          <a:p>
            <a:r>
              <a:t>3. Auditor: Runs Group Profile Membership for MKT_AO as of today</a:t>
            </a:r>
          </a:p>
          <a:p>
            <a:r>
              <a:t>4. Auditor: Runs the User Access Audit Log from the installation date with the activity Group Profile Changes</a:t>
            </a:r>
          </a:p>
          <a:p>
            <a:r>
              <a:t>5. Business Administrator: Opens New Group Profile Request of type New group profile and looks for the underwriting, insurer claims, reinsurance and reserve permissions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SCR-UA-13_wt-d-step-01.png.</a:t>
            </a:r>
          </a:p>
          <a:p>
            <a:r>
              <a:t>Persona does: Opens User Access › User Access Matrix, By Action, and searches USER ACCESS</a:t>
            </a:r>
          </a:p>
          <a:p>
            <a:r>
              <a:t>System does: Matrix reviewed</a:t>
            </a:r>
          </a:p>
          <a:p>
            <a:r>
              <a:t>Shown: The User Access area by action class, with the permissions each profile holds: the Requestor creates and amends, the Approver approves, the Second Approver gives the second approval</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SCR-UA-17_wt-d-step-02.png.</a:t>
            </a:r>
          </a:p>
          <a:p>
            <a:r>
              <a:t>Persona does: Runs the User Group Profile Report for the profile UAM_APPROVER</a:t>
            </a:r>
          </a:p>
          <a:p>
            <a:r>
              <a:t>System does: Profile content reviewed</a:t>
            </a:r>
          </a:p>
          <a:p>
            <a:r>
              <a:t>Shown: The modules and tasks of the Approver with With Access, and the dates and actors of its creation and last change</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SCR-UA-17_wt-d-step-03.png.</a:t>
            </a:r>
          </a:p>
          <a:p>
            <a:r>
              <a:t>Persona does: Runs Group Profile Membership for MKT_AO as of today</a:t>
            </a:r>
          </a:p>
          <a:p>
            <a:r>
              <a:t>System does: Members reviewed</a:t>
            </a:r>
          </a:p>
          <a:p>
            <a:r>
              <a:t>Shown: The members of the Marketing Account Officer profile with who added each and when</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SCR-UA-17_wt-d-step-04.png.</a:t>
            </a:r>
          </a:p>
          <a:p>
            <a:r>
              <a:t>Persona does: Runs the User Access Audit Log from the installation date with the activity Group Profile Changes</a:t>
            </a:r>
          </a:p>
          <a:p>
            <a:r>
              <a:t>System does: Insurer roles deactivated</a:t>
            </a:r>
          </a:p>
          <a:p>
            <a:r>
              <a:t>Shown: Deactivate Group Profile of the three insurer roles, Done By the system at installation, with their from and to values</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SCR-UA-12_wt-d-step-05.png.</a:t>
            </a:r>
          </a:p>
          <a:p>
            <a:r>
              <a:t>Persona does: Opens New Group Profile Request of type New group profile and looks for the underwriting, insurer claims, reinsurance and reserve permissions</a:t>
            </a:r>
          </a:p>
          <a:p>
            <a:r>
              <a:t>System does: Nothing to request</a:t>
            </a:r>
          </a:p>
          <a:p>
            <a:r>
              <a:t>Shown: The permission picker lists no insurer permission; the Reactivate group profile list offers no insurer role</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SCR-UA-01: SCR-UA-01_empty.png, SCR-UA-01_error.png, SCR-UA-01_locked.png, SCR-UA-01_wt-a-step-05.png, SCR-UA-01_wt-c-step-08.png, SCR-UA-01_wt-c-step-10.png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SCR-UA-01_empty.png; FRS section 13.1.1.</a:t>
            </a:r>
          </a:p>
          <a:p>
            <a:r>
              <a:t>Personas: -.</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SCR-UA-01_error.png; FRS section 13.1.1.</a:t>
            </a:r>
          </a:p>
          <a:p>
            <a:r>
              <a:t>Personas: -.</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SCR-UA-01_error.png; FRS section 13.1.1.</a:t>
            </a:r>
          </a:p>
          <a:p>
            <a:r>
              <a:t>Personas: -.</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SCR-UA-01_locked.png; FRS section 13.1.1.</a:t>
            </a:r>
          </a:p>
          <a:p>
            <a:r>
              <a:t>Personas: -.</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SCR-UA-01_locked.png; FRS section 13.1.1.</a:t>
            </a:r>
          </a:p>
          <a:p>
            <a:r>
              <a:t>Personas: -.</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SCR-UA-02: SCR-UA-02_request.png, SCR-UA-02_sent.png, SCR-UA-02_new-password.png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SCR-UA-02_new-password.png; FRS section 13.1.2.</a:t>
            </a:r>
          </a:p>
          <a:p>
            <a:r>
              <a:t>Personas: -.</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SCR-UA-02_new-password.png; FRS section 13.1.2.</a:t>
            </a:r>
          </a:p>
          <a:p>
            <a:r>
              <a:t>Personas: -.</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SCR-UA-02_request.png; FRS section 13.1.2.</a:t>
            </a:r>
          </a:p>
          <a:p>
            <a:r>
              <a:t>Personas: -.</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SCR-UA-02_sent.png; FRS section 13.1.2.</a:t>
            </a:r>
          </a:p>
          <a:p>
            <a:r>
              <a:t>Personas: -.</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SCR-UA-02_sent.png; FRS section 13.1.2.</a:t>
            </a:r>
          </a:p>
          <a:p>
            <a:r>
              <a:t>Personas: -.</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SCR-UA-03: SCR-UA-03_reset.png, SCR-UA-03_wt-a-step-06.png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SCR-UA-03_reset.png; FRS section 13.1.3.</a:t>
            </a:r>
          </a:p>
          <a:p>
            <a:r>
              <a:t>Personas: Requestor, Approver, Second Approver, Business Administrator, System Administrator, Auditor, Information Security Officer, New Business Approver (keeps the access approval right).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SCR-UA-03_reset.png; FRS section 13.1.3.</a:t>
            </a:r>
          </a:p>
          <a:p>
            <a:r>
              <a:t>Personas: Requestor, Approver, Second Approver, Business Administrator, System Administrator, Auditor, Information Security Officer, New Business Approver (keeps the access approval right).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SCR-UA-04: SCR-UA-04_idle.png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SCR-UA-04_idle.png; FRS section 13.1.4.</a:t>
            </a:r>
          </a:p>
          <a:p>
            <a:r>
              <a:t>Personas: Requestor, Approver, Second Approver, Business Administrator, System Administrator, Auditor, Information Security Officer, New Business Approver (keeps the access approval right).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SCR-UA-05: SCR-UA-05_view.png, SCR-UA-05_wt-a-step-07.png, SCR-UA-05_wt-c-step-11.png, SCR-UA-05_wt-c-step-12.png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SCR-UA-05_view.png; FRS section 13.1.5.</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SCR-UA-06: SCR-UA-06_list.png, SCR-UA-06_mine.png, SCR-UA-06_wt-a-step-03.png, SCR-UA-06_empty.png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SCR-UA-06_list.png; FRS section 13.2.1.</a:t>
            </a:r>
          </a:p>
          <a:p>
            <a:r>
              <a:t>Personas: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SCR-UA-06_list.png; FRS section 13.2.1.</a:t>
            </a:r>
          </a:p>
          <a:p>
            <a:r>
              <a:t>Personas: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SCR-UA-06_mine.png; FRS section 13.2.1.</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SCR-UA-06_mine.png; FRS section 13.2.1.</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SCR-UA-06_mine.png; FRS section 13.2.1.</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SCR-UA-06_mine.png; FRS section 13.2.1.</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SCR-UA-06_empty.png; FRS section 13.2.1.</a:t>
            </a:r>
          </a:p>
          <a:p>
            <a:r>
              <a:t>Personas: Requestor.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SCR-UA-07: SCR-UA-07_empty.png, SCR-UA-07_filled.png, SCR-UA-07_error.png, SCR-UA-07_modify.png, SCR-UA-07_wt-a-step-01.png, SCR-UA-07_wt-b-step-01.png, SCR-UA-07_wt-b-step-08.png, SCR-UA-07_wt-c-step-01.png, SCR-UA-07_wt-c-step-02.png, SCR-UA-07_wt-c-step-03.png, SCR-UA-07_wt-c-step-04.png, SCR-UA-07_wt-c-step-05.png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SCR-UA-07_empty.png;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SCR-UA-07_empty.png;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SCR-UA-07_empty.png;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SCR-UA-07_empty.png;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SCR-UA-07_empty.png;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SCR-UA-07_filled.png;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SCR-UA-07_filled.png;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SCR-UA-07_filled.png;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SCR-UA-07_filled.png;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SCR-UA-07_filled.png;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SCR-UA-07_modify.png;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SCR-UA-07_modify.png;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SCR-UA-07_modify.png;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SCR-UA-07_modify.png;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SCR-UA-07_modify.png;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SCR-UA-07_error.png;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SCR-UA-07_error.png;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SCR-UA-07_error.png;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SCR-UA-07_error.png;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SCR-UA-07_error.png; FRS section 13.2.2.</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SCR-UA-08: SCR-UA-08_pending.png, SCR-UA-08_approve.png, SCR-UA-08_second.png, SCR-UA-08_history.png, SCR-UA-08_password.png, SCR-UA-08_wt-a-step-02.png, SCR-UA-08_wt-a-step-04.png, SCR-UA-08_wt-b-step-02.png, SCR-UA-08_wt-b-step-03.png, SCR-UA-08_wt-b-step-05.png, SCR-UA-08_wt-b-step-06.png, SCR-UA-08_wt-b-step-09.png, SCR-UA-08_wt-c-step-06.png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SCR-UA-08_approve.png; FRS section 13.2.3.</a:t>
            </a:r>
          </a:p>
          <a:p>
            <a:r>
              <a:t>Personas: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SCR-UA-08_password.png; FRS section 13.2.3.</a:t>
            </a:r>
          </a:p>
          <a:p>
            <a:r>
              <a:t>Personas: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SCR-UA-08_password.png; FRS section 13.2.3.</a:t>
            </a:r>
          </a:p>
          <a:p>
            <a:r>
              <a:t>Personas: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SCR-UA-08_password.png; FRS section 13.2.3.</a:t>
            </a:r>
          </a:p>
          <a:p>
            <a:r>
              <a:t>Personas: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SCR-UA-08_pending.png; FRS section 13.2.3.</a:t>
            </a:r>
          </a:p>
          <a:p>
            <a:r>
              <a:t>Personas: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SCR-UA-08_pending.png; FRS section 13.2.3.</a:t>
            </a:r>
          </a:p>
          <a:p>
            <a:r>
              <a:t>Personas: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SCR-UA-08_pending.png; FRS section 13.2.3.</a:t>
            </a:r>
          </a:p>
          <a:p>
            <a:r>
              <a:t>Personas: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SCR-UA-08_second.png; FRS section 13.2.3.</a:t>
            </a:r>
          </a:p>
          <a:p>
            <a:r>
              <a:t>Personas: Second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SCR-UA-08_second.png; FRS section 13.2.3.</a:t>
            </a:r>
          </a:p>
          <a:p>
            <a:r>
              <a:t>Personas: Second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SCR-UA-08_second.png; FRS section 13.2.3.</a:t>
            </a:r>
          </a:p>
          <a:p>
            <a:r>
              <a:t>Personas: Second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SCR-UA-08_history.png; FRS section 13.2.3.</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SCR-UA-08_history.png; FRS section 13.2.3.</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SCR-UA-08_history.png; FRS section 13.2.3.</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SCR-UA-09: SCR-UA-09_list.png, SCR-UA-09_validated.png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SCR-UA-09_list.png; FRS section 13.2.4.</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SCR-UA-09_list.png; FRS section 13.2.4.</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SCR-UA-09_validated.png; FRS section 13.2.4.</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SCR-UA-09_validated.png; FRS section 13.2.4.</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SCR-UA-09_validated.png; FRS section 13.2.4.</a:t>
            </a:r>
          </a:p>
          <a:p>
            <a:r>
              <a:t>Personas: Requestor.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SCR-UA-10: SCR-UA-10_pending.png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SCR-UA-10_pending.png; FRS section 13.2.5.</a:t>
            </a:r>
          </a:p>
          <a:p>
            <a:r>
              <a:t>Personas: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SCR-UA-11: SCR-UA-11_list.png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SCR-UA-11_list.png; FRS section 13.3.1.</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SCR-UA-11_list.png; FRS section 13.3.1.</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SCR-UA-12: SCR-UA-12_new-profile.png, SCR-UA-12_modify-profile.png, SCR-UA-12_deactivate.png, SCR-UA-12_wt-b-step-04.png, SCR-UA-12_wt-d-step-05.png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SCR-UA-12_new-profile.png; FRS section 13.3.2.</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SCR-UA-12_new-profile.png; FRS section 13.3.2.</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SCR-UA-12_new-profile.png; FRS section 13.3.2.</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SCR-UA-12_new-profile.png; FRS section 13.3.2.</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SCR-UA-12_modify-profile.png; FRS section 13.3.2.</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SCR-UA-12_modify-profile.png; FRS section 13.3.2.</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SCR-UA-12_modify-profile.png; FRS section 13.3.2.</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SCR-UA-12_modify-profile.png; FRS section 13.3.2.</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SCR-UA-12_deactivate.png; FRS section 13.3.2.</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SCR-UA-12_deactivate.png; FRS section 13.3.2.</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SCR-UA-13: SCR-UA-13_permission.png, SCR-UA-13_action.png, SCR-UA-13_wt-d-step-01.png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SCR-UA-13_permission.png; FRS section 13.4.1.</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SCR-UA-13_permission.png; FRS section 13.4.1.</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SCR-UA-13_permission.png; FRS section 13.4.1.</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SCR-UA-13_action.png; FRS section 13.4.1.</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SCR-UA-13_action.png; FRS section 13.4.1.</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SCR-UA-13_action.png; FRS section 13.4.1.</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SCR-UA-14: SCR-UA-14_list.png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SCR-UA-14_list.png; FRS section 13.4.2.</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SCR-UA-15: SCR-UA-15_list.png, SCR-UA-15_sessions.png, SCR-UA-15_wt-b-step-10.png, SCR-UA-15_wt-c-step-09.png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SCR-UA-15_list.png; FRS section 13.4.3.</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SCR-UA-15_list.png; FRS section 13.4.3.</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SCR-UA-15_list.png; FRS section 13.4.3.</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SCR-UA-15_list.png; FRS section 13.4.3.</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SCR-UA-15_sessions.png; FRS section 13.4.3.</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SCR-UA-16: SCR-UA-16_implement.png, SCR-UA-16_dialog.png, SCR-UA-16_wt-b-step-07.png, SCR-UA-16_wt-c-step-07.png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SCR-UA-16_dialog.png; FRS section 13.4.4.</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SCR-UA-16_implement.png; FRS section 13.4.4.</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SCR-UA-16_implement.png; FRS section 13.4.4.</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SCR-UA-16_implement.png; FRS section 13.4.4.</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SCR-UA-16_implement.png; FRS section 13.4.4.</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SCR-UA-17: SCR-UA-17_audit-log.png, SCR-UA-17_group-profile.png, SCR-UA-17_user-access.png, SCR-UA-17_wt-a-step-08.png, SCR-UA-17_wt-d-step-02.png, SCR-UA-17_wt-d-step-03.png, SCR-UA-17_wt-d-step-04.png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SCR-UA-17_audit-log.png; FRS section 13.4.5.</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SCR-UA-17_audit-log.png; FRS section 13.4.5.</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SCR-UA-17_audit-log.png; FRS section 13.4.5.</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SCR-UA-17_audit-log.png; FRS section 13.4.5.</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SCR-UA-17_group-profile.png; FRS section 13.4.5.</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SCR-UA-17_group-profile.png; FRS section 13.4.5.</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SCR-UA-17_group-profile.png; FRS section 13.4.5.</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SCR-UA-17_group-profile.png; FRS section 13.4.5.</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SCR-UA-17_group-profile.png; FRS section 13.4.5.</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SCR-UA-17_user-access.png; FRS section 13.4.5.</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SCR-UA-17_user-access.png; FRS section 13.4.5.</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SCR-UA-17_user-access.png; FRS section 13.4.5.</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SCR-UA-17_user-access.png; FRS section 13.4.5.</a:t>
            </a:r>
          </a:p>
          <a:p>
            <a:r>
              <a:t>Personas: Auditor.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SCR-UA-18: SCR-UA-18_list.png, SCR-UA-18_approve.png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SCR-UA-18_list.png; FRS section 13.4.6.</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SCR-UA-18_list.png; FRS section 13.4.6.</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SCR-UA-18_list.png; FRS section 13.4.6.</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SCR-UA-18_list.png; FRS section 13.4.6.</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SCR-UA-18_approve.png; FRS section 13.4.6.</a:t>
            </a:r>
          </a:p>
          <a:p>
            <a:r>
              <a:t>Personas: Information Security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SCR-UA-19: SCR-UA-19_list.png, SCR-UA-19_new.png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SCR-UA-19_new.png; FRS section 13.4.7.</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SCR-UA-19_list.png; FRS section 13.4.7.</a:t>
            </a:r>
          </a:p>
          <a:p>
            <a:r>
              <a:t>Personas: Information Security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DO-01_document.png.</a:t>
            </a:r>
          </a:p>
          <a:p>
            <a:r>
              <a:t>Fields: Header: report name, generated by (user), as-of date, date and time generated – from the run; User Name, User ID / Windows ID, Business Unit / User Level, Status – from the user master as at the end of the as-of date; User Group Profile – the profiles held on the as-of date, derived from the access change log; Created by / Date Created, Modified by / Date Modified – the approver and the request number of the enrolment and of the last change, or the user of a direct change; Last Action / by – added, modified, deactivated or reactivated, and by whom</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DO-02_document.png.</a:t>
            </a:r>
          </a:p>
          <a:p>
            <a:r>
              <a:t>Fields: Header as DO-01, with the profile, module and active filters; Group profile – code and name, as a group heading; Module Name, Task Name – the functional area and the permission; Access – With Access or No Access; Date Created, Created by, Date Modified, Modified by – from the access change log of the profile</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DO-03_document.png.</a:t>
            </a:r>
          </a:p>
          <a:p>
            <a:r>
              <a:t>Fields: Header as DO-01, with the profile and the as-of date; Member Username, Member User ID – the members of each profile on the as-of date; Created by, Date Created, Modified by, Date Modified – who added the member and when, from the access change log</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DO-04_document.png.</a:t>
            </a:r>
          </a:p>
          <a:p>
            <a:r>
              <a:t>Fields: Header as DO-01, with the period, user and activity filters; Date, Activity – the time and the activity in the words of the BRD sample (Enroll New User, Modify User Group Profile of, Deactivate User, Reset Password of, Create Group Profile, Modify Group Profile Access of...); From, To – the value before and after (Null when none; profile codes shown as profile names); Done By, Approved By, Request No. – from the access change log and the request history; Log-in, Failed Log-in, Log-out – from the audit trail when Include Log-ins and Log-outs is ticked</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DO-05_document.png.</a:t>
            </a:r>
          </a:p>
          <a:p>
            <a:r>
              <a:t>Fields: Header as DO-01, with the period, status and request type; Request No., Request Type, User / Group Profile, Requester, Approver – from the access request; Date Created, Date Decided, Effective Date, Age (days) – from the request and its history; open requests age to today</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DO-06_document.png.</a:t>
            </a:r>
          </a:p>
          <a:p>
            <a:r>
              <a:t>Fields: Sheet User Access Matrix: Permission, Area (area code), Action class and one column per group profile code, with Y where the profile holds the permission; the first row gives the enabled users of each profile – from the role grants in force; Sheet By Action: Area, Action class, Permissions and, per profile, the permissions it holds there</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In-app notices appear under the bell and on the Notifications page; e-mails follow the protected e-mail rule of the set.</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In-app notices appear under the bell and on the Notifications page; e-mails follow the protected e-mail rule of the set.</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chapter Proposed business rules and clarifications for confirmation of the FRS (section 22).</a:t>
            </a:r>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Neutral proposals for the design; the business decides them with the review of the set.</a:t>
            </a:r>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confirm with BDOI with the review of the set.</a:t>
            </a:r>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png"/><Relationship Id="rId4"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png"/><Relationship Id="rId4"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png"/><Relationship Id="rId4"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6.png"/><Relationship Id="rId4"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image" Target="../media/image50.png"/><Relationship Id="rId7"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notesSlide" Target="../notesSlides/notesSlide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9.png"/><Relationship Id="rId4" Type="http://schemas.openxmlformats.org/officeDocument/2006/relationships/image" Target="../media/image60.png"/><Relationship Id="rId5" Type="http://schemas.openxmlformats.org/officeDocument/2006/relationships/image" Target="../media/image61.png"/><Relationship Id="rId6" Type="http://schemas.openxmlformats.org/officeDocument/2006/relationships/image" Target="../media/image62.png"/><Relationship Id="rId7" Type="http://schemas.openxmlformats.org/officeDocument/2006/relationships/notesSlide" Target="../notesSlides/notesSlide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3.png"/><Relationship Id="rId4" Type="http://schemas.openxmlformats.org/officeDocument/2006/relationships/notesSlide" Target="../notesSlides/notesSlide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4.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7.png"/><Relationship Id="rId4"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70.png"/><Relationship Id="rId6" Type="http://schemas.openxmlformats.org/officeDocument/2006/relationships/image" Target="../media/image71.png"/><Relationship Id="rId7"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notesSlide" Target="../notesSlides/notesSlide5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5.png"/><Relationship Id="rId4" Type="http://schemas.openxmlformats.org/officeDocument/2006/relationships/notesSlide" Target="../notesSlides/notesSlide6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6.png"/><Relationship Id="rId4" Type="http://schemas.openxmlformats.org/officeDocument/2006/relationships/notesSlide" Target="../notesSlides/notesSlide6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7.png"/><Relationship Id="rId4" Type="http://schemas.openxmlformats.org/officeDocument/2006/relationships/notesSlide" Target="../notesSlides/notesSlide6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8.png"/><Relationship Id="rId4" Type="http://schemas.openxmlformats.org/officeDocument/2006/relationships/notesSlide" Target="../notesSlides/notesSlide7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9.png"/><Relationship Id="rId4" Type="http://schemas.openxmlformats.org/officeDocument/2006/relationships/notesSlide" Target="../notesSlides/notesSlide7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0.png"/><Relationship Id="rId4" Type="http://schemas.openxmlformats.org/officeDocument/2006/relationships/notesSlide" Target="../notesSlides/notesSlide7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1.png"/><Relationship Id="rId4" Type="http://schemas.openxmlformats.org/officeDocument/2006/relationships/notesSlide" Target="../notesSlides/notesSlide7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2.png"/><Relationship Id="rId4" Type="http://schemas.openxmlformats.org/officeDocument/2006/relationships/notesSlide" Target="../notesSlides/notesSlide7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3.png"/><Relationship Id="rId4" Type="http://schemas.openxmlformats.org/officeDocument/2006/relationships/notesSlide" Target="../notesSlides/notesSlide7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4.png"/><Relationship Id="rId4" Type="http://schemas.openxmlformats.org/officeDocument/2006/relationships/notesSlide" Target="../notesSlides/notesSlide7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5.png"/><Relationship Id="rId4" Type="http://schemas.openxmlformats.org/officeDocument/2006/relationships/notesSlide" Target="../notesSlides/notesSlide8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6.png"/><Relationship Id="rId4" Type="http://schemas.openxmlformats.org/officeDocument/2006/relationships/notesSlide" Target="../notesSlides/notesSlide8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7.png"/><Relationship Id="rId4" Type="http://schemas.openxmlformats.org/officeDocument/2006/relationships/notesSlide" Target="../notesSlides/notesSlide8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8.png"/><Relationship Id="rId4" Type="http://schemas.openxmlformats.org/officeDocument/2006/relationships/notesSlide" Target="../notesSlides/notesSlide8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9.png"/><Relationship Id="rId4" Type="http://schemas.openxmlformats.org/officeDocument/2006/relationships/notesSlide" Target="../notesSlides/notesSlide8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0.png"/><Relationship Id="rId4" Type="http://schemas.openxmlformats.org/officeDocument/2006/relationships/notesSlide" Target="../notesSlides/notesSlide8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1.png"/><Relationship Id="rId4" Type="http://schemas.openxmlformats.org/officeDocument/2006/relationships/notesSlide" Target="../notesSlides/notesSlide8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2.png"/><Relationship Id="rId4" Type="http://schemas.openxmlformats.org/officeDocument/2006/relationships/notesSlide" Target="../notesSlides/notesSlide8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3.png"/><Relationship Id="rId4" Type="http://schemas.openxmlformats.org/officeDocument/2006/relationships/notesSlide" Target="../notesSlides/notesSlide8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4.png"/><Relationship Id="rId4" Type="http://schemas.openxmlformats.org/officeDocument/2006/relationships/notesSlide" Target="../notesSlides/notesSlide9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5.png"/><Relationship Id="rId4" Type="http://schemas.openxmlformats.org/officeDocument/2006/relationships/notesSlide" Target="../notesSlides/notesSlide9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6.png"/><Relationship Id="rId4" Type="http://schemas.openxmlformats.org/officeDocument/2006/relationships/notesSlide" Target="../notesSlides/notesSlide9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7.png"/><Relationship Id="rId4" Type="http://schemas.openxmlformats.org/officeDocument/2006/relationships/notesSlide" Target="../notesSlides/notesSlide9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8.png"/><Relationship Id="rId4" Type="http://schemas.openxmlformats.org/officeDocument/2006/relationships/notesSlide" Target="../notesSlides/notesSlide9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9.png"/><Relationship Id="rId4" Type="http://schemas.openxmlformats.org/officeDocument/2006/relationships/notesSlide" Target="../notesSlides/notesSlide9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0.png"/><Relationship Id="rId4" Type="http://schemas.openxmlformats.org/officeDocument/2006/relationships/notesSlide" Target="../notesSlides/notesSlide9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1.png"/><Relationship Id="rId4" Type="http://schemas.openxmlformats.org/officeDocument/2006/relationships/notesSlide" Target="../notesSlides/notesSlide99.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2.png"/><Relationship Id="rId4" Type="http://schemas.openxmlformats.org/officeDocument/2006/relationships/notesSlide" Target="../notesSlides/notesSlide100.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3.png"/><Relationship Id="rId4" Type="http://schemas.openxmlformats.org/officeDocument/2006/relationships/notesSlide" Target="../notesSlides/notesSlide10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4.png"/><Relationship Id="rId4" Type="http://schemas.openxmlformats.org/officeDocument/2006/relationships/notesSlide" Target="../notesSlides/notesSlide10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5.png"/><Relationship Id="rId4" Type="http://schemas.openxmlformats.org/officeDocument/2006/relationships/notesSlide" Target="../notesSlides/notesSlide10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6.png"/><Relationship Id="rId4" Type="http://schemas.openxmlformats.org/officeDocument/2006/relationships/notesSlide" Target="../notesSlides/notesSlide10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7.png"/><Relationship Id="rId4" Type="http://schemas.openxmlformats.org/officeDocument/2006/relationships/notesSlide" Target="../notesSlides/notesSlide10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8.png"/><Relationship Id="rId4" Type="http://schemas.openxmlformats.org/officeDocument/2006/relationships/notesSlide" Target="../notesSlides/notesSlide10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9.png"/><Relationship Id="rId4" Type="http://schemas.openxmlformats.org/officeDocument/2006/relationships/notesSlide" Target="../notesSlides/notesSlide10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9.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0.png"/><Relationship Id="rId4" Type="http://schemas.openxmlformats.org/officeDocument/2006/relationships/notesSlide" Target="../notesSlides/notesSlide110.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1.png"/><Relationship Id="rId4" Type="http://schemas.openxmlformats.org/officeDocument/2006/relationships/notesSlide" Target="../notesSlides/notesSlide11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2.png"/><Relationship Id="rId4" Type="http://schemas.openxmlformats.org/officeDocument/2006/relationships/notesSlide" Target="../notesSlides/notesSlide11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3.png"/><Relationship Id="rId4" Type="http://schemas.openxmlformats.org/officeDocument/2006/relationships/notesSlide" Target="../notesSlides/notesSlide1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4.png"/><Relationship Id="rId4" Type="http://schemas.openxmlformats.org/officeDocument/2006/relationships/notesSlide" Target="../notesSlides/notesSlide114.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6.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5.png"/><Relationship Id="rId4" Type="http://schemas.openxmlformats.org/officeDocument/2006/relationships/notesSlide" Target="../notesSlides/notesSlide11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6.png"/><Relationship Id="rId4" Type="http://schemas.openxmlformats.org/officeDocument/2006/relationships/notesSlide" Target="../notesSlides/notesSlide118.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7.png"/><Relationship Id="rId4" Type="http://schemas.openxmlformats.org/officeDocument/2006/relationships/notesSlide" Target="../notesSlides/notesSlide119.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8.png"/><Relationship Id="rId4" Type="http://schemas.openxmlformats.org/officeDocument/2006/relationships/notesSlide" Target="../notesSlides/notesSlide120.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9.png"/><Relationship Id="rId4" Type="http://schemas.openxmlformats.org/officeDocument/2006/relationships/notesSlide" Target="../notesSlides/notesSlide12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0.png"/><Relationship Id="rId4" Type="http://schemas.openxmlformats.org/officeDocument/2006/relationships/notesSlide" Target="../notesSlides/notesSlide12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1.png"/><Relationship Id="rId4" Type="http://schemas.openxmlformats.org/officeDocument/2006/relationships/notesSlide" Target="../notesSlides/notesSlide124.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2.png"/><Relationship Id="rId4" Type="http://schemas.openxmlformats.org/officeDocument/2006/relationships/notesSlide" Target="../notesSlides/notesSlide125.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3.png"/><Relationship Id="rId4" Type="http://schemas.openxmlformats.org/officeDocument/2006/relationships/notesSlide" Target="../notesSlides/notesSlide126.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4.png"/><Relationship Id="rId4" Type="http://schemas.openxmlformats.org/officeDocument/2006/relationships/notesSlide" Target="../notesSlides/notesSlide12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8.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9.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5.png"/><Relationship Id="rId4" Type="http://schemas.openxmlformats.org/officeDocument/2006/relationships/notesSlide" Target="../notesSlides/notesSlide130.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6.png"/><Relationship Id="rId4" Type="http://schemas.openxmlformats.org/officeDocument/2006/relationships/notesSlide" Target="../notesSlides/notesSlide13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7.png"/><Relationship Id="rId4" Type="http://schemas.openxmlformats.org/officeDocument/2006/relationships/notesSlide" Target="../notesSlides/notesSlide13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4.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8.png"/><Relationship Id="rId4" Type="http://schemas.openxmlformats.org/officeDocument/2006/relationships/notesSlide" Target="../notesSlides/notesSlide13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8.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9.png"/><Relationship Id="rId4" Type="http://schemas.openxmlformats.org/officeDocument/2006/relationships/notesSlide" Target="../notesSlides/notesSlide139.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0.png"/><Relationship Id="rId4" Type="http://schemas.openxmlformats.org/officeDocument/2006/relationships/notesSlide" Target="../notesSlides/notesSlide140.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1.png"/><Relationship Id="rId4" Type="http://schemas.openxmlformats.org/officeDocument/2006/relationships/notesSlide" Target="../notesSlides/notesSlide14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2.png"/><Relationship Id="rId4" Type="http://schemas.openxmlformats.org/officeDocument/2006/relationships/notesSlide" Target="../notesSlides/notesSlide14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3.png"/><Relationship Id="rId4" Type="http://schemas.openxmlformats.org/officeDocument/2006/relationships/notesSlide" Target="../notesSlides/notesSlide143.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4.png"/><Relationship Id="rId4" Type="http://schemas.openxmlformats.org/officeDocument/2006/relationships/notesSlide" Target="../notesSlides/notesSlide144.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5.png"/><Relationship Id="rId4" Type="http://schemas.openxmlformats.org/officeDocument/2006/relationships/notesSlide" Target="../notesSlides/notesSlide145.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6.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6.png"/><Relationship Id="rId4" Type="http://schemas.openxmlformats.org/officeDocument/2006/relationships/notesSlide" Target="../notesSlides/notesSlide148.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7.png"/><Relationship Id="rId4" Type="http://schemas.openxmlformats.org/officeDocument/2006/relationships/notesSlide" Target="../notesSlides/notesSlide149.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8.png"/><Relationship Id="rId4" Type="http://schemas.openxmlformats.org/officeDocument/2006/relationships/notesSlide" Target="../notesSlides/notesSlide150.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9.png"/><Relationship Id="rId4" Type="http://schemas.openxmlformats.org/officeDocument/2006/relationships/notesSlide" Target="../notesSlides/notesSlide15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0.png"/><Relationship Id="rId4" Type="http://schemas.openxmlformats.org/officeDocument/2006/relationships/notesSlide" Target="../notesSlides/notesSlide15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1.png"/><Relationship Id="rId4" Type="http://schemas.openxmlformats.org/officeDocument/2006/relationships/notesSlide" Target="../notesSlides/notesSlide153.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2.png"/><Relationship Id="rId4" Type="http://schemas.openxmlformats.org/officeDocument/2006/relationships/notesSlide" Target="../notesSlides/notesSlide154.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3.png"/><Relationship Id="rId4" Type="http://schemas.openxmlformats.org/officeDocument/2006/relationships/notesSlide" Target="../notesSlides/notesSlide155.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4.png"/><Relationship Id="rId4" Type="http://schemas.openxmlformats.org/officeDocument/2006/relationships/notesSlide" Target="../notesSlides/notesSlide156.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5.png"/><Relationship Id="rId4" Type="http://schemas.openxmlformats.org/officeDocument/2006/relationships/notesSlide" Target="../notesSlides/notesSlide15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6.png"/><Relationship Id="rId4" Type="http://schemas.openxmlformats.org/officeDocument/2006/relationships/notesSlide" Target="../notesSlides/notesSlide158.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7.png"/><Relationship Id="rId4" Type="http://schemas.openxmlformats.org/officeDocument/2006/relationships/notesSlide" Target="../notesSlides/notesSlide159.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8.png"/><Relationship Id="rId4" Type="http://schemas.openxmlformats.org/officeDocument/2006/relationships/notesSlide" Target="../notesSlides/notesSlide160.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9.png"/><Relationship Id="rId4" Type="http://schemas.openxmlformats.org/officeDocument/2006/relationships/notesSlide" Target="../notesSlides/notesSlide16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0.png"/><Relationship Id="rId4" Type="http://schemas.openxmlformats.org/officeDocument/2006/relationships/notesSlide" Target="../notesSlides/notesSlide16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1.png"/><Relationship Id="rId4" Type="http://schemas.openxmlformats.org/officeDocument/2006/relationships/notesSlide" Target="../notesSlides/notesSlide163.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2.png"/><Relationship Id="rId4" Type="http://schemas.openxmlformats.org/officeDocument/2006/relationships/notesSlide" Target="../notesSlides/notesSlide164.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3.png"/><Relationship Id="rId4" Type="http://schemas.openxmlformats.org/officeDocument/2006/relationships/notesSlide" Target="../notesSlides/notesSlide165.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4.png"/><Relationship Id="rId4" Type="http://schemas.openxmlformats.org/officeDocument/2006/relationships/notesSlide" Target="../notesSlides/notesSlide166.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5.png"/><Relationship Id="rId4" Type="http://schemas.openxmlformats.org/officeDocument/2006/relationships/notesSlide" Target="../notesSlides/notesSlide16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8.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9.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6.png"/><Relationship Id="rId4" Type="http://schemas.openxmlformats.org/officeDocument/2006/relationships/notesSlide" Target="../notesSlides/notesSlide170.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7.png"/><Relationship Id="rId4" Type="http://schemas.openxmlformats.org/officeDocument/2006/relationships/notesSlide" Target="../notesSlides/notesSlide171.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8.png"/><Relationship Id="rId4" Type="http://schemas.openxmlformats.org/officeDocument/2006/relationships/notesSlide" Target="../notesSlides/notesSlide17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9.png"/><Relationship Id="rId4" Type="http://schemas.openxmlformats.org/officeDocument/2006/relationships/notesSlide" Target="../notesSlides/notesSlide173.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0.png"/><Relationship Id="rId4" Type="http://schemas.openxmlformats.org/officeDocument/2006/relationships/notesSlide" Target="../notesSlides/notesSlide174.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1.png"/><Relationship Id="rId4" Type="http://schemas.openxmlformats.org/officeDocument/2006/relationships/notesSlide" Target="../notesSlides/notesSlide175.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2.png"/><Relationship Id="rId4" Type="http://schemas.openxmlformats.org/officeDocument/2006/relationships/notesSlide" Target="../notesSlides/notesSlide176.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3.png"/><Relationship Id="rId4" Type="http://schemas.openxmlformats.org/officeDocument/2006/relationships/notesSlide" Target="../notesSlides/notesSlide17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4.png"/><Relationship Id="rId4" Type="http://schemas.openxmlformats.org/officeDocument/2006/relationships/notesSlide" Target="../notesSlides/notesSlide178.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5.png"/><Relationship Id="rId4" Type="http://schemas.openxmlformats.org/officeDocument/2006/relationships/notesSlide" Target="../notesSlides/notesSlide179.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6.png"/><Relationship Id="rId4" Type="http://schemas.openxmlformats.org/officeDocument/2006/relationships/notesSlide" Target="../notesSlides/notesSlide180.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7.png"/><Relationship Id="rId4" Type="http://schemas.openxmlformats.org/officeDocument/2006/relationships/notesSlide" Target="../notesSlides/notesSlide181.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8.png"/><Relationship Id="rId4" Type="http://schemas.openxmlformats.org/officeDocument/2006/relationships/notesSlide" Target="../notesSlides/notesSlide18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3.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9.png"/><Relationship Id="rId4" Type="http://schemas.openxmlformats.org/officeDocument/2006/relationships/notesSlide" Target="../notesSlides/notesSlide184.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0.png"/><Relationship Id="rId4" Type="http://schemas.openxmlformats.org/officeDocument/2006/relationships/notesSlide" Target="../notesSlides/notesSlide185.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1.png"/><Relationship Id="rId4" Type="http://schemas.openxmlformats.org/officeDocument/2006/relationships/notesSlide" Target="../notesSlides/notesSlide186.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2.png"/><Relationship Id="rId4" Type="http://schemas.openxmlformats.org/officeDocument/2006/relationships/notesSlide" Target="../notesSlides/notesSlide18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3.png"/><Relationship Id="rId4" Type="http://schemas.openxmlformats.org/officeDocument/2006/relationships/notesSlide" Target="../notesSlides/notesSlide188.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9.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4.png"/><Relationship Id="rId4" Type="http://schemas.openxmlformats.org/officeDocument/2006/relationships/notesSlide" Target="../notesSlides/notesSlide190.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1.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5.png"/><Relationship Id="rId4" Type="http://schemas.openxmlformats.org/officeDocument/2006/relationships/notesSlide" Target="../notesSlides/notesSlide19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6.png"/><Relationship Id="rId4" Type="http://schemas.openxmlformats.org/officeDocument/2006/relationships/notesSlide" Target="../notesSlides/notesSlide193.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4.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5.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7.png"/><Relationship Id="rId4" Type="http://schemas.openxmlformats.org/officeDocument/2006/relationships/notesSlide" Target="../notesSlides/notesSlide196.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8.png"/><Relationship Id="rId4" Type="http://schemas.openxmlformats.org/officeDocument/2006/relationships/notesSlide" Target="../notesSlides/notesSlide19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9.png"/><Relationship Id="rId4" Type="http://schemas.openxmlformats.org/officeDocument/2006/relationships/notesSlide" Target="../notesSlides/notesSlide198.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0.png"/><Relationship Id="rId4" Type="http://schemas.openxmlformats.org/officeDocument/2006/relationships/notesSlide" Target="../notesSlides/notesSlide199.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1.png"/><Relationship Id="rId4" Type="http://schemas.openxmlformats.org/officeDocument/2006/relationships/notesSlide" Target="../notesSlides/notesSlide200.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2.png"/><Relationship Id="rId4" Type="http://schemas.openxmlformats.org/officeDocument/2006/relationships/notesSlide" Target="../notesSlides/notesSlide201.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3.png"/><Relationship Id="rId4" Type="http://schemas.openxmlformats.org/officeDocument/2006/relationships/notesSlide" Target="../notesSlides/notesSlide20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4.png"/><Relationship Id="rId4" Type="http://schemas.openxmlformats.org/officeDocument/2006/relationships/notesSlide" Target="../notesSlides/notesSlide203.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5.png"/><Relationship Id="rId4" Type="http://schemas.openxmlformats.org/officeDocument/2006/relationships/notesSlide" Target="../notesSlides/notesSlide204.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6.png"/><Relationship Id="rId4" Type="http://schemas.openxmlformats.org/officeDocument/2006/relationships/notesSlide" Target="../notesSlides/notesSlide205.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6.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7.png"/><Relationship Id="rId4" Type="http://schemas.openxmlformats.org/officeDocument/2006/relationships/notesSlide" Target="../notesSlides/notesSlide208.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8.png"/><Relationship Id="rId4" Type="http://schemas.openxmlformats.org/officeDocument/2006/relationships/notesSlide" Target="../notesSlides/notesSlide209.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9.png"/><Relationship Id="rId4" Type="http://schemas.openxmlformats.org/officeDocument/2006/relationships/notesSlide" Target="../notesSlides/notesSlide210.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0.png"/><Relationship Id="rId4" Type="http://schemas.openxmlformats.org/officeDocument/2006/relationships/notesSlide" Target="../notesSlides/notesSlide211.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1.png"/><Relationship Id="rId4" Type="http://schemas.openxmlformats.org/officeDocument/2006/relationships/notesSlide" Target="../notesSlides/notesSlide21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2.png"/><Relationship Id="rId4" Type="http://schemas.openxmlformats.org/officeDocument/2006/relationships/notesSlide" Target="../notesSlides/notesSlide213.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4.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3.png"/><Relationship Id="rId4" Type="http://schemas.openxmlformats.org/officeDocument/2006/relationships/notesSlide" Target="../notesSlides/notesSlide215.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6.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4.png"/><Relationship Id="rId4" Type="http://schemas.openxmlformats.org/officeDocument/2006/relationships/notesSlide" Target="../notesSlides/notesSlide218.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5.png"/><Relationship Id="rId4" Type="http://schemas.openxmlformats.org/officeDocument/2006/relationships/notesSlide" Target="../notesSlides/notesSlide219.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6.png"/><Relationship Id="rId4" Type="http://schemas.openxmlformats.org/officeDocument/2006/relationships/notesSlide" Target="../notesSlides/notesSlide220.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7.png"/><Relationship Id="rId4" Type="http://schemas.openxmlformats.org/officeDocument/2006/relationships/notesSlide" Target="../notesSlides/notesSlide221.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8.png"/><Relationship Id="rId4" Type="http://schemas.openxmlformats.org/officeDocument/2006/relationships/notesSlide" Target="../notesSlides/notesSlide22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3.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4.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9.png"/><Relationship Id="rId4" Type="http://schemas.openxmlformats.org/officeDocument/2006/relationships/notesSlide" Target="../notesSlides/notesSlide225.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0.png"/><Relationship Id="rId4" Type="http://schemas.openxmlformats.org/officeDocument/2006/relationships/notesSlide" Target="../notesSlides/notesSlide226.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1.png"/><Relationship Id="rId4" Type="http://schemas.openxmlformats.org/officeDocument/2006/relationships/notesSlide" Target="../notesSlides/notesSlide22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2.png"/><Relationship Id="rId4" Type="http://schemas.openxmlformats.org/officeDocument/2006/relationships/notesSlide" Target="../notesSlides/notesSlide228.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3.png"/><Relationship Id="rId4" Type="http://schemas.openxmlformats.org/officeDocument/2006/relationships/notesSlide" Target="../notesSlides/notesSlide229.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0.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1.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4.png"/><Relationship Id="rId4" Type="http://schemas.openxmlformats.org/officeDocument/2006/relationships/notesSlide" Target="../notesSlides/notesSlide23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5.png"/><Relationship Id="rId4" Type="http://schemas.openxmlformats.org/officeDocument/2006/relationships/notesSlide" Target="../notesSlides/notesSlide233.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6.png"/><Relationship Id="rId4" Type="http://schemas.openxmlformats.org/officeDocument/2006/relationships/notesSlide" Target="../notesSlides/notesSlide234.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7.png"/><Relationship Id="rId4" Type="http://schemas.openxmlformats.org/officeDocument/2006/relationships/notesSlide" Target="../notesSlides/notesSlide235.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8.png"/><Relationship Id="rId4" Type="http://schemas.openxmlformats.org/officeDocument/2006/relationships/notesSlide" Target="../notesSlides/notesSlide236.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9.png"/><Relationship Id="rId4" Type="http://schemas.openxmlformats.org/officeDocument/2006/relationships/notesSlide" Target="../notesSlides/notesSlide23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0.png"/><Relationship Id="rId4" Type="http://schemas.openxmlformats.org/officeDocument/2006/relationships/notesSlide" Target="../notesSlides/notesSlide238.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1.png"/><Relationship Id="rId4" Type="http://schemas.openxmlformats.org/officeDocument/2006/relationships/notesSlide" Target="../notesSlides/notesSlide239.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2.png"/><Relationship Id="rId4" Type="http://schemas.openxmlformats.org/officeDocument/2006/relationships/notesSlide" Target="../notesSlides/notesSlide240.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3.png"/><Relationship Id="rId4" Type="http://schemas.openxmlformats.org/officeDocument/2006/relationships/notesSlide" Target="../notesSlides/notesSlide241.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4.png"/><Relationship Id="rId4" Type="http://schemas.openxmlformats.org/officeDocument/2006/relationships/notesSlide" Target="../notesSlides/notesSlide24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5.png"/><Relationship Id="rId4" Type="http://schemas.openxmlformats.org/officeDocument/2006/relationships/notesSlide" Target="../notesSlides/notesSlide243.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6.png"/><Relationship Id="rId4" Type="http://schemas.openxmlformats.org/officeDocument/2006/relationships/notesSlide" Target="../notesSlides/notesSlide244.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5.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7.png"/><Relationship Id="rId4" Type="http://schemas.openxmlformats.org/officeDocument/2006/relationships/notesSlide" Target="../notesSlides/notesSlide246.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8.png"/><Relationship Id="rId4" Type="http://schemas.openxmlformats.org/officeDocument/2006/relationships/notesSlide" Target="../notesSlides/notesSlide24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9.png"/><Relationship Id="rId4" Type="http://schemas.openxmlformats.org/officeDocument/2006/relationships/notesSlide" Target="../notesSlides/notesSlide248.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0.png"/><Relationship Id="rId4" Type="http://schemas.openxmlformats.org/officeDocument/2006/relationships/notesSlide" Target="../notesSlides/notesSlide249.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1.png"/><Relationship Id="rId4" Type="http://schemas.openxmlformats.org/officeDocument/2006/relationships/notesSlide" Target="../notesSlides/notesSlide250.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1.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2.png"/><Relationship Id="rId4" Type="http://schemas.openxmlformats.org/officeDocument/2006/relationships/notesSlide" Target="../notesSlides/notesSlide25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3.png"/><Relationship Id="rId4" Type="http://schemas.openxmlformats.org/officeDocument/2006/relationships/notesSlide" Target="../notesSlides/notesSlide253.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4.png"/><Relationship Id="rId4" Type="http://schemas.openxmlformats.org/officeDocument/2006/relationships/notesSlide" Target="../notesSlides/notesSlide254.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5.png"/><Relationship Id="rId4" Type="http://schemas.openxmlformats.org/officeDocument/2006/relationships/notesSlide" Target="../notesSlides/notesSlide255.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6.png"/><Relationship Id="rId4" Type="http://schemas.openxmlformats.org/officeDocument/2006/relationships/notesSlide" Target="../notesSlides/notesSlide256.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7.png"/><Relationship Id="rId4" Type="http://schemas.openxmlformats.org/officeDocument/2006/relationships/notesSlide" Target="../notesSlides/notesSlide25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8.png"/><Relationship Id="rId4" Type="http://schemas.openxmlformats.org/officeDocument/2006/relationships/notesSlide" Target="../notesSlides/notesSlide258.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9.png"/><Relationship Id="rId4" Type="http://schemas.openxmlformats.org/officeDocument/2006/relationships/notesSlide" Target="../notesSlides/notesSlide259.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0.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1.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3.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4.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5.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ient-logo.png"/>
          <p:cNvPicPr>
            <a:picLocks noChangeAspect="1"/>
          </p:cNvPicPr>
          <p:nvPr/>
        </p:nvPicPr>
        <p:blipFill>
          <a:blip r:embed="rId2"/>
          <a:stretch>
            <a:fillRect/>
          </a:stretch>
        </p:blipFill>
        <p:spPr>
          <a:xfrm>
            <a:off x="548640" y="548640"/>
            <a:ext cx="2926080" cy="596053"/>
          </a:xfrm>
          <a:prstGeom prst="rect">
            <a:avLst/>
          </a:prstGeom>
        </p:spPr>
      </p:pic>
      <p:sp>
        <p:nvSpPr>
          <p:cNvPr id="3" name="TextBox 2"/>
          <p:cNvSpPr txBox="1"/>
          <p:nvPr/>
        </p:nvSpPr>
        <p:spPr>
          <a:xfrm>
            <a:off x="548640" y="2194560"/>
            <a:ext cx="10058400" cy="1280160"/>
          </a:xfrm>
          <a:prstGeom prst="rect">
            <a:avLst/>
          </a:prstGeom>
          <a:noFill/>
        </p:spPr>
        <p:txBody>
          <a:bodyPr wrap="square" anchor="b" lIns="45720" rIns="45720">
            <a:spAutoFit/>
          </a:bodyPr>
          <a:lstStyle/>
          <a:p>
            <a:r>
              <a:rPr sz="4000" b="1" i="0">
                <a:solidFill>
                  <a:srgbClr val="004EA8"/>
                </a:solidFill>
                <a:latin typeface="Arial"/>
              </a:rPr>
              <a:t>UX Screen Deck: BRD-11 User Access Maintenance</a:t>
            </a:r>
          </a:p>
        </p:txBody>
      </p:sp>
      <p:sp>
        <p:nvSpPr>
          <p:cNvPr id="4" name="Rectangle 3"/>
          <p:cNvSpPr/>
          <p:nvPr/>
        </p:nvSpPr>
        <p:spPr>
          <a:xfrm>
            <a:off x="548640" y="3611880"/>
            <a:ext cx="201168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794760"/>
            <a:ext cx="10058400" cy="548640"/>
          </a:xfrm>
          <a:prstGeom prst="rect">
            <a:avLst/>
          </a:prstGeom>
          <a:noFill/>
        </p:spPr>
        <p:txBody>
          <a:bodyPr wrap="square" anchor="t" lIns="45720" rIns="45720">
            <a:spAutoFit/>
          </a:bodyPr>
          <a:lstStyle/>
          <a:p>
            <a:r>
              <a:rPr sz="2000" b="0" i="0">
                <a:solidFill>
                  <a:srgbClr val="2E2E2E"/>
                </a:solidFill>
                <a:latin typeface="Arial"/>
              </a:rPr>
              <a:t>BRD-11 User Access Maintenance: every screen, persona by persona and flow by flow, for the BDOI UX Design team</a:t>
            </a:r>
          </a:p>
        </p:txBody>
      </p:sp>
      <p:sp>
        <p:nvSpPr>
          <p:cNvPr id="6" name="TextBox 5"/>
          <p:cNvSpPr txBox="1"/>
          <p:nvPr/>
        </p:nvSpPr>
        <p:spPr>
          <a:xfrm>
            <a:off x="548640" y="4343400"/>
            <a:ext cx="10058400" cy="457200"/>
          </a:xfrm>
          <a:prstGeom prst="rect">
            <a:avLst/>
          </a:prstGeom>
          <a:noFill/>
        </p:spPr>
        <p:txBody>
          <a:bodyPr wrap="square" anchor="t" lIns="45720" rIns="45720">
            <a:spAutoFit/>
          </a:bodyPr>
          <a:lstStyle/>
          <a:p>
            <a:r>
              <a:rPr sz="1600" b="0" i="0">
                <a:solidFill>
                  <a:srgbClr val="656565"/>
                </a:solidFill>
                <a:latin typeface="Arial"/>
              </a:rPr>
              <a:t>BIBS – BDOI Broker System</a:t>
            </a:r>
          </a:p>
        </p:txBody>
      </p:sp>
      <p:sp>
        <p:nvSpPr>
          <p:cNvPr id="7" name="TextBox 6"/>
          <p:cNvSpPr txBox="1"/>
          <p:nvPr/>
        </p:nvSpPr>
        <p:spPr>
          <a:xfrm>
            <a:off x="548640" y="5943600"/>
            <a:ext cx="8229600" cy="365760"/>
          </a:xfrm>
          <a:prstGeom prst="rect">
            <a:avLst/>
          </a:prstGeom>
          <a:noFill/>
        </p:spPr>
        <p:txBody>
          <a:bodyPr wrap="square" anchor="t" lIns="45720" rIns="45720">
            <a:spAutoFit/>
          </a:bodyPr>
          <a:lstStyle/>
          <a:p>
            <a:r>
              <a:rPr sz="1100" b="0" i="0">
                <a:solidFill>
                  <a:srgbClr val="656565"/>
                </a:solidFill>
                <a:latin typeface="Arial"/>
              </a:rPr>
              <a:t>BDO Insurance and Reinsurance Brokers, Inc. | Version 2.0 | 27 September 2026 | Confidential</a:t>
            </a:r>
          </a:p>
        </p:txBody>
      </p:sp>
      <p:sp>
        <p:nvSpPr>
          <p:cNvPr id="8" name="TextBox 7"/>
          <p:cNvSpPr txBox="1"/>
          <p:nvPr/>
        </p:nvSpPr>
        <p:spPr>
          <a:xfrm>
            <a:off x="8351215" y="5897880"/>
            <a:ext cx="1828800" cy="365760"/>
          </a:xfrm>
          <a:prstGeom prst="rect">
            <a:avLst/>
          </a:prstGeom>
          <a:noFill/>
        </p:spPr>
        <p:txBody>
          <a:bodyPr wrap="square" anchor="ctr" lIns="45720" rIns="45720">
            <a:spAutoFit/>
          </a:bodyPr>
          <a:lstStyle/>
          <a:p>
            <a:pPr algn="r"/>
            <a:r>
              <a:rPr sz="1000" b="0" i="0">
                <a:solidFill>
                  <a:srgbClr val="656565"/>
                </a:solidFill>
                <a:latin typeface="Arial"/>
              </a:rPr>
              <a:t>Prepared by</a:t>
            </a:r>
          </a:p>
        </p:txBody>
      </p:sp>
      <p:pic>
        <p:nvPicPr>
          <p:cNvPr id="9" name="Picture 8" descr="iorta-technxt.png"/>
          <p:cNvPicPr>
            <a:picLocks noChangeAspect="1"/>
          </p:cNvPicPr>
          <p:nvPr/>
        </p:nvPicPr>
        <p:blipFill>
          <a:blip r:embed="rId3"/>
          <a:stretch>
            <a:fillRect/>
          </a:stretch>
        </p:blipFill>
        <p:spPr>
          <a:xfrm>
            <a:off x="10271455" y="5806440"/>
            <a:ext cx="1371600" cy="40421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Purpose of this deck for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Every screen of BRD-11 User Access Maintenance as the FRS v2.0 specifies it, so that the UX Design team designs in parallel with the business review</a:t>
            </a:r>
          </a:p>
          <a:p>
            <a:pPr lvl="1">
              <a:spcAft>
                <a:spcPts val="600"/>
              </a:spcAft>
            </a:pPr>
            <a:r>
              <a:rPr sz="1400">
                <a:solidFill>
                  <a:srgbClr val="656565"/>
                </a:solidFill>
                <a:latin typeface="Arial"/>
              </a:rPr>
              <a:t>–  </a:t>
            </a:r>
            <a:r>
              <a:rPr sz="1400">
                <a:solidFill>
                  <a:srgbClr val="4B4B4B"/>
                </a:solidFill>
                <a:latin typeface="Arial"/>
              </a:rPr>
              <a:t>19 screens, 99 screen images, 44 screen states, 8 personas, 4 end-to-end flows</a:t>
            </a:r>
          </a:p>
          <a:p>
            <a:pPr>
              <a:spcAft>
                <a:spcPts val="600"/>
              </a:spcAft>
            </a:pPr>
            <a:r>
              <a:rPr sz="1600">
                <a:solidFill>
                  <a:srgbClr val="004EA8"/>
                </a:solidFill>
                <a:latin typeface="Arial"/>
              </a:rPr>
              <a:t>•  </a:t>
            </a:r>
            <a:r>
              <a:rPr sz="1600">
                <a:solidFill>
                  <a:srgbClr val="4B4B4B"/>
                </a:solidFill>
                <a:latin typeface="Arial"/>
              </a:rPr>
              <a:t>Persona by persona: who they are, their landing page and menu, the screens they open, the flows they take part in</a:t>
            </a:r>
          </a:p>
          <a:p>
            <a:pPr>
              <a:spcAft>
                <a:spcPts val="600"/>
              </a:spcAft>
            </a:pPr>
            <a:r>
              <a:rPr sz="1600">
                <a:solidFill>
                  <a:srgbClr val="004EA8"/>
                </a:solidFill>
                <a:latin typeface="Arial"/>
              </a:rPr>
              <a:t>•  </a:t>
            </a:r>
            <a:r>
              <a:rPr sz="1600">
                <a:solidFill>
                  <a:srgbClr val="4B4B4B"/>
                </a:solidFill>
                <a:latin typeface="Arial"/>
              </a:rPr>
              <a:t>Flow by flow: every end-to-end flow as a swimlane of the personas, then one slide per step with the screen, what the user does, what the system does, the next step and the messages shown</a:t>
            </a:r>
          </a:p>
          <a:p>
            <a:pPr>
              <a:spcAft>
                <a:spcPts val="600"/>
              </a:spcAft>
            </a:pPr>
            <a:r>
              <a:rPr sz="1600">
                <a:solidFill>
                  <a:srgbClr val="004EA8"/>
                </a:solidFill>
                <a:latin typeface="Arial"/>
              </a:rPr>
              <a:t>•  </a:t>
            </a:r>
            <a:r>
              <a:rPr sz="1600">
                <a:solidFill>
                  <a:srgbClr val="4B4B4B"/>
                </a:solidFill>
                <a:latin typeface="Arial"/>
              </a:rPr>
              <a:t>Screen by screen: the numbered callouts, fields, actions and every state of each screen</a:t>
            </a:r>
          </a:p>
          <a:p>
            <a:pPr>
              <a:spcAft>
                <a:spcPts val="600"/>
              </a:spcAft>
            </a:pPr>
            <a:r>
              <a:rPr sz="1600">
                <a:solidFill>
                  <a:srgbClr val="004EA8"/>
                </a:solidFill>
                <a:latin typeface="Arial"/>
              </a:rPr>
              <a:t>•  </a:t>
            </a:r>
            <a:r>
              <a:rPr sz="1600">
                <a:solidFill>
                  <a:srgbClr val="4B4B4B"/>
                </a:solidFill>
                <a:latin typeface="Arial"/>
              </a:rPr>
              <a:t>Business and design content only: the screens, the words on them, the rules the user meets and the points to confirm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How to use the deck, the register and the image package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a:t>
            </a:r>
          </a:p>
        </p:txBody>
      </p:sp>
      <p:sp>
        <p:nvSpPr>
          <p:cNvPr id="9" name="Rectangle 8"/>
          <p:cNvSpPr/>
          <p:nvPr/>
        </p:nvSpPr>
        <p:spPr>
          <a:xfrm>
            <a:off x="548640"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25880"/>
            <a:ext cx="3515258" cy="457200"/>
          </a:xfrm>
          <a:prstGeom prst="rect">
            <a:avLst/>
          </a:prstGeom>
          <a:noFill/>
        </p:spPr>
        <p:txBody>
          <a:bodyPr wrap="square" anchor="ctr" lIns="45720" rIns="45720">
            <a:spAutoFit/>
          </a:bodyPr>
          <a:lstStyle/>
          <a:p>
            <a:r>
              <a:rPr sz="1500" b="1" i="0">
                <a:solidFill>
                  <a:srgbClr val="FFFFFF"/>
                </a:solidFill>
                <a:latin typeface="Arial"/>
              </a:rPr>
              <a:t>07 UX Screen Deck</a:t>
            </a:r>
          </a:p>
        </p:txBody>
      </p:sp>
      <p:sp>
        <p:nvSpPr>
          <p:cNvPr id="11" name="Rectangle 10"/>
          <p:cNvSpPr/>
          <p:nvPr/>
        </p:nvSpPr>
        <p:spPr>
          <a:xfrm>
            <a:off x="548640"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Read the design foundation and the navigation first</a:t>
            </a:r>
          </a:p>
          <a:p>
            <a:pPr>
              <a:spcAft>
                <a:spcPts val="600"/>
              </a:spcAft>
            </a:pPr>
            <a:r>
              <a:rPr sz="1200">
                <a:solidFill>
                  <a:srgbClr val="004EA8"/>
                </a:solidFill>
                <a:latin typeface="Arial"/>
              </a:rPr>
              <a:t>•  </a:t>
            </a:r>
            <a:r>
              <a:rPr sz="1200">
                <a:solidFill>
                  <a:srgbClr val="4B4B4B"/>
                </a:solidFill>
                <a:latin typeface="Arial"/>
              </a:rPr>
              <a:t>Then a persona, a flow or a screen: the screen ID (SCR-...) links the three parts</a:t>
            </a:r>
          </a:p>
          <a:p>
            <a:pPr>
              <a:spcAft>
                <a:spcPts val="600"/>
              </a:spcAft>
            </a:pPr>
            <a:r>
              <a:rPr sz="1200">
                <a:solidFill>
                  <a:srgbClr val="004EA8"/>
                </a:solidFill>
                <a:latin typeface="Arial"/>
              </a:rPr>
              <a:t>•  </a:t>
            </a:r>
            <a:r>
              <a:rPr sz="1200">
                <a:solidFill>
                  <a:srgbClr val="4B4B4B"/>
                </a:solidFill>
                <a:latin typeface="Arial"/>
              </a:rPr>
              <a:t>Each image slide names its state; tall screens continue on the next slide</a:t>
            </a:r>
          </a:p>
          <a:p>
            <a:pPr>
              <a:spcAft>
                <a:spcPts val="600"/>
              </a:spcAft>
            </a:pPr>
            <a:r>
              <a:rPr sz="1200">
                <a:solidFill>
                  <a:srgbClr val="004EA8"/>
                </a:solidFill>
                <a:latin typeface="Arial"/>
              </a:rPr>
              <a:t>•  </a:t>
            </a:r>
            <a:r>
              <a:rPr sz="1200">
                <a:solidFill>
                  <a:srgbClr val="4B4B4B"/>
                </a:solidFill>
                <a:latin typeface="Arial"/>
              </a:rPr>
              <a:t>Speaker notes give the image file and the FRS section</a:t>
            </a:r>
          </a:p>
        </p:txBody>
      </p:sp>
      <p:sp>
        <p:nvSpPr>
          <p:cNvPr id="13" name="Rectangle 12"/>
          <p:cNvSpPr/>
          <p:nvPr/>
        </p:nvSpPr>
        <p:spPr>
          <a:xfrm>
            <a:off x="4338218"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9658" y="1325880"/>
            <a:ext cx="3515258" cy="457200"/>
          </a:xfrm>
          <a:prstGeom prst="rect">
            <a:avLst/>
          </a:prstGeom>
          <a:noFill/>
        </p:spPr>
        <p:txBody>
          <a:bodyPr wrap="square" anchor="ctr" lIns="45720" rIns="45720">
            <a:spAutoFit/>
          </a:bodyPr>
          <a:lstStyle/>
          <a:p>
            <a:r>
              <a:rPr sz="1500" b="1" i="0">
                <a:solidFill>
                  <a:srgbClr val="FFFFFF"/>
                </a:solidFill>
                <a:latin typeface="Arial"/>
              </a:rPr>
              <a:t>08 UX screen register</a:t>
            </a:r>
          </a:p>
        </p:txBody>
      </p:sp>
      <p:sp>
        <p:nvSpPr>
          <p:cNvPr id="15" name="Rectangle 14"/>
          <p:cNvSpPr/>
          <p:nvPr/>
        </p:nvSpPr>
        <p:spPr>
          <a:xfrm>
            <a:off x="4338218"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9658"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One row per screen image, with the screen ID, personas, flow and step, state, FRS section and requirements</a:t>
            </a:r>
          </a:p>
          <a:p>
            <a:pPr>
              <a:spcAft>
                <a:spcPts val="600"/>
              </a:spcAft>
            </a:pPr>
            <a:r>
              <a:rPr sz="1200">
                <a:solidFill>
                  <a:srgbClr val="004EA8"/>
                </a:solidFill>
                <a:latin typeface="Arial"/>
              </a:rPr>
              <a:t>•  </a:t>
            </a:r>
            <a:r>
              <a:rPr sz="1200">
                <a:solidFill>
                  <a:srgbClr val="4B4B4B"/>
                </a:solidFill>
                <a:latin typeface="Arial"/>
              </a:rPr>
              <a:t>The UX Design team sets UXD status and UXD comments on each row</a:t>
            </a:r>
          </a:p>
          <a:p>
            <a:pPr>
              <a:spcAft>
                <a:spcPts val="600"/>
              </a:spcAft>
            </a:pPr>
            <a:r>
              <a:rPr sz="1200">
                <a:solidFill>
                  <a:srgbClr val="004EA8"/>
                </a:solidFill>
                <a:latin typeface="Arial"/>
              </a:rPr>
              <a:t>•  </a:t>
            </a:r>
            <a:r>
              <a:rPr sz="1200">
                <a:solidFill>
                  <a:srgbClr val="4B4B4B"/>
                </a:solidFill>
                <a:latin typeface="Arial"/>
              </a:rPr>
              <a:t>Changed in this issue marks the rows to revisit, with the change reference</a:t>
            </a:r>
          </a:p>
          <a:p>
            <a:pPr>
              <a:spcAft>
                <a:spcPts val="600"/>
              </a:spcAft>
            </a:pPr>
            <a:r>
              <a:rPr sz="1200">
                <a:solidFill>
                  <a:srgbClr val="004EA8"/>
                </a:solidFill>
                <a:latin typeface="Arial"/>
              </a:rPr>
              <a:t>•  </a:t>
            </a:r>
            <a:r>
              <a:rPr sz="1200">
                <a:solidFill>
                  <a:srgbClr val="4B4B4B"/>
                </a:solidFill>
                <a:latin typeface="Arial"/>
              </a:rPr>
              <a:t>Questions go to the Questions and comments sheet</a:t>
            </a:r>
          </a:p>
        </p:txBody>
      </p:sp>
      <p:sp>
        <p:nvSpPr>
          <p:cNvPr id="17" name="Rectangle 16"/>
          <p:cNvSpPr/>
          <p:nvPr/>
        </p:nvSpPr>
        <p:spPr>
          <a:xfrm>
            <a:off x="8127796"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9236" y="1325880"/>
            <a:ext cx="3515258" cy="457200"/>
          </a:xfrm>
          <a:prstGeom prst="rect">
            <a:avLst/>
          </a:prstGeom>
          <a:noFill/>
        </p:spPr>
        <p:txBody>
          <a:bodyPr wrap="square" anchor="ctr" lIns="45720" rIns="45720">
            <a:spAutoFit/>
          </a:bodyPr>
          <a:lstStyle/>
          <a:p>
            <a:r>
              <a:rPr sz="1500" b="1" i="0">
                <a:solidFill>
                  <a:srgbClr val="FFFFFF"/>
                </a:solidFill>
                <a:latin typeface="Arial"/>
              </a:rPr>
              <a:t>09 Image package</a:t>
            </a:r>
          </a:p>
        </p:txBody>
      </p:sp>
      <p:sp>
        <p:nvSpPr>
          <p:cNvPr id="19" name="Rectangle 18"/>
          <p:cNvSpPr/>
          <p:nvPr/>
        </p:nvSpPr>
        <p:spPr>
          <a:xfrm>
            <a:off x="8127796"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9236"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Every screen image at twice the screen resolution (PNG), named &lt;Screen ID&gt;_&lt;state&gt;.png as in the register</a:t>
            </a:r>
          </a:p>
          <a:p>
            <a:pPr>
              <a:spcAft>
                <a:spcPts val="600"/>
              </a:spcAft>
            </a:pPr>
            <a:r>
              <a:rPr sz="1200">
                <a:solidFill>
                  <a:srgbClr val="004EA8"/>
                </a:solidFill>
                <a:latin typeface="Arial"/>
              </a:rPr>
              <a:t>•  </a:t>
            </a:r>
            <a:r>
              <a:rPr sz="1200">
                <a:solidFill>
                  <a:srgbClr val="4B4B4B"/>
                </a:solidFill>
                <a:latin typeface="Arial"/>
              </a:rPr>
              <a:t>The crops of the shared components in the folder components</a:t>
            </a:r>
          </a:p>
          <a:p>
            <a:pPr>
              <a:spcAft>
                <a:spcPts val="600"/>
              </a:spcAft>
            </a:pPr>
            <a:r>
              <a:rPr sz="1200">
                <a:solidFill>
                  <a:srgbClr val="004EA8"/>
                </a:solidFill>
                <a:latin typeface="Arial"/>
              </a:rPr>
              <a:t>•  </a:t>
            </a:r>
            <a:r>
              <a:rPr sz="1200">
                <a:solidFill>
                  <a:srgbClr val="4B4B4B"/>
                </a:solidFill>
                <a:latin typeface="Arial"/>
              </a:rPr>
              <a:t>The register as CSV, to import into the design tool</a:t>
            </a:r>
          </a:p>
          <a:p>
            <a:pPr>
              <a:spcAft>
                <a:spcPts val="600"/>
              </a:spcAft>
            </a:pPr>
            <a:r>
              <a:rPr sz="1200">
                <a:solidFill>
                  <a:srgbClr val="004EA8"/>
                </a:solidFill>
                <a:latin typeface="Arial"/>
              </a:rPr>
              <a:t>•  </a:t>
            </a:r>
            <a:r>
              <a:rPr sz="1200">
                <a:solidFill>
                  <a:srgbClr val="4B4B4B"/>
                </a:solidFill>
                <a:latin typeface="Arial"/>
              </a:rPr>
              <a:t>Replaced as a whole with each issue of the set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How an FRS change reaches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a:t>
            </a:r>
          </a:p>
        </p:txBody>
      </p:sp>
      <p:sp>
        <p:nvSpPr>
          <p:cNvPr id="9" name="Rounded Rectangle 8"/>
          <p:cNvSpPr/>
          <p:nvPr/>
        </p:nvSpPr>
        <p:spPr>
          <a:xfrm>
            <a:off x="548640"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1" name="TextBox 10"/>
          <p:cNvSpPr txBox="1"/>
          <p:nvPr/>
        </p:nvSpPr>
        <p:spPr>
          <a:xfrm>
            <a:off x="1115568" y="1490472"/>
            <a:ext cx="1824913" cy="502920"/>
          </a:xfrm>
          <a:prstGeom prst="rect">
            <a:avLst/>
          </a:prstGeom>
          <a:noFill/>
        </p:spPr>
        <p:txBody>
          <a:bodyPr wrap="square" anchor="ctr" lIns="45720" rIns="45720">
            <a:spAutoFit/>
          </a:bodyPr>
          <a:lstStyle/>
          <a:p>
            <a:r>
              <a:rPr sz="1300" b="1" i="0">
                <a:solidFill>
                  <a:srgbClr val="004EA8"/>
                </a:solidFill>
                <a:latin typeface="Arial"/>
              </a:rPr>
              <a:t>Change raised</a:t>
            </a:r>
          </a:p>
        </p:txBody>
      </p:sp>
      <p:sp>
        <p:nvSpPr>
          <p:cNvPr id="12" name="TextBox 11"/>
          <p:cNvSpPr txBox="1"/>
          <p:nvPr/>
        </p:nvSpPr>
        <p:spPr>
          <a:xfrm>
            <a:off x="658368" y="2057400"/>
            <a:ext cx="2245537" cy="822960"/>
          </a:xfrm>
          <a:prstGeom prst="rect">
            <a:avLst/>
          </a:prstGeom>
          <a:noFill/>
        </p:spPr>
        <p:txBody>
          <a:bodyPr wrap="square" anchor="t" lIns="45720" rIns="45720">
            <a:spAutoFit/>
          </a:bodyPr>
          <a:lstStyle/>
          <a:p>
            <a:r>
              <a:rPr sz="1000" b="0" i="0">
                <a:solidFill>
                  <a:srgbClr val="4B4B4B"/>
                </a:solidFill>
                <a:latin typeface="Arial"/>
              </a:rPr>
              <a:t>A comment of the sign-off workbook or a change request of the Change Management Register gets its change reference</a:t>
            </a:r>
          </a:p>
        </p:txBody>
      </p:sp>
      <p:sp>
        <p:nvSpPr>
          <p:cNvPr id="13" name="TextBox 12"/>
          <p:cNvSpPr txBox="1"/>
          <p:nvPr/>
        </p:nvSpPr>
        <p:spPr>
          <a:xfrm>
            <a:off x="658368" y="2971800"/>
            <a:ext cx="2245537" cy="384048"/>
          </a:xfrm>
          <a:prstGeom prst="rect">
            <a:avLst/>
          </a:prstGeom>
          <a:noFill/>
        </p:spPr>
        <p:txBody>
          <a:bodyPr wrap="square" anchor="t" lIns="45720" rIns="45720">
            <a:spAutoFit/>
          </a:bodyPr>
          <a:lstStyle/>
          <a:p>
            <a:r>
              <a:rPr sz="1000" b="1" i="0">
                <a:solidFill>
                  <a:srgbClr val="2E2E2E"/>
                </a:solidFill>
                <a:latin typeface="Arial"/>
              </a:rPr>
              <a:t>Business and project team</a:t>
            </a:r>
          </a:p>
        </p:txBody>
      </p:sp>
      <p:sp>
        <p:nvSpPr>
          <p:cNvPr id="14" name="Right Arrow 13"/>
          <p:cNvSpPr/>
          <p:nvPr/>
        </p:nvSpPr>
        <p:spPr>
          <a:xfrm>
            <a:off x="3077641"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25113"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4841"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7" name="TextBox 16"/>
          <p:cNvSpPr txBox="1"/>
          <p:nvPr/>
        </p:nvSpPr>
        <p:spPr>
          <a:xfrm>
            <a:off x="3992041" y="1490472"/>
            <a:ext cx="1824913" cy="502920"/>
          </a:xfrm>
          <a:prstGeom prst="rect">
            <a:avLst/>
          </a:prstGeom>
          <a:noFill/>
        </p:spPr>
        <p:txBody>
          <a:bodyPr wrap="square" anchor="ctr" lIns="45720" rIns="45720">
            <a:spAutoFit/>
          </a:bodyPr>
          <a:lstStyle/>
          <a:p>
            <a:r>
              <a:rPr sz="1300" b="1" i="0">
                <a:solidFill>
                  <a:srgbClr val="004EA8"/>
                </a:solidFill>
                <a:latin typeface="Arial"/>
              </a:rPr>
              <a:t>Screens named</a:t>
            </a:r>
          </a:p>
        </p:txBody>
      </p:sp>
      <p:sp>
        <p:nvSpPr>
          <p:cNvPr id="18" name="TextBox 17"/>
          <p:cNvSpPr txBox="1"/>
          <p:nvPr/>
        </p:nvSpPr>
        <p:spPr>
          <a:xfrm>
            <a:off x="3534841" y="2057400"/>
            <a:ext cx="2245537" cy="822960"/>
          </a:xfrm>
          <a:prstGeom prst="rect">
            <a:avLst/>
          </a:prstGeom>
          <a:noFill/>
        </p:spPr>
        <p:txBody>
          <a:bodyPr wrap="square" anchor="t" lIns="45720" rIns="45720">
            <a:spAutoFit/>
          </a:bodyPr>
          <a:lstStyle/>
          <a:p>
            <a:r>
              <a:rPr sz="1000" b="0" i="0">
                <a:solidFill>
                  <a:srgbClr val="4B4B4B"/>
                </a:solidFill>
                <a:latin typeface="Arial"/>
              </a:rPr>
              <a:t>The change names the FRS section; the map at the end of this deck turns the section into the screen IDs</a:t>
            </a:r>
          </a:p>
        </p:txBody>
      </p:sp>
      <p:sp>
        <p:nvSpPr>
          <p:cNvPr id="19" name="TextBox 18"/>
          <p:cNvSpPr txBox="1"/>
          <p:nvPr/>
        </p:nvSpPr>
        <p:spPr>
          <a:xfrm>
            <a:off x="3534841" y="2971800"/>
            <a:ext cx="2245537" cy="384048"/>
          </a:xfrm>
          <a:prstGeom prst="rect">
            <a:avLst/>
          </a:prstGeom>
          <a:noFill/>
        </p:spPr>
        <p:txBody>
          <a:bodyPr wrap="square" anchor="t" lIns="45720" rIns="45720">
            <a:spAutoFit/>
          </a:bodyPr>
          <a:lstStyle/>
          <a:p>
            <a:r>
              <a:rPr sz="1000" b="1" i="0">
                <a:solidFill>
                  <a:srgbClr val="2E2E2E"/>
                </a:solidFill>
                <a:latin typeface="Arial"/>
              </a:rPr>
              <a:t>Project team</a:t>
            </a:r>
          </a:p>
        </p:txBody>
      </p:sp>
      <p:sp>
        <p:nvSpPr>
          <p:cNvPr id="20" name="Right Arrow 19"/>
          <p:cNvSpPr/>
          <p:nvPr/>
        </p:nvSpPr>
        <p:spPr>
          <a:xfrm>
            <a:off x="5954115"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01587"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11315"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23" name="TextBox 22"/>
          <p:cNvSpPr txBox="1"/>
          <p:nvPr/>
        </p:nvSpPr>
        <p:spPr>
          <a:xfrm>
            <a:off x="6868515" y="1490472"/>
            <a:ext cx="1824913" cy="502920"/>
          </a:xfrm>
          <a:prstGeom prst="rect">
            <a:avLst/>
          </a:prstGeom>
          <a:noFill/>
        </p:spPr>
        <p:txBody>
          <a:bodyPr wrap="square" anchor="ctr" lIns="45720" rIns="45720">
            <a:spAutoFit/>
          </a:bodyPr>
          <a:lstStyle/>
          <a:p>
            <a:r>
              <a:rPr sz="1300" b="1" i="0">
                <a:solidFill>
                  <a:srgbClr val="004EA8"/>
                </a:solidFill>
                <a:latin typeface="Arial"/>
              </a:rPr>
              <a:t>Delta re-issue</a:t>
            </a:r>
          </a:p>
        </p:txBody>
      </p:sp>
      <p:sp>
        <p:nvSpPr>
          <p:cNvPr id="24" name="TextBox 23"/>
          <p:cNvSpPr txBox="1"/>
          <p:nvPr/>
        </p:nvSpPr>
        <p:spPr>
          <a:xfrm>
            <a:off x="6411315" y="2057400"/>
            <a:ext cx="2245537" cy="822960"/>
          </a:xfrm>
          <a:prstGeom prst="rect">
            <a:avLst/>
          </a:prstGeom>
          <a:noFill/>
        </p:spPr>
        <p:txBody>
          <a:bodyPr wrap="square" anchor="t" lIns="45720" rIns="45720">
            <a:spAutoFit/>
          </a:bodyPr>
          <a:lstStyle/>
          <a:p>
            <a:r>
              <a:rPr sz="1000" b="0" i="0">
                <a:solidFill>
                  <a:srgbClr val="4B4B4B"/>
                </a:solidFill>
                <a:latin typeface="Arial"/>
              </a:rPr>
              <a:t>The affected screens are captured again; the register rows get Changed in this issue = Y with the change reference; the slides carry the Changed badge</a:t>
            </a:r>
          </a:p>
        </p:txBody>
      </p:sp>
      <p:sp>
        <p:nvSpPr>
          <p:cNvPr id="25" name="TextBox 24"/>
          <p:cNvSpPr txBox="1"/>
          <p:nvPr/>
        </p:nvSpPr>
        <p:spPr>
          <a:xfrm>
            <a:off x="6411315" y="2971800"/>
            <a:ext cx="2245537" cy="384048"/>
          </a:xfrm>
          <a:prstGeom prst="rect">
            <a:avLst/>
          </a:prstGeom>
          <a:noFill/>
        </p:spPr>
        <p:txBody>
          <a:bodyPr wrap="square" anchor="t" lIns="45720" rIns="45720">
            <a:spAutoFit/>
          </a:bodyPr>
          <a:lstStyle/>
          <a:p>
            <a:r>
              <a:rPr sz="1000" b="1" i="0">
                <a:solidFill>
                  <a:srgbClr val="2E2E2E"/>
                </a:solidFill>
                <a:latin typeface="Arial"/>
              </a:rPr>
              <a:t>Next version of the set</a:t>
            </a:r>
          </a:p>
        </p:txBody>
      </p:sp>
      <p:sp>
        <p:nvSpPr>
          <p:cNvPr id="26" name="Right Arrow 25"/>
          <p:cNvSpPr/>
          <p:nvPr/>
        </p:nvSpPr>
        <p:spPr>
          <a:xfrm>
            <a:off x="8830589"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178061"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287789"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29" name="TextBox 28"/>
          <p:cNvSpPr txBox="1"/>
          <p:nvPr/>
        </p:nvSpPr>
        <p:spPr>
          <a:xfrm>
            <a:off x="9744989" y="1490472"/>
            <a:ext cx="1824913" cy="502920"/>
          </a:xfrm>
          <a:prstGeom prst="rect">
            <a:avLst/>
          </a:prstGeom>
          <a:noFill/>
        </p:spPr>
        <p:txBody>
          <a:bodyPr wrap="square" anchor="ctr" lIns="45720" rIns="45720">
            <a:spAutoFit/>
          </a:bodyPr>
          <a:lstStyle/>
          <a:p>
            <a:r>
              <a:rPr sz="1300" b="1" i="0">
                <a:solidFill>
                  <a:srgbClr val="004EA8"/>
                </a:solidFill>
                <a:latin typeface="Arial"/>
              </a:rPr>
              <a:t>UXD revises</a:t>
            </a:r>
          </a:p>
        </p:txBody>
      </p:sp>
      <p:sp>
        <p:nvSpPr>
          <p:cNvPr id="30" name="TextBox 29"/>
          <p:cNvSpPr txBox="1"/>
          <p:nvPr/>
        </p:nvSpPr>
        <p:spPr>
          <a:xfrm>
            <a:off x="9287789" y="2057400"/>
            <a:ext cx="2245537" cy="822960"/>
          </a:xfrm>
          <a:prstGeom prst="rect">
            <a:avLst/>
          </a:prstGeom>
          <a:noFill/>
        </p:spPr>
        <p:txBody>
          <a:bodyPr wrap="square" anchor="t" lIns="45720" rIns="45720">
            <a:spAutoFit/>
          </a:bodyPr>
          <a:lstStyle/>
          <a:p>
            <a:r>
              <a:rPr sz="1000" b="0" i="0">
                <a:solidFill>
                  <a:srgbClr val="4B4B4B"/>
                </a:solidFill>
                <a:latin typeface="Arial"/>
              </a:rPr>
              <a:t>The UX Design team revises only the changed screens and sets their UXD status; the other rows keep theirs</a:t>
            </a:r>
          </a:p>
        </p:txBody>
      </p:sp>
      <p:sp>
        <p:nvSpPr>
          <p:cNvPr id="31" name="TextBox 30"/>
          <p:cNvSpPr txBox="1"/>
          <p:nvPr/>
        </p:nvSpPr>
        <p:spPr>
          <a:xfrm>
            <a:off x="9287789" y="2971800"/>
            <a:ext cx="2245537" cy="384048"/>
          </a:xfrm>
          <a:prstGeom prst="rect">
            <a:avLst/>
          </a:prstGeom>
          <a:noFill/>
        </p:spPr>
        <p:txBody>
          <a:bodyPr wrap="square" anchor="t" lIns="45720" rIns="45720">
            <a:spAutoFit/>
          </a:bodyPr>
          <a:lstStyle/>
          <a:p>
            <a:r>
              <a:rPr sz="1000" b="1" i="0">
                <a:solidFill>
                  <a:srgbClr val="2E2E2E"/>
                </a:solidFill>
                <a:latin typeface="Arial"/>
              </a:rPr>
              <a:t>UX Design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Changes in this issue (v2.0, 2 October 2026)</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a:t>
            </a:r>
          </a:p>
        </p:txBody>
      </p:sp>
      <p:graphicFrame>
        <p:nvGraphicFramePr>
          <p:cNvPr id="9" name="Table 8"/>
          <p:cNvGraphicFramePr>
            <a:graphicFrameLocks noGrp="1"/>
          </p:cNvGraphicFramePr>
          <p:nvPr/>
        </p:nvGraphicFramePr>
        <p:xfrm>
          <a:off x="548640" y="1325880"/>
          <a:ext cx="11094413" cy="3322320"/>
        </p:xfrm>
        <a:graphic>
          <a:graphicData uri="http://schemas.openxmlformats.org/drawingml/2006/table">
            <a:tbl>
              <a:tblPr firstRow="1" bandRow="1">
                <a:tableStyleId>{5C22544A-7EE6-4342-B048-85BDC9FD1C3A}</a:tableStyleId>
              </a:tblPr>
              <a:tblGrid>
                <a:gridCol w="1849069"/>
                <a:gridCol w="6219596"/>
                <a:gridCol w="2185263"/>
                <a:gridCol w="840485"/>
              </a:tblGrid>
              <a:tr h="259080">
                <a:tc>
                  <a:txBody>
                    <a:bodyPr/>
                    <a:lstStyle/>
                    <a:p>
                      <a:r>
                        <a:rPr sz="1100" b="1">
                          <a:solidFill>
                            <a:srgbClr val="FFFFFF"/>
                          </a:solidFill>
                          <a:latin typeface="Arial"/>
                        </a:rPr>
                        <a:t>Change reference</a:t>
                      </a:r>
                    </a:p>
                  </a:txBody>
                  <a:tcPr marL="54864" marR="54864" marT="27432" marB="27432">
                    <a:solidFill>
                      <a:srgbClr val="004EA8"/>
                    </a:solidFill>
                  </a:tcPr>
                </a:tc>
                <a:tc>
                  <a:txBody>
                    <a:bodyPr/>
                    <a:lstStyle/>
                    <a:p>
                      <a:r>
                        <a:rPr sz="1100" b="1">
                          <a:solidFill>
                            <a:srgbClr val="FFFFFF"/>
                          </a:solidFill>
                          <a:latin typeface="Arial"/>
                        </a:rPr>
                        <a:t>What changed</a:t>
                      </a:r>
                    </a:p>
                  </a:txBody>
                  <a:tcPr marL="54864" marR="54864" marT="27432" marB="27432">
                    <a:solidFill>
                      <a:srgbClr val="004EA8"/>
                    </a:solidFill>
                  </a:tcPr>
                </a:tc>
                <a:tc>
                  <a:txBody>
                    <a:bodyPr/>
                    <a:lstStyle/>
                    <a:p>
                      <a:r>
                        <a:rPr sz="1100" b="1">
                          <a:solidFill>
                            <a:srgbClr val="FFFFFF"/>
                          </a:solidFill>
                          <a:latin typeface="Arial"/>
                        </a:rPr>
                        <a:t>Screens</a:t>
                      </a:r>
                    </a:p>
                  </a:txBody>
                  <a:tcPr marL="54864" marR="54864" marT="27432" marB="27432">
                    <a:solidFill>
                      <a:srgbClr val="004EA8"/>
                    </a:solidFill>
                  </a:tcPr>
                </a:tc>
                <a:tc>
                  <a:txBody>
                    <a:bodyPr/>
                    <a:lstStyle/>
                    <a:p>
                      <a:r>
                        <a:rPr sz="1100" b="1">
                          <a:solidFill>
                            <a:srgbClr val="FFFFFF"/>
                          </a:solidFill>
                          <a:latin typeface="Arial"/>
                        </a:rPr>
                        <a:t>Images</a:t>
                      </a:r>
                    </a:p>
                  </a:txBody>
                  <a:tcPr marL="54864" marR="54864" marT="27432" marB="27432">
                    <a:solidFill>
                      <a:srgbClr val="004EA8"/>
                    </a:solidFill>
                  </a:tcPr>
                </a:tc>
              </a:tr>
              <a:tr h="594360">
                <a:tc>
                  <a:txBody>
                    <a:bodyPr/>
                    <a:lstStyle/>
                    <a:p>
                      <a:r>
                        <a:rPr sz="1100" b="0">
                          <a:solidFill>
                            <a:srgbClr val="4B4B4B"/>
                          </a:solidFill>
                          <a:latin typeface="Arial"/>
                        </a:rPr>
                        <a:t>CHG-UA-2.1-01</a:t>
                      </a:r>
                    </a:p>
                  </a:txBody>
                  <a:tcPr marL="54864" marR="54864" marT="27432" marB="27432">
                    <a:solidFill>
                      <a:srgbClr val="FFFFFF"/>
                    </a:solidFill>
                  </a:tcPr>
                </a:tc>
                <a:tc>
                  <a:txBody>
                    <a:bodyPr/>
                    <a:lstStyle/>
                    <a:p>
                      <a:r>
                        <a:rPr sz="1100" b="0">
                          <a:solidFill>
                            <a:srgbClr val="4B4B4B"/>
                          </a:solidFill>
                          <a:latin typeface="Arial"/>
                        </a:rPr>
                        <a:t>One label for a request waiting for its approver, Pending Approval (Pending Second Approval for the second approval), in the status pill, the step bar, the decision, the history, the lists and the status filter</a:t>
                      </a:r>
                    </a:p>
                  </a:txBody>
                  <a:tcPr marL="54864" marR="54864" marT="27432" marB="27432">
                    <a:solidFill>
                      <a:srgbClr val="FFFFFF"/>
                    </a:solidFill>
                  </a:tcPr>
                </a:tc>
                <a:tc>
                  <a:txBody>
                    <a:bodyPr/>
                    <a:lstStyle/>
                    <a:p>
                      <a:r>
                        <a:rPr sz="1100" b="0">
                          <a:solidFill>
                            <a:srgbClr val="4B4B4B"/>
                          </a:solidFill>
                          <a:latin typeface="Arial"/>
                        </a:rPr>
                        <a:t>SCR-UA-06, SCR-UA-08, SCR-UA-10, SCR-UA-11</a:t>
                      </a:r>
                    </a:p>
                  </a:txBody>
                  <a:tcPr marL="54864" marR="54864" marT="27432" marB="27432">
                    <a:solidFill>
                      <a:srgbClr val="FFFFFF"/>
                    </a:solidFill>
                  </a:tcPr>
                </a:tc>
                <a:tc>
                  <a:txBody>
                    <a:bodyPr/>
                    <a:lstStyle/>
                    <a:p>
                      <a:r>
                        <a:rPr sz="1100" b="0">
                          <a:solidFill>
                            <a:srgbClr val="4B4B4B"/>
                          </a:solidFill>
                          <a:latin typeface="Arial"/>
                        </a:rPr>
                        <a:t>8</a:t>
                      </a:r>
                    </a:p>
                  </a:txBody>
                  <a:tcPr marL="54864" marR="54864" marT="27432" marB="27432">
                    <a:solidFill>
                      <a:srgbClr val="FFFFFF"/>
                    </a:solidFill>
                  </a:tcPr>
                </a:tc>
              </a:tr>
              <a:tr h="259080">
                <a:tc>
                  <a:txBody>
                    <a:bodyPr/>
                    <a:lstStyle/>
                    <a:p>
                      <a:r>
                        <a:rPr sz="1100" b="0">
                          <a:solidFill>
                            <a:srgbClr val="4B4B4B"/>
                          </a:solidFill>
                          <a:latin typeface="Arial"/>
                        </a:rPr>
                        <a:t>CHG-UA-2.1-02</a:t>
                      </a:r>
                    </a:p>
                  </a:txBody>
                  <a:tcPr marL="54864" marR="54864" marT="27432" marB="27432">
                    <a:solidFill>
                      <a:srgbClr val="E5F5FF"/>
                    </a:solidFill>
                  </a:tcPr>
                </a:tc>
                <a:tc>
                  <a:txBody>
                    <a:bodyPr/>
                    <a:lstStyle/>
                    <a:p>
                      <a:r>
                        <a:rPr sz="1100" b="0">
                          <a:solidFill>
                            <a:srgbClr val="4B4B4B"/>
                          </a:solidFill>
                          <a:latin typeface="Arial"/>
                        </a:rPr>
                        <a:t>Requested By and Requested On as two key facts of a request and of a bulk batch</a:t>
                      </a:r>
                    </a:p>
                  </a:txBody>
                  <a:tcPr marL="54864" marR="54864" marT="27432" marB="27432">
                    <a:solidFill>
                      <a:srgbClr val="E5F5FF"/>
                    </a:solidFill>
                  </a:tcPr>
                </a:tc>
                <a:tc>
                  <a:txBody>
                    <a:bodyPr/>
                    <a:lstStyle/>
                    <a:p>
                      <a:r>
                        <a:rPr sz="1100" b="0">
                          <a:solidFill>
                            <a:srgbClr val="4B4B4B"/>
                          </a:solidFill>
                          <a:latin typeface="Arial"/>
                        </a:rPr>
                        <a:t>SCR-UA-08, SCR-UA-10</a:t>
                      </a:r>
                    </a:p>
                  </a:txBody>
                  <a:tcPr marL="54864" marR="54864" marT="27432" marB="27432">
                    <a:solidFill>
                      <a:srgbClr val="E5F5FF"/>
                    </a:solidFill>
                  </a:tcPr>
                </a:tc>
                <a:tc>
                  <a:txBody>
                    <a:bodyPr/>
                    <a:lstStyle/>
                    <a:p>
                      <a:r>
                        <a:rPr sz="1100" b="0">
                          <a:solidFill>
                            <a:srgbClr val="4B4B4B"/>
                          </a:solidFill>
                          <a:latin typeface="Arial"/>
                        </a:rPr>
                        <a:t>4</a:t>
                      </a:r>
                    </a:p>
                  </a:txBody>
                  <a:tcPr marL="54864" marR="54864" marT="27432" marB="27432">
                    <a:solidFill>
                      <a:srgbClr val="E5F5FF"/>
                    </a:solidFill>
                  </a:tcPr>
                </a:tc>
              </a:tr>
              <a:tr h="259080">
                <a:tc>
                  <a:txBody>
                    <a:bodyPr/>
                    <a:lstStyle/>
                    <a:p>
                      <a:r>
                        <a:rPr sz="1100" b="0">
                          <a:solidFill>
                            <a:srgbClr val="4B4B4B"/>
                          </a:solidFill>
                          <a:latin typeface="Arial"/>
                        </a:rPr>
                        <a:t>CHG-UA-2.1-03</a:t>
                      </a:r>
                    </a:p>
                  </a:txBody>
                  <a:tcPr marL="54864" marR="54864" marT="27432" marB="27432">
                    <a:solidFill>
                      <a:srgbClr val="FFFFFF"/>
                    </a:solidFill>
                  </a:tcPr>
                </a:tc>
                <a:tc>
                  <a:txBody>
                    <a:bodyPr/>
                    <a:lstStyle/>
                    <a:p>
                      <a:r>
                        <a:rPr sz="1100" b="0">
                          <a:solidFill>
                            <a:srgbClr val="4B4B4B"/>
                          </a:solidFill>
                          <a:latin typeface="Arial"/>
                        </a:rPr>
                        <a:t>The group profiles a request adds or removes as table rows, each marked Added or Removed</a:t>
                      </a:r>
                    </a:p>
                  </a:txBody>
                  <a:tcPr marL="54864" marR="54864" marT="27432" marB="27432">
                    <a:solidFill>
                      <a:srgbClr val="FFFFFF"/>
                    </a:solidFill>
                  </a:tcPr>
                </a:tc>
                <a:tc>
                  <a:txBody>
                    <a:bodyPr/>
                    <a:lstStyle/>
                    <a:p>
                      <a:r>
                        <a:rPr sz="1100" b="0">
                          <a:solidFill>
                            <a:srgbClr val="4B4B4B"/>
                          </a:solidFill>
                          <a:latin typeface="Arial"/>
                        </a:rPr>
                        <a:t>SCR-UA-08</a:t>
                      </a:r>
                    </a:p>
                  </a:txBody>
                  <a:tcPr marL="54864" marR="54864" marT="27432" marB="27432">
                    <a:solidFill>
                      <a:srgbClr val="FFFFFF"/>
                    </a:solidFill>
                  </a:tcPr>
                </a:tc>
                <a:tc>
                  <a:txBody>
                    <a:bodyPr/>
                    <a:lstStyle/>
                    <a:p>
                      <a:r>
                        <a:rPr sz="1100" b="0">
                          <a:solidFill>
                            <a:srgbClr val="4B4B4B"/>
                          </a:solidFill>
                          <a:latin typeface="Arial"/>
                        </a:rPr>
                        <a:t>3</a:t>
                      </a:r>
                    </a:p>
                  </a:txBody>
                  <a:tcPr marL="54864" marR="54864" marT="27432" marB="27432">
                    <a:solidFill>
                      <a:srgbClr val="FFFFFF"/>
                    </a:solidFill>
                  </a:tcPr>
                </a:tc>
              </a:tr>
              <a:tr h="259080">
                <a:tc>
                  <a:txBody>
                    <a:bodyPr/>
                    <a:lstStyle/>
                    <a:p>
                      <a:r>
                        <a:rPr sz="1100" b="0">
                          <a:solidFill>
                            <a:srgbClr val="4B4B4B"/>
                          </a:solidFill>
                          <a:latin typeface="Arial"/>
                        </a:rPr>
                        <a:t>CHG-UA-2.1-04</a:t>
                      </a:r>
                    </a:p>
                  </a:txBody>
                  <a:tcPr marL="54864" marR="54864" marT="27432" marB="27432">
                    <a:solidFill>
                      <a:srgbClr val="E5F5FF"/>
                    </a:solidFill>
                  </a:tcPr>
                </a:tc>
                <a:tc>
                  <a:txBody>
                    <a:bodyPr/>
                    <a:lstStyle/>
                    <a:p>
                      <a:r>
                        <a:rPr sz="1100" b="0">
                          <a:solidFill>
                            <a:srgbClr val="4B4B4B"/>
                          </a:solidFill>
                          <a:latin typeface="Arial"/>
                        </a:rPr>
                        <a:t>The user a request is about named by the full name, with the user ID in brackets</a:t>
                      </a:r>
                    </a:p>
                  </a:txBody>
                  <a:tcPr marL="54864" marR="54864" marT="27432" marB="27432">
                    <a:solidFill>
                      <a:srgbClr val="E5F5FF"/>
                    </a:solidFill>
                  </a:tcPr>
                </a:tc>
                <a:tc>
                  <a:txBody>
                    <a:bodyPr/>
                    <a:lstStyle/>
                    <a:p>
                      <a:r>
                        <a:rPr sz="1100" b="0">
                          <a:solidFill>
                            <a:srgbClr val="4B4B4B"/>
                          </a:solidFill>
                          <a:latin typeface="Arial"/>
                        </a:rPr>
                        <a:t>SCR-UA-08</a:t>
                      </a:r>
                    </a:p>
                  </a:txBody>
                  <a:tcPr marL="54864" marR="54864" marT="27432" marB="27432">
                    <a:solidFill>
                      <a:srgbClr val="E5F5FF"/>
                    </a:solidFill>
                  </a:tcPr>
                </a:tc>
                <a:tc>
                  <a:txBody>
                    <a:bodyPr/>
                    <a:lstStyle/>
                    <a:p>
                      <a:r>
                        <a:rPr sz="1100" b="0">
                          <a:solidFill>
                            <a:srgbClr val="4B4B4B"/>
                          </a:solidFill>
                          <a:latin typeface="Arial"/>
                        </a:rPr>
                        <a:t>5</a:t>
                      </a:r>
                    </a:p>
                  </a:txBody>
                  <a:tcPr marL="54864" marR="54864" marT="27432" marB="27432">
                    <a:solidFill>
                      <a:srgbClr val="E5F5FF"/>
                    </a:solidFill>
                  </a:tcPr>
                </a:tc>
              </a:tr>
              <a:tr h="426720">
                <a:tc>
                  <a:txBody>
                    <a:bodyPr/>
                    <a:lstStyle/>
                    <a:p>
                      <a:r>
                        <a:rPr sz="1100" b="0">
                          <a:solidFill>
                            <a:srgbClr val="4B4B4B"/>
                          </a:solidFill>
                          <a:latin typeface="Arial"/>
                        </a:rPr>
                        <a:t>CHG-UA-2.1-05</a:t>
                      </a:r>
                    </a:p>
                  </a:txBody>
                  <a:tcPr marL="54864" marR="54864" marT="27432" marB="27432">
                    <a:solidFill>
                      <a:srgbClr val="FFFFFF"/>
                    </a:solidFill>
                  </a:tcPr>
                </a:tc>
                <a:tc>
                  <a:txBody>
                    <a:bodyPr/>
                    <a:lstStyle/>
                    <a:p>
                      <a:r>
                        <a:rPr sz="1100" b="0">
                          <a:solidFill>
                            <a:srgbClr val="4B4B4B"/>
                          </a:solidFill>
                          <a:latin typeface="Arial"/>
                        </a:rPr>
                        <a:t>The group profiles of a user request grouped by product module, with a search and the count of the profiles selected</a:t>
                      </a:r>
                    </a:p>
                  </a:txBody>
                  <a:tcPr marL="54864" marR="54864" marT="27432" marB="27432">
                    <a:solidFill>
                      <a:srgbClr val="FFFFFF"/>
                    </a:solidFill>
                  </a:tcPr>
                </a:tc>
                <a:tc>
                  <a:txBody>
                    <a:bodyPr/>
                    <a:lstStyle/>
                    <a:p>
                      <a:r>
                        <a:rPr sz="1100" b="0">
                          <a:solidFill>
                            <a:srgbClr val="4B4B4B"/>
                          </a:solidFill>
                          <a:latin typeface="Arial"/>
                        </a:rPr>
                        <a:t>SCR-UA-07</a:t>
                      </a:r>
                    </a:p>
                  </a:txBody>
                  <a:tcPr marL="54864" marR="54864" marT="27432" marB="27432">
                    <a:solidFill>
                      <a:srgbClr val="FFFFFF"/>
                    </a:solidFill>
                  </a:tcPr>
                </a:tc>
                <a:tc>
                  <a:txBody>
                    <a:bodyPr/>
                    <a:lstStyle/>
                    <a:p>
                      <a:r>
                        <a:rPr sz="1100" b="0">
                          <a:solidFill>
                            <a:srgbClr val="4B4B4B"/>
                          </a:solidFill>
                          <a:latin typeface="Arial"/>
                        </a:rPr>
                        <a:t>4</a:t>
                      </a:r>
                    </a:p>
                  </a:txBody>
                  <a:tcPr marL="54864" marR="54864" marT="27432" marB="27432">
                    <a:solidFill>
                      <a:srgbClr val="FFFFFF"/>
                    </a:solidFill>
                  </a:tcPr>
                </a:tc>
              </a:tr>
              <a:tr h="1264920">
                <a:tc>
                  <a:txBody>
                    <a:bodyPr/>
                    <a:lstStyle/>
                    <a:p>
                      <a:r>
                        <a:rPr sz="1100" b="0">
                          <a:solidFill>
                            <a:srgbClr val="4B4B4B"/>
                          </a:solidFill>
                          <a:latin typeface="Arial"/>
                        </a:rPr>
                        <a:t>CHG-UA-2.2-01</a:t>
                      </a:r>
                    </a:p>
                  </a:txBody>
                  <a:tcPr marL="54864" marR="54864" marT="27432" marB="27432">
                    <a:solidFill>
                      <a:srgbClr val="E5F5FF"/>
                    </a:solidFill>
                  </a:tcPr>
                </a:tc>
                <a:tc>
                  <a:txBody>
                    <a:bodyPr/>
                    <a:lstStyle/>
                    <a:p>
                      <a:r>
                        <a:rPr sz="1100" b="0">
                          <a:solidFill>
                            <a:srgbClr val="4B4B4B"/>
                          </a:solidFill>
                          <a:latin typeface="Arial"/>
                        </a:rPr>
                        <a:t>Lists in the BDO style guide: outlined status pills, alternating white and Background Blue rows, a long list scrolling inside its card with the header row in view, names instead of codes, due dates on one line with the overdue icon and ages in words; every image of the set retaken</a:t>
                      </a:r>
                    </a:p>
                  </a:txBody>
                  <a:tcPr marL="54864" marR="54864" marT="27432" marB="27432">
                    <a:solidFill>
                      <a:srgbClr val="E5F5FF"/>
                    </a:solidFill>
                  </a:tcPr>
                </a:tc>
                <a:tc>
                  <a:txBody>
                    <a:bodyPr/>
                    <a:lstStyle/>
                    <a:p>
                      <a:r>
                        <a:rPr sz="1100" b="0">
                          <a:solidFill>
                            <a:srgbClr val="4B4B4B"/>
                          </a:solidFill>
                          <a:latin typeface="Arial"/>
                        </a:rPr>
                        <a:t>SCR-UA-01, SCR-UA-02, SCR-UA-03, SCR-UA-04, SCR-UA-05, SCR-UA-06, SCR-UA-07, SCR-UA-08, SCR-UA-09, SCR-UA-10, SCR-UA-11, SCR-UA-12, SCR-UA-13, SCR-UA-14, SCR-UA-15, SCR-UA-16, SCR-UA-17, SCR-UA-18, SCR-UA-19</a:t>
                      </a:r>
                    </a:p>
                  </a:txBody>
                  <a:tcPr marL="54864" marR="54864" marT="27432" marB="27432">
                    <a:solidFill>
                      <a:srgbClr val="E5F5FF"/>
                    </a:solidFill>
                  </a:tcPr>
                </a:tc>
                <a:tc>
                  <a:txBody>
                    <a:bodyPr/>
                    <a:lstStyle/>
                    <a:p>
                      <a:r>
                        <a:rPr sz="1100" b="0">
                          <a:solidFill>
                            <a:srgbClr val="4B4B4B"/>
                          </a:solidFill>
                          <a:latin typeface="Arial"/>
                        </a:rPr>
                        <a:t>77</a:t>
                      </a:r>
                    </a:p>
                  </a:txBody>
                  <a:tcPr marL="54864" marR="54864" marT="27432" marB="27432">
                    <a:solidFill>
                      <a:srgbClr val="E5F5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Contacts and roles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a:t>
            </a:r>
          </a:p>
        </p:txBody>
      </p:sp>
      <p:graphicFrame>
        <p:nvGraphicFramePr>
          <p:cNvPr id="9" name="Table 8"/>
          <p:cNvGraphicFramePr>
            <a:graphicFrameLocks noGrp="1"/>
          </p:cNvGraphicFramePr>
          <p:nvPr/>
        </p:nvGraphicFramePr>
        <p:xfrm>
          <a:off x="548640" y="1325880"/>
          <a:ext cx="11094414" cy="4389120"/>
        </p:xfrm>
        <a:graphic>
          <a:graphicData uri="http://schemas.openxmlformats.org/drawingml/2006/table">
            <a:tbl>
              <a:tblPr firstRow="1" bandRow="1">
                <a:tableStyleId>{5C22544A-7EE6-4342-B048-85BDC9FD1C3A}</a:tableStyleId>
              </a:tblPr>
              <a:tblGrid>
                <a:gridCol w="1450808"/>
                <a:gridCol w="3669691"/>
                <a:gridCol w="1365466"/>
                <a:gridCol w="4608449"/>
              </a:tblGrid>
              <a:tr h="228600">
                <a:tc>
                  <a:txBody>
                    <a:bodyPr/>
                    <a:lstStyle/>
                    <a:p>
                      <a:r>
                        <a:rPr sz="900" b="1">
                          <a:solidFill>
                            <a:srgbClr val="FFFFFF"/>
                          </a:solidFill>
                          <a:latin typeface="Arial"/>
                        </a:rPr>
                        <a:t>Capacity</a:t>
                      </a:r>
                    </a:p>
                  </a:txBody>
                  <a:tcPr marL="54864" marR="54864" marT="27432" marB="27432">
                    <a:solidFill>
                      <a:srgbClr val="004EA8"/>
                    </a:solidFill>
                  </a:tcPr>
                </a:tc>
                <a:tc>
                  <a:txBody>
                    <a:bodyPr/>
                    <a:lstStyle/>
                    <a:p>
                      <a:r>
                        <a:rPr sz="900" b="1">
                          <a:solidFill>
                            <a:srgbClr val="FFFFFF"/>
                          </a:solidFill>
                          <a:latin typeface="Arial"/>
                        </a:rPr>
                        <a:t>Role</a:t>
                      </a:r>
                    </a:p>
                  </a:txBody>
                  <a:tcPr marL="54864" marR="54864" marT="27432" marB="27432">
                    <a:solidFill>
                      <a:srgbClr val="004EA8"/>
                    </a:solidFill>
                  </a:tcPr>
                </a:tc>
                <a:tc>
                  <a:txBody>
                    <a:bodyPr/>
                    <a:lstStyle/>
                    <a:p>
                      <a:r>
                        <a:rPr sz="900" b="1">
                          <a:solidFill>
                            <a:srgbClr val="FFFFFF"/>
                          </a:solidFill>
                          <a:latin typeface="Arial"/>
                        </a:rPr>
                        <a:t>Organisation</a:t>
                      </a:r>
                    </a:p>
                  </a:txBody>
                  <a:tcPr marL="54864" marR="54864" marT="27432" marB="27432">
                    <a:solidFill>
                      <a:srgbClr val="004EA8"/>
                    </a:solidFill>
                  </a:tcPr>
                </a:tc>
                <a:tc>
                  <a:txBody>
                    <a:bodyPr/>
                    <a:lstStyle/>
                    <a:p>
                      <a:r>
                        <a:rPr sz="900" b="1">
                          <a:solidFill>
                            <a:srgbClr val="FFFFFF"/>
                          </a:solidFill>
                          <a:latin typeface="Arial"/>
                        </a:rPr>
                        <a:t>Part in the set</a:t>
                      </a:r>
                    </a:p>
                  </a:txBody>
                  <a:tcPr marL="54864" marR="54864" marT="27432" marB="27432">
                    <a:solidFill>
                      <a:srgbClr val="004EA8"/>
                    </a:solidFill>
                  </a:tcPr>
                </a:tc>
              </a:tr>
              <a:tr h="365760">
                <a:tc>
                  <a:txBody>
                    <a:bodyPr/>
                    <a:lstStyle/>
                    <a:p>
                      <a:r>
                        <a:rPr sz="900" b="0">
                          <a:solidFill>
                            <a:srgbClr val="4B4B4B"/>
                          </a:solidFill>
                          <a:latin typeface="Arial"/>
                        </a:rPr>
                        <a:t>Prepared by</a:t>
                      </a:r>
                    </a:p>
                  </a:txBody>
                  <a:tcPr marL="54864" marR="54864" marT="27432" marB="27432">
                    <a:solidFill>
                      <a:srgbClr val="FFFFFF"/>
                    </a:solidFill>
                  </a:tcPr>
                </a:tc>
                <a:tc>
                  <a:txBody>
                    <a:bodyPr/>
                    <a:lstStyle/>
                    <a:p>
                      <a:r>
                        <a:rPr sz="900" b="0">
                          <a:solidFill>
                            <a:srgbClr val="4B4B4B"/>
                          </a:solidFill>
                          <a:latin typeface="Arial"/>
                        </a:rPr>
                        <a:t>iorta TechNXT project team: Project Manager, Business Analysis, test lead</a:t>
                      </a:r>
                    </a:p>
                  </a:txBody>
                  <a:tcPr marL="54864" marR="54864" marT="27432" marB="27432">
                    <a:solidFill>
                      <a:srgbClr val="FFFFFF"/>
                    </a:solidFill>
                  </a:tcPr>
                </a:tc>
                <a:tc>
                  <a:txBody>
                    <a:bodyPr/>
                    <a:lstStyle/>
                    <a:p>
                      <a:r>
                        <a:rPr sz="900" b="0">
                          <a:solidFill>
                            <a:srgbClr val="4B4B4B"/>
                          </a:solidFill>
                          <a:latin typeface="Arial"/>
                        </a:rPr>
                        <a:t>iorta TechNXT</a:t>
                      </a:r>
                    </a:p>
                  </a:txBody>
                  <a:tcPr marL="54864" marR="54864" marT="27432" marB="27432">
                    <a:solidFill>
                      <a:srgbClr val="FFFFFF"/>
                    </a:solidFill>
                  </a:tcPr>
                </a:tc>
                <a:tc>
                  <a:txBody>
                    <a:bodyPr/>
                    <a:lstStyle/>
                    <a:p>
                      <a:r>
                        <a:rPr sz="900" b="0">
                          <a:solidFill>
                            <a:srgbClr val="4B4B4B"/>
                          </a:solidFill>
                          <a:latin typeface="Arial"/>
                        </a:rPr>
                        <a:t>The set is complete and consistent as issued, traced to the BRD and to the screens; every comment is answered in the comments log</a:t>
                      </a:r>
                    </a:p>
                  </a:txBody>
                  <a:tcPr marL="54864" marR="54864" marT="27432" marB="27432">
                    <a:solidFill>
                      <a:srgbClr val="FFFFFF"/>
                    </a:solidFill>
                  </a:tcPr>
                </a:tc>
              </a:tr>
              <a:tr h="365760">
                <a:tc>
                  <a:txBody>
                    <a:bodyPr/>
                    <a:lstStyle/>
                    <a:p>
                      <a:r>
                        <a:rPr sz="900" b="0">
                          <a:solidFill>
                            <a:srgbClr val="4B4B4B"/>
                          </a:solidFill>
                          <a:latin typeface="Arial"/>
                        </a:rPr>
                        <a:t>Prepared by</a:t>
                      </a:r>
                    </a:p>
                  </a:txBody>
                  <a:tcPr marL="54864" marR="54864" marT="27432" marB="27432">
                    <a:solidFill>
                      <a:srgbClr val="E5F5FF"/>
                    </a:solidFill>
                  </a:tcPr>
                </a:tc>
                <a:tc>
                  <a:txBody>
                    <a:bodyPr/>
                    <a:lstStyle/>
                    <a:p>
                      <a:r>
                        <a:rPr sz="900" b="0">
                          <a:solidFill>
                            <a:srgbClr val="4B4B4B"/>
                          </a:solidFill>
                          <a:latin typeface="Arial"/>
                        </a:rPr>
                        <a:t>Business Analyst, Enterprise Services - Business Process Services (BPS)</a:t>
                      </a:r>
                    </a:p>
                  </a:txBody>
                  <a:tcPr marL="54864" marR="54864" marT="27432" marB="27432">
                    <a:solidFill>
                      <a:srgbClr val="E5F5FF"/>
                    </a:solidFill>
                  </a:tcPr>
                </a:tc>
                <a:tc>
                  <a:txBody>
                    <a:bodyPr/>
                    <a:lstStyle/>
                    <a:p>
                      <a:r>
                        <a:rPr sz="900" b="0">
                          <a:solidFill>
                            <a:srgbClr val="4B4B4B"/>
                          </a:solidFill>
                          <a:latin typeface="Arial"/>
                        </a:rPr>
                        <a:t>BDO Unibank ESG</a:t>
                      </a:r>
                    </a:p>
                  </a:txBody>
                  <a:tcPr marL="54864" marR="54864" marT="27432" marB="27432">
                    <a:solidFill>
                      <a:srgbClr val="E5F5FF"/>
                    </a:solidFill>
                  </a:tcPr>
                </a:tc>
                <a:tc>
                  <a:txBody>
                    <a:bodyPr/>
                    <a:lstStyle/>
                    <a:p>
                      <a:r>
                        <a:rPr sz="900" b="0">
                          <a:solidFill>
                            <a:srgbClr val="4B4B4B"/>
                          </a:solidFill>
                          <a:latin typeface="Arial"/>
                        </a:rPr>
                        <a:t>The set states the BRD requirements as written; every departure is listed in the proposed rules and clarifications</a:t>
                      </a:r>
                    </a:p>
                  </a:txBody>
                  <a:tcPr marL="54864" marR="54864" marT="27432" marB="27432">
                    <a:solidFill>
                      <a:srgbClr val="E5F5FF"/>
                    </a:solidFill>
                  </a:tcPr>
                </a:tc>
              </a:tr>
              <a:tr h="228600">
                <a:tc>
                  <a:txBody>
                    <a:bodyPr/>
                    <a:lstStyle/>
                    <a:p>
                      <a:r>
                        <a:rPr sz="900" b="0">
                          <a:solidFill>
                            <a:srgbClr val="4B4B4B"/>
                          </a:solidFill>
                          <a:latin typeface="Arial"/>
                        </a:rPr>
                        <a:t>Input provided by</a:t>
                      </a:r>
                    </a:p>
                  </a:txBody>
                  <a:tcPr marL="54864" marR="54864" marT="27432" marB="27432">
                    <a:solidFill>
                      <a:srgbClr val="FFFFFF"/>
                    </a:solidFill>
                  </a:tcPr>
                </a:tc>
                <a:tc>
                  <a:txBody>
                    <a:bodyPr/>
                    <a:lstStyle/>
                    <a:p>
                      <a:r>
                        <a:rPr sz="900" b="0">
                          <a:solidFill>
                            <a:srgbClr val="4B4B4B"/>
                          </a:solidFill>
                          <a:latin typeface="Arial"/>
                        </a:rPr>
                        <a:t>BU representative, Marketing Business System (MBS)</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request, approval, group-profile and report screens match the business input</a:t>
                      </a:r>
                    </a:p>
                  </a:txBody>
                  <a:tcPr marL="54864" marR="54864" marT="27432" marB="27432">
                    <a:solidFill>
                      <a:srgbClr val="FFFFFF"/>
                    </a:solidFill>
                  </a:tcPr>
                </a:tc>
              </a:tr>
              <a:tr h="365760">
                <a:tc>
                  <a:txBody>
                    <a:bodyPr/>
                    <a:lstStyle/>
                    <a:p>
                      <a:r>
                        <a:rPr sz="900" b="0">
                          <a:solidFill>
                            <a:srgbClr val="4B4B4B"/>
                          </a:solidFill>
                          <a:latin typeface="Arial"/>
                        </a:rPr>
                        <a:t>Input provided by</a:t>
                      </a:r>
                    </a:p>
                  </a:txBody>
                  <a:tcPr marL="54864" marR="54864" marT="27432" marB="27432">
                    <a:solidFill>
                      <a:srgbClr val="E5F5FF"/>
                    </a:solidFill>
                  </a:tcPr>
                </a:tc>
                <a:tc>
                  <a:txBody>
                    <a:bodyPr/>
                    <a:lstStyle/>
                    <a:p>
                      <a:r>
                        <a:rPr sz="900" b="0">
                          <a:solidFill>
                            <a:srgbClr val="4B4B4B"/>
                          </a:solidFill>
                          <a:latin typeface="Arial"/>
                        </a:rPr>
                        <a:t>Business Administration (user access maintenance)</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The daily handling of the requests and the configuration inputs of templates CI-01 to CI-06</a:t>
                      </a:r>
                    </a:p>
                  </a:txBody>
                  <a:tcPr marL="54864" marR="54864" marT="27432" marB="27432">
                    <a:solidFill>
                      <a:srgbClr val="E5F5FF"/>
                    </a:solidFill>
                  </a:tcPr>
                </a:tc>
              </a:tr>
              <a:tr h="365760">
                <a:tc>
                  <a:txBody>
                    <a:bodyPr/>
                    <a:lstStyle/>
                    <a:p>
                      <a:r>
                        <a:rPr sz="900" b="0">
                          <a:solidFill>
                            <a:srgbClr val="4B4B4B"/>
                          </a:solidFill>
                          <a:latin typeface="Arial"/>
                        </a:rPr>
                        <a:t>Reviewed by</a:t>
                      </a:r>
                    </a:p>
                  </a:txBody>
                  <a:tcPr marL="54864" marR="54864" marT="27432" marB="27432">
                    <a:solidFill>
                      <a:srgbClr val="FFFFFF"/>
                    </a:solidFill>
                  </a:tcPr>
                </a:tc>
                <a:tc>
                  <a:txBody>
                    <a:bodyPr/>
                    <a:lstStyle/>
                    <a:p>
                      <a:r>
                        <a:rPr sz="900" b="0">
                          <a:solidFill>
                            <a:srgbClr val="4B4B4B"/>
                          </a:solidFill>
                          <a:latin typeface="Arial"/>
                        </a:rPr>
                        <a:t>Program Manager, Enterprise Services - Business Process Services (BPS)</a:t>
                      </a:r>
                    </a:p>
                  </a:txBody>
                  <a:tcPr marL="54864" marR="54864" marT="27432" marB="27432">
                    <a:solidFill>
                      <a:srgbClr val="FFFFFF"/>
                    </a:solidFill>
                  </a:tcPr>
                </a:tc>
                <a:tc>
                  <a:txBody>
                    <a:bodyPr/>
                    <a:lstStyle/>
                    <a:p>
                      <a:r>
                        <a:rPr sz="900" b="0">
                          <a:solidFill>
                            <a:srgbClr val="4B4B4B"/>
                          </a:solidFill>
                          <a:latin typeface="Arial"/>
                        </a:rPr>
                        <a:t>BDO Unibank ESG</a:t>
                      </a:r>
                    </a:p>
                  </a:txBody>
                  <a:tcPr marL="54864" marR="54864" marT="27432" marB="27432">
                    <a:solidFill>
                      <a:srgbClr val="FFFFFF"/>
                    </a:solidFill>
                  </a:tcPr>
                </a:tc>
                <a:tc>
                  <a:txBody>
                    <a:bodyPr/>
                    <a:lstStyle/>
                    <a:p>
                      <a:r>
                        <a:rPr sz="900" b="0">
                          <a:solidFill>
                            <a:srgbClr val="4B4B4B"/>
                          </a:solidFill>
                          <a:latin typeface="Arial"/>
                        </a:rPr>
                        <a:t>Traceability of every BRD requirement to the set and completeness of the set ("validated the completeness of business requirements")</a:t>
                      </a:r>
                    </a:p>
                  </a:txBody>
                  <a:tcPr marL="54864" marR="54864" marT="27432" marB="27432">
                    <a:solidFill>
                      <a:srgbClr val="FFFFFF"/>
                    </a:solidFill>
                  </a:tcPr>
                </a:tc>
              </a:tr>
              <a:tr h="365760">
                <a:tc>
                  <a:txBody>
                    <a:bodyPr/>
                    <a:lstStyle/>
                    <a:p>
                      <a:r>
                        <a:rPr sz="900" b="0">
                          <a:solidFill>
                            <a:srgbClr val="4B4B4B"/>
                          </a:solidFill>
                          <a:latin typeface="Arial"/>
                        </a:rPr>
                        <a:t>Reviewed by</a:t>
                      </a:r>
                    </a:p>
                  </a:txBody>
                  <a:tcPr marL="54864" marR="54864" marT="27432" marB="27432">
                    <a:solidFill>
                      <a:srgbClr val="E5F5FF"/>
                    </a:solidFill>
                  </a:tcPr>
                </a:tc>
                <a:tc>
                  <a:txBody>
                    <a:bodyPr/>
                    <a:lstStyle/>
                    <a:p>
                      <a:r>
                        <a:rPr sz="900" b="0">
                          <a:solidFill>
                            <a:srgbClr val="4B4B4B"/>
                          </a:solidFill>
                          <a:latin typeface="Arial"/>
                        </a:rPr>
                        <a:t>BDOI Information Security</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The role matrix, the menus by persona, the separation-of-duties rules, the password and session rules and the audit log</a:t>
                      </a:r>
                    </a:p>
                  </a:txBody>
                  <a:tcPr marL="54864" marR="54864" marT="27432" marB="27432">
                    <a:solidFill>
                      <a:srgbClr val="E5F5FF"/>
                    </a:solidFill>
                  </a:tcPr>
                </a:tc>
              </a:tr>
              <a:tr h="365760">
                <a:tc>
                  <a:txBody>
                    <a:bodyPr/>
                    <a:lstStyle/>
                    <a:p>
                      <a:r>
                        <a:rPr sz="900" b="0">
                          <a:solidFill>
                            <a:srgbClr val="4B4B4B"/>
                          </a:solidFill>
                          <a:latin typeface="Arial"/>
                        </a:rPr>
                        <a:t>Reviewed by</a:t>
                      </a:r>
                    </a:p>
                  </a:txBody>
                  <a:tcPr marL="54864" marR="54864" marT="27432" marB="27432">
                    <a:solidFill>
                      <a:srgbClr val="FFFFFF"/>
                    </a:solidFill>
                  </a:tcPr>
                </a:tc>
                <a:tc>
                  <a:txBody>
                    <a:bodyPr/>
                    <a:lstStyle/>
                    <a:p>
                      <a:r>
                        <a:rPr sz="900" b="0">
                          <a:solidFill>
                            <a:srgbClr val="4B4B4B"/>
                          </a:solidFill>
                          <a:latin typeface="Arial"/>
                        </a:rPr>
                        <a:t>BDOI Information Technology Group (BDOI IT)</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Sign-in and identity interfaces (EIAM, UIDM-ISC), the System Administrator functions and the Technical Specification (a separate document); not the business screens</a:t>
                      </a:r>
                    </a:p>
                  </a:txBody>
                  <a:tcPr marL="54864" marR="54864" marT="27432" marB="27432">
                    <a:solidFill>
                      <a:srgbClr val="FFFFFF"/>
                    </a:solidFill>
                  </a:tcPr>
                </a:tc>
              </a:tr>
              <a:tr h="22860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Product Owner, Marketing Business System</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Owns the set and approves all of its contents</a:t>
                      </a:r>
                    </a:p>
                  </a:txBody>
                  <a:tcPr marL="54864" marR="54864" marT="27432" marB="27432">
                    <a:solidFill>
                      <a:srgbClr val="E5F5FF"/>
                    </a:solidFill>
                  </a:tcPr>
                </a:tc>
              </a:tr>
              <a:tr h="22860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Unit Head - Claims and Risk Management</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access of the Claims and Risk Management users</a:t>
                      </a:r>
                    </a:p>
                  </a:txBody>
                  <a:tcPr marL="54864" marR="54864" marT="27432" marB="27432">
                    <a:solidFill>
                      <a:srgbClr val="FFFFFF"/>
                    </a:solidFill>
                  </a:tcPr>
                </a:tc>
              </a:tr>
              <a:tr h="22860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Unit Head - Combank and Corbank Marketing / Corporate Processing</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The access of the Combank, Corbank and Corporate Processing users</a:t>
                      </a:r>
                    </a:p>
                  </a:txBody>
                  <a:tcPr marL="54864" marR="54864" marT="27432" marB="27432">
                    <a:solidFill>
                      <a:srgbClr val="E5F5FF"/>
                    </a:solidFill>
                  </a:tcPr>
                </a:tc>
              </a:tr>
              <a:tr h="22860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Head - Comptrollership</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access of the Comptrollership users</a:t>
                      </a:r>
                    </a:p>
                  </a:txBody>
                  <a:tcPr marL="54864" marR="54864" marT="27432" marB="27432">
                    <a:solidFill>
                      <a:srgbClr val="FFFFFF"/>
                    </a:solidFill>
                  </a:tcPr>
                </a:tc>
              </a:tr>
              <a:tr h="22860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Head - Retail Marketing</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The access of the Retail Marketing users</a:t>
                      </a:r>
                    </a:p>
                  </a:txBody>
                  <a:tcPr marL="54864" marR="54864" marT="27432" marB="27432">
                    <a:solidFill>
                      <a:srgbClr val="E5F5FF"/>
                    </a:solidFill>
                  </a:tcPr>
                </a:tc>
              </a:tr>
              <a:tr h="22860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Head - Corporate and Retail Marketing</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access of the Corporate Marketing users</a:t>
                      </a:r>
                    </a:p>
                  </a:txBody>
                  <a:tcPr marL="54864" marR="54864" marT="27432" marB="27432">
                    <a:solidFill>
                      <a:srgbClr val="FFFFFF"/>
                    </a:solidFill>
                  </a:tcPr>
                </a:tc>
              </a:tr>
              <a:tr h="365760">
                <a:tc>
                  <a:txBody>
                    <a:bodyPr/>
                    <a:lstStyle/>
                    <a:p>
                      <a:r>
                        <a:rPr sz="900" b="0">
                          <a:solidFill>
                            <a:srgbClr val="4B4B4B"/>
                          </a:solidFill>
                          <a:latin typeface="Arial"/>
                        </a:rPr>
                        <a:t>Receives 07 to 09</a:t>
                      </a:r>
                    </a:p>
                  </a:txBody>
                  <a:tcPr marL="54864" marR="54864" marT="27432" marB="27432">
                    <a:solidFill>
                      <a:srgbClr val="E5F5FF"/>
                    </a:solidFill>
                  </a:tcPr>
                </a:tc>
                <a:tc>
                  <a:txBody>
                    <a:bodyPr/>
                    <a:lstStyle/>
                    <a:p>
                      <a:r>
                        <a:rPr sz="900" b="0">
                          <a:solidFill>
                            <a:srgbClr val="4B4B4B"/>
                          </a:solidFill>
                          <a:latin typeface="Arial"/>
                        </a:rPr>
                        <a:t>BDOI UX Design team (UXD)</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Designs the screens from this deck; keeps the UXD status and comments of the register; raises questions on the Questions and comments sheet</a:t>
                      </a:r>
                    </a:p>
                  </a:txBody>
                  <a:tcPr marL="54864" marR="54864" marT="27432" marB="27432">
                    <a:solidFill>
                      <a:srgbClr val="E5F5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Design foundation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Colours, type, spacing, icons, the shared components and the screen standards as the screens use them</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BRD-11 User Access Maintenance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Colour tokens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a:t>
            </a:r>
          </a:p>
        </p:txBody>
      </p:sp>
      <p:sp>
        <p:nvSpPr>
          <p:cNvPr id="9" name="Rectangle 8"/>
          <p:cNvSpPr/>
          <p:nvPr/>
        </p:nvSpPr>
        <p:spPr>
          <a:xfrm>
            <a:off x="548640" y="1261872"/>
            <a:ext cx="1428162" cy="384048"/>
          </a:xfrm>
          <a:prstGeom prst="rect">
            <a:avLst/>
          </a:prstGeom>
          <a:solidFill>
            <a:srgbClr val="1F3A5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55064"/>
            <a:ext cx="1428162" cy="201168"/>
          </a:xfrm>
          <a:prstGeom prst="rect">
            <a:avLst/>
          </a:prstGeom>
          <a:noFill/>
        </p:spPr>
        <p:txBody>
          <a:bodyPr wrap="square" anchor="t" lIns="45720" rIns="45720">
            <a:spAutoFit/>
          </a:bodyPr>
          <a:lstStyle/>
          <a:p>
            <a:r>
              <a:rPr sz="800" b="1" i="0">
                <a:solidFill>
                  <a:srgbClr val="2E2E2E"/>
                </a:solidFill>
                <a:latin typeface="Arial"/>
              </a:rPr>
              <a:t>brand-navy</a:t>
            </a:r>
          </a:p>
        </p:txBody>
      </p:sp>
      <p:sp>
        <p:nvSpPr>
          <p:cNvPr id="11" name="TextBox 10"/>
          <p:cNvSpPr txBox="1"/>
          <p:nvPr/>
        </p:nvSpPr>
        <p:spPr>
          <a:xfrm>
            <a:off x="548640" y="1828800"/>
            <a:ext cx="1428162" cy="365760"/>
          </a:xfrm>
          <a:prstGeom prst="rect">
            <a:avLst/>
          </a:prstGeom>
          <a:noFill/>
        </p:spPr>
        <p:txBody>
          <a:bodyPr wrap="square" anchor="t" lIns="45720" rIns="45720">
            <a:spAutoFit/>
          </a:bodyPr>
          <a:lstStyle/>
          <a:p>
            <a:r>
              <a:rPr sz="700" b="0" i="0">
                <a:solidFill>
                  <a:srgbClr val="656565"/>
                </a:solidFill>
                <a:latin typeface="Arial"/>
              </a:rPr>
              <a:t>#1F3A5F headers, table heads, section bars</a:t>
            </a:r>
          </a:p>
        </p:txBody>
      </p:sp>
      <p:sp>
        <p:nvSpPr>
          <p:cNvPr id="12" name="Rectangle 11"/>
          <p:cNvSpPr/>
          <p:nvPr/>
        </p:nvSpPr>
        <p:spPr>
          <a:xfrm>
            <a:off x="2159682" y="1261872"/>
            <a:ext cx="1428162" cy="384048"/>
          </a:xfrm>
          <a:prstGeom prst="rect">
            <a:avLst/>
          </a:prstGeom>
          <a:solidFill>
            <a:srgbClr val="2F6DB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59682" y="1655064"/>
            <a:ext cx="1428162" cy="201168"/>
          </a:xfrm>
          <a:prstGeom prst="rect">
            <a:avLst/>
          </a:prstGeom>
          <a:noFill/>
        </p:spPr>
        <p:txBody>
          <a:bodyPr wrap="square" anchor="t" lIns="45720" rIns="45720">
            <a:spAutoFit/>
          </a:bodyPr>
          <a:lstStyle/>
          <a:p>
            <a:r>
              <a:rPr sz="800" b="1" i="0">
                <a:solidFill>
                  <a:srgbClr val="2E2E2E"/>
                </a:solidFill>
                <a:latin typeface="Arial"/>
              </a:rPr>
              <a:t>brand-blue</a:t>
            </a:r>
          </a:p>
        </p:txBody>
      </p:sp>
      <p:sp>
        <p:nvSpPr>
          <p:cNvPr id="14" name="TextBox 13"/>
          <p:cNvSpPr txBox="1"/>
          <p:nvPr/>
        </p:nvSpPr>
        <p:spPr>
          <a:xfrm>
            <a:off x="2159682" y="1828800"/>
            <a:ext cx="1428162" cy="365760"/>
          </a:xfrm>
          <a:prstGeom prst="rect">
            <a:avLst/>
          </a:prstGeom>
          <a:noFill/>
        </p:spPr>
        <p:txBody>
          <a:bodyPr wrap="square" anchor="t" lIns="45720" rIns="45720">
            <a:spAutoFit/>
          </a:bodyPr>
          <a:lstStyle/>
          <a:p>
            <a:r>
              <a:rPr sz="700" b="0" i="0">
                <a:solidFill>
                  <a:srgbClr val="656565"/>
                </a:solidFill>
                <a:latin typeface="Arial"/>
              </a:rPr>
              <a:t>#2F6DB5 primary buttons, links, active items</a:t>
            </a:r>
          </a:p>
        </p:txBody>
      </p:sp>
      <p:sp>
        <p:nvSpPr>
          <p:cNvPr id="15" name="Rectangle 14"/>
          <p:cNvSpPr/>
          <p:nvPr/>
        </p:nvSpPr>
        <p:spPr>
          <a:xfrm>
            <a:off x="3770724" y="1261872"/>
            <a:ext cx="1428162" cy="384048"/>
          </a:xfrm>
          <a:prstGeom prst="rect">
            <a:avLst/>
          </a:prstGeom>
          <a:solidFill>
            <a:srgbClr val="255A9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70724" y="1655064"/>
            <a:ext cx="1428162" cy="201168"/>
          </a:xfrm>
          <a:prstGeom prst="rect">
            <a:avLst/>
          </a:prstGeom>
          <a:noFill/>
        </p:spPr>
        <p:txBody>
          <a:bodyPr wrap="square" anchor="t" lIns="45720" rIns="45720">
            <a:spAutoFit/>
          </a:bodyPr>
          <a:lstStyle/>
          <a:p>
            <a:r>
              <a:rPr sz="800" b="1" i="0">
                <a:solidFill>
                  <a:srgbClr val="2E2E2E"/>
                </a:solidFill>
                <a:latin typeface="Arial"/>
              </a:rPr>
              <a:t>brand-blue-600</a:t>
            </a:r>
          </a:p>
        </p:txBody>
      </p:sp>
      <p:sp>
        <p:nvSpPr>
          <p:cNvPr id="17" name="TextBox 16"/>
          <p:cNvSpPr txBox="1"/>
          <p:nvPr/>
        </p:nvSpPr>
        <p:spPr>
          <a:xfrm>
            <a:off x="3770724" y="1828800"/>
            <a:ext cx="1428162" cy="365760"/>
          </a:xfrm>
          <a:prstGeom prst="rect">
            <a:avLst/>
          </a:prstGeom>
          <a:noFill/>
        </p:spPr>
        <p:txBody>
          <a:bodyPr wrap="square" anchor="t" lIns="45720" rIns="45720">
            <a:spAutoFit/>
          </a:bodyPr>
          <a:lstStyle/>
          <a:p>
            <a:r>
              <a:rPr sz="700" b="0" i="0">
                <a:solidFill>
                  <a:srgbClr val="656565"/>
                </a:solidFill>
                <a:latin typeface="Arial"/>
              </a:rPr>
              <a:t>#255A96 hover / pressed</a:t>
            </a:r>
          </a:p>
        </p:txBody>
      </p:sp>
      <p:sp>
        <p:nvSpPr>
          <p:cNvPr id="18" name="Rectangle 17"/>
          <p:cNvSpPr/>
          <p:nvPr/>
        </p:nvSpPr>
        <p:spPr>
          <a:xfrm>
            <a:off x="5381766" y="1261872"/>
            <a:ext cx="1428162" cy="384048"/>
          </a:xfrm>
          <a:prstGeom prst="rect">
            <a:avLst/>
          </a:prstGeom>
          <a:solidFill>
            <a:srgbClr val="EEF3F9"/>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81766" y="1655064"/>
            <a:ext cx="1428162" cy="201168"/>
          </a:xfrm>
          <a:prstGeom prst="rect">
            <a:avLst/>
          </a:prstGeom>
          <a:noFill/>
        </p:spPr>
        <p:txBody>
          <a:bodyPr wrap="square" anchor="t" lIns="45720" rIns="45720">
            <a:spAutoFit/>
          </a:bodyPr>
          <a:lstStyle/>
          <a:p>
            <a:r>
              <a:rPr sz="800" b="1" i="0">
                <a:solidFill>
                  <a:srgbClr val="2E2E2E"/>
                </a:solidFill>
                <a:latin typeface="Arial"/>
              </a:rPr>
              <a:t>brand-blue-050</a:t>
            </a:r>
          </a:p>
        </p:txBody>
      </p:sp>
      <p:sp>
        <p:nvSpPr>
          <p:cNvPr id="20" name="TextBox 19"/>
          <p:cNvSpPr txBox="1"/>
          <p:nvPr/>
        </p:nvSpPr>
        <p:spPr>
          <a:xfrm>
            <a:off x="5381766" y="1828800"/>
            <a:ext cx="1428162" cy="365760"/>
          </a:xfrm>
          <a:prstGeom prst="rect">
            <a:avLst/>
          </a:prstGeom>
          <a:noFill/>
        </p:spPr>
        <p:txBody>
          <a:bodyPr wrap="square" anchor="t" lIns="45720" rIns="45720">
            <a:spAutoFit/>
          </a:bodyPr>
          <a:lstStyle/>
          <a:p>
            <a:r>
              <a:rPr sz="700" b="0" i="0">
                <a:solidFill>
                  <a:srgbClr val="656565"/>
                </a:solidFill>
                <a:latin typeface="Arial"/>
              </a:rPr>
              <a:t>#EEF3F9 highlights, alternate rows</a:t>
            </a:r>
          </a:p>
        </p:txBody>
      </p:sp>
      <p:sp>
        <p:nvSpPr>
          <p:cNvPr id="21" name="Rectangle 20"/>
          <p:cNvSpPr/>
          <p:nvPr/>
        </p:nvSpPr>
        <p:spPr>
          <a:xfrm>
            <a:off x="6992808" y="1261872"/>
            <a:ext cx="1428162" cy="384048"/>
          </a:xfrm>
          <a:prstGeom prst="rect">
            <a:avLst/>
          </a:prstGeom>
          <a:solidFill>
            <a:srgbClr val="A9BDD4"/>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92808" y="1655064"/>
            <a:ext cx="1428162" cy="201168"/>
          </a:xfrm>
          <a:prstGeom prst="rect">
            <a:avLst/>
          </a:prstGeom>
          <a:noFill/>
        </p:spPr>
        <p:txBody>
          <a:bodyPr wrap="square" anchor="t" lIns="45720" rIns="45720">
            <a:spAutoFit/>
          </a:bodyPr>
          <a:lstStyle/>
          <a:p>
            <a:r>
              <a:rPr sz="800" b="1" i="0">
                <a:solidFill>
                  <a:srgbClr val="2E2E2E"/>
                </a:solidFill>
                <a:latin typeface="Arial"/>
              </a:rPr>
              <a:t>brand-field-blue</a:t>
            </a:r>
          </a:p>
        </p:txBody>
      </p:sp>
      <p:sp>
        <p:nvSpPr>
          <p:cNvPr id="23" name="TextBox 22"/>
          <p:cNvSpPr txBox="1"/>
          <p:nvPr/>
        </p:nvSpPr>
        <p:spPr>
          <a:xfrm>
            <a:off x="6992808" y="1828800"/>
            <a:ext cx="1428162" cy="365760"/>
          </a:xfrm>
          <a:prstGeom prst="rect">
            <a:avLst/>
          </a:prstGeom>
          <a:noFill/>
        </p:spPr>
        <p:txBody>
          <a:bodyPr wrap="square" anchor="t" lIns="45720" rIns="45720">
            <a:spAutoFit/>
          </a:bodyPr>
          <a:lstStyle/>
          <a:p>
            <a:r>
              <a:rPr sz="700" b="0" i="0">
                <a:solidFill>
                  <a:srgbClr val="656565"/>
                </a:solidFill>
                <a:latin typeface="Arial"/>
              </a:rPr>
              <a:t>#A9BDD4 input borders</a:t>
            </a:r>
          </a:p>
        </p:txBody>
      </p:sp>
      <p:sp>
        <p:nvSpPr>
          <p:cNvPr id="24" name="Rectangle 23"/>
          <p:cNvSpPr/>
          <p:nvPr/>
        </p:nvSpPr>
        <p:spPr>
          <a:xfrm>
            <a:off x="8603850" y="1261872"/>
            <a:ext cx="1428162" cy="384048"/>
          </a:xfrm>
          <a:prstGeom prst="rect">
            <a:avLst/>
          </a:prstGeom>
          <a:solidFill>
            <a:srgbClr val="D9A44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03850" y="1655064"/>
            <a:ext cx="1428162" cy="201168"/>
          </a:xfrm>
          <a:prstGeom prst="rect">
            <a:avLst/>
          </a:prstGeom>
          <a:noFill/>
        </p:spPr>
        <p:txBody>
          <a:bodyPr wrap="square" anchor="t" lIns="45720" rIns="45720">
            <a:spAutoFit/>
          </a:bodyPr>
          <a:lstStyle/>
          <a:p>
            <a:r>
              <a:rPr sz="800" b="1" i="0">
                <a:solidFill>
                  <a:srgbClr val="2E2E2E"/>
                </a:solidFill>
                <a:latin typeface="Arial"/>
              </a:rPr>
              <a:t>brand-gold</a:t>
            </a:r>
          </a:p>
        </p:txBody>
      </p:sp>
      <p:sp>
        <p:nvSpPr>
          <p:cNvPr id="26" name="TextBox 25"/>
          <p:cNvSpPr txBox="1"/>
          <p:nvPr/>
        </p:nvSpPr>
        <p:spPr>
          <a:xfrm>
            <a:off x="8603850" y="1828800"/>
            <a:ext cx="1428162" cy="365760"/>
          </a:xfrm>
          <a:prstGeom prst="rect">
            <a:avLst/>
          </a:prstGeom>
          <a:noFill/>
        </p:spPr>
        <p:txBody>
          <a:bodyPr wrap="square" anchor="t" lIns="45720" rIns="45720">
            <a:spAutoFit/>
          </a:bodyPr>
          <a:lstStyle/>
          <a:p>
            <a:r>
              <a:rPr sz="700" b="0" i="0">
                <a:solidFill>
                  <a:srgbClr val="656565"/>
                </a:solidFill>
                <a:latin typeface="Arial"/>
              </a:rPr>
              <a:t>#D9A441 accents and breakers, used sparingly</a:t>
            </a:r>
          </a:p>
        </p:txBody>
      </p:sp>
      <p:sp>
        <p:nvSpPr>
          <p:cNvPr id="27" name="Rectangle 26"/>
          <p:cNvSpPr/>
          <p:nvPr/>
        </p:nvSpPr>
        <p:spPr>
          <a:xfrm>
            <a:off x="10214892" y="1261872"/>
            <a:ext cx="1428162" cy="384048"/>
          </a:xfrm>
          <a:prstGeom prst="rect">
            <a:avLst/>
          </a:prstGeom>
          <a:solidFill>
            <a:srgbClr val="B8862C"/>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14892" y="1655064"/>
            <a:ext cx="1428162" cy="201168"/>
          </a:xfrm>
          <a:prstGeom prst="rect">
            <a:avLst/>
          </a:prstGeom>
          <a:noFill/>
        </p:spPr>
        <p:txBody>
          <a:bodyPr wrap="square" anchor="t" lIns="45720" rIns="45720">
            <a:spAutoFit/>
          </a:bodyPr>
          <a:lstStyle/>
          <a:p>
            <a:r>
              <a:rPr sz="800" b="1" i="0">
                <a:solidFill>
                  <a:srgbClr val="2E2E2E"/>
                </a:solidFill>
                <a:latin typeface="Arial"/>
              </a:rPr>
              <a:t>brand-gold-600</a:t>
            </a:r>
          </a:p>
        </p:txBody>
      </p:sp>
      <p:sp>
        <p:nvSpPr>
          <p:cNvPr id="29" name="TextBox 28"/>
          <p:cNvSpPr txBox="1"/>
          <p:nvPr/>
        </p:nvSpPr>
        <p:spPr>
          <a:xfrm>
            <a:off x="10214892" y="1828800"/>
            <a:ext cx="1428162" cy="365760"/>
          </a:xfrm>
          <a:prstGeom prst="rect">
            <a:avLst/>
          </a:prstGeom>
          <a:noFill/>
        </p:spPr>
        <p:txBody>
          <a:bodyPr wrap="square" anchor="t" lIns="45720" rIns="45720">
            <a:spAutoFit/>
          </a:bodyPr>
          <a:lstStyle/>
          <a:p>
            <a:r>
              <a:rPr sz="700" b="0" i="0">
                <a:solidFill>
                  <a:srgbClr val="656565"/>
                </a:solidFill>
                <a:latin typeface="Arial"/>
              </a:rPr>
              <a:t>#B8862C </a:t>
            </a:r>
          </a:p>
        </p:txBody>
      </p:sp>
      <p:sp>
        <p:nvSpPr>
          <p:cNvPr id="30" name="Rectangle 29"/>
          <p:cNvSpPr/>
          <p:nvPr/>
        </p:nvSpPr>
        <p:spPr>
          <a:xfrm>
            <a:off x="548640" y="2249424"/>
            <a:ext cx="1428162" cy="384048"/>
          </a:xfrm>
          <a:prstGeom prst="rect">
            <a:avLst/>
          </a:prstGeom>
          <a:solidFill>
            <a:srgbClr val="FBF3E2"/>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2642616"/>
            <a:ext cx="1428162" cy="201168"/>
          </a:xfrm>
          <a:prstGeom prst="rect">
            <a:avLst/>
          </a:prstGeom>
          <a:noFill/>
        </p:spPr>
        <p:txBody>
          <a:bodyPr wrap="square" anchor="t" lIns="45720" rIns="45720">
            <a:spAutoFit/>
          </a:bodyPr>
          <a:lstStyle/>
          <a:p>
            <a:r>
              <a:rPr sz="800" b="1" i="0">
                <a:solidFill>
                  <a:srgbClr val="2E2E2E"/>
                </a:solidFill>
                <a:latin typeface="Arial"/>
              </a:rPr>
              <a:t>brand-gold-050</a:t>
            </a:r>
          </a:p>
        </p:txBody>
      </p:sp>
      <p:sp>
        <p:nvSpPr>
          <p:cNvPr id="32" name="TextBox 31"/>
          <p:cNvSpPr txBox="1"/>
          <p:nvPr/>
        </p:nvSpPr>
        <p:spPr>
          <a:xfrm>
            <a:off x="548640" y="2816352"/>
            <a:ext cx="1428162" cy="365760"/>
          </a:xfrm>
          <a:prstGeom prst="rect">
            <a:avLst/>
          </a:prstGeom>
          <a:noFill/>
        </p:spPr>
        <p:txBody>
          <a:bodyPr wrap="square" anchor="t" lIns="45720" rIns="45720">
            <a:spAutoFit/>
          </a:bodyPr>
          <a:lstStyle/>
          <a:p>
            <a:r>
              <a:rPr sz="700" b="0" i="0">
                <a:solidFill>
                  <a:srgbClr val="656565"/>
                </a:solidFill>
                <a:latin typeface="Arial"/>
              </a:rPr>
              <a:t>#FBF3E2 Neutrals (never pure black)</a:t>
            </a:r>
          </a:p>
        </p:txBody>
      </p:sp>
      <p:sp>
        <p:nvSpPr>
          <p:cNvPr id="33" name="Rectangle 32"/>
          <p:cNvSpPr/>
          <p:nvPr/>
        </p:nvSpPr>
        <p:spPr>
          <a:xfrm>
            <a:off x="2159682" y="2249424"/>
            <a:ext cx="1428162" cy="384048"/>
          </a:xfrm>
          <a:prstGeom prst="rect">
            <a:avLst/>
          </a:prstGeom>
          <a:solidFill>
            <a:srgbClr val="F6F6F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159682" y="2642616"/>
            <a:ext cx="1428162" cy="201168"/>
          </a:xfrm>
          <a:prstGeom prst="rect">
            <a:avLst/>
          </a:prstGeom>
          <a:noFill/>
        </p:spPr>
        <p:txBody>
          <a:bodyPr wrap="square" anchor="t" lIns="45720" rIns="45720">
            <a:spAutoFit/>
          </a:bodyPr>
          <a:lstStyle/>
          <a:p>
            <a:r>
              <a:rPr sz="800" b="1" i="0">
                <a:solidFill>
                  <a:srgbClr val="2E2E2E"/>
                </a:solidFill>
                <a:latin typeface="Arial"/>
              </a:rPr>
              <a:t>color-bg</a:t>
            </a:r>
          </a:p>
        </p:txBody>
      </p:sp>
      <p:sp>
        <p:nvSpPr>
          <p:cNvPr id="35" name="TextBox 34"/>
          <p:cNvSpPr txBox="1"/>
          <p:nvPr/>
        </p:nvSpPr>
        <p:spPr>
          <a:xfrm>
            <a:off x="2159682" y="2816352"/>
            <a:ext cx="1428162" cy="365760"/>
          </a:xfrm>
          <a:prstGeom prst="rect">
            <a:avLst/>
          </a:prstGeom>
          <a:noFill/>
        </p:spPr>
        <p:txBody>
          <a:bodyPr wrap="square" anchor="t" lIns="45720" rIns="45720">
            <a:spAutoFit/>
          </a:bodyPr>
          <a:lstStyle/>
          <a:p>
            <a:r>
              <a:rPr sz="700" b="0" i="0">
                <a:solidFill>
                  <a:srgbClr val="656565"/>
                </a:solidFill>
                <a:latin typeface="Arial"/>
              </a:rPr>
              <a:t>#F6F6F6 Dirty White</a:t>
            </a:r>
          </a:p>
        </p:txBody>
      </p:sp>
      <p:sp>
        <p:nvSpPr>
          <p:cNvPr id="36" name="Rectangle 35"/>
          <p:cNvSpPr/>
          <p:nvPr/>
        </p:nvSpPr>
        <p:spPr>
          <a:xfrm>
            <a:off x="3770724" y="2249424"/>
            <a:ext cx="1428162" cy="384048"/>
          </a:xfrm>
          <a:prstGeom prst="rect">
            <a:avLst/>
          </a:prstGeom>
          <a:solidFill>
            <a:srgbClr val="FFFFF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770724" y="2642616"/>
            <a:ext cx="1428162" cy="201168"/>
          </a:xfrm>
          <a:prstGeom prst="rect">
            <a:avLst/>
          </a:prstGeom>
          <a:noFill/>
        </p:spPr>
        <p:txBody>
          <a:bodyPr wrap="square" anchor="t" lIns="45720" rIns="45720">
            <a:spAutoFit/>
          </a:bodyPr>
          <a:lstStyle/>
          <a:p>
            <a:r>
              <a:rPr sz="800" b="1" i="0">
                <a:solidFill>
                  <a:srgbClr val="2E2E2E"/>
                </a:solidFill>
                <a:latin typeface="Arial"/>
              </a:rPr>
              <a:t>color-surface</a:t>
            </a:r>
          </a:p>
        </p:txBody>
      </p:sp>
      <p:sp>
        <p:nvSpPr>
          <p:cNvPr id="38" name="TextBox 37"/>
          <p:cNvSpPr txBox="1"/>
          <p:nvPr/>
        </p:nvSpPr>
        <p:spPr>
          <a:xfrm>
            <a:off x="3770724" y="2816352"/>
            <a:ext cx="1428162" cy="365760"/>
          </a:xfrm>
          <a:prstGeom prst="rect">
            <a:avLst/>
          </a:prstGeom>
          <a:noFill/>
        </p:spPr>
        <p:txBody>
          <a:bodyPr wrap="square" anchor="t" lIns="45720" rIns="45720">
            <a:spAutoFit/>
          </a:bodyPr>
          <a:lstStyle/>
          <a:p>
            <a:r>
              <a:rPr sz="700" b="0" i="0">
                <a:solidFill>
                  <a:srgbClr val="656565"/>
                </a:solidFill>
                <a:latin typeface="Arial"/>
              </a:rPr>
              <a:t>#FFFFFF </a:t>
            </a:r>
          </a:p>
        </p:txBody>
      </p:sp>
      <p:sp>
        <p:nvSpPr>
          <p:cNvPr id="39" name="Rectangle 38"/>
          <p:cNvSpPr/>
          <p:nvPr/>
        </p:nvSpPr>
        <p:spPr>
          <a:xfrm>
            <a:off x="5381766" y="2249424"/>
            <a:ext cx="1428162" cy="384048"/>
          </a:xfrm>
          <a:prstGeom prst="rect">
            <a:avLst/>
          </a:prstGeom>
          <a:solidFill>
            <a:srgbClr val="F6F6F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381766" y="2642616"/>
            <a:ext cx="1428162" cy="201168"/>
          </a:xfrm>
          <a:prstGeom prst="rect">
            <a:avLst/>
          </a:prstGeom>
          <a:noFill/>
        </p:spPr>
        <p:txBody>
          <a:bodyPr wrap="square" anchor="t" lIns="45720" rIns="45720">
            <a:spAutoFit/>
          </a:bodyPr>
          <a:lstStyle/>
          <a:p>
            <a:r>
              <a:rPr sz="800" b="1" i="0">
                <a:solidFill>
                  <a:srgbClr val="2E2E2E"/>
                </a:solidFill>
                <a:latin typeface="Arial"/>
              </a:rPr>
              <a:t>color-surface-alt</a:t>
            </a:r>
          </a:p>
        </p:txBody>
      </p:sp>
      <p:sp>
        <p:nvSpPr>
          <p:cNvPr id="41" name="TextBox 40"/>
          <p:cNvSpPr txBox="1"/>
          <p:nvPr/>
        </p:nvSpPr>
        <p:spPr>
          <a:xfrm>
            <a:off x="5381766" y="2816352"/>
            <a:ext cx="1428162" cy="365760"/>
          </a:xfrm>
          <a:prstGeom prst="rect">
            <a:avLst/>
          </a:prstGeom>
          <a:noFill/>
        </p:spPr>
        <p:txBody>
          <a:bodyPr wrap="square" anchor="t" lIns="45720" rIns="45720">
            <a:spAutoFit/>
          </a:bodyPr>
          <a:lstStyle/>
          <a:p>
            <a:r>
              <a:rPr sz="700" b="0" i="0">
                <a:solidFill>
                  <a:srgbClr val="656565"/>
                </a:solidFill>
                <a:latin typeface="Arial"/>
              </a:rPr>
              <a:t>#F6F6F6 </a:t>
            </a:r>
          </a:p>
        </p:txBody>
      </p:sp>
      <p:sp>
        <p:nvSpPr>
          <p:cNvPr id="42" name="Rectangle 41"/>
          <p:cNvSpPr/>
          <p:nvPr/>
        </p:nvSpPr>
        <p:spPr>
          <a:xfrm>
            <a:off x="6992808" y="2249424"/>
            <a:ext cx="1428162" cy="384048"/>
          </a:xfrm>
          <a:prstGeom prst="rect">
            <a:avLst/>
          </a:prstGeom>
          <a:solidFill>
            <a:srgbClr val="2E2E2E"/>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92808" y="2642616"/>
            <a:ext cx="1428162" cy="201168"/>
          </a:xfrm>
          <a:prstGeom prst="rect">
            <a:avLst/>
          </a:prstGeom>
          <a:noFill/>
        </p:spPr>
        <p:txBody>
          <a:bodyPr wrap="square" anchor="t" lIns="45720" rIns="45720">
            <a:spAutoFit/>
          </a:bodyPr>
          <a:lstStyle/>
          <a:p>
            <a:r>
              <a:rPr sz="800" b="1" i="0">
                <a:solidFill>
                  <a:srgbClr val="2E2E2E"/>
                </a:solidFill>
                <a:latin typeface="Arial"/>
              </a:rPr>
              <a:t>color-heading</a:t>
            </a:r>
          </a:p>
        </p:txBody>
      </p:sp>
      <p:sp>
        <p:nvSpPr>
          <p:cNvPr id="44" name="TextBox 43"/>
          <p:cNvSpPr txBox="1"/>
          <p:nvPr/>
        </p:nvSpPr>
        <p:spPr>
          <a:xfrm>
            <a:off x="6992808" y="2816352"/>
            <a:ext cx="1428162" cy="365760"/>
          </a:xfrm>
          <a:prstGeom prst="rect">
            <a:avLst/>
          </a:prstGeom>
          <a:noFill/>
        </p:spPr>
        <p:txBody>
          <a:bodyPr wrap="square" anchor="t" lIns="45720" rIns="45720">
            <a:spAutoFit/>
          </a:bodyPr>
          <a:lstStyle/>
          <a:p>
            <a:r>
              <a:rPr sz="700" b="0" i="0">
                <a:solidFill>
                  <a:srgbClr val="656565"/>
                </a:solidFill>
                <a:latin typeface="Arial"/>
              </a:rPr>
              <a:t>#2E2E2E Near Black</a:t>
            </a:r>
          </a:p>
        </p:txBody>
      </p:sp>
      <p:sp>
        <p:nvSpPr>
          <p:cNvPr id="45" name="Rectangle 44"/>
          <p:cNvSpPr/>
          <p:nvPr/>
        </p:nvSpPr>
        <p:spPr>
          <a:xfrm>
            <a:off x="8603850" y="2249424"/>
            <a:ext cx="1428162" cy="384048"/>
          </a:xfrm>
          <a:prstGeom prst="rect">
            <a:avLst/>
          </a:prstGeom>
          <a:solidFill>
            <a:srgbClr val="4B4B4B"/>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03850" y="2642616"/>
            <a:ext cx="1428162" cy="201168"/>
          </a:xfrm>
          <a:prstGeom prst="rect">
            <a:avLst/>
          </a:prstGeom>
          <a:noFill/>
        </p:spPr>
        <p:txBody>
          <a:bodyPr wrap="square" anchor="t" lIns="45720" rIns="45720">
            <a:spAutoFit/>
          </a:bodyPr>
          <a:lstStyle/>
          <a:p>
            <a:r>
              <a:rPr sz="800" b="1" i="0">
                <a:solidFill>
                  <a:srgbClr val="2E2E2E"/>
                </a:solidFill>
                <a:latin typeface="Arial"/>
              </a:rPr>
              <a:t>color-text</a:t>
            </a:r>
          </a:p>
        </p:txBody>
      </p:sp>
      <p:sp>
        <p:nvSpPr>
          <p:cNvPr id="47" name="TextBox 46"/>
          <p:cNvSpPr txBox="1"/>
          <p:nvPr/>
        </p:nvSpPr>
        <p:spPr>
          <a:xfrm>
            <a:off x="8603850" y="2816352"/>
            <a:ext cx="1428162" cy="365760"/>
          </a:xfrm>
          <a:prstGeom prst="rect">
            <a:avLst/>
          </a:prstGeom>
          <a:noFill/>
        </p:spPr>
        <p:txBody>
          <a:bodyPr wrap="square" anchor="t" lIns="45720" rIns="45720">
            <a:spAutoFit/>
          </a:bodyPr>
          <a:lstStyle/>
          <a:p>
            <a:r>
              <a:rPr sz="700" b="0" i="0">
                <a:solidFill>
                  <a:srgbClr val="656565"/>
                </a:solidFill>
                <a:latin typeface="Arial"/>
              </a:rPr>
              <a:t>#4B4B4B Dark Grey</a:t>
            </a:r>
          </a:p>
        </p:txBody>
      </p:sp>
      <p:sp>
        <p:nvSpPr>
          <p:cNvPr id="48" name="Rectangle 47"/>
          <p:cNvSpPr/>
          <p:nvPr/>
        </p:nvSpPr>
        <p:spPr>
          <a:xfrm>
            <a:off x="10214892" y="2249424"/>
            <a:ext cx="1428162" cy="384048"/>
          </a:xfrm>
          <a:prstGeom prst="rect">
            <a:avLst/>
          </a:prstGeom>
          <a:solidFill>
            <a:srgbClr val="65656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214892" y="2642616"/>
            <a:ext cx="1428162" cy="201168"/>
          </a:xfrm>
          <a:prstGeom prst="rect">
            <a:avLst/>
          </a:prstGeom>
          <a:noFill/>
        </p:spPr>
        <p:txBody>
          <a:bodyPr wrap="square" anchor="t" lIns="45720" rIns="45720">
            <a:spAutoFit/>
          </a:bodyPr>
          <a:lstStyle/>
          <a:p>
            <a:r>
              <a:rPr sz="800" b="1" i="0">
                <a:solidFill>
                  <a:srgbClr val="2E2E2E"/>
                </a:solidFill>
                <a:latin typeface="Arial"/>
              </a:rPr>
              <a:t>color-text-muted</a:t>
            </a:r>
          </a:p>
        </p:txBody>
      </p:sp>
      <p:sp>
        <p:nvSpPr>
          <p:cNvPr id="50" name="TextBox 49"/>
          <p:cNvSpPr txBox="1"/>
          <p:nvPr/>
        </p:nvSpPr>
        <p:spPr>
          <a:xfrm>
            <a:off x="10214892" y="2816352"/>
            <a:ext cx="1428162" cy="365760"/>
          </a:xfrm>
          <a:prstGeom prst="rect">
            <a:avLst/>
          </a:prstGeom>
          <a:noFill/>
        </p:spPr>
        <p:txBody>
          <a:bodyPr wrap="square" anchor="t" lIns="45720" rIns="45720">
            <a:spAutoFit/>
          </a:bodyPr>
          <a:lstStyle/>
          <a:p>
            <a:r>
              <a:rPr sz="700" b="0" i="0">
                <a:solidFill>
                  <a:srgbClr val="656565"/>
                </a:solidFill>
                <a:latin typeface="Arial"/>
              </a:rPr>
              <a:t>#656565 Base Grey</a:t>
            </a:r>
          </a:p>
        </p:txBody>
      </p:sp>
      <p:sp>
        <p:nvSpPr>
          <p:cNvPr id="51" name="Rectangle 50"/>
          <p:cNvSpPr/>
          <p:nvPr/>
        </p:nvSpPr>
        <p:spPr>
          <a:xfrm>
            <a:off x="548640" y="3236976"/>
            <a:ext cx="1428162" cy="384048"/>
          </a:xfrm>
          <a:prstGeom prst="rect">
            <a:avLst/>
          </a:prstGeom>
          <a:solidFill>
            <a:srgbClr val="91919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3630168"/>
            <a:ext cx="1428162" cy="201168"/>
          </a:xfrm>
          <a:prstGeom prst="rect">
            <a:avLst/>
          </a:prstGeom>
          <a:noFill/>
        </p:spPr>
        <p:txBody>
          <a:bodyPr wrap="square" anchor="t" lIns="45720" rIns="45720">
            <a:spAutoFit/>
          </a:bodyPr>
          <a:lstStyle/>
          <a:p>
            <a:r>
              <a:rPr sz="800" b="1" i="0">
                <a:solidFill>
                  <a:srgbClr val="2E2E2E"/>
                </a:solidFill>
                <a:latin typeface="Arial"/>
              </a:rPr>
              <a:t>color-placeholder</a:t>
            </a:r>
          </a:p>
        </p:txBody>
      </p:sp>
      <p:sp>
        <p:nvSpPr>
          <p:cNvPr id="53" name="TextBox 52"/>
          <p:cNvSpPr txBox="1"/>
          <p:nvPr/>
        </p:nvSpPr>
        <p:spPr>
          <a:xfrm>
            <a:off x="548640" y="3803904"/>
            <a:ext cx="1428162" cy="365760"/>
          </a:xfrm>
          <a:prstGeom prst="rect">
            <a:avLst/>
          </a:prstGeom>
          <a:noFill/>
        </p:spPr>
        <p:txBody>
          <a:bodyPr wrap="square" anchor="t" lIns="45720" rIns="45720">
            <a:spAutoFit/>
          </a:bodyPr>
          <a:lstStyle/>
          <a:p>
            <a:r>
              <a:rPr sz="700" b="0" i="0">
                <a:solidFill>
                  <a:srgbClr val="656565"/>
                </a:solidFill>
                <a:latin typeface="Arial"/>
              </a:rPr>
              <a:t>#919191 Medium Grey</a:t>
            </a:r>
          </a:p>
        </p:txBody>
      </p:sp>
      <p:sp>
        <p:nvSpPr>
          <p:cNvPr id="54" name="Rectangle 53"/>
          <p:cNvSpPr/>
          <p:nvPr/>
        </p:nvSpPr>
        <p:spPr>
          <a:xfrm>
            <a:off x="2159682" y="3236976"/>
            <a:ext cx="1428162" cy="384048"/>
          </a:xfrm>
          <a:prstGeom prst="rect">
            <a:avLst/>
          </a:prstGeom>
          <a:solidFill>
            <a:srgbClr val="E4E4E4"/>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159682" y="3630168"/>
            <a:ext cx="1428162" cy="201168"/>
          </a:xfrm>
          <a:prstGeom prst="rect">
            <a:avLst/>
          </a:prstGeom>
          <a:noFill/>
        </p:spPr>
        <p:txBody>
          <a:bodyPr wrap="square" anchor="t" lIns="45720" rIns="45720">
            <a:spAutoFit/>
          </a:bodyPr>
          <a:lstStyle/>
          <a:p>
            <a:r>
              <a:rPr sz="800" b="1" i="0">
                <a:solidFill>
                  <a:srgbClr val="2E2E2E"/>
                </a:solidFill>
                <a:latin typeface="Arial"/>
              </a:rPr>
              <a:t>color-border</a:t>
            </a:r>
          </a:p>
        </p:txBody>
      </p:sp>
      <p:sp>
        <p:nvSpPr>
          <p:cNvPr id="56" name="TextBox 55"/>
          <p:cNvSpPr txBox="1"/>
          <p:nvPr/>
        </p:nvSpPr>
        <p:spPr>
          <a:xfrm>
            <a:off x="2159682" y="3803904"/>
            <a:ext cx="1428162" cy="365760"/>
          </a:xfrm>
          <a:prstGeom prst="rect">
            <a:avLst/>
          </a:prstGeom>
          <a:noFill/>
        </p:spPr>
        <p:txBody>
          <a:bodyPr wrap="square" anchor="t" lIns="45720" rIns="45720">
            <a:spAutoFit/>
          </a:bodyPr>
          <a:lstStyle/>
          <a:p>
            <a:r>
              <a:rPr sz="700" b="0" i="0">
                <a:solidFill>
                  <a:srgbClr val="656565"/>
                </a:solidFill>
                <a:latin typeface="Arial"/>
              </a:rPr>
              <a:t>#E4E4E4 Dark Grey (elements)</a:t>
            </a:r>
          </a:p>
        </p:txBody>
      </p:sp>
      <p:sp>
        <p:nvSpPr>
          <p:cNvPr id="57" name="Rectangle 56"/>
          <p:cNvSpPr/>
          <p:nvPr/>
        </p:nvSpPr>
        <p:spPr>
          <a:xfrm>
            <a:off x="3770724" y="3236976"/>
            <a:ext cx="1428162" cy="384048"/>
          </a:xfrm>
          <a:prstGeom prst="rect">
            <a:avLst/>
          </a:prstGeom>
          <a:solidFill>
            <a:srgbClr val="C2C2C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770724" y="3630168"/>
            <a:ext cx="1428162" cy="201168"/>
          </a:xfrm>
          <a:prstGeom prst="rect">
            <a:avLst/>
          </a:prstGeom>
          <a:noFill/>
        </p:spPr>
        <p:txBody>
          <a:bodyPr wrap="square" anchor="t" lIns="45720" rIns="45720">
            <a:spAutoFit/>
          </a:bodyPr>
          <a:lstStyle/>
          <a:p>
            <a:r>
              <a:rPr sz="800" b="1" i="0">
                <a:solidFill>
                  <a:srgbClr val="2E2E2E"/>
                </a:solidFill>
                <a:latin typeface="Arial"/>
              </a:rPr>
              <a:t>color-border-strong</a:t>
            </a:r>
          </a:p>
        </p:txBody>
      </p:sp>
      <p:sp>
        <p:nvSpPr>
          <p:cNvPr id="59" name="TextBox 58"/>
          <p:cNvSpPr txBox="1"/>
          <p:nvPr/>
        </p:nvSpPr>
        <p:spPr>
          <a:xfrm>
            <a:off x="3770724" y="3803904"/>
            <a:ext cx="1428162" cy="365760"/>
          </a:xfrm>
          <a:prstGeom prst="rect">
            <a:avLst/>
          </a:prstGeom>
          <a:noFill/>
        </p:spPr>
        <p:txBody>
          <a:bodyPr wrap="square" anchor="t" lIns="45720" rIns="45720">
            <a:spAutoFit/>
          </a:bodyPr>
          <a:lstStyle/>
          <a:p>
            <a:r>
              <a:rPr sz="700" b="0" i="0">
                <a:solidFill>
                  <a:srgbClr val="656565"/>
                </a:solidFill>
                <a:latin typeface="Arial"/>
              </a:rPr>
              <a:t>#C2C2C1 Light Grey</a:t>
            </a:r>
          </a:p>
        </p:txBody>
      </p:sp>
      <p:sp>
        <p:nvSpPr>
          <p:cNvPr id="60" name="Rectangle 59"/>
          <p:cNvSpPr/>
          <p:nvPr/>
        </p:nvSpPr>
        <p:spPr>
          <a:xfrm>
            <a:off x="5381766" y="3236976"/>
            <a:ext cx="1428162" cy="384048"/>
          </a:xfrm>
          <a:prstGeom prst="rect">
            <a:avLst/>
          </a:prstGeom>
          <a:solidFill>
            <a:srgbClr val="1D7F4E"/>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381766" y="3630168"/>
            <a:ext cx="1428162" cy="201168"/>
          </a:xfrm>
          <a:prstGeom prst="rect">
            <a:avLst/>
          </a:prstGeom>
          <a:noFill/>
        </p:spPr>
        <p:txBody>
          <a:bodyPr wrap="square" anchor="t" lIns="45720" rIns="45720">
            <a:spAutoFit/>
          </a:bodyPr>
          <a:lstStyle/>
          <a:p>
            <a:r>
              <a:rPr sz="800" b="1" i="0">
                <a:solidFill>
                  <a:srgbClr val="2E2E2E"/>
                </a:solidFill>
                <a:latin typeface="Arial"/>
              </a:rPr>
              <a:t>color-success</a:t>
            </a:r>
          </a:p>
        </p:txBody>
      </p:sp>
      <p:sp>
        <p:nvSpPr>
          <p:cNvPr id="62" name="TextBox 61"/>
          <p:cNvSpPr txBox="1"/>
          <p:nvPr/>
        </p:nvSpPr>
        <p:spPr>
          <a:xfrm>
            <a:off x="5381766" y="3803904"/>
            <a:ext cx="1428162" cy="365760"/>
          </a:xfrm>
          <a:prstGeom prst="rect">
            <a:avLst/>
          </a:prstGeom>
          <a:noFill/>
        </p:spPr>
        <p:txBody>
          <a:bodyPr wrap="square" anchor="t" lIns="45720" rIns="45720">
            <a:spAutoFit/>
          </a:bodyPr>
          <a:lstStyle/>
          <a:p>
            <a:r>
              <a:rPr sz="700" b="0" i="0">
                <a:solidFill>
                  <a:srgbClr val="656565"/>
                </a:solidFill>
                <a:latin typeface="Arial"/>
              </a:rPr>
              <a:t>#1D7F4E </a:t>
            </a:r>
          </a:p>
        </p:txBody>
      </p:sp>
      <p:sp>
        <p:nvSpPr>
          <p:cNvPr id="63" name="Rectangle 62"/>
          <p:cNvSpPr/>
          <p:nvPr/>
        </p:nvSpPr>
        <p:spPr>
          <a:xfrm>
            <a:off x="6992808" y="3236976"/>
            <a:ext cx="1428162" cy="384048"/>
          </a:xfrm>
          <a:prstGeom prst="rect">
            <a:avLst/>
          </a:prstGeom>
          <a:solidFill>
            <a:srgbClr val="E6F5EC"/>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992808" y="3630168"/>
            <a:ext cx="1428162" cy="201168"/>
          </a:xfrm>
          <a:prstGeom prst="rect">
            <a:avLst/>
          </a:prstGeom>
          <a:noFill/>
        </p:spPr>
        <p:txBody>
          <a:bodyPr wrap="square" anchor="t" lIns="45720" rIns="45720">
            <a:spAutoFit/>
          </a:bodyPr>
          <a:lstStyle/>
          <a:p>
            <a:r>
              <a:rPr sz="800" b="1" i="0">
                <a:solidFill>
                  <a:srgbClr val="2E2E2E"/>
                </a:solidFill>
                <a:latin typeface="Arial"/>
              </a:rPr>
              <a:t>color-success-bg</a:t>
            </a:r>
          </a:p>
        </p:txBody>
      </p:sp>
      <p:sp>
        <p:nvSpPr>
          <p:cNvPr id="65" name="TextBox 64"/>
          <p:cNvSpPr txBox="1"/>
          <p:nvPr/>
        </p:nvSpPr>
        <p:spPr>
          <a:xfrm>
            <a:off x="6992808" y="3803904"/>
            <a:ext cx="1428162" cy="365760"/>
          </a:xfrm>
          <a:prstGeom prst="rect">
            <a:avLst/>
          </a:prstGeom>
          <a:noFill/>
        </p:spPr>
        <p:txBody>
          <a:bodyPr wrap="square" anchor="t" lIns="45720" rIns="45720">
            <a:spAutoFit/>
          </a:bodyPr>
          <a:lstStyle/>
          <a:p>
            <a:r>
              <a:rPr sz="700" b="0" i="0">
                <a:solidFill>
                  <a:srgbClr val="656565"/>
                </a:solidFill>
                <a:latin typeface="Arial"/>
              </a:rPr>
              <a:t>#E6F5EC </a:t>
            </a:r>
          </a:p>
        </p:txBody>
      </p:sp>
      <p:sp>
        <p:nvSpPr>
          <p:cNvPr id="66" name="Rectangle 65"/>
          <p:cNvSpPr/>
          <p:nvPr/>
        </p:nvSpPr>
        <p:spPr>
          <a:xfrm>
            <a:off x="8603850" y="3236976"/>
            <a:ext cx="1428162" cy="384048"/>
          </a:xfrm>
          <a:prstGeom prst="rect">
            <a:avLst/>
          </a:prstGeom>
          <a:solidFill>
            <a:srgbClr val="D32F2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603850" y="3630168"/>
            <a:ext cx="1428162" cy="201168"/>
          </a:xfrm>
          <a:prstGeom prst="rect">
            <a:avLst/>
          </a:prstGeom>
          <a:noFill/>
        </p:spPr>
        <p:txBody>
          <a:bodyPr wrap="square" anchor="t" lIns="45720" rIns="45720">
            <a:spAutoFit/>
          </a:bodyPr>
          <a:lstStyle/>
          <a:p>
            <a:r>
              <a:rPr sz="800" b="1" i="0">
                <a:solidFill>
                  <a:srgbClr val="2E2E2E"/>
                </a:solidFill>
                <a:latin typeface="Arial"/>
              </a:rPr>
              <a:t>color-danger</a:t>
            </a:r>
          </a:p>
        </p:txBody>
      </p:sp>
      <p:sp>
        <p:nvSpPr>
          <p:cNvPr id="68" name="TextBox 67"/>
          <p:cNvSpPr txBox="1"/>
          <p:nvPr/>
        </p:nvSpPr>
        <p:spPr>
          <a:xfrm>
            <a:off x="8603850" y="3803904"/>
            <a:ext cx="1428162" cy="365760"/>
          </a:xfrm>
          <a:prstGeom prst="rect">
            <a:avLst/>
          </a:prstGeom>
          <a:noFill/>
        </p:spPr>
        <p:txBody>
          <a:bodyPr wrap="square" anchor="t" lIns="45720" rIns="45720">
            <a:spAutoFit/>
          </a:bodyPr>
          <a:lstStyle/>
          <a:p>
            <a:r>
              <a:rPr sz="700" b="0" i="0">
                <a:solidFill>
                  <a:srgbClr val="656565"/>
                </a:solidFill>
                <a:latin typeface="Arial"/>
              </a:rPr>
              <a:t>#D32F2F </a:t>
            </a:r>
          </a:p>
        </p:txBody>
      </p:sp>
      <p:sp>
        <p:nvSpPr>
          <p:cNvPr id="69" name="Rectangle 68"/>
          <p:cNvSpPr/>
          <p:nvPr/>
        </p:nvSpPr>
        <p:spPr>
          <a:xfrm>
            <a:off x="10214892" y="3236976"/>
            <a:ext cx="1428162" cy="384048"/>
          </a:xfrm>
          <a:prstGeom prst="rect">
            <a:avLst/>
          </a:prstGeom>
          <a:solidFill>
            <a:srgbClr val="FDECEA"/>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214892" y="3630168"/>
            <a:ext cx="1428162" cy="201168"/>
          </a:xfrm>
          <a:prstGeom prst="rect">
            <a:avLst/>
          </a:prstGeom>
          <a:noFill/>
        </p:spPr>
        <p:txBody>
          <a:bodyPr wrap="square" anchor="t" lIns="45720" rIns="45720">
            <a:spAutoFit/>
          </a:bodyPr>
          <a:lstStyle/>
          <a:p>
            <a:r>
              <a:rPr sz="800" b="1" i="0">
                <a:solidFill>
                  <a:srgbClr val="2E2E2E"/>
                </a:solidFill>
                <a:latin typeface="Arial"/>
              </a:rPr>
              <a:t>color-danger-bg</a:t>
            </a:r>
          </a:p>
        </p:txBody>
      </p:sp>
      <p:sp>
        <p:nvSpPr>
          <p:cNvPr id="71" name="TextBox 70"/>
          <p:cNvSpPr txBox="1"/>
          <p:nvPr/>
        </p:nvSpPr>
        <p:spPr>
          <a:xfrm>
            <a:off x="10214892" y="3803904"/>
            <a:ext cx="1428162" cy="365760"/>
          </a:xfrm>
          <a:prstGeom prst="rect">
            <a:avLst/>
          </a:prstGeom>
          <a:noFill/>
        </p:spPr>
        <p:txBody>
          <a:bodyPr wrap="square" anchor="t" lIns="45720" rIns="45720">
            <a:spAutoFit/>
          </a:bodyPr>
          <a:lstStyle/>
          <a:p>
            <a:r>
              <a:rPr sz="700" b="0" i="0">
                <a:solidFill>
                  <a:srgbClr val="656565"/>
                </a:solidFill>
                <a:latin typeface="Arial"/>
              </a:rPr>
              <a:t>#FDECEA </a:t>
            </a:r>
          </a:p>
        </p:txBody>
      </p:sp>
      <p:sp>
        <p:nvSpPr>
          <p:cNvPr id="72" name="Rectangle 71"/>
          <p:cNvSpPr/>
          <p:nvPr/>
        </p:nvSpPr>
        <p:spPr>
          <a:xfrm>
            <a:off x="548640" y="4224528"/>
            <a:ext cx="1428162" cy="384048"/>
          </a:xfrm>
          <a:prstGeom prst="rect">
            <a:avLst/>
          </a:prstGeom>
          <a:solidFill>
            <a:srgbClr val="8A5A00"/>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48640" y="4617720"/>
            <a:ext cx="1428162" cy="201168"/>
          </a:xfrm>
          <a:prstGeom prst="rect">
            <a:avLst/>
          </a:prstGeom>
          <a:noFill/>
        </p:spPr>
        <p:txBody>
          <a:bodyPr wrap="square" anchor="t" lIns="45720" rIns="45720">
            <a:spAutoFit/>
          </a:bodyPr>
          <a:lstStyle/>
          <a:p>
            <a:r>
              <a:rPr sz="800" b="1" i="0">
                <a:solidFill>
                  <a:srgbClr val="2E2E2E"/>
                </a:solidFill>
                <a:latin typeface="Arial"/>
              </a:rPr>
              <a:t>color-warning</a:t>
            </a:r>
          </a:p>
        </p:txBody>
      </p:sp>
      <p:sp>
        <p:nvSpPr>
          <p:cNvPr id="74" name="TextBox 73"/>
          <p:cNvSpPr txBox="1"/>
          <p:nvPr/>
        </p:nvSpPr>
        <p:spPr>
          <a:xfrm>
            <a:off x="548640" y="4791456"/>
            <a:ext cx="1428162" cy="365760"/>
          </a:xfrm>
          <a:prstGeom prst="rect">
            <a:avLst/>
          </a:prstGeom>
          <a:noFill/>
        </p:spPr>
        <p:txBody>
          <a:bodyPr wrap="square" anchor="t" lIns="45720" rIns="45720">
            <a:spAutoFit/>
          </a:bodyPr>
          <a:lstStyle/>
          <a:p>
            <a:r>
              <a:rPr sz="700" b="0" i="0">
                <a:solidFill>
                  <a:srgbClr val="656565"/>
                </a:solidFill>
                <a:latin typeface="Arial"/>
              </a:rPr>
              <a:t>#8A5A00 </a:t>
            </a:r>
          </a:p>
        </p:txBody>
      </p:sp>
      <p:sp>
        <p:nvSpPr>
          <p:cNvPr id="75" name="Rectangle 74"/>
          <p:cNvSpPr/>
          <p:nvPr/>
        </p:nvSpPr>
        <p:spPr>
          <a:xfrm>
            <a:off x="2159682" y="4224528"/>
            <a:ext cx="1428162" cy="384048"/>
          </a:xfrm>
          <a:prstGeom prst="rect">
            <a:avLst/>
          </a:prstGeom>
          <a:solidFill>
            <a:srgbClr val="FFF4D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159682" y="4617720"/>
            <a:ext cx="1428162" cy="201168"/>
          </a:xfrm>
          <a:prstGeom prst="rect">
            <a:avLst/>
          </a:prstGeom>
          <a:noFill/>
        </p:spPr>
        <p:txBody>
          <a:bodyPr wrap="square" anchor="t" lIns="45720" rIns="45720">
            <a:spAutoFit/>
          </a:bodyPr>
          <a:lstStyle/>
          <a:p>
            <a:r>
              <a:rPr sz="800" b="1" i="0">
                <a:solidFill>
                  <a:srgbClr val="2E2E2E"/>
                </a:solidFill>
                <a:latin typeface="Arial"/>
              </a:rPr>
              <a:t>color-warning-bg</a:t>
            </a:r>
          </a:p>
        </p:txBody>
      </p:sp>
      <p:sp>
        <p:nvSpPr>
          <p:cNvPr id="77" name="TextBox 76"/>
          <p:cNvSpPr txBox="1"/>
          <p:nvPr/>
        </p:nvSpPr>
        <p:spPr>
          <a:xfrm>
            <a:off x="2159682" y="4791456"/>
            <a:ext cx="1428162" cy="365760"/>
          </a:xfrm>
          <a:prstGeom prst="rect">
            <a:avLst/>
          </a:prstGeom>
          <a:noFill/>
        </p:spPr>
        <p:txBody>
          <a:bodyPr wrap="square" anchor="t" lIns="45720" rIns="45720">
            <a:spAutoFit/>
          </a:bodyPr>
          <a:lstStyle/>
          <a:p>
            <a:r>
              <a:rPr sz="700" b="0" i="0">
                <a:solidFill>
                  <a:srgbClr val="656565"/>
                </a:solidFill>
                <a:latin typeface="Arial"/>
              </a:rPr>
              <a:t>#FFF4D6 </a:t>
            </a:r>
          </a:p>
        </p:txBody>
      </p:sp>
      <p:sp>
        <p:nvSpPr>
          <p:cNvPr id="78" name="Rectangle 77"/>
          <p:cNvSpPr/>
          <p:nvPr/>
        </p:nvSpPr>
        <p:spPr>
          <a:xfrm>
            <a:off x="3770724" y="4224528"/>
            <a:ext cx="1428162" cy="384048"/>
          </a:xfrm>
          <a:prstGeom prst="rect">
            <a:avLst/>
          </a:prstGeom>
          <a:solidFill>
            <a:srgbClr val="E0A100"/>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770724" y="4617720"/>
            <a:ext cx="1428162" cy="201168"/>
          </a:xfrm>
          <a:prstGeom prst="rect">
            <a:avLst/>
          </a:prstGeom>
          <a:noFill/>
        </p:spPr>
        <p:txBody>
          <a:bodyPr wrap="square" anchor="t" lIns="45720" rIns="45720">
            <a:spAutoFit/>
          </a:bodyPr>
          <a:lstStyle/>
          <a:p>
            <a:r>
              <a:rPr sz="800" b="1" i="0">
                <a:solidFill>
                  <a:srgbClr val="2E2E2E"/>
                </a:solidFill>
                <a:latin typeface="Arial"/>
              </a:rPr>
              <a:t>color-warning-accent</a:t>
            </a:r>
          </a:p>
        </p:txBody>
      </p:sp>
      <p:sp>
        <p:nvSpPr>
          <p:cNvPr id="80" name="TextBox 79"/>
          <p:cNvSpPr txBox="1"/>
          <p:nvPr/>
        </p:nvSpPr>
        <p:spPr>
          <a:xfrm>
            <a:off x="3770724" y="4791456"/>
            <a:ext cx="1428162" cy="365760"/>
          </a:xfrm>
          <a:prstGeom prst="rect">
            <a:avLst/>
          </a:prstGeom>
          <a:noFill/>
        </p:spPr>
        <p:txBody>
          <a:bodyPr wrap="square" anchor="t" lIns="45720" rIns="45720">
            <a:spAutoFit/>
          </a:bodyPr>
          <a:lstStyle/>
          <a:p>
            <a:r>
              <a:rPr sz="700" b="0" i="0">
                <a:solidFill>
                  <a:srgbClr val="656565"/>
                </a:solidFill>
                <a:latin typeface="Arial"/>
              </a:rPr>
              <a:t>#E0A100 amber accent bar and icon of warnings</a:t>
            </a:r>
          </a:p>
        </p:txBody>
      </p:sp>
      <p:sp>
        <p:nvSpPr>
          <p:cNvPr id="81" name="Rectangle 80"/>
          <p:cNvSpPr/>
          <p:nvPr/>
        </p:nvSpPr>
        <p:spPr>
          <a:xfrm>
            <a:off x="5381766" y="4224528"/>
            <a:ext cx="1428162" cy="384048"/>
          </a:xfrm>
          <a:prstGeom prst="rect">
            <a:avLst/>
          </a:prstGeom>
          <a:solidFill>
            <a:srgbClr val="2F6DB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381766" y="4617720"/>
            <a:ext cx="1428162" cy="201168"/>
          </a:xfrm>
          <a:prstGeom prst="rect">
            <a:avLst/>
          </a:prstGeom>
          <a:noFill/>
        </p:spPr>
        <p:txBody>
          <a:bodyPr wrap="square" anchor="t" lIns="45720" rIns="45720">
            <a:spAutoFit/>
          </a:bodyPr>
          <a:lstStyle/>
          <a:p>
            <a:r>
              <a:rPr sz="800" b="1" i="0">
                <a:solidFill>
                  <a:srgbClr val="2E2E2E"/>
                </a:solidFill>
                <a:latin typeface="Arial"/>
              </a:rPr>
              <a:t>color-info</a:t>
            </a:r>
          </a:p>
        </p:txBody>
      </p:sp>
      <p:sp>
        <p:nvSpPr>
          <p:cNvPr id="83" name="TextBox 82"/>
          <p:cNvSpPr txBox="1"/>
          <p:nvPr/>
        </p:nvSpPr>
        <p:spPr>
          <a:xfrm>
            <a:off x="5381766" y="4791456"/>
            <a:ext cx="1428162" cy="365760"/>
          </a:xfrm>
          <a:prstGeom prst="rect">
            <a:avLst/>
          </a:prstGeom>
          <a:noFill/>
        </p:spPr>
        <p:txBody>
          <a:bodyPr wrap="square" anchor="t" lIns="45720" rIns="45720">
            <a:spAutoFit/>
          </a:bodyPr>
          <a:lstStyle/>
          <a:p>
            <a:r>
              <a:rPr sz="700" b="0" i="0">
                <a:solidFill>
                  <a:srgbClr val="656565"/>
                </a:solidFill>
                <a:latin typeface="Arial"/>
              </a:rPr>
              <a:t>#2F6DB5 </a:t>
            </a:r>
          </a:p>
        </p:txBody>
      </p:sp>
      <p:sp>
        <p:nvSpPr>
          <p:cNvPr id="84" name="Rectangle 83"/>
          <p:cNvSpPr/>
          <p:nvPr/>
        </p:nvSpPr>
        <p:spPr>
          <a:xfrm>
            <a:off x="6992808" y="4224528"/>
            <a:ext cx="1428162" cy="384048"/>
          </a:xfrm>
          <a:prstGeom prst="rect">
            <a:avLst/>
          </a:prstGeom>
          <a:solidFill>
            <a:srgbClr val="EEF3F9"/>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992808" y="4617720"/>
            <a:ext cx="1428162" cy="201168"/>
          </a:xfrm>
          <a:prstGeom prst="rect">
            <a:avLst/>
          </a:prstGeom>
          <a:noFill/>
        </p:spPr>
        <p:txBody>
          <a:bodyPr wrap="square" anchor="t" lIns="45720" rIns="45720">
            <a:spAutoFit/>
          </a:bodyPr>
          <a:lstStyle/>
          <a:p>
            <a:r>
              <a:rPr sz="800" b="1" i="0">
                <a:solidFill>
                  <a:srgbClr val="2E2E2E"/>
                </a:solidFill>
                <a:latin typeface="Arial"/>
              </a:rPr>
              <a:t>color-info-bg</a:t>
            </a:r>
          </a:p>
        </p:txBody>
      </p:sp>
      <p:sp>
        <p:nvSpPr>
          <p:cNvPr id="86" name="TextBox 85"/>
          <p:cNvSpPr txBox="1"/>
          <p:nvPr/>
        </p:nvSpPr>
        <p:spPr>
          <a:xfrm>
            <a:off x="6992808" y="4791456"/>
            <a:ext cx="1428162" cy="365760"/>
          </a:xfrm>
          <a:prstGeom prst="rect">
            <a:avLst/>
          </a:prstGeom>
          <a:noFill/>
        </p:spPr>
        <p:txBody>
          <a:bodyPr wrap="square" anchor="t" lIns="45720" rIns="45720">
            <a:spAutoFit/>
          </a:bodyPr>
          <a:lstStyle/>
          <a:p>
            <a:r>
              <a:rPr sz="700" b="0" i="0">
                <a:solidFill>
                  <a:srgbClr val="656565"/>
                </a:solidFill>
                <a:latin typeface="Arial"/>
              </a:rPr>
              <a:t>#EEF3F9 Typography (platform default; the theme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Type scale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a:t>
            </a:r>
          </a:p>
        </p:txBody>
      </p:sp>
      <p:graphicFrame>
        <p:nvGraphicFramePr>
          <p:cNvPr id="9" name="Table 8"/>
          <p:cNvGraphicFramePr>
            <a:graphicFrameLocks noGrp="1"/>
          </p:cNvGraphicFramePr>
          <p:nvPr/>
        </p:nvGraphicFramePr>
        <p:xfrm>
          <a:off x="548640" y="1325880"/>
          <a:ext cx="11094413" cy="2743190"/>
        </p:xfrm>
        <a:graphic>
          <a:graphicData uri="http://schemas.openxmlformats.org/drawingml/2006/table">
            <a:tbl>
              <a:tblPr firstRow="1" bandRow="1">
                <a:tableStyleId>{5C22544A-7EE6-4342-B048-85BDC9FD1C3A}</a:tableStyleId>
              </a:tblPr>
              <a:tblGrid>
                <a:gridCol w="3584349"/>
                <a:gridCol w="2560249"/>
                <a:gridCol w="4949815"/>
              </a:tblGrid>
              <a:tr h="274319">
                <a:tc>
                  <a:txBody>
                    <a:bodyPr/>
                    <a:lstStyle/>
                    <a:p>
                      <a:r>
                        <a:rPr sz="1200" b="1">
                          <a:solidFill>
                            <a:srgbClr val="FFFFFF"/>
                          </a:solidFill>
                          <a:latin typeface="Arial"/>
                        </a:rPr>
                        <a:t>Use</a:t>
                      </a:r>
                    </a:p>
                  </a:txBody>
                  <a:tcPr marL="54864" marR="54864" marT="27432" marB="27432">
                    <a:solidFill>
                      <a:srgbClr val="004EA8"/>
                    </a:solidFill>
                  </a:tcPr>
                </a:tc>
                <a:tc>
                  <a:txBody>
                    <a:bodyPr/>
                    <a:lstStyle/>
                    <a:p>
                      <a:r>
                        <a:rPr sz="1200" b="1">
                          <a:solidFill>
                            <a:srgbClr val="FFFFFF"/>
                          </a:solidFill>
                          <a:latin typeface="Arial"/>
                        </a:rPr>
                        <a:t>Size / line height</a:t>
                      </a:r>
                    </a:p>
                  </a:txBody>
                  <a:tcPr marL="54864" marR="54864" marT="27432" marB="27432">
                    <a:solidFill>
                      <a:srgbClr val="004EA8"/>
                    </a:solidFill>
                  </a:tcPr>
                </a:tc>
                <a:tc>
                  <a:txBody>
                    <a:bodyPr/>
                    <a:lstStyle/>
                    <a:p>
                      <a:r>
                        <a:rPr sz="1200" b="1">
                          <a:solidFill>
                            <a:srgbClr val="FFFFFF"/>
                          </a:solidFill>
                          <a:latin typeface="Arial"/>
                        </a:rPr>
                        <a:t>Weight and colour</a:t>
                      </a:r>
                    </a:p>
                  </a:txBody>
                  <a:tcPr marL="54864" marR="54864" marT="27432" marB="27432">
                    <a:solidFill>
                      <a:srgbClr val="004EA8"/>
                    </a:solidFill>
                  </a:tcPr>
                </a:tc>
              </a:tr>
              <a:tr h="274319">
                <a:tc>
                  <a:txBody>
                    <a:bodyPr/>
                    <a:lstStyle/>
                    <a:p>
                      <a:r>
                        <a:rPr sz="1200" b="0">
                          <a:solidFill>
                            <a:srgbClr val="4B4B4B"/>
                          </a:solidFill>
                          <a:latin typeface="Arial"/>
                        </a:rPr>
                        <a:t>Page title (h1)</a:t>
                      </a:r>
                    </a:p>
                  </a:txBody>
                  <a:tcPr marL="54864" marR="54864" marT="27432" marB="27432">
                    <a:solidFill>
                      <a:srgbClr val="FFFFFF"/>
                    </a:solidFill>
                  </a:tcPr>
                </a:tc>
                <a:tc>
                  <a:txBody>
                    <a:bodyPr/>
                    <a:lstStyle/>
                    <a:p>
                      <a:r>
                        <a:rPr sz="1200" b="0">
                          <a:solidFill>
                            <a:srgbClr val="4B4B4B"/>
                          </a:solidFill>
                          <a:latin typeface="Arial"/>
                        </a:rPr>
                        <a:t>28 / 36</a:t>
                      </a:r>
                    </a:p>
                  </a:txBody>
                  <a:tcPr marL="54864" marR="54864" marT="27432" marB="27432">
                    <a:solidFill>
                      <a:srgbClr val="FFFFFF"/>
                    </a:solidFill>
                  </a:tcPr>
                </a:tc>
                <a:tc>
                  <a:txBody>
                    <a:bodyPr/>
                    <a:lstStyle/>
                    <a:p>
                      <a:r>
                        <a:rPr sz="1200" b="0">
                          <a:solidFill>
                            <a:srgbClr val="4B4B4B"/>
                          </a:solidFill>
                          <a:latin typeface="Arial"/>
                        </a:rPr>
                        <a:t>Bold, Near Black #2E2E2E</a:t>
                      </a:r>
                    </a:p>
                  </a:txBody>
                  <a:tcPr marL="54864" marR="54864" marT="27432" marB="27432">
                    <a:solidFill>
                      <a:srgbClr val="FFFFFF"/>
                    </a:solidFill>
                  </a:tcPr>
                </a:tc>
              </a:tr>
              <a:tr h="274319">
                <a:tc>
                  <a:txBody>
                    <a:bodyPr/>
                    <a:lstStyle/>
                    <a:p>
                      <a:r>
                        <a:rPr sz="1200" b="0">
                          <a:solidFill>
                            <a:srgbClr val="4B4B4B"/>
                          </a:solidFill>
                          <a:latin typeface="Arial"/>
                        </a:rPr>
                        <a:t>Section title</a:t>
                      </a:r>
                    </a:p>
                  </a:txBody>
                  <a:tcPr marL="54864" marR="54864" marT="27432" marB="27432">
                    <a:solidFill>
                      <a:srgbClr val="E5F5FF"/>
                    </a:solidFill>
                  </a:tcPr>
                </a:tc>
                <a:tc>
                  <a:txBody>
                    <a:bodyPr/>
                    <a:lstStyle/>
                    <a:p>
                      <a:r>
                        <a:rPr sz="1200" b="0">
                          <a:solidFill>
                            <a:srgbClr val="4B4B4B"/>
                          </a:solidFill>
                          <a:latin typeface="Arial"/>
                        </a:rPr>
                        <a:t>18 / 28</a:t>
                      </a:r>
                    </a:p>
                  </a:txBody>
                  <a:tcPr marL="54864" marR="54864" marT="27432" marB="27432">
                    <a:solidFill>
                      <a:srgbClr val="E5F5FF"/>
                    </a:solidFill>
                  </a:tcPr>
                </a:tc>
                <a:tc>
                  <a:txBody>
                    <a:bodyPr/>
                    <a:lstStyle/>
                    <a:p>
                      <a:r>
                        <a:rPr sz="1200" b="0">
                          <a:solidFill>
                            <a:srgbClr val="4B4B4B"/>
                          </a:solidFill>
                          <a:latin typeface="Arial"/>
                        </a:rPr>
                        <a:t>Bold, Near Black</a:t>
                      </a:r>
                    </a:p>
                  </a:txBody>
                  <a:tcPr marL="54864" marR="54864" marT="27432" marB="27432">
                    <a:solidFill>
                      <a:srgbClr val="E5F5FF"/>
                    </a:solidFill>
                  </a:tcPr>
                </a:tc>
              </a:tr>
              <a:tr h="274319">
                <a:tc>
                  <a:txBody>
                    <a:bodyPr/>
                    <a:lstStyle/>
                    <a:p>
                      <a:r>
                        <a:rPr sz="1200" b="0">
                          <a:solidFill>
                            <a:srgbClr val="4B4B4B"/>
                          </a:solidFill>
                          <a:latin typeface="Arial"/>
                        </a:rPr>
                        <a:t>Group title</a:t>
                      </a:r>
                    </a:p>
                  </a:txBody>
                  <a:tcPr marL="54864" marR="54864" marT="27432" marB="27432">
                    <a:solidFill>
                      <a:srgbClr val="FFFFFF"/>
                    </a:solidFill>
                  </a:tcPr>
                </a:tc>
                <a:tc>
                  <a:txBody>
                    <a:bodyPr/>
                    <a:lstStyle/>
                    <a:p>
                      <a:r>
                        <a:rPr sz="1200" b="0">
                          <a:solidFill>
                            <a:srgbClr val="4B4B4B"/>
                          </a:solidFill>
                          <a:latin typeface="Arial"/>
                        </a:rPr>
                        <a:t>16 / 24</a:t>
                      </a:r>
                    </a:p>
                  </a:txBody>
                  <a:tcPr marL="54864" marR="54864" marT="27432" marB="27432">
                    <a:solidFill>
                      <a:srgbClr val="FFFFFF"/>
                    </a:solidFill>
                  </a:tcPr>
                </a:tc>
                <a:tc>
                  <a:txBody>
                    <a:bodyPr/>
                    <a:lstStyle/>
                    <a:p>
                      <a:r>
                        <a:rPr sz="1200" b="0">
                          <a:solidFill>
                            <a:srgbClr val="4B4B4B"/>
                          </a:solidFill>
                          <a:latin typeface="Arial"/>
                        </a:rPr>
                        <a:t>Bold, Near Black</a:t>
                      </a:r>
                    </a:p>
                  </a:txBody>
                  <a:tcPr marL="54864" marR="54864" marT="27432" marB="27432">
                    <a:solidFill>
                      <a:srgbClr val="FFFFFF"/>
                    </a:solidFill>
                  </a:tcPr>
                </a:tc>
              </a:tr>
              <a:tr h="274319">
                <a:tc>
                  <a:txBody>
                    <a:bodyPr/>
                    <a:lstStyle/>
                    <a:p>
                      <a:r>
                        <a:rPr sz="1200" b="0">
                          <a:solidFill>
                            <a:srgbClr val="4B4B4B"/>
                          </a:solidFill>
                          <a:latin typeface="Arial"/>
                        </a:rPr>
                        <a:t>Lead paragraph</a:t>
                      </a:r>
                    </a:p>
                  </a:txBody>
                  <a:tcPr marL="54864" marR="54864" marT="27432" marB="27432">
                    <a:solidFill>
                      <a:srgbClr val="E5F5FF"/>
                    </a:solidFill>
                  </a:tcPr>
                </a:tc>
                <a:tc>
                  <a:txBody>
                    <a:bodyPr/>
                    <a:lstStyle/>
                    <a:p>
                      <a:r>
                        <a:rPr sz="1200" b="0">
                          <a:solidFill>
                            <a:srgbClr val="4B4B4B"/>
                          </a:solidFill>
                          <a:latin typeface="Arial"/>
                        </a:rPr>
                        <a:t>18 / 28</a:t>
                      </a:r>
                    </a:p>
                  </a:txBody>
                  <a:tcPr marL="54864" marR="54864" marT="27432" marB="27432">
                    <a:solidFill>
                      <a:srgbClr val="E5F5FF"/>
                    </a:solidFill>
                  </a:tcPr>
                </a:tc>
                <a:tc>
                  <a:txBody>
                    <a:bodyPr/>
                    <a:lstStyle/>
                    <a:p>
                      <a:r>
                        <a:rPr sz="1200" b="0">
                          <a:solidFill>
                            <a:srgbClr val="4B4B4B"/>
                          </a:solidFill>
                          <a:latin typeface="Arial"/>
                        </a:rPr>
                        <a:t>Regular, Dark Grey #4B4B4B</a:t>
                      </a:r>
                    </a:p>
                  </a:txBody>
                  <a:tcPr marL="54864" marR="54864" marT="27432" marB="27432">
                    <a:solidFill>
                      <a:srgbClr val="E5F5FF"/>
                    </a:solidFill>
                  </a:tcPr>
                </a:tc>
              </a:tr>
              <a:tr h="274319">
                <a:tc>
                  <a:txBody>
                    <a:bodyPr/>
                    <a:lstStyle/>
                    <a:p>
                      <a:r>
                        <a:rPr sz="1200" b="0">
                          <a:solidFill>
                            <a:srgbClr val="4B4B4B"/>
                          </a:solidFill>
                          <a:latin typeface="Arial"/>
                        </a:rPr>
                        <a:t>Content</a:t>
                      </a:r>
                    </a:p>
                  </a:txBody>
                  <a:tcPr marL="54864" marR="54864" marT="27432" marB="27432">
                    <a:solidFill>
                      <a:srgbClr val="FFFFFF"/>
                    </a:solidFill>
                  </a:tcPr>
                </a:tc>
                <a:tc>
                  <a:txBody>
                    <a:bodyPr/>
                    <a:lstStyle/>
                    <a:p>
                      <a:r>
                        <a:rPr sz="1200" b="0">
                          <a:solidFill>
                            <a:srgbClr val="4B4B4B"/>
                          </a:solidFill>
                          <a:latin typeface="Arial"/>
                        </a:rPr>
                        <a:t>16 / 24</a:t>
                      </a:r>
                    </a:p>
                  </a:txBody>
                  <a:tcPr marL="54864" marR="54864" marT="27432" marB="27432">
                    <a:solidFill>
                      <a:srgbClr val="FFFFFF"/>
                    </a:solidFill>
                  </a:tcPr>
                </a:tc>
                <a:tc>
                  <a:txBody>
                    <a:bodyPr/>
                    <a:lstStyle/>
                    <a:p>
                      <a:r>
                        <a:rPr sz="1200" b="0">
                          <a:solidFill>
                            <a:srgbClr val="4B4B4B"/>
                          </a:solidFill>
                          <a:latin typeface="Arial"/>
                        </a:rPr>
                        <a:t>Regular, Dark Grey</a:t>
                      </a:r>
                    </a:p>
                  </a:txBody>
                  <a:tcPr marL="54864" marR="54864" marT="27432" marB="27432">
                    <a:solidFill>
                      <a:srgbClr val="FFFFFF"/>
                    </a:solidFill>
                  </a:tcPr>
                </a:tc>
              </a:tr>
              <a:tr h="274319">
                <a:tc>
                  <a:txBody>
                    <a:bodyPr/>
                    <a:lstStyle/>
                    <a:p>
                      <a:r>
                        <a:rPr sz="1200" b="0">
                          <a:solidFill>
                            <a:srgbClr val="4B4B4B"/>
                          </a:solidFill>
                          <a:latin typeface="Arial"/>
                        </a:rPr>
                        <a:t>Application default (tables, forms)</a:t>
                      </a:r>
                    </a:p>
                  </a:txBody>
                  <a:tcPr marL="54864" marR="54864" marT="27432" marB="27432">
                    <a:solidFill>
                      <a:srgbClr val="E5F5FF"/>
                    </a:solidFill>
                  </a:tcPr>
                </a:tc>
                <a:tc>
                  <a:txBody>
                    <a:bodyPr/>
                    <a:lstStyle/>
                    <a:p>
                      <a:r>
                        <a:rPr sz="1200" b="0">
                          <a:solidFill>
                            <a:srgbClr val="4B4B4B"/>
                          </a:solidFill>
                          <a:latin typeface="Arial"/>
                        </a:rPr>
                        <a:t>14 / 20</a:t>
                      </a:r>
                    </a:p>
                  </a:txBody>
                  <a:tcPr marL="54864" marR="54864" marT="27432" marB="27432">
                    <a:solidFill>
                      <a:srgbClr val="E5F5FF"/>
                    </a:solidFill>
                  </a:tcPr>
                </a:tc>
                <a:tc>
                  <a:txBody>
                    <a:bodyPr/>
                    <a:lstStyle/>
                    <a:p>
                      <a:r>
                        <a:rPr sz="1200" b="0">
                          <a:solidFill>
                            <a:srgbClr val="4B4B4B"/>
                          </a:solidFill>
                          <a:latin typeface="Arial"/>
                        </a:rPr>
                        <a:t>Regular, Dark Grey</a:t>
                      </a:r>
                    </a:p>
                  </a:txBody>
                  <a:tcPr marL="54864" marR="54864" marT="27432" marB="27432">
                    <a:solidFill>
                      <a:srgbClr val="E5F5FF"/>
                    </a:solidFill>
                  </a:tcPr>
                </a:tc>
              </a:tr>
              <a:tr h="274319">
                <a:tc>
                  <a:txBody>
                    <a:bodyPr/>
                    <a:lstStyle/>
                    <a:p>
                      <a:r>
                        <a:rPr sz="1200" b="0">
                          <a:solidFill>
                            <a:srgbClr val="4B4B4B"/>
                          </a:solidFill>
                          <a:latin typeface="Arial"/>
                        </a:rPr>
                        <a:t>Fine print, format hints</a:t>
                      </a:r>
                    </a:p>
                  </a:txBody>
                  <a:tcPr marL="54864" marR="54864" marT="27432" marB="27432">
                    <a:solidFill>
                      <a:srgbClr val="FFFFFF"/>
                    </a:solidFill>
                  </a:tcPr>
                </a:tc>
                <a:tc>
                  <a:txBody>
                    <a:bodyPr/>
                    <a:lstStyle/>
                    <a:p>
                      <a:r>
                        <a:rPr sz="1200" b="0">
                          <a:solidFill>
                            <a:srgbClr val="4B4B4B"/>
                          </a:solidFill>
                          <a:latin typeface="Arial"/>
                        </a:rPr>
                        <a:t>12 / 16</a:t>
                      </a:r>
                    </a:p>
                  </a:txBody>
                  <a:tcPr marL="54864" marR="54864" marT="27432" marB="27432">
                    <a:solidFill>
                      <a:srgbClr val="FFFFFF"/>
                    </a:solidFill>
                  </a:tcPr>
                </a:tc>
                <a:tc>
                  <a:txBody>
                    <a:bodyPr/>
                    <a:lstStyle/>
                    <a:p>
                      <a:r>
                        <a:rPr sz="1200" b="0">
                          <a:solidFill>
                            <a:srgbClr val="4B4B4B"/>
                          </a:solidFill>
                          <a:latin typeface="Arial"/>
                        </a:rPr>
                        <a:t>Regular, Base Grey #656565</a:t>
                      </a:r>
                    </a:p>
                  </a:txBody>
                  <a:tcPr marL="54864" marR="54864" marT="27432" marB="27432">
                    <a:solidFill>
                      <a:srgbClr val="FFFFFF"/>
                    </a:solidFill>
                  </a:tcPr>
                </a:tc>
              </a:tr>
              <a:tr h="274319">
                <a:tc>
                  <a:txBody>
                    <a:bodyPr/>
                    <a:lstStyle/>
                    <a:p>
                      <a:r>
                        <a:rPr sz="1200" b="0">
                          <a:solidFill>
                            <a:srgbClr val="4B4B4B"/>
                          </a:solidFill>
                          <a:latin typeface="Arial"/>
                        </a:rPr>
                        <a:t>Buttons</a:t>
                      </a:r>
                    </a:p>
                  </a:txBody>
                  <a:tcPr marL="54864" marR="54864" marT="27432" marB="27432">
                    <a:solidFill>
                      <a:srgbClr val="E5F5FF"/>
                    </a:solidFill>
                  </a:tcPr>
                </a:tc>
                <a:tc>
                  <a:txBody>
                    <a:bodyPr/>
                    <a:lstStyle/>
                    <a:p>
                      <a:r>
                        <a:rPr sz="1200" b="0">
                          <a:solidFill>
                            <a:srgbClr val="4B4B4B"/>
                          </a:solidFill>
                          <a:latin typeface="Arial"/>
                        </a:rPr>
                        <a:t>14, Title Case</a:t>
                      </a:r>
                    </a:p>
                  </a:txBody>
                  <a:tcPr marL="54864" marR="54864" marT="27432" marB="27432">
                    <a:solidFill>
                      <a:srgbClr val="E5F5FF"/>
                    </a:solidFill>
                  </a:tcPr>
                </a:tc>
                <a:tc>
                  <a:txBody>
                    <a:bodyPr/>
                    <a:lstStyle/>
                    <a:p>
                      <a:r>
                        <a:rPr sz="1200" b="0">
                          <a:solidFill>
                            <a:srgbClr val="4B4B4B"/>
                          </a:solidFill>
                          <a:latin typeface="Arial"/>
                        </a:rPr>
                        <a:t>Bold; white on CTA Blue (primary), CTA Blue on white (secondary)</a:t>
                      </a:r>
                    </a:p>
                  </a:txBody>
                  <a:tcPr marL="54864" marR="54864" marT="27432" marB="27432">
                    <a:solidFill>
                      <a:srgbClr val="E5F5FF"/>
                    </a:solidFill>
                  </a:tcPr>
                </a:tc>
              </a:tr>
              <a:tr h="274319">
                <a:tc>
                  <a:txBody>
                    <a:bodyPr/>
                    <a:lstStyle/>
                    <a:p>
                      <a:r>
                        <a:rPr sz="1200" b="0">
                          <a:solidFill>
                            <a:srgbClr val="4B4B4B"/>
                          </a:solidFill>
                          <a:latin typeface="Arial"/>
                        </a:rPr>
                        <a:t>Status pill</a:t>
                      </a:r>
                    </a:p>
                  </a:txBody>
                  <a:tcPr marL="54864" marR="54864" marT="27432" marB="27432">
                    <a:solidFill>
                      <a:srgbClr val="FFFFFF"/>
                    </a:solidFill>
                  </a:tcPr>
                </a:tc>
                <a:tc>
                  <a:txBody>
                    <a:bodyPr/>
                    <a:lstStyle/>
                    <a:p>
                      <a:r>
                        <a:rPr sz="1200" b="0">
                          <a:solidFill>
                            <a:srgbClr val="4B4B4B"/>
                          </a:solidFill>
                          <a:latin typeface="Arial"/>
                        </a:rPr>
                        <a:t>12, bold, centred</a:t>
                      </a:r>
                    </a:p>
                  </a:txBody>
                  <a:tcPr marL="54864" marR="54864" marT="27432" marB="27432">
                    <a:solidFill>
                      <a:srgbClr val="FFFFFF"/>
                    </a:solidFill>
                  </a:tcPr>
                </a:tc>
                <a:tc>
                  <a:txBody>
                    <a:bodyPr/>
                    <a:lstStyle/>
                    <a:p>
                      <a:r>
                        <a:rPr sz="1200" b="0">
                          <a:solidFill>
                            <a:srgbClr val="4B4B4B"/>
                          </a:solidFill>
                          <a:latin typeface="Arial"/>
                        </a:rPr>
                        <a:t>24 px high, 112 to 184 px wide, one colour per state group</a:t>
                      </a:r>
                    </a:p>
                  </a:txBody>
                  <a:tcPr marL="54864" marR="54864" marT="27432" marB="27432">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Spacing, sizes and radius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901616"/>
                <a:gridCol w="1365466"/>
                <a:gridCol w="6827332"/>
              </a:tblGrid>
              <a:tr h="259080">
                <a:tc>
                  <a:txBody>
                    <a:bodyPr/>
                    <a:lstStyle/>
                    <a:p>
                      <a:r>
                        <a:rPr sz="1100" b="1">
                          <a:solidFill>
                            <a:srgbClr val="FFFFFF"/>
                          </a:solidFill>
                          <a:latin typeface="Arial"/>
                        </a:rPr>
                        <a:t>Token</a:t>
                      </a:r>
                    </a:p>
                  </a:txBody>
                  <a:tcPr marL="54864" marR="54864" marT="27432" marB="27432">
                    <a:solidFill>
                      <a:srgbClr val="004EA8"/>
                    </a:solidFill>
                  </a:tcPr>
                </a:tc>
                <a:tc>
                  <a:txBody>
                    <a:bodyPr/>
                    <a:lstStyle/>
                    <a:p>
                      <a:r>
                        <a:rPr sz="1100" b="1">
                          <a:solidFill>
                            <a:srgbClr val="FFFFFF"/>
                          </a:solidFill>
                          <a:latin typeface="Arial"/>
                        </a:rPr>
                        <a:t>Value</a:t>
                      </a:r>
                    </a:p>
                  </a:txBody>
                  <a:tcPr marL="54864" marR="54864" marT="27432" marB="27432">
                    <a:solidFill>
                      <a:srgbClr val="004EA8"/>
                    </a:solidFill>
                  </a:tcPr>
                </a:tc>
                <a:tc>
                  <a:txBody>
                    <a:bodyPr/>
                    <a:lstStyle/>
                    <a:p>
                      <a:r>
                        <a:rPr sz="1100" b="1">
                          <a:solidFill>
                            <a:srgbClr val="FFFFFF"/>
                          </a:solidFill>
                          <a:latin typeface="Arial"/>
                        </a:rPr>
                        <a:t>Use</a:t>
                      </a:r>
                    </a:p>
                  </a:txBody>
                  <a:tcPr marL="54864" marR="54864" marT="27432" marB="27432">
                    <a:solidFill>
                      <a:srgbClr val="004EA8"/>
                    </a:solidFill>
                  </a:tcPr>
                </a:tc>
              </a:tr>
              <a:tr h="259080">
                <a:tc>
                  <a:txBody>
                    <a:bodyPr/>
                    <a:lstStyle/>
                    <a:p>
                      <a:r>
                        <a:rPr sz="1100" b="0">
                          <a:solidFill>
                            <a:srgbClr val="4B4B4B"/>
                          </a:solidFill>
                          <a:latin typeface="Arial"/>
                        </a:rPr>
                        <a:t>radius-sm</a:t>
                      </a:r>
                    </a:p>
                  </a:txBody>
                  <a:tcPr marL="54864" marR="54864" marT="27432" marB="27432">
                    <a:solidFill>
                      <a:srgbClr val="FFFFFF"/>
                    </a:solidFill>
                  </a:tcPr>
                </a:tc>
                <a:tc>
                  <a:txBody>
                    <a:bodyPr/>
                    <a:lstStyle/>
                    <a:p>
                      <a:r>
                        <a:rPr sz="1100" b="0">
                          <a:solidFill>
                            <a:srgbClr val="4B4B4B"/>
                          </a:solidFill>
                          <a:latin typeface="Arial"/>
                        </a:rPr>
                        <a:t>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radius-md</a:t>
                      </a:r>
                    </a:p>
                  </a:txBody>
                  <a:tcPr marL="54864" marR="54864" marT="27432" marB="27432">
                    <a:solidFill>
                      <a:srgbClr val="E5F5FF"/>
                    </a:solidFill>
                  </a:tcPr>
                </a:tc>
                <a:tc>
                  <a:txBody>
                    <a:bodyPr/>
                    <a:lstStyle/>
                    <a:p>
                      <a:r>
                        <a:rPr sz="1100" b="0">
                          <a:solidFill>
                            <a:srgbClr val="4B4B4B"/>
                          </a:solidFill>
                          <a:latin typeface="Arial"/>
                        </a:rPr>
                        <a:t>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radius-lg</a:t>
                      </a:r>
                    </a:p>
                  </a:txBody>
                  <a:tcPr marL="54864" marR="54864" marT="27432" marB="27432">
                    <a:solidFill>
                      <a:srgbClr val="FFFFFF"/>
                    </a:solidFill>
                  </a:tcPr>
                </a:tc>
                <a:tc>
                  <a:txBody>
                    <a:bodyPr/>
                    <a:lstStyle/>
                    <a:p>
                      <a:r>
                        <a:rPr sz="1100" b="0">
                          <a:solidFill>
                            <a:srgbClr val="4B4B4B"/>
                          </a:solidFill>
                          <a:latin typeface="Arial"/>
                        </a:rPr>
                        <a:t>16px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space-1</a:t>
                      </a:r>
                    </a:p>
                  </a:txBody>
                  <a:tcPr marL="54864" marR="54864" marT="27432" marB="27432">
                    <a:solidFill>
                      <a:srgbClr val="E5F5FF"/>
                    </a:solidFill>
                  </a:tcPr>
                </a:tc>
                <a:tc>
                  <a:txBody>
                    <a:bodyPr/>
                    <a:lstStyle/>
                    <a:p>
                      <a:r>
                        <a:rPr sz="1100" b="0">
                          <a:solidFill>
                            <a:srgbClr val="4B4B4B"/>
                          </a:solidFill>
                          <a:latin typeface="Arial"/>
                        </a:rPr>
                        <a:t>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space-2</a:t>
                      </a:r>
                    </a:p>
                  </a:txBody>
                  <a:tcPr marL="54864" marR="54864" marT="27432" marB="27432">
                    <a:solidFill>
                      <a:srgbClr val="FFFFFF"/>
                    </a:solidFill>
                  </a:tcPr>
                </a:tc>
                <a:tc>
                  <a:txBody>
                    <a:bodyPr/>
                    <a:lstStyle/>
                    <a:p>
                      <a:r>
                        <a:rPr sz="1100" b="0">
                          <a:solidFill>
                            <a:srgbClr val="4B4B4B"/>
                          </a:solidFill>
                          <a:latin typeface="Arial"/>
                        </a:rPr>
                        <a:t>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space-3</a:t>
                      </a:r>
                    </a:p>
                  </a:txBody>
                  <a:tcPr marL="54864" marR="54864" marT="27432" marB="27432">
                    <a:solidFill>
                      <a:srgbClr val="E5F5FF"/>
                    </a:solidFill>
                  </a:tcPr>
                </a:tc>
                <a:tc>
                  <a:txBody>
                    <a:bodyPr/>
                    <a:lstStyle/>
                    <a:p>
                      <a:r>
                        <a:rPr sz="1100" b="0">
                          <a:solidFill>
                            <a:srgbClr val="4B4B4B"/>
                          </a:solidFill>
                          <a:latin typeface="Arial"/>
                        </a:rPr>
                        <a:t>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space-4</a:t>
                      </a:r>
                    </a:p>
                  </a:txBody>
                  <a:tcPr marL="54864" marR="54864" marT="27432" marB="27432">
                    <a:solidFill>
                      <a:srgbClr val="FFFFFF"/>
                    </a:solidFill>
                  </a:tcPr>
                </a:tc>
                <a:tc>
                  <a:txBody>
                    <a:bodyPr/>
                    <a:lstStyle/>
                    <a:p>
                      <a:r>
                        <a:rPr sz="1100" b="0">
                          <a:solidFill>
                            <a:srgbClr val="4B4B4B"/>
                          </a:solidFill>
                          <a:latin typeface="Arial"/>
                        </a:rPr>
                        <a:t>16px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space-5</a:t>
                      </a:r>
                    </a:p>
                  </a:txBody>
                  <a:tcPr marL="54864" marR="54864" marT="27432" marB="27432">
                    <a:solidFill>
                      <a:srgbClr val="E5F5FF"/>
                    </a:solidFill>
                  </a:tcPr>
                </a:tc>
                <a:tc>
                  <a:txBody>
                    <a:bodyPr/>
                    <a:lstStyle/>
                    <a:p>
                      <a:r>
                        <a:rPr sz="1100" b="0">
                          <a:solidFill>
                            <a:srgbClr val="4B4B4B"/>
                          </a:solidFill>
                          <a:latin typeface="Arial"/>
                        </a:rPr>
                        <a:t>24px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space-6</a:t>
                      </a:r>
                    </a:p>
                  </a:txBody>
                  <a:tcPr marL="54864" marR="54864" marT="27432" marB="27432">
                    <a:solidFill>
                      <a:srgbClr val="FFFFFF"/>
                    </a:solidFill>
                  </a:tcPr>
                </a:tc>
                <a:tc>
                  <a:txBody>
                    <a:bodyPr/>
                    <a:lstStyle/>
                    <a:p>
                      <a:r>
                        <a:rPr sz="1100" b="0">
                          <a:solidFill>
                            <a:srgbClr val="4B4B4B"/>
                          </a:solidFill>
                          <a:latin typeface="Arial"/>
                        </a:rPr>
                        <a:t>32px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control-height</a:t>
                      </a:r>
                    </a:p>
                  </a:txBody>
                  <a:tcPr marL="54864" marR="54864" marT="27432" marB="27432">
                    <a:solidFill>
                      <a:srgbClr val="E5F5FF"/>
                    </a:solidFill>
                  </a:tcPr>
                </a:tc>
                <a:tc>
                  <a:txBody>
                    <a:bodyPr/>
                    <a:lstStyle/>
                    <a:p>
                      <a:r>
                        <a:rPr sz="1100" b="0">
                          <a:solidFill>
                            <a:srgbClr val="4B4B4B"/>
                          </a:solidFill>
                          <a:latin typeface="Arial"/>
                        </a:rPr>
                        <a:t>44px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control-height-sm</a:t>
                      </a:r>
                    </a:p>
                  </a:txBody>
                  <a:tcPr marL="54864" marR="54864" marT="27432" marB="27432">
                    <a:solidFill>
                      <a:srgbClr val="FFFFFF"/>
                    </a:solidFill>
                  </a:tcPr>
                </a:tc>
                <a:tc>
                  <a:txBody>
                    <a:bodyPr/>
                    <a:lstStyle/>
                    <a:p>
                      <a:r>
                        <a:rPr sz="1100" b="0">
                          <a:solidFill>
                            <a:srgbClr val="4B4B4B"/>
                          </a:solidFill>
                          <a:latin typeface="Arial"/>
                        </a:rPr>
                        <a:t>32px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header-height</a:t>
                      </a:r>
                    </a:p>
                  </a:txBody>
                  <a:tcPr marL="54864" marR="54864" marT="27432" marB="27432">
                    <a:solidFill>
                      <a:srgbClr val="E5F5FF"/>
                    </a:solidFill>
                  </a:tcPr>
                </a:tc>
                <a:tc>
                  <a:txBody>
                    <a:bodyPr/>
                    <a:lstStyle/>
                    <a:p>
                      <a:r>
                        <a:rPr sz="1100" b="0">
                          <a:solidFill>
                            <a:srgbClr val="4B4B4B"/>
                          </a:solidFill>
                          <a:latin typeface="Arial"/>
                        </a:rPr>
                        <a:t>72px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sidebar-width</a:t>
                      </a:r>
                    </a:p>
                  </a:txBody>
                  <a:tcPr marL="54864" marR="54864" marT="27432" marB="27432">
                    <a:solidFill>
                      <a:srgbClr val="FFFFFF"/>
                    </a:solidFill>
                  </a:tcPr>
                </a:tc>
                <a:tc>
                  <a:txBody>
                    <a:bodyPr/>
                    <a:lstStyle/>
                    <a:p>
                      <a:r>
                        <a:rPr sz="1100" b="0">
                          <a:solidFill>
                            <a:srgbClr val="4B4B4B"/>
                          </a:solidFill>
                          <a:latin typeface="Arial"/>
                        </a:rPr>
                        <a:t>272px</a:t>
                      </a:r>
                    </a:p>
                  </a:txBody>
                  <a:tcPr marL="54864" marR="54864" marT="27432" marB="27432">
                    <a:solidFill>
                      <a:srgbClr val="FFFFFF"/>
                    </a:solidFill>
                  </a:tcPr>
                </a:tc>
                <a:tc>
                  <a:txBody>
                    <a:bodyPr/>
                    <a:lstStyle/>
                    <a:p>
                      <a:r>
                        <a:rPr sz="1100" b="0">
                          <a:solidFill>
                            <a:srgbClr val="4B4B4B"/>
                          </a:solidFill>
                          <a:latin typeface="Arial"/>
                        </a:rPr>
                        <a:t>Status pills and flag chips: one size everywhere</a:t>
                      </a:r>
                    </a:p>
                  </a:txBody>
                  <a:tcPr marL="54864" marR="54864" marT="27432" marB="27432">
                    <a:solidFill>
                      <a:srgbClr val="FFFFFF"/>
                    </a:solidFill>
                  </a:tcPr>
                </a:tc>
              </a:tr>
              <a:tr h="259080">
                <a:tc>
                  <a:txBody>
                    <a:bodyPr/>
                    <a:lstStyle/>
                    <a:p>
                      <a:r>
                        <a:rPr sz="1100" b="0">
                          <a:solidFill>
                            <a:srgbClr val="4B4B4B"/>
                          </a:solidFill>
                          <a:latin typeface="Arial"/>
                        </a:rPr>
                        <a:t>badge-min-width</a:t>
                      </a:r>
                    </a:p>
                  </a:txBody>
                  <a:tcPr marL="54864" marR="54864" marT="27432" marB="27432">
                    <a:solidFill>
                      <a:srgbClr val="E5F5FF"/>
                    </a:solidFill>
                  </a:tcPr>
                </a:tc>
                <a:tc>
                  <a:txBody>
                    <a:bodyPr/>
                    <a:lstStyle/>
                    <a:p>
                      <a:r>
                        <a:rPr sz="1100" b="0">
                          <a:solidFill>
                            <a:srgbClr val="4B4B4B"/>
                          </a:solidFill>
                          <a:latin typeface="Arial"/>
                        </a:rPr>
                        <a:t>112px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badge-max-width</a:t>
                      </a:r>
                    </a:p>
                  </a:txBody>
                  <a:tcPr marL="54864" marR="54864" marT="27432" marB="27432">
                    <a:solidFill>
                      <a:srgbClr val="FFFFFF"/>
                    </a:solidFill>
                  </a:tcPr>
                </a:tc>
                <a:tc>
                  <a:txBody>
                    <a:bodyPr/>
                    <a:lstStyle/>
                    <a:p>
                      <a:r>
                        <a:rPr sz="1100" b="0">
                          <a:solidFill>
                            <a:srgbClr val="4B4B4B"/>
                          </a:solidFill>
                          <a:latin typeface="Arial"/>
                        </a:rPr>
                        <a:t>184px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tag-min-width</a:t>
                      </a:r>
                    </a:p>
                  </a:txBody>
                  <a:tcPr marL="54864" marR="54864" marT="27432" marB="27432">
                    <a:solidFill>
                      <a:srgbClr val="E5F5FF"/>
                    </a:solidFill>
                  </a:tcPr>
                </a:tc>
                <a:tc>
                  <a:txBody>
                    <a:bodyPr/>
                    <a:lstStyle/>
                    <a:p>
                      <a:r>
                        <a:rPr sz="1100" b="0">
                          <a:solidFill>
                            <a:srgbClr val="4B4B4B"/>
                          </a:solidFill>
                          <a:latin typeface="Arial"/>
                        </a:rPr>
                        <a:t>88px</a:t>
                      </a:r>
                    </a:p>
                  </a:txBody>
                  <a:tcPr marL="54864" marR="54864" marT="27432" marB="27432">
                    <a:solidFill>
                      <a:srgbClr val="E5F5FF"/>
                    </a:solidFill>
                  </a:tcPr>
                </a:tc>
                <a:tc>
                  <a:txBody>
                    <a:bodyPr/>
                    <a:lstStyle/>
                    <a:p>
                      <a:r>
                        <a:rPr sz="1100" b="0">
                          <a:solidFill>
                            <a:srgbClr val="4B4B4B"/>
                          </a:solidFill>
                          <a:latin typeface="Arial"/>
                        </a:rPr>
                        <a:t>Fixed width of code and reference columns (ARN, CL, PAY… numbers)</a:t>
                      </a:r>
                    </a:p>
                  </a:txBody>
                  <a:tcPr marL="54864" marR="54864" marT="27432" marB="27432">
                    <a:solidFill>
                      <a:srgbClr val="E5F5FF"/>
                    </a:solidFill>
                  </a:tcPr>
                </a:tc>
              </a:tr>
              <a:tr h="259080">
                <a:tc>
                  <a:txBody>
                    <a:bodyPr/>
                    <a:lstStyle/>
                    <a:p>
                      <a:r>
                        <a:rPr sz="1100" b="0">
                          <a:solidFill>
                            <a:srgbClr val="4B4B4B"/>
                          </a:solidFill>
                          <a:latin typeface="Arial"/>
                        </a:rPr>
                        <a:t>code-col-width</a:t>
                      </a:r>
                    </a:p>
                  </a:txBody>
                  <a:tcPr marL="54864" marR="54864" marT="27432" marB="27432">
                    <a:solidFill>
                      <a:srgbClr val="FFFFFF"/>
                    </a:solidFill>
                  </a:tcPr>
                </a:tc>
                <a:tc>
                  <a:txBody>
                    <a:bodyPr/>
                    <a:lstStyle/>
                    <a:p>
                      <a:r>
                        <a:rPr sz="1100" b="0">
                          <a:solidFill>
                            <a:srgbClr val="4B4B4B"/>
                          </a:solidFill>
                          <a:latin typeface="Arial"/>
                        </a:rPr>
                        <a:t>168px</a:t>
                      </a:r>
                    </a:p>
                  </a:txBody>
                  <a:tcPr marL="54864" marR="54864" marT="27432" marB="27432">
                    <a:solidFill>
                      <a:srgbClr val="FFFFFF"/>
                    </a:solidFill>
                  </a:tcPr>
                </a:tc>
                <a:tc>
                  <a:txBody>
                    <a:bodyPr/>
                    <a:lstStyle/>
                    <a:p>
                      <a:r>
                        <a:rPr sz="1100" b="0">
                          <a:solidFill>
                            <a:srgbClr val="4B4B4B"/>
                          </a:solidFill>
                          <a:latin typeface="Arial"/>
                        </a:rPr>
                        <a:t>Period column: "to 20-Oct-2027" on one line (PeriodCell)</a:t>
                      </a:r>
                    </a:p>
                  </a:txBody>
                  <a:tcPr marL="54864" marR="54864" marT="27432" marB="27432">
                    <a:solidFill>
                      <a:srgbClr val="FFFFFF"/>
                    </a:solidFill>
                  </a:tcPr>
                </a:tc>
              </a:tr>
              <a:tr h="259080">
                <a:tc>
                  <a:txBody>
                    <a:bodyPr/>
                    <a:lstStyle/>
                    <a:p>
                      <a:r>
                        <a:rPr sz="1100" b="0">
                          <a:solidFill>
                            <a:srgbClr val="4B4B4B"/>
                          </a:solidFill>
                          <a:latin typeface="Arial"/>
                        </a:rPr>
                        <a:t>period-col-width</a:t>
                      </a:r>
                    </a:p>
                  </a:txBody>
                  <a:tcPr marL="54864" marR="54864" marT="27432" marB="27432">
                    <a:solidFill>
                      <a:srgbClr val="E5F5FF"/>
                    </a:solidFill>
                  </a:tcPr>
                </a:tc>
                <a:tc>
                  <a:txBody>
                    <a:bodyPr/>
                    <a:lstStyle/>
                    <a:p>
                      <a:r>
                        <a:rPr sz="1100" b="0">
                          <a:solidFill>
                            <a:srgbClr val="4B4B4B"/>
                          </a:solidFill>
                          <a:latin typeface="Arial"/>
                        </a:rPr>
                        <a:t>132px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Spacing, sizes and radius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a:t>
            </a:r>
          </a:p>
        </p:txBody>
      </p:sp>
      <p:graphicFrame>
        <p:nvGraphicFramePr>
          <p:cNvPr id="9" name="Table 8"/>
          <p:cNvGraphicFramePr>
            <a:graphicFrameLocks noGrp="1"/>
          </p:cNvGraphicFramePr>
          <p:nvPr/>
        </p:nvGraphicFramePr>
        <p:xfrm>
          <a:off x="548640" y="1325880"/>
          <a:ext cx="11094414" cy="1036320"/>
        </p:xfrm>
        <a:graphic>
          <a:graphicData uri="http://schemas.openxmlformats.org/drawingml/2006/table">
            <a:tbl>
              <a:tblPr firstRow="1" bandRow="1">
                <a:tableStyleId>{5C22544A-7EE6-4342-B048-85BDC9FD1C3A}</a:tableStyleId>
              </a:tblPr>
              <a:tblGrid>
                <a:gridCol w="2901616"/>
                <a:gridCol w="1365466"/>
                <a:gridCol w="6827332"/>
              </a:tblGrid>
              <a:tr h="259080">
                <a:tc>
                  <a:txBody>
                    <a:bodyPr/>
                    <a:lstStyle/>
                    <a:p>
                      <a:r>
                        <a:rPr sz="1100" b="1">
                          <a:solidFill>
                            <a:srgbClr val="FFFFFF"/>
                          </a:solidFill>
                          <a:latin typeface="Arial"/>
                        </a:rPr>
                        <a:t>Token</a:t>
                      </a:r>
                    </a:p>
                  </a:txBody>
                  <a:tcPr marL="54864" marR="54864" marT="27432" marB="27432">
                    <a:solidFill>
                      <a:srgbClr val="004EA8"/>
                    </a:solidFill>
                  </a:tcPr>
                </a:tc>
                <a:tc>
                  <a:txBody>
                    <a:bodyPr/>
                    <a:lstStyle/>
                    <a:p>
                      <a:r>
                        <a:rPr sz="1100" b="1">
                          <a:solidFill>
                            <a:srgbClr val="FFFFFF"/>
                          </a:solidFill>
                          <a:latin typeface="Arial"/>
                        </a:rPr>
                        <a:t>Value</a:t>
                      </a:r>
                    </a:p>
                  </a:txBody>
                  <a:tcPr marL="54864" marR="54864" marT="27432" marB="27432">
                    <a:solidFill>
                      <a:srgbClr val="004EA8"/>
                    </a:solidFill>
                  </a:tcPr>
                </a:tc>
                <a:tc>
                  <a:txBody>
                    <a:bodyPr/>
                    <a:lstStyle/>
                    <a:p>
                      <a:r>
                        <a:rPr sz="1100" b="1">
                          <a:solidFill>
                            <a:srgbClr val="FFFFFF"/>
                          </a:solidFill>
                          <a:latin typeface="Arial"/>
                        </a:rPr>
                        <a:t>Use</a:t>
                      </a:r>
                    </a:p>
                  </a:txBody>
                  <a:tcPr marL="54864" marR="54864" marT="27432" marB="27432">
                    <a:solidFill>
                      <a:srgbClr val="004EA8"/>
                    </a:solidFill>
                  </a:tcPr>
                </a:tc>
              </a:tr>
              <a:tr h="259080">
                <a:tc>
                  <a:txBody>
                    <a:bodyPr/>
                    <a:lstStyle/>
                    <a:p>
                      <a:r>
                        <a:rPr sz="1100" b="0">
                          <a:solidFill>
                            <a:srgbClr val="4B4B4B"/>
                          </a:solidFill>
                          <a:latin typeface="Arial"/>
                        </a:rPr>
                        <a:t>table-font-size</a:t>
                      </a:r>
                    </a:p>
                  </a:txBody>
                  <a:tcPr marL="54864" marR="54864" marT="27432" marB="27432">
                    <a:solidFill>
                      <a:srgbClr val="FFFFFF"/>
                    </a:solidFill>
                  </a:tcPr>
                </a:tc>
                <a:tc>
                  <a:txBody>
                    <a:bodyPr/>
                    <a:lstStyle/>
                    <a:p>
                      <a:r>
                        <a:rPr sz="1100" b="0">
                          <a:solidFill>
                            <a:srgbClr val="4B4B4B"/>
                          </a:solidFill>
                          <a:latin typeface="Arial"/>
                        </a:rPr>
                        <a:t>14px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table-min-height</a:t>
                      </a:r>
                    </a:p>
                  </a:txBody>
                  <a:tcPr marL="54864" marR="54864" marT="27432" marB="27432">
                    <a:solidFill>
                      <a:srgbClr val="E5F5FF"/>
                    </a:solidFill>
                  </a:tcPr>
                </a:tc>
                <a:tc>
                  <a:txBody>
                    <a:bodyPr/>
                    <a:lstStyle/>
                    <a:p>
                      <a:r>
                        <a:rPr sz="1100" b="0">
                          <a:solidFill>
                            <a:srgbClr val="4B4B4B"/>
                          </a:solidFill>
                          <a:latin typeface="Arial"/>
                        </a:rPr>
                        <a:t>240px</a:t>
                      </a:r>
                    </a:p>
                  </a:txBody>
                  <a:tcPr marL="54864" marR="54864" marT="27432" marB="27432">
                    <a:solidFill>
                      <a:srgbClr val="E5F5FF"/>
                    </a:solidFill>
                  </a:tcPr>
                </a:tc>
                <a:tc>
                  <a:txBody>
                    <a:bodyPr/>
                    <a:lstStyle/>
                    <a:p>
                      <a:r>
                        <a:rPr sz="1100" b="0">
                          <a:solidFill>
                            <a:srgbClr val="4B4B4B"/>
                          </a:solidFill>
                          <a:latin typeface="Arial"/>
                        </a:rPr>
                        <a:t>Label column of definition grids</a:t>
                      </a:r>
                    </a:p>
                  </a:txBody>
                  <a:tcPr marL="54864" marR="54864" marT="27432" marB="27432">
                    <a:solidFill>
                      <a:srgbClr val="E5F5FF"/>
                    </a:solidFill>
                  </a:tcPr>
                </a:tc>
              </a:tr>
              <a:tr h="259080">
                <a:tc>
                  <a:txBody>
                    <a:bodyPr/>
                    <a:lstStyle/>
                    <a:p>
                      <a:r>
                        <a:rPr sz="1100" b="0">
                          <a:solidFill>
                            <a:srgbClr val="4B4B4B"/>
                          </a:solidFill>
                          <a:latin typeface="Arial"/>
                        </a:rPr>
                        <a:t>def-label-width</a:t>
                      </a:r>
                    </a:p>
                  </a:txBody>
                  <a:tcPr marL="54864" marR="54864" marT="27432" marB="27432">
                    <a:solidFill>
                      <a:srgbClr val="FFFFFF"/>
                    </a:solidFill>
                  </a:tcPr>
                </a:tc>
                <a:tc>
                  <a:txBody>
                    <a:bodyPr/>
                    <a:lstStyle/>
                    <a:p>
                      <a:r>
                        <a:rPr sz="1100" b="0">
                          <a:solidFill>
                            <a:srgbClr val="4B4B4B"/>
                          </a:solidFill>
                          <a:latin typeface="Arial"/>
                        </a:rPr>
                        <a:t>168px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Iconography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Outline icons in CTA Blue, one stroke weight, at 16, 24, 32 and 48 px (the Lucide outline set as the equivalent of the BDO icon set)</a:t>
            </a:r>
          </a:p>
          <a:p>
            <a:pPr>
              <a:spcAft>
                <a:spcPts val="600"/>
              </a:spcAft>
            </a:pPr>
            <a:r>
              <a:rPr sz="1600">
                <a:solidFill>
                  <a:srgbClr val="004EA8"/>
                </a:solidFill>
                <a:latin typeface="Arial"/>
              </a:rPr>
              <a:t>•  </a:t>
            </a:r>
            <a:r>
              <a:rPr sz="1600">
                <a:solidFill>
                  <a:srgbClr val="4B4B4B"/>
                </a:solidFill>
                <a:latin typeface="Arial"/>
              </a:rPr>
              <a:t>Menu entries: a 20 px icon before the label</a:t>
            </a:r>
          </a:p>
          <a:p>
            <a:pPr>
              <a:spcAft>
                <a:spcPts val="600"/>
              </a:spcAft>
            </a:pPr>
            <a:r>
              <a:rPr sz="1600">
                <a:solidFill>
                  <a:srgbClr val="004EA8"/>
                </a:solidFill>
                <a:latin typeface="Arial"/>
              </a:rPr>
              <a:t>•  </a:t>
            </a:r>
            <a:r>
              <a:rPr sz="1600">
                <a:solidFill>
                  <a:srgbClr val="4B4B4B"/>
                </a:solidFill>
                <a:latin typeface="Arial"/>
              </a:rPr>
              <a:t>Messages: the icon of the kind in its colour (error, warning, information, success)</a:t>
            </a:r>
          </a:p>
          <a:p>
            <a:pPr>
              <a:spcAft>
                <a:spcPts val="600"/>
              </a:spcAft>
            </a:pPr>
            <a:r>
              <a:rPr sz="1600">
                <a:solidFill>
                  <a:srgbClr val="004EA8"/>
                </a:solidFill>
                <a:latin typeface="Arial"/>
              </a:rPr>
              <a:t>•  </a:t>
            </a:r>
            <a:r>
              <a:rPr sz="1600">
                <a:solidFill>
                  <a:srgbClr val="4B4B4B"/>
                </a:solidFill>
                <a:latin typeface="Arial"/>
              </a:rPr>
              <a:t>Actions: an icon only with its label or its tooltip; destructive actions in red, last</a:t>
            </a:r>
          </a:p>
          <a:p>
            <a:pPr>
              <a:spcAft>
                <a:spcPts val="600"/>
              </a:spcAft>
            </a:pPr>
            <a:r>
              <a:rPr sz="1600">
                <a:solidFill>
                  <a:srgbClr val="004EA8"/>
                </a:solidFill>
                <a:latin typeface="Arial"/>
              </a:rPr>
              <a:t>•  </a:t>
            </a:r>
            <a:r>
              <a:rPr sz="1600">
                <a:solidFill>
                  <a:srgbClr val="4B4B4B"/>
                </a:solidFill>
                <a:latin typeface="Arial"/>
              </a:rPr>
              <a:t>Flags and statuses are text chips and pills, never an icon alone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Workflow step bar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a:t>
            </a:r>
          </a:p>
        </p:txBody>
      </p:sp>
      <p:pic>
        <p:nvPicPr>
          <p:cNvPr id="9" name="Picture 8" descr="ux-scr-pm-04-cmp-stepper.png"/>
          <p:cNvPicPr>
            <a:picLocks noChangeAspect="1"/>
          </p:cNvPicPr>
          <p:nvPr/>
        </p:nvPicPr>
        <p:blipFill>
          <a:blip r:embed="rId3"/>
          <a:stretch>
            <a:fillRect/>
          </a:stretch>
        </p:blipFill>
        <p:spPr>
          <a:xfrm>
            <a:off x="548640" y="1261872"/>
            <a:ext cx="7680960" cy="1695531"/>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workflow header of a package request in negotiation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Passed stages ticked on CTA Blue; the current stage highlighted; the stages ahead grey with their number</a:t>
            </a:r>
          </a:p>
          <a:p>
            <a:pPr>
              <a:spcAft>
                <a:spcPts val="600"/>
              </a:spcAft>
            </a:pPr>
            <a:r>
              <a:rPr sz="1100">
                <a:solidFill>
                  <a:srgbClr val="004EA8"/>
                </a:solidFill>
                <a:latin typeface="Arial"/>
              </a:rPr>
              <a:t>•  </a:t>
            </a:r>
            <a:r>
              <a:rPr sz="1100">
                <a:solidFill>
                  <a:srgbClr val="4B4B4B"/>
                </a:solidFill>
                <a:latin typeface="Arial"/>
              </a:rPr>
              <a:t>Returned or on hold in amber after the stage it came from; rejected, cancelled, voided or not proceeded in red, and the path ends there</a:t>
            </a:r>
          </a:p>
          <a:p>
            <a:pPr>
              <a:spcAft>
                <a:spcPts val="600"/>
              </a:spcAft>
            </a:pPr>
            <a:r>
              <a:rPr sz="1100">
                <a:solidFill>
                  <a:srgbClr val="004EA8"/>
                </a:solidFill>
                <a:latin typeface="Arial"/>
              </a:rPr>
              <a:t>•  </a:t>
            </a:r>
            <a:r>
              <a:rPr sz="1100">
                <a:solidFill>
                  <a:srgbClr val="4B4B4B"/>
                </a:solidFill>
                <a:latin typeface="Arial"/>
              </a:rPr>
              <a:t>The last stage turns green when it is reached</a:t>
            </a:r>
          </a:p>
          <a:p>
            <a:pPr>
              <a:spcAft>
                <a:spcPts val="600"/>
              </a:spcAft>
            </a:pPr>
            <a:r>
              <a:rPr sz="1100">
                <a:solidFill>
                  <a:srgbClr val="004EA8"/>
                </a:solidFill>
                <a:latin typeface="Arial"/>
              </a:rPr>
              <a:t>•  </a:t>
            </a:r>
            <a:r>
              <a:rPr sz="1100">
                <a:solidFill>
                  <a:srgbClr val="4B4B4B"/>
                </a:solidFill>
                <a:latin typeface="Arial"/>
              </a:rPr>
              <a:t>Under a thin rule: Current Stage, Since, Due with the Overdue pill, Assigned To; actions aligned right</a:t>
            </a:r>
          </a:p>
          <a:p>
            <a:pPr>
              <a:spcAft>
                <a:spcPts val="600"/>
              </a:spcAft>
            </a:pPr>
            <a:r>
              <a:rPr sz="1100">
                <a:solidFill>
                  <a:srgbClr val="004EA8"/>
                </a:solidFill>
                <a:latin typeface="Arial"/>
              </a:rPr>
              <a:t>•  </a:t>
            </a:r>
            <a:r>
              <a:rPr sz="1100">
                <a:solidFill>
                  <a:srgbClr val="4B4B4B"/>
                </a:solidFill>
                <a:latin typeface="Arial"/>
              </a:rPr>
              <a:t>Narrow widths keep the first, last and current stage and its neighbours</a:t>
            </a:r>
          </a:p>
          <a:p>
            <a:pPr>
              <a:spcAft>
                <a:spcPts val="600"/>
              </a:spcAft>
            </a:pPr>
            <a:r>
              <a:rPr sz="1100">
                <a:solidFill>
                  <a:srgbClr val="004EA8"/>
                </a:solidFill>
                <a:latin typeface="Arial"/>
              </a:rPr>
              <a:t>•  </a:t>
            </a:r>
            <a:r>
              <a:rPr sz="1100">
                <a:solidFill>
                  <a:srgbClr val="4B4B4B"/>
                </a:solidFill>
                <a:latin typeface="Arial"/>
              </a:rPr>
              <a:t>In this set: SCR-UA-08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Notice standard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a:t>
            </a:r>
          </a:p>
        </p:txBody>
      </p:sp>
      <p:pic>
        <p:nvPicPr>
          <p:cNvPr id="9" name="Picture 8" descr="ux-scr-ua-07-cmp-notice.png"/>
          <p:cNvPicPr>
            <a:picLocks noChangeAspect="1"/>
          </p:cNvPicPr>
          <p:nvPr/>
        </p:nvPicPr>
        <p:blipFill>
          <a:blip r:embed="rId3"/>
          <a:stretch>
            <a:fillRect/>
          </a:stretch>
        </p:blipFill>
        <p:spPr>
          <a:xfrm>
            <a:off x="548640" y="1261872"/>
            <a:ext cx="7680960" cy="125292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error notice at the top of a request form submitted with missing fields</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White surface, thin border, 4 px bar and icon in the colour of the kind: red error, amber warning, blue information, green success</a:t>
            </a:r>
          </a:p>
          <a:p>
            <a:pPr>
              <a:spcAft>
                <a:spcPts val="600"/>
              </a:spcAft>
            </a:pPr>
            <a:r>
              <a:rPr sz="1100">
                <a:solidFill>
                  <a:srgbClr val="004EA8"/>
                </a:solidFill>
                <a:latin typeface="Arial"/>
              </a:rPr>
              <a:t>•  </a:t>
            </a:r>
            <a:r>
              <a:rPr sz="1100">
                <a:solidFill>
                  <a:srgbClr val="4B4B4B"/>
                </a:solidFill>
                <a:latin typeface="Arial"/>
              </a:rPr>
              <a:t>A bold short title, then the business message with one bullet per missing item</a:t>
            </a:r>
          </a:p>
          <a:p>
            <a:pPr>
              <a:spcAft>
                <a:spcPts val="600"/>
              </a:spcAft>
            </a:pPr>
            <a:r>
              <a:rPr sz="1100">
                <a:solidFill>
                  <a:srgbClr val="004EA8"/>
                </a:solidFill>
                <a:latin typeface="Arial"/>
              </a:rPr>
              <a:t>•  </a:t>
            </a:r>
            <a:r>
              <a:rPr sz="1100">
                <a:solidFill>
                  <a:srgbClr val="4B4B4B"/>
                </a:solidFill>
                <a:latin typeface="Arial"/>
              </a:rPr>
              <a:t>No codes, references or technical terms; only an unexpected system error offers Retry and a reference behind Details</a:t>
            </a:r>
          </a:p>
          <a:p>
            <a:pPr>
              <a:spcAft>
                <a:spcPts val="600"/>
              </a:spcAft>
            </a:pPr>
            <a:r>
              <a:rPr sz="1100">
                <a:solidFill>
                  <a:srgbClr val="004EA8"/>
                </a:solidFill>
                <a:latin typeface="Arial"/>
              </a:rPr>
              <a:t>•  </a:t>
            </a:r>
            <a:r>
              <a:rPr sz="1100">
                <a:solidFill>
                  <a:srgbClr val="4B4B4B"/>
                </a:solidFill>
                <a:latin typeface="Arial"/>
              </a:rPr>
              <a:t>Field errors stay under their fields; a long form lists them at the top with a link to each field</a:t>
            </a:r>
          </a:p>
          <a:p>
            <a:pPr>
              <a:spcAft>
                <a:spcPts val="600"/>
              </a:spcAft>
            </a:pPr>
            <a:r>
              <a:rPr sz="1100">
                <a:solidFill>
                  <a:srgbClr val="004EA8"/>
                </a:solidFill>
                <a:latin typeface="Arial"/>
              </a:rPr>
              <a:t>•  </a:t>
            </a:r>
            <a:r>
              <a:rPr sz="1100">
                <a:solidFill>
                  <a:srgbClr val="4B4B4B"/>
                </a:solidFill>
                <a:latin typeface="Arial"/>
              </a:rPr>
              <a:t>In this set: SCR-UA-01, SCR-UA-07, SCR-UA-09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Data table in a work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a:t>
            </a:r>
          </a:p>
        </p:txBody>
      </p:sp>
      <p:pic>
        <p:nvPicPr>
          <p:cNvPr id="9" name="Picture 8" descr="ux-scr-pm-02-cmp-table.png"/>
          <p:cNvPicPr>
            <a:picLocks noChangeAspect="1"/>
          </p:cNvPicPr>
          <p:nvPr/>
        </p:nvPicPr>
        <p:blipFill>
          <a:blip r:embed="rId3"/>
          <a:stretch>
            <a:fillRect/>
          </a:stretch>
        </p:blipFill>
        <p:spPr>
          <a:xfrm>
            <a:off x="548640" y="1261872"/>
            <a:ext cx="7680960" cy="3735100"/>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package requests of a stage, with the status tabs, the search and the pager</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Header row in Header Blue with white bold text that stays in view; rows alternate white and Background Blue</a:t>
            </a:r>
          </a:p>
          <a:p>
            <a:pPr>
              <a:spcAft>
                <a:spcPts val="600"/>
              </a:spcAft>
            </a:pPr>
            <a:r>
              <a:rPr sz="1100">
                <a:solidFill>
                  <a:srgbClr val="004EA8"/>
                </a:solidFill>
                <a:latin typeface="Arial"/>
              </a:rPr>
              <a:t>•  </a:t>
            </a:r>
            <a:r>
              <a:rPr sz="1100">
                <a:solidFill>
                  <a:srgbClr val="4B4B4B"/>
                </a:solidFill>
                <a:latin typeface="Arial"/>
              </a:rPr>
              <a:t>A long list scrolls inside its card with the header row in view; the card is as high as its rows, never higher than the window</a:t>
            </a:r>
          </a:p>
          <a:p>
            <a:pPr>
              <a:spcAft>
                <a:spcPts val="600"/>
              </a:spcAft>
            </a:pPr>
            <a:r>
              <a:rPr sz="1100">
                <a:solidFill>
                  <a:srgbClr val="004EA8"/>
                </a:solidFill>
                <a:latin typeface="Arial"/>
              </a:rPr>
              <a:t>•  </a:t>
            </a:r>
            <a:r>
              <a:rPr sz="1100">
                <a:solidFill>
                  <a:srgbClr val="4B4B4B"/>
                </a:solidFill>
                <a:latin typeface="Arial"/>
              </a:rPr>
              <a:t>Text left, amounts right with two decimals, dates dd-MMM-yyyy; codes in a fixed column that never wraps</a:t>
            </a:r>
          </a:p>
          <a:p>
            <a:pPr>
              <a:spcAft>
                <a:spcPts val="600"/>
              </a:spcAft>
            </a:pPr>
            <a:r>
              <a:rPr sz="1100">
                <a:solidFill>
                  <a:srgbClr val="004EA8"/>
                </a:solidFill>
                <a:latin typeface="Arial"/>
              </a:rPr>
              <a:t>•  </a:t>
            </a:r>
            <a:r>
              <a:rPr sz="1100">
                <a:solidFill>
                  <a:srgbClr val="4B4B4B"/>
                </a:solidFill>
                <a:latin typeface="Arial"/>
              </a:rPr>
              <a:t>One value per cell with at most one muted line under it; a dash for an empty value</a:t>
            </a:r>
          </a:p>
          <a:p>
            <a:pPr>
              <a:spcAft>
                <a:spcPts val="600"/>
              </a:spcAft>
            </a:pPr>
            <a:r>
              <a:rPr sz="1100">
                <a:solidFill>
                  <a:srgbClr val="004EA8"/>
                </a:solidFill>
                <a:latin typeface="Arial"/>
              </a:rPr>
              <a:t>•  </a:t>
            </a:r>
            <a:r>
              <a:rPr sz="1100">
                <a:solidFill>
                  <a:srgbClr val="4B4B4B"/>
                </a:solidFill>
                <a:latin typeface="Arial"/>
              </a:rPr>
              <a:t>Showing x to y of n results with the page numbers; Enter on a row opens it</a:t>
            </a:r>
          </a:p>
          <a:p>
            <a:pPr>
              <a:spcAft>
                <a:spcPts val="600"/>
              </a:spcAft>
            </a:pPr>
            <a:r>
              <a:rPr sz="1100">
                <a:solidFill>
                  <a:srgbClr val="004EA8"/>
                </a:solidFill>
                <a:latin typeface="Arial"/>
              </a:rPr>
              <a:t>•  </a:t>
            </a:r>
            <a:r>
              <a:rPr sz="1100">
                <a:solidFill>
                  <a:srgbClr val="4B4B4B"/>
                </a:solidFill>
                <a:latin typeface="Arial"/>
              </a:rPr>
              <a:t>In this set: SCR-UA-06, SCR-UA-11, SCR-UA-15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Tree table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a:t>
            </a:r>
          </a:p>
        </p:txBody>
      </p:sp>
      <p:pic>
        <p:nvPicPr>
          <p:cNvPr id="9" name="Picture 8" descr="ux-scr-pm-20-cmp-tree.png"/>
          <p:cNvPicPr>
            <a:picLocks noChangeAspect="1"/>
          </p:cNvPicPr>
          <p:nvPr/>
        </p:nvPicPr>
        <p:blipFill>
          <a:blip r:embed="rId3"/>
          <a:stretch>
            <a:fillRect/>
          </a:stretch>
        </p:blipFill>
        <p:spPr>
          <a:xfrm>
            <a:off x="898673" y="1261872"/>
            <a:ext cx="6980893"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sales organisation with every branch open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A chevron and one indentation step per level; arrow keys, Home, End and Enter move through the tree</a:t>
            </a:r>
          </a:p>
          <a:p>
            <a:pPr>
              <a:spcAft>
                <a:spcPts val="600"/>
              </a:spcAft>
            </a:pPr>
            <a:r>
              <a:rPr sz="1100">
                <a:solidFill>
                  <a:srgbClr val="004EA8"/>
                </a:solidFill>
                <a:latin typeface="Arial"/>
              </a:rPr>
              <a:t>•  </a:t>
            </a:r>
            <a:r>
              <a:rPr sz="1100">
                <a:solidFill>
                  <a:srgbClr val="4B4B4B"/>
                </a:solidFill>
                <a:latin typeface="Arial"/>
              </a:rPr>
              <a:t>A search that opens the branches that match; Expand All, Collapse All and Show Inactive</a:t>
            </a:r>
          </a:p>
          <a:p>
            <a:pPr>
              <a:spcAft>
                <a:spcPts val="600"/>
              </a:spcAft>
            </a:pPr>
            <a:r>
              <a:rPr sz="1100">
                <a:solidFill>
                  <a:srgbClr val="004EA8"/>
                </a:solidFill>
                <a:latin typeface="Arial"/>
              </a:rPr>
              <a:t>•  </a:t>
            </a:r>
            <a:r>
              <a:rPr sz="1100">
                <a:solidFill>
                  <a:srgbClr val="4B4B4B"/>
                </a:solidFill>
                <a:latin typeface="Arial"/>
              </a:rPr>
              <a:t>A summary line of the units and members shown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Row action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a:t>
            </a:r>
          </a:p>
        </p:txBody>
      </p:sp>
      <p:pic>
        <p:nvPicPr>
          <p:cNvPr id="9" name="Picture 8" descr="scr-pm-20-02-actions.png"/>
          <p:cNvPicPr>
            <a:picLocks noChangeAspect="1"/>
          </p:cNvPicPr>
          <p:nvPr/>
        </p:nvPicPr>
        <p:blipFill>
          <a:blip r:embed="rId3"/>
          <a:stretch>
            <a:fillRect/>
          </a:stretch>
        </p:blipFill>
        <p:spPr>
          <a:xfrm>
            <a:off x="1737360" y="1261872"/>
            <a:ext cx="5303520"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actions of a team, opened from the more button of its row</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One more button per row opens the menu</a:t>
            </a:r>
          </a:p>
          <a:p>
            <a:pPr>
              <a:spcAft>
                <a:spcPts val="600"/>
              </a:spcAft>
            </a:pPr>
            <a:r>
              <a:rPr sz="1100">
                <a:solidFill>
                  <a:srgbClr val="004EA8"/>
                </a:solidFill>
                <a:latin typeface="Arial"/>
              </a:rPr>
              <a:t>•  </a:t>
            </a:r>
            <a:r>
              <a:rPr sz="1100">
                <a:solidFill>
                  <a:srgbClr val="4B4B4B"/>
                </a:solidFill>
                <a:latin typeface="Arial"/>
              </a:rPr>
              <a:t>Destructive actions last, in red, after a separator</a:t>
            </a:r>
          </a:p>
          <a:p>
            <a:pPr>
              <a:spcAft>
                <a:spcPts val="600"/>
              </a:spcAft>
            </a:pPr>
            <a:r>
              <a:rPr sz="1100">
                <a:solidFill>
                  <a:srgbClr val="004EA8"/>
                </a:solidFill>
                <a:latin typeface="Arial"/>
              </a:rPr>
              <a:t>•  </a:t>
            </a:r>
            <a:r>
              <a:rPr sz="1100">
                <a:solidFill>
                  <a:srgbClr val="4B4B4B"/>
                </a:solidFill>
                <a:latin typeface="Arial"/>
              </a:rPr>
              <a:t>Each action that changes the record asks for confirmation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Confirmation dialog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a:t>
            </a:r>
          </a:p>
        </p:txBody>
      </p:sp>
      <p:pic>
        <p:nvPicPr>
          <p:cNvPr id="9" name="Picture 8" descr="scr-pm-04-03-return.png"/>
          <p:cNvPicPr>
            <a:picLocks noChangeAspect="1"/>
          </p:cNvPicPr>
          <p:nvPr/>
        </p:nvPicPr>
        <p:blipFill>
          <a:blip r:embed="rId3"/>
          <a:stretch>
            <a:fillRect/>
          </a:stretch>
        </p:blipFill>
        <p:spPr>
          <a:xfrm>
            <a:off x="548640" y="1261872"/>
            <a:ext cx="7680960" cy="4054964"/>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Return to requester with the mandatory reason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The dialog names the record and the effect of the action</a:t>
            </a:r>
          </a:p>
          <a:p>
            <a:pPr>
              <a:spcAft>
                <a:spcPts val="600"/>
              </a:spcAft>
            </a:pPr>
            <a:r>
              <a:rPr sz="1100">
                <a:solidFill>
                  <a:srgbClr val="004EA8"/>
                </a:solidFill>
                <a:latin typeface="Arial"/>
              </a:rPr>
              <a:t>•  </a:t>
            </a:r>
            <a:r>
              <a:rPr sz="1100">
                <a:solidFill>
                  <a:srgbClr val="4B4B4B"/>
                </a:solidFill>
                <a:latin typeface="Arial"/>
              </a:rPr>
              <a:t>Every reject, return, cancel and void needs a reason from its list before it can be confirmed; the comment is optional</a:t>
            </a:r>
          </a:p>
          <a:p>
            <a:pPr>
              <a:spcAft>
                <a:spcPts val="600"/>
              </a:spcAft>
            </a:pPr>
            <a:r>
              <a:rPr sz="1100">
                <a:solidFill>
                  <a:srgbClr val="004EA8"/>
                </a:solidFill>
                <a:latin typeface="Arial"/>
              </a:rPr>
              <a:t>•  </a:t>
            </a:r>
            <a:r>
              <a:rPr sz="1100">
                <a:solidFill>
                  <a:srgbClr val="4B4B4B"/>
                </a:solidFill>
                <a:latin typeface="Arial"/>
              </a:rPr>
              <a:t>Cancel on the left, the action on the right; a destructive action uses the red button</a:t>
            </a:r>
          </a:p>
          <a:p>
            <a:pPr>
              <a:spcAft>
                <a:spcPts val="600"/>
              </a:spcAft>
            </a:pPr>
            <a:r>
              <a:rPr sz="1100">
                <a:solidFill>
                  <a:srgbClr val="004EA8"/>
                </a:solidFill>
                <a:latin typeface="Arial"/>
              </a:rPr>
              <a:t>•  </a:t>
            </a:r>
            <a:r>
              <a:rPr sz="1100">
                <a:solidFill>
                  <a:srgbClr val="4B4B4B"/>
                </a:solidFill>
                <a:latin typeface="Arial"/>
              </a:rPr>
              <a:t>The reason is kept in the history and sent with the notification</a:t>
            </a:r>
          </a:p>
          <a:p>
            <a:pPr>
              <a:spcAft>
                <a:spcPts val="600"/>
              </a:spcAft>
            </a:pPr>
            <a:r>
              <a:rPr sz="1100">
                <a:solidFill>
                  <a:srgbClr val="004EA8"/>
                </a:solidFill>
                <a:latin typeface="Arial"/>
              </a:rPr>
              <a:t>•  </a:t>
            </a:r>
            <a:r>
              <a:rPr sz="1100">
                <a:solidFill>
                  <a:srgbClr val="4B4B4B"/>
                </a:solidFill>
                <a:latin typeface="Arial"/>
              </a:rPr>
              <a:t>In this set: SCR-UA-08, SCR-UA-12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Status pills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a:t>
            </a:r>
          </a:p>
        </p:txBody>
      </p:sp>
      <p:pic>
        <p:nvPicPr>
          <p:cNvPr id="9" name="Picture 8" descr="scr-ua-06-01-list.png"/>
          <p:cNvPicPr>
            <a:picLocks noChangeAspect="1"/>
          </p:cNvPicPr>
          <p:nvPr/>
        </p:nvPicPr>
        <p:blipFill>
          <a:blip r:embed="rId3"/>
          <a:stretch>
            <a:fillRect/>
          </a:stretch>
        </p:blipFill>
        <p:spPr>
          <a:xfrm>
            <a:off x="807342" y="1261872"/>
            <a:ext cx="7163555"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Status column of the access requests</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Outlined: a border and text in the colour of the state group on a light tint of it</a:t>
            </a:r>
          </a:p>
          <a:p>
            <a:pPr>
              <a:spcAft>
                <a:spcPts val="600"/>
              </a:spcAft>
            </a:pPr>
            <a:r>
              <a:rPr sz="1100">
                <a:solidFill>
                  <a:srgbClr val="004EA8"/>
                </a:solidFill>
                <a:latin typeface="Arial"/>
              </a:rPr>
              <a:t>•  </a:t>
            </a:r>
            <a:r>
              <a:rPr sz="1100">
                <a:solidFill>
                  <a:srgbClr val="4B4B4B"/>
                </a:solidFill>
                <a:latin typeface="Arial"/>
              </a:rPr>
              <a:t>One size everywhere: 24 px high, 12 px bold, centred, 112 to 184 px wide; a pill never wraps</a:t>
            </a:r>
          </a:p>
          <a:p>
            <a:pPr>
              <a:spcAft>
                <a:spcPts val="600"/>
              </a:spcAft>
            </a:pPr>
            <a:r>
              <a:rPr sz="1100">
                <a:solidFill>
                  <a:srgbClr val="004EA8"/>
                </a:solidFill>
                <a:latin typeface="Arial"/>
              </a:rPr>
              <a:t>•  </a:t>
            </a:r>
            <a:r>
              <a:rPr sz="1100">
                <a:solidFill>
                  <a:srgbClr val="4B4B4B"/>
                </a:solidFill>
                <a:latin typeface="Arial"/>
              </a:rPr>
              <a:t>Green done or approved; yellow waiting for review or approval; blue in process; red exception or rejected; grey draft or inactive</a:t>
            </a:r>
          </a:p>
          <a:p>
            <a:pPr>
              <a:spcAft>
                <a:spcPts val="600"/>
              </a:spcAft>
            </a:pPr>
            <a:r>
              <a:rPr sz="1100">
                <a:solidFill>
                  <a:srgbClr val="004EA8"/>
                </a:solidFill>
                <a:latin typeface="Arial"/>
              </a:rPr>
              <a:t>•  </a:t>
            </a:r>
            <a:r>
              <a:rPr sz="1100">
                <a:solidFill>
                  <a:srgbClr val="4B4B4B"/>
                </a:solidFill>
                <a:latin typeface="Arial"/>
              </a:rPr>
              <a:t>The full label up to 21 characters; a longer label has its agreed short form with the full label in the tooltip</a:t>
            </a:r>
          </a:p>
          <a:p>
            <a:pPr>
              <a:spcAft>
                <a:spcPts val="600"/>
              </a:spcAft>
            </a:pPr>
            <a:r>
              <a:rPr sz="1100">
                <a:solidFill>
                  <a:srgbClr val="004EA8"/>
                </a:solidFill>
                <a:latin typeface="Arial"/>
              </a:rPr>
              <a:t>•  </a:t>
            </a:r>
            <a:r>
              <a:rPr sz="1100">
                <a:solidFill>
                  <a:srgbClr val="4B4B4B"/>
                </a:solidFill>
                <a:latin typeface="Arial"/>
              </a:rPr>
              <a:t>Flags (Generic, Client-specific, Locked, LEGACY) are tags in their own column, never pills</a:t>
            </a:r>
          </a:p>
          <a:p>
            <a:pPr>
              <a:spcAft>
                <a:spcPts val="600"/>
              </a:spcAft>
            </a:pPr>
            <a:r>
              <a:rPr sz="1100">
                <a:solidFill>
                  <a:srgbClr val="004EA8"/>
                </a:solidFill>
                <a:latin typeface="Arial"/>
              </a:rPr>
              <a:t>•  </a:t>
            </a:r>
            <a:r>
              <a:rPr sz="1100">
                <a:solidFill>
                  <a:srgbClr val="4B4B4B"/>
                </a:solidFill>
                <a:latin typeface="Arial"/>
              </a:rPr>
              <a:t>In this set: SCR-UA-06, SCR-UA-15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Period cell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a:t>
            </a:r>
          </a:p>
        </p:txBody>
      </p:sp>
      <p:pic>
        <p:nvPicPr>
          <p:cNvPr id="9" name="Picture 8" descr="scr-pm-10-01-list.png"/>
          <p:cNvPicPr>
            <a:picLocks noChangeAspect="1"/>
          </p:cNvPicPr>
          <p:nvPr/>
        </p:nvPicPr>
        <p:blipFill>
          <a:blip r:embed="rId3"/>
          <a:stretch>
            <a:fillRect/>
          </a:stretch>
        </p:blipFill>
        <p:spPr>
          <a:xfrm>
            <a:off x="548640" y="1261872"/>
            <a:ext cx="7680960" cy="276117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Package terms in the expiry list</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The start date on the first line and "to" the end date on the second, each date kept whole</a:t>
            </a:r>
          </a:p>
          <a:p>
            <a:pPr>
              <a:spcAft>
                <a:spcPts val="600"/>
              </a:spcAft>
            </a:pPr>
            <a:r>
              <a:rPr sz="1100">
                <a:solidFill>
                  <a:srgbClr val="004EA8"/>
                </a:solidFill>
                <a:latin typeface="Arial"/>
              </a:rPr>
              <a:t>•  </a:t>
            </a:r>
            <a:r>
              <a:rPr sz="1100">
                <a:solidFill>
                  <a:srgbClr val="4B4B4B"/>
                </a:solidFill>
                <a:latin typeface="Arial"/>
              </a:rPr>
              <a:t>An open end reads "to open"; in a sentence or a label and value grid the period is one line</a:t>
            </a:r>
          </a:p>
          <a:p>
            <a:pPr>
              <a:spcAft>
                <a:spcPts val="600"/>
              </a:spcAft>
            </a:pPr>
            <a:r>
              <a:rPr sz="1100">
                <a:solidFill>
                  <a:srgbClr val="004EA8"/>
                </a:solidFill>
                <a:latin typeface="Arial"/>
              </a:rPr>
              <a:t>•  </a:t>
            </a:r>
            <a:r>
              <a:rPr sz="1100">
                <a:solidFill>
                  <a:srgbClr val="4B4B4B"/>
                </a:solidFill>
                <a:latin typeface="Arial"/>
              </a:rPr>
              <a:t>The column is at least 132 px wide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Form with its validation summary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a:t>
            </a:r>
          </a:p>
        </p:txBody>
      </p:sp>
      <p:pic>
        <p:nvPicPr>
          <p:cNvPr id="9" name="Picture 8" descr="scr-ua-07-03-error.png"/>
          <p:cNvPicPr>
            <a:picLocks noChangeAspect="1"/>
          </p:cNvPicPr>
          <p:nvPr/>
        </p:nvPicPr>
        <p:blipFill>
          <a:blip r:embed="rId3"/>
          <a:stretch>
            <a:fillRect/>
          </a:stretch>
        </p:blipFill>
        <p:spPr>
          <a:xfrm>
            <a:off x="2973025" y="1261872"/>
            <a:ext cx="2832189"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request form after Submit with a short user ID and no justification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Labels above the fields on one baseline, fields of one height, required fields marked</a:t>
            </a:r>
          </a:p>
          <a:p>
            <a:pPr>
              <a:spcAft>
                <a:spcPts val="600"/>
              </a:spcAft>
            </a:pPr>
            <a:r>
              <a:rPr sz="1100">
                <a:solidFill>
                  <a:srgbClr val="004EA8"/>
                </a:solidFill>
                <a:latin typeface="Arial"/>
              </a:rPr>
              <a:t>•  </a:t>
            </a:r>
            <a:r>
              <a:rPr sz="1100">
                <a:solidFill>
                  <a:srgbClr val="4B4B4B"/>
                </a:solidFill>
                <a:latin typeface="Arial"/>
              </a:rPr>
              <a:t>The error in red under the field with the field outlined; the summary lists every error with a link</a:t>
            </a:r>
          </a:p>
          <a:p>
            <a:pPr>
              <a:spcAft>
                <a:spcPts val="600"/>
              </a:spcAft>
            </a:pPr>
            <a:r>
              <a:rPr sz="1100">
                <a:solidFill>
                  <a:srgbClr val="004EA8"/>
                </a:solidFill>
                <a:latin typeface="Arial"/>
              </a:rPr>
              <a:t>•  </a:t>
            </a:r>
            <a:r>
              <a:rPr sz="1100">
                <a:solidFill>
                  <a:srgbClr val="4B4B4B"/>
                </a:solidFill>
                <a:latin typeface="Arial"/>
              </a:rPr>
              <a:t>The actions at the bottom right: Cancel, then the main action</a:t>
            </a:r>
          </a:p>
          <a:p>
            <a:pPr>
              <a:spcAft>
                <a:spcPts val="600"/>
              </a:spcAft>
            </a:pPr>
            <a:r>
              <a:rPr sz="1100">
                <a:solidFill>
                  <a:srgbClr val="004EA8"/>
                </a:solidFill>
                <a:latin typeface="Arial"/>
              </a:rPr>
              <a:t>•  </a:t>
            </a:r>
            <a:r>
              <a:rPr sz="1100">
                <a:solidFill>
                  <a:srgbClr val="4B4B4B"/>
                </a:solidFill>
                <a:latin typeface="Arial"/>
              </a:rPr>
              <a:t>Only short format hints under a field; other guidance in the tooltip of the label</a:t>
            </a:r>
          </a:p>
          <a:p>
            <a:pPr>
              <a:spcAft>
                <a:spcPts val="600"/>
              </a:spcAft>
            </a:pPr>
            <a:r>
              <a:rPr sz="1100">
                <a:solidFill>
                  <a:srgbClr val="004EA8"/>
                </a:solidFill>
                <a:latin typeface="Arial"/>
              </a:rPr>
              <a:t>•  </a:t>
            </a:r>
            <a:r>
              <a:rPr sz="1100">
                <a:solidFill>
                  <a:srgbClr val="4B4B4B"/>
                </a:solidFill>
                <a:latin typeface="Arial"/>
              </a:rPr>
              <a:t>In this set: SCR-UA-07, SCR-UA-12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Upload with the error file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a:t>
            </a:r>
          </a:p>
        </p:txBody>
      </p:sp>
      <p:pic>
        <p:nvPicPr>
          <p:cNvPr id="9" name="Picture 8" descr="scr-ua-09-02-validated.png"/>
          <p:cNvPicPr>
            <a:picLocks noChangeAspect="1"/>
          </p:cNvPicPr>
          <p:nvPr/>
        </p:nvPicPr>
        <p:blipFill>
          <a:blip r:embed="rId3"/>
          <a:stretch>
            <a:fillRect/>
          </a:stretch>
        </p:blipFill>
        <p:spPr>
          <a:xfrm>
            <a:off x="1799842" y="1261872"/>
            <a:ext cx="5178554"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A bulk request after the upload, with the check of each row</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Download Template next to the upload; a drop zone with the accepted types and the maximum size</a:t>
            </a:r>
          </a:p>
          <a:p>
            <a:pPr>
              <a:spcAft>
                <a:spcPts val="600"/>
              </a:spcAft>
            </a:pPr>
            <a:r>
              <a:rPr sz="1100">
                <a:solidFill>
                  <a:srgbClr val="004EA8"/>
                </a:solidFill>
                <a:latin typeface="Arial"/>
              </a:rPr>
              <a:t>•  </a:t>
            </a:r>
            <a:r>
              <a:rPr sz="1100">
                <a:solidFill>
                  <a:srgbClr val="4B4B4B"/>
                </a:solidFill>
                <a:latin typeface="Arial"/>
              </a:rPr>
              <a:t>Rows Read, Valid and Rejected with the rows; the rejected rows come back in the error file (the template with an Error column)</a:t>
            </a:r>
          </a:p>
          <a:p>
            <a:pPr>
              <a:spcAft>
                <a:spcPts val="600"/>
              </a:spcAft>
            </a:pPr>
            <a:r>
              <a:rPr sz="1100">
                <a:solidFill>
                  <a:srgbClr val="004EA8"/>
                </a:solidFill>
                <a:latin typeface="Arial"/>
              </a:rPr>
              <a:t>•  </a:t>
            </a:r>
            <a:r>
              <a:rPr sz="1100">
                <a:solidFill>
                  <a:srgbClr val="4B4B4B"/>
                </a:solidFill>
                <a:latin typeface="Arial"/>
              </a:rPr>
              <a:t>Upload Corrected File keeps the link to the first upload; a file uploaded before is refused</a:t>
            </a:r>
          </a:p>
          <a:p>
            <a:pPr>
              <a:spcAft>
                <a:spcPts val="600"/>
              </a:spcAft>
            </a:pPr>
            <a:r>
              <a:rPr sz="1100">
                <a:solidFill>
                  <a:srgbClr val="004EA8"/>
                </a:solidFill>
                <a:latin typeface="Arial"/>
              </a:rPr>
              <a:t>•  </a:t>
            </a:r>
            <a:r>
              <a:rPr sz="1100">
                <a:solidFill>
                  <a:srgbClr val="4B4B4B"/>
                </a:solidFill>
                <a:latin typeface="Arial"/>
              </a:rPr>
              <a:t>In this set: SCR-UA-09, SCR-UA-10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Key facts of a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a:t>
            </a:r>
          </a:p>
        </p:txBody>
      </p:sp>
      <p:pic>
        <p:nvPicPr>
          <p:cNvPr id="9" name="Picture 8" descr="scr-pm-13-06-released.png"/>
          <p:cNvPicPr>
            <a:picLocks noChangeAspect="1"/>
          </p:cNvPicPr>
          <p:nvPr/>
        </p:nvPicPr>
        <p:blipFill>
          <a:blip r:embed="rId3"/>
          <a:stretch>
            <a:fillRect/>
          </a:stretch>
        </p:blipFill>
        <p:spPr>
          <a:xfrm>
            <a:off x="2628079" y="1261872"/>
            <a:ext cx="3522081"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released package version with the result of its validation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Four columns of key facts under the record name, reference chips and status</a:t>
            </a:r>
          </a:p>
          <a:p>
            <a:pPr>
              <a:spcAft>
                <a:spcPts val="600"/>
              </a:spcAft>
            </a:pPr>
            <a:r>
              <a:rPr sz="1100">
                <a:solidFill>
                  <a:srgbClr val="004EA8"/>
                </a:solidFill>
                <a:latin typeface="Arial"/>
              </a:rPr>
              <a:t>•  </a:t>
            </a:r>
            <a:r>
              <a:rPr sz="1100">
                <a:solidFill>
                  <a:srgbClr val="4B4B4B"/>
                </a:solidFill>
                <a:latin typeface="Arial"/>
              </a:rPr>
              <a:t>Outcome facts (result, by, on, figures compared) as facts, never as a sentence</a:t>
            </a:r>
          </a:p>
          <a:p>
            <a:pPr>
              <a:spcAft>
                <a:spcPts val="600"/>
              </a:spcAft>
            </a:pPr>
            <a:r>
              <a:rPr sz="1100">
                <a:solidFill>
                  <a:srgbClr val="004EA8"/>
                </a:solidFill>
                <a:latin typeface="Arial"/>
              </a:rPr>
              <a:t>•  </a:t>
            </a:r>
            <a:r>
              <a:rPr sz="1100">
                <a:solidFill>
                  <a:srgbClr val="4B4B4B"/>
                </a:solidFill>
                <a:latin typeface="Arial"/>
              </a:rPr>
              <a:t>A dash for an empty value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Screen standards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a:t>
            </a:r>
          </a:p>
        </p:txBody>
      </p:sp>
      <p:graphicFrame>
        <p:nvGraphicFramePr>
          <p:cNvPr id="9" name="Table 8"/>
          <p:cNvGraphicFramePr>
            <a:graphicFrameLocks noGrp="1"/>
          </p:cNvGraphicFramePr>
          <p:nvPr/>
        </p:nvGraphicFramePr>
        <p:xfrm>
          <a:off x="548640" y="1325880"/>
          <a:ext cx="11094414" cy="4937760"/>
        </p:xfrm>
        <a:graphic>
          <a:graphicData uri="http://schemas.openxmlformats.org/drawingml/2006/table">
            <a:tbl>
              <a:tblPr firstRow="1" bandRow="1">
                <a:tableStyleId>{5C22544A-7EE6-4342-B048-85BDC9FD1C3A}</a:tableStyleId>
              </a:tblPr>
              <a:tblGrid>
                <a:gridCol w="2048199"/>
                <a:gridCol w="9046215"/>
              </a:tblGrid>
              <a:tr h="243840">
                <a:tc>
                  <a:txBody>
                    <a:bodyPr/>
                    <a:lstStyle/>
                    <a:p>
                      <a:r>
                        <a:rPr sz="1000" b="1">
                          <a:solidFill>
                            <a:srgbClr val="FFFFFF"/>
                          </a:solidFill>
                          <a:latin typeface="Arial"/>
                        </a:rPr>
                        <a:t>Area</a:t>
                      </a:r>
                    </a:p>
                  </a:txBody>
                  <a:tcPr marL="54864" marR="54864" marT="27432" marB="27432">
                    <a:solidFill>
                      <a:srgbClr val="004EA8"/>
                    </a:solidFill>
                  </a:tcPr>
                </a:tc>
                <a:tc>
                  <a:txBody>
                    <a:bodyPr/>
                    <a:lstStyle/>
                    <a:p>
                      <a:r>
                        <a:rPr sz="1000" b="1">
                          <a:solidFill>
                            <a:srgbClr val="FFFFFF"/>
                          </a:solidFill>
                          <a:latin typeface="Arial"/>
                        </a:rPr>
                        <a:t>Standard</a:t>
                      </a:r>
                    </a:p>
                  </a:txBody>
                  <a:tcPr marL="54864" marR="54864" marT="27432" marB="27432">
                    <a:solidFill>
                      <a:srgbClr val="004EA8"/>
                    </a:solidFill>
                  </a:tcPr>
                </a:tc>
              </a:tr>
              <a:tr h="396240">
                <a:tc>
                  <a:txBody>
                    <a:bodyPr/>
                    <a:lstStyle/>
                    <a:p>
                      <a:r>
                        <a:rPr sz="1000" b="1">
                          <a:solidFill>
                            <a:srgbClr val="4B4B4B"/>
                          </a:solidFill>
                          <a:latin typeface="Arial"/>
                        </a:rPr>
                        <a:t>Record pages</a:t>
                      </a:r>
                    </a:p>
                  </a:txBody>
                  <a:tcPr marL="54864" marR="54864" marT="27432" marB="27432">
                    <a:solidFill>
                      <a:srgbClr val="FFFFFF"/>
                    </a:solidFill>
                  </a:tcPr>
                </a:tc>
                <a:tc>
                  <a:txBody>
                    <a:bodyPr/>
                    <a:lstStyle/>
                    <a:p>
                      <a:r>
                        <a:rPr sz="1000" b="0">
                          <a:solidFill>
                            <a:srgbClr val="4B4B4B"/>
                          </a:solidFill>
                          <a:latin typeface="Arial"/>
                        </a:rPr>
                        <a:t>Back arrow and breadcrumb, title, then the record header: name, reference chips, status pill, tags (for example a client tag such as BDO employee) and the key facts. Page actions on the right in one order: secondary, primary, and the destructive action last and apart.</a:t>
                      </a:r>
                    </a:p>
                  </a:txBody>
                  <a:tcPr marL="54864" marR="54864" marT="27432" marB="27432">
                    <a:solidFill>
                      <a:srgbClr val="FFFFFF"/>
                    </a:solidFill>
                  </a:tcPr>
                </a:tc>
              </a:tr>
              <a:tr h="853440">
                <a:tc>
                  <a:txBody>
                    <a:bodyPr/>
                    <a:lstStyle/>
                    <a:p>
                      <a:r>
                        <a:rPr sz="1000" b="1">
                          <a:solidFill>
                            <a:srgbClr val="4B4B4B"/>
                          </a:solidFill>
                          <a:latin typeface="Arial"/>
                        </a:rPr>
                        <a:t>Workflow header (step bar)</a:t>
                      </a:r>
                    </a:p>
                  </a:txBody>
                  <a:tcPr marL="54864" marR="54864" marT="27432" marB="27432">
                    <a:solidFill>
                      <a:srgbClr val="E5F5FF"/>
                    </a:solidFill>
                  </a:tcPr>
                </a:tc>
                <a:tc>
                  <a:txBody>
                    <a:bodyPr/>
                    <a:lstStyle/>
                    <a:p>
                      <a:r>
                        <a:rPr sz="1000" b="0">
                          <a:solidFill>
                            <a:srgbClr val="4B4B4B"/>
                          </a:solidFill>
                          <a:latin typeface="Arial"/>
                        </a:rPr>
                        <a:t>Every record with a workflow shows a stepper under the record header: the stages of the main path in their order, passed stages ticked in blue, the current stage highlighted, the stages ahead in grey with their number. A returned or on-hold stage shows in amber after the stage it came from; a rejected, cancelled or voided record shows that stage in red and the path ends there; the last stage turns green when it is reached. Under the stepper one row gives Current Stage, Since, Due (with the Overdue pill) and Assigned To, with the actions of the stage on the right. The history is a table (Stage, From Stage, Action, By, Date and Time, Remarks, Duration in Stage), newest first.</a:t>
                      </a:r>
                    </a:p>
                  </a:txBody>
                  <a:tcPr marL="54864" marR="54864" marT="27432" marB="27432">
                    <a:solidFill>
                      <a:srgbClr val="E5F5FF"/>
                    </a:solidFill>
                  </a:tcPr>
                </a:tc>
              </a:tr>
              <a:tr h="701040">
                <a:tc>
                  <a:txBody>
                    <a:bodyPr/>
                    <a:lstStyle/>
                    <a:p>
                      <a:r>
                        <a:rPr sz="1000" b="1">
                          <a:solidFill>
                            <a:srgbClr val="4B4B4B"/>
                          </a:solidFill>
                          <a:latin typeface="Arial"/>
                        </a:rPr>
                        <a:t>Messages (notice standard)</a:t>
                      </a:r>
                    </a:p>
                  </a:txBody>
                  <a:tcPr marL="54864" marR="54864" marT="27432" marB="27432">
                    <a:solidFill>
                      <a:srgbClr val="FFFFFF"/>
                    </a:solidFill>
                  </a:tcPr>
                </a:tc>
                <a:tc>
                  <a:txBody>
                    <a:bodyPr/>
                    <a:lstStyle/>
                    <a:p>
                      <a:r>
                        <a:rPr sz="1000" b="0">
                          <a:solidFill>
                            <a:srgbClr val="4B4B4B"/>
                          </a:solidFill>
                          <a:latin typeface="Arial"/>
                        </a:rPr>
                        <a:t>One standard for errors, warnings, information and success: a white notice with a thin bar and an icon in the colour of its kind (red, amber, blue, green), a bold short title, then the business message with one bullet per missing item. No codes, internal references or technical terms in what the user reads. Field errors appear under the field; a long form lists its errors at the top with a link to the first field. Only an unexpected system error offers Retry and a reference for support behind Details. Special instructions are one short information notice.</a:t>
                      </a:r>
                    </a:p>
                  </a:txBody>
                  <a:tcPr marL="54864" marR="54864" marT="27432" marB="27432">
                    <a:solidFill>
                      <a:srgbClr val="FFFFFF"/>
                    </a:solidFill>
                  </a:tcPr>
                </a:tc>
              </a:tr>
              <a:tr h="548640">
                <a:tc>
                  <a:txBody>
                    <a:bodyPr/>
                    <a:lstStyle/>
                    <a:p>
                      <a:r>
                        <a:rPr sz="1000" b="1">
                          <a:solidFill>
                            <a:srgbClr val="4B4B4B"/>
                          </a:solidFill>
                          <a:latin typeface="Arial"/>
                        </a:rPr>
                        <a:t>Tables, not highlight boxes</a:t>
                      </a:r>
                    </a:p>
                  </a:txBody>
                  <a:tcPr marL="54864" marR="54864" marT="27432" marB="27432">
                    <a:solidFill>
                      <a:srgbClr val="E5F5FF"/>
                    </a:solidFill>
                  </a:tcPr>
                </a:tc>
                <a:tc>
                  <a:txBody>
                    <a:bodyPr/>
                    <a:lstStyle/>
                    <a:p>
                      <a:r>
                        <a:rPr sz="1000" b="0">
                          <a:solidFill>
                            <a:srgbClr val="4B4B4B"/>
                          </a:solidFill>
                          <a:latin typeface="Arial"/>
                        </a:rPr>
                        <a:t>Records and lists of records are rows of a titled table (for example the Rate Exceptions of a quotation: Exception No., Requested Rate, Scheme Rate, Difference, Valid Until, Requested By, Decided By, Status); key data is a label and value grid. A coloured box carries a short message only, never a record.</a:t>
                      </a:r>
                    </a:p>
                  </a:txBody>
                  <a:tcPr marL="54864" marR="54864" marT="27432" marB="27432">
                    <a:solidFill>
                      <a:srgbClr val="E5F5FF"/>
                    </a:solidFill>
                  </a:tcPr>
                </a:tc>
              </a:tr>
              <a:tr h="853440">
                <a:tc>
                  <a:txBody>
                    <a:bodyPr/>
                    <a:lstStyle/>
                    <a:p>
                      <a:r>
                        <a:rPr sz="1000" b="1">
                          <a:solidFill>
                            <a:srgbClr val="4B4B4B"/>
                          </a:solidFill>
                          <a:latin typeface="Arial"/>
                        </a:rPr>
                        <a:t>Tables</a:t>
                      </a:r>
                    </a:p>
                  </a:txBody>
                  <a:tcPr marL="54864" marR="54864" marT="27432" marB="27432">
                    <a:solidFill>
                      <a:srgbClr val="FFFFFF"/>
                    </a:solidFill>
                  </a:tcPr>
                </a:tc>
                <a:tc>
                  <a:txBody>
                    <a:bodyPr/>
                    <a:lstStyle/>
                    <a:p>
                      <a:r>
                        <a:rPr sz="1000" b="0">
                          <a:solidFill>
                            <a:srgbClr val="4B4B4B"/>
                          </a:solidFill>
                          <a:latin typeface="Arial"/>
                        </a:rPr>
                        <a:t>Header row in BDO blue that stays in view; rows alternate white and Background Blue, with a light hover and a stronger blue for the selected row; a list scrolls inside its card, the card as high as its rows and never higher than the window; text left, amounts right, dates in one format; one value per cell with at most one muted line under it; a dash for an empty value; the kind of a mixed list of records in a Type column; a due date on one line, in red with the warning icon once past due; ages and durations in words (for example 3 days); "Showing x to y of n results" with page numbers.</a:t>
                      </a:r>
                    </a:p>
                  </a:txBody>
                  <a:tcPr marL="54864" marR="54864" marT="27432" marB="27432">
                    <a:solidFill>
                      <a:srgbClr val="FFFFFF"/>
                    </a:solidFill>
                  </a:tcPr>
                </a:tc>
              </a:tr>
              <a:tr h="548640">
                <a:tc>
                  <a:txBody>
                    <a:bodyPr/>
                    <a:lstStyle/>
                    <a:p>
                      <a:r>
                        <a:rPr sz="1000" b="1">
                          <a:solidFill>
                            <a:srgbClr val="4B4B4B"/>
                          </a:solidFill>
                          <a:latin typeface="Arial"/>
                        </a:rPr>
                        <a:t>Status labels</a:t>
                      </a:r>
                    </a:p>
                  </a:txBody>
                  <a:tcPr marL="54864" marR="54864" marT="27432" marB="27432">
                    <a:solidFill>
                      <a:srgbClr val="E5F5FF"/>
                    </a:solidFill>
                  </a:tcPr>
                </a:tc>
                <a:tc>
                  <a:txBody>
                    <a:bodyPr/>
                    <a:lstStyle/>
                    <a:p>
                      <a:r>
                        <a:rPr sz="1000" b="0">
                          <a:solidFill>
                            <a:srgbClr val="4B4B4B"/>
                          </a:solidFill>
                          <a:latin typeface="Arial"/>
                        </a:rPr>
                        <a:t>Statuses are outlined pills (a border and text in the colour of the state group on a light tint) of one size and never wrap. The full label is shown (for example Returned to Marketing, Pending Authorization); an agreed short form, with the full label in the tooltip, only for a label longer than 21 characters.</a:t>
                      </a:r>
                    </a:p>
                  </a:txBody>
                  <a:tcPr marL="54864" marR="54864" marT="27432" marB="27432">
                    <a:solidFill>
                      <a:srgbClr val="E5F5FF"/>
                    </a:solidFill>
                  </a:tcPr>
                </a:tc>
              </a:tr>
              <a:tr h="396240">
                <a:tc>
                  <a:txBody>
                    <a:bodyPr/>
                    <a:lstStyle/>
                    <a:p>
                      <a:r>
                        <a:rPr sz="1000" b="1">
                          <a:solidFill>
                            <a:srgbClr val="4B4B4B"/>
                          </a:solidFill>
                          <a:latin typeface="Arial"/>
                        </a:rPr>
                        <a:t>Labels and names</a:t>
                      </a:r>
                    </a:p>
                  </a:txBody>
                  <a:tcPr marL="54864" marR="54864" marT="27432" marB="27432">
                    <a:solidFill>
                      <a:srgbClr val="FFFFFF"/>
                    </a:solidFill>
                  </a:tcPr>
                </a:tc>
                <a:tc>
                  <a:txBody>
                    <a:bodyPr/>
                    <a:lstStyle/>
                    <a:p>
                      <a:r>
                        <a:rPr sz="1000" b="0">
                          <a:solidFill>
                            <a:srgbClr val="4B4B4B"/>
                          </a:solidFill>
                          <a:latin typeface="Arial"/>
                        </a:rPr>
                        <a:t>List values are shown by their label, never by their code; products by name with the code as a second line; insurers by name; users by their names, never by their user ID.</a:t>
                      </a:r>
                    </a:p>
                  </a:txBody>
                  <a:tcPr marL="54864" marR="54864" marT="27432" marB="27432">
                    <a:solidFill>
                      <a:srgbClr val="FFFFFF"/>
                    </a:solidFill>
                  </a:tcPr>
                </a:tc>
              </a:tr>
              <a:tr h="396240">
                <a:tc>
                  <a:txBody>
                    <a:bodyPr/>
                    <a:lstStyle/>
                    <a:p>
                      <a:r>
                        <a:rPr sz="1000" b="1">
                          <a:solidFill>
                            <a:srgbClr val="4B4B4B"/>
                          </a:solidFill>
                          <a:latin typeface="Arial"/>
                        </a:rPr>
                        <a:t>Dates, amounts and rates</a:t>
                      </a:r>
                    </a:p>
                  </a:txBody>
                  <a:tcPr marL="54864" marR="54864" marT="27432" marB="27432">
                    <a:solidFill>
                      <a:srgbClr val="E5F5FF"/>
                    </a:solidFill>
                  </a:tcPr>
                </a:tc>
                <a:tc>
                  <a:txBody>
                    <a:bodyPr/>
                    <a:lstStyle/>
                    <a:p>
                      <a:r>
                        <a:rPr sz="1000" b="0">
                          <a:solidFill>
                            <a:srgbClr val="4B4B4B"/>
                          </a:solidFill>
                          <a:latin typeface="Arial"/>
                        </a:rPr>
                        <a:t>One date picker; dates entered and shown as dd-MMM-yyyy, times as dd-MMM-yyyy HH:mm (Philippine time). Amounts with two decimals and thousand separators, negatives in brackets, the currency in the column header or before the amount. Rates as percentages with two to four decimals, as keyed.</a:t>
                      </a:r>
                    </a:p>
                  </a:txBody>
                  <a:tcPr marL="54864" marR="54864" marT="27432" marB="27432">
                    <a:solidFill>
                      <a:srgbClr val="E5F5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Screen standards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a:t>
            </a:r>
          </a:p>
        </p:txBody>
      </p:sp>
      <p:graphicFrame>
        <p:nvGraphicFramePr>
          <p:cNvPr id="9" name="Table 8"/>
          <p:cNvGraphicFramePr>
            <a:graphicFrameLocks noGrp="1"/>
          </p:cNvGraphicFramePr>
          <p:nvPr/>
        </p:nvGraphicFramePr>
        <p:xfrm>
          <a:off x="548640" y="1325880"/>
          <a:ext cx="11094414" cy="3017520"/>
        </p:xfrm>
        <a:graphic>
          <a:graphicData uri="http://schemas.openxmlformats.org/drawingml/2006/table">
            <a:tbl>
              <a:tblPr firstRow="1" bandRow="1">
                <a:tableStyleId>{5C22544A-7EE6-4342-B048-85BDC9FD1C3A}</a:tableStyleId>
              </a:tblPr>
              <a:tblGrid>
                <a:gridCol w="2048199"/>
                <a:gridCol w="9046215"/>
              </a:tblGrid>
              <a:tr h="243840">
                <a:tc>
                  <a:txBody>
                    <a:bodyPr/>
                    <a:lstStyle/>
                    <a:p>
                      <a:r>
                        <a:rPr sz="1000" b="1">
                          <a:solidFill>
                            <a:srgbClr val="FFFFFF"/>
                          </a:solidFill>
                          <a:latin typeface="Arial"/>
                        </a:rPr>
                        <a:t>Area</a:t>
                      </a:r>
                    </a:p>
                  </a:txBody>
                  <a:tcPr marL="54864" marR="54864" marT="27432" marB="27432">
                    <a:solidFill>
                      <a:srgbClr val="004EA8"/>
                    </a:solidFill>
                  </a:tcPr>
                </a:tc>
                <a:tc>
                  <a:txBody>
                    <a:bodyPr/>
                    <a:lstStyle/>
                    <a:p>
                      <a:r>
                        <a:rPr sz="1000" b="1">
                          <a:solidFill>
                            <a:srgbClr val="FFFFFF"/>
                          </a:solidFill>
                          <a:latin typeface="Arial"/>
                        </a:rPr>
                        <a:t>Standard</a:t>
                      </a:r>
                    </a:p>
                  </a:txBody>
                  <a:tcPr marL="54864" marR="54864" marT="27432" marB="27432">
                    <a:solidFill>
                      <a:srgbClr val="004EA8"/>
                    </a:solidFill>
                  </a:tcPr>
                </a:tc>
              </a:tr>
              <a:tr h="396240">
                <a:tc>
                  <a:txBody>
                    <a:bodyPr/>
                    <a:lstStyle/>
                    <a:p>
                      <a:r>
                        <a:rPr sz="1000" b="1">
                          <a:solidFill>
                            <a:srgbClr val="4B4B4B"/>
                          </a:solidFill>
                          <a:latin typeface="Arial"/>
                        </a:rPr>
                        <a:t>Period cell</a:t>
                      </a:r>
                    </a:p>
                  </a:txBody>
                  <a:tcPr marL="54864" marR="54864" marT="27432" marB="27432">
                    <a:solidFill>
                      <a:srgbClr val="FFFFFF"/>
                    </a:solidFill>
                  </a:tcPr>
                </a:tc>
                <a:tc>
                  <a:txBody>
                    <a:bodyPr/>
                    <a:lstStyle/>
                    <a:p>
                      <a:r>
                        <a:rPr sz="1000" b="0">
                          <a:solidFill>
                            <a:srgbClr val="4B4B4B"/>
                          </a:solidFill>
                          <a:latin typeface="Arial"/>
                        </a:rPr>
                        <a:t>A period (period of cover, package term, statement period) is shown in lists on two lines, the start date and "to" the end date, each date kept whole; an open end reads "to open". In a sentence or a label and value grid it is one line: "20-Oct-2026 to 20-Oct-2027".</a:t>
                      </a:r>
                    </a:p>
                  </a:txBody>
                  <a:tcPr marL="54864" marR="54864" marT="27432" marB="27432">
                    <a:solidFill>
                      <a:srgbClr val="FFFFFF"/>
                    </a:solidFill>
                  </a:tcPr>
                </a:tc>
              </a:tr>
              <a:tr h="396240">
                <a:tc>
                  <a:txBody>
                    <a:bodyPr/>
                    <a:lstStyle/>
                    <a:p>
                      <a:r>
                        <a:rPr sz="1000" b="1">
                          <a:solidFill>
                            <a:srgbClr val="4B4B4B"/>
                          </a:solidFill>
                          <a:latin typeface="Arial"/>
                        </a:rPr>
                        <a:t>Forms</a:t>
                      </a:r>
                    </a:p>
                  </a:txBody>
                  <a:tcPr marL="54864" marR="54864" marT="27432" marB="27432">
                    <a:solidFill>
                      <a:srgbClr val="E5F5FF"/>
                    </a:solidFill>
                  </a:tcPr>
                </a:tc>
                <a:tc>
                  <a:txBody>
                    <a:bodyPr/>
                    <a:lstStyle/>
                    <a:p>
                      <a:r>
                        <a:rPr sz="1000" b="0">
                          <a:solidFill>
                            <a:srgbClr val="4B4B4B"/>
                          </a:solidFill>
                          <a:latin typeface="Arial"/>
                        </a:rPr>
                        <a:t>Labels above the fields, fields of one height on one line, required fields marked, the error under the field, and the actions in one place (Cancel, then the main action). Format hints only; other guidance is in the tooltip of the label.</a:t>
                      </a:r>
                    </a:p>
                  </a:txBody>
                  <a:tcPr marL="54864" marR="54864" marT="27432" marB="27432">
                    <a:solidFill>
                      <a:srgbClr val="E5F5FF"/>
                    </a:solidFill>
                  </a:tcPr>
                </a:tc>
              </a:tr>
              <a:tr h="548640">
                <a:tc>
                  <a:txBody>
                    <a:bodyPr/>
                    <a:lstStyle/>
                    <a:p>
                      <a:r>
                        <a:rPr sz="1000" b="1">
                          <a:solidFill>
                            <a:srgbClr val="4B4B4B"/>
                          </a:solidFill>
                          <a:latin typeface="Arial"/>
                        </a:rPr>
                        <a:t>Uploads</a:t>
                      </a:r>
                    </a:p>
                  </a:txBody>
                  <a:tcPr marL="54864" marR="54864" marT="27432" marB="27432">
                    <a:solidFill>
                      <a:srgbClr val="FFFFFF"/>
                    </a:solidFill>
                  </a:tcPr>
                </a:tc>
                <a:tc>
                  <a:txBody>
                    <a:bodyPr/>
                    <a:lstStyle/>
                    <a:p>
                      <a:r>
                        <a:rPr sz="1000" b="0">
                          <a:solidFill>
                            <a:srgbClr val="4B4B4B"/>
                          </a:solidFill>
                          <a:latin typeface="Arial"/>
                        </a:rPr>
                        <a:t>Download Template next to the upload; a drop zone with the accepted types and maximum size; every row checked before anything is saved; Rows Read, Valid and Rejected with the rows; valid rows are processed and the rejected rows are returned in the error file (the template layout with an Error column and the wrong cells highlighted); Upload Corrected File keeps the link to the first upload; a file uploaded before is refused.</a:t>
                      </a:r>
                    </a:p>
                  </a:txBody>
                  <a:tcPr marL="54864" marR="54864" marT="27432" marB="27432">
                    <a:solidFill>
                      <a:srgbClr val="FFFFFF"/>
                    </a:solidFill>
                  </a:tcPr>
                </a:tc>
              </a:tr>
              <a:tr h="548640">
                <a:tc>
                  <a:txBody>
                    <a:bodyPr/>
                    <a:lstStyle/>
                    <a:p>
                      <a:r>
                        <a:rPr sz="1000" b="1">
                          <a:solidFill>
                            <a:srgbClr val="4B4B4B"/>
                          </a:solidFill>
                          <a:latin typeface="Arial"/>
                        </a:rPr>
                        <a:t>Confirmations and reasons</a:t>
                      </a:r>
                    </a:p>
                  </a:txBody>
                  <a:tcPr marL="54864" marR="54864" marT="27432" marB="27432">
                    <a:solidFill>
                      <a:srgbClr val="E5F5FF"/>
                    </a:solidFill>
                  </a:tcPr>
                </a:tc>
                <a:tc>
                  <a:txBody>
                    <a:bodyPr/>
                    <a:lstStyle/>
                    <a:p>
                      <a:r>
                        <a:rPr sz="1000" b="0">
                          <a:solidFill>
                            <a:srgbClr val="4B4B4B"/>
                          </a:solidFill>
                          <a:latin typeface="Arial"/>
                        </a:rPr>
                        <a:t>Every approve, authorise, post, release, cancel, void or deactivate asks for confirmation in a dialog that names the record and the effect. Every reject, return, cancel and void needs a reason (from its list where there is one) before it can be confirmed. Destructive actions are confirmed with the red button. The reason is kept in the history and sent with the notification.</a:t>
                      </a:r>
                    </a:p>
                  </a:txBody>
                  <a:tcPr marL="54864" marR="54864" marT="27432" marB="27432">
                    <a:solidFill>
                      <a:srgbClr val="E5F5FF"/>
                    </a:solidFill>
                  </a:tcPr>
                </a:tc>
              </a:tr>
              <a:tr h="396240">
                <a:tc>
                  <a:txBody>
                    <a:bodyPr/>
                    <a:lstStyle/>
                    <a:p>
                      <a:r>
                        <a:rPr sz="1000" b="1">
                          <a:solidFill>
                            <a:srgbClr val="4B4B4B"/>
                          </a:solidFill>
                          <a:latin typeface="Arial"/>
                        </a:rPr>
                        <a:t>Notifications</a:t>
                      </a:r>
                    </a:p>
                  </a:txBody>
                  <a:tcPr marL="54864" marR="54864" marT="27432" marB="27432">
                    <a:solidFill>
                      <a:srgbClr val="FFFFFF"/>
                    </a:solidFill>
                  </a:tcPr>
                </a:tc>
                <a:tc>
                  <a:txBody>
                    <a:bodyPr/>
                    <a:lstStyle/>
                    <a:p>
                      <a:r>
                        <a:rPr sz="1000" b="0">
                          <a:solidFill>
                            <a:srgbClr val="4B4B4B"/>
                          </a:solidFill>
                          <a:latin typeface="Arial"/>
                        </a:rPr>
                        <a:t>The bell shows the unread count and opens the panel grouped by day (Today, Yesterday, then the date), each notice with its title, one-line summary, record reference and time; Mark Read, Mark All Read and View All; the Notifications page lists every notice with filters.</a:t>
                      </a:r>
                    </a:p>
                  </a:txBody>
                  <a:tcPr marL="54864" marR="54864" marT="27432" marB="27432">
                    <a:solidFill>
                      <a:srgbClr val="FFFFFF"/>
                    </a:solidFill>
                  </a:tcPr>
                </a:tc>
              </a:tr>
              <a:tr h="243840">
                <a:tc>
                  <a:txBody>
                    <a:bodyPr/>
                    <a:lstStyle/>
                    <a:p>
                      <a:r>
                        <a:rPr sz="1000" b="1">
                          <a:solidFill>
                            <a:srgbClr val="4B4B4B"/>
                          </a:solidFill>
                          <a:latin typeface="Arial"/>
                        </a:rPr>
                        <a:t>Documents</a:t>
                      </a:r>
                    </a:p>
                  </a:txBody>
                  <a:tcPr marL="54864" marR="54864" marT="27432" marB="27432">
                    <a:solidFill>
                      <a:srgbClr val="E5F5FF"/>
                    </a:solidFill>
                  </a:tcPr>
                </a:tc>
                <a:tc>
                  <a:txBody>
                    <a:bodyPr/>
                    <a:lstStyle/>
                    <a:p>
                      <a:r>
                        <a:rPr sz="1000" b="0">
                          <a:solidFill>
                            <a:srgbClr val="4B4B4B"/>
                          </a:solidFill>
                          <a:latin typeface="Arial"/>
                        </a:rPr>
                        <a:t>Generated documents carry the BDO Insure letterhead, the document name and reference, and a business footer with "Confidential" and page x of y.</a:t>
                      </a:r>
                    </a:p>
                  </a:txBody>
                  <a:tcPr marL="54864" marR="54864" marT="27432" marB="27432">
                    <a:solidFill>
                      <a:srgbClr val="E5F5FF"/>
                    </a:solidFill>
                  </a:tcPr>
                </a:tc>
              </a:tr>
              <a:tr h="243840">
                <a:tc>
                  <a:txBody>
                    <a:bodyPr/>
                    <a:lstStyle/>
                    <a:p>
                      <a:r>
                        <a:rPr sz="1000" b="1">
                          <a:solidFill>
                            <a:srgbClr val="4B4B4B"/>
                          </a:solidFill>
                          <a:latin typeface="Arial"/>
                        </a:rPr>
                        <a:t>Four eyes</a:t>
                      </a:r>
                    </a:p>
                  </a:txBody>
                  <a:tcPr marL="54864" marR="54864" marT="27432" marB="27432">
                    <a:solidFill>
                      <a:srgbClr val="FFFFFF"/>
                    </a:solidFill>
                  </a:tcPr>
                </a:tc>
                <a:tc>
                  <a:txBody>
                    <a:bodyPr/>
                    <a:lstStyle/>
                    <a:p>
                      <a:r>
                        <a:rPr sz="1000" b="0">
                          <a:solidFill>
                            <a:srgbClr val="4B4B4B"/>
                          </a:solidFill>
                          <a:latin typeface="Arial"/>
                        </a:rPr>
                        <a:t>Nothing changes access until a second person approves; the screens offer a decision only to the users who may take it.</a:t>
                      </a:r>
                    </a:p>
                  </a:txBody>
                  <a:tcPr marL="54864" marR="54864" marT="27432" marB="27432">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Navigation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The landing page and the full menu of each persona</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BRD-11 User Access Maintenance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Requestor: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1-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NAV-UA-01 The page Requestor sees after sign-in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Requestor: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1.png"/>
          <p:cNvPicPr>
            <a:picLocks noChangeAspect="1"/>
          </p:cNvPicPr>
          <p:nvPr/>
        </p:nvPicPr>
        <p:blipFill>
          <a:blip r:embed="rId3"/>
          <a:stretch>
            <a:fillRect/>
          </a:stretch>
        </p:blipFill>
        <p:spPr>
          <a:xfrm>
            <a:off x="3519906" y="1261872"/>
            <a:ext cx="2461641" cy="4732591"/>
          </a:xfrm>
          <a:prstGeom prst="rect">
            <a:avLst/>
          </a:prstGeom>
          <a:ln w="9525">
            <a:solidFill>
              <a:srgbClr val="C2C2C1"/>
            </a:solidFill>
          </a:ln>
        </p:spPr>
      </p:pic>
      <p:pic>
        <p:nvPicPr>
          <p:cNvPr id="11" name="Picture 10" descr="slice-00002.png"/>
          <p:cNvPicPr>
            <a:picLocks noChangeAspect="1"/>
          </p:cNvPicPr>
          <p:nvPr/>
        </p:nvPicPr>
        <p:blipFill>
          <a:blip r:embed="rId4"/>
          <a:stretch>
            <a:fillRect/>
          </a:stretch>
        </p:blipFill>
        <p:spPr>
          <a:xfrm>
            <a:off x="6210147" y="1261872"/>
            <a:ext cx="2461641" cy="313772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NAV-UA-01 Every group of the menu open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Requestor: menu entries of User Access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a:t>
            </a:r>
          </a:p>
        </p:txBody>
      </p:sp>
      <p:graphicFrame>
        <p:nvGraphicFramePr>
          <p:cNvPr id="9" name="Table 8"/>
          <p:cNvGraphicFramePr>
            <a:graphicFrameLocks noGrp="1"/>
          </p:cNvGraphicFramePr>
          <p:nvPr/>
        </p:nvGraphicFramePr>
        <p:xfrm>
          <a:off x="548640" y="1325880"/>
          <a:ext cx="11094414" cy="7772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Access Requests</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User Access</a:t>
                      </a:r>
                    </a:p>
                  </a:txBody>
                  <a:tcPr marL="54864" marR="54864" marT="27432" marB="27432">
                    <a:solidFill>
                      <a:srgbClr val="E5F5FF"/>
                    </a:solidFill>
                  </a:tcPr>
                </a:tc>
                <a:tc>
                  <a:txBody>
                    <a:bodyPr/>
                    <a:lstStyle/>
                    <a:p>
                      <a:r>
                        <a:rPr sz="1100" b="0">
                          <a:solidFill>
                            <a:srgbClr val="4B4B4B"/>
                          </a:solidFill>
                          <a:latin typeface="Arial"/>
                        </a:rPr>
                        <a:t>Bulk Request</a:t>
                      </a:r>
                    </a:p>
                  </a:txBody>
                  <a:tcPr marL="54864" marR="54864" marT="27432" marB="27432">
                    <a:solidFill>
                      <a:srgbClr val="E5F5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Approver: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2-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NAV-UA-02 The page Approver sees after sign-in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Approver: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3.png"/>
          <p:cNvPicPr>
            <a:picLocks noChangeAspect="1"/>
          </p:cNvPicPr>
          <p:nvPr/>
        </p:nvPicPr>
        <p:blipFill>
          <a:blip r:embed="rId3"/>
          <a:stretch>
            <a:fillRect/>
          </a:stretch>
        </p:blipFill>
        <p:spPr>
          <a:xfrm>
            <a:off x="3519906" y="1261872"/>
            <a:ext cx="2461641" cy="4598241"/>
          </a:xfrm>
          <a:prstGeom prst="rect">
            <a:avLst/>
          </a:prstGeom>
          <a:ln w="9525">
            <a:solidFill>
              <a:srgbClr val="C2C2C1"/>
            </a:solidFill>
          </a:ln>
        </p:spPr>
      </p:pic>
      <p:pic>
        <p:nvPicPr>
          <p:cNvPr id="11" name="Picture 10" descr="slice-00004.png"/>
          <p:cNvPicPr>
            <a:picLocks noChangeAspect="1"/>
          </p:cNvPicPr>
          <p:nvPr/>
        </p:nvPicPr>
        <p:blipFill>
          <a:blip r:embed="rId4"/>
          <a:stretch>
            <a:fillRect/>
          </a:stretch>
        </p:blipFill>
        <p:spPr>
          <a:xfrm>
            <a:off x="6210147" y="1261872"/>
            <a:ext cx="2461641" cy="327207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NAV-UA-02 Every group of the menu open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Approver: menu entries of User Access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a:t>
            </a:r>
          </a:p>
        </p:txBody>
      </p:sp>
      <p:graphicFrame>
        <p:nvGraphicFramePr>
          <p:cNvPr id="9" name="Table 8"/>
          <p:cNvGraphicFramePr>
            <a:graphicFrameLocks noGrp="1"/>
          </p:cNvGraphicFramePr>
          <p:nvPr/>
        </p:nvGraphicFramePr>
        <p:xfrm>
          <a:off x="548640" y="1325880"/>
          <a:ext cx="11094414" cy="15544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Access Requests</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User Access</a:t>
                      </a:r>
                    </a:p>
                  </a:txBody>
                  <a:tcPr marL="54864" marR="54864" marT="27432" marB="27432">
                    <a:solidFill>
                      <a:srgbClr val="E5F5FF"/>
                    </a:solidFill>
                  </a:tcPr>
                </a:tc>
                <a:tc>
                  <a:txBody>
                    <a:bodyPr/>
                    <a:lstStyle/>
                    <a:p>
                      <a:r>
                        <a:rPr sz="1100" b="0">
                          <a:solidFill>
                            <a:srgbClr val="4B4B4B"/>
                          </a:solidFill>
                          <a:latin typeface="Arial"/>
                        </a:rPr>
                        <a:t>Group Profile Requests</a:t>
                      </a:r>
                    </a:p>
                  </a:txBody>
                  <a:tcPr marL="54864" marR="54864" marT="27432" marB="27432">
                    <a:solidFill>
                      <a:srgbClr val="E5F5FF"/>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Bulk Request</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User Access</a:t>
                      </a:r>
                    </a:p>
                  </a:txBody>
                  <a:tcPr marL="54864" marR="54864" marT="27432" marB="27432">
                    <a:solidFill>
                      <a:srgbClr val="E5F5FF"/>
                    </a:solidFill>
                  </a:tcPr>
                </a:tc>
                <a:tc>
                  <a:txBody>
                    <a:bodyPr/>
                    <a:lstStyle/>
                    <a:p>
                      <a:r>
                        <a:rPr sz="1100" b="0">
                          <a:solidFill>
                            <a:srgbClr val="4B4B4B"/>
                          </a:solidFill>
                          <a:latin typeface="Arial"/>
                        </a:rPr>
                        <a:t>User Access Matrix</a:t>
                      </a:r>
                    </a:p>
                  </a:txBody>
                  <a:tcPr marL="54864" marR="54864" marT="27432" marB="27432">
                    <a:solidFill>
                      <a:srgbClr val="E5F5FF"/>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User Access Reports</a:t>
                      </a:r>
                    </a:p>
                  </a:txBody>
                  <a:tcPr marL="54864" marR="54864" marT="27432" marB="27432">
                    <a:solidFill>
                      <a:srgbClr val="FFFFF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Second Approver: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3-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NAV-UA-03 The page Second Approver sees after sign-in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Second Approver: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5.png"/>
          <p:cNvPicPr>
            <a:picLocks noChangeAspect="1"/>
          </p:cNvPicPr>
          <p:nvPr/>
        </p:nvPicPr>
        <p:blipFill>
          <a:blip r:embed="rId3"/>
          <a:stretch>
            <a:fillRect/>
          </a:stretch>
        </p:blipFill>
        <p:spPr>
          <a:xfrm>
            <a:off x="3519906" y="1261872"/>
            <a:ext cx="2461641" cy="4732591"/>
          </a:xfrm>
          <a:prstGeom prst="rect">
            <a:avLst/>
          </a:prstGeom>
          <a:ln w="9525">
            <a:solidFill>
              <a:srgbClr val="C2C2C1"/>
            </a:solidFill>
          </a:ln>
        </p:spPr>
      </p:pic>
      <p:pic>
        <p:nvPicPr>
          <p:cNvPr id="11" name="Picture 10" descr="slice-00006.png"/>
          <p:cNvPicPr>
            <a:picLocks noChangeAspect="1"/>
          </p:cNvPicPr>
          <p:nvPr/>
        </p:nvPicPr>
        <p:blipFill>
          <a:blip r:embed="rId4"/>
          <a:stretch>
            <a:fillRect/>
          </a:stretch>
        </p:blipFill>
        <p:spPr>
          <a:xfrm>
            <a:off x="6210147" y="1261872"/>
            <a:ext cx="2461641" cy="313772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NAV-UA-03 Every group of the menu open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Second Approver: menu entries of User Access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a:t>
            </a:r>
          </a:p>
        </p:txBody>
      </p:sp>
      <p:graphicFrame>
        <p:nvGraphicFramePr>
          <p:cNvPr id="9" name="Table 8"/>
          <p:cNvGraphicFramePr>
            <a:graphicFrameLocks noGrp="1"/>
          </p:cNvGraphicFramePr>
          <p:nvPr/>
        </p:nvGraphicFramePr>
        <p:xfrm>
          <a:off x="548640" y="1325880"/>
          <a:ext cx="11094414" cy="7772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Access Requests</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User Access</a:t>
                      </a:r>
                    </a:p>
                  </a:txBody>
                  <a:tcPr marL="54864" marR="54864" marT="27432" marB="27432">
                    <a:solidFill>
                      <a:srgbClr val="E5F5FF"/>
                    </a:solidFill>
                  </a:tcPr>
                </a:tc>
                <a:tc>
                  <a:txBody>
                    <a:bodyPr/>
                    <a:lstStyle/>
                    <a:p>
                      <a:r>
                        <a:rPr sz="1100" b="0">
                          <a:solidFill>
                            <a:srgbClr val="4B4B4B"/>
                          </a:solidFill>
                          <a:latin typeface="Arial"/>
                        </a:rPr>
                        <a:t>Group Profile Requests</a:t>
                      </a:r>
                    </a:p>
                  </a:txBody>
                  <a:tcPr marL="54864" marR="54864" marT="27432" marB="27432">
                    <a:solidFill>
                      <a:srgbClr val="E5F5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4-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NAV-UA-04 The page Business Administrator sees after sign-in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menu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7.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08.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09.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10.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NAV-UA-04 Every group of the menu open (part 1 of 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menu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1.png"/>
          <p:cNvPicPr>
            <a:picLocks noChangeAspect="1"/>
          </p:cNvPicPr>
          <p:nvPr/>
        </p:nvPicPr>
        <p:blipFill>
          <a:blip r:embed="rId3"/>
          <a:stretch>
            <a:fillRect/>
          </a:stretch>
        </p:blipFill>
        <p:spPr>
          <a:xfrm>
            <a:off x="829665" y="1261872"/>
            <a:ext cx="2461641" cy="4632912"/>
          </a:xfrm>
          <a:prstGeom prst="rect">
            <a:avLst/>
          </a:prstGeom>
          <a:ln w="9525">
            <a:solidFill>
              <a:srgbClr val="C2C2C1"/>
            </a:solidFill>
          </a:ln>
        </p:spPr>
      </p:pic>
      <p:pic>
        <p:nvPicPr>
          <p:cNvPr id="11" name="Picture 10" descr="slice-00012.png"/>
          <p:cNvPicPr>
            <a:picLocks noChangeAspect="1"/>
          </p:cNvPicPr>
          <p:nvPr/>
        </p:nvPicPr>
        <p:blipFill>
          <a:blip r:embed="rId4"/>
          <a:stretch>
            <a:fillRect/>
          </a:stretch>
        </p:blipFill>
        <p:spPr>
          <a:xfrm>
            <a:off x="3519906" y="1261872"/>
            <a:ext cx="2461641" cy="4576572"/>
          </a:xfrm>
          <a:prstGeom prst="rect">
            <a:avLst/>
          </a:prstGeom>
          <a:ln w="9525">
            <a:solidFill>
              <a:srgbClr val="C2C2C1"/>
            </a:solidFill>
          </a:ln>
        </p:spPr>
      </p:pic>
      <p:pic>
        <p:nvPicPr>
          <p:cNvPr id="12" name="Picture 11" descr="slice-00013.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14.png"/>
          <p:cNvPicPr>
            <a:picLocks noChangeAspect="1"/>
          </p:cNvPicPr>
          <p:nvPr/>
        </p:nvPicPr>
        <p:blipFill>
          <a:blip r:embed="rId6"/>
          <a:stretch>
            <a:fillRect/>
          </a:stretch>
        </p:blipFill>
        <p:spPr>
          <a:xfrm>
            <a:off x="8900388" y="1261872"/>
            <a:ext cx="2461641" cy="4723923"/>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NAV-UA-04 Every group of the menu open (part 2 of 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menu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5.png"/>
          <p:cNvPicPr>
            <a:picLocks noChangeAspect="1"/>
          </p:cNvPicPr>
          <p:nvPr/>
        </p:nvPicPr>
        <p:blipFill>
          <a:blip r:embed="rId3"/>
          <a:stretch>
            <a:fillRect/>
          </a:stretch>
        </p:blipFill>
        <p:spPr>
          <a:xfrm>
            <a:off x="4865027" y="1261872"/>
            <a:ext cx="2461641" cy="11311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NAV-UA-04 Every group of the menu open (part 3 of 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Business Administrator: menu entries of User Access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a:t>
            </a:r>
          </a:p>
        </p:txBody>
      </p:sp>
      <p:graphicFrame>
        <p:nvGraphicFramePr>
          <p:cNvPr id="9" name="Table 8"/>
          <p:cNvGraphicFramePr>
            <a:graphicFrameLocks noGrp="1"/>
          </p:cNvGraphicFramePr>
          <p:nvPr/>
        </p:nvGraphicFramePr>
        <p:xfrm>
          <a:off x="548640" y="1325880"/>
          <a:ext cx="11094414" cy="18135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Access Requests</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User Access</a:t>
                      </a:r>
                    </a:p>
                  </a:txBody>
                  <a:tcPr marL="54864" marR="54864" marT="27432" marB="27432">
                    <a:solidFill>
                      <a:srgbClr val="E5F5FF"/>
                    </a:solidFill>
                  </a:tcPr>
                </a:tc>
                <a:tc>
                  <a:txBody>
                    <a:bodyPr/>
                    <a:lstStyle/>
                    <a:p>
                      <a:r>
                        <a:rPr sz="1100" b="0">
                          <a:solidFill>
                            <a:srgbClr val="4B4B4B"/>
                          </a:solidFill>
                          <a:latin typeface="Arial"/>
                        </a:rPr>
                        <a:t>Group Profile Requests</a:t>
                      </a:r>
                    </a:p>
                  </a:txBody>
                  <a:tcPr marL="54864" marR="54864" marT="27432" marB="27432">
                    <a:solidFill>
                      <a:srgbClr val="E5F5FF"/>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Bulk Request</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User Access</a:t>
                      </a:r>
                    </a:p>
                  </a:txBody>
                  <a:tcPr marL="54864" marR="54864" marT="27432" marB="27432">
                    <a:solidFill>
                      <a:srgbClr val="E5F5FF"/>
                    </a:solidFill>
                  </a:tcPr>
                </a:tc>
                <a:tc>
                  <a:txBody>
                    <a:bodyPr/>
                    <a:lstStyle/>
                    <a:p>
                      <a:r>
                        <a:rPr sz="1100" b="0">
                          <a:solidFill>
                            <a:srgbClr val="4B4B4B"/>
                          </a:solidFill>
                          <a:latin typeface="Arial"/>
                        </a:rPr>
                        <a:t>User Access Matrix</a:t>
                      </a:r>
                    </a:p>
                  </a:txBody>
                  <a:tcPr marL="54864" marR="54864" marT="27432" marB="27432">
                    <a:solidFill>
                      <a:srgbClr val="E5F5FF"/>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Separation of Duties</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User Access</a:t>
                      </a:r>
                    </a:p>
                  </a:txBody>
                  <a:tcPr marL="54864" marR="54864" marT="27432" marB="27432">
                    <a:solidFill>
                      <a:srgbClr val="E5F5FF"/>
                    </a:solidFill>
                  </a:tcPr>
                </a:tc>
                <a:tc>
                  <a:txBody>
                    <a:bodyPr/>
                    <a:lstStyle/>
                    <a:p>
                      <a:r>
                        <a:rPr sz="1100" b="0">
                          <a:solidFill>
                            <a:srgbClr val="4B4B4B"/>
                          </a:solidFill>
                          <a:latin typeface="Arial"/>
                        </a:rPr>
                        <a:t>User Access Reports</a:t>
                      </a:r>
                    </a:p>
                  </a:txBody>
                  <a:tcPr marL="54864" marR="54864" marT="27432" marB="27432">
                    <a:solidFill>
                      <a:srgbClr val="E5F5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0-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NAV-UA-05 The page System Administrator sees after sign-in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6.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17.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18.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19.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NAV-UA-05 Every group of the menu open (part 1 of 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0.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21.png"/>
          <p:cNvPicPr>
            <a:picLocks noChangeAspect="1"/>
          </p:cNvPicPr>
          <p:nvPr/>
        </p:nvPicPr>
        <p:blipFill>
          <a:blip r:embed="rId4"/>
          <a:stretch>
            <a:fillRect/>
          </a:stretch>
        </p:blipFill>
        <p:spPr>
          <a:xfrm>
            <a:off x="3519906" y="1261872"/>
            <a:ext cx="2461641" cy="4697920"/>
          </a:xfrm>
          <a:prstGeom prst="rect">
            <a:avLst/>
          </a:prstGeom>
          <a:ln w="9525">
            <a:solidFill>
              <a:srgbClr val="C2C2C1"/>
            </a:solidFill>
          </a:ln>
        </p:spPr>
      </p:pic>
      <p:pic>
        <p:nvPicPr>
          <p:cNvPr id="12" name="Picture 11" descr="slice-00022.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23.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NAV-UA-05 Every group of the menu open (part 2 of 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4.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25.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26.png"/>
          <p:cNvPicPr>
            <a:picLocks noChangeAspect="1"/>
          </p:cNvPicPr>
          <p:nvPr/>
        </p:nvPicPr>
        <p:blipFill>
          <a:blip r:embed="rId5"/>
          <a:stretch>
            <a:fillRect/>
          </a:stretch>
        </p:blipFill>
        <p:spPr>
          <a:xfrm>
            <a:off x="6210147" y="1261872"/>
            <a:ext cx="2461641" cy="4663249"/>
          </a:xfrm>
          <a:prstGeom prst="rect">
            <a:avLst/>
          </a:prstGeom>
          <a:ln w="9525">
            <a:solidFill>
              <a:srgbClr val="C2C2C1"/>
            </a:solidFill>
          </a:ln>
        </p:spPr>
      </p:pic>
      <p:pic>
        <p:nvPicPr>
          <p:cNvPr id="13" name="Picture 12" descr="slice-00027.png"/>
          <p:cNvPicPr>
            <a:picLocks noChangeAspect="1"/>
          </p:cNvPicPr>
          <p:nvPr/>
        </p:nvPicPr>
        <p:blipFill>
          <a:blip r:embed="rId6"/>
          <a:stretch>
            <a:fillRect/>
          </a:stretch>
        </p:blipFill>
        <p:spPr>
          <a:xfrm>
            <a:off x="8900388" y="1261872"/>
            <a:ext cx="2461641" cy="295136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NAV-UA-05 Every group of the menu open (part 3 of 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System Administrator: menu entries of User Access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a:t>
            </a:r>
          </a:p>
        </p:txBody>
      </p:sp>
      <p:graphicFrame>
        <p:nvGraphicFramePr>
          <p:cNvPr id="9" name="Table 8"/>
          <p:cNvGraphicFramePr>
            <a:graphicFrameLocks noGrp="1"/>
          </p:cNvGraphicFramePr>
          <p:nvPr/>
        </p:nvGraphicFramePr>
        <p:xfrm>
          <a:off x="548640" y="1325880"/>
          <a:ext cx="11094414" cy="15544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Access Requests</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User Access</a:t>
                      </a:r>
                    </a:p>
                  </a:txBody>
                  <a:tcPr marL="54864" marR="54864" marT="27432" marB="27432">
                    <a:solidFill>
                      <a:srgbClr val="E5F5FF"/>
                    </a:solidFill>
                  </a:tcPr>
                </a:tc>
                <a:tc>
                  <a:txBody>
                    <a:bodyPr/>
                    <a:lstStyle/>
                    <a:p>
                      <a:r>
                        <a:rPr sz="1100" b="0">
                          <a:solidFill>
                            <a:srgbClr val="4B4B4B"/>
                          </a:solidFill>
                          <a:latin typeface="Arial"/>
                        </a:rPr>
                        <a:t>Group Profile Requests</a:t>
                      </a:r>
                    </a:p>
                  </a:txBody>
                  <a:tcPr marL="54864" marR="54864" marT="27432" marB="27432">
                    <a:solidFill>
                      <a:srgbClr val="E5F5FF"/>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Bulk Request</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User Access</a:t>
                      </a:r>
                    </a:p>
                  </a:txBody>
                  <a:tcPr marL="54864" marR="54864" marT="27432" marB="27432">
                    <a:solidFill>
                      <a:srgbClr val="E5F5FF"/>
                    </a:solidFill>
                  </a:tcPr>
                </a:tc>
                <a:tc>
                  <a:txBody>
                    <a:bodyPr/>
                    <a:lstStyle/>
                    <a:p>
                      <a:r>
                        <a:rPr sz="1100" b="0">
                          <a:solidFill>
                            <a:srgbClr val="4B4B4B"/>
                          </a:solidFill>
                          <a:latin typeface="Arial"/>
                        </a:rPr>
                        <a:t>User Access Matrix</a:t>
                      </a:r>
                    </a:p>
                  </a:txBody>
                  <a:tcPr marL="54864" marR="54864" marT="27432" marB="27432">
                    <a:solidFill>
                      <a:srgbClr val="E5F5FF"/>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User Access Reports</a:t>
                      </a:r>
                    </a:p>
                  </a:txBody>
                  <a:tcPr marL="54864" marR="54864" marT="27432" marB="27432">
                    <a:solidFill>
                      <a:srgbClr val="FFFFFF"/>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1-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NAV-UA-06 The page Auditor sees after sign-in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8.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029.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30.png"/>
          <p:cNvPicPr>
            <a:picLocks noChangeAspect="1"/>
          </p:cNvPicPr>
          <p:nvPr/>
        </p:nvPicPr>
        <p:blipFill>
          <a:blip r:embed="rId5"/>
          <a:stretch>
            <a:fillRect/>
          </a:stretch>
        </p:blipFill>
        <p:spPr>
          <a:xfrm>
            <a:off x="6210147" y="1261872"/>
            <a:ext cx="2461641" cy="4637246"/>
          </a:xfrm>
          <a:prstGeom prst="rect">
            <a:avLst/>
          </a:prstGeom>
          <a:ln w="9525">
            <a:solidFill>
              <a:srgbClr val="C2C2C1"/>
            </a:solidFill>
          </a:ln>
        </p:spPr>
      </p:pic>
      <p:pic>
        <p:nvPicPr>
          <p:cNvPr id="13" name="Picture 12" descr="slice-00031.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NAV-UA-06 Every group of the menu open (part 1 of 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2.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33.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34.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35.png"/>
          <p:cNvPicPr>
            <a:picLocks noChangeAspect="1"/>
          </p:cNvPicPr>
          <p:nvPr/>
        </p:nvPicPr>
        <p:blipFill>
          <a:blip r:embed="rId6"/>
          <a:stretch>
            <a:fillRect/>
          </a:stretch>
        </p:blipFill>
        <p:spPr>
          <a:xfrm>
            <a:off x="8900388" y="1261872"/>
            <a:ext cx="2461641" cy="460690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NAV-UA-06 Every group of the menu open (part 2 of 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6.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37.png"/>
          <p:cNvPicPr>
            <a:picLocks noChangeAspect="1"/>
          </p:cNvPicPr>
          <p:nvPr/>
        </p:nvPicPr>
        <p:blipFill>
          <a:blip r:embed="rId4"/>
          <a:stretch>
            <a:fillRect/>
          </a:stretch>
        </p:blipFill>
        <p:spPr>
          <a:xfrm>
            <a:off x="3519906" y="1261872"/>
            <a:ext cx="2461641" cy="4719589"/>
          </a:xfrm>
          <a:prstGeom prst="rect">
            <a:avLst/>
          </a:prstGeom>
          <a:ln w="9525">
            <a:solidFill>
              <a:srgbClr val="C2C2C1"/>
            </a:solidFill>
          </a:ln>
        </p:spPr>
      </p:pic>
      <p:pic>
        <p:nvPicPr>
          <p:cNvPr id="12" name="Picture 11" descr="slice-00038.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39.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NAV-UA-06 Every group of the menu open (part 3 of 4)</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0.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41.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42.png"/>
          <p:cNvPicPr>
            <a:picLocks noChangeAspect="1"/>
          </p:cNvPicPr>
          <p:nvPr/>
        </p:nvPicPr>
        <p:blipFill>
          <a:blip r:embed="rId5"/>
          <a:stretch>
            <a:fillRect/>
          </a:stretch>
        </p:blipFill>
        <p:spPr>
          <a:xfrm>
            <a:off x="6210147" y="1261872"/>
            <a:ext cx="2461641" cy="4593907"/>
          </a:xfrm>
          <a:prstGeom prst="rect">
            <a:avLst/>
          </a:prstGeom>
          <a:ln w="9525">
            <a:solidFill>
              <a:srgbClr val="C2C2C1"/>
            </a:solidFill>
          </a:ln>
        </p:spPr>
      </p:pic>
      <p:pic>
        <p:nvPicPr>
          <p:cNvPr id="13" name="Picture 12" descr="slice-00043.png"/>
          <p:cNvPicPr>
            <a:picLocks noChangeAspect="1"/>
          </p:cNvPicPr>
          <p:nvPr/>
        </p:nvPicPr>
        <p:blipFill>
          <a:blip r:embed="rId6"/>
          <a:stretch>
            <a:fillRect/>
          </a:stretch>
        </p:blipFill>
        <p:spPr>
          <a:xfrm>
            <a:off x="8900388" y="1261872"/>
            <a:ext cx="2461641" cy="433820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NAV-UA-06 Every group of the menu open (part 4 of 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Auditor: menu entries of User Access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a:t>
            </a:r>
          </a:p>
        </p:txBody>
      </p:sp>
      <p:graphicFrame>
        <p:nvGraphicFramePr>
          <p:cNvPr id="9" name="Table 8"/>
          <p:cNvGraphicFramePr>
            <a:graphicFrameLocks noGrp="1"/>
          </p:cNvGraphicFramePr>
          <p:nvPr/>
        </p:nvGraphicFramePr>
        <p:xfrm>
          <a:off x="548640" y="1325880"/>
          <a:ext cx="11094414" cy="129540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Access Requests</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User Access</a:t>
                      </a:r>
                    </a:p>
                  </a:txBody>
                  <a:tcPr marL="54864" marR="54864" marT="27432" marB="27432">
                    <a:solidFill>
                      <a:srgbClr val="E5F5FF"/>
                    </a:solidFill>
                  </a:tcPr>
                </a:tc>
                <a:tc>
                  <a:txBody>
                    <a:bodyPr/>
                    <a:lstStyle/>
                    <a:p>
                      <a:r>
                        <a:rPr sz="1100" b="0">
                          <a:solidFill>
                            <a:srgbClr val="4B4B4B"/>
                          </a:solidFill>
                          <a:latin typeface="Arial"/>
                        </a:rPr>
                        <a:t>Group Profile Requests</a:t>
                      </a:r>
                    </a:p>
                  </a:txBody>
                  <a:tcPr marL="54864" marR="54864" marT="27432" marB="27432">
                    <a:solidFill>
                      <a:srgbClr val="E5F5FF"/>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User Access Matrix</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User Access</a:t>
                      </a:r>
                    </a:p>
                  </a:txBody>
                  <a:tcPr marL="54864" marR="54864" marT="27432" marB="27432">
                    <a:solidFill>
                      <a:srgbClr val="E5F5FF"/>
                    </a:solidFill>
                  </a:tcPr>
                </a:tc>
                <a:tc>
                  <a:txBody>
                    <a:bodyPr/>
                    <a:lstStyle/>
                    <a:p>
                      <a:r>
                        <a:rPr sz="1100" b="0">
                          <a:solidFill>
                            <a:srgbClr val="4B4B4B"/>
                          </a:solidFill>
                          <a:latin typeface="Arial"/>
                        </a:rPr>
                        <a:t>User Access Reports</a:t>
                      </a:r>
                    </a:p>
                  </a:txBody>
                  <a:tcPr marL="54864" marR="54864" marT="27432" marB="27432">
                    <a:solidFill>
                      <a:srgbClr val="E5F5FF"/>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Information Security Officer: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7-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NAV-UA-07 The page Information Security Officer sees after sign-in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Information Security Officer: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4.png"/>
          <p:cNvPicPr>
            <a:picLocks noChangeAspect="1"/>
          </p:cNvPicPr>
          <p:nvPr/>
        </p:nvPicPr>
        <p:blipFill>
          <a:blip r:embed="rId3"/>
          <a:stretch>
            <a:fillRect/>
          </a:stretch>
        </p:blipFill>
        <p:spPr>
          <a:xfrm>
            <a:off x="2174786" y="1261872"/>
            <a:ext cx="2461641" cy="4606909"/>
          </a:xfrm>
          <a:prstGeom prst="rect">
            <a:avLst/>
          </a:prstGeom>
          <a:ln w="9525">
            <a:solidFill>
              <a:srgbClr val="C2C2C1"/>
            </a:solidFill>
          </a:ln>
        </p:spPr>
      </p:pic>
      <p:pic>
        <p:nvPicPr>
          <p:cNvPr id="11" name="Picture 10" descr="slice-00045.png"/>
          <p:cNvPicPr>
            <a:picLocks noChangeAspect="1"/>
          </p:cNvPicPr>
          <p:nvPr/>
        </p:nvPicPr>
        <p:blipFill>
          <a:blip r:embed="rId4"/>
          <a:stretch>
            <a:fillRect/>
          </a:stretch>
        </p:blipFill>
        <p:spPr>
          <a:xfrm>
            <a:off x="4865027" y="1261872"/>
            <a:ext cx="2461641" cy="4732591"/>
          </a:xfrm>
          <a:prstGeom prst="rect">
            <a:avLst/>
          </a:prstGeom>
          <a:ln w="9525">
            <a:solidFill>
              <a:srgbClr val="C2C2C1"/>
            </a:solidFill>
          </a:ln>
        </p:spPr>
      </p:pic>
      <p:pic>
        <p:nvPicPr>
          <p:cNvPr id="12" name="Picture 11" descr="slice-00046.png"/>
          <p:cNvPicPr>
            <a:picLocks noChangeAspect="1"/>
          </p:cNvPicPr>
          <p:nvPr/>
        </p:nvPicPr>
        <p:blipFill>
          <a:blip r:embed="rId5"/>
          <a:stretch>
            <a:fillRect/>
          </a:stretch>
        </p:blipFill>
        <p:spPr>
          <a:xfrm>
            <a:off x="7555268" y="1261872"/>
            <a:ext cx="2461641" cy="299037"/>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NAV-UA-07 Every group of the menu open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Information Security Officer: menu entries of User Access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a:t>
            </a:r>
          </a:p>
        </p:txBody>
      </p:sp>
      <p:graphicFrame>
        <p:nvGraphicFramePr>
          <p:cNvPr id="9" name="Table 8"/>
          <p:cNvGraphicFramePr>
            <a:graphicFrameLocks noGrp="1"/>
          </p:cNvGraphicFramePr>
          <p:nvPr/>
        </p:nvGraphicFramePr>
        <p:xfrm>
          <a:off x="548640" y="1325880"/>
          <a:ext cx="11094414" cy="15544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Access Requests</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User Access</a:t>
                      </a:r>
                    </a:p>
                  </a:txBody>
                  <a:tcPr marL="54864" marR="54864" marT="27432" marB="27432">
                    <a:solidFill>
                      <a:srgbClr val="E5F5FF"/>
                    </a:solidFill>
                  </a:tcPr>
                </a:tc>
                <a:tc>
                  <a:txBody>
                    <a:bodyPr/>
                    <a:lstStyle/>
                    <a:p>
                      <a:r>
                        <a:rPr sz="1100" b="0">
                          <a:solidFill>
                            <a:srgbClr val="4B4B4B"/>
                          </a:solidFill>
                          <a:latin typeface="Arial"/>
                        </a:rPr>
                        <a:t>Group Profile Requests</a:t>
                      </a:r>
                    </a:p>
                  </a:txBody>
                  <a:tcPr marL="54864" marR="54864" marT="27432" marB="27432">
                    <a:solidFill>
                      <a:srgbClr val="E5F5FF"/>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User Access Matrix</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User Access</a:t>
                      </a:r>
                    </a:p>
                  </a:txBody>
                  <a:tcPr marL="54864" marR="54864" marT="27432" marB="27432">
                    <a:solidFill>
                      <a:srgbClr val="E5F5FF"/>
                    </a:solidFill>
                  </a:tcPr>
                </a:tc>
                <a:tc>
                  <a:txBody>
                    <a:bodyPr/>
                    <a:lstStyle/>
                    <a:p>
                      <a:r>
                        <a:rPr sz="1100" b="0">
                          <a:solidFill>
                            <a:srgbClr val="4B4B4B"/>
                          </a:solidFill>
                          <a:latin typeface="Arial"/>
                        </a:rPr>
                        <a:t>Separation of Duties</a:t>
                      </a:r>
                    </a:p>
                  </a:txBody>
                  <a:tcPr marL="54864" marR="54864" marT="27432" marB="27432">
                    <a:solidFill>
                      <a:srgbClr val="E5F5FF"/>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User Access Reports</a:t>
                      </a:r>
                    </a:p>
                  </a:txBody>
                  <a:tcPr marL="54864" marR="54864" marT="27432" marB="27432">
                    <a:solidFill>
                      <a:srgbClr val="FFFFFF"/>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New Business Approver (keeps the access approval right):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9-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NAV-UA-08 The page New Business Approver (keeps the access approval right) sees after sign-in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New Business Approver (keeps the access approval right):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7.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48.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49.png"/>
          <p:cNvPicPr>
            <a:picLocks noChangeAspect="1"/>
          </p:cNvPicPr>
          <p:nvPr/>
        </p:nvPicPr>
        <p:blipFill>
          <a:blip r:embed="rId5"/>
          <a:stretch>
            <a:fillRect/>
          </a:stretch>
        </p:blipFill>
        <p:spPr>
          <a:xfrm>
            <a:off x="6210147" y="1261872"/>
            <a:ext cx="2461641" cy="4728257"/>
          </a:xfrm>
          <a:prstGeom prst="rect">
            <a:avLst/>
          </a:prstGeom>
          <a:ln w="9525">
            <a:solidFill>
              <a:srgbClr val="C2C2C1"/>
            </a:solidFill>
          </a:ln>
        </p:spPr>
      </p:pic>
      <p:pic>
        <p:nvPicPr>
          <p:cNvPr id="13" name="Picture 12" descr="slice-00050.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NAV-UA-08 Every group of the menu open (part 1 of 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New Business Approver (keeps the access approval right):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1.png"/>
          <p:cNvPicPr>
            <a:picLocks noChangeAspect="1"/>
          </p:cNvPicPr>
          <p:nvPr/>
        </p:nvPicPr>
        <p:blipFill>
          <a:blip r:embed="rId3"/>
          <a:stretch>
            <a:fillRect/>
          </a:stretch>
        </p:blipFill>
        <p:spPr>
          <a:xfrm>
            <a:off x="2174786" y="1261872"/>
            <a:ext cx="2461641" cy="4602575"/>
          </a:xfrm>
          <a:prstGeom prst="rect">
            <a:avLst/>
          </a:prstGeom>
          <a:ln w="9525">
            <a:solidFill>
              <a:srgbClr val="C2C2C1"/>
            </a:solidFill>
          </a:ln>
        </p:spPr>
      </p:pic>
      <p:pic>
        <p:nvPicPr>
          <p:cNvPr id="11" name="Picture 10" descr="slice-00052.png"/>
          <p:cNvPicPr>
            <a:picLocks noChangeAspect="1"/>
          </p:cNvPicPr>
          <p:nvPr/>
        </p:nvPicPr>
        <p:blipFill>
          <a:blip r:embed="rId4"/>
          <a:stretch>
            <a:fillRect/>
          </a:stretch>
        </p:blipFill>
        <p:spPr>
          <a:xfrm>
            <a:off x="4865027" y="1261872"/>
            <a:ext cx="2461641" cy="4732591"/>
          </a:xfrm>
          <a:prstGeom prst="rect">
            <a:avLst/>
          </a:prstGeom>
          <a:ln w="9525">
            <a:solidFill>
              <a:srgbClr val="C2C2C1"/>
            </a:solidFill>
          </a:ln>
        </p:spPr>
      </p:pic>
      <p:pic>
        <p:nvPicPr>
          <p:cNvPr id="12" name="Picture 11" descr="slice-00053.png"/>
          <p:cNvPicPr>
            <a:picLocks noChangeAspect="1"/>
          </p:cNvPicPr>
          <p:nvPr/>
        </p:nvPicPr>
        <p:blipFill>
          <a:blip r:embed="rId5"/>
          <a:stretch>
            <a:fillRect/>
          </a:stretch>
        </p:blipFill>
        <p:spPr>
          <a:xfrm>
            <a:off x="7555268" y="1261872"/>
            <a:ext cx="2461641" cy="1694545"/>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NAV-UA-08 Every group of the menu open (part 2 of 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New Business Approver (keeps the access approval right): menu entries of User Access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a:t>
            </a:r>
          </a:p>
        </p:txBody>
      </p:sp>
      <p:graphicFrame>
        <p:nvGraphicFramePr>
          <p:cNvPr id="9" name="Table 8"/>
          <p:cNvGraphicFramePr>
            <a:graphicFrameLocks noGrp="1"/>
          </p:cNvGraphicFramePr>
          <p:nvPr/>
        </p:nvGraphicFramePr>
        <p:xfrm>
          <a:off x="548640" y="1325880"/>
          <a:ext cx="11094414" cy="129540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Access Requests</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User Access</a:t>
                      </a:r>
                    </a:p>
                  </a:txBody>
                  <a:tcPr marL="54864" marR="54864" marT="27432" marB="27432">
                    <a:solidFill>
                      <a:srgbClr val="E5F5FF"/>
                    </a:solidFill>
                  </a:tcPr>
                </a:tc>
                <a:tc>
                  <a:txBody>
                    <a:bodyPr/>
                    <a:lstStyle/>
                    <a:p>
                      <a:r>
                        <a:rPr sz="1100" b="0">
                          <a:solidFill>
                            <a:srgbClr val="4B4B4B"/>
                          </a:solidFill>
                          <a:latin typeface="Arial"/>
                        </a:rPr>
                        <a:t>Group Profile Requests</a:t>
                      </a:r>
                    </a:p>
                  </a:txBody>
                  <a:tcPr marL="54864" marR="54864" marT="27432" marB="27432">
                    <a:solidFill>
                      <a:srgbClr val="E5F5FF"/>
                    </a:solidFill>
                  </a:tcPr>
                </a:tc>
              </a:tr>
              <a:tr h="259080">
                <a:tc>
                  <a:txBody>
                    <a:bodyPr/>
                    <a:lstStyle/>
                    <a:p>
                      <a:r>
                        <a:rPr sz="1100" b="0">
                          <a:solidFill>
                            <a:srgbClr val="4B4B4B"/>
                          </a:solidFill>
                          <a:latin typeface="Arial"/>
                        </a:rPr>
                        <a:t>Setup &amp; Administration</a:t>
                      </a:r>
                    </a:p>
                  </a:txBody>
                  <a:tcPr marL="54864" marR="54864" marT="27432" marB="27432">
                    <a:solidFill>
                      <a:srgbClr val="FFFFFF"/>
                    </a:solidFill>
                  </a:tcPr>
                </a:tc>
                <a:tc>
                  <a:txBody>
                    <a:bodyPr/>
                    <a:lstStyle/>
                    <a:p>
                      <a:r>
                        <a:rPr sz="1100" b="0">
                          <a:solidFill>
                            <a:srgbClr val="4B4B4B"/>
                          </a:solidFill>
                          <a:latin typeface="Arial"/>
                        </a:rPr>
                        <a:t>User Access</a:t>
                      </a:r>
                    </a:p>
                  </a:txBody>
                  <a:tcPr marL="54864" marR="54864" marT="27432" marB="27432">
                    <a:solidFill>
                      <a:srgbClr val="FFFFFF"/>
                    </a:solidFill>
                  </a:tcPr>
                </a:tc>
                <a:tc>
                  <a:txBody>
                    <a:bodyPr/>
                    <a:lstStyle/>
                    <a:p>
                      <a:r>
                        <a:rPr sz="1100" b="0">
                          <a:solidFill>
                            <a:srgbClr val="4B4B4B"/>
                          </a:solidFill>
                          <a:latin typeface="Arial"/>
                        </a:rPr>
                        <a:t>Bulk Request</a:t>
                      </a:r>
                    </a:p>
                  </a:txBody>
                  <a:tcPr marL="54864" marR="54864" marT="27432" marB="27432">
                    <a:solidFill>
                      <a:srgbClr val="FFFFFF"/>
                    </a:solidFill>
                  </a:tcPr>
                </a:tc>
              </a:tr>
              <a:tr h="259080">
                <a:tc>
                  <a:txBody>
                    <a:bodyPr/>
                    <a:lstStyle/>
                    <a:p>
                      <a:r>
                        <a:rPr sz="1100" b="0">
                          <a:solidFill>
                            <a:srgbClr val="4B4B4B"/>
                          </a:solidFill>
                          <a:latin typeface="Arial"/>
                        </a:rPr>
                        <a:t>Setup &amp; Administration</a:t>
                      </a:r>
                    </a:p>
                  </a:txBody>
                  <a:tcPr marL="54864" marR="54864" marT="27432" marB="27432">
                    <a:solidFill>
                      <a:srgbClr val="E5F5FF"/>
                    </a:solidFill>
                  </a:tcPr>
                </a:tc>
                <a:tc>
                  <a:txBody>
                    <a:bodyPr/>
                    <a:lstStyle/>
                    <a:p>
                      <a:r>
                        <a:rPr sz="1100" b="0">
                          <a:solidFill>
                            <a:srgbClr val="4B4B4B"/>
                          </a:solidFill>
                          <a:latin typeface="Arial"/>
                        </a:rPr>
                        <a:t>User Access</a:t>
                      </a:r>
                    </a:p>
                  </a:txBody>
                  <a:tcPr marL="54864" marR="54864" marT="27432" marB="27432">
                    <a:solidFill>
                      <a:srgbClr val="E5F5FF"/>
                    </a:solidFill>
                  </a:tcPr>
                </a:tc>
                <a:tc>
                  <a:txBody>
                    <a:bodyPr/>
                    <a:lstStyle/>
                    <a:p>
                      <a:r>
                        <a:rPr sz="1100" b="0">
                          <a:solidFill>
                            <a:srgbClr val="4B4B4B"/>
                          </a:solidFill>
                          <a:latin typeface="Arial"/>
                        </a:rPr>
                        <a:t>User Access Matrix</a:t>
                      </a:r>
                    </a:p>
                  </a:txBody>
                  <a:tcPr marL="54864" marR="54864" marT="27432" marB="27432">
                    <a:solidFill>
                      <a:srgbClr val="E5F5FF"/>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Personas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Who they are, what they do in this BRD, their screens and flows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BRD-11 User Access Maintenance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Requestor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a:t>
            </a:r>
          </a:p>
        </p:txBody>
      </p:sp>
      <p:graphicFrame>
        <p:nvGraphicFramePr>
          <p:cNvPr id="9" name="Table 8"/>
          <p:cNvGraphicFramePr>
            <a:graphicFrameLocks noGrp="1"/>
          </p:cNvGraphicFramePr>
          <p:nvPr/>
        </p:nvGraphicFramePr>
        <p:xfrm>
          <a:off x="548640" y="1307592"/>
          <a:ext cx="5410047" cy="170688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One of the named user access requestors of the business units</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Raises user access requests: enrol, modify, deactivate, reactivate, bulk; corrects and cancels them; views own requests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NAV-UA-01</a:t>
                      </a:r>
                    </a:p>
                  </a:txBody>
                  <a:tcPr marL="54864" marR="54864" marT="27432" marB="27432">
                    <a:solidFill>
                      <a:srgbClr val="FFFFFF"/>
                    </a:solidFill>
                  </a:tcPr>
                </a:tc>
              </a:tr>
              <a:tr h="42672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1, 2; WT-B steps 1, 8; WT-C steps 1, 2, 3, 4, 5, 11, 12</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(9)</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SCR-UA-03 Change Your Password (forced change)</a:t>
            </a:r>
          </a:p>
          <a:p>
            <a:pPr>
              <a:spcAft>
                <a:spcPts val="600"/>
              </a:spcAft>
            </a:pPr>
            <a:r>
              <a:rPr sz="1100">
                <a:solidFill>
                  <a:srgbClr val="004EA8"/>
                </a:solidFill>
                <a:latin typeface="Arial"/>
              </a:rPr>
              <a:t>•  </a:t>
            </a:r>
            <a:r>
              <a:rPr sz="1100">
                <a:solidFill>
                  <a:srgbClr val="4B4B4B"/>
                </a:solidFill>
                <a:latin typeface="Arial"/>
              </a:rPr>
              <a:t>SCR-UA-04 Inactivity and Session-end Warnings</a:t>
            </a:r>
          </a:p>
          <a:p>
            <a:pPr>
              <a:spcAft>
                <a:spcPts val="600"/>
              </a:spcAft>
            </a:pPr>
            <a:r>
              <a:rPr sz="1100">
                <a:solidFill>
                  <a:srgbClr val="004EA8"/>
                </a:solidFill>
                <a:latin typeface="Arial"/>
              </a:rPr>
              <a:t>•  </a:t>
            </a:r>
            <a:r>
              <a:rPr sz="1100">
                <a:solidFill>
                  <a:srgbClr val="4B4B4B"/>
                </a:solidFill>
                <a:latin typeface="Arial"/>
              </a:rPr>
              <a:t>SCR-UA-05 My Profile</a:t>
            </a:r>
          </a:p>
          <a:p>
            <a:pPr>
              <a:spcAft>
                <a:spcPts val="600"/>
              </a:spcAft>
            </a:pPr>
            <a:r>
              <a:rPr sz="1100">
                <a:solidFill>
                  <a:srgbClr val="004EA8"/>
                </a:solidFill>
                <a:latin typeface="Arial"/>
              </a:rPr>
              <a:t>•  </a:t>
            </a:r>
            <a:r>
              <a:rPr sz="1100">
                <a:solidFill>
                  <a:srgbClr val="4B4B4B"/>
                </a:solidFill>
                <a:latin typeface="Arial"/>
              </a:rPr>
              <a:t>SCR-UA-06 Access Requests</a:t>
            </a:r>
          </a:p>
          <a:p>
            <a:pPr>
              <a:spcAft>
                <a:spcPts val="600"/>
              </a:spcAft>
            </a:pPr>
            <a:r>
              <a:rPr sz="1100">
                <a:solidFill>
                  <a:srgbClr val="004EA8"/>
                </a:solidFill>
                <a:latin typeface="Arial"/>
              </a:rPr>
              <a:t>•  </a:t>
            </a:r>
            <a:r>
              <a:rPr sz="1100">
                <a:solidFill>
                  <a:srgbClr val="4B4B4B"/>
                </a:solidFill>
                <a:latin typeface="Arial"/>
              </a:rPr>
              <a:t>SCR-UA-07 New Request and Edit Request (user requests)</a:t>
            </a:r>
          </a:p>
          <a:p>
            <a:pPr>
              <a:spcAft>
                <a:spcPts val="600"/>
              </a:spcAft>
            </a:pPr>
            <a:r>
              <a:rPr sz="1100">
                <a:solidFill>
                  <a:srgbClr val="004EA8"/>
                </a:solidFill>
                <a:latin typeface="Arial"/>
              </a:rPr>
              <a:t>•  </a:t>
            </a:r>
            <a:r>
              <a:rPr sz="1100">
                <a:solidFill>
                  <a:srgbClr val="4B4B4B"/>
                </a:solidFill>
                <a:latin typeface="Arial"/>
              </a:rPr>
              <a:t>SCR-UA-08 Access Request record</a:t>
            </a:r>
          </a:p>
          <a:p>
            <a:pPr>
              <a:spcAft>
                <a:spcPts val="600"/>
              </a:spcAft>
            </a:pPr>
            <a:r>
              <a:rPr sz="1100">
                <a:solidFill>
                  <a:srgbClr val="004EA8"/>
                </a:solidFill>
                <a:latin typeface="Arial"/>
              </a:rPr>
              <a:t>•  </a:t>
            </a:r>
            <a:r>
              <a:rPr sz="1100">
                <a:solidFill>
                  <a:srgbClr val="4B4B4B"/>
                </a:solidFill>
                <a:latin typeface="Arial"/>
              </a:rPr>
              <a:t>SCR-UA-09 Bulk Request</a:t>
            </a:r>
          </a:p>
          <a:p>
            <a:pPr>
              <a:spcAft>
                <a:spcPts val="600"/>
              </a:spcAft>
            </a:pPr>
            <a:r>
              <a:rPr sz="1100">
                <a:solidFill>
                  <a:srgbClr val="004EA8"/>
                </a:solidFill>
                <a:latin typeface="Arial"/>
              </a:rPr>
              <a:t>•  </a:t>
            </a:r>
            <a:r>
              <a:rPr sz="1100">
                <a:solidFill>
                  <a:srgbClr val="4B4B4B"/>
                </a:solidFill>
                <a:latin typeface="Arial"/>
              </a:rPr>
              <a:t>SCR-UA-10 Bulk Request Batch</a:t>
            </a:r>
          </a:p>
          <a:p>
            <a:pPr>
              <a:spcAft>
                <a:spcPts val="600"/>
              </a:spcAft>
            </a:pPr>
            <a:r>
              <a:rPr sz="1100">
                <a:solidFill>
                  <a:srgbClr val="004EA8"/>
                </a:solidFill>
                <a:latin typeface="Arial"/>
              </a:rPr>
              <a:t>•  </a:t>
            </a:r>
            <a:r>
              <a:rPr sz="1100">
                <a:solidFill>
                  <a:srgbClr val="4B4B4B"/>
                </a:solidFill>
                <a:latin typeface="Arial"/>
              </a:rPr>
              <a:t>SCR-UA-12 New Group Profile Request and Edit Request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Approver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One of the named user access approvers of the business units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Reviews and approves, rejects or returns requests assigned to him or her</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NAV-UA-02</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3, 4; WT-B steps 2, 5, 9</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(11)</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SCR-UA-03 Change Your Password (forced change)</a:t>
            </a:r>
          </a:p>
          <a:p>
            <a:pPr>
              <a:spcAft>
                <a:spcPts val="600"/>
              </a:spcAft>
            </a:pPr>
            <a:r>
              <a:rPr sz="1100">
                <a:solidFill>
                  <a:srgbClr val="004EA8"/>
                </a:solidFill>
                <a:latin typeface="Arial"/>
              </a:rPr>
              <a:t>•  </a:t>
            </a:r>
            <a:r>
              <a:rPr sz="1100">
                <a:solidFill>
                  <a:srgbClr val="4B4B4B"/>
                </a:solidFill>
                <a:latin typeface="Arial"/>
              </a:rPr>
              <a:t>SCR-UA-04 Inactivity and Session-end Warnings</a:t>
            </a:r>
          </a:p>
          <a:p>
            <a:pPr>
              <a:spcAft>
                <a:spcPts val="600"/>
              </a:spcAft>
            </a:pPr>
            <a:r>
              <a:rPr sz="1100">
                <a:solidFill>
                  <a:srgbClr val="004EA8"/>
                </a:solidFill>
                <a:latin typeface="Arial"/>
              </a:rPr>
              <a:t>•  </a:t>
            </a:r>
            <a:r>
              <a:rPr sz="1100">
                <a:solidFill>
                  <a:srgbClr val="4B4B4B"/>
                </a:solidFill>
                <a:latin typeface="Arial"/>
              </a:rPr>
              <a:t>SCR-UA-05 My Profile</a:t>
            </a:r>
          </a:p>
          <a:p>
            <a:pPr>
              <a:spcAft>
                <a:spcPts val="600"/>
              </a:spcAft>
            </a:pPr>
            <a:r>
              <a:rPr sz="1100">
                <a:solidFill>
                  <a:srgbClr val="004EA8"/>
                </a:solidFill>
                <a:latin typeface="Arial"/>
              </a:rPr>
              <a:t>•  </a:t>
            </a:r>
            <a:r>
              <a:rPr sz="1100">
                <a:solidFill>
                  <a:srgbClr val="4B4B4B"/>
                </a:solidFill>
                <a:latin typeface="Arial"/>
              </a:rPr>
              <a:t>SCR-UA-06 Access Requests</a:t>
            </a:r>
          </a:p>
          <a:p>
            <a:pPr>
              <a:spcAft>
                <a:spcPts val="600"/>
              </a:spcAft>
            </a:pPr>
            <a:r>
              <a:rPr sz="1100">
                <a:solidFill>
                  <a:srgbClr val="004EA8"/>
                </a:solidFill>
                <a:latin typeface="Arial"/>
              </a:rPr>
              <a:t>•  </a:t>
            </a:r>
            <a:r>
              <a:rPr sz="1100">
                <a:solidFill>
                  <a:srgbClr val="4B4B4B"/>
                </a:solidFill>
                <a:latin typeface="Arial"/>
              </a:rPr>
              <a:t>SCR-UA-08 Access Request record</a:t>
            </a:r>
          </a:p>
          <a:p>
            <a:pPr>
              <a:spcAft>
                <a:spcPts val="600"/>
              </a:spcAft>
            </a:pPr>
            <a:r>
              <a:rPr sz="1100">
                <a:solidFill>
                  <a:srgbClr val="004EA8"/>
                </a:solidFill>
                <a:latin typeface="Arial"/>
              </a:rPr>
              <a:t>•  </a:t>
            </a:r>
            <a:r>
              <a:rPr sz="1100">
                <a:solidFill>
                  <a:srgbClr val="4B4B4B"/>
                </a:solidFill>
                <a:latin typeface="Arial"/>
              </a:rPr>
              <a:t>SCR-UA-09 Bulk Request</a:t>
            </a:r>
          </a:p>
          <a:p>
            <a:pPr>
              <a:spcAft>
                <a:spcPts val="600"/>
              </a:spcAft>
            </a:pPr>
            <a:r>
              <a:rPr sz="1100">
                <a:solidFill>
                  <a:srgbClr val="004EA8"/>
                </a:solidFill>
                <a:latin typeface="Arial"/>
              </a:rPr>
              <a:t>•  </a:t>
            </a:r>
            <a:r>
              <a:rPr sz="1100">
                <a:solidFill>
                  <a:srgbClr val="4B4B4B"/>
                </a:solidFill>
                <a:latin typeface="Arial"/>
              </a:rPr>
              <a:t>SCR-UA-10 Bulk Request Batch</a:t>
            </a:r>
          </a:p>
          <a:p>
            <a:pPr>
              <a:spcAft>
                <a:spcPts val="600"/>
              </a:spcAft>
            </a:pPr>
            <a:r>
              <a:rPr sz="1100">
                <a:solidFill>
                  <a:srgbClr val="004EA8"/>
                </a:solidFill>
                <a:latin typeface="Arial"/>
              </a:rPr>
              <a:t>•  </a:t>
            </a:r>
            <a:r>
              <a:rPr sz="1100">
                <a:solidFill>
                  <a:srgbClr val="4B4B4B"/>
                </a:solidFill>
                <a:latin typeface="Arial"/>
              </a:rPr>
              <a:t>SCR-UA-11 Group Profile Requests</a:t>
            </a:r>
          </a:p>
          <a:p>
            <a:pPr>
              <a:spcAft>
                <a:spcPts val="600"/>
              </a:spcAft>
            </a:pPr>
            <a:r>
              <a:rPr sz="1100">
                <a:solidFill>
                  <a:srgbClr val="004EA8"/>
                </a:solidFill>
                <a:latin typeface="Arial"/>
              </a:rPr>
              <a:t>•  </a:t>
            </a:r>
            <a:r>
              <a:rPr sz="1100">
                <a:solidFill>
                  <a:srgbClr val="4B4B4B"/>
                </a:solidFill>
                <a:latin typeface="Arial"/>
              </a:rPr>
              <a:t>SCR-UA-13 User Access Matrix</a:t>
            </a:r>
          </a:p>
          <a:p>
            <a:pPr>
              <a:spcAft>
                <a:spcPts val="600"/>
              </a:spcAft>
            </a:pPr>
            <a:r>
              <a:rPr sz="1100">
                <a:solidFill>
                  <a:srgbClr val="004EA8"/>
                </a:solidFill>
                <a:latin typeface="Arial"/>
              </a:rPr>
              <a:t>•  </a:t>
            </a:r>
            <a:r>
              <a:rPr sz="1100">
                <a:solidFill>
                  <a:srgbClr val="4B4B4B"/>
                </a:solidFill>
                <a:latin typeface="Arial"/>
              </a:rPr>
              <a:t>SCR-UA-14 User Access Reports</a:t>
            </a:r>
          </a:p>
          <a:p>
            <a:pPr>
              <a:spcAft>
                <a:spcPts val="600"/>
              </a:spcAft>
            </a:pPr>
            <a:r>
              <a:rPr sz="1100">
                <a:solidFill>
                  <a:srgbClr val="004EA8"/>
                </a:solidFill>
                <a:latin typeface="Arial"/>
              </a:rPr>
              <a:t>•  </a:t>
            </a:r>
            <a:r>
              <a:rPr sz="1100">
                <a:solidFill>
                  <a:srgbClr val="4B4B4B"/>
                </a:solidFill>
                <a:latin typeface="Arial"/>
              </a:rPr>
              <a:t>SCR-UA-17 User access report (report runner)</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Second Approver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second approver of privileged or out-of-hours access changes (Information Security)</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Reviews privileged or out-of-hours changes after the first approval</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NAV-UA-03</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WT-B steps 3</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(7)</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SCR-UA-03 Change Your Password (forced change)</a:t>
            </a:r>
          </a:p>
          <a:p>
            <a:pPr>
              <a:spcAft>
                <a:spcPts val="600"/>
              </a:spcAft>
            </a:pPr>
            <a:r>
              <a:rPr sz="1100">
                <a:solidFill>
                  <a:srgbClr val="004EA8"/>
                </a:solidFill>
                <a:latin typeface="Arial"/>
              </a:rPr>
              <a:t>•  </a:t>
            </a:r>
            <a:r>
              <a:rPr sz="1100">
                <a:solidFill>
                  <a:srgbClr val="4B4B4B"/>
                </a:solidFill>
                <a:latin typeface="Arial"/>
              </a:rPr>
              <a:t>SCR-UA-04 Inactivity and Session-end Warnings</a:t>
            </a:r>
          </a:p>
          <a:p>
            <a:pPr>
              <a:spcAft>
                <a:spcPts val="600"/>
              </a:spcAft>
            </a:pPr>
            <a:r>
              <a:rPr sz="1100">
                <a:solidFill>
                  <a:srgbClr val="004EA8"/>
                </a:solidFill>
                <a:latin typeface="Arial"/>
              </a:rPr>
              <a:t>•  </a:t>
            </a:r>
            <a:r>
              <a:rPr sz="1100">
                <a:solidFill>
                  <a:srgbClr val="4B4B4B"/>
                </a:solidFill>
                <a:latin typeface="Arial"/>
              </a:rPr>
              <a:t>SCR-UA-05 My Profile</a:t>
            </a:r>
          </a:p>
          <a:p>
            <a:pPr>
              <a:spcAft>
                <a:spcPts val="600"/>
              </a:spcAft>
            </a:pPr>
            <a:r>
              <a:rPr sz="1100">
                <a:solidFill>
                  <a:srgbClr val="004EA8"/>
                </a:solidFill>
                <a:latin typeface="Arial"/>
              </a:rPr>
              <a:t>•  </a:t>
            </a:r>
            <a:r>
              <a:rPr sz="1100">
                <a:solidFill>
                  <a:srgbClr val="4B4B4B"/>
                </a:solidFill>
                <a:latin typeface="Arial"/>
              </a:rPr>
              <a:t>SCR-UA-06 Access Requests</a:t>
            </a:r>
          </a:p>
          <a:p>
            <a:pPr>
              <a:spcAft>
                <a:spcPts val="600"/>
              </a:spcAft>
            </a:pPr>
            <a:r>
              <a:rPr sz="1100">
                <a:solidFill>
                  <a:srgbClr val="004EA8"/>
                </a:solidFill>
                <a:latin typeface="Arial"/>
              </a:rPr>
              <a:t>•  </a:t>
            </a:r>
            <a:r>
              <a:rPr sz="1100">
                <a:solidFill>
                  <a:srgbClr val="4B4B4B"/>
                </a:solidFill>
                <a:latin typeface="Arial"/>
              </a:rPr>
              <a:t>SCR-UA-08 Access Request record</a:t>
            </a:r>
          </a:p>
          <a:p>
            <a:pPr>
              <a:spcAft>
                <a:spcPts val="600"/>
              </a:spcAft>
            </a:pPr>
            <a:r>
              <a:rPr sz="1100">
                <a:solidFill>
                  <a:srgbClr val="004EA8"/>
                </a:solidFill>
                <a:latin typeface="Arial"/>
              </a:rPr>
              <a:t>•  </a:t>
            </a:r>
            <a:r>
              <a:rPr sz="1100">
                <a:solidFill>
                  <a:srgbClr val="4B4B4B"/>
                </a:solidFill>
                <a:latin typeface="Arial"/>
              </a:rPr>
              <a:t>SCR-UA-10 Bulk Request Batch</a:t>
            </a:r>
          </a:p>
          <a:p>
            <a:pPr>
              <a:spcAft>
                <a:spcPts val="600"/>
              </a:spcAft>
            </a:pPr>
            <a:r>
              <a:rPr sz="1100">
                <a:solidFill>
                  <a:srgbClr val="004EA8"/>
                </a:solidFill>
                <a:latin typeface="Arial"/>
              </a:rPr>
              <a:t>•  </a:t>
            </a:r>
            <a:r>
              <a:rPr sz="1100">
                <a:solidFill>
                  <a:srgbClr val="4B4B4B"/>
                </a:solidFill>
                <a:latin typeface="Arial"/>
              </a:rPr>
              <a:t>SCR-UA-11 Group Profile Requests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Business Administrator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a:t>
            </a:r>
          </a:p>
        </p:txBody>
      </p:sp>
      <p:graphicFrame>
        <p:nvGraphicFramePr>
          <p:cNvPr id="9" name="Table 8"/>
          <p:cNvGraphicFramePr>
            <a:graphicFrameLocks noGrp="1"/>
          </p:cNvGraphicFramePr>
          <p:nvPr/>
        </p:nvGraphicFramePr>
        <p:xfrm>
          <a:off x="548640" y="1307592"/>
          <a:ext cx="5410047" cy="153924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business administrator of BIBS who owns the group profiles</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Raises group-profile requests; generates the reports; maintains the separation-of-duties rules; uploads bulk requests; supports users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NAV-UA-04</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WT-B steps 4; WT-D steps 5</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(15)</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SCR-UA-03 Change Your Password (forced change)</a:t>
            </a:r>
          </a:p>
          <a:p>
            <a:pPr>
              <a:spcAft>
                <a:spcPts val="600"/>
              </a:spcAft>
            </a:pPr>
            <a:r>
              <a:rPr sz="900">
                <a:solidFill>
                  <a:srgbClr val="004EA8"/>
                </a:solidFill>
                <a:latin typeface="Arial"/>
              </a:rPr>
              <a:t>•  </a:t>
            </a:r>
            <a:r>
              <a:rPr sz="900">
                <a:solidFill>
                  <a:srgbClr val="4B4B4B"/>
                </a:solidFill>
                <a:latin typeface="Arial"/>
              </a:rPr>
              <a:t>SCR-UA-04 Inactivity and Session-end Warnings</a:t>
            </a:r>
          </a:p>
          <a:p>
            <a:pPr>
              <a:spcAft>
                <a:spcPts val="600"/>
              </a:spcAft>
            </a:pPr>
            <a:r>
              <a:rPr sz="900">
                <a:solidFill>
                  <a:srgbClr val="004EA8"/>
                </a:solidFill>
                <a:latin typeface="Arial"/>
              </a:rPr>
              <a:t>•  </a:t>
            </a:r>
            <a:r>
              <a:rPr sz="900">
                <a:solidFill>
                  <a:srgbClr val="4B4B4B"/>
                </a:solidFill>
                <a:latin typeface="Arial"/>
              </a:rPr>
              <a:t>SCR-UA-05 My Profile</a:t>
            </a:r>
          </a:p>
          <a:p>
            <a:pPr>
              <a:spcAft>
                <a:spcPts val="600"/>
              </a:spcAft>
            </a:pPr>
            <a:r>
              <a:rPr sz="900">
                <a:solidFill>
                  <a:srgbClr val="004EA8"/>
                </a:solidFill>
                <a:latin typeface="Arial"/>
              </a:rPr>
              <a:t>•  </a:t>
            </a:r>
            <a:r>
              <a:rPr sz="900">
                <a:solidFill>
                  <a:srgbClr val="4B4B4B"/>
                </a:solidFill>
                <a:latin typeface="Arial"/>
              </a:rPr>
              <a:t>SCR-UA-06 Access Requests</a:t>
            </a:r>
          </a:p>
          <a:p>
            <a:pPr>
              <a:spcAft>
                <a:spcPts val="600"/>
              </a:spcAft>
            </a:pPr>
            <a:r>
              <a:rPr sz="900">
                <a:solidFill>
                  <a:srgbClr val="004EA8"/>
                </a:solidFill>
                <a:latin typeface="Arial"/>
              </a:rPr>
              <a:t>•  </a:t>
            </a:r>
            <a:r>
              <a:rPr sz="900">
                <a:solidFill>
                  <a:srgbClr val="4B4B4B"/>
                </a:solidFill>
                <a:latin typeface="Arial"/>
              </a:rPr>
              <a:t>SCR-UA-07 New Request and Edit Request (user requests)</a:t>
            </a:r>
          </a:p>
          <a:p>
            <a:pPr>
              <a:spcAft>
                <a:spcPts val="600"/>
              </a:spcAft>
            </a:pPr>
            <a:r>
              <a:rPr sz="900">
                <a:solidFill>
                  <a:srgbClr val="004EA8"/>
                </a:solidFill>
                <a:latin typeface="Arial"/>
              </a:rPr>
              <a:t>•  </a:t>
            </a:r>
            <a:r>
              <a:rPr sz="900">
                <a:solidFill>
                  <a:srgbClr val="4B4B4B"/>
                </a:solidFill>
                <a:latin typeface="Arial"/>
              </a:rPr>
              <a:t>SCR-UA-08 Access Request record</a:t>
            </a:r>
          </a:p>
          <a:p>
            <a:pPr>
              <a:spcAft>
                <a:spcPts val="600"/>
              </a:spcAft>
            </a:pPr>
            <a:r>
              <a:rPr sz="900">
                <a:solidFill>
                  <a:srgbClr val="004EA8"/>
                </a:solidFill>
                <a:latin typeface="Arial"/>
              </a:rPr>
              <a:t>•  </a:t>
            </a:r>
            <a:r>
              <a:rPr sz="900">
                <a:solidFill>
                  <a:srgbClr val="4B4B4B"/>
                </a:solidFill>
                <a:latin typeface="Arial"/>
              </a:rPr>
              <a:t>SCR-UA-09 Bulk Request</a:t>
            </a:r>
          </a:p>
          <a:p>
            <a:pPr>
              <a:spcAft>
                <a:spcPts val="600"/>
              </a:spcAft>
            </a:pPr>
            <a:r>
              <a:rPr sz="900">
                <a:solidFill>
                  <a:srgbClr val="004EA8"/>
                </a:solidFill>
                <a:latin typeface="Arial"/>
              </a:rPr>
              <a:t>•  </a:t>
            </a:r>
            <a:r>
              <a:rPr sz="900">
                <a:solidFill>
                  <a:srgbClr val="4B4B4B"/>
                </a:solidFill>
                <a:latin typeface="Arial"/>
              </a:rPr>
              <a:t>SCR-UA-10 Bulk Request Batch</a:t>
            </a:r>
          </a:p>
          <a:p>
            <a:pPr>
              <a:spcAft>
                <a:spcPts val="600"/>
              </a:spcAft>
            </a:pPr>
            <a:r>
              <a:rPr sz="900">
                <a:solidFill>
                  <a:srgbClr val="004EA8"/>
                </a:solidFill>
                <a:latin typeface="Arial"/>
              </a:rPr>
              <a:t>•  </a:t>
            </a:r>
            <a:r>
              <a:rPr sz="900">
                <a:solidFill>
                  <a:srgbClr val="4B4B4B"/>
                </a:solidFill>
                <a:latin typeface="Arial"/>
              </a:rPr>
              <a:t>SCR-UA-11 Group Profile Requests</a:t>
            </a:r>
          </a:p>
          <a:p>
            <a:pPr>
              <a:spcAft>
                <a:spcPts val="600"/>
              </a:spcAft>
            </a:pPr>
            <a:r>
              <a:rPr sz="900">
                <a:solidFill>
                  <a:srgbClr val="004EA8"/>
                </a:solidFill>
                <a:latin typeface="Arial"/>
              </a:rPr>
              <a:t>•  </a:t>
            </a:r>
            <a:r>
              <a:rPr sz="900">
                <a:solidFill>
                  <a:srgbClr val="4B4B4B"/>
                </a:solidFill>
                <a:latin typeface="Arial"/>
              </a:rPr>
              <a:t>SCR-UA-12 New Group Profile Request and Edit Request</a:t>
            </a:r>
          </a:p>
          <a:p>
            <a:pPr>
              <a:spcAft>
                <a:spcPts val="600"/>
              </a:spcAft>
            </a:pPr>
            <a:r>
              <a:rPr sz="900">
                <a:solidFill>
                  <a:srgbClr val="004EA8"/>
                </a:solidFill>
                <a:latin typeface="Arial"/>
              </a:rPr>
              <a:t>•  </a:t>
            </a:r>
            <a:r>
              <a:rPr sz="900">
                <a:solidFill>
                  <a:srgbClr val="4B4B4B"/>
                </a:solidFill>
                <a:latin typeface="Arial"/>
              </a:rPr>
              <a:t>SCR-UA-13 User Access Matrix</a:t>
            </a:r>
          </a:p>
          <a:p>
            <a:pPr>
              <a:spcAft>
                <a:spcPts val="600"/>
              </a:spcAft>
            </a:pPr>
            <a:r>
              <a:rPr sz="900">
                <a:solidFill>
                  <a:srgbClr val="004EA8"/>
                </a:solidFill>
                <a:latin typeface="Arial"/>
              </a:rPr>
              <a:t>•  </a:t>
            </a:r>
            <a:r>
              <a:rPr sz="900">
                <a:solidFill>
                  <a:srgbClr val="4B4B4B"/>
                </a:solidFill>
                <a:latin typeface="Arial"/>
              </a:rPr>
              <a:t>SCR-UA-14 User Access Reports</a:t>
            </a:r>
          </a:p>
          <a:p>
            <a:pPr>
              <a:spcAft>
                <a:spcPts val="600"/>
              </a:spcAft>
            </a:pPr>
            <a:r>
              <a:rPr sz="900">
                <a:solidFill>
                  <a:srgbClr val="004EA8"/>
                </a:solidFill>
                <a:latin typeface="Arial"/>
              </a:rPr>
              <a:t>•  </a:t>
            </a:r>
            <a:r>
              <a:rPr sz="900">
                <a:solidFill>
                  <a:srgbClr val="4B4B4B"/>
                </a:solidFill>
                <a:latin typeface="Arial"/>
              </a:rPr>
              <a:t>SCR-UA-17 User access report (report runner)</a:t>
            </a:r>
          </a:p>
          <a:p>
            <a:pPr>
              <a:spcAft>
                <a:spcPts val="600"/>
              </a:spcAft>
            </a:pPr>
            <a:r>
              <a:rPr sz="900">
                <a:solidFill>
                  <a:srgbClr val="004EA8"/>
                </a:solidFill>
                <a:latin typeface="Arial"/>
              </a:rPr>
              <a:t>•  </a:t>
            </a:r>
            <a:r>
              <a:rPr sz="900">
                <a:solidFill>
                  <a:srgbClr val="4B4B4B"/>
                </a:solidFill>
                <a:latin typeface="Arial"/>
              </a:rPr>
              <a:t>SCR-UA-18 System Parameters (sign-in, password and access settings)</a:t>
            </a:r>
          </a:p>
          <a:p>
            <a:pPr>
              <a:spcAft>
                <a:spcPts val="600"/>
              </a:spcAft>
            </a:pPr>
            <a:r>
              <a:rPr sz="900">
                <a:solidFill>
                  <a:srgbClr val="004EA8"/>
                </a:solidFill>
                <a:latin typeface="Arial"/>
              </a:rPr>
              <a:t>•  </a:t>
            </a:r>
            <a:r>
              <a:rPr sz="900">
                <a:solidFill>
                  <a:srgbClr val="4B4B4B"/>
                </a:solidFill>
                <a:latin typeface="Arial"/>
              </a:rPr>
              <a:t>SCR-UA-19 Separation of Duties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System Administrator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system administrator of BIBS (BDOI IT operations)</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Implements approved group-profile requests; defines the UAM group profiles and their functions; unlocks users and resets passwords; audit logs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NAV-UA-05</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WT-B steps 7, 10; WT-C steps 7, 9</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(16)</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SCR-UA-03 Change Your Password (forced change)</a:t>
            </a:r>
          </a:p>
          <a:p>
            <a:pPr>
              <a:spcAft>
                <a:spcPts val="600"/>
              </a:spcAft>
            </a:pPr>
            <a:r>
              <a:rPr sz="900">
                <a:solidFill>
                  <a:srgbClr val="004EA8"/>
                </a:solidFill>
                <a:latin typeface="Arial"/>
              </a:rPr>
              <a:t>•  </a:t>
            </a:r>
            <a:r>
              <a:rPr sz="900">
                <a:solidFill>
                  <a:srgbClr val="4B4B4B"/>
                </a:solidFill>
                <a:latin typeface="Arial"/>
              </a:rPr>
              <a:t>SCR-UA-04 Inactivity and Session-end Warnings</a:t>
            </a:r>
          </a:p>
          <a:p>
            <a:pPr>
              <a:spcAft>
                <a:spcPts val="600"/>
              </a:spcAft>
            </a:pPr>
            <a:r>
              <a:rPr sz="900">
                <a:solidFill>
                  <a:srgbClr val="004EA8"/>
                </a:solidFill>
                <a:latin typeface="Arial"/>
              </a:rPr>
              <a:t>•  </a:t>
            </a:r>
            <a:r>
              <a:rPr sz="900">
                <a:solidFill>
                  <a:srgbClr val="4B4B4B"/>
                </a:solidFill>
                <a:latin typeface="Arial"/>
              </a:rPr>
              <a:t>SCR-UA-05 My Profile</a:t>
            </a:r>
          </a:p>
          <a:p>
            <a:pPr>
              <a:spcAft>
                <a:spcPts val="600"/>
              </a:spcAft>
            </a:pPr>
            <a:r>
              <a:rPr sz="900">
                <a:solidFill>
                  <a:srgbClr val="004EA8"/>
                </a:solidFill>
                <a:latin typeface="Arial"/>
              </a:rPr>
              <a:t>•  </a:t>
            </a:r>
            <a:r>
              <a:rPr sz="900">
                <a:solidFill>
                  <a:srgbClr val="4B4B4B"/>
                </a:solidFill>
                <a:latin typeface="Arial"/>
              </a:rPr>
              <a:t>SCR-UA-06 Access Requests</a:t>
            </a:r>
          </a:p>
          <a:p>
            <a:pPr>
              <a:spcAft>
                <a:spcPts val="600"/>
              </a:spcAft>
            </a:pPr>
            <a:r>
              <a:rPr sz="900">
                <a:solidFill>
                  <a:srgbClr val="004EA8"/>
                </a:solidFill>
                <a:latin typeface="Arial"/>
              </a:rPr>
              <a:t>•  </a:t>
            </a:r>
            <a:r>
              <a:rPr sz="900">
                <a:solidFill>
                  <a:srgbClr val="4B4B4B"/>
                </a:solidFill>
                <a:latin typeface="Arial"/>
              </a:rPr>
              <a:t>SCR-UA-07 New Request and Edit Request (user requests)</a:t>
            </a:r>
          </a:p>
          <a:p>
            <a:pPr>
              <a:spcAft>
                <a:spcPts val="600"/>
              </a:spcAft>
            </a:pPr>
            <a:r>
              <a:rPr sz="900">
                <a:solidFill>
                  <a:srgbClr val="004EA8"/>
                </a:solidFill>
                <a:latin typeface="Arial"/>
              </a:rPr>
              <a:t>•  </a:t>
            </a:r>
            <a:r>
              <a:rPr sz="900">
                <a:solidFill>
                  <a:srgbClr val="4B4B4B"/>
                </a:solidFill>
                <a:latin typeface="Arial"/>
              </a:rPr>
              <a:t>SCR-UA-08 Access Request record</a:t>
            </a:r>
          </a:p>
          <a:p>
            <a:pPr>
              <a:spcAft>
                <a:spcPts val="600"/>
              </a:spcAft>
            </a:pPr>
            <a:r>
              <a:rPr sz="900">
                <a:solidFill>
                  <a:srgbClr val="004EA8"/>
                </a:solidFill>
                <a:latin typeface="Arial"/>
              </a:rPr>
              <a:t>•  </a:t>
            </a:r>
            <a:r>
              <a:rPr sz="900">
                <a:solidFill>
                  <a:srgbClr val="4B4B4B"/>
                </a:solidFill>
                <a:latin typeface="Arial"/>
              </a:rPr>
              <a:t>SCR-UA-09 Bulk Request</a:t>
            </a:r>
          </a:p>
          <a:p>
            <a:pPr>
              <a:spcAft>
                <a:spcPts val="600"/>
              </a:spcAft>
            </a:pPr>
            <a:r>
              <a:rPr sz="900">
                <a:solidFill>
                  <a:srgbClr val="004EA8"/>
                </a:solidFill>
                <a:latin typeface="Arial"/>
              </a:rPr>
              <a:t>•  </a:t>
            </a:r>
            <a:r>
              <a:rPr sz="900">
                <a:solidFill>
                  <a:srgbClr val="4B4B4B"/>
                </a:solidFill>
                <a:latin typeface="Arial"/>
              </a:rPr>
              <a:t>SCR-UA-10 Bulk Request Batch</a:t>
            </a:r>
          </a:p>
          <a:p>
            <a:pPr>
              <a:spcAft>
                <a:spcPts val="600"/>
              </a:spcAft>
            </a:pPr>
            <a:r>
              <a:rPr sz="900">
                <a:solidFill>
                  <a:srgbClr val="004EA8"/>
                </a:solidFill>
                <a:latin typeface="Arial"/>
              </a:rPr>
              <a:t>•  </a:t>
            </a:r>
            <a:r>
              <a:rPr sz="900">
                <a:solidFill>
                  <a:srgbClr val="4B4B4B"/>
                </a:solidFill>
                <a:latin typeface="Arial"/>
              </a:rPr>
              <a:t>SCR-UA-11 Group Profile Requests</a:t>
            </a:r>
          </a:p>
          <a:p>
            <a:pPr>
              <a:spcAft>
                <a:spcPts val="600"/>
              </a:spcAft>
            </a:pPr>
            <a:r>
              <a:rPr sz="900">
                <a:solidFill>
                  <a:srgbClr val="004EA8"/>
                </a:solidFill>
                <a:latin typeface="Arial"/>
              </a:rPr>
              <a:t>•  </a:t>
            </a:r>
            <a:r>
              <a:rPr sz="900">
                <a:solidFill>
                  <a:srgbClr val="4B4B4B"/>
                </a:solidFill>
                <a:latin typeface="Arial"/>
              </a:rPr>
              <a:t>SCR-UA-12 New Group Profile Request and Edit Request</a:t>
            </a:r>
          </a:p>
          <a:p>
            <a:pPr>
              <a:spcAft>
                <a:spcPts val="600"/>
              </a:spcAft>
            </a:pPr>
            <a:r>
              <a:rPr sz="900">
                <a:solidFill>
                  <a:srgbClr val="004EA8"/>
                </a:solidFill>
                <a:latin typeface="Arial"/>
              </a:rPr>
              <a:t>•  </a:t>
            </a:r>
            <a:r>
              <a:rPr sz="900">
                <a:solidFill>
                  <a:srgbClr val="4B4B4B"/>
                </a:solidFill>
                <a:latin typeface="Arial"/>
              </a:rPr>
              <a:t>SCR-UA-13 User Access Matrix</a:t>
            </a:r>
          </a:p>
          <a:p>
            <a:pPr>
              <a:spcAft>
                <a:spcPts val="600"/>
              </a:spcAft>
            </a:pPr>
            <a:r>
              <a:rPr sz="900">
                <a:solidFill>
                  <a:srgbClr val="004EA8"/>
                </a:solidFill>
                <a:latin typeface="Arial"/>
              </a:rPr>
              <a:t>•  </a:t>
            </a:r>
            <a:r>
              <a:rPr sz="900">
                <a:solidFill>
                  <a:srgbClr val="4B4B4B"/>
                </a:solidFill>
                <a:latin typeface="Arial"/>
              </a:rPr>
              <a:t>SCR-UA-14 User Access Reports</a:t>
            </a:r>
          </a:p>
          <a:p>
            <a:pPr>
              <a:spcAft>
                <a:spcPts val="600"/>
              </a:spcAft>
            </a:pPr>
            <a:r>
              <a:rPr sz="900">
                <a:solidFill>
                  <a:srgbClr val="004EA8"/>
                </a:solidFill>
                <a:latin typeface="Arial"/>
              </a:rPr>
              <a:t>•  </a:t>
            </a:r>
            <a:r>
              <a:rPr sz="900">
                <a:solidFill>
                  <a:srgbClr val="4B4B4B"/>
                </a:solidFill>
                <a:latin typeface="Arial"/>
              </a:rPr>
              <a:t>SCR-UA-15 Users</a:t>
            </a:r>
          </a:p>
          <a:p>
            <a:pPr>
              <a:spcAft>
                <a:spcPts val="600"/>
              </a:spcAft>
            </a:pPr>
            <a:r>
              <a:rPr sz="900">
                <a:solidFill>
                  <a:srgbClr val="004EA8"/>
                </a:solidFill>
                <a:latin typeface="Arial"/>
              </a:rPr>
              <a:t>•  </a:t>
            </a:r>
            <a:r>
              <a:rPr sz="900">
                <a:solidFill>
                  <a:srgbClr val="4B4B4B"/>
                </a:solidFill>
                <a:latin typeface="Arial"/>
              </a:rPr>
              <a:t>SCR-UA-16 Roles &amp; Permissions</a:t>
            </a:r>
          </a:p>
          <a:p>
            <a:pPr>
              <a:spcAft>
                <a:spcPts val="600"/>
              </a:spcAft>
            </a:pPr>
            <a:r>
              <a:rPr sz="900">
                <a:solidFill>
                  <a:srgbClr val="004EA8"/>
                </a:solidFill>
                <a:latin typeface="Arial"/>
              </a:rPr>
              <a:t>•  </a:t>
            </a:r>
            <a:r>
              <a:rPr sz="900">
                <a:solidFill>
                  <a:srgbClr val="4B4B4B"/>
                </a:solidFill>
                <a:latin typeface="Arial"/>
              </a:rPr>
              <a:t>SCR-UA-17 User access report (report runner)</a:t>
            </a:r>
          </a:p>
          <a:p>
            <a:pPr>
              <a:spcAft>
                <a:spcPts val="600"/>
              </a:spcAft>
            </a:pPr>
            <a:r>
              <a:rPr sz="900">
                <a:solidFill>
                  <a:srgbClr val="004EA8"/>
                </a:solidFill>
                <a:latin typeface="Arial"/>
              </a:rPr>
              <a:t>•  </a:t>
            </a:r>
            <a:r>
              <a:rPr sz="900">
                <a:solidFill>
                  <a:srgbClr val="4B4B4B"/>
                </a:solidFill>
                <a:latin typeface="Arial"/>
              </a:rPr>
              <a:t>SCR-UA-18 System Parameters (sign-in, password and access settings)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Auditor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a:t>
            </a:r>
          </a:p>
        </p:txBody>
      </p:sp>
      <p:graphicFrame>
        <p:nvGraphicFramePr>
          <p:cNvPr id="9" name="Table 8"/>
          <p:cNvGraphicFramePr>
            <a:graphicFrameLocks noGrp="1"/>
          </p:cNvGraphicFramePr>
          <p:nvPr/>
        </p:nvGraphicFramePr>
        <p:xfrm>
          <a:off x="548640" y="1307592"/>
          <a:ext cx="5410047" cy="103632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internal or external auditor with read access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Views requests and runs the reports and the audit log</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NAV-UA-06</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8; WT-D steps 1, 2, 3, 4</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(11)</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SCR-UA-03 Change Your Password (forced change)</a:t>
            </a:r>
          </a:p>
          <a:p>
            <a:pPr>
              <a:spcAft>
                <a:spcPts val="600"/>
              </a:spcAft>
            </a:pPr>
            <a:r>
              <a:rPr sz="1100">
                <a:solidFill>
                  <a:srgbClr val="004EA8"/>
                </a:solidFill>
                <a:latin typeface="Arial"/>
              </a:rPr>
              <a:t>•  </a:t>
            </a:r>
            <a:r>
              <a:rPr sz="1100">
                <a:solidFill>
                  <a:srgbClr val="4B4B4B"/>
                </a:solidFill>
                <a:latin typeface="Arial"/>
              </a:rPr>
              <a:t>SCR-UA-04 Inactivity and Session-end Warnings</a:t>
            </a:r>
          </a:p>
          <a:p>
            <a:pPr>
              <a:spcAft>
                <a:spcPts val="600"/>
              </a:spcAft>
            </a:pPr>
            <a:r>
              <a:rPr sz="1100">
                <a:solidFill>
                  <a:srgbClr val="004EA8"/>
                </a:solidFill>
                <a:latin typeface="Arial"/>
              </a:rPr>
              <a:t>•  </a:t>
            </a:r>
            <a:r>
              <a:rPr sz="1100">
                <a:solidFill>
                  <a:srgbClr val="4B4B4B"/>
                </a:solidFill>
                <a:latin typeface="Arial"/>
              </a:rPr>
              <a:t>SCR-UA-05 My Profile</a:t>
            </a:r>
          </a:p>
          <a:p>
            <a:pPr>
              <a:spcAft>
                <a:spcPts val="600"/>
              </a:spcAft>
            </a:pPr>
            <a:r>
              <a:rPr sz="1100">
                <a:solidFill>
                  <a:srgbClr val="004EA8"/>
                </a:solidFill>
                <a:latin typeface="Arial"/>
              </a:rPr>
              <a:t>•  </a:t>
            </a:r>
            <a:r>
              <a:rPr sz="1100">
                <a:solidFill>
                  <a:srgbClr val="4B4B4B"/>
                </a:solidFill>
                <a:latin typeface="Arial"/>
              </a:rPr>
              <a:t>SCR-UA-06 Access Requests</a:t>
            </a:r>
          </a:p>
          <a:p>
            <a:pPr>
              <a:spcAft>
                <a:spcPts val="600"/>
              </a:spcAft>
            </a:pPr>
            <a:r>
              <a:rPr sz="1100">
                <a:solidFill>
                  <a:srgbClr val="004EA8"/>
                </a:solidFill>
                <a:latin typeface="Arial"/>
              </a:rPr>
              <a:t>•  </a:t>
            </a:r>
            <a:r>
              <a:rPr sz="1100">
                <a:solidFill>
                  <a:srgbClr val="4B4B4B"/>
                </a:solidFill>
                <a:latin typeface="Arial"/>
              </a:rPr>
              <a:t>SCR-UA-08 Access Request record</a:t>
            </a:r>
          </a:p>
          <a:p>
            <a:pPr>
              <a:spcAft>
                <a:spcPts val="600"/>
              </a:spcAft>
            </a:pPr>
            <a:r>
              <a:rPr sz="1100">
                <a:solidFill>
                  <a:srgbClr val="004EA8"/>
                </a:solidFill>
                <a:latin typeface="Arial"/>
              </a:rPr>
              <a:t>•  </a:t>
            </a:r>
            <a:r>
              <a:rPr sz="1100">
                <a:solidFill>
                  <a:srgbClr val="4B4B4B"/>
                </a:solidFill>
                <a:latin typeface="Arial"/>
              </a:rPr>
              <a:t>SCR-UA-10 Bulk Request Batch</a:t>
            </a:r>
          </a:p>
          <a:p>
            <a:pPr>
              <a:spcAft>
                <a:spcPts val="600"/>
              </a:spcAft>
            </a:pPr>
            <a:r>
              <a:rPr sz="1100">
                <a:solidFill>
                  <a:srgbClr val="004EA8"/>
                </a:solidFill>
                <a:latin typeface="Arial"/>
              </a:rPr>
              <a:t>•  </a:t>
            </a:r>
            <a:r>
              <a:rPr sz="1100">
                <a:solidFill>
                  <a:srgbClr val="4B4B4B"/>
                </a:solidFill>
                <a:latin typeface="Arial"/>
              </a:rPr>
              <a:t>SCR-UA-11 Group Profile Requests</a:t>
            </a:r>
          </a:p>
          <a:p>
            <a:pPr>
              <a:spcAft>
                <a:spcPts val="600"/>
              </a:spcAft>
            </a:pPr>
            <a:r>
              <a:rPr sz="1100">
                <a:solidFill>
                  <a:srgbClr val="004EA8"/>
                </a:solidFill>
                <a:latin typeface="Arial"/>
              </a:rPr>
              <a:t>•  </a:t>
            </a:r>
            <a:r>
              <a:rPr sz="1100">
                <a:solidFill>
                  <a:srgbClr val="4B4B4B"/>
                </a:solidFill>
                <a:latin typeface="Arial"/>
              </a:rPr>
              <a:t>SCR-UA-13 User Access Matrix</a:t>
            </a:r>
          </a:p>
          <a:p>
            <a:pPr>
              <a:spcAft>
                <a:spcPts val="600"/>
              </a:spcAft>
            </a:pPr>
            <a:r>
              <a:rPr sz="1100">
                <a:solidFill>
                  <a:srgbClr val="004EA8"/>
                </a:solidFill>
                <a:latin typeface="Arial"/>
              </a:rPr>
              <a:t>•  </a:t>
            </a:r>
            <a:r>
              <a:rPr sz="1100">
                <a:solidFill>
                  <a:srgbClr val="4B4B4B"/>
                </a:solidFill>
                <a:latin typeface="Arial"/>
              </a:rPr>
              <a:t>SCR-UA-14 User Access Reports</a:t>
            </a:r>
          </a:p>
          <a:p>
            <a:pPr>
              <a:spcAft>
                <a:spcPts val="600"/>
              </a:spcAft>
            </a:pPr>
            <a:r>
              <a:rPr sz="1100">
                <a:solidFill>
                  <a:srgbClr val="004EA8"/>
                </a:solidFill>
                <a:latin typeface="Arial"/>
              </a:rPr>
              <a:t>•  </a:t>
            </a:r>
            <a:r>
              <a:rPr sz="1100">
                <a:solidFill>
                  <a:srgbClr val="4B4B4B"/>
                </a:solidFill>
                <a:latin typeface="Arial"/>
              </a:rPr>
              <a:t>SCR-UA-17 User access report (report runner)</a:t>
            </a:r>
          </a:p>
          <a:p>
            <a:pPr>
              <a:spcAft>
                <a:spcPts val="600"/>
              </a:spcAft>
            </a:pPr>
            <a:r>
              <a:rPr sz="1100">
                <a:solidFill>
                  <a:srgbClr val="004EA8"/>
                </a:solidFill>
                <a:latin typeface="Arial"/>
              </a:rPr>
              <a:t>•  </a:t>
            </a:r>
            <a:r>
              <a:rPr sz="1100">
                <a:solidFill>
                  <a:srgbClr val="4B4B4B"/>
                </a:solidFill>
                <a:latin typeface="Arial"/>
              </a:rPr>
              <a:t>SCR-UA-18 System Parameters (sign-in, password and access settings)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Information Security Officer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a:t>
            </a:r>
          </a:p>
        </p:txBody>
      </p:sp>
      <p:graphicFrame>
        <p:nvGraphicFramePr>
          <p:cNvPr id="9" name="Table 8"/>
          <p:cNvGraphicFramePr>
            <a:graphicFrameLocks noGrp="1"/>
          </p:cNvGraphicFramePr>
          <p:nvPr/>
        </p:nvGraphicFramePr>
        <p:xfrm>
          <a:off x="548640" y="1307592"/>
          <a:ext cx="5410047" cy="170688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officer of BDOI Information Security</a:t>
                      </a:r>
                    </a:p>
                  </a:txBody>
                  <a:tcPr marL="54864" marR="54864" marT="27432" marB="27432">
                    <a:solidFill>
                      <a:srgbClr val="FFFFFF"/>
                    </a:solidFill>
                  </a:tcPr>
                </a:tc>
              </a:tr>
              <a:tr h="92964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Views the access requests, the group-profile requests and the User Access Matrix, and the audit trail; runs the user access reports; authorises the separation-of-duties rules; approves the changes of the security settings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NAV-UA-07</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(11)</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SCR-UA-03 Change Your Password (forced change)</a:t>
            </a:r>
          </a:p>
          <a:p>
            <a:pPr>
              <a:spcAft>
                <a:spcPts val="600"/>
              </a:spcAft>
            </a:pPr>
            <a:r>
              <a:rPr sz="1100">
                <a:solidFill>
                  <a:srgbClr val="004EA8"/>
                </a:solidFill>
                <a:latin typeface="Arial"/>
              </a:rPr>
              <a:t>•  </a:t>
            </a:r>
            <a:r>
              <a:rPr sz="1100">
                <a:solidFill>
                  <a:srgbClr val="4B4B4B"/>
                </a:solidFill>
                <a:latin typeface="Arial"/>
              </a:rPr>
              <a:t>SCR-UA-04 Inactivity and Session-end Warnings</a:t>
            </a:r>
          </a:p>
          <a:p>
            <a:pPr>
              <a:spcAft>
                <a:spcPts val="600"/>
              </a:spcAft>
            </a:pPr>
            <a:r>
              <a:rPr sz="1100">
                <a:solidFill>
                  <a:srgbClr val="004EA8"/>
                </a:solidFill>
                <a:latin typeface="Arial"/>
              </a:rPr>
              <a:t>•  </a:t>
            </a:r>
            <a:r>
              <a:rPr sz="1100">
                <a:solidFill>
                  <a:srgbClr val="4B4B4B"/>
                </a:solidFill>
                <a:latin typeface="Arial"/>
              </a:rPr>
              <a:t>SCR-UA-05 My Profile</a:t>
            </a:r>
          </a:p>
          <a:p>
            <a:pPr>
              <a:spcAft>
                <a:spcPts val="600"/>
              </a:spcAft>
            </a:pPr>
            <a:r>
              <a:rPr sz="1100">
                <a:solidFill>
                  <a:srgbClr val="004EA8"/>
                </a:solidFill>
                <a:latin typeface="Arial"/>
              </a:rPr>
              <a:t>•  </a:t>
            </a:r>
            <a:r>
              <a:rPr sz="1100">
                <a:solidFill>
                  <a:srgbClr val="4B4B4B"/>
                </a:solidFill>
                <a:latin typeface="Arial"/>
              </a:rPr>
              <a:t>SCR-UA-06 Access Requests</a:t>
            </a:r>
          </a:p>
          <a:p>
            <a:pPr>
              <a:spcAft>
                <a:spcPts val="600"/>
              </a:spcAft>
            </a:pPr>
            <a:r>
              <a:rPr sz="1100">
                <a:solidFill>
                  <a:srgbClr val="004EA8"/>
                </a:solidFill>
                <a:latin typeface="Arial"/>
              </a:rPr>
              <a:t>•  </a:t>
            </a:r>
            <a:r>
              <a:rPr sz="1100">
                <a:solidFill>
                  <a:srgbClr val="4B4B4B"/>
                </a:solidFill>
                <a:latin typeface="Arial"/>
              </a:rPr>
              <a:t>SCR-UA-08 Access Request record</a:t>
            </a:r>
          </a:p>
          <a:p>
            <a:pPr>
              <a:spcAft>
                <a:spcPts val="600"/>
              </a:spcAft>
            </a:pPr>
            <a:r>
              <a:rPr sz="1100">
                <a:solidFill>
                  <a:srgbClr val="004EA8"/>
                </a:solidFill>
                <a:latin typeface="Arial"/>
              </a:rPr>
              <a:t>•  </a:t>
            </a:r>
            <a:r>
              <a:rPr sz="1100">
                <a:solidFill>
                  <a:srgbClr val="4B4B4B"/>
                </a:solidFill>
                <a:latin typeface="Arial"/>
              </a:rPr>
              <a:t>SCR-UA-11 Group Profile Requests</a:t>
            </a:r>
          </a:p>
          <a:p>
            <a:pPr>
              <a:spcAft>
                <a:spcPts val="600"/>
              </a:spcAft>
            </a:pPr>
            <a:r>
              <a:rPr sz="1100">
                <a:solidFill>
                  <a:srgbClr val="004EA8"/>
                </a:solidFill>
                <a:latin typeface="Arial"/>
              </a:rPr>
              <a:t>•  </a:t>
            </a:r>
            <a:r>
              <a:rPr sz="1100">
                <a:solidFill>
                  <a:srgbClr val="4B4B4B"/>
                </a:solidFill>
                <a:latin typeface="Arial"/>
              </a:rPr>
              <a:t>SCR-UA-13 User Access Matrix</a:t>
            </a:r>
          </a:p>
          <a:p>
            <a:pPr>
              <a:spcAft>
                <a:spcPts val="600"/>
              </a:spcAft>
            </a:pPr>
            <a:r>
              <a:rPr sz="1100">
                <a:solidFill>
                  <a:srgbClr val="004EA8"/>
                </a:solidFill>
                <a:latin typeface="Arial"/>
              </a:rPr>
              <a:t>•  </a:t>
            </a:r>
            <a:r>
              <a:rPr sz="1100">
                <a:solidFill>
                  <a:srgbClr val="4B4B4B"/>
                </a:solidFill>
                <a:latin typeface="Arial"/>
              </a:rPr>
              <a:t>SCR-UA-14 User Access Reports</a:t>
            </a:r>
          </a:p>
          <a:p>
            <a:pPr>
              <a:spcAft>
                <a:spcPts val="600"/>
              </a:spcAft>
            </a:pPr>
            <a:r>
              <a:rPr sz="1100">
                <a:solidFill>
                  <a:srgbClr val="004EA8"/>
                </a:solidFill>
                <a:latin typeface="Arial"/>
              </a:rPr>
              <a:t>•  </a:t>
            </a:r>
            <a:r>
              <a:rPr sz="1100">
                <a:solidFill>
                  <a:srgbClr val="4B4B4B"/>
                </a:solidFill>
                <a:latin typeface="Arial"/>
              </a:rPr>
              <a:t>SCR-UA-17 User access report (report runner)</a:t>
            </a:r>
          </a:p>
          <a:p>
            <a:pPr>
              <a:spcAft>
                <a:spcPts val="600"/>
              </a:spcAft>
            </a:pPr>
            <a:r>
              <a:rPr sz="1100">
                <a:solidFill>
                  <a:srgbClr val="004EA8"/>
                </a:solidFill>
                <a:latin typeface="Arial"/>
              </a:rPr>
              <a:t>•  </a:t>
            </a:r>
            <a:r>
              <a:rPr sz="1100">
                <a:solidFill>
                  <a:srgbClr val="4B4B4B"/>
                </a:solidFill>
                <a:latin typeface="Arial"/>
              </a:rPr>
              <a:t>SCR-UA-18 System Parameters (sign-in, password and access settings)</a:t>
            </a:r>
          </a:p>
          <a:p>
            <a:pPr>
              <a:spcAft>
                <a:spcPts val="600"/>
              </a:spcAft>
            </a:pPr>
            <a:r>
              <a:rPr sz="1100">
                <a:solidFill>
                  <a:srgbClr val="004EA8"/>
                </a:solidFill>
                <a:latin typeface="Arial"/>
              </a:rPr>
              <a:t>•  </a:t>
            </a:r>
            <a:r>
              <a:rPr sz="1100">
                <a:solidFill>
                  <a:srgbClr val="4B4B4B"/>
                </a:solidFill>
                <a:latin typeface="Arial"/>
              </a:rPr>
              <a:t>SCR-UA-19 Separation of Duties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Persona: New Business Approver (keeps the access approval right)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67</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New Business approver of Marketing who also approves access requests of the unit</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Reviews and approves, rejects or returns requests assigned to him or her</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NAV-UA-08</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WT-B steps 6; WT-C steps 6</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(10)</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SCR-UA-03 Change Your Password (forced change)</a:t>
            </a:r>
          </a:p>
          <a:p>
            <a:pPr>
              <a:spcAft>
                <a:spcPts val="600"/>
              </a:spcAft>
            </a:pPr>
            <a:r>
              <a:rPr sz="1100">
                <a:solidFill>
                  <a:srgbClr val="004EA8"/>
                </a:solidFill>
                <a:latin typeface="Arial"/>
              </a:rPr>
              <a:t>•  </a:t>
            </a:r>
            <a:r>
              <a:rPr sz="1100">
                <a:solidFill>
                  <a:srgbClr val="4B4B4B"/>
                </a:solidFill>
                <a:latin typeface="Arial"/>
              </a:rPr>
              <a:t>SCR-UA-04 Inactivity and Session-end Warnings</a:t>
            </a:r>
          </a:p>
          <a:p>
            <a:pPr>
              <a:spcAft>
                <a:spcPts val="600"/>
              </a:spcAft>
            </a:pPr>
            <a:r>
              <a:rPr sz="1100">
                <a:solidFill>
                  <a:srgbClr val="004EA8"/>
                </a:solidFill>
                <a:latin typeface="Arial"/>
              </a:rPr>
              <a:t>•  </a:t>
            </a:r>
            <a:r>
              <a:rPr sz="1100">
                <a:solidFill>
                  <a:srgbClr val="4B4B4B"/>
                </a:solidFill>
                <a:latin typeface="Arial"/>
              </a:rPr>
              <a:t>SCR-UA-05 My Profile</a:t>
            </a:r>
          </a:p>
          <a:p>
            <a:pPr>
              <a:spcAft>
                <a:spcPts val="600"/>
              </a:spcAft>
            </a:pPr>
            <a:r>
              <a:rPr sz="1100">
                <a:solidFill>
                  <a:srgbClr val="004EA8"/>
                </a:solidFill>
                <a:latin typeface="Arial"/>
              </a:rPr>
              <a:t>•  </a:t>
            </a:r>
            <a:r>
              <a:rPr sz="1100">
                <a:solidFill>
                  <a:srgbClr val="4B4B4B"/>
                </a:solidFill>
                <a:latin typeface="Arial"/>
              </a:rPr>
              <a:t>SCR-UA-06 Access Requests</a:t>
            </a:r>
          </a:p>
          <a:p>
            <a:pPr>
              <a:spcAft>
                <a:spcPts val="600"/>
              </a:spcAft>
            </a:pPr>
            <a:r>
              <a:rPr sz="1100">
                <a:solidFill>
                  <a:srgbClr val="004EA8"/>
                </a:solidFill>
                <a:latin typeface="Arial"/>
              </a:rPr>
              <a:t>•  </a:t>
            </a:r>
            <a:r>
              <a:rPr sz="1100">
                <a:solidFill>
                  <a:srgbClr val="4B4B4B"/>
                </a:solidFill>
                <a:latin typeface="Arial"/>
              </a:rPr>
              <a:t>SCR-UA-08 Access Request record</a:t>
            </a:r>
          </a:p>
          <a:p>
            <a:pPr>
              <a:spcAft>
                <a:spcPts val="600"/>
              </a:spcAft>
            </a:pPr>
            <a:r>
              <a:rPr sz="1100">
                <a:solidFill>
                  <a:srgbClr val="004EA8"/>
                </a:solidFill>
                <a:latin typeface="Arial"/>
              </a:rPr>
              <a:t>•  </a:t>
            </a:r>
            <a:r>
              <a:rPr sz="1100">
                <a:solidFill>
                  <a:srgbClr val="4B4B4B"/>
                </a:solidFill>
                <a:latin typeface="Arial"/>
              </a:rPr>
              <a:t>SCR-UA-09 Bulk Request</a:t>
            </a:r>
          </a:p>
          <a:p>
            <a:pPr>
              <a:spcAft>
                <a:spcPts val="600"/>
              </a:spcAft>
            </a:pPr>
            <a:r>
              <a:rPr sz="1100">
                <a:solidFill>
                  <a:srgbClr val="004EA8"/>
                </a:solidFill>
                <a:latin typeface="Arial"/>
              </a:rPr>
              <a:t>•  </a:t>
            </a:r>
            <a:r>
              <a:rPr sz="1100">
                <a:solidFill>
                  <a:srgbClr val="4B4B4B"/>
                </a:solidFill>
                <a:latin typeface="Arial"/>
              </a:rPr>
              <a:t>SCR-UA-10 Bulk Request Batch</a:t>
            </a:r>
          </a:p>
          <a:p>
            <a:pPr>
              <a:spcAft>
                <a:spcPts val="600"/>
              </a:spcAft>
            </a:pPr>
            <a:r>
              <a:rPr sz="1100">
                <a:solidFill>
                  <a:srgbClr val="004EA8"/>
                </a:solidFill>
                <a:latin typeface="Arial"/>
              </a:rPr>
              <a:t>•  </a:t>
            </a:r>
            <a:r>
              <a:rPr sz="1100">
                <a:solidFill>
                  <a:srgbClr val="4B4B4B"/>
                </a:solidFill>
                <a:latin typeface="Arial"/>
              </a:rPr>
              <a:t>SCR-UA-11 Group Profile Requests</a:t>
            </a:r>
          </a:p>
          <a:p>
            <a:pPr>
              <a:spcAft>
                <a:spcPts val="600"/>
              </a:spcAft>
            </a:pPr>
            <a:r>
              <a:rPr sz="1100">
                <a:solidFill>
                  <a:srgbClr val="004EA8"/>
                </a:solidFill>
                <a:latin typeface="Arial"/>
              </a:rPr>
              <a:t>•  </a:t>
            </a:r>
            <a:r>
              <a:rPr sz="1100">
                <a:solidFill>
                  <a:srgbClr val="4B4B4B"/>
                </a:solidFill>
                <a:latin typeface="Arial"/>
              </a:rPr>
              <a:t>SCR-UA-13 User Access Matrix</a:t>
            </a:r>
          </a:p>
          <a:p>
            <a:pPr>
              <a:spcAft>
                <a:spcPts val="600"/>
              </a:spcAft>
            </a:pPr>
            <a:r>
              <a:rPr sz="1100">
                <a:solidFill>
                  <a:srgbClr val="004EA8"/>
                </a:solidFill>
                <a:latin typeface="Arial"/>
              </a:rPr>
              <a:t>•  </a:t>
            </a:r>
            <a:r>
              <a:rPr sz="1100">
                <a:solidFill>
                  <a:srgbClr val="4B4B4B"/>
                </a:solidFill>
                <a:latin typeface="Arial"/>
              </a:rPr>
              <a:t>SCR-UA-17 User access report (report runner)</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End-to-end flows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Every flow as a swimlane of the personas, then one slide per step</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BRD-11 User Access Maintenance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WT-A A new user from the enrolment request to the first sign-in with the menus of the persona</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69</a:t>
            </a:r>
          </a:p>
        </p:txBody>
      </p:sp>
      <p:graphicFrame>
        <p:nvGraphicFramePr>
          <p:cNvPr id="9" name="Table 8"/>
          <p:cNvGraphicFramePr>
            <a:graphicFrameLocks noGrp="1"/>
          </p:cNvGraphicFramePr>
          <p:nvPr/>
        </p:nvGraphicFramePr>
        <p:xfrm>
          <a:off x="548640" y="1307592"/>
          <a:ext cx="11094415" cy="2560309"/>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WT-A A new user from the enrolment request to the first sign-in with the menus of the persona</a:t>
                      </a:r>
                    </a:p>
                  </a:txBody>
                  <a:tcPr marL="54864" marR="54864" marT="27432" marB="27432">
                    <a:solidFill>
                      <a:srgbClr val="FFFFFF"/>
                    </a:solidFill>
                  </a:tcPr>
                </a:tc>
              </a:tr>
              <a:tr h="1005835">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Marketing hires an account officer. The Requestor raises an enrolment request with the user's data, the group profile Marketing Account Officer and the chosen approver, saves it as a draft and submits it. The Approver finds it in Assigned to Me and approves it; BIBS creates the user and shows the temporary password once. The new user signs in, must choose a personal password first, and then sees exactly the sidebar of the Marketing Account Officer given in chapter 12 and checked by the persona menu test. The Auditor finds the enrolment, the approval and the first sign-in in the User Access Audit Log.</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new user a013000196, Isabel Navarro (fictitious), e-mail isabel.navarro@brokerverse-seed.ph, Windows ID INAVARRO, home branch HO, group profile Marketing Account Officer; Requestor requestor, Approver uamapprover, Auditor auditor</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Requestor, Approver, Marketing Account Officer, Auditor</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8 steps, 3 hand-offs, 2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14.1</a:t>
                      </a:r>
                    </a:p>
                  </a:txBody>
                  <a:tcPr marL="54864" marR="54864" marT="27432" marB="27432">
                    <a:solidFill>
                      <a:srgbClr val="FFFFFF"/>
                    </a:solidFill>
                  </a:tcPr>
                </a:tc>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70</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Requestor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Approver</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Marketing Account Officer</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1363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13632"/>
            <a:ext cx="1691640" cy="832104"/>
          </a:xfrm>
          <a:prstGeom prst="rect">
            <a:avLst/>
          </a:prstGeom>
          <a:noFill/>
        </p:spPr>
        <p:txBody>
          <a:bodyPr wrap="square" anchor="ctr" lIns="45720" rIns="45720">
            <a:spAutoFit/>
          </a:bodyPr>
          <a:lstStyle/>
          <a:p>
            <a:r>
              <a:rPr sz="1000" b="1" i="0">
                <a:solidFill>
                  <a:srgbClr val="FFFFFF"/>
                </a:solidFill>
                <a:latin typeface="Arial"/>
              </a:rPr>
              <a:t>Auditor</a:t>
            </a:r>
          </a:p>
        </p:txBody>
      </p:sp>
      <p:sp>
        <p:nvSpPr>
          <p:cNvPr id="20" name="Rectangle 19"/>
          <p:cNvSpPr/>
          <p:nvPr/>
        </p:nvSpPr>
        <p:spPr>
          <a:xfrm>
            <a:off x="2331720" y="391363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432304"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New Request and Edit Request (user requests)</a:t>
            </a:r>
          </a:p>
        </p:txBody>
      </p:sp>
      <p:sp>
        <p:nvSpPr>
          <p:cNvPr id="22" name="Rounded Rectangle 21"/>
          <p:cNvSpPr/>
          <p:nvPr/>
        </p:nvSpPr>
        <p:spPr>
          <a:xfrm>
            <a:off x="3596220"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Access Request record</a:t>
            </a:r>
          </a:p>
        </p:txBody>
      </p:sp>
      <p:sp>
        <p:nvSpPr>
          <p:cNvPr id="23" name="Rounded Rectangle 22"/>
          <p:cNvSpPr/>
          <p:nvPr/>
        </p:nvSpPr>
        <p:spPr>
          <a:xfrm>
            <a:off x="4760136"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Access Requests</a:t>
            </a:r>
          </a:p>
        </p:txBody>
      </p:sp>
      <p:sp>
        <p:nvSpPr>
          <p:cNvPr id="24" name="Rounded Rectangle 23"/>
          <p:cNvSpPr/>
          <p:nvPr/>
        </p:nvSpPr>
        <p:spPr>
          <a:xfrm>
            <a:off x="5924052" y="226771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Access Request record</a:t>
            </a:r>
          </a:p>
        </p:txBody>
      </p:sp>
      <p:sp>
        <p:nvSpPr>
          <p:cNvPr id="25" name="Rounded Rectangle 24"/>
          <p:cNvSpPr/>
          <p:nvPr/>
        </p:nvSpPr>
        <p:spPr>
          <a:xfrm>
            <a:off x="6228432" y="217627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6" name="Rounded Rectangle 25"/>
          <p:cNvSpPr/>
          <p:nvPr/>
        </p:nvSpPr>
        <p:spPr>
          <a:xfrm>
            <a:off x="7087968" y="313639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Login</a:t>
            </a:r>
          </a:p>
        </p:txBody>
      </p:sp>
      <p:sp>
        <p:nvSpPr>
          <p:cNvPr id="27" name="Rounded Rectangle 26"/>
          <p:cNvSpPr/>
          <p:nvPr/>
        </p:nvSpPr>
        <p:spPr>
          <a:xfrm>
            <a:off x="7392348" y="304495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8" name="Rounded Rectangle 27"/>
          <p:cNvSpPr/>
          <p:nvPr/>
        </p:nvSpPr>
        <p:spPr>
          <a:xfrm>
            <a:off x="8251884" y="313639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Change Your Password (forced change)</a:t>
            </a:r>
          </a:p>
        </p:txBody>
      </p:sp>
      <p:sp>
        <p:nvSpPr>
          <p:cNvPr id="29" name="Rounded Rectangle 28"/>
          <p:cNvSpPr/>
          <p:nvPr/>
        </p:nvSpPr>
        <p:spPr>
          <a:xfrm>
            <a:off x="9415800" y="313639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7. </a:t>
            </a:r>
            <a:r>
              <a:rPr sz="800">
                <a:solidFill>
                  <a:srgbClr val="2E2E2E"/>
                </a:solidFill>
                <a:latin typeface="Arial"/>
              </a:rPr>
              <a:t>My Profile</a:t>
            </a:r>
          </a:p>
        </p:txBody>
      </p:sp>
      <p:sp>
        <p:nvSpPr>
          <p:cNvPr id="30" name="Rounded Rectangle 29"/>
          <p:cNvSpPr/>
          <p:nvPr/>
        </p:nvSpPr>
        <p:spPr>
          <a:xfrm>
            <a:off x="10579716" y="400507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8. </a:t>
            </a:r>
            <a:r>
              <a:rPr sz="800">
                <a:solidFill>
                  <a:srgbClr val="2E2E2E"/>
                </a:solidFill>
                <a:latin typeface="Arial"/>
              </a:rPr>
              <a:t>User access report (report runner)</a:t>
            </a:r>
          </a:p>
        </p:txBody>
      </p:sp>
      <p:cxnSp>
        <p:nvCxnSpPr>
          <p:cNvPr id="31" name="Connector 30"/>
          <p:cNvCxnSpPr/>
          <p:nvPr/>
        </p:nvCxnSpPr>
        <p:spPr>
          <a:xfrm>
            <a:off x="3395052"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558968"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722884"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886800"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050716" y="347929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214632" y="347929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378548" y="347929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WT-A step 1 of 8: New Request and Edit Request (user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71</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wt-a-01.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SCR-UA-07</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800" b="0" i="0">
                <a:solidFill>
                  <a:srgbClr val="2E2E2E"/>
                </a:solidFill>
                <a:latin typeface="Arial"/>
              </a:rPr>
              <a:t>Requestor: Opens User Access › Access Requests › New Request, keeps Enrol new user, enters the user ID a013000196, the full name, e-mail, Windows ID and home branch, ticks Marketing Account Officer, chooses the approver Ulysses Access Approver, writes the justification and clicks Save Draft</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Draft request</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AR-yyyy-nnnnnn saved as a draft; the request opens as Draft with Approver Chosen on submission</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Requestor on Access Request record</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2 of 8: Access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72</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wt-a-02.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SCR-UA-08</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Requestor: Clicks Edit Request, checks the data and clicks Submit</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Pending Approval</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AR-yyyy-nnnnnn submitted; the status is Pending Approval and the History tab lists Saved and Submitted</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Approver on Access Requests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3 of 8: Access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632143"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1" name="Picture 10" descr="wt-a-03.png"/>
          <p:cNvPicPr>
            <a:picLocks noChangeAspect="1"/>
          </p:cNvPicPr>
          <p:nvPr/>
        </p:nvPicPr>
        <p:blipFill>
          <a:blip r:embed="rId3"/>
          <a:stretch>
            <a:fillRect/>
          </a:stretch>
        </p:blipFill>
        <p:spPr>
          <a:xfrm>
            <a:off x="1141697" y="1261872"/>
            <a:ext cx="6479300"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SCR-UA-06</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Approver: Opens the notice Access request AR-yyyy-nnnnnn to approve, or User Access › Access Requests</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Request found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request is on the Assigned to Me tab with its change: Create user a013000196 with group profiles Marketing Account Officer</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Approver on Access Request record</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4 of 8: Access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wt-a-04.png"/>
          <p:cNvPicPr>
            <a:picLocks noChangeAspect="1"/>
          </p:cNvPicPr>
          <p:nvPr/>
        </p:nvPicPr>
        <p:blipFill>
          <a:blip r:embed="rId3"/>
          <a:stretch>
            <a:fillRect/>
          </a:stretch>
        </p:blipFill>
        <p:spPr>
          <a:xfrm>
            <a:off x="1297546" y="1261872"/>
            <a:ext cx="6167602"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SCR-UA-08</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Approver: Opens the request, reads the Details tab (current and requested values), clicks Approve and Apply, adds a comment and confirms</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Approved and applied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User a013000196 was created, with the temporary password shown once to be given through a secure channel; the status is Approved</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Marketing Account Officer on Login</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5 of 8: Login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75</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054.png"/>
          <p:cNvPicPr>
            <a:picLocks noChangeAspect="1"/>
          </p:cNvPicPr>
          <p:nvPr/>
        </p:nvPicPr>
        <p:blipFill>
          <a:blip r:embed="rId3"/>
          <a:stretch>
            <a:fillRect/>
          </a:stretch>
        </p:blipFill>
        <p:spPr>
          <a:xfrm>
            <a:off x="765657" y="1261872"/>
            <a:ext cx="7231380" cy="4736306"/>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SCR-UA-01 (part 1 of 2)</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The new user opens BIBS and signs in with a013000196 and the temporary password</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Forced change</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Change Your Password: Your password was set by an administrator. Choose your own password to continue.</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Marketing Account Officer on Change Your Password (forced change)</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5 of 8: Login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055.png"/>
          <p:cNvPicPr>
            <a:picLocks noChangeAspect="1"/>
          </p:cNvPicPr>
          <p:nvPr/>
        </p:nvPicPr>
        <p:blipFill>
          <a:blip r:embed="rId3"/>
          <a:stretch>
            <a:fillRect/>
          </a:stretch>
        </p:blipFill>
        <p:spPr>
          <a:xfrm>
            <a:off x="765657" y="1261872"/>
            <a:ext cx="7231380" cy="4575333"/>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SCR-UA-01 (part 2 of 2)</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WT-A step 6 of 8: Change Your Password (forced change)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77</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wt-a-06.png"/>
          <p:cNvPicPr>
            <a:picLocks noChangeAspect="1"/>
          </p:cNvPicPr>
          <p:nvPr/>
        </p:nvPicPr>
        <p:blipFill>
          <a:blip r:embed="rId3"/>
          <a:stretch>
            <a:fillRect/>
          </a:stretch>
        </p:blipFill>
        <p:spPr>
          <a:xfrm>
            <a:off x="1054455" y="1261872"/>
            <a:ext cx="6653784"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SCR-UA-03</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Enters the temporary password as the current password and a personal password twice, and clicks Change Password</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Signed in</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Password changed; the home page opens</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7: Marketing Account Officer on My Profile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7 of 8: My Profile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78</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wt-a-07.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SCR-UA-05</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Opens the sidebar and My Profile</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Menus of the persona</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900" b="0" i="0">
                <a:solidFill>
                  <a:srgbClr val="2E2E2E"/>
                </a:solidFill>
                <a:latin typeface="Arial"/>
              </a:rPr>
              <a:t>The sidebar holds exactly the entries of the Marketing Account Officer (chapter 12); My Profile lists the group profile Marketing Account Officer and its permissions, and the first session</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8: Auditor on User access report (report runner)</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WT-A step 8 of 8: User access report (report runner)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79</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wt-a-08.png"/>
          <p:cNvPicPr>
            <a:picLocks noChangeAspect="1"/>
          </p:cNvPicPr>
          <p:nvPr/>
        </p:nvPicPr>
        <p:blipFill>
          <a:blip r:embed="rId3"/>
          <a:stretch>
            <a:fillRect/>
          </a:stretch>
        </p:blipFill>
        <p:spPr>
          <a:xfrm>
            <a:off x="1054455" y="1261872"/>
            <a:ext cx="6653784"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SCR-UA-17</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Auditor: Opens User Access Reports › User Access Audit Log for today, ticks Include Log-ins and Log-outs and clicks Run Report</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Evidence of the enrolment</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900" b="0" i="0">
                <a:solidFill>
                  <a:srgbClr val="2E2E2E"/>
                </a:solidFill>
                <a:latin typeface="Arial"/>
              </a:rPr>
              <a:t>Enroll New User a013000196 with the from and to values of the full name, e-mail and profiles, Done By and Approved By the Approver, the request number, and the Log-in of the new user</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WT-B A change and a revocation under four eyes, and a group-profile change approved in order and implemented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80</a:t>
            </a:r>
          </a:p>
        </p:txBody>
      </p:sp>
      <p:graphicFrame>
        <p:nvGraphicFramePr>
          <p:cNvPr id="9" name="Table 8"/>
          <p:cNvGraphicFramePr>
            <a:graphicFrameLocks noGrp="1"/>
          </p:cNvGraphicFramePr>
          <p:nvPr/>
        </p:nvGraphicFramePr>
        <p:xfrm>
          <a:off x="548640" y="1307592"/>
          <a:ext cx="11094415" cy="2560309"/>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WT-B A change and a revocation under four eyes, and a group-profile change approved in order and implemented</a:t>
                      </a:r>
                    </a:p>
                  </a:txBody>
                  <a:tcPr marL="54864" marR="54864" marT="27432" marB="27432">
                    <a:solidFill>
                      <a:srgbClr val="FFFFFF"/>
                    </a:solidFill>
                  </a:tcPr>
                </a:tc>
              </a:tr>
              <a:tr h="822956">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The new account officer also covers as team leader: the Requestor asks to add the profile, the Approver approves it and the user is told. A privileged change (a back-up System Administrator) is flagged and needs the Second Approver. The Business Administrator asks for a new group profile; two approvers approve it in order and the System Administrator implements it. When the officer resigns, the Requestor deactivates the user; the Approver approves and the user's sessions end at once.</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user a013000196 of walkthrough A; seed request AR-2026-900008 (privileged change of a013000104 waiting for the second approval); new group profile RENEWAL_ENQUIRY (fictitious) with two permissions; approvers uamapprover and approver</a:t>
                      </a:r>
                    </a:p>
                  </a:txBody>
                  <a:tcPr marL="54864" marR="54864" marT="27432" marB="27432">
                    <a:solidFill>
                      <a:srgbClr val="FFFFFF"/>
                    </a:solidFill>
                  </a:tcPr>
                </a:tc>
              </a:tr>
              <a:tr h="457198">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Requestor, Approver, Second Approver, Business Administrator, New Business Approver (keeps the access approval right), System Administrator</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10 steps, 9 hand-offs, 2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14.2</a:t>
                      </a:r>
                    </a:p>
                  </a:txBody>
                  <a:tcPr marL="54864" marR="54864" marT="27432" marB="27432">
                    <a:solidFill>
                      <a:srgbClr val="FFFFFF"/>
                    </a:solidFill>
                  </a:tcPr>
                </a:tc>
              </a:tr>
            </a:tbl>
          </a:graphicData>
        </a:graphic>
      </p:graphicFrame>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swimlane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81</a:t>
            </a:r>
          </a:p>
        </p:txBody>
      </p:sp>
      <p:sp>
        <p:nvSpPr>
          <p:cNvPr id="9" name="Rectangle 8"/>
          <p:cNvSpPr/>
          <p:nvPr/>
        </p:nvSpPr>
        <p:spPr>
          <a:xfrm>
            <a:off x="548640" y="1307592"/>
            <a:ext cx="1783080" cy="74066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740664"/>
          </a:xfrm>
          <a:prstGeom prst="rect">
            <a:avLst/>
          </a:prstGeom>
          <a:noFill/>
        </p:spPr>
        <p:txBody>
          <a:bodyPr wrap="square" anchor="ctr" lIns="45720" rIns="45720">
            <a:spAutoFit/>
          </a:bodyPr>
          <a:lstStyle/>
          <a:p>
            <a:r>
              <a:rPr sz="1000" b="1" i="0">
                <a:solidFill>
                  <a:srgbClr val="FFFFFF"/>
                </a:solidFill>
                <a:latin typeface="Arial"/>
              </a:rPr>
              <a:t>Requestor</a:t>
            </a:r>
          </a:p>
        </p:txBody>
      </p:sp>
      <p:sp>
        <p:nvSpPr>
          <p:cNvPr id="11" name="Rectangle 10"/>
          <p:cNvSpPr/>
          <p:nvPr/>
        </p:nvSpPr>
        <p:spPr>
          <a:xfrm>
            <a:off x="2331720" y="1307592"/>
            <a:ext cx="9311335" cy="74066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084832"/>
            <a:ext cx="1783080" cy="74066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084832"/>
            <a:ext cx="1691640" cy="740664"/>
          </a:xfrm>
          <a:prstGeom prst="rect">
            <a:avLst/>
          </a:prstGeom>
          <a:noFill/>
        </p:spPr>
        <p:txBody>
          <a:bodyPr wrap="square" anchor="ctr" lIns="45720" rIns="45720">
            <a:spAutoFit/>
          </a:bodyPr>
          <a:lstStyle/>
          <a:p>
            <a:r>
              <a:rPr sz="1000" b="1" i="0">
                <a:solidFill>
                  <a:srgbClr val="FFFFFF"/>
                </a:solidFill>
                <a:latin typeface="Arial"/>
              </a:rPr>
              <a:t>Approver</a:t>
            </a:r>
          </a:p>
        </p:txBody>
      </p:sp>
      <p:sp>
        <p:nvSpPr>
          <p:cNvPr id="14" name="Rectangle 13"/>
          <p:cNvSpPr/>
          <p:nvPr/>
        </p:nvSpPr>
        <p:spPr>
          <a:xfrm>
            <a:off x="2331720" y="2084832"/>
            <a:ext cx="9311335" cy="74066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862072"/>
            <a:ext cx="1783080" cy="74066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2862072"/>
            <a:ext cx="1691640" cy="740664"/>
          </a:xfrm>
          <a:prstGeom prst="rect">
            <a:avLst/>
          </a:prstGeom>
          <a:noFill/>
        </p:spPr>
        <p:txBody>
          <a:bodyPr wrap="square" anchor="ctr" lIns="45720" rIns="45720">
            <a:spAutoFit/>
          </a:bodyPr>
          <a:lstStyle/>
          <a:p>
            <a:r>
              <a:rPr sz="1000" b="1" i="0">
                <a:solidFill>
                  <a:srgbClr val="FFFFFF"/>
                </a:solidFill>
                <a:latin typeface="Arial"/>
              </a:rPr>
              <a:t>Second Approver</a:t>
            </a:r>
          </a:p>
        </p:txBody>
      </p:sp>
      <p:sp>
        <p:nvSpPr>
          <p:cNvPr id="17" name="Rectangle 16"/>
          <p:cNvSpPr/>
          <p:nvPr/>
        </p:nvSpPr>
        <p:spPr>
          <a:xfrm>
            <a:off x="2331720" y="2862072"/>
            <a:ext cx="9311335" cy="74066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639312"/>
            <a:ext cx="1783080" cy="74066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639312"/>
            <a:ext cx="1691640" cy="740664"/>
          </a:xfrm>
          <a:prstGeom prst="rect">
            <a:avLst/>
          </a:prstGeom>
          <a:noFill/>
        </p:spPr>
        <p:txBody>
          <a:bodyPr wrap="square" anchor="ctr" lIns="45720" rIns="45720">
            <a:spAutoFit/>
          </a:bodyPr>
          <a:lstStyle/>
          <a:p>
            <a:r>
              <a:rPr sz="1000" b="1" i="0">
                <a:solidFill>
                  <a:srgbClr val="FFFFFF"/>
                </a:solidFill>
                <a:latin typeface="Arial"/>
              </a:rPr>
              <a:t>Business Administrator</a:t>
            </a:r>
          </a:p>
        </p:txBody>
      </p:sp>
      <p:sp>
        <p:nvSpPr>
          <p:cNvPr id="20" name="Rectangle 19"/>
          <p:cNvSpPr/>
          <p:nvPr/>
        </p:nvSpPr>
        <p:spPr>
          <a:xfrm>
            <a:off x="2331720" y="3639312"/>
            <a:ext cx="9311335" cy="74066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416552"/>
            <a:ext cx="1783080" cy="74066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4416552"/>
            <a:ext cx="1691640" cy="740664"/>
          </a:xfrm>
          <a:prstGeom prst="rect">
            <a:avLst/>
          </a:prstGeom>
          <a:noFill/>
        </p:spPr>
        <p:txBody>
          <a:bodyPr wrap="square" anchor="ctr" lIns="45720" rIns="45720">
            <a:spAutoFit/>
          </a:bodyPr>
          <a:lstStyle/>
          <a:p>
            <a:r>
              <a:rPr sz="1000" b="1" i="0">
                <a:solidFill>
                  <a:srgbClr val="FFFFFF"/>
                </a:solidFill>
                <a:latin typeface="Arial"/>
              </a:rPr>
              <a:t>New Business Approver (keeps the access approval right)</a:t>
            </a:r>
          </a:p>
        </p:txBody>
      </p:sp>
      <p:sp>
        <p:nvSpPr>
          <p:cNvPr id="23" name="Rectangle 22"/>
          <p:cNvSpPr/>
          <p:nvPr/>
        </p:nvSpPr>
        <p:spPr>
          <a:xfrm>
            <a:off x="2331720" y="4416552"/>
            <a:ext cx="9311335" cy="74066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193792"/>
            <a:ext cx="1783080" cy="74066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5193792"/>
            <a:ext cx="1691640" cy="740664"/>
          </a:xfrm>
          <a:prstGeom prst="rect">
            <a:avLst/>
          </a:prstGeom>
          <a:noFill/>
        </p:spPr>
        <p:txBody>
          <a:bodyPr wrap="square" anchor="ctr" lIns="45720" rIns="45720">
            <a:spAutoFit/>
          </a:bodyPr>
          <a:lstStyle/>
          <a:p>
            <a:r>
              <a:rPr sz="1000" b="1" i="0">
                <a:solidFill>
                  <a:srgbClr val="FFFFFF"/>
                </a:solidFill>
                <a:latin typeface="Arial"/>
              </a:rPr>
              <a:t>System Administrator</a:t>
            </a:r>
          </a:p>
        </p:txBody>
      </p:sp>
      <p:sp>
        <p:nvSpPr>
          <p:cNvPr id="26" name="Rectangle 25"/>
          <p:cNvSpPr/>
          <p:nvPr/>
        </p:nvSpPr>
        <p:spPr>
          <a:xfrm>
            <a:off x="2331720" y="5193792"/>
            <a:ext cx="9311335" cy="74066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432304" y="1399032"/>
            <a:ext cx="962748" cy="59436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New Request and Edit Request (user requests)</a:t>
            </a:r>
          </a:p>
        </p:txBody>
      </p:sp>
      <p:sp>
        <p:nvSpPr>
          <p:cNvPr id="28" name="Rounded Rectangle 27"/>
          <p:cNvSpPr/>
          <p:nvPr/>
        </p:nvSpPr>
        <p:spPr>
          <a:xfrm>
            <a:off x="3596220" y="2176272"/>
            <a:ext cx="962748" cy="59436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Access Request record</a:t>
            </a:r>
          </a:p>
        </p:txBody>
      </p:sp>
      <p:sp>
        <p:nvSpPr>
          <p:cNvPr id="29" name="Rounded Rectangle 28"/>
          <p:cNvSpPr/>
          <p:nvPr/>
        </p:nvSpPr>
        <p:spPr>
          <a:xfrm>
            <a:off x="3900600" y="208483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30" name="Rounded Rectangle 29"/>
          <p:cNvSpPr/>
          <p:nvPr/>
        </p:nvSpPr>
        <p:spPr>
          <a:xfrm>
            <a:off x="4760136" y="2953512"/>
            <a:ext cx="962748" cy="59436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Access Request record</a:t>
            </a:r>
          </a:p>
        </p:txBody>
      </p:sp>
      <p:sp>
        <p:nvSpPr>
          <p:cNvPr id="31" name="Rounded Rectangle 30"/>
          <p:cNvSpPr/>
          <p:nvPr/>
        </p:nvSpPr>
        <p:spPr>
          <a:xfrm>
            <a:off x="5924052" y="3730752"/>
            <a:ext cx="962748" cy="59436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New Group Profile Request and Edit Request</a:t>
            </a:r>
          </a:p>
        </p:txBody>
      </p:sp>
      <p:sp>
        <p:nvSpPr>
          <p:cNvPr id="32" name="Rounded Rectangle 31"/>
          <p:cNvSpPr/>
          <p:nvPr/>
        </p:nvSpPr>
        <p:spPr>
          <a:xfrm>
            <a:off x="7087968" y="2176272"/>
            <a:ext cx="962748" cy="59436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Access Request record</a:t>
            </a:r>
          </a:p>
        </p:txBody>
      </p:sp>
      <p:sp>
        <p:nvSpPr>
          <p:cNvPr id="33" name="Rounded Rectangle 32"/>
          <p:cNvSpPr/>
          <p:nvPr/>
        </p:nvSpPr>
        <p:spPr>
          <a:xfrm>
            <a:off x="8251884" y="4507992"/>
            <a:ext cx="962748" cy="59436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Access Request record</a:t>
            </a:r>
          </a:p>
        </p:txBody>
      </p:sp>
      <p:sp>
        <p:nvSpPr>
          <p:cNvPr id="34" name="Rounded Rectangle 33"/>
          <p:cNvSpPr/>
          <p:nvPr/>
        </p:nvSpPr>
        <p:spPr>
          <a:xfrm>
            <a:off x="8556264" y="441655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35" name="Rounded Rectangle 34"/>
          <p:cNvSpPr/>
          <p:nvPr/>
        </p:nvSpPr>
        <p:spPr>
          <a:xfrm>
            <a:off x="9415800" y="5285232"/>
            <a:ext cx="962748" cy="59436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7. </a:t>
            </a:r>
            <a:r>
              <a:rPr sz="800">
                <a:solidFill>
                  <a:srgbClr val="2E2E2E"/>
                </a:solidFill>
                <a:latin typeface="Arial"/>
              </a:rPr>
              <a:t>Roles &amp; Permissions</a:t>
            </a:r>
          </a:p>
        </p:txBody>
      </p:sp>
      <p:sp>
        <p:nvSpPr>
          <p:cNvPr id="36" name="Rounded Rectangle 35"/>
          <p:cNvSpPr/>
          <p:nvPr/>
        </p:nvSpPr>
        <p:spPr>
          <a:xfrm>
            <a:off x="10579716" y="1399032"/>
            <a:ext cx="962748" cy="59436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8. </a:t>
            </a:r>
            <a:r>
              <a:rPr sz="800">
                <a:solidFill>
                  <a:srgbClr val="2E2E2E"/>
                </a:solidFill>
                <a:latin typeface="Arial"/>
              </a:rPr>
              <a:t>New Request and Edit Request (user requests)</a:t>
            </a:r>
          </a:p>
        </p:txBody>
      </p:sp>
      <p:cxnSp>
        <p:nvCxnSpPr>
          <p:cNvPr id="37" name="Connector 36"/>
          <p:cNvCxnSpPr/>
          <p:nvPr/>
        </p:nvCxnSpPr>
        <p:spPr>
          <a:xfrm>
            <a:off x="3395052" y="1696212"/>
            <a:ext cx="201168" cy="77724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558968" y="2473452"/>
            <a:ext cx="201168" cy="77724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722884" y="3250692"/>
            <a:ext cx="201168" cy="77724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6886800" y="2473452"/>
            <a:ext cx="201168" cy="15544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050716" y="2473452"/>
            <a:ext cx="201168" cy="233172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214632" y="4805172"/>
            <a:ext cx="201168" cy="77724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0378548" y="1696212"/>
            <a:ext cx="201168" cy="388620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swimlane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82</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Approver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System Administrator</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432304" y="1399032"/>
            <a:ext cx="44544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9. </a:t>
            </a:r>
            <a:r>
              <a:rPr sz="800">
                <a:solidFill>
                  <a:srgbClr val="2E2E2E"/>
                </a:solidFill>
                <a:latin typeface="Arial"/>
              </a:rPr>
              <a:t>Access Request record</a:t>
            </a:r>
          </a:p>
        </p:txBody>
      </p:sp>
      <p:sp>
        <p:nvSpPr>
          <p:cNvPr id="16" name="Rounded Rectangle 15"/>
          <p:cNvSpPr/>
          <p:nvPr/>
        </p:nvSpPr>
        <p:spPr>
          <a:xfrm>
            <a:off x="7087971" y="2267712"/>
            <a:ext cx="44544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10. </a:t>
            </a:r>
            <a:r>
              <a:rPr sz="800">
                <a:solidFill>
                  <a:srgbClr val="2E2E2E"/>
                </a:solidFill>
                <a:latin typeface="Arial"/>
              </a:rPr>
              <a:t>Users</a:t>
            </a:r>
          </a:p>
        </p:txBody>
      </p:sp>
      <p:cxnSp>
        <p:nvCxnSpPr>
          <p:cNvPr id="17" name="Connector 16"/>
          <p:cNvCxnSpPr/>
          <p:nvPr/>
        </p:nvCxnSpPr>
        <p:spPr>
          <a:xfrm>
            <a:off x="6886803"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WT-B step 1 of 10: New Request and Edit Request (user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wt-b-01.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SCR-UA-07</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900" b="0" i="0">
                <a:solidFill>
                  <a:srgbClr val="2E2E2E"/>
                </a:solidFill>
                <a:latin typeface="Arial"/>
              </a:rPr>
              <a:t>Requestor: Opens a New Request of type Modify user for a013000196, ticks Marketing Team Leader / Head (approver) besides the current profile, chooses the approver, writes the justification and clicks Submit</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Pending Approval</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Group Profiles show (current) after Marketing Account Officer; toast AR-yyyy-nnnnnn submitted</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Approver on Access Request record</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2 of 10: Access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wt-b-02.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SCR-UA-08</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Approver: Opens the request: the Details tab shows the group profiles added; clicks Approve and Apply</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Change applied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status is Approved; the user receives Your access changed in the app and by e-mail</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Second Approver on Access Request record</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3 of 10: Access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85</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wt-b-03.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SCR-UA-08</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Second Approver: Opens AR-2026-900008 from the Second Approval tab: the tag Privilege increase, first approved by the Approver; clicks Second Approval and confirms</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Second approval given</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status is Approved; the alert Privileged access change stays in the Alert inbox as evidence</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Business Administrator on New Group Profile Request and Edit Request</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WT-B step 4 of 10: New Group Profile Request and Edit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wt-b-04.png"/>
          <p:cNvPicPr>
            <a:picLocks noChangeAspect="1"/>
          </p:cNvPicPr>
          <p:nvPr/>
        </p:nvPicPr>
        <p:blipFill>
          <a:blip r:embed="rId3"/>
          <a:stretch>
            <a:fillRect/>
          </a:stretch>
        </p:blipFill>
        <p:spPr>
          <a:xfrm>
            <a:off x="1040563" y="1261872"/>
            <a:ext cx="6681569"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SCR-UA-12</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800" b="0" i="0">
                <a:solidFill>
                  <a:srgbClr val="2E2E2E"/>
                </a:solidFill>
                <a:latin typeface="Arial"/>
              </a:rPr>
              <a:t>Business Administrator: Opens Group Profile Requests › New Group Profile Request, enters the code RENEWAL_ENQUIRY, the name and description, keeps the level Standard, ticks two permissions, adds the approvers Ulysses Access Approver then the New Business Approver, writes the justification and clicks Submit</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Pending Approval (first approver)</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AR-yyyy-nnnnnn submitted; the Approvers tab lists the two approvers in order</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Approver on Access Request record</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5 of 10: Access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87</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632143"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1" name="Picture 10" descr="wt-b-05.png"/>
          <p:cNvPicPr>
            <a:picLocks noChangeAspect="1"/>
          </p:cNvPicPr>
          <p:nvPr/>
        </p:nvPicPr>
        <p:blipFill>
          <a:blip r:embed="rId3"/>
          <a:stretch>
            <a:fillRect/>
          </a:stretch>
        </p:blipFill>
        <p:spPr>
          <a:xfrm>
            <a:off x="1283733" y="1261872"/>
            <a:ext cx="619522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SCR-UA-08</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Approver: Approves the group-profile request</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Next approver</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status stays Pending Approval; the request moves to the New Business Approver, who receives the notice</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New Business Approver (keeps the access approval right) on Access Request record</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6 of 10: Access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88</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wt-b-06.png"/>
          <p:cNvPicPr>
            <a:picLocks noChangeAspect="1"/>
          </p:cNvPicPr>
          <p:nvPr/>
        </p:nvPicPr>
        <p:blipFill>
          <a:blip r:embed="rId3"/>
          <a:stretch>
            <a:fillRect/>
          </a:stretch>
        </p:blipFill>
        <p:spPr>
          <a:xfrm>
            <a:off x="1283733" y="1261872"/>
            <a:ext cx="619522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SCR-UA-08</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New Business Approver (keeps the access approval right): Opens the request from My Approvals and approves it</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 implementation</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status is For Implementation; the System Administrators receive Access request AR-yyyy-nnnnnn to implement</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7: System Administrator on Roles &amp; Permissions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7 of 10: Roles &amp; Permissions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89</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wt-b-07.png"/>
          <p:cNvPicPr>
            <a:picLocks noChangeAspect="1"/>
          </p:cNvPicPr>
          <p:nvPr/>
        </p:nvPicPr>
        <p:blipFill>
          <a:blip r:embed="rId3"/>
          <a:stretch>
            <a:fillRect/>
          </a:stretch>
        </p:blipFill>
        <p:spPr>
          <a:xfrm>
            <a:off x="1054455" y="1261872"/>
            <a:ext cx="6653784"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SCR-UA-16</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System Administrator: Opens Roles &amp; Permissions, finds the request under Approved Requests to Implement, clicks Implement Request and confirms</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Implemented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AR-yyyy-nnnnnn implemented; the profile appears in the matrix with its two permissions</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8: Requestor on New Request and Edit Request (user requests)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WT-B step 8 of 10: New Request and Edit Request (user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90</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wt-b-08.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SCR-UA-07</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900" b="0" i="0">
                <a:solidFill>
                  <a:srgbClr val="2E2E2E"/>
                </a:solidFill>
                <a:latin typeface="Arial"/>
              </a:rPr>
              <a:t>Requestor: Opens a New Request of type Deactivate user for a013000196, chooses the reason Resigned, leaves the effective date blank, chooses the approver and clicks Submit</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Pending Approval</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AR-yyyy-nnnnnn submitted</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9: Approver on Access Request record</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9 of 10: Access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91</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wt-b-09.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SCR-UA-08</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Approver: Approves the deactivation</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User deactivated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status is Approved; the user is Disabled and every open session of the user has ended</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10: System Administrator on Users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10 of 10: Users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92</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wt-b-10.png"/>
          <p:cNvPicPr>
            <a:picLocks noChangeAspect="1"/>
          </p:cNvPicPr>
          <p:nvPr/>
        </p:nvPicPr>
        <p:blipFill>
          <a:blip r:embed="rId3"/>
          <a:stretch>
            <a:fillRect/>
          </a:stretch>
        </p:blipFill>
        <p:spPr>
          <a:xfrm>
            <a:off x="548640" y="1261872"/>
            <a:ext cx="7665415" cy="2705440"/>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SCR-UA-15</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System Administrator: Opens Administration › Users with the status Disabled</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Evidence of the revocation</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a013000196 is listed Disabled with the profiles it held; Sessions shows the last session ended by the administrator</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WT-C Refused cases and the messages the user sees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93</a:t>
            </a:r>
          </a:p>
        </p:txBody>
      </p:sp>
      <p:graphicFrame>
        <p:nvGraphicFramePr>
          <p:cNvPr id="9" name="Table 8"/>
          <p:cNvGraphicFramePr>
            <a:graphicFrameLocks noGrp="1"/>
          </p:cNvGraphicFramePr>
          <p:nvPr/>
        </p:nvGraphicFramePr>
        <p:xfrm>
          <a:off x="548640" y="1307592"/>
          <a:ext cx="11094415" cy="2560309"/>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WT-C Refused cases and the messages the user sees</a:t>
                      </a:r>
                    </a:p>
                  </a:txBody>
                  <a:tcPr marL="54864" marR="54864" marT="27432" marB="27432">
                    <a:solidFill>
                      <a:srgbClr val="FFFFFF"/>
                    </a:solidFill>
                  </a:tcPr>
                </a:tc>
              </a:tr>
              <a:tr h="822956">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The same processes when something is wrong or not allowed: an incomplete or badly formatted enrolment, a second request for a user who already has one open, a change of one's own profiles, a decision by someone other than the chosen approver, an implementation by the requester, a locked account, a deactivated user signing in, and a password that breaks the rules, and two profiles that one user may not hold together. Each step shows the message and what the user does next.</a:t>
                      </a:r>
                    </a:p>
                  </a:txBody>
                  <a:tcPr marL="54864" marR="54864" marT="27432" marB="27432">
                    <a:solidFill>
                      <a:srgbClr val="FFFFFF"/>
                    </a:solidFill>
                  </a:tcPr>
                </a:tc>
              </a:tr>
              <a:tr h="640077">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seed requests AR-2026-900002 (pending for uamapprover); users a013000101 (active) and a013000196 (deactivated in walkthrough B); a group-profile request raised by the System Administrator and approved for implementation (prepared by the capture)</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Requestor, New Business Approver (keeps the access approval right), System Administrator, Marketing Account Officer</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12 steps, 6 hand-offs, 0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14.3</a:t>
                      </a:r>
                    </a:p>
                  </a:txBody>
                  <a:tcPr marL="54864" marR="54864" marT="27432" marB="27432">
                    <a:solidFill>
                      <a:srgbClr val="FFFFFF"/>
                    </a:solidFill>
                  </a:tcPr>
                </a:tc>
              </a:tr>
            </a:tbl>
          </a:graphicData>
        </a:graphic>
      </p:graphicFrame>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swimlane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94</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Requestor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New Business Approver (keeps the access approval right)</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System Administrator</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1363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13632"/>
            <a:ext cx="1691640" cy="832104"/>
          </a:xfrm>
          <a:prstGeom prst="rect">
            <a:avLst/>
          </a:prstGeom>
          <a:noFill/>
        </p:spPr>
        <p:txBody>
          <a:bodyPr wrap="square" anchor="ctr" lIns="45720" rIns="45720">
            <a:spAutoFit/>
          </a:bodyPr>
          <a:lstStyle/>
          <a:p>
            <a:r>
              <a:rPr sz="1000" b="1" i="0">
                <a:solidFill>
                  <a:srgbClr val="FFFFFF"/>
                </a:solidFill>
                <a:latin typeface="Arial"/>
              </a:rPr>
              <a:t>Marketing Account Officer</a:t>
            </a:r>
          </a:p>
        </p:txBody>
      </p:sp>
      <p:sp>
        <p:nvSpPr>
          <p:cNvPr id="20" name="Rectangle 19"/>
          <p:cNvSpPr/>
          <p:nvPr/>
        </p:nvSpPr>
        <p:spPr>
          <a:xfrm>
            <a:off x="2331720" y="391363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432304"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New Request and Edit Request (user requests)</a:t>
            </a:r>
          </a:p>
        </p:txBody>
      </p:sp>
      <p:sp>
        <p:nvSpPr>
          <p:cNvPr id="22" name="Rounded Rectangle 21"/>
          <p:cNvSpPr/>
          <p:nvPr/>
        </p:nvSpPr>
        <p:spPr>
          <a:xfrm>
            <a:off x="3596220"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New Request and Edit Request (user requests)</a:t>
            </a:r>
          </a:p>
        </p:txBody>
      </p:sp>
      <p:sp>
        <p:nvSpPr>
          <p:cNvPr id="23" name="Rounded Rectangle 22"/>
          <p:cNvSpPr/>
          <p:nvPr/>
        </p:nvSpPr>
        <p:spPr>
          <a:xfrm>
            <a:off x="4760136"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New Request and Edit Request (user requests)</a:t>
            </a:r>
          </a:p>
        </p:txBody>
      </p:sp>
      <p:sp>
        <p:nvSpPr>
          <p:cNvPr id="24" name="Rounded Rectangle 23"/>
          <p:cNvSpPr/>
          <p:nvPr/>
        </p:nvSpPr>
        <p:spPr>
          <a:xfrm>
            <a:off x="5924052"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New Request and Edit Request (user requests)</a:t>
            </a:r>
          </a:p>
        </p:txBody>
      </p:sp>
      <p:sp>
        <p:nvSpPr>
          <p:cNvPr id="25" name="Rounded Rectangle 24"/>
          <p:cNvSpPr/>
          <p:nvPr/>
        </p:nvSpPr>
        <p:spPr>
          <a:xfrm>
            <a:off x="7087968"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New Request and Edit Request (user requests)</a:t>
            </a:r>
          </a:p>
        </p:txBody>
      </p:sp>
      <p:sp>
        <p:nvSpPr>
          <p:cNvPr id="26" name="Rounded Rectangle 25"/>
          <p:cNvSpPr/>
          <p:nvPr/>
        </p:nvSpPr>
        <p:spPr>
          <a:xfrm>
            <a:off x="8251884"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Access Request record</a:t>
            </a:r>
          </a:p>
        </p:txBody>
      </p:sp>
      <p:sp>
        <p:nvSpPr>
          <p:cNvPr id="27" name="Rounded Rectangle 26"/>
          <p:cNvSpPr/>
          <p:nvPr/>
        </p:nvSpPr>
        <p:spPr>
          <a:xfrm>
            <a:off x="9415800" y="313639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7. </a:t>
            </a:r>
            <a:r>
              <a:rPr sz="800">
                <a:solidFill>
                  <a:srgbClr val="2E2E2E"/>
                </a:solidFill>
                <a:latin typeface="Arial"/>
              </a:rPr>
              <a:t>Roles &amp; Permissions</a:t>
            </a:r>
          </a:p>
        </p:txBody>
      </p:sp>
      <p:sp>
        <p:nvSpPr>
          <p:cNvPr id="28" name="Rounded Rectangle 27"/>
          <p:cNvSpPr/>
          <p:nvPr/>
        </p:nvSpPr>
        <p:spPr>
          <a:xfrm>
            <a:off x="10579716" y="400507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8. </a:t>
            </a:r>
            <a:r>
              <a:rPr sz="800">
                <a:solidFill>
                  <a:srgbClr val="2E2E2E"/>
                </a:solidFill>
                <a:latin typeface="Arial"/>
              </a:rPr>
              <a:t>Login</a:t>
            </a:r>
          </a:p>
        </p:txBody>
      </p:sp>
      <p:cxnSp>
        <p:nvCxnSpPr>
          <p:cNvPr id="29" name="Connector 28"/>
          <p:cNvCxnSpPr/>
          <p:nvPr/>
        </p:nvCxnSpPr>
        <p:spPr>
          <a:xfrm>
            <a:off x="3395052"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558968"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722884"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886800"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050716"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214632"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0378548" y="347929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swimlane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95</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System Administrator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Marketing Account Officer</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Requestor</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432304" y="139903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9. </a:t>
            </a:r>
            <a:r>
              <a:rPr sz="800">
                <a:solidFill>
                  <a:srgbClr val="2E2E2E"/>
                </a:solidFill>
                <a:latin typeface="Arial"/>
              </a:rPr>
              <a:t>Users</a:t>
            </a:r>
          </a:p>
        </p:txBody>
      </p:sp>
      <p:sp>
        <p:nvSpPr>
          <p:cNvPr id="19" name="Rounded Rectangle 18"/>
          <p:cNvSpPr/>
          <p:nvPr/>
        </p:nvSpPr>
        <p:spPr>
          <a:xfrm>
            <a:off x="4760137" y="226771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10. </a:t>
            </a:r>
            <a:r>
              <a:rPr sz="800">
                <a:solidFill>
                  <a:srgbClr val="2E2E2E"/>
                </a:solidFill>
                <a:latin typeface="Arial"/>
              </a:rPr>
              <a:t>Login</a:t>
            </a:r>
          </a:p>
        </p:txBody>
      </p:sp>
      <p:sp>
        <p:nvSpPr>
          <p:cNvPr id="20" name="Rounded Rectangle 19"/>
          <p:cNvSpPr/>
          <p:nvPr/>
        </p:nvSpPr>
        <p:spPr>
          <a:xfrm>
            <a:off x="7087970" y="313639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11. </a:t>
            </a:r>
            <a:r>
              <a:rPr sz="800">
                <a:solidFill>
                  <a:srgbClr val="2E2E2E"/>
                </a:solidFill>
                <a:latin typeface="Arial"/>
              </a:rPr>
              <a:t>My Profile</a:t>
            </a:r>
          </a:p>
        </p:txBody>
      </p:sp>
      <p:sp>
        <p:nvSpPr>
          <p:cNvPr id="21" name="Rounded Rectangle 20"/>
          <p:cNvSpPr/>
          <p:nvPr/>
        </p:nvSpPr>
        <p:spPr>
          <a:xfrm>
            <a:off x="9415803" y="313639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12. </a:t>
            </a:r>
            <a:r>
              <a:rPr sz="800">
                <a:solidFill>
                  <a:srgbClr val="2E2E2E"/>
                </a:solidFill>
                <a:latin typeface="Arial"/>
              </a:rPr>
              <a:t>My Profile</a:t>
            </a:r>
          </a:p>
        </p:txBody>
      </p:sp>
      <p:cxnSp>
        <p:nvCxnSpPr>
          <p:cNvPr id="22" name="Connector 21"/>
          <p:cNvCxnSpPr/>
          <p:nvPr/>
        </p:nvCxnSpPr>
        <p:spPr>
          <a:xfrm>
            <a:off x="4558969"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886802"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214635" y="347929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WT-C step 1 of 12: New Request and Edit Request (user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wt-c-01.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SCR-UA-07</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Requestor: Opens New Request, enters the user ID ab and clicks Submit without a full name, profile, approver or justification</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Form corrected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900" b="0" i="0">
                <a:solidFill>
                  <a:srgbClr val="2E2E2E"/>
                </a:solidFill>
                <a:latin typeface="Arial"/>
              </a:rPr>
              <a:t>Under the fields: Use 3 to 50 letters, digits, dots, dashes or underscores; Enter the full name of the new user; Select at least one role; Select the approver; Enter the justification. Nothing is saved</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Requestor on New Request and Edit Request (user requests)</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WT-C step 2 of 12: New Request and Edit Request (user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97</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wt-c-02.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SCR-UA-07</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Requestor: Enters the user ID a01300019X with the other fields complete and clicks Submit</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User ID corrected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Under the user ID: The user ID must be a letter followed by nine digits, for example a013000196</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Requestor on New Request and Edit Request (user requests)</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WT-C step 3 of 12: New Request and Edit Request (user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98</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wt-c-03.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SCR-UA-07</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Requestor: Raises a Modify user request for a013000101, which already has a pending request, and clicks Submit</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Wait for the open request</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A request for user a013000101 is already waiting for approval, with its reference</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Requestor on New Request and Edit Request (user requests)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WT-C step 4 of 12: New Request and Edit Request (user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99</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wt-c-04.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SCR-UA-07</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Requestor: Raises a Modify user request for himself (requestor), ticks an additional profile and clicks Submit</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Another requester raises it</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You cannot change your own roles</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Requestor on New Request and Edit Request (user requests)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WT-C step 5 of 12: New Request and Edit Request (user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100</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wt-c-12.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SCR-UA-07</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Requestor: Enrols a new user with both the User Access Requestor and the User Access Approver profiles and clicks Submit</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One of the two profiles removed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One user may not hold both User Access Requestor and User Access Approver (separation-of-duties rule SOD-900001): the rule authorised by Information Security</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New Business Approver (keeps the access approval right) on Access Request record</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6 of 12: Access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101</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wt-c-05.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SCR-UA-08</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New Business Approver (keeps the access approval right): Opens AR-2026-900002, assigned to Ulysses Access Approver</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Left to the chosen approver</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request shows no decision button for this approver; a decision would be refused: Request AR-2026-900002 is assigned to uamapprover for approval</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7: System Administrator on Roles &amp; Permissions</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7 of 12: Roles &amp; Permissions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102</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wt-c-06.png"/>
          <p:cNvPicPr>
            <a:picLocks noChangeAspect="1"/>
          </p:cNvPicPr>
          <p:nvPr/>
        </p:nvPicPr>
        <p:blipFill>
          <a:blip r:embed="rId3"/>
          <a:stretch>
            <a:fillRect/>
          </a:stretch>
        </p:blipFill>
        <p:spPr>
          <a:xfrm>
            <a:off x="548640" y="1261872"/>
            <a:ext cx="7665415" cy="3702785"/>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SCR-UA-16</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System Administrator: Clicks Implement Request on a group-profile request he raised himself</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Another System Administrator implements it</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A request is implemented by someone other than its requester</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8: Marketing Account Officer on Login</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8 of 12: Login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056.png"/>
          <p:cNvPicPr>
            <a:picLocks noChangeAspect="1"/>
          </p:cNvPicPr>
          <p:nvPr/>
        </p:nvPicPr>
        <p:blipFill>
          <a:blip r:embed="rId3"/>
          <a:stretch>
            <a:fillRect/>
          </a:stretch>
        </p:blipFill>
        <p:spPr>
          <a:xfrm>
            <a:off x="765657" y="1261872"/>
            <a:ext cx="7231380" cy="4445317"/>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SCR-UA-01 (part 1 of 2)</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User a013000101 enters a wrong password three times, then the right one</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Account locked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900" b="0" i="0">
                <a:solidFill>
                  <a:srgbClr val="2E2E2E"/>
                </a:solidFill>
                <a:latin typeface="Arial"/>
              </a:rPr>
              <a:t>Invalid user name or password each time, also for the right password: a locked account is refused with the same message as a wrong password; Users shows the lock to the System Administrator</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9: System Administrator on Users</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8 of 12: Login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057.png"/>
          <p:cNvPicPr>
            <a:picLocks noChangeAspect="1"/>
          </p:cNvPicPr>
          <p:nvPr/>
        </p:nvPicPr>
        <p:blipFill>
          <a:blip r:embed="rId3"/>
          <a:stretch>
            <a:fillRect/>
          </a:stretch>
        </p:blipFill>
        <p:spPr>
          <a:xfrm>
            <a:off x="765657" y="1261872"/>
            <a:ext cx="7231380" cy="2711767"/>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SCR-UA-01 (part 2 of 2)</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9 of 12: Users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105</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slice-00058.png"/>
          <p:cNvPicPr>
            <a:picLocks noChangeAspect="1"/>
          </p:cNvPicPr>
          <p:nvPr/>
        </p:nvPicPr>
        <p:blipFill>
          <a:blip r:embed="rId3"/>
          <a:stretch>
            <a:fillRect/>
          </a:stretch>
        </p:blipFill>
        <p:spPr>
          <a:xfrm>
            <a:off x="548640" y="1261872"/>
            <a:ext cx="7665414" cy="4601399"/>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SCR-UA-15 (part 1 of 3)</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System Administrator: Opens Users with the status Locked and clicks Unlock on a013000101</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Account unlocked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user is Active again; the unlock is in the access change log</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10: Marketing Account Officer on Login</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9 of 12: Users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slice-00059.png"/>
          <p:cNvPicPr>
            <a:picLocks noChangeAspect="1"/>
          </p:cNvPicPr>
          <p:nvPr/>
        </p:nvPicPr>
        <p:blipFill>
          <a:blip r:embed="rId3"/>
          <a:stretch>
            <a:fillRect/>
          </a:stretch>
        </p:blipFill>
        <p:spPr>
          <a:xfrm>
            <a:off x="548640" y="1261872"/>
            <a:ext cx="7665414" cy="4735785"/>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SCR-UA-15 (part 2 of 3)</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9 of 12: Users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107</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slice-00060.png"/>
          <p:cNvPicPr>
            <a:picLocks noChangeAspect="1"/>
          </p:cNvPicPr>
          <p:nvPr/>
        </p:nvPicPr>
        <p:blipFill>
          <a:blip r:embed="rId3"/>
          <a:stretch>
            <a:fillRect/>
          </a:stretch>
        </p:blipFill>
        <p:spPr>
          <a:xfrm>
            <a:off x="548640" y="1261872"/>
            <a:ext cx="7665414" cy="1091219"/>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SCR-UA-15 (part 3 of 3)</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10 of 12: Login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108</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061.png"/>
          <p:cNvPicPr>
            <a:picLocks noChangeAspect="1"/>
          </p:cNvPicPr>
          <p:nvPr/>
        </p:nvPicPr>
        <p:blipFill>
          <a:blip r:embed="rId3"/>
          <a:stretch>
            <a:fillRect/>
          </a:stretch>
        </p:blipFill>
        <p:spPr>
          <a:xfrm>
            <a:off x="765657" y="1261872"/>
            <a:ext cx="7231380" cy="4445317"/>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SCR-UA-01 (part 1 of 2)</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The deactivated user a013000196 tries to sign in</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Refused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Invalid user name or password, the same message as a wrong password; the attempt does not count towards the lock-out</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11: Requestor on My Profile</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10 of 12: Login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109</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062.png"/>
          <p:cNvPicPr>
            <a:picLocks noChangeAspect="1"/>
          </p:cNvPicPr>
          <p:nvPr/>
        </p:nvPicPr>
        <p:blipFill>
          <a:blip r:embed="rId3"/>
          <a:stretch>
            <a:fillRect/>
          </a:stretch>
        </p:blipFill>
        <p:spPr>
          <a:xfrm>
            <a:off x="765657" y="1261872"/>
            <a:ext cx="7231380" cy="2711767"/>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SCR-UA-01 (part 2 of 2)</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11 of 12: My Profile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110</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wt-c-10.png"/>
          <p:cNvPicPr>
            <a:picLocks noChangeAspect="1"/>
          </p:cNvPicPr>
          <p:nvPr/>
        </p:nvPicPr>
        <p:blipFill>
          <a:blip r:embed="rId3"/>
          <a:stretch>
            <a:fillRect/>
          </a:stretch>
        </p:blipFill>
        <p:spPr>
          <a:xfrm>
            <a:off x="548640" y="1261872"/>
            <a:ext cx="7665415" cy="3064806"/>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SCR-UA-05</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Requestor: On My Profile, types a new password that is too short and has no symbol</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Password rules shown</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Still needed: At least 10 characters; A symbol; Change Password stays disabled</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12: Requestor on My Profile</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12 of 12: My Profile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111</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wt-c-11.png"/>
          <p:cNvPicPr>
            <a:picLocks noChangeAspect="1"/>
          </p:cNvPicPr>
          <p:nvPr/>
        </p:nvPicPr>
        <p:blipFill>
          <a:blip r:embed="rId3"/>
          <a:stretch>
            <a:fillRect/>
          </a:stretch>
        </p:blipFill>
        <p:spPr>
          <a:xfrm>
            <a:off x="548640" y="1261872"/>
            <a:ext cx="7665415" cy="2643480"/>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SCR-UA-05</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Requestor: Enters the current password as the new password and clicks Change Password</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Another password chosen</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You used this password recently. Choose another one</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WT-D The evidence of access, and the insurer roles hidden from BDOI</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112</a:t>
            </a:r>
          </a:p>
        </p:txBody>
      </p:sp>
      <p:graphicFrame>
        <p:nvGraphicFramePr>
          <p:cNvPr id="9" name="Table 8"/>
          <p:cNvGraphicFramePr>
            <a:graphicFrameLocks noGrp="1"/>
          </p:cNvGraphicFramePr>
          <p:nvPr/>
        </p:nvGraphicFramePr>
        <p:xfrm>
          <a:off x="548640" y="1307592"/>
          <a:ext cx="11094415" cy="2377430"/>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WT-D The evidence of access, and the insurer roles hidden from BDOI</a:t>
                      </a:r>
                    </a:p>
                  </a:txBody>
                  <a:tcPr marL="54864" marR="54864" marT="27432" marB="27432">
                    <a:solidFill>
                      <a:srgbClr val="FFFFFF"/>
                    </a:solidFill>
                  </a:tcPr>
                </a:tc>
              </a:tr>
              <a:tr h="822956">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The Auditor and Information Security review who can do what: the User Access Matrix, the User Group Profile Report and the Group Profile Membership of a profile, and the audit log of the changes. The insurer functions of the platform (underwriting, insurer claims, reinsurance, reserves) are not used by BDOI: their permissions are withdrawn from every BDOI profile, the three insurer roles are deactivated, and no User Access screen lists or accepts them.</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the delivered profiles and grants; the seed users of the personas; the withdrawal of the insurer permissions and the deactivation of the insurer roles recorded at installation</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Auditor, Business Administrator</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5 steps, 1 hand-offs, 0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14.4</a:t>
                      </a:r>
                    </a:p>
                  </a:txBody>
                  <a:tcPr marL="54864" marR="54864" marT="27432" marB="27432">
                    <a:solidFill>
                      <a:srgbClr val="FFFFFF"/>
                    </a:solidFill>
                  </a:tcPr>
                </a:tc>
              </a:tr>
            </a:tbl>
          </a:graphicData>
        </a:graphic>
      </p:graphicFrame>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113</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Auditor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Business Administrator</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432304" y="139903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User Access Matrix</a:t>
            </a:r>
          </a:p>
        </p:txBody>
      </p:sp>
      <p:sp>
        <p:nvSpPr>
          <p:cNvPr id="16" name="Rounded Rectangle 15"/>
          <p:cNvSpPr/>
          <p:nvPr/>
        </p:nvSpPr>
        <p:spPr>
          <a:xfrm>
            <a:off x="4294571" y="139903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User access report (report runner)</a:t>
            </a:r>
          </a:p>
        </p:txBody>
      </p:sp>
      <p:sp>
        <p:nvSpPr>
          <p:cNvPr id="17" name="Rounded Rectangle 16"/>
          <p:cNvSpPr/>
          <p:nvPr/>
        </p:nvSpPr>
        <p:spPr>
          <a:xfrm>
            <a:off x="6156838" y="139903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User access report (report runner)</a:t>
            </a:r>
          </a:p>
        </p:txBody>
      </p:sp>
      <p:sp>
        <p:nvSpPr>
          <p:cNvPr id="18" name="Rounded Rectangle 17"/>
          <p:cNvSpPr/>
          <p:nvPr/>
        </p:nvSpPr>
        <p:spPr>
          <a:xfrm>
            <a:off x="8019105" y="139903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User access report (report runner)</a:t>
            </a:r>
          </a:p>
        </p:txBody>
      </p:sp>
      <p:sp>
        <p:nvSpPr>
          <p:cNvPr id="19" name="Rounded Rectangle 18"/>
          <p:cNvSpPr/>
          <p:nvPr/>
        </p:nvSpPr>
        <p:spPr>
          <a:xfrm>
            <a:off x="9881372" y="226771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New Group Profile Request and Edit Request</a:t>
            </a:r>
          </a:p>
        </p:txBody>
      </p:sp>
      <p:cxnSp>
        <p:nvCxnSpPr>
          <p:cNvPr id="20" name="Connector 19"/>
          <p:cNvCxnSpPr/>
          <p:nvPr/>
        </p:nvCxnSpPr>
        <p:spPr>
          <a:xfrm>
            <a:off x="4093403"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955670"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817937"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680204"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step 1 of 5: User Access Matrix</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wt-d-01.png"/>
          <p:cNvPicPr>
            <a:picLocks noChangeAspect="1"/>
          </p:cNvPicPr>
          <p:nvPr/>
        </p:nvPicPr>
        <p:blipFill>
          <a:blip r:embed="rId3"/>
          <a:stretch>
            <a:fillRect/>
          </a:stretch>
        </p:blipFill>
        <p:spPr>
          <a:xfrm>
            <a:off x="548640" y="1261872"/>
            <a:ext cx="7665415" cy="3507901"/>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SCR-UA-13</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Auditor: Opens User Access › User Access Matrix, By Action, and searches USER ACCESS</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Matrix reviewed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900" b="0" i="0">
                <a:solidFill>
                  <a:srgbClr val="2E2E2E"/>
                </a:solidFill>
                <a:latin typeface="Arial"/>
              </a:rPr>
              <a:t>The User Access area by action class, with the permissions each profile holds: the Requestor creates and amends, the Approver approves, the Second Approver gives the second approval</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Auditor on User access report (report runner)</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WT-D step 2 of 5: User access report (report runner)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115</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wt-d-02.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SCR-UA-17</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Auditor: Runs the User Group Profile Report for the profile UAM_APPROVER</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Profile content reviewed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modules and tasks of the Approver with With Access, and the dates and actors of its creation and last change</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Auditor on User access report (report runner)</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WT-D step 3 of 5: User access report (report runner)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wt-d-03.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SCR-UA-17</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Auditor: Runs Group Profile Membership for MKT_AO as of today</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Members reviewed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members of the Marketing Account Officer profile with who added each and when</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Auditor on User access report (report runner)</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WT-D step 4 of 5: User access report (report runner)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117</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wt-d-04.png"/>
          <p:cNvPicPr>
            <a:picLocks noChangeAspect="1"/>
          </p:cNvPicPr>
          <p:nvPr/>
        </p:nvPicPr>
        <p:blipFill>
          <a:blip r:embed="rId3"/>
          <a:stretch>
            <a:fillRect/>
          </a:stretch>
        </p:blipFill>
        <p:spPr>
          <a:xfrm>
            <a:off x="1054455" y="1261872"/>
            <a:ext cx="6653784"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SCR-UA-17</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Auditor: Runs the User Access Audit Log from the installation date with the activity Group Profile Changes</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Insurer roles deactivated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Deactivate Group Profile of the three insurer roles, Done By the system at installation, with their from and to values</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Business Administrator on New Group Profile Request and Edit Request</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WT-D step 5 of 5: New Group Profile Request and Edit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118</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wt-d-05.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SCR-UA-12</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Business Administrator: Opens New Group Profile Request of type New group profile and looks for the underwriting, insurer claims, reinsurance and reserve permissions</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Nothing to request</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permission picker lists no insurer permission; the Reactivate group profile list offers no insurer role</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Screen catalogue</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Every screen with its numbered callouts, fields, actions and every state</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BRD-11 User Access Maintenance</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SCR-UA-01 Login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120</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graphicFrame>
        <p:nvGraphicFramePr>
          <p:cNvPr id="10" name="Table 9"/>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Sign-in, password and session</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sign-in page of BIBS, on the BDO Insure portal layout. The user enters the user ID and password; BIBS checks the account and the password, counts failed attempts and locks the account at the third, and opens the home page with the menu of the user's group profiles. A user whose password was set by an administrator or has expired changes it first (SCR-UA-03).</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Every user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Before sign-in</a:t>
                      </a:r>
                    </a:p>
                    <a:p>
                      <a:r>
                        <a:rPr sz="950" b="0">
                          <a:solidFill>
                            <a:srgbClr val="4B4B4B"/>
                          </a:solidFill>
                          <a:latin typeface="Arial"/>
                        </a:rPr>
                        <a:t>The BIBS address in the browser of a BDO-issued device</a:t>
                      </a:r>
                    </a:p>
                    <a:p>
                      <a:r>
                        <a:rPr sz="950" b="0">
                          <a:solidFill>
                            <a:srgbClr val="4B4B4B"/>
                          </a:solidFill>
                          <a:latin typeface="Arial"/>
                        </a:rPr>
                        <a:t>Every page when the session has ended (inactivity, end of the session, Log Out)</a:t>
                      </a:r>
                    </a:p>
                    <a:p>
                      <a:r>
                        <a:rPr sz="950" b="0">
                          <a:solidFill>
                            <a:srgbClr val="4B4B4B"/>
                          </a:solidFill>
                          <a:latin typeface="Arial"/>
                        </a:rPr>
                        <a:t>Reset password › Back to Login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FR-UA-001, FR-UA-003</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user is signed in with exactly the menus of the assigned group profiles, or refused with a message that does not reveal which credential was wrong.</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(6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121</a:t>
            </a:r>
          </a:p>
        </p:txBody>
      </p:sp>
      <p:graphicFrame>
        <p:nvGraphicFramePr>
          <p:cNvPr id="9" name="Table 8"/>
          <p:cNvGraphicFramePr>
            <a:graphicFrameLocks noGrp="1"/>
          </p:cNvGraphicFramePr>
          <p:nvPr/>
        </p:nvGraphicFramePr>
        <p:xfrm>
          <a:off x="548640" y="1325880"/>
          <a:ext cx="11094411" cy="140207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Sign-in</a:t>
                      </a:r>
                    </a:p>
                  </a:txBody>
                  <a:tcPr marL="54864" marR="54864" marT="27432" marB="27432">
                    <a:solidFill>
                      <a:srgbClr val="FFFFFF"/>
                    </a:solidFill>
                  </a:tcPr>
                </a:tc>
                <a:tc>
                  <a:txBody>
                    <a:bodyPr/>
                    <a:lstStyle/>
                    <a:p>
                      <a:r>
                        <a:rPr sz="850" b="0">
                          <a:solidFill>
                            <a:srgbClr val="4B4B4B"/>
                          </a:solidFill>
                          <a:latin typeface="Arial"/>
                        </a:rPr>
                        <a:t>User ID</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BIBS user ID (for example a013000196); with directory sign-in, the Windows ID</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Required by the browser; the account must exist, be active and not locked</a:t>
                      </a:r>
                    </a:p>
                  </a:txBody>
                  <a:tcPr marL="54864" marR="54864" marT="27432" marB="27432">
                    <a:solidFill>
                      <a:srgbClr val="FFFFFF"/>
                    </a:solidFill>
                  </a:tcPr>
                </a:tc>
                <a:tc>
                  <a:txBody>
                    <a:bodyPr/>
                    <a:lstStyle/>
                    <a:p>
                      <a:r>
                        <a:rPr sz="850" b="0">
                          <a:solidFill>
                            <a:srgbClr val="4B4B4B"/>
                          </a:solidFill>
                          <a:latin typeface="Arial"/>
                        </a:rPr>
                        <a:t>Invalid user name or password</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Sign-in</a:t>
                      </a:r>
                    </a:p>
                  </a:txBody>
                  <a:tcPr marL="54864" marR="54864" marT="27432" marB="27432">
                    <a:solidFill>
                      <a:srgbClr val="E5F5FF"/>
                    </a:solidFill>
                  </a:tcPr>
                </a:tc>
                <a:tc>
                  <a:txBody>
                    <a:bodyPr/>
                    <a:lstStyle/>
                    <a:p>
                      <a:r>
                        <a:rPr sz="850" b="0">
                          <a:solidFill>
                            <a:srgbClr val="4B4B4B"/>
                          </a:solidFill>
                          <a:latin typeface="Arial"/>
                        </a:rPr>
                        <a:t>Password</a:t>
                      </a:r>
                    </a:p>
                  </a:txBody>
                  <a:tcPr marL="54864" marR="54864" marT="27432" marB="27432">
                    <a:solidFill>
                      <a:srgbClr val="E5F5FF"/>
                    </a:solidFill>
                  </a:tcPr>
                </a:tc>
                <a:tc>
                  <a:txBody>
                    <a:bodyPr/>
                    <a:lstStyle/>
                    <a:p>
                      <a:r>
                        <a:rPr sz="850" b="0">
                          <a:solidFill>
                            <a:srgbClr val="4B4B4B"/>
                          </a:solidFill>
                          <a:latin typeface="Arial"/>
                        </a:rPr>
                        <a:t>Password</a:t>
                      </a:r>
                    </a:p>
                  </a:txBody>
                  <a:tcPr marL="54864" marR="54864" marT="27432" marB="27432">
                    <a:solidFill>
                      <a:srgbClr val="E5F5FF"/>
                    </a:solidFill>
                  </a:tcPr>
                </a:tc>
                <a:tc>
                  <a:txBody>
                    <a:bodyPr/>
                    <a:lstStyle/>
                    <a:p>
                      <a:r>
                        <a:rPr sz="850" b="0">
                          <a:solidFill>
                            <a:srgbClr val="4B4B4B"/>
                          </a:solidFill>
                          <a:latin typeface="Arial"/>
                        </a:rPr>
                        <a:t>Masked</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Required by the browser; checked against the stored password (or by the directory)</a:t>
                      </a:r>
                    </a:p>
                  </a:txBody>
                  <a:tcPr marL="54864" marR="54864" marT="27432" marB="27432">
                    <a:solidFill>
                      <a:srgbClr val="E5F5FF"/>
                    </a:solidFill>
                  </a:tcPr>
                </a:tc>
                <a:tc>
                  <a:txBody>
                    <a:bodyPr/>
                    <a:lstStyle/>
                    <a:p>
                      <a:r>
                        <a:rPr sz="850" b="0">
                          <a:solidFill>
                            <a:srgbClr val="4B4B4B"/>
                          </a:solidFill>
                          <a:latin typeface="Arial"/>
                        </a:rPr>
                        <a:t>Invalid user name or password</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Sign-in</a:t>
                      </a:r>
                    </a:p>
                  </a:txBody>
                  <a:tcPr marL="54864" marR="54864" marT="27432" marB="27432">
                    <a:solidFill>
                      <a:srgbClr val="FFFFFF"/>
                    </a:solidFill>
                  </a:tcPr>
                </a:tc>
                <a:tc>
                  <a:txBody>
                    <a:bodyPr/>
                    <a:lstStyle/>
                    <a:p>
                      <a:r>
                        <a:rPr sz="850" b="0">
                          <a:solidFill>
                            <a:srgbClr val="4B4B4B"/>
                          </a:solidFill>
                          <a:latin typeface="Arial"/>
                        </a:rPr>
                        <a:t>Forgot password?</a:t>
                      </a:r>
                    </a:p>
                  </a:txBody>
                  <a:tcPr marL="54864" marR="54864" marT="27432" marB="27432">
                    <a:solidFill>
                      <a:srgbClr val="FFFFFF"/>
                    </a:solidFill>
                  </a:tcPr>
                </a:tc>
                <a:tc>
                  <a:txBody>
                    <a:bodyPr/>
                    <a:lstStyle/>
                    <a:p>
                      <a:r>
                        <a:rPr sz="850" b="0">
                          <a:solidFill>
                            <a:srgbClr val="4B4B4B"/>
                          </a:solidFill>
                          <a:latin typeface="Arial"/>
                        </a:rPr>
                        <a:t>Link</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122</a:t>
            </a:r>
          </a:p>
        </p:txBody>
      </p:sp>
      <p:graphicFrame>
        <p:nvGraphicFramePr>
          <p:cNvPr id="9" name="Table 8"/>
          <p:cNvGraphicFramePr>
            <a:graphicFrameLocks noGrp="1"/>
          </p:cNvGraphicFramePr>
          <p:nvPr/>
        </p:nvGraphicFramePr>
        <p:xfrm>
          <a:off x="548640" y="1325880"/>
          <a:ext cx="11094412" cy="131063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868674">
                <a:tc>
                  <a:txBody>
                    <a:bodyPr/>
                    <a:lstStyle/>
                    <a:p>
                      <a:r>
                        <a:rPr sz="850" b="0">
                          <a:solidFill>
                            <a:srgbClr val="4B4B4B"/>
                          </a:solidFill>
                          <a:latin typeface="Arial"/>
                        </a:rPr>
                        <a:t>Login</a:t>
                      </a:r>
                    </a:p>
                  </a:txBody>
                  <a:tcPr marL="54864" marR="54864" marT="27432" marB="27432">
                    <a:solidFill>
                      <a:srgbClr val="FFFFFF"/>
                    </a:solidFill>
                  </a:tcPr>
                </a:tc>
                <a:tc>
                  <a:txBody>
                    <a:bodyPr/>
                    <a:lstStyle/>
                    <a:p>
                      <a:r>
                        <a:rPr sz="850" b="0">
                          <a:solidFill>
                            <a:srgbClr val="4B4B4B"/>
                          </a:solidFill>
                          <a:latin typeface="Arial"/>
                        </a:rPr>
                        <a:t>Every user</a:t>
                      </a:r>
                    </a:p>
                  </a:txBody>
                  <a:tcPr marL="54864" marR="54864" marT="27432" marB="27432">
                    <a:solidFill>
                      <a:srgbClr val="FFFFFF"/>
                    </a:solidFill>
                  </a:tcPr>
                </a:tc>
                <a:tc>
                  <a:txBody>
                    <a:bodyPr/>
                    <a:lstStyle/>
                    <a:p>
                      <a:r>
                        <a:rPr sz="850" b="0">
                          <a:solidFill>
                            <a:srgbClr val="4B4B4B"/>
                          </a:solidFill>
                          <a:latin typeface="Arial"/>
                        </a:rPr>
                        <a:t>User ID and password entered</a:t>
                      </a:r>
                    </a:p>
                  </a:txBody>
                  <a:tcPr marL="54864" marR="54864" marT="27432" marB="27432">
                    <a:solidFill>
                      <a:srgbClr val="FFFFFF"/>
                    </a:solidFill>
                  </a:tcPr>
                </a:tc>
                <a:tc>
                  <a:txBody>
                    <a:bodyPr/>
                    <a:lstStyle/>
                    <a:p>
                      <a:r>
                        <a:rPr sz="850" b="0">
                          <a:solidFill>
                            <a:srgbClr val="4B4B4B"/>
                          </a:solidFill>
                          <a:latin typeface="Arial"/>
                        </a:rPr>
                        <a:t>Checks the account and the password. Success: opens the home page with the menu of the user's active group profiles and records the sign-in; a password set by an administrator or expired opens Change Your Password first. Failure: counts the failed attempt; the third consecutive failure locks the account and ends its open sessions</a:t>
                      </a:r>
                    </a:p>
                  </a:txBody>
                  <a:tcPr marL="54864" marR="54864" marT="27432" marB="27432">
                    <a:solidFill>
                      <a:srgbClr val="FFFFFF"/>
                    </a:solidFill>
                  </a:tcPr>
                </a:tc>
                <a:tc>
                  <a:txBody>
                    <a:bodyPr/>
                    <a:lstStyle/>
                    <a:p>
                      <a:r>
                        <a:rPr sz="850" b="0">
                          <a:solidFill>
                            <a:srgbClr val="4B4B4B"/>
                          </a:solidFill>
                          <a:latin typeface="Arial"/>
                        </a:rPr>
                        <a:t>Signed in, or refused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Forgot password?</a:t>
                      </a:r>
                    </a:p>
                  </a:txBody>
                  <a:tcPr marL="54864" marR="54864" marT="27432" marB="27432">
                    <a:solidFill>
                      <a:srgbClr val="E5F5FF"/>
                    </a:solidFill>
                  </a:tcPr>
                </a:tc>
                <a:tc>
                  <a:txBody>
                    <a:bodyPr/>
                    <a:lstStyle/>
                    <a:p>
                      <a:r>
                        <a:rPr sz="850" b="0">
                          <a:solidFill>
                            <a:srgbClr val="4B4B4B"/>
                          </a:solidFill>
                          <a:latin typeface="Arial"/>
                        </a:rPr>
                        <a:t>Every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Forgot Password (SCR-UA-02)</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123</a:t>
            </a:r>
          </a:p>
        </p:txBody>
      </p:sp>
      <p:graphicFrame>
        <p:nvGraphicFramePr>
          <p:cNvPr id="9" name="Table 8"/>
          <p:cNvGraphicFramePr>
            <a:graphicFrameLocks noGrp="1"/>
          </p:cNvGraphicFramePr>
          <p:nvPr/>
        </p:nvGraphicFramePr>
        <p:xfrm>
          <a:off x="548640" y="1325880"/>
          <a:ext cx="11094415" cy="18592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The account locks after 3 consecutive failed sign-ins (parameter LOGIN_MAX_FAILED_ATTEMPTS, all users); only the System Administrator unlocks it (Users › Unlock), or a reactivation request with Also unlock the account (FR-UA-001).</a:t>
                      </a:r>
                    </a:p>
                  </a:txBody>
                  <a:tcPr marL="54864" marR="54864" marT="27432" marB="27432">
                    <a:solidFill>
                      <a:srgbClr val="FFFFFF"/>
                    </a:solidFill>
                  </a:tcPr>
                </a:tc>
              </a:tr>
              <a:tr h="243840">
                <a:tc>
                  <a:txBody>
                    <a:bodyPr/>
                    <a:lstStyle/>
                    <a:p>
                      <a:r>
                        <a:rPr sz="1000" b="0">
                          <a:solidFill>
                            <a:srgbClr val="4B4B4B"/>
                          </a:solidFill>
                          <a:latin typeface="Arial"/>
                        </a:rPr>
                        <a:t>The message never says whether the user ID or the password was wrong; a deactivated user is refused with the same message and the attempt counts (FR-UA-001).</a:t>
                      </a:r>
                    </a:p>
                  </a:txBody>
                  <a:tcPr marL="54864" marR="54864" marT="27432" marB="27432">
                    <a:solidFill>
                      <a:srgbClr val="E5F5FF"/>
                    </a:solidFill>
                  </a:tcPr>
                </a:tc>
              </a:tr>
              <a:tr h="243840">
                <a:tc>
                  <a:txBody>
                    <a:bodyPr/>
                    <a:lstStyle/>
                    <a:p>
                      <a:r>
                        <a:rPr sz="1000" b="0">
                          <a:solidFill>
                            <a:srgbClr val="4B4B4B"/>
                          </a:solidFill>
                          <a:latin typeface="Arial"/>
                        </a:rPr>
                        <a:t>Every successful and failed sign-in is written to the audit trail with the user and the time (FR-UA-001, FR-UA-064).</a:t>
                      </a:r>
                    </a:p>
                  </a:txBody>
                  <a:tcPr marL="54864" marR="54864" marT="27432" marB="27432">
                    <a:solidFill>
                      <a:srgbClr val="FFFFFF"/>
                    </a:solidFill>
                  </a:tcPr>
                </a:tc>
              </a:tr>
              <a:tr h="243840">
                <a:tc>
                  <a:txBody>
                    <a:bodyPr/>
                    <a:lstStyle/>
                    <a:p>
                      <a:r>
                        <a:rPr sz="1000" b="0">
                          <a:solidFill>
                            <a:srgbClr val="4B4B4B"/>
                          </a:solidFill>
                          <a:latin typeface="Arial"/>
                        </a:rPr>
                        <a:t>More than 20 sign-in attempts within a minute from one computer are refused until the minute ends: Too many sign-in attempts. Wait a minute and try again. (FR-UA-001).</a:t>
                      </a:r>
                    </a:p>
                  </a:txBody>
                  <a:tcPr marL="54864" marR="54864" marT="27432" marB="27432">
                    <a:solidFill>
                      <a:srgbClr val="E5F5FF"/>
                    </a:solidFill>
                  </a:tcPr>
                </a:tc>
              </a:tr>
              <a:tr h="243840">
                <a:tc>
                  <a:txBody>
                    <a:bodyPr/>
                    <a:lstStyle/>
                    <a:p>
                      <a:r>
                        <a:rPr sz="1000" b="0">
                          <a:solidFill>
                            <a:srgbClr val="4B4B4B"/>
                          </a:solidFill>
                          <a:latin typeface="Arial"/>
                        </a:rPr>
                        <a:t>The menu shows only the screens of the user's active group profiles; a deactivated group profile grants nothing (FR-UA-001, FR-UA-042).</a:t>
                      </a:r>
                    </a:p>
                  </a:txBody>
                  <a:tcPr marL="54864" marR="54864" marT="27432" marB="27432">
                    <a:solidFill>
                      <a:srgbClr val="FFFFFF"/>
                    </a:solidFill>
                  </a:tcPr>
                </a:tc>
              </a:tr>
              <a:tr h="243840">
                <a:tc>
                  <a:txBody>
                    <a:bodyPr/>
                    <a:lstStyle/>
                    <a:p>
                      <a:r>
                        <a:rPr sz="1000" b="0">
                          <a:solidFill>
                            <a:srgbClr val="4B4B4B"/>
                          </a:solidFill>
                          <a:latin typeface="Arial"/>
                        </a:rPr>
                        <a:t>In directory mode the password is checked by the BDO directory and never stored in BIBS; until BDO supplies the directory interface that mode refuses every sign-in (FR-UA-003).</a:t>
                      </a:r>
                    </a:p>
                  </a:txBody>
                  <a:tcPr marL="54864" marR="54864" marT="27432" marB="27432">
                    <a:solidFill>
                      <a:srgbClr val="E5F5FF"/>
                    </a:solidFill>
                  </a:tcPr>
                </a:tc>
              </a:tr>
            </a:tbl>
          </a:graphicData>
        </a:graphic>
      </p:graphicFrame>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SCR-UA-01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124</a:t>
            </a:r>
          </a:p>
        </p:txBody>
      </p:sp>
      <p:graphicFrame>
        <p:nvGraphicFramePr>
          <p:cNvPr id="9" name="Table 8"/>
          <p:cNvGraphicFramePr>
            <a:graphicFrameLocks noGrp="1"/>
          </p:cNvGraphicFramePr>
          <p:nvPr/>
        </p:nvGraphicFramePr>
        <p:xfrm>
          <a:off x="548640" y="1325880"/>
          <a:ext cx="11094413" cy="9144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WT-A step 5</a:t>
                      </a:r>
                    </a:p>
                  </a:txBody>
                  <a:tcPr marL="54864" marR="54864" marT="27432" marB="27432">
                    <a:solidFill>
                      <a:srgbClr val="FFFFFF"/>
                    </a:solidFill>
                  </a:tcPr>
                </a:tc>
                <a:tc>
                  <a:txBody>
                    <a:bodyPr/>
                    <a:lstStyle/>
                    <a:p>
                      <a:r>
                        <a:rPr sz="900" b="0">
                          <a:solidFill>
                            <a:srgbClr val="4B4B4B"/>
                          </a:solidFill>
                          <a:latin typeface="Arial"/>
                        </a:rPr>
                        <a:t>The new user opens BIBS and signs in with a013000196 and the temporary password</a:t>
                      </a:r>
                    </a:p>
                  </a:txBody>
                  <a:tcPr marL="54864" marR="54864" marT="27432" marB="27432">
                    <a:solidFill>
                      <a:srgbClr val="FFFFFF"/>
                    </a:solidFill>
                  </a:tcPr>
                </a:tc>
                <a:tc>
                  <a:txBody>
                    <a:bodyPr/>
                    <a:lstStyle/>
                    <a:p>
                      <a:r>
                        <a:rPr sz="900" b="0">
                          <a:solidFill>
                            <a:srgbClr val="4B4B4B"/>
                          </a:solidFill>
                          <a:latin typeface="Arial"/>
                        </a:rPr>
                        <a:t>SCR-UA-01_wt-a-step-05.png</a:t>
                      </a:r>
                    </a:p>
                  </a:txBody>
                  <a:tcPr marL="54864" marR="54864" marT="27432" marB="27432">
                    <a:solidFill>
                      <a:srgbClr val="FFFFFF"/>
                    </a:solidFill>
                  </a:tcPr>
                </a:tc>
              </a:tr>
              <a:tr h="228600">
                <a:tc>
                  <a:txBody>
                    <a:bodyPr/>
                    <a:lstStyle/>
                    <a:p>
                      <a:r>
                        <a:rPr sz="900" b="0">
                          <a:solidFill>
                            <a:srgbClr val="4B4B4B"/>
                          </a:solidFill>
                          <a:latin typeface="Arial"/>
                        </a:rPr>
                        <a:t>Validation error</a:t>
                      </a:r>
                    </a:p>
                  </a:txBody>
                  <a:tcPr marL="54864" marR="54864" marT="27432" marB="27432">
                    <a:solidFill>
                      <a:srgbClr val="E5F5FF"/>
                    </a:solidFill>
                  </a:tcPr>
                </a:tc>
                <a:tc>
                  <a:txBody>
                    <a:bodyPr/>
                    <a:lstStyle/>
                    <a:p>
                      <a:r>
                        <a:rPr sz="900" b="0">
                          <a:solidFill>
                            <a:srgbClr val="4B4B4B"/>
                          </a:solidFill>
                          <a:latin typeface="Arial"/>
                        </a:rPr>
                        <a:t>WT-C step 8</a:t>
                      </a:r>
                    </a:p>
                  </a:txBody>
                  <a:tcPr marL="54864" marR="54864" marT="27432" marB="27432">
                    <a:solidFill>
                      <a:srgbClr val="E5F5FF"/>
                    </a:solidFill>
                  </a:tcPr>
                </a:tc>
                <a:tc>
                  <a:txBody>
                    <a:bodyPr/>
                    <a:lstStyle/>
                    <a:p>
                      <a:r>
                        <a:rPr sz="900" b="0">
                          <a:solidFill>
                            <a:srgbClr val="4B4B4B"/>
                          </a:solidFill>
                          <a:latin typeface="Arial"/>
                        </a:rPr>
                        <a:t>User a013000101 enters a wrong password three times, then the right one</a:t>
                      </a:r>
                    </a:p>
                  </a:txBody>
                  <a:tcPr marL="54864" marR="54864" marT="27432" marB="27432">
                    <a:solidFill>
                      <a:srgbClr val="E5F5FF"/>
                    </a:solidFill>
                  </a:tcPr>
                </a:tc>
                <a:tc>
                  <a:txBody>
                    <a:bodyPr/>
                    <a:lstStyle/>
                    <a:p>
                      <a:r>
                        <a:rPr sz="900" b="0">
                          <a:solidFill>
                            <a:srgbClr val="4B4B4B"/>
                          </a:solidFill>
                          <a:latin typeface="Arial"/>
                        </a:rPr>
                        <a:t>SCR-UA-01_wt-c-step-08.png</a:t>
                      </a:r>
                    </a:p>
                  </a:txBody>
                  <a:tcPr marL="54864" marR="54864" marT="27432" marB="27432">
                    <a:solidFill>
                      <a:srgbClr val="E5F5FF"/>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WT-C step 10</a:t>
                      </a:r>
                    </a:p>
                  </a:txBody>
                  <a:tcPr marL="54864" marR="54864" marT="27432" marB="27432">
                    <a:solidFill>
                      <a:srgbClr val="FFFFFF"/>
                    </a:solidFill>
                  </a:tcPr>
                </a:tc>
                <a:tc>
                  <a:txBody>
                    <a:bodyPr/>
                    <a:lstStyle/>
                    <a:p>
                      <a:r>
                        <a:rPr sz="900" b="0">
                          <a:solidFill>
                            <a:srgbClr val="4B4B4B"/>
                          </a:solidFill>
                          <a:latin typeface="Arial"/>
                        </a:rPr>
                        <a:t>The deactivated user a013000196 tries to sign in</a:t>
                      </a:r>
                    </a:p>
                  </a:txBody>
                  <a:tcPr marL="54864" marR="54864" marT="27432" marB="27432">
                    <a:solidFill>
                      <a:srgbClr val="FFFFFF"/>
                    </a:solidFill>
                  </a:tcPr>
                </a:tc>
                <a:tc>
                  <a:txBody>
                    <a:bodyPr/>
                    <a:lstStyle/>
                    <a:p>
                      <a:r>
                        <a:rPr sz="900" b="0">
                          <a:solidFill>
                            <a:srgbClr val="4B4B4B"/>
                          </a:solidFill>
                          <a:latin typeface="Arial"/>
                        </a:rPr>
                        <a:t>SCR-UA-01_wt-c-step-10.png</a:t>
                      </a:r>
                    </a:p>
                  </a:txBody>
                  <a:tcPr marL="54864" marR="54864" marT="27432" marB="27432">
                    <a:solidFill>
                      <a:srgbClr val="FFFFFF"/>
                    </a:solidFill>
                  </a:tcPr>
                </a:tc>
              </a:tr>
            </a:tbl>
          </a:graphicData>
        </a:graphic>
      </p:graphicFrame>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SCR-UA-01 Login: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125</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cr-ua-01-01-empty.png"/>
          <p:cNvPicPr>
            <a:picLocks noChangeAspect="1"/>
          </p:cNvPicPr>
          <p:nvPr/>
        </p:nvPicPr>
        <p:blipFill>
          <a:blip r:embed="rId3"/>
          <a:stretch>
            <a:fillRect/>
          </a:stretch>
        </p:blipFill>
        <p:spPr>
          <a:xfrm>
            <a:off x="3282349" y="1261872"/>
            <a:ext cx="5626997"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Login page</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SCR-UA-01 Login: Validation error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063.png"/>
          <p:cNvPicPr>
            <a:picLocks noChangeAspect="1"/>
          </p:cNvPicPr>
          <p:nvPr/>
        </p:nvPicPr>
        <p:blipFill>
          <a:blip r:embed="rId3"/>
          <a:stretch>
            <a:fillRect/>
          </a:stretch>
        </p:blipFill>
        <p:spPr>
          <a:xfrm>
            <a:off x="2300611" y="1261872"/>
            <a:ext cx="7590472" cy="408622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Login refused with a wrong password (part 1 of 2)</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SCR-UA-01 Login: Validation error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127</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064.png"/>
          <p:cNvPicPr>
            <a:picLocks noChangeAspect="1"/>
          </p:cNvPicPr>
          <p:nvPr/>
        </p:nvPicPr>
        <p:blipFill>
          <a:blip r:embed="rId3"/>
          <a:stretch>
            <a:fillRect/>
          </a:stretch>
        </p:blipFill>
        <p:spPr>
          <a:xfrm>
            <a:off x="2300611" y="1261872"/>
            <a:ext cx="7590472" cy="307086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Login refused with a wrong password (part 2 of 2)</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SCR-UA-01 Login: Read-only or locked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128</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065.png"/>
          <p:cNvPicPr>
            <a:picLocks noChangeAspect="1"/>
          </p:cNvPicPr>
          <p:nvPr/>
        </p:nvPicPr>
        <p:blipFill>
          <a:blip r:embed="rId3"/>
          <a:stretch>
            <a:fillRect/>
          </a:stretch>
        </p:blipFill>
        <p:spPr>
          <a:xfrm>
            <a:off x="2300611" y="1261872"/>
            <a:ext cx="7590472" cy="408622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Login refused for a locked account (part 1 of 2)</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SCR-UA-01 Login: Read-only or locked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129</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066.png"/>
          <p:cNvPicPr>
            <a:picLocks noChangeAspect="1"/>
          </p:cNvPicPr>
          <p:nvPr/>
        </p:nvPicPr>
        <p:blipFill>
          <a:blip r:embed="rId3"/>
          <a:stretch>
            <a:fillRect/>
          </a:stretch>
        </p:blipFill>
        <p:spPr>
          <a:xfrm>
            <a:off x="2300611" y="1261872"/>
            <a:ext cx="7590472" cy="307086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Login refused for a locked account (part 2 of 2)</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SCR-UA-02 Forgot Password and Set a New Password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130</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graphicFrame>
        <p:nvGraphicFramePr>
          <p:cNvPr id="10" name="Table 9"/>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Sign-in, password and session</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Self-service reset of a forgotten password (local sign-in). On Forgot Password the user enters the user ID; BIBS e-mails a single-use link, valid for 30 minutes, to the address registered for the user. The link opens Set a New Password, where the user chooses the new password under the password rules.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Every user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Before sign-in: Login › Forgot password?, and the e-mailed link</a:t>
                      </a:r>
                    </a:p>
                    <a:p>
                      <a:r>
                        <a:rPr sz="950" b="0">
                          <a:solidFill>
                            <a:srgbClr val="4B4B4B"/>
                          </a:solidFill>
                          <a:latin typeface="Arial"/>
                        </a:rPr>
                        <a:t>Login › Forgot password?</a:t>
                      </a:r>
                    </a:p>
                    <a:p>
                      <a:r>
                        <a:rPr sz="950" b="0">
                          <a:solidFill>
                            <a:srgbClr val="4B4B4B"/>
                          </a:solidFill>
                          <a:latin typeface="Arial"/>
                        </a:rPr>
                        <a:t>The link in the e-mail BrokerVerse: reset your password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FR-UA-005</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A user who forgot the password sets a new one without the help desk, through a link that only the owner of the registered mailbox receives.</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131</a:t>
            </a:r>
          </a:p>
        </p:txBody>
      </p:sp>
      <p:graphicFrame>
        <p:nvGraphicFramePr>
          <p:cNvPr id="9" name="Table 8"/>
          <p:cNvGraphicFramePr>
            <a:graphicFrameLocks noGrp="1"/>
          </p:cNvGraphicFramePr>
          <p:nvPr/>
        </p:nvGraphicFramePr>
        <p:xfrm>
          <a:off x="548640" y="1325880"/>
          <a:ext cx="11094411" cy="162305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Forgot Password</a:t>
                      </a:r>
                    </a:p>
                  </a:txBody>
                  <a:tcPr marL="54864" marR="54864" marT="27432" marB="27432">
                    <a:solidFill>
                      <a:srgbClr val="FFFFFF"/>
                    </a:solidFill>
                  </a:tcPr>
                </a:tc>
                <a:tc>
                  <a:txBody>
                    <a:bodyPr/>
                    <a:lstStyle/>
                    <a:p>
                      <a:r>
                        <a:rPr sz="850" b="0">
                          <a:solidFill>
                            <a:srgbClr val="4B4B4B"/>
                          </a:solidFill>
                          <a:latin typeface="Arial"/>
                        </a:rPr>
                        <a:t>User ID</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BIBS user ID</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Required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Set a New Password</a:t>
                      </a:r>
                    </a:p>
                  </a:txBody>
                  <a:tcPr marL="54864" marR="54864" marT="27432" marB="27432">
                    <a:solidFill>
                      <a:srgbClr val="E5F5FF"/>
                    </a:solidFill>
                  </a:tcPr>
                </a:tc>
                <a:tc>
                  <a:txBody>
                    <a:bodyPr/>
                    <a:lstStyle/>
                    <a:p>
                      <a:r>
                        <a:rPr sz="850" b="0">
                          <a:solidFill>
                            <a:srgbClr val="4B4B4B"/>
                          </a:solidFill>
                          <a:latin typeface="Arial"/>
                        </a:rPr>
                        <a:t>New password</a:t>
                      </a:r>
                    </a:p>
                  </a:txBody>
                  <a:tcPr marL="54864" marR="54864" marT="27432" marB="27432">
                    <a:solidFill>
                      <a:srgbClr val="E5F5FF"/>
                    </a:solidFill>
                  </a:tcPr>
                </a:tc>
                <a:tc>
                  <a:txBody>
                    <a:bodyPr/>
                    <a:lstStyle/>
                    <a:p>
                      <a:r>
                        <a:rPr sz="850" b="0">
                          <a:solidFill>
                            <a:srgbClr val="4B4B4B"/>
                          </a:solidFill>
                          <a:latin typeface="Arial"/>
                        </a:rPr>
                        <a:t>Password</a:t>
                      </a:r>
                    </a:p>
                  </a:txBody>
                  <a:tcPr marL="54864" marR="54864" marT="27432" marB="27432">
                    <a:solidFill>
                      <a:srgbClr val="E5F5FF"/>
                    </a:solidFill>
                  </a:tcPr>
                </a:tc>
                <a:tc>
                  <a:txBody>
                    <a:bodyPr/>
                    <a:lstStyle/>
                    <a:p>
                      <a:r>
                        <a:rPr sz="850" b="0">
                          <a:solidFill>
                            <a:srgbClr val="4B4B4B"/>
                          </a:solidFill>
                          <a:latin typeface="Arial"/>
                        </a:rPr>
                        <a:t>At least 10 characters with an upper-case letter, a lower-case letter, a digit and a symbol</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Checked as the user types; not one of the last 8 passwords</a:t>
                      </a:r>
                    </a:p>
                  </a:txBody>
                  <a:tcPr marL="54864" marR="54864" marT="27432" marB="27432">
                    <a:solidFill>
                      <a:srgbClr val="E5F5FF"/>
                    </a:solidFill>
                  </a:tcPr>
                </a:tc>
                <a:tc>
                  <a:txBody>
                    <a:bodyPr/>
                    <a:lstStyle/>
                    <a:p>
                      <a:r>
                        <a:rPr sz="850" b="0">
                          <a:solidFill>
                            <a:srgbClr val="4B4B4B"/>
                          </a:solidFill>
                          <a:latin typeface="Arial"/>
                        </a:rPr>
                        <a:t>You used this password recently. Choose another one</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Set a New Password</a:t>
                      </a:r>
                    </a:p>
                  </a:txBody>
                  <a:tcPr marL="54864" marR="54864" marT="27432" marB="27432">
                    <a:solidFill>
                      <a:srgbClr val="FFFFFF"/>
                    </a:solidFill>
                  </a:tcPr>
                </a:tc>
                <a:tc>
                  <a:txBody>
                    <a:bodyPr/>
                    <a:lstStyle/>
                    <a:p>
                      <a:r>
                        <a:rPr sz="850" b="0">
                          <a:solidFill>
                            <a:srgbClr val="4B4B4B"/>
                          </a:solidFill>
                          <a:latin typeface="Arial"/>
                        </a:rPr>
                        <a:t>Confirm new password</a:t>
                      </a:r>
                    </a:p>
                  </a:txBody>
                  <a:tcPr marL="54864" marR="54864" marT="27432" marB="27432">
                    <a:solidFill>
                      <a:srgbClr val="FFFFFF"/>
                    </a:solidFill>
                  </a:tcPr>
                </a:tc>
                <a:tc>
                  <a:txBody>
                    <a:bodyPr/>
                    <a:lstStyle/>
                    <a:p>
                      <a:r>
                        <a:rPr sz="850" b="0">
                          <a:solidFill>
                            <a:srgbClr val="4B4B4B"/>
                          </a:solidFill>
                          <a:latin typeface="Arial"/>
                        </a:rPr>
                        <a:t>Password</a:t>
                      </a:r>
                    </a:p>
                  </a:txBody>
                  <a:tcPr marL="54864" marR="54864" marT="27432" marB="27432">
                    <a:solidFill>
                      <a:srgbClr val="FFFFFF"/>
                    </a:solidFill>
                  </a:tcPr>
                </a:tc>
                <a:tc>
                  <a:txBody>
                    <a:bodyPr/>
                    <a:lstStyle/>
                    <a:p>
                      <a:r>
                        <a:rPr sz="850" b="0">
                          <a:solidFill>
                            <a:srgbClr val="4B4B4B"/>
                          </a:solidFill>
                          <a:latin typeface="Arial"/>
                        </a:rPr>
                        <a:t>Same as New password</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Both new passwords must match</a:t>
                      </a:r>
                    </a:p>
                  </a:txBody>
                  <a:tcPr marL="54864" marR="54864" marT="27432" marB="27432">
                    <a:solidFill>
                      <a:srgbClr val="FFFFFF"/>
                    </a:solidFill>
                  </a:tcPr>
                </a:tc>
                <a:tc>
                  <a:txBody>
                    <a:bodyPr/>
                    <a:lstStyle/>
                    <a:p>
                      <a:r>
                        <a:rPr sz="850" b="0">
                          <a:solidFill>
                            <a:srgbClr val="4B4B4B"/>
                          </a:solidFill>
                          <a:latin typeface="Arial"/>
                        </a:rPr>
                        <a:t>Both new passwords must match</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Set a New Password</a:t>
                      </a:r>
                    </a:p>
                  </a:txBody>
                  <a:tcPr marL="54864" marR="54864" marT="27432" marB="27432">
                    <a:solidFill>
                      <a:srgbClr val="E5F5FF"/>
                    </a:solidFill>
                  </a:tcPr>
                </a:tc>
                <a:tc>
                  <a:txBody>
                    <a:bodyPr/>
                    <a:lstStyle/>
                    <a:p>
                      <a:r>
                        <a:rPr sz="850" b="0">
                          <a:solidFill>
                            <a:srgbClr val="4B4B4B"/>
                          </a:solidFill>
                          <a:latin typeface="Arial"/>
                        </a:rPr>
                        <a:t>Still needed</a:t>
                      </a:r>
                    </a:p>
                  </a:txBody>
                  <a:tcPr marL="54864" marR="54864" marT="27432" marB="27432">
                    <a:solidFill>
                      <a:srgbClr val="E5F5FF"/>
                    </a:solidFill>
                  </a:tcPr>
                </a:tc>
                <a:tc>
                  <a:txBody>
                    <a:bodyPr/>
                    <a:lstStyle/>
                    <a:p>
                      <a:r>
                        <a:rPr sz="850" b="0">
                          <a:solidFill>
                            <a:srgbClr val="4B4B4B"/>
                          </a:solidFill>
                          <a:latin typeface="Arial"/>
                        </a:rPr>
                        <a:t>Checklist</a:t>
                      </a:r>
                    </a:p>
                  </a:txBody>
                  <a:tcPr marL="54864" marR="54864" marT="27432" marB="27432">
                    <a:solidFill>
                      <a:srgbClr val="E5F5FF"/>
                    </a:solidFill>
                  </a:tcPr>
                </a:tc>
                <a:tc>
                  <a:txBody>
                    <a:bodyPr/>
                    <a:lstStyle/>
                    <a:p>
                      <a:r>
                        <a:rPr sz="850" b="0">
                          <a:solidFill>
                            <a:srgbClr val="4B4B4B"/>
                          </a:solidFill>
                          <a:latin typeface="Arial"/>
                        </a:rPr>
                        <a:t>At least 10 characters; An upper-case letter; A lower-case letter; A digit; A symbol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Shown until every rule is met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132</a:t>
            </a:r>
          </a:p>
        </p:txBody>
      </p:sp>
      <p:graphicFrame>
        <p:nvGraphicFramePr>
          <p:cNvPr id="9" name="Table 8"/>
          <p:cNvGraphicFramePr>
            <a:graphicFrameLocks noGrp="1"/>
          </p:cNvGraphicFramePr>
          <p:nvPr/>
        </p:nvGraphicFramePr>
        <p:xfrm>
          <a:off x="548640" y="1325880"/>
          <a:ext cx="11094412" cy="127253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Send Reset Link</a:t>
                      </a:r>
                    </a:p>
                  </a:txBody>
                  <a:tcPr marL="54864" marR="54864" marT="27432" marB="27432">
                    <a:solidFill>
                      <a:srgbClr val="FFFFFF"/>
                    </a:solidFill>
                  </a:tcPr>
                </a:tc>
                <a:tc>
                  <a:txBody>
                    <a:bodyPr/>
                    <a:lstStyle/>
                    <a:p>
                      <a:r>
                        <a:rPr sz="850" b="0">
                          <a:solidFill>
                            <a:srgbClr val="4B4B4B"/>
                          </a:solidFill>
                          <a:latin typeface="Arial"/>
                        </a:rPr>
                        <a:t>Every user</a:t>
                      </a:r>
                    </a:p>
                  </a:txBody>
                  <a:tcPr marL="54864" marR="54864" marT="27432" marB="27432">
                    <a:solidFill>
                      <a:srgbClr val="FFFFFF"/>
                    </a:solidFill>
                  </a:tcPr>
                </a:tc>
                <a:tc>
                  <a:txBody>
                    <a:bodyPr/>
                    <a:lstStyle/>
                    <a:p>
                      <a:r>
                        <a:rPr sz="850" b="0">
                          <a:solidFill>
                            <a:srgbClr val="4B4B4B"/>
                          </a:solidFill>
                          <a:latin typeface="Arial"/>
                        </a:rPr>
                        <a:t>User ID entered</a:t>
                      </a:r>
                    </a:p>
                  </a:txBody>
                  <a:tcPr marL="54864" marR="54864" marT="27432" marB="27432">
                    <a:solidFill>
                      <a:srgbClr val="FFFFFF"/>
                    </a:solidFill>
                  </a:tcPr>
                </a:tc>
                <a:tc>
                  <a:txBody>
                    <a:bodyPr/>
                    <a:lstStyle/>
                    <a:p>
                      <a:r>
                        <a:rPr sz="850" b="0">
                          <a:solidFill>
                            <a:srgbClr val="4B4B4B"/>
                          </a:solidFill>
                          <a:latin typeface="Arial"/>
                        </a:rPr>
                        <a:t>Withdraws the older links of the user and e-mails a new single-use link to the registered address; the same confirmation is shown for every user ID, so the page never reveals whether a user exists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E-mail BrokerVerse: reset your password</a:t>
                      </a:r>
                    </a:p>
                  </a:txBody>
                  <a:tcPr marL="54864" marR="54864" marT="27432" marB="27432">
                    <a:solidFill>
                      <a:srgbClr val="FFFFFF"/>
                    </a:solidFill>
                  </a:tcPr>
                </a:tc>
              </a:tr>
              <a:tr h="220979">
                <a:tc>
                  <a:txBody>
                    <a:bodyPr/>
                    <a:lstStyle/>
                    <a:p>
                      <a:r>
                        <a:rPr sz="850" b="0">
                          <a:solidFill>
                            <a:srgbClr val="4B4B4B"/>
                          </a:solidFill>
                          <a:latin typeface="Arial"/>
                        </a:rPr>
                        <a:t>Back to Login</a:t>
                      </a:r>
                    </a:p>
                  </a:txBody>
                  <a:tcPr marL="54864" marR="54864" marT="27432" marB="27432">
                    <a:solidFill>
                      <a:srgbClr val="E5F5FF"/>
                    </a:solidFill>
                  </a:tcPr>
                </a:tc>
                <a:tc>
                  <a:txBody>
                    <a:bodyPr/>
                    <a:lstStyle/>
                    <a:p>
                      <a:r>
                        <a:rPr sz="850" b="0">
                          <a:solidFill>
                            <a:srgbClr val="4B4B4B"/>
                          </a:solidFill>
                          <a:latin typeface="Arial"/>
                        </a:rPr>
                        <a:t>Every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Returns to the Login page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Set Password</a:t>
                      </a:r>
                    </a:p>
                  </a:txBody>
                  <a:tcPr marL="54864" marR="54864" marT="27432" marB="27432">
                    <a:solidFill>
                      <a:srgbClr val="FFFFFF"/>
                    </a:solidFill>
                  </a:tcPr>
                </a:tc>
                <a:tc>
                  <a:txBody>
                    <a:bodyPr/>
                    <a:lstStyle/>
                    <a:p>
                      <a:r>
                        <a:rPr sz="850" b="0">
                          <a:solidFill>
                            <a:srgbClr val="4B4B4B"/>
                          </a:solidFill>
                          <a:latin typeface="Arial"/>
                        </a:rPr>
                        <a:t>Holder of a valid link</a:t>
                      </a:r>
                    </a:p>
                  </a:txBody>
                  <a:tcPr marL="54864" marR="54864" marT="27432" marB="27432">
                    <a:solidFill>
                      <a:srgbClr val="FFFFFF"/>
                    </a:solidFill>
                  </a:tcPr>
                </a:tc>
                <a:tc>
                  <a:txBody>
                    <a:bodyPr/>
                    <a:lstStyle/>
                    <a:p>
                      <a:r>
                        <a:rPr sz="850" b="0">
                          <a:solidFill>
                            <a:srgbClr val="4B4B4B"/>
                          </a:solidFill>
                          <a:latin typeface="Arial"/>
                        </a:rPr>
                        <a:t>New password meets the rules and is confirmed</a:t>
                      </a:r>
                    </a:p>
                  </a:txBody>
                  <a:tcPr marL="54864" marR="54864" marT="27432" marB="27432">
                    <a:solidFill>
                      <a:srgbClr val="FFFFFF"/>
                    </a:solidFill>
                  </a:tcPr>
                </a:tc>
                <a:tc>
                  <a:txBody>
                    <a:bodyPr/>
                    <a:lstStyle/>
                    <a:p>
                      <a:r>
                        <a:rPr sz="850" b="0">
                          <a:solidFill>
                            <a:srgbClr val="4B4B4B"/>
                          </a:solidFill>
                          <a:latin typeface="Arial"/>
                        </a:rPr>
                        <a:t>Sets the password, marks the link used and confirms: Your password was changed. Sign in with the new password.</a:t>
                      </a:r>
                    </a:p>
                  </a:txBody>
                  <a:tcPr marL="54864" marR="54864" marT="27432" marB="27432">
                    <a:solidFill>
                      <a:srgbClr val="FFFFFF"/>
                    </a:solidFill>
                  </a:tcPr>
                </a:tc>
                <a:tc>
                  <a:txBody>
                    <a:bodyPr/>
                    <a:lstStyle/>
                    <a:p>
                      <a:r>
                        <a:rPr sz="850" b="0">
                          <a:solidFill>
                            <a:srgbClr val="4B4B4B"/>
                          </a:solidFill>
                          <a:latin typeface="Arial"/>
                        </a:rPr>
                        <a:t>Password 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133</a:t>
            </a:r>
          </a:p>
        </p:txBody>
      </p:sp>
      <p:graphicFrame>
        <p:nvGraphicFramePr>
          <p:cNvPr id="9" name="Table 8"/>
          <p:cNvGraphicFramePr>
            <a:graphicFrameLocks noGrp="1"/>
          </p:cNvGraphicFramePr>
          <p:nvPr/>
        </p:nvGraphicFramePr>
        <p:xfrm>
          <a:off x="548640" y="1325880"/>
          <a:ext cx="11094415" cy="11277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link works once and expires 30 minutes after it was sent; an older link of the same user stops working when a new one is requested (FR-UA-005).</a:t>
                      </a:r>
                    </a:p>
                  </a:txBody>
                  <a:tcPr marL="54864" marR="54864" marT="27432" marB="27432">
                    <a:solidFill>
                      <a:srgbClr val="FFFFFF"/>
                    </a:solidFill>
                  </a:tcPr>
                </a:tc>
              </a:tr>
              <a:tr h="243840">
                <a:tc>
                  <a:txBody>
                    <a:bodyPr/>
                    <a:lstStyle/>
                    <a:p>
                      <a:r>
                        <a:rPr sz="1000" b="0">
                          <a:solidFill>
                            <a:srgbClr val="4B4B4B"/>
                          </a:solidFill>
                          <a:latin typeface="Arial"/>
                        </a:rPr>
                        <a:t>The link is sent only to an active user with an e-mail address, in local sign-in mode; a reset link does not unlock a locked account (FR-UA-005).</a:t>
                      </a:r>
                    </a:p>
                  </a:txBody>
                  <a:tcPr marL="54864" marR="54864" marT="27432" marB="27432">
                    <a:solidFill>
                      <a:srgbClr val="E5F5FF"/>
                    </a:solidFill>
                  </a:tcPr>
                </a:tc>
              </a:tr>
              <a:tr h="396240">
                <a:tc>
                  <a:txBody>
                    <a:bodyPr/>
                    <a:lstStyle/>
                    <a:p>
                      <a:r>
                        <a:rPr sz="1000" b="0">
                          <a:solidFill>
                            <a:srgbClr val="4B4B4B"/>
                          </a:solidFill>
                          <a:latin typeface="Arial"/>
                        </a:rPr>
                        <a:t>The new password follows the password rules: at least 10 characters with upper and lower case, a digit and a symbol, and none of the last 8 passwords (parameter PASSWORD_HISTORY_COUNT) (FR-UA-005).</a:t>
                      </a:r>
                    </a:p>
                  </a:txBody>
                  <a:tcPr marL="54864" marR="54864" marT="27432" marB="27432">
                    <a:solidFill>
                      <a:srgbClr val="FFFFFF"/>
                    </a:solidFill>
                  </a:tcPr>
                </a:tc>
              </a:tr>
            </a:tbl>
          </a:graphicData>
        </a:graphic>
      </p:graphicFrame>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SCR-UA-02 Forgot Password and Set a New Password: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067.png"/>
          <p:cNvPicPr>
            <a:picLocks noChangeAspect="1"/>
          </p:cNvPicPr>
          <p:nvPr/>
        </p:nvPicPr>
        <p:blipFill>
          <a:blip r:embed="rId3"/>
          <a:stretch>
            <a:fillRect/>
          </a:stretch>
        </p:blipFill>
        <p:spPr>
          <a:xfrm>
            <a:off x="2300611" y="1261872"/>
            <a:ext cx="7590472" cy="3850957"/>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Set a New Password opened from the e-mailed link (part 1 of 2)</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SCR-UA-02 Forgot Password and Set a New Password: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135</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068.png"/>
          <p:cNvPicPr>
            <a:picLocks noChangeAspect="1"/>
          </p:cNvPicPr>
          <p:nvPr/>
        </p:nvPicPr>
        <p:blipFill>
          <a:blip r:embed="rId3"/>
          <a:stretch>
            <a:fillRect/>
          </a:stretch>
        </p:blipFill>
        <p:spPr>
          <a:xfrm>
            <a:off x="2300611" y="1261872"/>
            <a:ext cx="7590472" cy="318230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Set a New Password opened from the e-mailed link (part 2 of 2)</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SCR-UA-02 Forgot Password and Set a New Password: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cr-ua-02-01-request.png"/>
          <p:cNvPicPr>
            <a:picLocks noChangeAspect="1"/>
          </p:cNvPicPr>
          <p:nvPr/>
        </p:nvPicPr>
        <p:blipFill>
          <a:blip r:embed="rId3"/>
          <a:stretch>
            <a:fillRect/>
          </a:stretch>
        </p:blipFill>
        <p:spPr>
          <a:xfrm>
            <a:off x="3260368" y="1261872"/>
            <a:ext cx="5670958"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Forgot Password with the user ID entered</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SCR-UA-02 Forgot Password and Set a New Password: Success message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137</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slice-00069.png"/>
          <p:cNvPicPr>
            <a:picLocks noChangeAspect="1"/>
          </p:cNvPicPr>
          <p:nvPr/>
        </p:nvPicPr>
        <p:blipFill>
          <a:blip r:embed="rId3"/>
          <a:stretch>
            <a:fillRect/>
          </a:stretch>
        </p:blipFill>
        <p:spPr>
          <a:xfrm>
            <a:off x="2300611" y="1261872"/>
            <a:ext cx="7590472" cy="4692967"/>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Confirmation on the Login page after the request (part 1 of 2)</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SCR-UA-02 Forgot Password and Set a New Password: Success message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138</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slice-00070.png"/>
          <p:cNvPicPr>
            <a:picLocks noChangeAspect="1"/>
          </p:cNvPicPr>
          <p:nvPr/>
        </p:nvPicPr>
        <p:blipFill>
          <a:blip r:embed="rId3"/>
          <a:stretch>
            <a:fillRect/>
          </a:stretch>
        </p:blipFill>
        <p:spPr>
          <a:xfrm>
            <a:off x="2300611" y="1261872"/>
            <a:ext cx="7590472" cy="2711767"/>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Confirmation on the Login page after the request (part 2 of 2)</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SCR-UA-03 Change Your Password (forced change)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139</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graphicFrame>
        <p:nvGraphicFramePr>
          <p:cNvPr id="10" name="Table 9"/>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Sign-in, password and session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Shown after sign-in, instead of the home page, while the password must be changed: after the account was created or the password reset by an administrator, and when the password is older than the maximum age. The user chooses a new password or signs out.</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Requestor, Approver, Second Approver, Business Administrator, System Administrator, Auditor, Information Security Officer, New Business Approver (keeps the access approval right)</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Shown after Login, before the home page</a:t>
                      </a:r>
                    </a:p>
                    <a:p>
                      <a:r>
                        <a:rPr sz="950" b="0">
                          <a:solidFill>
                            <a:srgbClr val="4B4B4B"/>
                          </a:solidFill>
                          <a:latin typeface="Arial"/>
                        </a:rPr>
                        <a:t>Login, for a user whose password was set by an administrator or has expired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FR-UA-005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No user works with a password that an administrator knows or that has expired.</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140</a:t>
            </a:r>
          </a:p>
        </p:txBody>
      </p:sp>
      <p:graphicFrame>
        <p:nvGraphicFramePr>
          <p:cNvPr id="9" name="Table 8"/>
          <p:cNvGraphicFramePr>
            <a:graphicFrameLocks noGrp="1"/>
          </p:cNvGraphicFramePr>
          <p:nvPr/>
        </p:nvGraphicFramePr>
        <p:xfrm>
          <a:off x="548640" y="1325880"/>
          <a:ext cx="11094411" cy="236218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739135">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Change Your Password</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Your password was set by an administrator. Choose your own password to continue. / Your password is older than 90 days and has expired. Choose a new password to continue.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Change Your Password</a:t>
                      </a:r>
                    </a:p>
                  </a:txBody>
                  <a:tcPr marL="54864" marR="54864" marT="27432" marB="27432">
                    <a:solidFill>
                      <a:srgbClr val="E5F5FF"/>
                    </a:solidFill>
                  </a:tcPr>
                </a:tc>
                <a:tc>
                  <a:txBody>
                    <a:bodyPr/>
                    <a:lstStyle/>
                    <a:p>
                      <a:r>
                        <a:rPr sz="850" b="0">
                          <a:solidFill>
                            <a:srgbClr val="4B4B4B"/>
                          </a:solidFill>
                          <a:latin typeface="Arial"/>
                        </a:rPr>
                        <a:t>Current password</a:t>
                      </a:r>
                    </a:p>
                  </a:txBody>
                  <a:tcPr marL="54864" marR="54864" marT="27432" marB="27432">
                    <a:solidFill>
                      <a:srgbClr val="E5F5FF"/>
                    </a:solidFill>
                  </a:tcPr>
                </a:tc>
                <a:tc>
                  <a:txBody>
                    <a:bodyPr/>
                    <a:lstStyle/>
                    <a:p>
                      <a:r>
                        <a:rPr sz="850" b="0">
                          <a:solidFill>
                            <a:srgbClr val="4B4B4B"/>
                          </a:solidFill>
                          <a:latin typeface="Arial"/>
                        </a:rPr>
                        <a:t>Password</a:t>
                      </a:r>
                    </a:p>
                  </a:txBody>
                  <a:tcPr marL="54864" marR="54864" marT="27432" marB="27432">
                    <a:solidFill>
                      <a:srgbClr val="E5F5FF"/>
                    </a:solidFill>
                  </a:tcPr>
                </a:tc>
                <a:tc>
                  <a:txBody>
                    <a:bodyPr/>
                    <a:lstStyle/>
                    <a:p>
                      <a:r>
                        <a:rPr sz="850" b="0">
                          <a:solidFill>
                            <a:srgbClr val="4B4B4B"/>
                          </a:solidFill>
                          <a:latin typeface="Arial"/>
                        </a:rPr>
                        <a:t>Masked</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Must be the current password</a:t>
                      </a:r>
                    </a:p>
                  </a:txBody>
                  <a:tcPr marL="54864" marR="54864" marT="27432" marB="27432">
                    <a:solidFill>
                      <a:srgbClr val="E5F5FF"/>
                    </a:solidFill>
                  </a:tcPr>
                </a:tc>
                <a:tc>
                  <a:txBody>
                    <a:bodyPr/>
                    <a:lstStyle/>
                    <a:p>
                      <a:r>
                        <a:rPr sz="850" b="0">
                          <a:solidFill>
                            <a:srgbClr val="4B4B4B"/>
                          </a:solidFill>
                          <a:latin typeface="Arial"/>
                        </a:rPr>
                        <a:t>Current password is incorrect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Change Your Password</a:t>
                      </a:r>
                    </a:p>
                  </a:txBody>
                  <a:tcPr marL="54864" marR="54864" marT="27432" marB="27432">
                    <a:solidFill>
                      <a:srgbClr val="FFFFFF"/>
                    </a:solidFill>
                  </a:tcPr>
                </a:tc>
                <a:tc>
                  <a:txBody>
                    <a:bodyPr/>
                    <a:lstStyle/>
                    <a:p>
                      <a:r>
                        <a:rPr sz="850" b="0">
                          <a:solidFill>
                            <a:srgbClr val="4B4B4B"/>
                          </a:solidFill>
                          <a:latin typeface="Arial"/>
                        </a:rPr>
                        <a:t>New password</a:t>
                      </a:r>
                    </a:p>
                  </a:txBody>
                  <a:tcPr marL="54864" marR="54864" marT="27432" marB="27432">
                    <a:solidFill>
                      <a:srgbClr val="FFFFFF"/>
                    </a:solidFill>
                  </a:tcPr>
                </a:tc>
                <a:tc>
                  <a:txBody>
                    <a:bodyPr/>
                    <a:lstStyle/>
                    <a:p>
                      <a:r>
                        <a:rPr sz="850" b="0">
                          <a:solidFill>
                            <a:srgbClr val="4B4B4B"/>
                          </a:solidFill>
                          <a:latin typeface="Arial"/>
                        </a:rPr>
                        <a:t>Password</a:t>
                      </a:r>
                    </a:p>
                  </a:txBody>
                  <a:tcPr marL="54864" marR="54864" marT="27432" marB="27432">
                    <a:solidFill>
                      <a:srgbClr val="FFFFFF"/>
                    </a:solidFill>
                  </a:tcPr>
                </a:tc>
                <a:tc>
                  <a:txBody>
                    <a:bodyPr/>
                    <a:lstStyle/>
                    <a:p>
                      <a:r>
                        <a:rPr sz="850" b="0">
                          <a:solidFill>
                            <a:srgbClr val="4B4B4B"/>
                          </a:solidFill>
                          <a:latin typeface="Arial"/>
                        </a:rPr>
                        <a:t>At least 10 characters with an upper-case letter, a lower-case letter, a digit and a symbol</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Rules checked as the user types; not one of the last 8 passwords</a:t>
                      </a:r>
                    </a:p>
                  </a:txBody>
                  <a:tcPr marL="54864" marR="54864" marT="27432" marB="27432">
                    <a:solidFill>
                      <a:srgbClr val="FFFFFF"/>
                    </a:solidFill>
                  </a:tcPr>
                </a:tc>
                <a:tc>
                  <a:txBody>
                    <a:bodyPr/>
                    <a:lstStyle/>
                    <a:p>
                      <a:r>
                        <a:rPr sz="850" b="0">
                          <a:solidFill>
                            <a:srgbClr val="4B4B4B"/>
                          </a:solidFill>
                          <a:latin typeface="Arial"/>
                        </a:rPr>
                        <a:t>You used this password recently. Choose another one</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Change Your Password</a:t>
                      </a:r>
                    </a:p>
                  </a:txBody>
                  <a:tcPr marL="54864" marR="54864" marT="27432" marB="27432">
                    <a:solidFill>
                      <a:srgbClr val="E5F5FF"/>
                    </a:solidFill>
                  </a:tcPr>
                </a:tc>
                <a:tc>
                  <a:txBody>
                    <a:bodyPr/>
                    <a:lstStyle/>
                    <a:p>
                      <a:r>
                        <a:rPr sz="850" b="0">
                          <a:solidFill>
                            <a:srgbClr val="4B4B4B"/>
                          </a:solidFill>
                          <a:latin typeface="Arial"/>
                        </a:rPr>
                        <a:t>Confirm new password</a:t>
                      </a:r>
                    </a:p>
                  </a:txBody>
                  <a:tcPr marL="54864" marR="54864" marT="27432" marB="27432">
                    <a:solidFill>
                      <a:srgbClr val="E5F5FF"/>
                    </a:solidFill>
                  </a:tcPr>
                </a:tc>
                <a:tc>
                  <a:txBody>
                    <a:bodyPr/>
                    <a:lstStyle/>
                    <a:p>
                      <a:r>
                        <a:rPr sz="850" b="0">
                          <a:solidFill>
                            <a:srgbClr val="4B4B4B"/>
                          </a:solidFill>
                          <a:latin typeface="Arial"/>
                        </a:rPr>
                        <a:t>Password</a:t>
                      </a:r>
                    </a:p>
                  </a:txBody>
                  <a:tcPr marL="54864" marR="54864" marT="27432" marB="27432">
                    <a:solidFill>
                      <a:srgbClr val="E5F5FF"/>
                    </a:solidFill>
                  </a:tcPr>
                </a:tc>
                <a:tc>
                  <a:txBody>
                    <a:bodyPr/>
                    <a:lstStyle/>
                    <a:p>
                      <a:r>
                        <a:rPr sz="850" b="0">
                          <a:solidFill>
                            <a:srgbClr val="4B4B4B"/>
                          </a:solidFill>
                          <a:latin typeface="Arial"/>
                        </a:rPr>
                        <a:t>Same as New password</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Both new passwords must match</a:t>
                      </a:r>
                    </a:p>
                  </a:txBody>
                  <a:tcPr marL="54864" marR="54864" marT="27432" marB="27432">
                    <a:solidFill>
                      <a:srgbClr val="E5F5FF"/>
                    </a:solidFill>
                  </a:tcPr>
                </a:tc>
                <a:tc>
                  <a:txBody>
                    <a:bodyPr/>
                    <a:lstStyle/>
                    <a:p>
                      <a:r>
                        <a:rPr sz="850" b="0">
                          <a:solidFill>
                            <a:srgbClr val="4B4B4B"/>
                          </a:solidFill>
                          <a:latin typeface="Arial"/>
                        </a:rPr>
                        <a:t>Both new passwords must match</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Change Your Password</a:t>
                      </a:r>
                    </a:p>
                  </a:txBody>
                  <a:tcPr marL="54864" marR="54864" marT="27432" marB="27432">
                    <a:solidFill>
                      <a:srgbClr val="FFFFFF"/>
                    </a:solidFill>
                  </a:tcPr>
                </a:tc>
                <a:tc>
                  <a:txBody>
                    <a:bodyPr/>
                    <a:lstStyle/>
                    <a:p>
                      <a:r>
                        <a:rPr sz="850" b="0">
                          <a:solidFill>
                            <a:srgbClr val="4B4B4B"/>
                          </a:solidFill>
                          <a:latin typeface="Arial"/>
                        </a:rPr>
                        <a:t>Password rules</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It must differ from your last 8 passwords; it can be changed once within a day; it expires after 90 days.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141</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Change Password</a:t>
                      </a:r>
                    </a:p>
                  </a:txBody>
                  <a:tcPr marL="54864" marR="54864" marT="27432" marB="27432">
                    <a:solidFill>
                      <a:srgbClr val="FFFFFF"/>
                    </a:solidFill>
                  </a:tcPr>
                </a:tc>
                <a:tc>
                  <a:txBody>
                    <a:bodyPr/>
                    <a:lstStyle/>
                    <a:p>
                      <a:r>
                        <a:rPr sz="850" b="0">
                          <a:solidFill>
                            <a:srgbClr val="4B4B4B"/>
                          </a:solidFill>
                          <a:latin typeface="Arial"/>
                        </a:rPr>
                        <a:t>The signed-in user</a:t>
                      </a:r>
                    </a:p>
                  </a:txBody>
                  <a:tcPr marL="54864" marR="54864" marT="27432" marB="27432">
                    <a:solidFill>
                      <a:srgbClr val="FFFFFF"/>
                    </a:solidFill>
                  </a:tcPr>
                </a:tc>
                <a:tc>
                  <a:txBody>
                    <a:bodyPr/>
                    <a:lstStyle/>
                    <a:p>
                      <a:r>
                        <a:rPr sz="850" b="0">
                          <a:solidFill>
                            <a:srgbClr val="4B4B4B"/>
                          </a:solidFill>
                          <a:latin typeface="Arial"/>
                        </a:rPr>
                        <a:t>Current password entered and the new password meets the rules</a:t>
                      </a:r>
                    </a:p>
                  </a:txBody>
                  <a:tcPr marL="54864" marR="54864" marT="27432" marB="27432">
                    <a:solidFill>
                      <a:srgbClr val="FFFFFF"/>
                    </a:solidFill>
                  </a:tcPr>
                </a:tc>
                <a:tc>
                  <a:txBody>
                    <a:bodyPr/>
                    <a:lstStyle/>
                    <a:p>
                      <a:r>
                        <a:rPr sz="850" b="0">
                          <a:solidFill>
                            <a:srgbClr val="4B4B4B"/>
                          </a:solidFill>
                          <a:latin typeface="Arial"/>
                        </a:rPr>
                        <a:t>Saves the new password and opens the home page</a:t>
                      </a:r>
                    </a:p>
                  </a:txBody>
                  <a:tcPr marL="54864" marR="54864" marT="27432" marB="27432">
                    <a:solidFill>
                      <a:srgbClr val="FFFFFF"/>
                    </a:solidFill>
                  </a:tcPr>
                </a:tc>
                <a:tc>
                  <a:txBody>
                    <a:bodyPr/>
                    <a:lstStyle/>
                    <a:p>
                      <a:r>
                        <a:rPr sz="850" b="0">
                          <a:solidFill>
                            <a:srgbClr val="4B4B4B"/>
                          </a:solidFill>
                          <a:latin typeface="Arial"/>
                        </a:rPr>
                        <a:t>Password 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Sign Out</a:t>
                      </a:r>
                    </a:p>
                  </a:txBody>
                  <a:tcPr marL="54864" marR="54864" marT="27432" marB="27432">
                    <a:solidFill>
                      <a:srgbClr val="E5F5FF"/>
                    </a:solidFill>
                  </a:tcPr>
                </a:tc>
                <a:tc>
                  <a:txBody>
                    <a:bodyPr/>
                    <a:lstStyle/>
                    <a:p>
                      <a:r>
                        <a:rPr sz="850" b="0">
                          <a:solidFill>
                            <a:srgbClr val="4B4B4B"/>
                          </a:solidFill>
                          <a:latin typeface="Arial"/>
                        </a:rPr>
                        <a:t>The signed-in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Ends the session and returns to the Login page</a:t>
                      </a:r>
                    </a:p>
                  </a:txBody>
                  <a:tcPr marL="54864" marR="54864" marT="27432" marB="27432">
                    <a:solidFill>
                      <a:srgbClr val="E5F5FF"/>
                    </a:solidFill>
                  </a:tcPr>
                </a:tc>
                <a:tc>
                  <a:txBody>
                    <a:bodyPr/>
                    <a:lstStyle/>
                    <a:p>
                      <a:r>
                        <a:rPr sz="850" b="0">
                          <a:solidFill>
                            <a:srgbClr val="4B4B4B"/>
                          </a:solidFill>
                          <a:latin typeface="Arial"/>
                        </a:rPr>
                        <a:t>Signed out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142</a:t>
            </a:r>
          </a:p>
        </p:txBody>
      </p:sp>
      <p:graphicFrame>
        <p:nvGraphicFramePr>
          <p:cNvPr id="9" name="Table 8"/>
          <p:cNvGraphicFramePr>
            <a:graphicFrameLocks noGrp="1"/>
          </p:cNvGraphicFramePr>
          <p:nvPr/>
        </p:nvGraphicFramePr>
        <p:xfrm>
          <a:off x="548640" y="1325880"/>
          <a:ext cx="11094415" cy="11277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password set by someone else (enrolment, administrator reset) must be changed at the next sign-in (FR-UA-005).</a:t>
                      </a:r>
                    </a:p>
                  </a:txBody>
                  <a:tcPr marL="54864" marR="54864" marT="27432" marB="27432">
                    <a:solidFill>
                      <a:srgbClr val="FFFFFF"/>
                    </a:solidFill>
                  </a:tcPr>
                </a:tc>
              </a:tr>
              <a:tr h="396240">
                <a:tc>
                  <a:txBody>
                    <a:bodyPr/>
                    <a:lstStyle/>
                    <a:p>
                      <a:r>
                        <a:rPr sz="1000" b="0">
                          <a:solidFill>
                            <a:srgbClr val="4B4B4B"/>
                          </a:solidFill>
                          <a:latin typeface="Arial"/>
                        </a:rPr>
                        <a:t>A password older than PASSWORD_MAX_AGE_DAYS (90 as delivered) must be changed before work continues; a password never changed since the release does not expire until changed once (FR-UA-005).</a:t>
                      </a:r>
                    </a:p>
                  </a:txBody>
                  <a:tcPr marL="54864" marR="54864" marT="27432" marB="27432">
                    <a:solidFill>
                      <a:srgbClr val="E5F5FF"/>
                    </a:solidFill>
                  </a:tcPr>
                </a:tc>
              </a:tr>
              <a:tr h="243840">
                <a:tc>
                  <a:txBody>
                    <a:bodyPr/>
                    <a:lstStyle/>
                    <a:p>
                      <a:r>
                        <a:rPr sz="1000" b="0">
                          <a:solidFill>
                            <a:srgbClr val="4B4B4B"/>
                          </a:solidFill>
                          <a:latin typeface="Arial"/>
                        </a:rPr>
                        <a:t>The minimum age (PASSWORD_MIN_AGE_DAYS, one day) does not apply to a forced change (FR-UA-005).</a:t>
                      </a:r>
                    </a:p>
                  </a:txBody>
                  <a:tcPr marL="54864" marR="54864" marT="27432" marB="27432">
                    <a:solidFill>
                      <a:srgbClr val="FFFFFF"/>
                    </a:solidFill>
                  </a:tcPr>
                </a:tc>
              </a:tr>
            </a:tbl>
          </a:graphicData>
        </a:graphic>
      </p:graphicFrame>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SCR-UA-03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143</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6</a:t>
                      </a:r>
                    </a:p>
                  </a:txBody>
                  <a:tcPr marL="54864" marR="54864" marT="27432" marB="27432">
                    <a:solidFill>
                      <a:srgbClr val="FFFFFF"/>
                    </a:solidFill>
                  </a:tcPr>
                </a:tc>
                <a:tc>
                  <a:txBody>
                    <a:bodyPr/>
                    <a:lstStyle/>
                    <a:p>
                      <a:r>
                        <a:rPr sz="900" b="0">
                          <a:solidFill>
                            <a:srgbClr val="4B4B4B"/>
                          </a:solidFill>
                          <a:latin typeface="Arial"/>
                        </a:rPr>
                        <a:t>Enters the temporary password as the current password and a personal password twice, and clicks Change Password</a:t>
                      </a:r>
                    </a:p>
                  </a:txBody>
                  <a:tcPr marL="54864" marR="54864" marT="27432" marB="27432">
                    <a:solidFill>
                      <a:srgbClr val="FFFFFF"/>
                    </a:solidFill>
                  </a:tcPr>
                </a:tc>
                <a:tc>
                  <a:txBody>
                    <a:bodyPr/>
                    <a:lstStyle/>
                    <a:p>
                      <a:r>
                        <a:rPr sz="900" b="0">
                          <a:solidFill>
                            <a:srgbClr val="4B4B4B"/>
                          </a:solidFill>
                          <a:latin typeface="Arial"/>
                        </a:rPr>
                        <a:t>SCR-UA-03_wt-a-step-06.png</a:t>
                      </a:r>
                    </a:p>
                  </a:txBody>
                  <a:tcPr marL="54864" marR="54864" marT="27432" marB="27432">
                    <a:solidFill>
                      <a:srgbClr val="FFFFFF"/>
                    </a:solidFill>
                  </a:tcPr>
                </a:tc>
              </a:tr>
            </a:tbl>
          </a:graphicData>
        </a:graphic>
      </p:graphicFrame>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SCR-UA-03 Change Your Password (forced change):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071.png"/>
          <p:cNvPicPr>
            <a:picLocks noChangeAspect="1"/>
          </p:cNvPicPr>
          <p:nvPr/>
        </p:nvPicPr>
        <p:blipFill>
          <a:blip r:embed="rId3"/>
          <a:stretch>
            <a:fillRect/>
          </a:stretch>
        </p:blipFill>
        <p:spPr>
          <a:xfrm>
            <a:off x="2300611" y="1261872"/>
            <a:ext cx="7590472" cy="4692967"/>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Change Your Password after a password set by an administrator (part 1 of 2)</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SCR-UA-03 Change Your Password (forced change):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145</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072.png"/>
          <p:cNvPicPr>
            <a:picLocks noChangeAspect="1"/>
          </p:cNvPicPr>
          <p:nvPr/>
        </p:nvPicPr>
        <p:blipFill>
          <a:blip r:embed="rId3"/>
          <a:stretch>
            <a:fillRect/>
          </a:stretch>
        </p:blipFill>
        <p:spPr>
          <a:xfrm>
            <a:off x="2300611" y="1261872"/>
            <a:ext cx="7590472" cy="461867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Change Your Password after a password set by an administrator (part 2 of 2)</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SCR-UA-04 Inactivity and Session-end Warnings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graphicFrame>
        <p:nvGraphicFramePr>
          <p:cNvPr id="10" name="Table 9"/>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Sign-in, password and session</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two warnings of the session guard, shown over any screen: the inactivity warning, 15 minutes before the sign-out after 30 minutes without activity, and the warning before the fixed end of the session, 30 minutes before BIBS signs the user out whatever the activity.</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Requestor, Approver, Second Approver, Business Administrator, System Administrator, Auditor, Information Security Officer, New Business Approver (keeps the access approval right)</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Dialog over any screen</a:t>
                      </a:r>
                    </a:p>
                    <a:p>
                      <a:r>
                        <a:rPr sz="950" b="0">
                          <a:solidFill>
                            <a:srgbClr val="4B4B4B"/>
                          </a:solidFill>
                          <a:latin typeface="Arial"/>
                        </a:rPr>
                        <a:t>Any screen after 15 minutes without activity</a:t>
                      </a:r>
                    </a:p>
                    <a:p>
                      <a:r>
                        <a:rPr sz="950" b="0">
                          <a:solidFill>
                            <a:srgbClr val="4B4B4B"/>
                          </a:solidFill>
                          <a:latin typeface="Arial"/>
                        </a:rPr>
                        <a:t>Any screen 30 minutes before the fixed end of the session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FR-UA-002, FR-UA-004</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An unattended screen is closed automatically, and the user is warned in time to keep working.</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147</a:t>
            </a:r>
          </a:p>
        </p:txBody>
      </p:sp>
      <p:graphicFrame>
        <p:nvGraphicFramePr>
          <p:cNvPr id="9" name="Table 8"/>
          <p:cNvGraphicFramePr>
            <a:graphicFrameLocks noGrp="1"/>
          </p:cNvGraphicFramePr>
          <p:nvPr/>
        </p:nvGraphicFramePr>
        <p:xfrm>
          <a:off x="548640" y="1325880"/>
          <a:ext cx="11094411" cy="118109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Your session is about to expire</a:t>
                      </a:r>
                    </a:p>
                  </a:txBody>
                  <a:tcPr marL="54864" marR="54864" marT="27432" marB="27432">
                    <a:solidFill>
                      <a:srgbClr val="FFFFFF"/>
                    </a:solidFill>
                  </a:tcPr>
                </a:tc>
                <a:tc>
                  <a:txBody>
                    <a:bodyPr/>
                    <a:lstStyle/>
                    <a:p>
                      <a:r>
                        <a:rPr sz="850" b="0">
                          <a:solidFill>
                            <a:srgbClr val="4B4B4B"/>
                          </a:solidFill>
                          <a:latin typeface="Arial"/>
                        </a:rPr>
                        <a:t>Countdown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You have been inactive for a while. For your security you will be signed out in n seconds.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Your session will end soon</a:t>
                      </a:r>
                    </a:p>
                  </a:txBody>
                  <a:tcPr marL="54864" marR="54864" marT="27432" marB="27432">
                    <a:solidFill>
                      <a:srgbClr val="E5F5FF"/>
                    </a:solidFill>
                  </a:tcPr>
                </a:tc>
                <a:tc>
                  <a:txBody>
                    <a:bodyPr/>
                    <a:lstStyle/>
                    <a:p>
                      <a:r>
                        <a:rPr sz="850" b="0">
                          <a:solidFill>
                            <a:srgbClr val="4B4B4B"/>
                          </a:solidFill>
                          <a:latin typeface="Arial"/>
                        </a:rPr>
                        <a:t>Session end</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For your security the system signs you out in n minute(s), at dd-MMM-yyyy HH:mm, whatever your activity.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148</a:t>
            </a:r>
          </a:p>
        </p:txBody>
      </p:sp>
      <p:graphicFrame>
        <p:nvGraphicFramePr>
          <p:cNvPr id="9" name="Table 8"/>
          <p:cNvGraphicFramePr>
            <a:graphicFrameLocks noGrp="1"/>
          </p:cNvGraphicFramePr>
          <p:nvPr/>
        </p:nvGraphicFramePr>
        <p:xfrm>
          <a:off x="548640" y="1325880"/>
          <a:ext cx="11094412" cy="88391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Stay Signed In</a:t>
                      </a:r>
                    </a:p>
                  </a:txBody>
                  <a:tcPr marL="54864" marR="54864" marT="27432" marB="27432">
                    <a:solidFill>
                      <a:srgbClr val="FFFFFF"/>
                    </a:solidFill>
                  </a:tcPr>
                </a:tc>
                <a:tc>
                  <a:txBody>
                    <a:bodyPr/>
                    <a:lstStyle/>
                    <a:p>
                      <a:r>
                        <a:rPr sz="850" b="0">
                          <a:solidFill>
                            <a:srgbClr val="4B4B4B"/>
                          </a:solidFill>
                          <a:latin typeface="Arial"/>
                        </a:rPr>
                        <a:t>The signed-in user</a:t>
                      </a:r>
                    </a:p>
                  </a:txBody>
                  <a:tcPr marL="54864" marR="54864" marT="27432" marB="27432">
                    <a:solidFill>
                      <a:srgbClr val="FFFFFF"/>
                    </a:solidFill>
                  </a:tcPr>
                </a:tc>
                <a:tc>
                  <a:txBody>
                    <a:bodyPr/>
                    <a:lstStyle/>
                    <a:p>
                      <a:r>
                        <a:rPr sz="850" b="0">
                          <a:solidFill>
                            <a:srgbClr val="4B4B4B"/>
                          </a:solidFill>
                          <a:latin typeface="Arial"/>
                        </a:rPr>
                        <a:t>Inactivity warning shown</a:t>
                      </a:r>
                    </a:p>
                  </a:txBody>
                  <a:tcPr marL="54864" marR="54864" marT="27432" marB="27432">
                    <a:solidFill>
                      <a:srgbClr val="FFFFFF"/>
                    </a:solidFill>
                  </a:tcPr>
                </a:tc>
                <a:tc>
                  <a:txBody>
                    <a:bodyPr/>
                    <a:lstStyle/>
                    <a:p>
                      <a:r>
                        <a:rPr sz="850" b="0">
                          <a:solidFill>
                            <a:srgbClr val="4B4B4B"/>
                          </a:solidFill>
                          <a:latin typeface="Arial"/>
                        </a:rPr>
                        <a:t>Closes the warning and restarts the inactivity timer in every tab</a:t>
                      </a:r>
                    </a:p>
                  </a:txBody>
                  <a:tcPr marL="54864" marR="54864" marT="27432" marB="27432">
                    <a:solidFill>
                      <a:srgbClr val="FFFFFF"/>
                    </a:solidFill>
                  </a:tcPr>
                </a:tc>
                <a:tc>
                  <a:txBody>
                    <a:bodyPr/>
                    <a:lstStyle/>
                    <a:p>
                      <a:r>
                        <a:rPr sz="850" b="0">
                          <a:solidFill>
                            <a:srgbClr val="4B4B4B"/>
                          </a:solidFill>
                          <a:latin typeface="Arial"/>
                        </a:rPr>
                        <a:t>Signed in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Sign Out Now</a:t>
                      </a:r>
                    </a:p>
                  </a:txBody>
                  <a:tcPr marL="54864" marR="54864" marT="27432" marB="27432">
                    <a:solidFill>
                      <a:srgbClr val="E5F5FF"/>
                    </a:solidFill>
                  </a:tcPr>
                </a:tc>
                <a:tc>
                  <a:txBody>
                    <a:bodyPr/>
                    <a:lstStyle/>
                    <a:p>
                      <a:r>
                        <a:rPr sz="850" b="0">
                          <a:solidFill>
                            <a:srgbClr val="4B4B4B"/>
                          </a:solidFill>
                          <a:latin typeface="Arial"/>
                        </a:rPr>
                        <a:t>The signed-in user</a:t>
                      </a:r>
                    </a:p>
                  </a:txBody>
                  <a:tcPr marL="54864" marR="54864" marT="27432" marB="27432">
                    <a:solidFill>
                      <a:srgbClr val="E5F5FF"/>
                    </a:solidFill>
                  </a:tcPr>
                </a:tc>
                <a:tc>
                  <a:txBody>
                    <a:bodyPr/>
                    <a:lstStyle/>
                    <a:p>
                      <a:r>
                        <a:rPr sz="850" b="0">
                          <a:solidFill>
                            <a:srgbClr val="4B4B4B"/>
                          </a:solidFill>
                          <a:latin typeface="Arial"/>
                        </a:rPr>
                        <a:t>Inactivity warning shown</a:t>
                      </a:r>
                    </a:p>
                  </a:txBody>
                  <a:tcPr marL="54864" marR="54864" marT="27432" marB="27432">
                    <a:solidFill>
                      <a:srgbClr val="E5F5FF"/>
                    </a:solidFill>
                  </a:tcPr>
                </a:tc>
                <a:tc>
                  <a:txBody>
                    <a:bodyPr/>
                    <a:lstStyle/>
                    <a:p>
                      <a:r>
                        <a:rPr sz="850" b="0">
                          <a:solidFill>
                            <a:srgbClr val="4B4B4B"/>
                          </a:solidFill>
                          <a:latin typeface="Arial"/>
                        </a:rPr>
                        <a:t>Ends the session and returns to the Login page</a:t>
                      </a:r>
                    </a:p>
                  </a:txBody>
                  <a:tcPr marL="54864" marR="54864" marT="27432" marB="27432">
                    <a:solidFill>
                      <a:srgbClr val="E5F5FF"/>
                    </a:solidFill>
                  </a:tcPr>
                </a:tc>
                <a:tc>
                  <a:txBody>
                    <a:bodyPr/>
                    <a:lstStyle/>
                    <a:p>
                      <a:r>
                        <a:rPr sz="850" b="0">
                          <a:solidFill>
                            <a:srgbClr val="4B4B4B"/>
                          </a:solidFill>
                          <a:latin typeface="Arial"/>
                        </a:rPr>
                        <a:t>Signed out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I Understand</a:t>
                      </a:r>
                    </a:p>
                  </a:txBody>
                  <a:tcPr marL="54864" marR="54864" marT="27432" marB="27432">
                    <a:solidFill>
                      <a:srgbClr val="FFFFFF"/>
                    </a:solidFill>
                  </a:tcPr>
                </a:tc>
                <a:tc>
                  <a:txBody>
                    <a:bodyPr/>
                    <a:lstStyle/>
                    <a:p>
                      <a:r>
                        <a:rPr sz="850" b="0">
                          <a:solidFill>
                            <a:srgbClr val="4B4B4B"/>
                          </a:solidFill>
                          <a:latin typeface="Arial"/>
                        </a:rPr>
                        <a:t>The signed-in user</a:t>
                      </a:r>
                    </a:p>
                  </a:txBody>
                  <a:tcPr marL="54864" marR="54864" marT="27432" marB="27432">
                    <a:solidFill>
                      <a:srgbClr val="FFFFFF"/>
                    </a:solidFill>
                  </a:tcPr>
                </a:tc>
                <a:tc>
                  <a:txBody>
                    <a:bodyPr/>
                    <a:lstStyle/>
                    <a:p>
                      <a:r>
                        <a:rPr sz="850" b="0">
                          <a:solidFill>
                            <a:srgbClr val="4B4B4B"/>
                          </a:solidFill>
                          <a:latin typeface="Arial"/>
                        </a:rPr>
                        <a:t>Session-end warning shown</a:t>
                      </a:r>
                    </a:p>
                  </a:txBody>
                  <a:tcPr marL="54864" marR="54864" marT="27432" marB="27432">
                    <a:solidFill>
                      <a:srgbClr val="FFFFFF"/>
                    </a:solidFill>
                  </a:tcPr>
                </a:tc>
                <a:tc>
                  <a:txBody>
                    <a:bodyPr/>
                    <a:lstStyle/>
                    <a:p>
                      <a:r>
                        <a:rPr sz="850" b="0">
                          <a:solidFill>
                            <a:srgbClr val="4B4B4B"/>
                          </a:solidFill>
                          <a:latin typeface="Arial"/>
                        </a:rPr>
                        <a:t>Closes the warning; the session still ends at the time shown</a:t>
                      </a:r>
                    </a:p>
                  </a:txBody>
                  <a:tcPr marL="54864" marR="54864" marT="27432" marB="27432">
                    <a:solidFill>
                      <a:srgbClr val="FFFFFF"/>
                    </a:solidFill>
                  </a:tcPr>
                </a:tc>
                <a:tc>
                  <a:txBody>
                    <a:bodyPr/>
                    <a:lstStyle/>
                    <a:p>
                      <a:r>
                        <a:rPr sz="850" b="0">
                          <a:solidFill>
                            <a:srgbClr val="4B4B4B"/>
                          </a:solidFill>
                          <a:latin typeface="Arial"/>
                        </a:rPr>
                        <a:t>Signed in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149</a:t>
            </a:r>
          </a:p>
        </p:txBody>
      </p:sp>
      <p:graphicFrame>
        <p:nvGraphicFramePr>
          <p:cNvPr id="9" name="Table 8"/>
          <p:cNvGraphicFramePr>
            <a:graphicFrameLocks noGrp="1"/>
          </p:cNvGraphicFramePr>
          <p:nvPr/>
        </p:nvGraphicFramePr>
        <p:xfrm>
          <a:off x="548640" y="1325880"/>
          <a:ext cx="11094415" cy="11277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After 15 minutes without activity the inactivity warning is shown; after 30 minutes the user is signed out and sees: You were signed out after 30 minutes of inactivity. (parameters SESSION_IDLE_WARNING_MINUTES, SESSION_TIMEOUT_MINUTES) (FR-UA-002).</a:t>
                      </a:r>
                    </a:p>
                  </a:txBody>
                  <a:tcPr marL="54864" marR="54864" marT="27432" marB="27432">
                    <a:solidFill>
                      <a:srgbClr val="FFFFFF"/>
                    </a:solidFill>
                  </a:tcPr>
                </a:tc>
              </a:tr>
              <a:tr h="243840">
                <a:tc>
                  <a:txBody>
                    <a:bodyPr/>
                    <a:lstStyle/>
                    <a:p>
                      <a:r>
                        <a:rPr sz="1000" b="0">
                          <a:solidFill>
                            <a:srgbClr val="4B4B4B"/>
                          </a:solidFill>
                          <a:latin typeface="Arial"/>
                        </a:rPr>
                        <a:t>Activity in any browser tab keeps every tab signed in (FR-UA-002).</a:t>
                      </a:r>
                    </a:p>
                  </a:txBody>
                  <a:tcPr marL="54864" marR="54864" marT="27432" marB="27432">
                    <a:solidFill>
                      <a:srgbClr val="E5F5FF"/>
                    </a:solidFill>
                  </a:tcPr>
                </a:tc>
              </a:tr>
              <a:tr h="243840">
                <a:tc>
                  <a:txBody>
                    <a:bodyPr/>
                    <a:lstStyle/>
                    <a:p>
                      <a:r>
                        <a:rPr sz="1000" b="0">
                          <a:solidFill>
                            <a:srgbClr val="4B4B4B"/>
                          </a:solidFill>
                          <a:latin typeface="Arial"/>
                        </a:rPr>
                        <a:t>Every sign-out is kept in the session log with its reason: log-out, inactivity, end of the session, ended by an administrator or account locked (FR-UA-004).</a:t>
                      </a:r>
                    </a:p>
                  </a:txBody>
                  <a:tcPr marL="54864" marR="54864" marT="27432" marB="27432">
                    <a:solidFill>
                      <a:srgbClr val="FFFFFF"/>
                    </a:solidFill>
                  </a:tcPr>
                </a:tc>
              </a:tr>
            </a:tbl>
          </a:graphicData>
        </a:graphic>
      </p:graphicFrame>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SCR-UA-04 Inactivity and Session-end Warnings: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150</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5937199"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1" name="Picture 10" descr="scr-ua-04-01-idle.png"/>
          <p:cNvPicPr>
            <a:picLocks noChangeAspect="1"/>
          </p:cNvPicPr>
          <p:nvPr/>
        </p:nvPicPr>
        <p:blipFill>
          <a:blip r:embed="rId3"/>
          <a:stretch>
            <a:fillRect/>
          </a:stretch>
        </p:blipFill>
        <p:spPr>
          <a:xfrm>
            <a:off x="548640" y="1261872"/>
            <a:ext cx="11094415" cy="307917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Your session is about to expire (inactivity warning)</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SCR-UA-05 My Profile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151</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graphicFrame>
        <p:nvGraphicFramePr>
          <p:cNvPr id="10" name="Table 9"/>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Sign-in, password and session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signed-in user's own page: account details, contact details the user maintains, the group profiles and permissions held, the password with its rules and dates, and the recent sign-in sessions.</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Requestor, Approver, Second Approver, Business Administrator, System Administrator, Auditor, Information Security Officer, New Business Approver (keeps the access approval right)</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Help › My Profile</a:t>
                      </a:r>
                    </a:p>
                    <a:p>
                      <a:r>
                        <a:rPr sz="950" b="0">
                          <a:solidFill>
                            <a:srgbClr val="4B4B4B"/>
                          </a:solidFill>
                          <a:latin typeface="Arial"/>
                        </a:rPr>
                        <a:t>User menu in the page header › My Profile</a:t>
                      </a:r>
                    </a:p>
                    <a:p>
                      <a:r>
                        <a:rPr sz="950" b="0">
                          <a:solidFill>
                            <a:srgbClr val="4B4B4B"/>
                          </a:solidFill>
                          <a:latin typeface="Arial"/>
                        </a:rPr>
                        <a:t>The notice Your password expires soon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FR-UA-004, FR-UA-005</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Each user sees exactly which access is held, keeps the contact details current and changes the password under the password rules.</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152</a:t>
            </a:r>
          </a:p>
        </p:txBody>
      </p:sp>
      <p:graphicFrame>
        <p:nvGraphicFramePr>
          <p:cNvPr id="9" name="Table 8"/>
          <p:cNvGraphicFramePr>
            <a:graphicFrameLocks noGrp="1"/>
          </p:cNvGraphicFramePr>
          <p:nvPr/>
        </p:nvGraphicFramePr>
        <p:xfrm>
          <a:off x="548640" y="1325880"/>
          <a:ext cx="11094411" cy="457197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Details</a:t>
                      </a:r>
                    </a:p>
                  </a:txBody>
                  <a:tcPr marL="54864" marR="54864" marT="27432" marB="27432">
                    <a:solidFill>
                      <a:srgbClr val="FFFFFF"/>
                    </a:solidFill>
                  </a:tcPr>
                </a:tc>
                <a:tc>
                  <a:txBody>
                    <a:bodyPr/>
                    <a:lstStyle/>
                    <a:p>
                      <a:r>
                        <a:rPr sz="850" b="0">
                          <a:solidFill>
                            <a:srgbClr val="4B4B4B"/>
                          </a:solidFill>
                          <a:latin typeface="Arial"/>
                        </a:rPr>
                        <a:t>User name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User ID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Details</a:t>
                      </a:r>
                    </a:p>
                  </a:txBody>
                  <a:tcPr marL="54864" marR="54864" marT="27432" marB="27432">
                    <a:solidFill>
                      <a:srgbClr val="E5F5FF"/>
                    </a:solidFill>
                  </a:tcPr>
                </a:tc>
                <a:tc>
                  <a:txBody>
                    <a:bodyPr/>
                    <a:lstStyle/>
                    <a:p>
                      <a:r>
                        <a:rPr sz="850" b="0">
                          <a:solidFill>
                            <a:srgbClr val="4B4B4B"/>
                          </a:solidFill>
                          <a:latin typeface="Arial"/>
                        </a:rPr>
                        <a:t>Full name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Details</a:t>
                      </a:r>
                    </a:p>
                  </a:txBody>
                  <a:tcPr marL="54864" marR="54864" marT="27432" marB="27432">
                    <a:solidFill>
                      <a:srgbClr val="FFFFFF"/>
                    </a:solidFill>
                  </a:tcPr>
                </a:tc>
                <a:tc>
                  <a:txBody>
                    <a:bodyPr/>
                    <a:lstStyle/>
                    <a:p>
                      <a:r>
                        <a:rPr sz="850" b="0">
                          <a:solidFill>
                            <a:srgbClr val="4B4B4B"/>
                          </a:solidFill>
                          <a:latin typeface="Arial"/>
                        </a:rPr>
                        <a:t>Windows ID</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Details</a:t>
                      </a:r>
                    </a:p>
                  </a:txBody>
                  <a:tcPr marL="54864" marR="54864" marT="27432" marB="27432">
                    <a:solidFill>
                      <a:srgbClr val="E5F5FF"/>
                    </a:solidFill>
                  </a:tcPr>
                </a:tc>
                <a:tc>
                  <a:txBody>
                    <a:bodyPr/>
                    <a:lstStyle/>
                    <a:p>
                      <a:r>
                        <a:rPr sz="850" b="0">
                          <a:solidFill>
                            <a:srgbClr val="4B4B4B"/>
                          </a:solidFill>
                          <a:latin typeface="Arial"/>
                        </a:rPr>
                        <a:t>Home branch</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Code –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Details</a:t>
                      </a:r>
                    </a:p>
                  </a:txBody>
                  <a:tcPr marL="54864" marR="54864" marT="27432" marB="27432">
                    <a:solidFill>
                      <a:srgbClr val="FFFFFF"/>
                    </a:solidFill>
                  </a:tcPr>
                </a:tc>
                <a:tc>
                  <a:txBody>
                    <a:bodyPr/>
                    <a:lstStyle/>
                    <a:p>
                      <a:r>
                        <a:rPr sz="850" b="0">
                          <a:solidFill>
                            <a:srgbClr val="4B4B4B"/>
                          </a:solidFill>
                          <a:latin typeface="Arial"/>
                        </a:rPr>
                        <a:t>Authorization limit</a:t>
                      </a:r>
                    </a:p>
                  </a:txBody>
                  <a:tcPr marL="54864" marR="54864" marT="27432" marB="27432">
                    <a:solidFill>
                      <a:srgbClr val="FFFFFF"/>
                    </a:solidFill>
                  </a:tcPr>
                </a:tc>
                <a:tc>
                  <a:txBody>
                    <a:bodyPr/>
                    <a:lstStyle/>
                    <a:p>
                      <a:r>
                        <a:rPr sz="850" b="0">
                          <a:solidFill>
                            <a:srgbClr val="4B4B4B"/>
                          </a:solidFill>
                          <a:latin typeface="Arial"/>
                        </a:rPr>
                        <a:t>Amount</a:t>
                      </a:r>
                    </a:p>
                  </a:txBody>
                  <a:tcPr marL="54864" marR="54864" marT="27432" marB="27432">
                    <a:solidFill>
                      <a:srgbClr val="FFFFFF"/>
                    </a:solidFill>
                  </a:tcPr>
                </a:tc>
                <a:tc>
                  <a:txBody>
                    <a:bodyPr/>
                    <a:lstStyle/>
                    <a:p>
                      <a:r>
                        <a:rPr sz="850" b="0">
                          <a:solidFill>
                            <a:srgbClr val="4B4B4B"/>
                          </a:solidFill>
                          <a:latin typeface="Arial"/>
                        </a:rPr>
                        <a:t>PHP, two decimals; Unlimited when blank</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Details</a:t>
                      </a:r>
                    </a:p>
                  </a:txBody>
                  <a:tcPr marL="54864" marR="54864" marT="27432" marB="27432">
                    <a:solidFill>
                      <a:srgbClr val="E5F5FF"/>
                    </a:solidFill>
                  </a:tcPr>
                </a:tc>
                <a:tc>
                  <a:txBody>
                    <a:bodyPr/>
                    <a:lstStyle/>
                    <a:p>
                      <a:r>
                        <a:rPr sz="850" b="0">
                          <a:solidFill>
                            <a:srgbClr val="4B4B4B"/>
                          </a:solidFill>
                          <a:latin typeface="Arial"/>
                        </a:rPr>
                        <a:t>Last sign-in</a:t>
                      </a:r>
                    </a:p>
                  </a:txBody>
                  <a:tcPr marL="54864" marR="54864" marT="27432" marB="27432">
                    <a:solidFill>
                      <a:srgbClr val="E5F5FF"/>
                    </a:solidFill>
                  </a:tcPr>
                </a:tc>
                <a:tc>
                  <a:txBody>
                    <a:bodyPr/>
                    <a:lstStyle/>
                    <a:p>
                      <a:r>
                        <a:rPr sz="850" b="0">
                          <a:solidFill>
                            <a:srgbClr val="4B4B4B"/>
                          </a:solidFill>
                          <a:latin typeface="Arial"/>
                        </a:rPr>
                        <a:t>Date and time</a:t>
                      </a:r>
                    </a:p>
                  </a:txBody>
                  <a:tcPr marL="54864" marR="54864" marT="27432" marB="27432">
                    <a:solidFill>
                      <a:srgbClr val="E5F5FF"/>
                    </a:solidFill>
                  </a:tcPr>
                </a:tc>
                <a:tc>
                  <a:txBody>
                    <a:bodyPr/>
                    <a:lstStyle/>
                    <a:p>
                      <a:r>
                        <a:rPr sz="850" b="0">
                          <a:solidFill>
                            <a:srgbClr val="4B4B4B"/>
                          </a:solidFill>
                          <a:latin typeface="Arial"/>
                        </a:rPr>
                        <a:t>dd-MMM-yyyy HH:mm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Details</a:t>
                      </a:r>
                    </a:p>
                  </a:txBody>
                  <a:tcPr marL="54864" marR="54864" marT="27432" marB="27432">
                    <a:solidFill>
                      <a:srgbClr val="FFFFFF"/>
                    </a:solidFill>
                  </a:tcPr>
                </a:tc>
                <a:tc>
                  <a:txBody>
                    <a:bodyPr/>
                    <a:lstStyle/>
                    <a:p>
                      <a:r>
                        <a:rPr sz="850" b="0">
                          <a:solidFill>
                            <a:srgbClr val="4B4B4B"/>
                          </a:solidFill>
                          <a:latin typeface="Arial"/>
                        </a:rPr>
                        <a:t>Last sign-out</a:t>
                      </a:r>
                    </a:p>
                  </a:txBody>
                  <a:tcPr marL="54864" marR="54864" marT="27432" marB="27432">
                    <a:solidFill>
                      <a:srgbClr val="FFFFFF"/>
                    </a:solidFill>
                  </a:tcPr>
                </a:tc>
                <a:tc>
                  <a:txBody>
                    <a:bodyPr/>
                    <a:lstStyle/>
                    <a:p>
                      <a:r>
                        <a:rPr sz="850" b="0">
                          <a:solidFill>
                            <a:srgbClr val="4B4B4B"/>
                          </a:solidFill>
                          <a:latin typeface="Arial"/>
                        </a:rPr>
                        <a:t>Date and time</a:t>
                      </a:r>
                    </a:p>
                  </a:txBody>
                  <a:tcPr marL="54864" marR="54864" marT="27432" marB="27432">
                    <a:solidFill>
                      <a:srgbClr val="FFFFFF"/>
                    </a:solidFill>
                  </a:tcPr>
                </a:tc>
                <a:tc>
                  <a:txBody>
                    <a:bodyPr/>
                    <a:lstStyle/>
                    <a:p>
                      <a:r>
                        <a:rPr sz="850" b="0">
                          <a:solidFill>
                            <a:srgbClr val="4B4B4B"/>
                          </a:solidFill>
                          <a:latin typeface="Arial"/>
                        </a:rPr>
                        <a:t>dd-MMM-yyyy HH:mm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Details</a:t>
                      </a:r>
                    </a:p>
                  </a:txBody>
                  <a:tcPr marL="54864" marR="54864" marT="27432" marB="27432">
                    <a:solidFill>
                      <a:srgbClr val="E5F5FF"/>
                    </a:solidFill>
                  </a:tcPr>
                </a:tc>
                <a:tc>
                  <a:txBody>
                    <a:bodyPr/>
                    <a:lstStyle/>
                    <a:p>
                      <a:r>
                        <a:rPr sz="850" b="0">
                          <a:solidFill>
                            <a:srgbClr val="4B4B4B"/>
                          </a:solidFill>
                          <a:latin typeface="Arial"/>
                        </a:rPr>
                        <a:t>Automatic sign-out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After 30 minutes of inactivity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Contact details</a:t>
                      </a:r>
                    </a:p>
                  </a:txBody>
                  <a:tcPr marL="54864" marR="54864" marT="27432" marB="27432">
                    <a:solidFill>
                      <a:srgbClr val="FFFFFF"/>
                    </a:solidFill>
                  </a:tcPr>
                </a:tc>
                <a:tc>
                  <a:txBody>
                    <a:bodyPr/>
                    <a:lstStyle/>
                    <a:p>
                      <a:r>
                        <a:rPr sz="850" b="0">
                          <a:solidFill>
                            <a:srgbClr val="4B4B4B"/>
                          </a:solidFill>
                          <a:latin typeface="Arial"/>
                        </a:rPr>
                        <a:t>E-mail address</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Valid e-mail address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 valid address</a:t>
                      </a:r>
                    </a:p>
                  </a:txBody>
                  <a:tcPr marL="54864" marR="54864" marT="27432" marB="27432">
                    <a:solidFill>
                      <a:srgbClr val="FFFFFF"/>
                    </a:solidFill>
                  </a:tcPr>
                </a:tc>
                <a:tc>
                  <a:txBody>
                    <a:bodyPr/>
                    <a:lstStyle/>
                    <a:p>
                      <a:r>
                        <a:rPr sz="850" b="0">
                          <a:solidFill>
                            <a:srgbClr val="4B4B4B"/>
                          </a:solidFill>
                          <a:latin typeface="Arial"/>
                        </a:rPr>
                        <a:t>Enter your e-mail address</a:t>
                      </a:r>
                    </a:p>
                  </a:txBody>
                  <a:tcPr marL="54864" marR="54864" marT="27432" marB="27432">
                    <a:solidFill>
                      <a:srgbClr val="FFFFFF"/>
                    </a:solidFill>
                  </a:tcPr>
                </a:tc>
              </a:tr>
              <a:tr h="480057">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Contact details</a:t>
                      </a:r>
                    </a:p>
                  </a:txBody>
                  <a:tcPr marL="54864" marR="54864" marT="27432" marB="27432">
                    <a:solidFill>
                      <a:srgbClr val="E5F5FF"/>
                    </a:solidFill>
                  </a:tcPr>
                </a:tc>
                <a:tc>
                  <a:txBody>
                    <a:bodyPr/>
                    <a:lstStyle/>
                    <a:p>
                      <a:r>
                        <a:rPr sz="850" b="0">
                          <a:solidFill>
                            <a:srgbClr val="4B4B4B"/>
                          </a:solidFill>
                          <a:latin typeface="Arial"/>
                        </a:rPr>
                        <a:t>Mobile number</a:t>
                      </a:r>
                    </a:p>
                  </a:txBody>
                  <a:tcPr marL="54864" marR="54864" marT="27432" marB="27432">
                    <a:solidFill>
                      <a:srgbClr val="E5F5FF"/>
                    </a:solidFill>
                  </a:tcPr>
                </a:tc>
                <a:tc>
                  <a:txBody>
                    <a:bodyPr/>
                    <a:lstStyle/>
                    <a:p>
                      <a:r>
                        <a:rPr sz="850" b="0">
                          <a:solidFill>
                            <a:srgbClr val="4B4B4B"/>
                          </a:solidFill>
                          <a:latin typeface="Arial"/>
                        </a:rPr>
                        <a:t>Telephone</a:t>
                      </a:r>
                    </a:p>
                  </a:txBody>
                  <a:tcPr marL="54864" marR="54864" marT="27432" marB="27432">
                    <a:solidFill>
                      <a:srgbClr val="E5F5FF"/>
                    </a:solidFill>
                  </a:tcPr>
                </a:tc>
                <a:tc>
                  <a:txBody>
                    <a:bodyPr/>
                    <a:lstStyle/>
                    <a:p>
                      <a:r>
                        <a:rPr sz="850" b="0">
                          <a:solidFill>
                            <a:srgbClr val="4B4B4B"/>
                          </a:solidFill>
                          <a:latin typeface="Arial"/>
                        </a:rPr>
                        <a:t>Digits with an optional +, spaces, brackets and dashes, 7 to 25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Digits only, for example +63 917 123 4567</a:t>
                      </a:r>
                    </a:p>
                  </a:txBody>
                  <a:tcPr marL="54864" marR="54864" marT="27432" marB="27432">
                    <a:solidFill>
                      <a:srgbClr val="E5F5FF"/>
                    </a:solidFill>
                  </a:tcPr>
                </a:tc>
                <a:tc>
                  <a:txBody>
                    <a:bodyPr/>
                    <a:lstStyle/>
                    <a:p>
                      <a:r>
                        <a:rPr sz="850" b="0">
                          <a:solidFill>
                            <a:srgbClr val="4B4B4B"/>
                          </a:solidFill>
                          <a:latin typeface="Arial"/>
                        </a:rPr>
                        <a:t>Enter the mobile number with digits only, for example +63 917 123 4567</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Roles and permissions</a:t>
                      </a:r>
                    </a:p>
                  </a:txBody>
                  <a:tcPr marL="54864" marR="54864" marT="27432" marB="27432">
                    <a:solidFill>
                      <a:srgbClr val="FFFFFF"/>
                    </a:solidFill>
                  </a:tcPr>
                </a:tc>
                <a:tc>
                  <a:txBody>
                    <a:bodyPr/>
                    <a:lstStyle/>
                    <a:p>
                      <a:r>
                        <a:rPr sz="850" b="0">
                          <a:solidFill>
                            <a:srgbClr val="4B4B4B"/>
                          </a:solidFill>
                          <a:latin typeface="Arial"/>
                        </a:rPr>
                        <a:t>Group profiles and permissions</a:t>
                      </a:r>
                    </a:p>
                  </a:txBody>
                  <a:tcPr marL="54864" marR="54864" marT="27432" marB="27432">
                    <a:solidFill>
                      <a:srgbClr val="FFFFFF"/>
                    </a:solidFill>
                  </a:tcPr>
                </a:tc>
                <a:tc>
                  <a:txBody>
                    <a:bodyPr/>
                    <a:lstStyle/>
                    <a:p>
                      <a:r>
                        <a:rPr sz="850" b="0">
                          <a:solidFill>
                            <a:srgbClr val="4B4B4B"/>
                          </a:solidFill>
                          <a:latin typeface="Arial"/>
                        </a:rPr>
                        <a:t>Tags</a:t>
                      </a:r>
                    </a:p>
                  </a:txBody>
                  <a:tcPr marL="54864" marR="54864" marT="27432" marB="27432">
                    <a:solidFill>
                      <a:srgbClr val="FFFFFF"/>
                    </a:solidFill>
                  </a:tcPr>
                </a:tc>
                <a:tc>
                  <a:txBody>
                    <a:bodyPr/>
                    <a:lstStyle/>
                    <a:p>
                      <a:r>
                        <a:rPr sz="850" b="0">
                          <a:solidFill>
                            <a:srgbClr val="4B4B4B"/>
                          </a:solidFill>
                          <a:latin typeface="Arial"/>
                        </a:rPr>
                        <a:t>Names of the group profiles and of the permissions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Change password</a:t>
                      </a:r>
                    </a:p>
                  </a:txBody>
                  <a:tcPr marL="54864" marR="54864" marT="27432" marB="27432">
                    <a:solidFill>
                      <a:srgbClr val="E5F5FF"/>
                    </a:solidFill>
                  </a:tcPr>
                </a:tc>
                <a:tc>
                  <a:txBody>
                    <a:bodyPr/>
                    <a:lstStyle/>
                    <a:p>
                      <a:r>
                        <a:rPr sz="850" b="0">
                          <a:solidFill>
                            <a:srgbClr val="4B4B4B"/>
                          </a:solidFill>
                          <a:latin typeface="Arial"/>
                        </a:rPr>
                        <a:t>Current password</a:t>
                      </a:r>
                    </a:p>
                  </a:txBody>
                  <a:tcPr marL="54864" marR="54864" marT="27432" marB="27432">
                    <a:solidFill>
                      <a:srgbClr val="E5F5FF"/>
                    </a:solidFill>
                  </a:tcPr>
                </a:tc>
                <a:tc>
                  <a:txBody>
                    <a:bodyPr/>
                    <a:lstStyle/>
                    <a:p>
                      <a:r>
                        <a:rPr sz="850" b="0">
                          <a:solidFill>
                            <a:srgbClr val="4B4B4B"/>
                          </a:solidFill>
                          <a:latin typeface="Arial"/>
                        </a:rPr>
                        <a:t>Password</a:t>
                      </a:r>
                    </a:p>
                  </a:txBody>
                  <a:tcPr marL="54864" marR="54864" marT="27432" marB="27432">
                    <a:solidFill>
                      <a:srgbClr val="E5F5FF"/>
                    </a:solidFill>
                  </a:tcPr>
                </a:tc>
                <a:tc>
                  <a:txBody>
                    <a:bodyPr/>
                    <a:lstStyle/>
                    <a:p>
                      <a:r>
                        <a:rPr sz="850" b="0">
                          <a:solidFill>
                            <a:srgbClr val="4B4B4B"/>
                          </a:solidFill>
                          <a:latin typeface="Arial"/>
                        </a:rPr>
                        <a:t>Masked</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Must be the current password</a:t>
                      </a:r>
                    </a:p>
                  </a:txBody>
                  <a:tcPr marL="54864" marR="54864" marT="27432" marB="27432">
                    <a:solidFill>
                      <a:srgbClr val="E5F5FF"/>
                    </a:solidFill>
                  </a:tcPr>
                </a:tc>
                <a:tc>
                  <a:txBody>
                    <a:bodyPr/>
                    <a:lstStyle/>
                    <a:p>
                      <a:r>
                        <a:rPr sz="850" b="0">
                          <a:solidFill>
                            <a:srgbClr val="4B4B4B"/>
                          </a:solidFill>
                          <a:latin typeface="Arial"/>
                        </a:rPr>
                        <a:t>Current password is incorrect</a:t>
                      </a:r>
                    </a:p>
                  </a:txBody>
                  <a:tcPr marL="54864" marR="54864" marT="27432" marB="27432">
                    <a:solidFill>
                      <a:srgbClr val="E5F5FF"/>
                    </a:solidFill>
                  </a:tcPr>
                </a:tc>
              </a:tr>
              <a:tr h="480057">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Change password</a:t>
                      </a:r>
                    </a:p>
                  </a:txBody>
                  <a:tcPr marL="54864" marR="54864" marT="27432" marB="27432">
                    <a:solidFill>
                      <a:srgbClr val="FFFFFF"/>
                    </a:solidFill>
                  </a:tcPr>
                </a:tc>
                <a:tc>
                  <a:txBody>
                    <a:bodyPr/>
                    <a:lstStyle/>
                    <a:p>
                      <a:r>
                        <a:rPr sz="850" b="0">
                          <a:solidFill>
                            <a:srgbClr val="4B4B4B"/>
                          </a:solidFill>
                          <a:latin typeface="Arial"/>
                        </a:rPr>
                        <a:t>New password</a:t>
                      </a:r>
                    </a:p>
                  </a:txBody>
                  <a:tcPr marL="54864" marR="54864" marT="27432" marB="27432">
                    <a:solidFill>
                      <a:srgbClr val="FFFFFF"/>
                    </a:solidFill>
                  </a:tcPr>
                </a:tc>
                <a:tc>
                  <a:txBody>
                    <a:bodyPr/>
                    <a:lstStyle/>
                    <a:p>
                      <a:r>
                        <a:rPr sz="850" b="0">
                          <a:solidFill>
                            <a:srgbClr val="4B4B4B"/>
                          </a:solidFill>
                          <a:latin typeface="Arial"/>
                        </a:rPr>
                        <a:t>Password</a:t>
                      </a:r>
                    </a:p>
                  </a:txBody>
                  <a:tcPr marL="54864" marR="54864" marT="27432" marB="27432">
                    <a:solidFill>
                      <a:srgbClr val="FFFFFF"/>
                    </a:solidFill>
                  </a:tcPr>
                </a:tc>
                <a:tc>
                  <a:txBody>
                    <a:bodyPr/>
                    <a:lstStyle/>
                    <a:p>
                      <a:r>
                        <a:rPr sz="850" b="0">
                          <a:solidFill>
                            <a:srgbClr val="4B4B4B"/>
                          </a:solidFill>
                          <a:latin typeface="Arial"/>
                        </a:rPr>
                        <a:t>At least 10 characters with upper and lower case, a digit and a symbol</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Rules checked as the user types; history and minimum age checked on save</a:t>
                      </a:r>
                    </a:p>
                  </a:txBody>
                  <a:tcPr marL="54864" marR="54864" marT="27432" marB="27432">
                    <a:solidFill>
                      <a:srgbClr val="FFFFFF"/>
                    </a:solidFill>
                  </a:tcPr>
                </a:tc>
                <a:tc>
                  <a:txBody>
                    <a:bodyPr/>
                    <a:lstStyle/>
                    <a:p>
                      <a:r>
                        <a:rPr sz="850" b="0">
                          <a:solidFill>
                            <a:srgbClr val="4B4B4B"/>
                          </a:solidFill>
                          <a:latin typeface="Arial"/>
                        </a:rPr>
                        <a:t>You changed your password less than a day ago</a:t>
                      </a:r>
                    </a:p>
                  </a:txBody>
                  <a:tcPr marL="54864" marR="54864" marT="27432" marB="27432">
                    <a:solidFill>
                      <a:srgbClr val="FFFFFF"/>
                    </a:solidFill>
                  </a:tcPr>
                </a:tc>
              </a:tr>
              <a:tr h="220979">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Change password</a:t>
                      </a:r>
                    </a:p>
                  </a:txBody>
                  <a:tcPr marL="54864" marR="54864" marT="27432" marB="27432">
                    <a:solidFill>
                      <a:srgbClr val="E5F5FF"/>
                    </a:solidFill>
                  </a:tcPr>
                </a:tc>
                <a:tc>
                  <a:txBody>
                    <a:bodyPr/>
                    <a:lstStyle/>
                    <a:p>
                      <a:r>
                        <a:rPr sz="850" b="0">
                          <a:solidFill>
                            <a:srgbClr val="4B4B4B"/>
                          </a:solidFill>
                          <a:latin typeface="Arial"/>
                        </a:rPr>
                        <a:t>Confirm new password</a:t>
                      </a:r>
                    </a:p>
                  </a:txBody>
                  <a:tcPr marL="54864" marR="54864" marT="27432" marB="27432">
                    <a:solidFill>
                      <a:srgbClr val="E5F5FF"/>
                    </a:solidFill>
                  </a:tcPr>
                </a:tc>
                <a:tc>
                  <a:txBody>
                    <a:bodyPr/>
                    <a:lstStyle/>
                    <a:p>
                      <a:r>
                        <a:rPr sz="850" b="0">
                          <a:solidFill>
                            <a:srgbClr val="4B4B4B"/>
                          </a:solidFill>
                          <a:latin typeface="Arial"/>
                        </a:rPr>
                        <a:t>Password</a:t>
                      </a:r>
                    </a:p>
                  </a:txBody>
                  <a:tcPr marL="54864" marR="54864" marT="27432" marB="27432">
                    <a:solidFill>
                      <a:srgbClr val="E5F5FF"/>
                    </a:solidFill>
                  </a:tcPr>
                </a:tc>
                <a:tc>
                  <a:txBody>
                    <a:bodyPr/>
                    <a:lstStyle/>
                    <a:p>
                      <a:r>
                        <a:rPr sz="850" b="0">
                          <a:solidFill>
                            <a:srgbClr val="4B4B4B"/>
                          </a:solidFill>
                          <a:latin typeface="Arial"/>
                        </a:rPr>
                        <a:t>Same as New password</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Both new passwords must match</a:t>
                      </a:r>
                    </a:p>
                  </a:txBody>
                  <a:tcPr marL="54864" marR="54864" marT="27432" marB="27432">
                    <a:solidFill>
                      <a:srgbClr val="E5F5FF"/>
                    </a:solidFill>
                  </a:tcPr>
                </a:tc>
                <a:tc>
                  <a:txBody>
                    <a:bodyPr/>
                    <a:lstStyle/>
                    <a:p>
                      <a:r>
                        <a:rPr sz="850" b="0">
                          <a:solidFill>
                            <a:srgbClr val="4B4B4B"/>
                          </a:solidFill>
                          <a:latin typeface="Arial"/>
                        </a:rPr>
                        <a:t>Both new passwords must match</a:t>
                      </a:r>
                    </a:p>
                  </a:txBody>
                  <a:tcPr marL="54864" marR="54864" marT="27432" marB="27432">
                    <a:solidFill>
                      <a:srgbClr val="E5F5FF"/>
                    </a:solidFill>
                  </a:tcPr>
                </a:tc>
              </a:tr>
              <a:tr h="480057">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Recent sessions</a:t>
                      </a:r>
                    </a:p>
                  </a:txBody>
                  <a:tcPr marL="54864" marR="54864" marT="27432" marB="27432">
                    <a:solidFill>
                      <a:srgbClr val="FFFFFF"/>
                    </a:solidFill>
                  </a:tcPr>
                </a:tc>
                <a:tc>
                  <a:txBody>
                    <a:bodyPr/>
                    <a:lstStyle/>
                    <a:p>
                      <a:r>
                        <a:rPr sz="850" b="0">
                          <a:solidFill>
                            <a:srgbClr val="4B4B4B"/>
                          </a:solidFill>
                          <a:latin typeface="Arial"/>
                        </a:rPr>
                        <a:t>Signed in / Last activity / Ended / Status</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Date and time; status Open, Logout, Idle Timeout, Expired, Admin Ended, Locked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153</a:t>
            </a:r>
          </a:p>
        </p:txBody>
      </p:sp>
      <p:graphicFrame>
        <p:nvGraphicFramePr>
          <p:cNvPr id="9" name="Table 8"/>
          <p:cNvGraphicFramePr>
            <a:graphicFrameLocks noGrp="1"/>
          </p:cNvGraphicFramePr>
          <p:nvPr/>
        </p:nvGraphicFramePr>
        <p:xfrm>
          <a:off x="548640" y="1325880"/>
          <a:ext cx="11094412" cy="105155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Save Contact Details</a:t>
                      </a:r>
                    </a:p>
                  </a:txBody>
                  <a:tcPr marL="54864" marR="54864" marT="27432" marB="27432">
                    <a:solidFill>
                      <a:srgbClr val="FFFFFF"/>
                    </a:solidFill>
                  </a:tcPr>
                </a:tc>
                <a:tc>
                  <a:txBody>
                    <a:bodyPr/>
                    <a:lstStyle/>
                    <a:p>
                      <a:r>
                        <a:rPr sz="850" b="0">
                          <a:solidFill>
                            <a:srgbClr val="4B4B4B"/>
                          </a:solidFill>
                          <a:latin typeface="Arial"/>
                        </a:rPr>
                        <a:t>The signed-in user</a:t>
                      </a:r>
                    </a:p>
                  </a:txBody>
                  <a:tcPr marL="54864" marR="54864" marT="27432" marB="27432">
                    <a:solidFill>
                      <a:srgbClr val="FFFFFF"/>
                    </a:solidFill>
                  </a:tcPr>
                </a:tc>
                <a:tc>
                  <a:txBody>
                    <a:bodyPr/>
                    <a:lstStyle/>
                    <a:p>
                      <a:r>
                        <a:rPr sz="850" b="0">
                          <a:solidFill>
                            <a:srgbClr val="4B4B4B"/>
                          </a:solidFill>
                          <a:latin typeface="Arial"/>
                        </a:rPr>
                        <a:t>Address or number changed</a:t>
                      </a:r>
                    </a:p>
                  </a:txBody>
                  <a:tcPr marL="54864" marR="54864" marT="27432" marB="27432">
                    <a:solidFill>
                      <a:srgbClr val="FFFFFF"/>
                    </a:solidFill>
                  </a:tcPr>
                </a:tc>
                <a:tc>
                  <a:txBody>
                    <a:bodyPr/>
                    <a:lstStyle/>
                    <a:p>
                      <a:r>
                        <a:rPr sz="850" b="0">
                          <a:solidFill>
                            <a:srgbClr val="4B4B4B"/>
                          </a:solidFill>
                          <a:latin typeface="Arial"/>
                        </a:rPr>
                        <a:t>Saves the e-mail address and mobile number; each changed value is written to the access change log without a request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Change Password</a:t>
                      </a:r>
                    </a:p>
                  </a:txBody>
                  <a:tcPr marL="54864" marR="54864" marT="27432" marB="27432">
                    <a:solidFill>
                      <a:srgbClr val="E5F5FF"/>
                    </a:solidFill>
                  </a:tcPr>
                </a:tc>
                <a:tc>
                  <a:txBody>
                    <a:bodyPr/>
                    <a:lstStyle/>
                    <a:p>
                      <a:r>
                        <a:rPr sz="850" b="0">
                          <a:solidFill>
                            <a:srgbClr val="4B4B4B"/>
                          </a:solidFill>
                          <a:latin typeface="Arial"/>
                        </a:rPr>
                        <a:t>The signed-in user (local sign-in)</a:t>
                      </a:r>
                    </a:p>
                  </a:txBody>
                  <a:tcPr marL="54864" marR="54864" marT="27432" marB="27432">
                    <a:solidFill>
                      <a:srgbClr val="E5F5FF"/>
                    </a:solidFill>
                  </a:tcPr>
                </a:tc>
                <a:tc>
                  <a:txBody>
                    <a:bodyPr/>
                    <a:lstStyle/>
                    <a:p>
                      <a:r>
                        <a:rPr sz="850" b="0">
                          <a:solidFill>
                            <a:srgbClr val="4B4B4B"/>
                          </a:solidFill>
                          <a:latin typeface="Arial"/>
                        </a:rPr>
                        <a:t>Current password entered and the new password meets the rules</a:t>
                      </a:r>
                    </a:p>
                  </a:txBody>
                  <a:tcPr marL="54864" marR="54864" marT="27432" marB="27432">
                    <a:solidFill>
                      <a:srgbClr val="E5F5FF"/>
                    </a:solidFill>
                  </a:tcPr>
                </a:tc>
                <a:tc>
                  <a:txBody>
                    <a:bodyPr/>
                    <a:lstStyle/>
                    <a:p>
                      <a:r>
                        <a:rPr sz="850" b="0">
                          <a:solidFill>
                            <a:srgbClr val="4B4B4B"/>
                          </a:solidFill>
                          <a:latin typeface="Arial"/>
                        </a:rPr>
                        <a:t>Saves the new password; the dates under the card are updated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154</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Users update their own e-mail address and mobile number without a request; every other attribute changes only through an approved access request (FR-UA-005, FR-UA-012).</a:t>
                      </a:r>
                    </a:p>
                  </a:txBody>
                  <a:tcPr marL="54864" marR="54864" marT="27432" marB="27432">
                    <a:solidFill>
                      <a:srgbClr val="FFFFFF"/>
                    </a:solidFill>
                  </a:tcPr>
                </a:tc>
              </a:tr>
              <a:tr h="243840">
                <a:tc>
                  <a:txBody>
                    <a:bodyPr/>
                    <a:lstStyle/>
                    <a:p>
                      <a:r>
                        <a:rPr sz="1000" b="0">
                          <a:solidFill>
                            <a:srgbClr val="4B4B4B"/>
                          </a:solidFill>
                          <a:latin typeface="Arial"/>
                        </a:rPr>
                        <a:t>With directory sign-in the password card reads: You sign in with your BDO network password. Change it through the BDO directory, not in BrokerVerse. (FR-UA-003, FR-UA-005).</a:t>
                      </a:r>
                    </a:p>
                  </a:txBody>
                  <a:tcPr marL="54864" marR="54864" marT="27432" marB="27432">
                    <a:solidFill>
                      <a:srgbClr val="E5F5FF"/>
                    </a:solidFill>
                  </a:tcPr>
                </a:tc>
              </a:tr>
              <a:tr h="243840">
                <a:tc>
                  <a:txBody>
                    <a:bodyPr/>
                    <a:lstStyle/>
                    <a:p>
                      <a:r>
                        <a:rPr sz="1000" b="0">
                          <a:solidFill>
                            <a:srgbClr val="4B4B4B"/>
                          </a:solidFill>
                          <a:latin typeface="Arial"/>
                        </a:rPr>
                        <a:t>A password cannot be changed twice within PASSWORD_MIN_AGE_DAYS (one day as delivered) and must differ from the last PASSWORD_HISTORY_COUNT passwords (8) (FR-UA-005).</a:t>
                      </a:r>
                    </a:p>
                  </a:txBody>
                  <a:tcPr marL="54864" marR="54864" marT="27432" marB="27432">
                    <a:solidFill>
                      <a:srgbClr val="FFFFFF"/>
                    </a:solidFill>
                  </a:tcPr>
                </a:tc>
              </a:tr>
              <a:tr h="243840">
                <a:tc>
                  <a:txBody>
                    <a:bodyPr/>
                    <a:lstStyle/>
                    <a:p>
                      <a:r>
                        <a:rPr sz="1000" b="0">
                          <a:solidFill>
                            <a:srgbClr val="4B4B4B"/>
                          </a:solidFill>
                          <a:latin typeface="Arial"/>
                        </a:rPr>
                        <a:t>The recent sessions show how each session ended; a session the user does not recognise is reported to the System Administrator (FR-UA-004).</a:t>
                      </a:r>
                    </a:p>
                  </a:txBody>
                  <a:tcPr marL="54864" marR="54864" marT="27432" marB="27432">
                    <a:solidFill>
                      <a:srgbClr val="E5F5FF"/>
                    </a:solidFill>
                  </a:tcPr>
                </a:tc>
              </a:tr>
            </a:tbl>
          </a:graphicData>
        </a:graphic>
      </p:graphicFrame>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SCR-UA-05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155</a:t>
            </a:r>
          </a:p>
        </p:txBody>
      </p:sp>
      <p:graphicFrame>
        <p:nvGraphicFramePr>
          <p:cNvPr id="9" name="Table 8"/>
          <p:cNvGraphicFramePr>
            <a:graphicFrameLocks noGrp="1"/>
          </p:cNvGraphicFramePr>
          <p:nvPr/>
        </p:nvGraphicFramePr>
        <p:xfrm>
          <a:off x="548640" y="1325880"/>
          <a:ext cx="11094413" cy="9144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WT-A step 7</a:t>
                      </a:r>
                    </a:p>
                  </a:txBody>
                  <a:tcPr marL="54864" marR="54864" marT="27432" marB="27432">
                    <a:solidFill>
                      <a:srgbClr val="FFFFFF"/>
                    </a:solidFill>
                  </a:tcPr>
                </a:tc>
                <a:tc>
                  <a:txBody>
                    <a:bodyPr/>
                    <a:lstStyle/>
                    <a:p>
                      <a:r>
                        <a:rPr sz="900" b="0">
                          <a:solidFill>
                            <a:srgbClr val="4B4B4B"/>
                          </a:solidFill>
                          <a:latin typeface="Arial"/>
                        </a:rPr>
                        <a:t>Opens the sidebar and My Profile</a:t>
                      </a:r>
                    </a:p>
                  </a:txBody>
                  <a:tcPr marL="54864" marR="54864" marT="27432" marB="27432">
                    <a:solidFill>
                      <a:srgbClr val="FFFFFF"/>
                    </a:solidFill>
                  </a:tcPr>
                </a:tc>
                <a:tc>
                  <a:txBody>
                    <a:bodyPr/>
                    <a:lstStyle/>
                    <a:p>
                      <a:r>
                        <a:rPr sz="900" b="0">
                          <a:solidFill>
                            <a:srgbClr val="4B4B4B"/>
                          </a:solidFill>
                          <a:latin typeface="Arial"/>
                        </a:rPr>
                        <a:t>SCR-UA-05_wt-a-step-07.png</a:t>
                      </a:r>
                    </a:p>
                  </a:txBody>
                  <a:tcPr marL="54864" marR="54864" marT="27432" marB="27432">
                    <a:solidFill>
                      <a:srgbClr val="FFFFFF"/>
                    </a:solidFill>
                  </a:tcPr>
                </a:tc>
              </a:tr>
              <a:tr h="228600">
                <a:tc>
                  <a:txBody>
                    <a:bodyPr/>
                    <a:lstStyle/>
                    <a:p>
                      <a:r>
                        <a:rPr sz="900" b="0">
                          <a:solidFill>
                            <a:srgbClr val="4B4B4B"/>
                          </a:solidFill>
                          <a:latin typeface="Arial"/>
                        </a:rPr>
                        <a:t>Validation error</a:t>
                      </a:r>
                    </a:p>
                  </a:txBody>
                  <a:tcPr marL="54864" marR="54864" marT="27432" marB="27432">
                    <a:solidFill>
                      <a:srgbClr val="E5F5FF"/>
                    </a:solidFill>
                  </a:tcPr>
                </a:tc>
                <a:tc>
                  <a:txBody>
                    <a:bodyPr/>
                    <a:lstStyle/>
                    <a:p>
                      <a:r>
                        <a:rPr sz="900" b="0">
                          <a:solidFill>
                            <a:srgbClr val="4B4B4B"/>
                          </a:solidFill>
                          <a:latin typeface="Arial"/>
                        </a:rPr>
                        <a:t>WT-C step 11</a:t>
                      </a:r>
                    </a:p>
                  </a:txBody>
                  <a:tcPr marL="54864" marR="54864" marT="27432" marB="27432">
                    <a:solidFill>
                      <a:srgbClr val="E5F5FF"/>
                    </a:solidFill>
                  </a:tcPr>
                </a:tc>
                <a:tc>
                  <a:txBody>
                    <a:bodyPr/>
                    <a:lstStyle/>
                    <a:p>
                      <a:r>
                        <a:rPr sz="900" b="0">
                          <a:solidFill>
                            <a:srgbClr val="4B4B4B"/>
                          </a:solidFill>
                          <a:latin typeface="Arial"/>
                        </a:rPr>
                        <a:t>On My Profile, types a new password that is too short and has no symbol</a:t>
                      </a:r>
                    </a:p>
                  </a:txBody>
                  <a:tcPr marL="54864" marR="54864" marT="27432" marB="27432">
                    <a:solidFill>
                      <a:srgbClr val="E5F5FF"/>
                    </a:solidFill>
                  </a:tcPr>
                </a:tc>
                <a:tc>
                  <a:txBody>
                    <a:bodyPr/>
                    <a:lstStyle/>
                    <a:p>
                      <a:r>
                        <a:rPr sz="900" b="0">
                          <a:solidFill>
                            <a:srgbClr val="4B4B4B"/>
                          </a:solidFill>
                          <a:latin typeface="Arial"/>
                        </a:rPr>
                        <a:t>SCR-UA-05_wt-c-step-11.png</a:t>
                      </a:r>
                    </a:p>
                  </a:txBody>
                  <a:tcPr marL="54864" marR="54864" marT="27432" marB="27432">
                    <a:solidFill>
                      <a:srgbClr val="E5F5FF"/>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WT-C step 12</a:t>
                      </a:r>
                    </a:p>
                  </a:txBody>
                  <a:tcPr marL="54864" marR="54864" marT="27432" marB="27432">
                    <a:solidFill>
                      <a:srgbClr val="FFFFFF"/>
                    </a:solidFill>
                  </a:tcPr>
                </a:tc>
                <a:tc>
                  <a:txBody>
                    <a:bodyPr/>
                    <a:lstStyle/>
                    <a:p>
                      <a:r>
                        <a:rPr sz="900" b="0">
                          <a:solidFill>
                            <a:srgbClr val="4B4B4B"/>
                          </a:solidFill>
                          <a:latin typeface="Arial"/>
                        </a:rPr>
                        <a:t>Enters the current password as the new password and clicks Change Password</a:t>
                      </a:r>
                    </a:p>
                  </a:txBody>
                  <a:tcPr marL="54864" marR="54864" marT="27432" marB="27432">
                    <a:solidFill>
                      <a:srgbClr val="FFFFFF"/>
                    </a:solidFill>
                  </a:tcPr>
                </a:tc>
                <a:tc>
                  <a:txBody>
                    <a:bodyPr/>
                    <a:lstStyle/>
                    <a:p>
                      <a:r>
                        <a:rPr sz="900" b="0">
                          <a:solidFill>
                            <a:srgbClr val="4B4B4B"/>
                          </a:solidFill>
                          <a:latin typeface="Arial"/>
                        </a:rPr>
                        <a:t>SCR-UA-05_wt-c-step-12.png</a:t>
                      </a:r>
                    </a:p>
                  </a:txBody>
                  <a:tcPr marL="54864" marR="54864" marT="27432" marB="27432">
                    <a:solidFill>
                      <a:srgbClr val="FFFFFF"/>
                    </a:solidFill>
                  </a:tcPr>
                </a:tc>
              </a:tr>
            </a:tbl>
          </a:graphicData>
        </a:graphic>
      </p:graphicFrame>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SCR-UA-05 My Profile: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cr-ua-05-01-view.png"/>
          <p:cNvPicPr>
            <a:picLocks noChangeAspect="1"/>
          </p:cNvPicPr>
          <p:nvPr/>
        </p:nvPicPr>
        <p:blipFill>
          <a:blip r:embed="rId3"/>
          <a:stretch>
            <a:fillRect/>
          </a:stretch>
        </p:blipFill>
        <p:spPr>
          <a:xfrm>
            <a:off x="4088581" y="1261872"/>
            <a:ext cx="4014533"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My Profile of the Requestor</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SCR-UA-06 Access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157</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CHG-UA-2.1-01, CHG-UA-2.2-01</a:t>
            </a:r>
          </a:p>
        </p:txBody>
      </p:sp>
      <p:graphicFrame>
        <p:nvGraphicFramePr>
          <p:cNvPr id="10" name="Table 9"/>
          <p:cNvGraphicFramePr>
            <a:graphicFrameLocks noGrp="1"/>
          </p:cNvGraphicFramePr>
          <p:nvPr/>
        </p:nvGraphicFramePr>
        <p:xfrm>
          <a:off x="548640" y="1307592"/>
          <a:ext cx="6434760" cy="29565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User access requests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work list of access requests: the requests the user raised, the requests assigned to the user for approval or second approval, the approved group-profile requests waiting for implementation, and all requests the user may see. Approvers approve several selected requests at once; a new-user request is approved on its own.</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Requestor, Approver, Second Approver, Business Administrator, System Administrator, Auditor, Information Security Officer, New Business Approver (keeps the access approval right)</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User Access › Access Requests</a:t>
                      </a:r>
                    </a:p>
                    <a:p>
                      <a:r>
                        <a:rPr sz="950" b="0">
                          <a:solidFill>
                            <a:srgbClr val="4B4B4B"/>
                          </a:solidFill>
                          <a:latin typeface="Arial"/>
                        </a:rPr>
                        <a:t>The notice Access request AR-yyyy-nnnnnn to approve (opens the request)</a:t>
                      </a:r>
                    </a:p>
                    <a:p>
                      <a:r>
                        <a:rPr sz="950" b="0">
                          <a:solidFill>
                            <a:srgbClr val="4B4B4B"/>
                          </a:solidFill>
                          <a:latin typeface="Arial"/>
                        </a:rPr>
                        <a:t>Access Request record › back arrow</a:t>
                      </a:r>
                    </a:p>
                    <a:p>
                      <a:r>
                        <a:rPr sz="950" b="0">
                          <a:solidFill>
                            <a:srgbClr val="4B4B4B"/>
                          </a:solidFill>
                          <a:latin typeface="Arial"/>
                        </a:rPr>
                        <a:t>The old address Broking Setup › Access Requests opens this screen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FR-UA-018, FR-UA-030, FR-UA-031</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Each user finds the requests to act on at once; approvers clear routine requests in one step.</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SCR-UA-06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158</a:t>
            </a:r>
          </a:p>
        </p:txBody>
      </p:sp>
      <p:graphicFrame>
        <p:nvGraphicFramePr>
          <p:cNvPr id="9" name="Table 8"/>
          <p:cNvGraphicFramePr>
            <a:graphicFrameLocks noGrp="1"/>
          </p:cNvGraphicFramePr>
          <p:nvPr/>
        </p:nvGraphicFramePr>
        <p:xfrm>
          <a:off x="548640" y="1325880"/>
          <a:ext cx="11094411" cy="476247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1127752">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My Requests / Assigned to Me / Second Approval / For Implementation / All</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My Requests: raised by the user; Assigned to Me: waiting for the user (approval right); Second Approval: waiting for a second approval (second approval right); For Implementation: approved group-profile requests (role management right); All: every request the user may see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Search</a:t>
                      </a:r>
                    </a:p>
                  </a:txBody>
                  <a:tcPr marL="54864" marR="54864" marT="27432" marB="27432">
                    <a:solidFill>
                      <a:srgbClr val="E5F5FF"/>
                    </a:solidFill>
                  </a:tcPr>
                </a:tc>
                <a:tc>
                  <a:txBody>
                    <a:bodyPr/>
                    <a:lstStyle/>
                    <a:p>
                      <a:r>
                        <a:rPr sz="850" b="0">
                          <a:solidFill>
                            <a:srgbClr val="4B4B4B"/>
                          </a:solidFill>
                          <a:latin typeface="Arial"/>
                        </a:rPr>
                        <a:t>Search Request No., User or Role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Part of a request number, user ID or group profile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 search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Status</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Draft, Pending Approval, Pending Second Approval, Returned, Scheduled, Approved, For Implementation, Implemented, Rejected, Cancelled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739135">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Request Type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Enrol new user, Modify user, Deactivate user, Reactivate user, Change roles, New group profile, Modify group profile, Deactivate group profile, Reactivate group profile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Requested By / Approver</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User ID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Exact user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Requested From / Requested To</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AR-yyyy-nnnnnn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Type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Request type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Change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One-line description with the names of the group profiles, for example Modify user a013000101 with group profiles Marketing Account Officer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Requested By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Name of the requester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SCR-UA-06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159</a:t>
            </a:r>
          </a:p>
        </p:txBody>
      </p:sp>
      <p:graphicFrame>
        <p:nvGraphicFramePr>
          <p:cNvPr id="9" name="Table 8"/>
          <p:cNvGraphicFramePr>
            <a:graphicFrameLocks noGrp="1"/>
          </p:cNvGraphicFramePr>
          <p:nvPr/>
        </p:nvGraphicFramePr>
        <p:xfrm>
          <a:off x="548640" y="1325880"/>
          <a:ext cx="11094411" cy="188212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Requested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 HH:mm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Approver</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Name of the chosen approver, or of the decider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Status pill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868674">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Select</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One per row on Assigned to Me and Second Approval; disabled on a new-user request, with the tooltip Open the request to approve it: the temporary password of the new user is shown only once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160</a:t>
            </a:r>
          </a:p>
        </p:txBody>
      </p:sp>
      <p:graphicFrame>
        <p:nvGraphicFramePr>
          <p:cNvPr id="9" name="Table 8"/>
          <p:cNvGraphicFramePr>
            <a:graphicFrameLocks noGrp="1"/>
          </p:cNvGraphicFramePr>
          <p:nvPr/>
        </p:nvGraphicFramePr>
        <p:xfrm>
          <a:off x="548640" y="1325880"/>
          <a:ext cx="11094412" cy="1882129"/>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609596">
                <a:tc>
                  <a:txBody>
                    <a:bodyPr/>
                    <a:lstStyle/>
                    <a:p>
                      <a:r>
                        <a:rPr sz="850" b="0">
                          <a:solidFill>
                            <a:srgbClr val="4B4B4B"/>
                          </a:solidFill>
                          <a:latin typeface="Arial"/>
                        </a:rPr>
                        <a:t>New Request</a:t>
                      </a:r>
                    </a:p>
                  </a:txBody>
                  <a:tcPr marL="54864" marR="54864" marT="27432" marB="27432">
                    <a:solidFill>
                      <a:srgbClr val="FFFFFF"/>
                    </a:solidFill>
                  </a:tcPr>
                </a:tc>
                <a:tc>
                  <a:txBody>
                    <a:bodyPr/>
                    <a:lstStyle/>
                    <a:p>
                      <a:r>
                        <a:rPr sz="850" b="0">
                          <a:solidFill>
                            <a:srgbClr val="4B4B4B"/>
                          </a:solidFill>
                          <a:latin typeface="Arial"/>
                        </a:rPr>
                        <a:t>Requestor, Business Administrator, System Administrator (enrol, modify, deactivate or reactivate right)</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New Request (SCR-UA-07)</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Approve Selected</a:t>
                      </a:r>
                    </a:p>
                  </a:txBody>
                  <a:tcPr marL="54864" marR="54864" marT="27432" marB="27432">
                    <a:solidFill>
                      <a:srgbClr val="E5F5FF"/>
                    </a:solidFill>
                  </a:tcPr>
                </a:tc>
                <a:tc>
                  <a:txBody>
                    <a:bodyPr/>
                    <a:lstStyle/>
                    <a:p>
                      <a:r>
                        <a:rPr sz="850" b="0">
                          <a:solidFill>
                            <a:srgbClr val="4B4B4B"/>
                          </a:solidFill>
                          <a:latin typeface="Arial"/>
                        </a:rPr>
                        <a:t>Approver on Assigned to Me; Second Approver on Second Approval</a:t>
                      </a:r>
                    </a:p>
                  </a:txBody>
                  <a:tcPr marL="54864" marR="54864" marT="27432" marB="27432">
                    <a:solidFill>
                      <a:srgbClr val="E5F5FF"/>
                    </a:solidFill>
                  </a:tcPr>
                </a:tc>
                <a:tc>
                  <a:txBody>
                    <a:bodyPr/>
                    <a:lstStyle/>
                    <a:p>
                      <a:r>
                        <a:rPr sz="850" b="0">
                          <a:solidFill>
                            <a:srgbClr val="4B4B4B"/>
                          </a:solidFill>
                          <a:latin typeface="Arial"/>
                        </a:rPr>
                        <a:t>Rows selected</a:t>
                      </a:r>
                    </a:p>
                  </a:txBody>
                  <a:tcPr marL="54864" marR="54864" marT="27432" marB="27432">
                    <a:solidFill>
                      <a:srgbClr val="E5F5FF"/>
                    </a:solidFill>
                  </a:tcPr>
                </a:tc>
                <a:tc>
                  <a:txBody>
                    <a:bodyPr/>
                    <a:lstStyle/>
                    <a:p>
                      <a:r>
                        <a:rPr sz="850" b="0">
                          <a:solidFill>
                            <a:srgbClr val="4B4B4B"/>
                          </a:solidFill>
                          <a:latin typeface="Arial"/>
                        </a:rPr>
                        <a:t>Approves each selected request in turn, with the same rules as one approval; a new-user request cannot be selected. Toast: n request(s) approved</a:t>
                      </a:r>
                    </a:p>
                  </a:txBody>
                  <a:tcPr marL="54864" marR="54864" marT="27432" marB="27432">
                    <a:solidFill>
                      <a:srgbClr val="E5F5FF"/>
                    </a:solidFill>
                  </a:tcPr>
                </a:tc>
                <a:tc>
                  <a:txBody>
                    <a:bodyPr/>
                    <a:lstStyle/>
                    <a:p>
                      <a:r>
                        <a:rPr sz="850" b="0">
                          <a:solidFill>
                            <a:srgbClr val="4B4B4B"/>
                          </a:solidFill>
                          <a:latin typeface="Arial"/>
                        </a:rPr>
                        <a:t>Approved, Scheduled, Pending Second Approval or For Implementation</a:t>
                      </a:r>
                    </a:p>
                  </a:txBody>
                  <a:tcPr marL="54864" marR="54864" marT="27432" marB="27432">
                    <a:solidFill>
                      <a:srgbClr val="E5F5FF"/>
                    </a:solidFill>
                  </a:tcPr>
                </a:tc>
                <a:tc>
                  <a:txBody>
                    <a:bodyPr/>
                    <a:lstStyle/>
                    <a:p>
                      <a:r>
                        <a:rPr sz="850" b="0">
                          <a:solidFill>
                            <a:srgbClr val="4B4B4B"/>
                          </a:solidFill>
                          <a:latin typeface="Arial"/>
                        </a:rPr>
                        <a:t>Decision notice to each requester; access-changed notice to each user</a:t>
                      </a:r>
                    </a:p>
                  </a:txBody>
                  <a:tcPr marL="54864" marR="54864" marT="27432" marB="27432">
                    <a:solidFill>
                      <a:srgbClr val="E5F5FF"/>
                    </a:solidFill>
                  </a:tcPr>
                </a:tc>
              </a:tr>
              <a:tr h="220979">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Shows or hides the filters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 a row</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request (SCR-UA-08)</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161</a:t>
            </a:r>
          </a:p>
        </p:txBody>
      </p:sp>
      <p:graphicFrame>
        <p:nvGraphicFramePr>
          <p:cNvPr id="9" name="Table 8"/>
          <p:cNvGraphicFramePr>
            <a:graphicFrameLocks noGrp="1"/>
          </p:cNvGraphicFramePr>
          <p:nvPr/>
        </p:nvGraphicFramePr>
        <p:xfrm>
          <a:off x="548640" y="1325880"/>
          <a:ext cx="11094415" cy="12801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A draft is seen only by its creator. Holders of the approval, user management or audit right (Approver, New Business Approver, System Administrator, Business Administrator, Auditor, Information Security Officer) see every submitted request; the others see the requests they raised and those waiting for them (FR-UA-018).</a:t>
                      </a:r>
                    </a:p>
                  </a:txBody>
                  <a:tcPr marL="54864" marR="54864" marT="27432" marB="27432">
                    <a:solidFill>
                      <a:srgbClr val="FFFFFF"/>
                    </a:solidFill>
                  </a:tcPr>
                </a:tc>
              </a:tr>
              <a:tr h="243840">
                <a:tc>
                  <a:txBody>
                    <a:bodyPr/>
                    <a:lstStyle/>
                    <a:p>
                      <a:r>
                        <a:rPr sz="1000" b="0">
                          <a:solidFill>
                            <a:srgbClr val="4B4B4B"/>
                          </a:solidFill>
                          <a:latin typeface="Arial"/>
                        </a:rPr>
                        <a:t>Assigned to Me lists the pending requests whose chosen approver is the user; when UAM_ANY_APPROVER is on, every approver sees every pending request (FR-UA-030, FR-UA-015).</a:t>
                      </a:r>
                    </a:p>
                  </a:txBody>
                  <a:tcPr marL="54864" marR="54864" marT="27432" marB="27432">
                    <a:solidFill>
                      <a:srgbClr val="E5F5FF"/>
                    </a:solidFill>
                  </a:tcPr>
                </a:tc>
              </a:tr>
              <a:tr h="396240">
                <a:tc>
                  <a:txBody>
                    <a:bodyPr/>
                    <a:lstStyle/>
                    <a:p>
                      <a:r>
                        <a:rPr sz="1000" b="0">
                          <a:solidFill>
                            <a:srgbClr val="4B4B4B"/>
                          </a:solidFill>
                          <a:latin typeface="Arial"/>
                        </a:rPr>
                        <a:t>An enrolment is approved on its own, on the request, so that its temporary password is shown: its row cannot be selected here, and My Approvals refuses it among several: Approve &lt;reference&gt; on its own: the new user's temporary password is shown once (FR-UA-031).</a:t>
                      </a:r>
                    </a:p>
                  </a:txBody>
                  <a:tcPr marL="54864" marR="54864" marT="27432" marB="27432">
                    <a:solidFill>
                      <a:srgbClr val="FFFFFF"/>
                    </a:solidFill>
                  </a:tcPr>
                </a:tc>
              </a:tr>
            </a:tbl>
          </a:graphicData>
        </a:graphic>
      </p:graphicFrame>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SCR-UA-06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162</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Pending approval</a:t>
                      </a:r>
                    </a:p>
                  </a:txBody>
                  <a:tcPr marL="54864" marR="54864" marT="27432" marB="27432">
                    <a:solidFill>
                      <a:srgbClr val="FFFFFF"/>
                    </a:solidFill>
                  </a:tcPr>
                </a:tc>
                <a:tc>
                  <a:txBody>
                    <a:bodyPr/>
                    <a:lstStyle/>
                    <a:p>
                      <a:r>
                        <a:rPr sz="900" b="0">
                          <a:solidFill>
                            <a:srgbClr val="4B4B4B"/>
                          </a:solidFill>
                          <a:latin typeface="Arial"/>
                        </a:rPr>
                        <a:t>WT-A step 3</a:t>
                      </a:r>
                    </a:p>
                  </a:txBody>
                  <a:tcPr marL="54864" marR="54864" marT="27432" marB="27432">
                    <a:solidFill>
                      <a:srgbClr val="FFFFFF"/>
                    </a:solidFill>
                  </a:tcPr>
                </a:tc>
                <a:tc>
                  <a:txBody>
                    <a:bodyPr/>
                    <a:lstStyle/>
                    <a:p>
                      <a:r>
                        <a:rPr sz="900" b="0">
                          <a:solidFill>
                            <a:srgbClr val="4B4B4B"/>
                          </a:solidFill>
                          <a:latin typeface="Arial"/>
                        </a:rPr>
                        <a:t>Opens the notice Access request AR-yyyy-nnnnnn to approve, or User Access › Access Requests</a:t>
                      </a:r>
                    </a:p>
                  </a:txBody>
                  <a:tcPr marL="54864" marR="54864" marT="27432" marB="27432">
                    <a:solidFill>
                      <a:srgbClr val="FFFFFF"/>
                    </a:solidFill>
                  </a:tcPr>
                </a:tc>
                <a:tc>
                  <a:txBody>
                    <a:bodyPr/>
                    <a:lstStyle/>
                    <a:p>
                      <a:r>
                        <a:rPr sz="900" b="0">
                          <a:solidFill>
                            <a:srgbClr val="4B4B4B"/>
                          </a:solidFill>
                          <a:latin typeface="Arial"/>
                        </a:rPr>
                        <a:t>SCR-UA-06_wt-a-step-03.png</a:t>
                      </a:r>
                    </a:p>
                  </a:txBody>
                  <a:tcPr marL="54864" marR="54864" marT="27432" marB="27432">
                    <a:solidFill>
                      <a:srgbClr val="FFFFFF"/>
                    </a:solidFill>
                  </a:tcPr>
                </a:tc>
              </a:tr>
            </a:tbl>
          </a:graphicData>
        </a:graphic>
      </p:graphicFrame>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SCR-UA-06 Access Requests: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163</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CHG-UA-2.1-01, CHG-UA-2.2-01</a:t>
            </a:r>
          </a:p>
        </p:txBody>
      </p:sp>
      <p:sp>
        <p:nvSpPr>
          <p:cNvPr id="10" name="Rounded Rectangle 9"/>
          <p:cNvSpPr/>
          <p:nvPr/>
        </p:nvSpPr>
        <p:spPr>
          <a:xfrm>
            <a:off x="603321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07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Access Requests of the Approver, Assigned to Me tab (part 1 of 2)</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SCR-UA-06 Access Requests: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164</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CHG-UA-2.1-01, CHG-UA-2.2-01</a:t>
            </a:r>
          </a:p>
        </p:txBody>
      </p:sp>
      <p:sp>
        <p:nvSpPr>
          <p:cNvPr id="10" name="Rounded Rectangle 9"/>
          <p:cNvSpPr/>
          <p:nvPr/>
        </p:nvSpPr>
        <p:spPr>
          <a:xfrm>
            <a:off x="603321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074.png"/>
          <p:cNvPicPr>
            <a:picLocks noChangeAspect="1"/>
          </p:cNvPicPr>
          <p:nvPr/>
        </p:nvPicPr>
        <p:blipFill>
          <a:blip r:embed="rId3"/>
          <a:stretch>
            <a:fillRect/>
          </a:stretch>
        </p:blipFill>
        <p:spPr>
          <a:xfrm>
            <a:off x="548640" y="1261872"/>
            <a:ext cx="11094415" cy="2601449"/>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Access Requests of the Approver, Assigned to Me tab (part 2 of 2)</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SCR-UA-06 Access Requests: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165</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CHG-UA-2.1-01, CHG-UA-2.2-01</a:t>
            </a:r>
          </a:p>
        </p:txBody>
      </p:sp>
      <p:sp>
        <p:nvSpPr>
          <p:cNvPr id="10" name="Rounded Rectangle 9"/>
          <p:cNvSpPr/>
          <p:nvPr/>
        </p:nvSpPr>
        <p:spPr>
          <a:xfrm>
            <a:off x="603321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075.png"/>
          <p:cNvPicPr>
            <a:picLocks noChangeAspect="1"/>
          </p:cNvPicPr>
          <p:nvPr/>
        </p:nvPicPr>
        <p:blipFill>
          <a:blip r:embed="rId3"/>
          <a:stretch>
            <a:fillRect/>
          </a:stretch>
        </p:blipFill>
        <p:spPr>
          <a:xfrm>
            <a:off x="548640" y="1261872"/>
            <a:ext cx="11094415" cy="4533407"/>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Access Requests of the Requestor, My Requests tab with the filters (part 1 of 4)</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SCR-UA-06 Access Requests: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166</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CHG-UA-2.1-01, CHG-UA-2.2-01</a:t>
            </a:r>
          </a:p>
        </p:txBody>
      </p:sp>
      <p:sp>
        <p:nvSpPr>
          <p:cNvPr id="10" name="Rounded Rectangle 9"/>
          <p:cNvSpPr/>
          <p:nvPr/>
        </p:nvSpPr>
        <p:spPr>
          <a:xfrm>
            <a:off x="603321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076.png"/>
          <p:cNvPicPr>
            <a:picLocks noChangeAspect="1"/>
          </p:cNvPicPr>
          <p:nvPr/>
        </p:nvPicPr>
        <p:blipFill>
          <a:blip r:embed="rId3"/>
          <a:stretch>
            <a:fillRect/>
          </a:stretch>
        </p:blipFill>
        <p:spPr>
          <a:xfrm>
            <a:off x="548640" y="1261872"/>
            <a:ext cx="11094415" cy="4485586"/>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Access Requests of the Requestor, My Requests tab with the filters (part 2 of 4)</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SCR-UA-06 Access Requests: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167</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CHG-UA-2.1-01, CHG-UA-2.2-01</a:t>
            </a:r>
          </a:p>
        </p:txBody>
      </p:sp>
      <p:sp>
        <p:nvSpPr>
          <p:cNvPr id="10" name="Rounded Rectangle 9"/>
          <p:cNvSpPr/>
          <p:nvPr/>
        </p:nvSpPr>
        <p:spPr>
          <a:xfrm>
            <a:off x="603321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077.png"/>
          <p:cNvPicPr>
            <a:picLocks noChangeAspect="1"/>
          </p:cNvPicPr>
          <p:nvPr/>
        </p:nvPicPr>
        <p:blipFill>
          <a:blip r:embed="rId3"/>
          <a:stretch>
            <a:fillRect/>
          </a:stretch>
        </p:blipFill>
        <p:spPr>
          <a:xfrm>
            <a:off x="548640" y="1261872"/>
            <a:ext cx="11094415" cy="464339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Access Requests of the Requestor, My Requests tab with the filters (part 3 of 4)</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SCR-UA-06 Access Requests: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168</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CHG-UA-2.1-01, CHG-UA-2.2-01</a:t>
            </a:r>
          </a:p>
        </p:txBody>
      </p:sp>
      <p:sp>
        <p:nvSpPr>
          <p:cNvPr id="10" name="Rounded Rectangle 9"/>
          <p:cNvSpPr/>
          <p:nvPr/>
        </p:nvSpPr>
        <p:spPr>
          <a:xfrm>
            <a:off x="603321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078.png"/>
          <p:cNvPicPr>
            <a:picLocks noChangeAspect="1"/>
          </p:cNvPicPr>
          <p:nvPr/>
        </p:nvPicPr>
        <p:blipFill>
          <a:blip r:embed="rId3"/>
          <a:stretch>
            <a:fillRect/>
          </a:stretch>
        </p:blipFill>
        <p:spPr>
          <a:xfrm>
            <a:off x="548640" y="1261872"/>
            <a:ext cx="11094415" cy="216628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Access Requests of the Requestor, My Requests tab with the filters (part 4 of 4)</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SCR-UA-06 Access Requests: Empty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169</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53351"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1" name="Picture 10" descr="ux-scr-ua-06-empty.png"/>
          <p:cNvPicPr>
            <a:picLocks noChangeAspect="1"/>
          </p:cNvPicPr>
          <p:nvPr/>
        </p:nvPicPr>
        <p:blipFill>
          <a:blip r:embed="rId3"/>
          <a:stretch>
            <a:fillRect/>
          </a:stretch>
        </p:blipFill>
        <p:spPr>
          <a:xfrm>
            <a:off x="1524760" y="1261872"/>
            <a:ext cx="9142174"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search that finds no access request</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SCR-UA-07 New Request and Edit Request (user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170</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CHG-UA-2.1-05, CHG-UA-2.2-01</a:t>
            </a:r>
          </a:p>
        </p:txBody>
      </p:sp>
      <p:graphicFrame>
        <p:nvGraphicFramePr>
          <p:cNvPr id="10" name="Table 9"/>
          <p:cNvGraphicFramePr>
            <a:graphicFrameLocks noGrp="1"/>
          </p:cNvGraphicFramePr>
          <p:nvPr/>
        </p:nvGraphicFramePr>
        <p:xfrm>
          <a:off x="548640" y="1307592"/>
          <a:ext cx="6434760" cy="29565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User access requests</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form for the four user requests: enrol a new user, modify a user (data and group profiles), deactivate and reactivate a user. The requester enters the user, the new values with the current ones shown beside them, the group profiles, the effective date, the approver and the justification; saves a draft to finish later or submits it. A returned request is corrected here and resubmitted with correction remarks.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Requestor, Business Administrator, System Administrator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User Access › Access Requests › New Request</a:t>
                      </a:r>
                    </a:p>
                    <a:p>
                      <a:r>
                        <a:rPr sz="950" b="0">
                          <a:solidFill>
                            <a:srgbClr val="4B4B4B"/>
                          </a:solidFill>
                          <a:latin typeface="Arial"/>
                        </a:rPr>
                        <a:t>Access Requests › New Request</a:t>
                      </a:r>
                    </a:p>
                    <a:p>
                      <a:r>
                        <a:rPr sz="950" b="0">
                          <a:solidFill>
                            <a:srgbClr val="4B4B4B"/>
                          </a:solidFill>
                          <a:latin typeface="Arial"/>
                        </a:rPr>
                        <a:t>Access Request record › Edit Request (draft or returned request)</a:t>
                      </a:r>
                    </a:p>
                    <a:p>
                      <a:r>
                        <a:rPr sz="950" b="0">
                          <a:solidFill>
                            <a:srgbClr val="4B4B4B"/>
                          </a:solidFill>
                          <a:latin typeface="Arial"/>
                        </a:rPr>
                        <a:t>Users › Raise Request, or a user row (opens a Modify user request for that user)</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13.2.2</a:t>
                      </a:r>
                    </a:p>
                  </a:txBody>
                  <a:tcPr marL="54864" marR="54864" marT="27432" marB="27432">
                    <a:solidFill>
                      <a:srgbClr val="FFFFFF"/>
                    </a:solidFill>
                  </a:tcPr>
                </a:tc>
              </a:tr>
              <a:tr h="38100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FR-UA-010, FR-UA-011, FR-UA-012, FR-UA-013, FR-UA-014, FR-UA-015, FR-UA-016, FR-UA-020, FR-UA-053</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A complete, checked request waits for the chosen approver; nothing in the user's access changes yet.</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(12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2 images</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6 images</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171</a:t>
            </a:r>
          </a:p>
        </p:txBody>
      </p:sp>
      <p:graphicFrame>
        <p:nvGraphicFramePr>
          <p:cNvPr id="9" name="Table 8"/>
          <p:cNvGraphicFramePr>
            <a:graphicFrameLocks noGrp="1"/>
          </p:cNvGraphicFramePr>
          <p:nvPr/>
        </p:nvGraphicFramePr>
        <p:xfrm>
          <a:off x="548640" y="1325880"/>
          <a:ext cx="11094411" cy="494535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Request Type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Enrol new user, Modify user, Deactivate user, Reactivate user</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The type of a saved request cannot change</a:t>
                      </a:r>
                    </a:p>
                  </a:txBody>
                  <a:tcPr marL="54864" marR="54864" marT="27432" marB="27432">
                    <a:solidFill>
                      <a:srgbClr val="FFFFFF"/>
                    </a:solidFill>
                  </a:tcPr>
                </a:tc>
                <a:tc>
                  <a:txBody>
                    <a:bodyPr/>
                    <a:lstStyle/>
                    <a:p>
                      <a:r>
                        <a:rPr sz="850" b="0">
                          <a:solidFill>
                            <a:srgbClr val="4B4B4B"/>
                          </a:solidFill>
                          <a:latin typeface="Arial"/>
                        </a:rPr>
                        <a:t>The type of request &lt;request no&gt; cannot change</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User Type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Internal (BIBS user); External (portal user)</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shown while UAM_EXTERNAL_USERS is false (no portal installed, as delivered); every request is then for an internal user</a:t>
                      </a:r>
                    </a:p>
                  </a:txBody>
                  <a:tcPr marL="54864" marR="54864" marT="27432" marB="27432">
                    <a:solidFill>
                      <a:srgbClr val="E5F5FF"/>
                    </a:solidFill>
                  </a:tcPr>
                </a:tc>
                <a:tc>
                  <a:txBody>
                    <a:bodyPr/>
                    <a:lstStyle/>
                    <a:p>
                      <a:r>
                        <a:rPr sz="850" b="0">
                          <a:solidFill>
                            <a:srgbClr val="4B4B4B"/>
                          </a:solidFill>
                          <a:latin typeface="Arial"/>
                        </a:rPr>
                        <a:t>Requests for external (portal) users are switched off: no portal is installed</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Effective Date</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 blank = applies on approval</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Today or later</a:t>
                      </a:r>
                    </a:p>
                  </a:txBody>
                  <a:tcPr marL="54864" marR="54864" marT="27432" marB="27432">
                    <a:solidFill>
                      <a:srgbClr val="FFFFFF"/>
                    </a:solidFill>
                  </a:tcPr>
                </a:tc>
                <a:tc>
                  <a:txBody>
                    <a:bodyPr/>
                    <a:lstStyle/>
                    <a:p>
                      <a:r>
                        <a:rPr sz="850" b="0">
                          <a:solidFill>
                            <a:srgbClr val="4B4B4B"/>
                          </a:solidFill>
                          <a:latin typeface="Arial"/>
                        </a:rPr>
                        <a:t>The effective date cannot be before today</a:t>
                      </a:r>
                    </a:p>
                  </a:txBody>
                  <a:tcPr marL="54864" marR="54864" marT="27432" marB="27432">
                    <a:solidFill>
                      <a:srgbClr val="FFFFFF"/>
                    </a:solidFill>
                  </a:tcPr>
                </a:tc>
              </a:tr>
              <a:tr h="868674">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User</a:t>
                      </a:r>
                    </a:p>
                  </a:txBody>
                  <a:tcPr marL="54864" marR="54864" marT="27432" marB="27432">
                    <a:solidFill>
                      <a:srgbClr val="E5F5FF"/>
                    </a:solidFill>
                  </a:tcPr>
                </a:tc>
                <a:tc>
                  <a:txBody>
                    <a:bodyPr/>
                    <a:lstStyle/>
                    <a:p>
                      <a:r>
                        <a:rPr sz="850" b="0">
                          <a:solidFill>
                            <a:srgbClr val="4B4B4B"/>
                          </a:solidFill>
                          <a:latin typeface="Arial"/>
                        </a:rPr>
                        <a:t>User ID</a:t>
                      </a:r>
                    </a:p>
                  </a:txBody>
                  <a:tcPr marL="54864" marR="54864" marT="27432" marB="27432">
                    <a:solidFill>
                      <a:srgbClr val="E5F5FF"/>
                    </a:solidFill>
                  </a:tcPr>
                </a:tc>
                <a:tc>
                  <a:txBody>
                    <a:bodyPr/>
                    <a:lstStyle/>
                    <a:p>
                      <a:r>
                        <a:rPr sz="850" b="0">
                          <a:solidFill>
                            <a:srgbClr val="4B4B4B"/>
                          </a:solidFill>
                          <a:latin typeface="Arial"/>
                        </a:rPr>
                        <a:t>Text (new user); Drop-down (existing user)</a:t>
                      </a:r>
                    </a:p>
                  </a:txBody>
                  <a:tcPr marL="54864" marR="54864" marT="27432" marB="27432">
                    <a:solidFill>
                      <a:srgbClr val="E5F5FF"/>
                    </a:solidFill>
                  </a:tcPr>
                </a:tc>
                <a:tc>
                  <a:txBody>
                    <a:bodyPr/>
                    <a:lstStyle/>
                    <a:p>
                      <a:r>
                        <a:rPr sz="850" b="0">
                          <a:solidFill>
                            <a:srgbClr val="4B4B4B"/>
                          </a:solidFill>
                          <a:latin typeface="Arial"/>
                        </a:rPr>
                        <a:t>3 to 50 letters, digits, dots, dashes or underscores; a new user ID in the BDOI format, shown in words under the field (BDOI format: a letter followed by nine digits, for example a013000196)</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 new user ID must not exist and must follow the format; an existing user must be active to deactivate and deactivated or locked to reactivate</a:t>
                      </a:r>
                    </a:p>
                  </a:txBody>
                  <a:tcPr marL="54864" marR="54864" marT="27432" marB="27432">
                    <a:solidFill>
                      <a:srgbClr val="E5F5FF"/>
                    </a:solidFill>
                  </a:tcPr>
                </a:tc>
                <a:tc>
                  <a:txBody>
                    <a:bodyPr/>
                    <a:lstStyle/>
                    <a:p>
                      <a:r>
                        <a:rPr sz="850" b="0">
                          <a:solidFill>
                            <a:srgbClr val="4B4B4B"/>
                          </a:solidFill>
                          <a:latin typeface="Arial"/>
                        </a:rPr>
                        <a:t>Use 3 to 50 letters, digits, dots, dashes or underscores; The user ID must be a letter followed by nine digits, for example a013000196</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User data</a:t>
                      </a:r>
                    </a:p>
                  </a:txBody>
                  <a:tcPr marL="54864" marR="54864" marT="27432" marB="27432">
                    <a:solidFill>
                      <a:srgbClr val="FFFFFF"/>
                    </a:solidFill>
                  </a:tcPr>
                </a:tc>
                <a:tc>
                  <a:txBody>
                    <a:bodyPr/>
                    <a:lstStyle/>
                    <a:p>
                      <a:r>
                        <a:rPr sz="850" b="0">
                          <a:solidFill>
                            <a:srgbClr val="4B4B4B"/>
                          </a:solidFill>
                          <a:latin typeface="Arial"/>
                        </a:rPr>
                        <a:t>Full Name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120 characters; Current: value shown for a modification</a:t>
                      </a:r>
                    </a:p>
                  </a:txBody>
                  <a:tcPr marL="54864" marR="54864" marT="27432" marB="27432">
                    <a:solidFill>
                      <a:srgbClr val="FFFFFF"/>
                    </a:solidFill>
                  </a:tcPr>
                </a:tc>
                <a:tc>
                  <a:txBody>
                    <a:bodyPr/>
                    <a:lstStyle/>
                    <a:p>
                      <a:r>
                        <a:rPr sz="850" b="0">
                          <a:solidFill>
                            <a:srgbClr val="4B4B4B"/>
                          </a:solidFill>
                          <a:latin typeface="Arial"/>
                        </a:rPr>
                        <a:t>Cond.: enrolment</a:t>
                      </a:r>
                    </a:p>
                  </a:txBody>
                  <a:tcPr marL="54864" marR="54864" marT="27432" marB="27432">
                    <a:solidFill>
                      <a:srgbClr val="FFFFFF"/>
                    </a:solidFill>
                  </a:tcPr>
                </a:tc>
                <a:tc>
                  <a:txBody>
                    <a:bodyPr/>
                    <a:lstStyle/>
                    <a:p>
                      <a:r>
                        <a:rPr sz="850" b="0">
                          <a:solidFill>
                            <a:srgbClr val="4B4B4B"/>
                          </a:solidFill>
                          <a:latin typeface="Arial"/>
                        </a:rPr>
                        <a:t>Not blank for a new user</a:t>
                      </a:r>
                    </a:p>
                  </a:txBody>
                  <a:tcPr marL="54864" marR="54864" marT="27432" marB="27432">
                    <a:solidFill>
                      <a:srgbClr val="FFFFFF"/>
                    </a:solidFill>
                  </a:tcPr>
                </a:tc>
                <a:tc>
                  <a:txBody>
                    <a:bodyPr/>
                    <a:lstStyle/>
                    <a:p>
                      <a:r>
                        <a:rPr sz="850" b="0">
                          <a:solidFill>
                            <a:srgbClr val="4B4B4B"/>
                          </a:solidFill>
                          <a:latin typeface="Arial"/>
                        </a:rPr>
                        <a:t>Enter the full name of the new user</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User data</a:t>
                      </a:r>
                    </a:p>
                  </a:txBody>
                  <a:tcPr marL="54864" marR="54864" marT="27432" marB="27432">
                    <a:solidFill>
                      <a:srgbClr val="E5F5FF"/>
                    </a:solidFill>
                  </a:tcPr>
                </a:tc>
                <a:tc>
                  <a:txBody>
                    <a:bodyPr/>
                    <a:lstStyle/>
                    <a:p>
                      <a:r>
                        <a:rPr sz="850" b="0">
                          <a:solidFill>
                            <a:srgbClr val="4B4B4B"/>
                          </a:solidFill>
                          <a:latin typeface="Arial"/>
                        </a:rPr>
                        <a:t>E-mail</a:t>
                      </a:r>
                    </a:p>
                  </a:txBody>
                  <a:tcPr marL="54864" marR="54864" marT="27432" marB="27432">
                    <a:solidFill>
                      <a:srgbClr val="E5F5FF"/>
                    </a:solidFill>
                  </a:tcPr>
                </a:tc>
                <a:tc>
                  <a:txBody>
                    <a:bodyPr/>
                    <a:lstStyle/>
                    <a:p>
                      <a:r>
                        <a:rPr sz="850" b="0">
                          <a:solidFill>
                            <a:srgbClr val="4B4B4B"/>
                          </a:solidFill>
                          <a:latin typeface="Arial"/>
                        </a:rPr>
                        <a:t>E-mail</a:t>
                      </a:r>
                    </a:p>
                  </a:txBody>
                  <a:tcPr marL="54864" marR="54864" marT="27432" marB="27432">
                    <a:solidFill>
                      <a:srgbClr val="E5F5FF"/>
                    </a:solidFill>
                  </a:tcPr>
                </a:tc>
                <a:tc>
                  <a:txBody>
                    <a:bodyPr/>
                    <a:lstStyle/>
                    <a:p>
                      <a:r>
                        <a:rPr sz="850" b="0">
                          <a:solidFill>
                            <a:srgbClr val="4B4B4B"/>
                          </a:solidFill>
                          <a:latin typeface="Arial"/>
                        </a:rPr>
                        <a:t>Up to 120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User data</a:t>
                      </a:r>
                    </a:p>
                  </a:txBody>
                  <a:tcPr marL="54864" marR="54864" marT="27432" marB="27432">
                    <a:solidFill>
                      <a:srgbClr val="FFFFFF"/>
                    </a:solidFill>
                  </a:tcPr>
                </a:tc>
                <a:tc>
                  <a:txBody>
                    <a:bodyPr/>
                    <a:lstStyle/>
                    <a:p>
                      <a:r>
                        <a:rPr sz="850" b="0">
                          <a:solidFill>
                            <a:srgbClr val="4B4B4B"/>
                          </a:solidFill>
                          <a:latin typeface="Arial"/>
                        </a:rPr>
                        <a:t>Windows ID</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120 characters; unique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Not the Windows ID of another user</a:t>
                      </a:r>
                    </a:p>
                  </a:txBody>
                  <a:tcPr marL="54864" marR="54864" marT="27432" marB="27432">
                    <a:solidFill>
                      <a:srgbClr val="FFFFFF"/>
                    </a:solidFill>
                  </a:tcPr>
                </a:tc>
                <a:tc>
                  <a:txBody>
                    <a:bodyPr/>
                    <a:lstStyle/>
                    <a:p>
                      <a:r>
                        <a:rPr sz="850" b="0">
                          <a:solidFill>
                            <a:srgbClr val="4B4B4B"/>
                          </a:solidFill>
                          <a:latin typeface="Arial"/>
                        </a:rPr>
                        <a:t>Windows ID &lt;windows id&gt; belongs to another user</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User data</a:t>
                      </a:r>
                    </a:p>
                  </a:txBody>
                  <a:tcPr marL="54864" marR="54864" marT="27432" marB="27432">
                    <a:solidFill>
                      <a:srgbClr val="E5F5FF"/>
                    </a:solidFill>
                  </a:tcPr>
                </a:tc>
                <a:tc>
                  <a:txBody>
                    <a:bodyPr/>
                    <a:lstStyle/>
                    <a:p>
                      <a:r>
                        <a:rPr sz="850" b="0">
                          <a:solidFill>
                            <a:srgbClr val="4B4B4B"/>
                          </a:solidFill>
                          <a:latin typeface="Arial"/>
                        </a:rPr>
                        <a:t>Home Branch</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Code – name; Not specified (new) or Unchanged (modify)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User data</a:t>
                      </a:r>
                    </a:p>
                  </a:txBody>
                  <a:tcPr marL="54864" marR="54864" marT="27432" marB="27432">
                    <a:solidFill>
                      <a:srgbClr val="FFFFFF"/>
                    </a:solidFill>
                  </a:tcPr>
                </a:tc>
                <a:tc>
                  <a:txBody>
                    <a:bodyPr/>
                    <a:lstStyle/>
                    <a:p>
                      <a:r>
                        <a:rPr sz="850" b="0">
                          <a:solidFill>
                            <a:srgbClr val="4B4B4B"/>
                          </a:solidFill>
                          <a:latin typeface="Arial"/>
                        </a:rPr>
                        <a:t>Business Unit Group</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Values of the list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User data</a:t>
                      </a:r>
                    </a:p>
                  </a:txBody>
                  <a:tcPr marL="54864" marR="54864" marT="27432" marB="27432">
                    <a:solidFill>
                      <a:srgbClr val="E5F5FF"/>
                    </a:solidFill>
                  </a:tcPr>
                </a:tc>
                <a:tc>
                  <a:txBody>
                    <a:bodyPr/>
                    <a:lstStyle/>
                    <a:p>
                      <a:r>
                        <a:rPr sz="850" b="0">
                          <a:solidFill>
                            <a:srgbClr val="4B4B4B"/>
                          </a:solidFill>
                          <a:latin typeface="Arial"/>
                        </a:rPr>
                        <a:t>User Level</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Values of the list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User data</a:t>
                      </a:r>
                    </a:p>
                  </a:txBody>
                  <a:tcPr marL="54864" marR="54864" marT="27432" marB="27432">
                    <a:solidFill>
                      <a:srgbClr val="FFFFFF"/>
                    </a:solidFill>
                  </a:tcPr>
                </a:tc>
                <a:tc>
                  <a:txBody>
                    <a:bodyPr/>
                    <a:lstStyle/>
                    <a:p>
                      <a:r>
                        <a:rPr sz="850" b="0">
                          <a:solidFill>
                            <a:srgbClr val="4B4B4B"/>
                          </a:solidFill>
                          <a:latin typeface="Arial"/>
                        </a:rPr>
                        <a:t>Authorisation Limit (PHP)</a:t>
                      </a:r>
                    </a:p>
                  </a:txBody>
                  <a:tcPr marL="54864" marR="54864" marT="27432" marB="27432">
                    <a:solidFill>
                      <a:srgbClr val="FFFFFF"/>
                    </a:solidFill>
                  </a:tcPr>
                </a:tc>
                <a:tc>
                  <a:txBody>
                    <a:bodyPr/>
                    <a:lstStyle/>
                    <a:p>
                      <a:r>
                        <a:rPr sz="850" b="0">
                          <a:solidFill>
                            <a:srgbClr val="4B4B4B"/>
                          </a:solidFill>
                          <a:latin typeface="Arial"/>
                        </a:rPr>
                        <a:t>Amount</a:t>
                      </a:r>
                    </a:p>
                  </a:txBody>
                  <a:tcPr marL="54864" marR="54864" marT="27432" marB="27432">
                    <a:solidFill>
                      <a:srgbClr val="FFFFFF"/>
                    </a:solidFill>
                  </a:tcPr>
                </a:tc>
                <a:tc>
                  <a:txBody>
                    <a:bodyPr/>
                    <a:lstStyle/>
                    <a:p>
                      <a:r>
                        <a:rPr sz="850" b="0">
                          <a:solidFill>
                            <a:srgbClr val="4B4B4B"/>
                          </a:solidFill>
                          <a:latin typeface="Arial"/>
                        </a:rPr>
                        <a:t>Zero or more with up to 2 decimals; Blank: no limit (new) or Current: amount (modify)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Zero or more, 2 decimals</a:t>
                      </a:r>
                    </a:p>
                  </a:txBody>
                  <a:tcPr marL="54864" marR="54864" marT="27432" marB="27432">
                    <a:solidFill>
                      <a:srgbClr val="FFFFFF"/>
                    </a:solidFill>
                  </a:tcPr>
                </a:tc>
                <a:tc>
                  <a:txBody>
                    <a:bodyPr/>
                    <a:lstStyle/>
                    <a:p>
                      <a:r>
                        <a:rPr sz="850" b="0">
                          <a:solidFill>
                            <a:srgbClr val="4B4B4B"/>
                          </a:solidFill>
                          <a:latin typeface="Arial"/>
                        </a:rPr>
                        <a:t>Enter an amount of zero or more, with up to 2 decimals</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Group Profiles</a:t>
                      </a:r>
                    </a:p>
                  </a:txBody>
                  <a:tcPr marL="54864" marR="54864" marT="27432" marB="27432">
                    <a:solidFill>
                      <a:srgbClr val="E5F5FF"/>
                    </a:solidFill>
                  </a:tcPr>
                </a:tc>
                <a:tc>
                  <a:txBody>
                    <a:bodyPr/>
                    <a:lstStyle/>
                    <a:p>
                      <a:r>
                        <a:rPr sz="850" b="0">
                          <a:solidFill>
                            <a:srgbClr val="4B4B4B"/>
                          </a:solidFill>
                          <a:latin typeface="Arial"/>
                        </a:rPr>
                        <a:t>Search group profiles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Part of a profile name, code or module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The chosen profiles stay listed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172</a:t>
            </a:r>
          </a:p>
        </p:txBody>
      </p:sp>
      <p:graphicFrame>
        <p:nvGraphicFramePr>
          <p:cNvPr id="9" name="Table 8"/>
          <p:cNvGraphicFramePr>
            <a:graphicFrameLocks noGrp="1"/>
          </p:cNvGraphicFramePr>
          <p:nvPr/>
        </p:nvGraphicFramePr>
        <p:xfrm>
          <a:off x="548640" y="1325880"/>
          <a:ext cx="11094411" cy="271270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Group Profiles</a:t>
                      </a:r>
                    </a:p>
                  </a:txBody>
                  <a:tcPr marL="54864" marR="54864" marT="27432" marB="27432">
                    <a:solidFill>
                      <a:srgbClr val="FFFFFF"/>
                    </a:solidFill>
                  </a:tcPr>
                </a:tc>
                <a:tc>
                  <a:txBody>
                    <a:bodyPr/>
                    <a:lstStyle/>
                    <a:p>
                      <a:r>
                        <a:rPr sz="850" b="0">
                          <a:solidFill>
                            <a:srgbClr val="4B4B4B"/>
                          </a:solidFill>
                          <a:latin typeface="Arial"/>
                        </a:rPr>
                        <a:t>Group profile check boxes</a:t>
                      </a:r>
                    </a:p>
                  </a:txBody>
                  <a:tcPr marL="54864" marR="54864" marT="27432" marB="27432">
                    <a:solidFill>
                      <a:srgbClr val="FFFFFF"/>
                    </a:solidFill>
                  </a:tcPr>
                </a:tc>
                <a:tc>
                  <a:txBody>
                    <a:bodyPr/>
                    <a:lstStyle/>
                    <a:p>
                      <a:r>
                        <a:rPr sz="850" b="0">
                          <a:solidFill>
                            <a:srgbClr val="4B4B4B"/>
                          </a:solidFill>
                          <a:latin typeface="Arial"/>
                        </a:rPr>
                        <a:t>Check boxes</a:t>
                      </a:r>
                    </a:p>
                  </a:txBody>
                  <a:tcPr marL="54864" marR="54864" marT="27432" marB="27432">
                    <a:solidFill>
                      <a:srgbClr val="FFFFFF"/>
                    </a:solidFill>
                  </a:tcPr>
                </a:tc>
                <a:tc>
                  <a:txBody>
                    <a:bodyPr/>
                    <a:lstStyle/>
                    <a:p>
                      <a:r>
                        <a:rPr sz="850" b="0">
                          <a:solidFill>
                            <a:srgbClr val="4B4B4B"/>
                          </a:solidFill>
                          <a:latin typeface="Arial"/>
                        </a:rPr>
                        <a:t>Name of each active group profile, grouped by product module; the count of profiles selected; (current) after a profile the user holds</a:t>
                      </a:r>
                    </a:p>
                  </a:txBody>
                  <a:tcPr marL="54864" marR="54864" marT="27432" marB="27432">
                    <a:solidFill>
                      <a:srgbClr val="FFFFFF"/>
                    </a:solidFill>
                  </a:tcPr>
                </a:tc>
                <a:tc>
                  <a:txBody>
                    <a:bodyPr/>
                    <a:lstStyle/>
                    <a:p>
                      <a:r>
                        <a:rPr sz="850" b="0">
                          <a:solidFill>
                            <a:srgbClr val="4B4B4B"/>
                          </a:solidFill>
                          <a:latin typeface="Arial"/>
                        </a:rPr>
                        <a:t>Cond.: enrolment (at least one)</a:t>
                      </a:r>
                    </a:p>
                  </a:txBody>
                  <a:tcPr marL="54864" marR="54864" marT="27432" marB="27432">
                    <a:solidFill>
                      <a:srgbClr val="FFFFFF"/>
                    </a:solidFill>
                  </a:tcPr>
                </a:tc>
                <a:tc>
                  <a:txBody>
                    <a:bodyPr/>
                    <a:lstStyle/>
                    <a:p>
                      <a:r>
                        <a:rPr sz="850" b="0">
                          <a:solidFill>
                            <a:srgbClr val="4B4B4B"/>
                          </a:solidFill>
                          <a:latin typeface="Arial"/>
                        </a:rPr>
                        <a:t>Active profiles only; a user cannot change his own profiles; no two profiles of an active separation-of-duties rule</a:t>
                      </a:r>
                    </a:p>
                  </a:txBody>
                  <a:tcPr marL="54864" marR="54864" marT="27432" marB="27432">
                    <a:solidFill>
                      <a:srgbClr val="FFFFFF"/>
                    </a:solidFill>
                  </a:tcPr>
                </a:tc>
                <a:tc>
                  <a:txBody>
                    <a:bodyPr/>
                    <a:lstStyle/>
                    <a:p>
                      <a:r>
                        <a:rPr sz="850" b="0">
                          <a:solidFill>
                            <a:srgbClr val="4B4B4B"/>
                          </a:solidFill>
                          <a:latin typeface="Arial"/>
                        </a:rPr>
                        <a:t>Select at least one role; One user may not hold both &lt;profile&gt; and &lt;profile&gt; (separation-of-duties rule &lt;rule&gt;)</a:t>
                      </a:r>
                    </a:p>
                  </a:txBody>
                  <a:tcPr marL="54864" marR="54864" marT="27432" marB="27432">
                    <a:solidFill>
                      <a:srgbClr val="FFFFFF"/>
                    </a:solidFill>
                  </a:tcPr>
                </a:tc>
              </a:tr>
              <a:tr h="609596">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Deactivation</a:t>
                      </a:r>
                    </a:p>
                  </a:txBody>
                  <a:tcPr marL="54864" marR="54864" marT="27432" marB="27432">
                    <a:solidFill>
                      <a:srgbClr val="E5F5FF"/>
                    </a:solidFill>
                  </a:tcPr>
                </a:tc>
                <a:tc>
                  <a:txBody>
                    <a:bodyPr/>
                    <a:lstStyle/>
                    <a:p>
                      <a:r>
                        <a:rPr sz="850" b="0">
                          <a:solidFill>
                            <a:srgbClr val="4B4B4B"/>
                          </a:solidFill>
                          <a:latin typeface="Arial"/>
                        </a:rPr>
                        <a:t>Reason</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Resigned, Transferred to another unit, Long leave, Security, Others, No sign-in for the dormancy period (values to confirm with BDOI)</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Reactivation</a:t>
                      </a:r>
                    </a:p>
                  </a:txBody>
                  <a:tcPr marL="54864" marR="54864" marT="27432" marB="27432">
                    <a:solidFill>
                      <a:srgbClr val="FFFFFF"/>
                    </a:solidFill>
                  </a:tcPr>
                </a:tc>
                <a:tc>
                  <a:txBody>
                    <a:bodyPr/>
                    <a:lstStyle/>
                    <a:p>
                      <a:r>
                        <a:rPr sz="850" b="0">
                          <a:solidFill>
                            <a:srgbClr val="4B4B4B"/>
                          </a:solidFill>
                          <a:latin typeface="Arial"/>
                        </a:rPr>
                        <a:t>Also unlock the account</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Shown when the user is locked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16</a:t>
                      </a:r>
                    </a:p>
                  </a:txBody>
                  <a:tcPr marL="54864" marR="54864" marT="27432" marB="27432">
                    <a:solidFill>
                      <a:srgbClr val="E5F5FF"/>
                    </a:solidFill>
                  </a:tcPr>
                </a:tc>
                <a:tc>
                  <a:txBody>
                    <a:bodyPr/>
                    <a:lstStyle/>
                    <a:p>
                      <a:r>
                        <a:rPr sz="850" b="0">
                          <a:solidFill>
                            <a:srgbClr val="4B4B4B"/>
                          </a:solidFill>
                          <a:latin typeface="Arial"/>
                        </a:rPr>
                        <a:t>Approval</a:t>
                      </a:r>
                    </a:p>
                  </a:txBody>
                  <a:tcPr marL="54864" marR="54864" marT="27432" marB="27432">
                    <a:solidFill>
                      <a:srgbClr val="E5F5FF"/>
                    </a:solidFill>
                  </a:tcPr>
                </a:tc>
                <a:tc>
                  <a:txBody>
                    <a:bodyPr/>
                    <a:lstStyle/>
                    <a:p>
                      <a:r>
                        <a:rPr sz="850" b="0">
                          <a:solidFill>
                            <a:srgbClr val="4B4B4B"/>
                          </a:solidFill>
                          <a:latin typeface="Arial"/>
                        </a:rPr>
                        <a:t>Approver</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Name (user ID) of each eligible approver</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An eligible approver; one approver for a user request</a:t>
                      </a:r>
                    </a:p>
                  </a:txBody>
                  <a:tcPr marL="54864" marR="54864" marT="27432" marB="27432">
                    <a:solidFill>
                      <a:srgbClr val="E5F5FF"/>
                    </a:solidFill>
                  </a:tcPr>
                </a:tc>
                <a:tc>
                  <a:txBody>
                    <a:bodyPr/>
                    <a:lstStyle/>
                    <a:p>
                      <a:r>
                        <a:rPr sz="850" b="0">
                          <a:solidFill>
                            <a:srgbClr val="4B4B4B"/>
                          </a:solidFill>
                          <a:latin typeface="Arial"/>
                        </a:rPr>
                        <a:t>Select the approver</a:t>
                      </a:r>
                    </a:p>
                  </a:txBody>
                  <a:tcPr marL="54864" marR="54864" marT="27432" marB="27432">
                    <a:solidFill>
                      <a:srgbClr val="E5F5FF"/>
                    </a:solidFill>
                  </a:tcPr>
                </a:tc>
              </a:tr>
              <a:tr h="220979">
                <a:tc>
                  <a:txBody>
                    <a:bodyPr/>
                    <a:lstStyle/>
                    <a:p>
                      <a:r>
                        <a:rPr sz="850" b="0">
                          <a:solidFill>
                            <a:srgbClr val="4B4B4B"/>
                          </a:solidFill>
                          <a:latin typeface="Arial"/>
                        </a:rPr>
                        <a:t>17</a:t>
                      </a:r>
                    </a:p>
                  </a:txBody>
                  <a:tcPr marL="54864" marR="54864" marT="27432" marB="27432">
                    <a:solidFill>
                      <a:srgbClr val="FFFFFF"/>
                    </a:solidFill>
                  </a:tcPr>
                </a:tc>
                <a:tc>
                  <a:txBody>
                    <a:bodyPr/>
                    <a:lstStyle/>
                    <a:p>
                      <a:r>
                        <a:rPr sz="850" b="0">
                          <a:solidFill>
                            <a:srgbClr val="4B4B4B"/>
                          </a:solidFill>
                          <a:latin typeface="Arial"/>
                        </a:rPr>
                        <a:t>Approval</a:t>
                      </a:r>
                    </a:p>
                  </a:txBody>
                  <a:tcPr marL="54864" marR="54864" marT="27432" marB="27432">
                    <a:solidFill>
                      <a:srgbClr val="FFFFFF"/>
                    </a:solidFill>
                  </a:tcPr>
                </a:tc>
                <a:tc>
                  <a:txBody>
                    <a:bodyPr/>
                    <a:lstStyle/>
                    <a:p>
                      <a:r>
                        <a:rPr sz="850" b="0">
                          <a:solidFill>
                            <a:srgbClr val="4B4B4B"/>
                          </a:solidFill>
                          <a:latin typeface="Arial"/>
                        </a:rPr>
                        <a:t>Remarks (Justification)</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Up to 1,000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 on submission</a:t>
                      </a:r>
                    </a:p>
                  </a:txBody>
                  <a:tcPr marL="54864" marR="54864" marT="27432" marB="27432">
                    <a:solidFill>
                      <a:srgbClr val="FFFFFF"/>
                    </a:solidFill>
                  </a:tcPr>
                </a:tc>
                <a:tc>
                  <a:txBody>
                    <a:bodyPr/>
                    <a:lstStyle/>
                    <a:p>
                      <a:r>
                        <a:rPr sz="850" b="0">
                          <a:solidFill>
                            <a:srgbClr val="4B4B4B"/>
                          </a:solidFill>
                          <a:latin typeface="Arial"/>
                        </a:rPr>
                        <a:t>Enter the justification</a:t>
                      </a:r>
                    </a:p>
                  </a:txBody>
                  <a:tcPr marL="54864" marR="54864" marT="27432" marB="27432">
                    <a:solidFill>
                      <a:srgbClr val="FFFFFF"/>
                    </a:solidFill>
                  </a:tcPr>
                </a:tc>
              </a:tr>
              <a:tr h="480057">
                <a:tc>
                  <a:txBody>
                    <a:bodyPr/>
                    <a:lstStyle/>
                    <a:p>
                      <a:r>
                        <a:rPr sz="850" b="0">
                          <a:solidFill>
                            <a:srgbClr val="4B4B4B"/>
                          </a:solidFill>
                          <a:latin typeface="Arial"/>
                        </a:rPr>
                        <a:t>18</a:t>
                      </a:r>
                    </a:p>
                  </a:txBody>
                  <a:tcPr marL="54864" marR="54864" marT="27432" marB="27432">
                    <a:solidFill>
                      <a:srgbClr val="E5F5FF"/>
                    </a:solidFill>
                  </a:tcPr>
                </a:tc>
                <a:tc>
                  <a:txBody>
                    <a:bodyPr/>
                    <a:lstStyle/>
                    <a:p>
                      <a:r>
                        <a:rPr sz="850" b="0">
                          <a:solidFill>
                            <a:srgbClr val="4B4B4B"/>
                          </a:solidFill>
                          <a:latin typeface="Arial"/>
                        </a:rPr>
                        <a:t>Approval</a:t>
                      </a:r>
                    </a:p>
                  </a:txBody>
                  <a:tcPr marL="54864" marR="54864" marT="27432" marB="27432">
                    <a:solidFill>
                      <a:srgbClr val="E5F5FF"/>
                    </a:solidFill>
                  </a:tcPr>
                </a:tc>
                <a:tc>
                  <a:txBody>
                    <a:bodyPr/>
                    <a:lstStyle/>
                    <a:p>
                      <a:r>
                        <a:rPr sz="850" b="0">
                          <a:solidFill>
                            <a:srgbClr val="4B4B4B"/>
                          </a:solidFill>
                          <a:latin typeface="Arial"/>
                        </a:rPr>
                        <a:t>Correction Remarks</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Up to 1,000 characters; shown for a returned request</a:t>
                      </a:r>
                    </a:p>
                  </a:txBody>
                  <a:tcPr marL="54864" marR="54864" marT="27432" marB="27432">
                    <a:solidFill>
                      <a:srgbClr val="E5F5FF"/>
                    </a:solidFill>
                  </a:tcPr>
                </a:tc>
                <a:tc>
                  <a:txBody>
                    <a:bodyPr/>
                    <a:lstStyle/>
                    <a:p>
                      <a:r>
                        <a:rPr sz="850" b="0">
                          <a:solidFill>
                            <a:srgbClr val="4B4B4B"/>
                          </a:solidFill>
                          <a:latin typeface="Arial"/>
                        </a:rPr>
                        <a:t>Cond.: resubmission</a:t>
                      </a:r>
                    </a:p>
                  </a:txBody>
                  <a:tcPr marL="54864" marR="54864" marT="27432" marB="27432">
                    <a:solidFill>
                      <a:srgbClr val="E5F5FF"/>
                    </a:solidFill>
                  </a:tcPr>
                </a:tc>
                <a:tc>
                  <a:txBody>
                    <a:bodyPr/>
                    <a:lstStyle/>
                    <a:p>
                      <a:r>
                        <a:rPr sz="850" b="0">
                          <a:solidFill>
                            <a:srgbClr val="4B4B4B"/>
                          </a:solidFill>
                          <a:latin typeface="Arial"/>
                        </a:rPr>
                        <a:t>Not blank on resubmission</a:t>
                      </a:r>
                    </a:p>
                  </a:txBody>
                  <a:tcPr marL="54864" marR="54864" marT="27432" marB="27432">
                    <a:solidFill>
                      <a:srgbClr val="E5F5FF"/>
                    </a:solidFill>
                  </a:tcPr>
                </a:tc>
                <a:tc>
                  <a:txBody>
                    <a:bodyPr/>
                    <a:lstStyle/>
                    <a:p>
                      <a:r>
                        <a:rPr sz="850" b="0">
                          <a:solidFill>
                            <a:srgbClr val="4B4B4B"/>
                          </a:solidFill>
                          <a:latin typeface="Arial"/>
                        </a:rPr>
                        <a:t>Enter the correction remarks</a:t>
                      </a:r>
                    </a:p>
                  </a:txBody>
                  <a:tcPr marL="54864" marR="54864" marT="27432" marB="27432">
                    <a:solidFill>
                      <a:srgbClr val="E5F5FF"/>
                    </a:solidFill>
                  </a:tcPr>
                </a:tc>
              </a:tr>
            </a:tbl>
          </a:graphicData>
        </a:graphic>
      </p:graphicFrame>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173</a:t>
            </a:r>
          </a:p>
        </p:txBody>
      </p:sp>
      <p:graphicFrame>
        <p:nvGraphicFramePr>
          <p:cNvPr id="9" name="Table 8"/>
          <p:cNvGraphicFramePr>
            <a:graphicFrameLocks noGrp="1"/>
          </p:cNvGraphicFramePr>
          <p:nvPr/>
        </p:nvGraphicFramePr>
        <p:xfrm>
          <a:off x="548640" y="1325880"/>
          <a:ext cx="11094412" cy="1882129"/>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Cancel</a:t>
                      </a:r>
                    </a:p>
                  </a:txBody>
                  <a:tcPr marL="54864" marR="54864" marT="27432" marB="27432">
                    <a:solidFill>
                      <a:srgbClr val="FFFFFF"/>
                    </a:solidFill>
                  </a:tcPr>
                </a:tc>
                <a:tc>
                  <a:txBody>
                    <a:bodyPr/>
                    <a:lstStyle/>
                    <a:p>
                      <a:r>
                        <a:rPr sz="850" b="0">
                          <a:solidFill>
                            <a:srgbClr val="4B4B4B"/>
                          </a:solidFill>
                          <a:latin typeface="Arial"/>
                        </a:rPr>
                        <a:t>The requester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Leaves the form without saving</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Save Draft</a:t>
                      </a:r>
                    </a:p>
                  </a:txBody>
                  <a:tcPr marL="54864" marR="54864" marT="27432" marB="27432">
                    <a:solidFill>
                      <a:srgbClr val="E5F5FF"/>
                    </a:solidFill>
                  </a:tcPr>
                </a:tc>
                <a:tc>
                  <a:txBody>
                    <a:bodyPr/>
                    <a:lstStyle/>
                    <a:p>
                      <a:r>
                        <a:rPr sz="850" b="0">
                          <a:solidFill>
                            <a:srgbClr val="4B4B4B"/>
                          </a:solidFill>
                          <a:latin typeface="Arial"/>
                        </a:rPr>
                        <a:t>Requestor, Business Administrator, System Administrator (type right)</a:t>
                      </a:r>
                    </a:p>
                  </a:txBody>
                  <a:tcPr marL="54864" marR="54864" marT="27432" marB="27432">
                    <a:solidFill>
                      <a:srgbClr val="E5F5FF"/>
                    </a:solidFill>
                  </a:tcPr>
                </a:tc>
                <a:tc>
                  <a:txBody>
                    <a:bodyPr/>
                    <a:lstStyle/>
                    <a:p>
                      <a:r>
                        <a:rPr sz="850" b="0">
                          <a:solidFill>
                            <a:srgbClr val="4B4B4B"/>
                          </a:solidFill>
                          <a:latin typeface="Arial"/>
                        </a:rPr>
                        <a:t>User ID in a valid format; effective date not in the past</a:t>
                      </a:r>
                    </a:p>
                  </a:txBody>
                  <a:tcPr marL="54864" marR="54864" marT="27432" marB="27432">
                    <a:solidFill>
                      <a:srgbClr val="E5F5FF"/>
                    </a:solidFill>
                  </a:tcPr>
                </a:tc>
                <a:tc>
                  <a:txBody>
                    <a:bodyPr/>
                    <a:lstStyle/>
                    <a:p>
                      <a:r>
                        <a:rPr sz="850" b="0">
                          <a:solidFill>
                            <a:srgbClr val="4B4B4B"/>
                          </a:solidFill>
                          <a:latin typeface="Arial"/>
                        </a:rPr>
                        <a:t>Saves the draft with format checks only; a new request is numbered AR-yyyy-nnnnnn. Toast: AR-yyyy-nnnnnn saved as a draft</a:t>
                      </a:r>
                    </a:p>
                  </a:txBody>
                  <a:tcPr marL="54864" marR="54864" marT="27432" marB="27432">
                    <a:solidFill>
                      <a:srgbClr val="E5F5FF"/>
                    </a:solidFill>
                  </a:tcPr>
                </a:tc>
                <a:tc>
                  <a:txBody>
                    <a:bodyPr/>
                    <a:lstStyle/>
                    <a:p>
                      <a:r>
                        <a:rPr sz="850" b="0">
                          <a:solidFill>
                            <a:srgbClr val="4B4B4B"/>
                          </a:solidFill>
                          <a:latin typeface="Arial"/>
                        </a:rPr>
                        <a:t>Draft (new); unchanged (edit)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Submit</a:t>
                      </a:r>
                    </a:p>
                  </a:txBody>
                  <a:tcPr marL="54864" marR="54864" marT="27432" marB="27432">
                    <a:solidFill>
                      <a:srgbClr val="FFFFFF"/>
                    </a:solidFill>
                  </a:tcPr>
                </a:tc>
                <a:tc>
                  <a:txBody>
                    <a:bodyPr/>
                    <a:lstStyle/>
                    <a:p>
                      <a:r>
                        <a:rPr sz="850" b="0">
                          <a:solidFill>
                            <a:srgbClr val="4B4B4B"/>
                          </a:solidFill>
                          <a:latin typeface="Arial"/>
                        </a:rPr>
                        <a:t>As Save Draft</a:t>
                      </a:r>
                    </a:p>
                  </a:txBody>
                  <a:tcPr marL="54864" marR="54864" marT="27432" marB="27432">
                    <a:solidFill>
                      <a:srgbClr val="FFFFFF"/>
                    </a:solidFill>
                  </a:tcPr>
                </a:tc>
                <a:tc>
                  <a:txBody>
                    <a:bodyPr/>
                    <a:lstStyle/>
                    <a:p>
                      <a:r>
                        <a:rPr sz="850" b="0">
                          <a:solidFill>
                            <a:srgbClr val="4B4B4B"/>
                          </a:solidFill>
                          <a:latin typeface="Arial"/>
                        </a:rPr>
                        <a:t>Every field check passes</a:t>
                      </a:r>
                    </a:p>
                  </a:txBody>
                  <a:tcPr marL="54864" marR="54864" marT="27432" marB="27432">
                    <a:solidFill>
                      <a:srgbClr val="FFFFFF"/>
                    </a:solidFill>
                  </a:tcPr>
                </a:tc>
                <a:tc>
                  <a:txBody>
                    <a:bodyPr/>
                    <a:lstStyle/>
                    <a:p>
                      <a:r>
                        <a:rPr sz="850" b="0">
                          <a:solidFill>
                            <a:srgbClr val="4B4B4B"/>
                          </a:solidFill>
                          <a:latin typeface="Arial"/>
                        </a:rPr>
                        <a:t>Runs the full checks (user state, format, active profiles, free Windows ID, one open request per user, eligible approver), evaluates the risk rules and sends the request to the approver. Toast: AR-yyyy-nnnnnn submitted</a:t>
                      </a:r>
                    </a:p>
                  </a:txBody>
                  <a:tcPr marL="54864" marR="54864" marT="27432" marB="27432">
                    <a:solidFill>
                      <a:srgbClr val="FFFFFF"/>
                    </a:solidFill>
                  </a:tcPr>
                </a:tc>
                <a:tc>
                  <a:txBody>
                    <a:bodyPr/>
                    <a:lstStyle/>
                    <a:p>
                      <a:r>
                        <a:rPr sz="850" b="0">
                          <a:solidFill>
                            <a:srgbClr val="4B4B4B"/>
                          </a:solidFill>
                          <a:latin typeface="Arial"/>
                        </a:rPr>
                        <a:t>Pending Approval</a:t>
                      </a:r>
                    </a:p>
                  </a:txBody>
                  <a:tcPr marL="54864" marR="54864" marT="27432" marB="27432">
                    <a:solidFill>
                      <a:srgbClr val="FFFFFF"/>
                    </a:solidFill>
                  </a:tcPr>
                </a:tc>
                <a:tc>
                  <a:txBody>
                    <a:bodyPr/>
                    <a:lstStyle/>
                    <a:p>
                      <a:r>
                        <a:rPr sz="850" b="0">
                          <a:solidFill>
                            <a:srgbClr val="4B4B4B"/>
                          </a:solidFill>
                          <a:latin typeface="Arial"/>
                        </a:rPr>
                        <a:t>Access request AR-yyyy-nnnnnn to approve, to the chosen approver</a:t>
                      </a:r>
                    </a:p>
                  </a:txBody>
                  <a:tcPr marL="54864" marR="54864" marT="27432" marB="27432">
                    <a:solidFill>
                      <a:srgbClr val="FFFFFF"/>
                    </a:solidFill>
                  </a:tcPr>
                </a:tc>
              </a:tr>
              <a:tr h="350518">
                <a:tc>
                  <a:txBody>
                    <a:bodyPr/>
                    <a:lstStyle/>
                    <a:p>
                      <a:r>
                        <a:rPr sz="850" b="0">
                          <a:solidFill>
                            <a:srgbClr val="4B4B4B"/>
                          </a:solidFill>
                          <a:latin typeface="Arial"/>
                        </a:rPr>
                        <a:t>Resubmit</a:t>
                      </a:r>
                    </a:p>
                  </a:txBody>
                  <a:tcPr marL="54864" marR="54864" marT="27432" marB="27432">
                    <a:solidFill>
                      <a:srgbClr val="E5F5FF"/>
                    </a:solidFill>
                  </a:tcPr>
                </a:tc>
                <a:tc>
                  <a:txBody>
                    <a:bodyPr/>
                    <a:lstStyle/>
                    <a:p>
                      <a:r>
                        <a:rPr sz="850" b="0">
                          <a:solidFill>
                            <a:srgbClr val="4B4B4B"/>
                          </a:solidFill>
                          <a:latin typeface="Arial"/>
                        </a:rPr>
                        <a:t>The requester (correction right)</a:t>
                      </a:r>
                    </a:p>
                  </a:txBody>
                  <a:tcPr marL="54864" marR="54864" marT="27432" marB="27432">
                    <a:solidFill>
                      <a:srgbClr val="E5F5FF"/>
                    </a:solidFill>
                  </a:tcPr>
                </a:tc>
                <a:tc>
                  <a:txBody>
                    <a:bodyPr/>
                    <a:lstStyle/>
                    <a:p>
                      <a:r>
                        <a:rPr sz="850" b="0">
                          <a:solidFill>
                            <a:srgbClr val="4B4B4B"/>
                          </a:solidFill>
                          <a:latin typeface="Arial"/>
                        </a:rPr>
                        <a:t>Returned request with correction remarks</a:t>
                      </a:r>
                    </a:p>
                  </a:txBody>
                  <a:tcPr marL="54864" marR="54864" marT="27432" marB="27432">
                    <a:solidFill>
                      <a:srgbClr val="E5F5FF"/>
                    </a:solidFill>
                  </a:tcPr>
                </a:tc>
                <a:tc>
                  <a:txBody>
                    <a:bodyPr/>
                    <a:lstStyle/>
                    <a:p>
                      <a:r>
                        <a:rPr sz="850" b="0">
                          <a:solidFill>
                            <a:srgbClr val="4B4B4B"/>
                          </a:solidFill>
                          <a:latin typeface="Arial"/>
                        </a:rPr>
                        <a:t>Resubmits the corrected request to the approver</a:t>
                      </a:r>
                    </a:p>
                  </a:txBody>
                  <a:tcPr marL="54864" marR="54864" marT="27432" marB="27432">
                    <a:solidFill>
                      <a:srgbClr val="E5F5FF"/>
                    </a:solidFill>
                  </a:tcPr>
                </a:tc>
                <a:tc>
                  <a:txBody>
                    <a:bodyPr/>
                    <a:lstStyle/>
                    <a:p>
                      <a:r>
                        <a:rPr sz="850" b="0">
                          <a:solidFill>
                            <a:srgbClr val="4B4B4B"/>
                          </a:solidFill>
                          <a:latin typeface="Arial"/>
                        </a:rPr>
                        <a:t>Pending Approval</a:t>
                      </a:r>
                    </a:p>
                  </a:txBody>
                  <a:tcPr marL="54864" marR="54864" marT="27432" marB="27432">
                    <a:solidFill>
                      <a:srgbClr val="E5F5FF"/>
                    </a:solidFill>
                  </a:tcPr>
                </a:tc>
                <a:tc>
                  <a:txBody>
                    <a:bodyPr/>
                    <a:lstStyle/>
                    <a:p>
                      <a:r>
                        <a:rPr sz="850" b="0">
                          <a:solidFill>
                            <a:srgbClr val="4B4B4B"/>
                          </a:solidFill>
                          <a:latin typeface="Arial"/>
                        </a:rPr>
                        <a:t>Access request AR-yyyy-nnnnnn to approve</a:t>
                      </a:r>
                    </a:p>
                  </a:txBody>
                  <a:tcPr marL="54864" marR="54864" marT="27432" marB="27432">
                    <a:solidFill>
                      <a:srgbClr val="E5F5FF"/>
                    </a:solidFill>
                  </a:tcPr>
                </a:tc>
              </a:tr>
            </a:tbl>
          </a:graphicData>
        </a:graphic>
      </p:graphicFrame>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174</a:t>
            </a:r>
          </a:p>
        </p:txBody>
      </p:sp>
      <p:graphicFrame>
        <p:nvGraphicFramePr>
          <p:cNvPr id="9" name="Table 8"/>
          <p:cNvGraphicFramePr>
            <a:graphicFrameLocks noGrp="1"/>
          </p:cNvGraphicFramePr>
          <p:nvPr/>
        </p:nvGraphicFramePr>
        <p:xfrm>
          <a:off x="548640" y="1325880"/>
          <a:ext cx="11094415" cy="30784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type and the user of a saved request cannot change; a different change is a new request (FR-UA-010).</a:t>
                      </a:r>
                    </a:p>
                  </a:txBody>
                  <a:tcPr marL="54864" marR="54864" marT="27432" marB="27432">
                    <a:solidFill>
                      <a:srgbClr val="FFFFFF"/>
                    </a:solidFill>
                  </a:tcPr>
                </a:tc>
              </a:tr>
              <a:tr h="243840">
                <a:tc>
                  <a:txBody>
                    <a:bodyPr/>
                    <a:lstStyle/>
                    <a:p>
                      <a:r>
                        <a:rPr sz="1000" b="0">
                          <a:solidFill>
                            <a:srgbClr val="4B4B4B"/>
                          </a:solidFill>
                          <a:latin typeface="Arial"/>
                        </a:rPr>
                        <a:t>Only one request per user can be open (draft excluded) at a time: A request for user &lt;user&gt; is already waiting for approval (FR-UA-010).</a:t>
                      </a:r>
                    </a:p>
                  </a:txBody>
                  <a:tcPr marL="54864" marR="54864" marT="27432" marB="27432">
                    <a:solidFill>
                      <a:srgbClr val="E5F5FF"/>
                    </a:solidFill>
                  </a:tcPr>
                </a:tc>
              </a:tr>
              <a:tr h="243840">
                <a:tc>
                  <a:txBody>
                    <a:bodyPr/>
                    <a:lstStyle/>
                    <a:p>
                      <a:r>
                        <a:rPr sz="1000" b="0">
                          <a:solidFill>
                            <a:srgbClr val="4B4B4B"/>
                          </a:solidFill>
                          <a:latin typeface="Arial"/>
                        </a:rPr>
                        <a:t>A new user ID must follow USER_ID_PATTERN (a letter followed by nine digits as delivered, shown in words from USER_ID_FORMAT_TEXT) and must not exist (FR-UA-011, FR-UA-052).</a:t>
                      </a:r>
                    </a:p>
                  </a:txBody>
                  <a:tcPr marL="54864" marR="54864" marT="27432" marB="27432">
                    <a:solidFill>
                      <a:srgbClr val="FFFFFF"/>
                    </a:solidFill>
                  </a:tcPr>
                </a:tc>
              </a:tr>
              <a:tr h="243840">
                <a:tc>
                  <a:txBody>
                    <a:bodyPr/>
                    <a:lstStyle/>
                    <a:p>
                      <a:r>
                        <a:rPr sz="1000" b="0">
                          <a:solidFill>
                            <a:srgbClr val="4B4B4B"/>
                          </a:solidFill>
                          <a:latin typeface="Arial"/>
                        </a:rPr>
                        <a:t>The group profiles of the user must not include both profiles of an active separation-of-duties rule; the check runs on submission and again at approval (FR-UA-053).</a:t>
                      </a:r>
                    </a:p>
                  </a:txBody>
                  <a:tcPr marL="54864" marR="54864" marT="27432" marB="27432">
                    <a:solidFill>
                      <a:srgbClr val="E5F5FF"/>
                    </a:solidFill>
                  </a:tcPr>
                </a:tc>
              </a:tr>
              <a:tr h="396240">
                <a:tc>
                  <a:txBody>
                    <a:bodyPr/>
                    <a:lstStyle/>
                    <a:p>
                      <a:r>
                        <a:rPr sz="1000" b="0">
                          <a:solidFill>
                            <a:srgbClr val="4B4B4B"/>
                          </a:solidFill>
                          <a:latin typeface="Arial"/>
                        </a:rPr>
                        <a:t>The authorisation limit (used by the journal and payables approvals) is set on an enrolment and changed by a Modify user request; blank keeps the current limit (FR-UA-011, FR-UA-012).</a:t>
                      </a:r>
                    </a:p>
                  </a:txBody>
                  <a:tcPr marL="54864" marR="54864" marT="27432" marB="27432">
                    <a:solidFill>
                      <a:srgbClr val="FFFFFF"/>
                    </a:solidFill>
                  </a:tcPr>
                </a:tc>
              </a:tr>
              <a:tr h="243840">
                <a:tc>
                  <a:txBody>
                    <a:bodyPr/>
                    <a:lstStyle/>
                    <a:p>
                      <a:r>
                        <a:rPr sz="1000" b="0">
                          <a:solidFill>
                            <a:srgbClr val="4B4B4B"/>
                          </a:solidFill>
                          <a:latin typeface="Arial"/>
                        </a:rPr>
                        <a:t>An enrolment needs the full name and at least one active group profile; a modification must change something: The request does not change the user (FR-UA-011, FR-UA-012).</a:t>
                      </a:r>
                    </a:p>
                  </a:txBody>
                  <a:tcPr marL="54864" marR="54864" marT="27432" marB="27432">
                    <a:solidFill>
                      <a:srgbClr val="E5F5FF"/>
                    </a:solidFill>
                  </a:tcPr>
                </a:tc>
              </a:tr>
              <a:tr h="243840">
                <a:tc>
                  <a:txBody>
                    <a:bodyPr/>
                    <a:lstStyle/>
                    <a:p>
                      <a:r>
                        <a:rPr sz="1000" b="0">
                          <a:solidFill>
                            <a:srgbClr val="4B4B4B"/>
                          </a:solidFill>
                          <a:latin typeface="Arial"/>
                        </a:rPr>
                        <a:t>Only active users are deactivated and only deactivated or locked users are reactivated; a locked user can be unlocked with the reactivation (FR-UA-013, FR-UA-014).</a:t>
                      </a:r>
                    </a:p>
                  </a:txBody>
                  <a:tcPr marL="54864" marR="54864" marT="27432" marB="27432">
                    <a:solidFill>
                      <a:srgbClr val="FFFFFF"/>
                    </a:solidFill>
                  </a:tcPr>
                </a:tc>
              </a:tr>
              <a:tr h="243840">
                <a:tc>
                  <a:txBody>
                    <a:bodyPr/>
                    <a:lstStyle/>
                    <a:p>
                      <a:r>
                        <a:rPr sz="1000" b="0">
                          <a:solidFill>
                            <a:srgbClr val="4B4B4B"/>
                          </a:solidFill>
                          <a:latin typeface="Arial"/>
                        </a:rPr>
                        <a:t>The approver is chosen among the holders of the approval right, never the requester nor the user the request is about; a user request has one approver (FR-UA-015).</a:t>
                      </a:r>
                    </a:p>
                  </a:txBody>
                  <a:tcPr marL="54864" marR="54864" marT="27432" marB="27432">
                    <a:solidFill>
                      <a:srgbClr val="E5F5FF"/>
                    </a:solidFill>
                  </a:tcPr>
                </a:tc>
              </a:tr>
              <a:tr h="243840">
                <a:tc>
                  <a:txBody>
                    <a:bodyPr/>
                    <a:lstStyle/>
                    <a:p>
                      <a:r>
                        <a:rPr sz="1000" b="0">
                          <a:solidFill>
                            <a:srgbClr val="4B4B4B"/>
                          </a:solidFill>
                          <a:latin typeface="Arial"/>
                        </a:rPr>
                        <a:t>A user cannot change his own group profiles through a request: You cannot change your own roles (FR-UA-012).</a:t>
                      </a:r>
                    </a:p>
                  </a:txBody>
                  <a:tcPr marL="54864" marR="54864" marT="27432" marB="27432">
                    <a:solidFill>
                      <a:srgbClr val="FFFFFF"/>
                    </a:solidFill>
                  </a:tcPr>
                </a:tc>
              </a:tr>
              <a:tr h="243840">
                <a:tc>
                  <a:txBody>
                    <a:bodyPr/>
                    <a:lstStyle/>
                    <a:p>
                      <a:r>
                        <a:rPr sz="1000" b="0">
                          <a:solidFill>
                            <a:srgbClr val="4B4B4B"/>
                          </a:solidFill>
                          <a:latin typeface="Arial"/>
                        </a:rPr>
                        <a:t>An effective date in the future makes the approved change wait until that date; blank applies it on approval (FR-UA-020).</a:t>
                      </a:r>
                    </a:p>
                  </a:txBody>
                  <a:tcPr marL="54864" marR="54864" marT="27432" marB="27432">
                    <a:solidFill>
                      <a:srgbClr val="E5F5FF"/>
                    </a:solidFill>
                  </a:tcPr>
                </a:tc>
              </a:tr>
              <a:tr h="243840">
                <a:tc>
                  <a:txBody>
                    <a:bodyPr/>
                    <a:lstStyle/>
                    <a:p>
                      <a:r>
                        <a:rPr sz="1000" b="0">
                          <a:solidFill>
                            <a:srgbClr val="4B4B4B"/>
                          </a:solidFill>
                          <a:latin typeface="Arial"/>
                        </a:rPr>
                        <a:t>A returned request is corrected by its creator and resubmitted with correction remarks, kept in the history (FR-UA-016).</a:t>
                      </a:r>
                    </a:p>
                  </a:txBody>
                  <a:tcPr marL="54864" marR="54864" marT="27432" marB="27432">
                    <a:solidFill>
                      <a:srgbClr val="FFFFFF"/>
                    </a:solidFill>
                  </a:tcPr>
                </a:tc>
              </a:tr>
            </a:tbl>
          </a:graphicData>
        </a:graphic>
      </p:graphicFrame>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SCR-UA-07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175</a:t>
            </a:r>
          </a:p>
        </p:txBody>
      </p:sp>
      <p:graphicFrame>
        <p:nvGraphicFramePr>
          <p:cNvPr id="9" name="Table 8"/>
          <p:cNvGraphicFramePr>
            <a:graphicFrameLocks noGrp="1"/>
          </p:cNvGraphicFramePr>
          <p:nvPr/>
        </p:nvGraphicFramePr>
        <p:xfrm>
          <a:off x="548640" y="1325880"/>
          <a:ext cx="11094413" cy="2880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WT-C step 1</a:t>
                      </a:r>
                    </a:p>
                  </a:txBody>
                  <a:tcPr marL="54864" marR="54864" marT="27432" marB="27432">
                    <a:solidFill>
                      <a:srgbClr val="FFFFFF"/>
                    </a:solidFill>
                  </a:tcPr>
                </a:tc>
                <a:tc>
                  <a:txBody>
                    <a:bodyPr/>
                    <a:lstStyle/>
                    <a:p>
                      <a:r>
                        <a:rPr sz="900" b="0">
                          <a:solidFill>
                            <a:srgbClr val="4B4B4B"/>
                          </a:solidFill>
                          <a:latin typeface="Arial"/>
                        </a:rPr>
                        <a:t>Opens New Request, enters the user ID ab and clicks Submit without a full name, profile, approver or justification</a:t>
                      </a:r>
                    </a:p>
                  </a:txBody>
                  <a:tcPr marL="54864" marR="54864" marT="27432" marB="27432">
                    <a:solidFill>
                      <a:srgbClr val="FFFFFF"/>
                    </a:solidFill>
                  </a:tcPr>
                </a:tc>
                <a:tc>
                  <a:txBody>
                    <a:bodyPr/>
                    <a:lstStyle/>
                    <a:p>
                      <a:r>
                        <a:rPr sz="900" b="0">
                          <a:solidFill>
                            <a:srgbClr val="4B4B4B"/>
                          </a:solidFill>
                          <a:latin typeface="Arial"/>
                        </a:rPr>
                        <a:t>SCR-UA-07_wt-c-step-01.png</a:t>
                      </a:r>
                    </a:p>
                  </a:txBody>
                  <a:tcPr marL="54864" marR="54864" marT="27432" marB="27432">
                    <a:solidFill>
                      <a:srgbClr val="FFFFFF"/>
                    </a:solidFill>
                  </a:tcPr>
                </a:tc>
              </a:tr>
              <a:tr h="228600">
                <a:tc>
                  <a:txBody>
                    <a:bodyPr/>
                    <a:lstStyle/>
                    <a:p>
                      <a:r>
                        <a:rPr sz="900" b="0">
                          <a:solidFill>
                            <a:srgbClr val="4B4B4B"/>
                          </a:solidFill>
                          <a:latin typeface="Arial"/>
                        </a:rPr>
                        <a:t>Validation error</a:t>
                      </a:r>
                    </a:p>
                  </a:txBody>
                  <a:tcPr marL="54864" marR="54864" marT="27432" marB="27432">
                    <a:solidFill>
                      <a:srgbClr val="E5F5FF"/>
                    </a:solidFill>
                  </a:tcPr>
                </a:tc>
                <a:tc>
                  <a:txBody>
                    <a:bodyPr/>
                    <a:lstStyle/>
                    <a:p>
                      <a:r>
                        <a:rPr sz="900" b="0">
                          <a:solidFill>
                            <a:srgbClr val="4B4B4B"/>
                          </a:solidFill>
                          <a:latin typeface="Arial"/>
                        </a:rPr>
                        <a:t>WT-C step 2</a:t>
                      </a:r>
                    </a:p>
                  </a:txBody>
                  <a:tcPr marL="54864" marR="54864" marT="27432" marB="27432">
                    <a:solidFill>
                      <a:srgbClr val="E5F5FF"/>
                    </a:solidFill>
                  </a:tcPr>
                </a:tc>
                <a:tc>
                  <a:txBody>
                    <a:bodyPr/>
                    <a:lstStyle/>
                    <a:p>
                      <a:r>
                        <a:rPr sz="900" b="0">
                          <a:solidFill>
                            <a:srgbClr val="4B4B4B"/>
                          </a:solidFill>
                          <a:latin typeface="Arial"/>
                        </a:rPr>
                        <a:t>Enters the user ID a01300019X with the other fields complete and clicks Submit</a:t>
                      </a:r>
                    </a:p>
                  </a:txBody>
                  <a:tcPr marL="54864" marR="54864" marT="27432" marB="27432">
                    <a:solidFill>
                      <a:srgbClr val="E5F5FF"/>
                    </a:solidFill>
                  </a:tcPr>
                </a:tc>
                <a:tc>
                  <a:txBody>
                    <a:bodyPr/>
                    <a:lstStyle/>
                    <a:p>
                      <a:r>
                        <a:rPr sz="900" b="0">
                          <a:solidFill>
                            <a:srgbClr val="4B4B4B"/>
                          </a:solidFill>
                          <a:latin typeface="Arial"/>
                        </a:rPr>
                        <a:t>SCR-UA-07_wt-c-step-02.png</a:t>
                      </a:r>
                    </a:p>
                  </a:txBody>
                  <a:tcPr marL="54864" marR="54864" marT="27432" marB="27432">
                    <a:solidFill>
                      <a:srgbClr val="E5F5FF"/>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WT-C step 3</a:t>
                      </a:r>
                    </a:p>
                  </a:txBody>
                  <a:tcPr marL="54864" marR="54864" marT="27432" marB="27432">
                    <a:solidFill>
                      <a:srgbClr val="FFFFFF"/>
                    </a:solidFill>
                  </a:tcPr>
                </a:tc>
                <a:tc>
                  <a:txBody>
                    <a:bodyPr/>
                    <a:lstStyle/>
                    <a:p>
                      <a:r>
                        <a:rPr sz="900" b="0">
                          <a:solidFill>
                            <a:srgbClr val="4B4B4B"/>
                          </a:solidFill>
                          <a:latin typeface="Arial"/>
                        </a:rPr>
                        <a:t>Raises a Modify user request for a013000101, which already has a pending request, and clicks Submit</a:t>
                      </a:r>
                    </a:p>
                  </a:txBody>
                  <a:tcPr marL="54864" marR="54864" marT="27432" marB="27432">
                    <a:solidFill>
                      <a:srgbClr val="FFFFFF"/>
                    </a:solidFill>
                  </a:tcPr>
                </a:tc>
                <a:tc>
                  <a:txBody>
                    <a:bodyPr/>
                    <a:lstStyle/>
                    <a:p>
                      <a:r>
                        <a:rPr sz="900" b="0">
                          <a:solidFill>
                            <a:srgbClr val="4B4B4B"/>
                          </a:solidFill>
                          <a:latin typeface="Arial"/>
                        </a:rPr>
                        <a:t>SCR-UA-07_wt-c-step-03.png</a:t>
                      </a:r>
                    </a:p>
                  </a:txBody>
                  <a:tcPr marL="54864" marR="54864" marT="27432" marB="27432">
                    <a:solidFill>
                      <a:srgbClr val="FFFFFF"/>
                    </a:solidFill>
                  </a:tcPr>
                </a:tc>
              </a:tr>
              <a:tr h="228600">
                <a:tc>
                  <a:txBody>
                    <a:bodyPr/>
                    <a:lstStyle/>
                    <a:p>
                      <a:r>
                        <a:rPr sz="900" b="0">
                          <a:solidFill>
                            <a:srgbClr val="4B4B4B"/>
                          </a:solidFill>
                          <a:latin typeface="Arial"/>
                        </a:rPr>
                        <a:t>Validation error</a:t>
                      </a:r>
                    </a:p>
                  </a:txBody>
                  <a:tcPr marL="54864" marR="54864" marT="27432" marB="27432">
                    <a:solidFill>
                      <a:srgbClr val="E5F5FF"/>
                    </a:solidFill>
                  </a:tcPr>
                </a:tc>
                <a:tc>
                  <a:txBody>
                    <a:bodyPr/>
                    <a:lstStyle/>
                    <a:p>
                      <a:r>
                        <a:rPr sz="900" b="0">
                          <a:solidFill>
                            <a:srgbClr val="4B4B4B"/>
                          </a:solidFill>
                          <a:latin typeface="Arial"/>
                        </a:rPr>
                        <a:t>WT-C step 4</a:t>
                      </a:r>
                    </a:p>
                  </a:txBody>
                  <a:tcPr marL="54864" marR="54864" marT="27432" marB="27432">
                    <a:solidFill>
                      <a:srgbClr val="E5F5FF"/>
                    </a:solidFill>
                  </a:tcPr>
                </a:tc>
                <a:tc>
                  <a:txBody>
                    <a:bodyPr/>
                    <a:lstStyle/>
                    <a:p>
                      <a:r>
                        <a:rPr sz="900" b="0">
                          <a:solidFill>
                            <a:srgbClr val="4B4B4B"/>
                          </a:solidFill>
                          <a:latin typeface="Arial"/>
                        </a:rPr>
                        <a:t>Raises a Modify user request for himself (requestor), ticks an additional profile and clicks Submit</a:t>
                      </a:r>
                    </a:p>
                  </a:txBody>
                  <a:tcPr marL="54864" marR="54864" marT="27432" marB="27432">
                    <a:solidFill>
                      <a:srgbClr val="E5F5FF"/>
                    </a:solidFill>
                  </a:tcPr>
                </a:tc>
                <a:tc>
                  <a:txBody>
                    <a:bodyPr/>
                    <a:lstStyle/>
                    <a:p>
                      <a:r>
                        <a:rPr sz="900" b="0">
                          <a:solidFill>
                            <a:srgbClr val="4B4B4B"/>
                          </a:solidFill>
                          <a:latin typeface="Arial"/>
                        </a:rPr>
                        <a:t>SCR-UA-07_wt-c-step-04.png</a:t>
                      </a:r>
                    </a:p>
                  </a:txBody>
                  <a:tcPr marL="54864" marR="54864" marT="27432" marB="27432">
                    <a:solidFill>
                      <a:srgbClr val="E5F5FF"/>
                    </a:solidFill>
                  </a:tcPr>
                </a:tc>
              </a:tr>
              <a:tr h="36576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WT-C step 5</a:t>
                      </a:r>
                    </a:p>
                  </a:txBody>
                  <a:tcPr marL="54864" marR="54864" marT="27432" marB="27432">
                    <a:solidFill>
                      <a:srgbClr val="FFFFFF"/>
                    </a:solidFill>
                  </a:tcPr>
                </a:tc>
                <a:tc>
                  <a:txBody>
                    <a:bodyPr/>
                    <a:lstStyle/>
                    <a:p>
                      <a:r>
                        <a:rPr sz="900" b="0">
                          <a:solidFill>
                            <a:srgbClr val="4B4B4B"/>
                          </a:solidFill>
                          <a:latin typeface="Arial"/>
                        </a:rPr>
                        <a:t>Enrols a new user with both the User Access Requestor and the User Access Approver profiles and clicks Submit</a:t>
                      </a:r>
                    </a:p>
                  </a:txBody>
                  <a:tcPr marL="54864" marR="54864" marT="27432" marB="27432">
                    <a:solidFill>
                      <a:srgbClr val="FFFFFF"/>
                    </a:solidFill>
                  </a:tcPr>
                </a:tc>
                <a:tc>
                  <a:txBody>
                    <a:bodyPr/>
                    <a:lstStyle/>
                    <a:p>
                      <a:r>
                        <a:rPr sz="900" b="0">
                          <a:solidFill>
                            <a:srgbClr val="4B4B4B"/>
                          </a:solidFill>
                          <a:latin typeface="Arial"/>
                        </a:rPr>
                        <a:t>SCR-UA-07_wt-c-step-05.png</a:t>
                      </a:r>
                    </a:p>
                  </a:txBody>
                  <a:tcPr marL="54864" marR="54864" marT="27432" marB="27432">
                    <a:solidFill>
                      <a:srgbClr val="FFFFFF"/>
                    </a:solidFill>
                  </a:tcPr>
                </a:tc>
              </a:tr>
              <a:tr h="50292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1</a:t>
                      </a:r>
                    </a:p>
                  </a:txBody>
                  <a:tcPr marL="54864" marR="54864" marT="27432" marB="27432">
                    <a:solidFill>
                      <a:srgbClr val="E5F5FF"/>
                    </a:solidFill>
                  </a:tcPr>
                </a:tc>
                <a:tc>
                  <a:txBody>
                    <a:bodyPr/>
                    <a:lstStyle/>
                    <a:p>
                      <a:r>
                        <a:rPr sz="900" b="0">
                          <a:solidFill>
                            <a:srgbClr val="4B4B4B"/>
                          </a:solidFill>
                          <a:latin typeface="Arial"/>
                        </a:rPr>
                        <a:t>Opens User Access › Access Requests › New Request, keeps Enrol new user, enters the user ID a013000196, the full name, e-mail, Windows ID and home branch, ticks Marketing Account Officer, chooses the approver Ulysses Access Approver, writes the justification and clicks Save Draft</a:t>
                      </a:r>
                    </a:p>
                  </a:txBody>
                  <a:tcPr marL="54864" marR="54864" marT="27432" marB="27432">
                    <a:solidFill>
                      <a:srgbClr val="E5F5FF"/>
                    </a:solidFill>
                  </a:tcPr>
                </a:tc>
                <a:tc>
                  <a:txBody>
                    <a:bodyPr/>
                    <a:lstStyle/>
                    <a:p>
                      <a:r>
                        <a:rPr sz="900" b="0">
                          <a:solidFill>
                            <a:srgbClr val="4B4B4B"/>
                          </a:solidFill>
                          <a:latin typeface="Arial"/>
                        </a:rPr>
                        <a:t>SCR-UA-07_wt-a-step-01.png</a:t>
                      </a:r>
                    </a:p>
                  </a:txBody>
                  <a:tcPr marL="54864" marR="54864" marT="27432" marB="27432">
                    <a:solidFill>
                      <a:srgbClr val="E5F5FF"/>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1</a:t>
                      </a:r>
                    </a:p>
                  </a:txBody>
                  <a:tcPr marL="54864" marR="54864" marT="27432" marB="27432">
                    <a:solidFill>
                      <a:srgbClr val="FFFFFF"/>
                    </a:solidFill>
                  </a:tcPr>
                </a:tc>
                <a:tc>
                  <a:txBody>
                    <a:bodyPr/>
                    <a:lstStyle/>
                    <a:p>
                      <a:r>
                        <a:rPr sz="900" b="0">
                          <a:solidFill>
                            <a:srgbClr val="4B4B4B"/>
                          </a:solidFill>
                          <a:latin typeface="Arial"/>
                        </a:rPr>
                        <a:t>Opens a New Request of type Modify user for a013000196, ticks Marketing Team Leader / Head (approver) besides the current profile, chooses the approver, writes the justification and clicks Submit</a:t>
                      </a:r>
                    </a:p>
                  </a:txBody>
                  <a:tcPr marL="54864" marR="54864" marT="27432" marB="27432">
                    <a:solidFill>
                      <a:srgbClr val="FFFFFF"/>
                    </a:solidFill>
                  </a:tcPr>
                </a:tc>
                <a:tc>
                  <a:txBody>
                    <a:bodyPr/>
                    <a:lstStyle/>
                    <a:p>
                      <a:r>
                        <a:rPr sz="900" b="0">
                          <a:solidFill>
                            <a:srgbClr val="4B4B4B"/>
                          </a:solidFill>
                          <a:latin typeface="Arial"/>
                        </a:rPr>
                        <a:t>SCR-UA-07_wt-b-step-01.png</a:t>
                      </a:r>
                    </a:p>
                  </a:txBody>
                  <a:tcPr marL="54864" marR="54864" marT="27432" marB="27432">
                    <a:solidFill>
                      <a:srgbClr val="FFFFFF"/>
                    </a:solidFill>
                  </a:tcPr>
                </a:tc>
              </a:tr>
              <a:tr h="36576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WT-B step 8</a:t>
                      </a:r>
                    </a:p>
                  </a:txBody>
                  <a:tcPr marL="54864" marR="54864" marT="27432" marB="27432">
                    <a:solidFill>
                      <a:srgbClr val="E5F5FF"/>
                    </a:solidFill>
                  </a:tcPr>
                </a:tc>
                <a:tc>
                  <a:txBody>
                    <a:bodyPr/>
                    <a:lstStyle/>
                    <a:p>
                      <a:r>
                        <a:rPr sz="900" b="0">
                          <a:solidFill>
                            <a:srgbClr val="4B4B4B"/>
                          </a:solidFill>
                          <a:latin typeface="Arial"/>
                        </a:rPr>
                        <a:t>Opens a New Request of type Deactivate user for a013000196, chooses the reason Resigned, leaves the effective date blank, chooses the approver and clicks Submit</a:t>
                      </a:r>
                    </a:p>
                  </a:txBody>
                  <a:tcPr marL="54864" marR="54864" marT="27432" marB="27432">
                    <a:solidFill>
                      <a:srgbClr val="E5F5FF"/>
                    </a:solidFill>
                  </a:tcPr>
                </a:tc>
                <a:tc>
                  <a:txBody>
                    <a:bodyPr/>
                    <a:lstStyle/>
                    <a:p>
                      <a:r>
                        <a:rPr sz="900" b="0">
                          <a:solidFill>
                            <a:srgbClr val="4B4B4B"/>
                          </a:solidFill>
                          <a:latin typeface="Arial"/>
                        </a:rPr>
                        <a:t>SCR-UA-07_wt-b-step-08.png</a:t>
                      </a:r>
                    </a:p>
                  </a:txBody>
                  <a:tcPr marL="54864" marR="54864" marT="27432" marB="27432">
                    <a:solidFill>
                      <a:srgbClr val="E5F5FF"/>
                    </a:solidFill>
                  </a:tcPr>
                </a:tc>
              </a:tr>
            </a:tbl>
          </a:graphicData>
        </a:graphic>
      </p:graphicFrame>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Default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176</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CHG-UA-2.1-05, CHG-UA-2.2-01</a:t>
            </a:r>
          </a:p>
        </p:txBody>
      </p:sp>
      <p:sp>
        <p:nvSpPr>
          <p:cNvPr id="10" name="Rounded Rectangle 9"/>
          <p:cNvSpPr/>
          <p:nvPr/>
        </p:nvSpPr>
        <p:spPr>
          <a:xfrm>
            <a:off x="603321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079.png"/>
          <p:cNvPicPr>
            <a:picLocks noChangeAspect="1"/>
          </p:cNvPicPr>
          <p:nvPr/>
        </p:nvPicPr>
        <p:blipFill>
          <a:blip r:embed="rId3"/>
          <a:stretch>
            <a:fillRect/>
          </a:stretch>
        </p:blipFill>
        <p:spPr>
          <a:xfrm>
            <a:off x="548640" y="1261872"/>
            <a:ext cx="11094415" cy="4150841"/>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Request, Enrol new user (part 1 of 5)</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Default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177</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CHG-UA-2.1-05, CHG-UA-2.2-01</a:t>
            </a:r>
          </a:p>
        </p:txBody>
      </p:sp>
      <p:sp>
        <p:nvSpPr>
          <p:cNvPr id="10" name="Rounded Rectangle 9"/>
          <p:cNvSpPr/>
          <p:nvPr/>
        </p:nvSpPr>
        <p:spPr>
          <a:xfrm>
            <a:off x="603321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080.png"/>
          <p:cNvPicPr>
            <a:picLocks noChangeAspect="1"/>
          </p:cNvPicPr>
          <p:nvPr/>
        </p:nvPicPr>
        <p:blipFill>
          <a:blip r:embed="rId3"/>
          <a:stretch>
            <a:fillRect/>
          </a:stretch>
        </p:blipFill>
        <p:spPr>
          <a:xfrm>
            <a:off x="548640" y="1261872"/>
            <a:ext cx="11094415" cy="461948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Request, Enrol new user (part 2 of 5)</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Default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178</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CHG-UA-2.1-05, CHG-UA-2.2-01</a:t>
            </a:r>
          </a:p>
        </p:txBody>
      </p:sp>
      <p:sp>
        <p:nvSpPr>
          <p:cNvPr id="10" name="Rounded Rectangle 9"/>
          <p:cNvSpPr/>
          <p:nvPr/>
        </p:nvSpPr>
        <p:spPr>
          <a:xfrm>
            <a:off x="603321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08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Request, Enrol new user (part 3 of 5)</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Default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179</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CHG-UA-2.1-05, CHG-UA-2.2-01</a:t>
            </a:r>
          </a:p>
        </p:txBody>
      </p:sp>
      <p:sp>
        <p:nvSpPr>
          <p:cNvPr id="10" name="Rounded Rectangle 9"/>
          <p:cNvSpPr/>
          <p:nvPr/>
        </p:nvSpPr>
        <p:spPr>
          <a:xfrm>
            <a:off x="603321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08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Request, Enrol new user (part 4 of 5)</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Default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180</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CHG-UA-2.1-05, CHG-UA-2.2-01</a:t>
            </a:r>
          </a:p>
        </p:txBody>
      </p:sp>
      <p:sp>
        <p:nvSpPr>
          <p:cNvPr id="10" name="Rounded Rectangle 9"/>
          <p:cNvSpPr/>
          <p:nvPr/>
        </p:nvSpPr>
        <p:spPr>
          <a:xfrm>
            <a:off x="603321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083.png"/>
          <p:cNvPicPr>
            <a:picLocks noChangeAspect="1"/>
          </p:cNvPicPr>
          <p:nvPr/>
        </p:nvPicPr>
        <p:blipFill>
          <a:blip r:embed="rId3"/>
          <a:stretch>
            <a:fillRect/>
          </a:stretch>
        </p:blipFill>
        <p:spPr>
          <a:xfrm>
            <a:off x="548640" y="1261872"/>
            <a:ext cx="11094415" cy="315616"/>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Request, Enrol new user (part 5 of 5)</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Filled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181</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CHG-UA-2.1-05, CHG-UA-2.2-01</a:t>
            </a:r>
          </a:p>
        </p:txBody>
      </p:sp>
      <p:sp>
        <p:nvSpPr>
          <p:cNvPr id="10" name="Rounded Rectangle 9"/>
          <p:cNvSpPr/>
          <p:nvPr/>
        </p:nvSpPr>
        <p:spPr>
          <a:xfrm>
            <a:off x="603321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084.png"/>
          <p:cNvPicPr>
            <a:picLocks noChangeAspect="1"/>
          </p:cNvPicPr>
          <p:nvPr/>
        </p:nvPicPr>
        <p:blipFill>
          <a:blip r:embed="rId3"/>
          <a:stretch>
            <a:fillRect/>
          </a:stretch>
        </p:blipFill>
        <p:spPr>
          <a:xfrm>
            <a:off x="548640" y="1261872"/>
            <a:ext cx="11094415" cy="4150841"/>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Request with the new user's data, group profile and approver (part 1 of 5)</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Filled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182</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CHG-UA-2.1-05, CHG-UA-2.2-01</a:t>
            </a:r>
          </a:p>
        </p:txBody>
      </p:sp>
      <p:sp>
        <p:nvSpPr>
          <p:cNvPr id="10" name="Rounded Rectangle 9"/>
          <p:cNvSpPr/>
          <p:nvPr/>
        </p:nvSpPr>
        <p:spPr>
          <a:xfrm>
            <a:off x="603321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085.png"/>
          <p:cNvPicPr>
            <a:picLocks noChangeAspect="1"/>
          </p:cNvPicPr>
          <p:nvPr/>
        </p:nvPicPr>
        <p:blipFill>
          <a:blip r:embed="rId3"/>
          <a:stretch>
            <a:fillRect/>
          </a:stretch>
        </p:blipFill>
        <p:spPr>
          <a:xfrm>
            <a:off x="548640" y="1261872"/>
            <a:ext cx="11094415" cy="461948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Request with the new user's data, group profile and approver (part 2 of 5)</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Filled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183</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CHG-UA-2.1-05, CHG-UA-2.2-01</a:t>
            </a:r>
          </a:p>
        </p:txBody>
      </p:sp>
      <p:sp>
        <p:nvSpPr>
          <p:cNvPr id="10" name="Rounded Rectangle 9"/>
          <p:cNvSpPr/>
          <p:nvPr/>
        </p:nvSpPr>
        <p:spPr>
          <a:xfrm>
            <a:off x="603321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08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Request with the new user's data, group profile and approver (part 3 of 5)</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Filled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184</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CHG-UA-2.1-05, CHG-UA-2.2-01</a:t>
            </a:r>
          </a:p>
        </p:txBody>
      </p:sp>
      <p:sp>
        <p:nvSpPr>
          <p:cNvPr id="10" name="Rounded Rectangle 9"/>
          <p:cNvSpPr/>
          <p:nvPr/>
        </p:nvSpPr>
        <p:spPr>
          <a:xfrm>
            <a:off x="603321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08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Request with the new user's data, group profile and approver (part 4 of 5)</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Filled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185</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CHG-UA-2.1-05, CHG-UA-2.2-01</a:t>
            </a:r>
          </a:p>
        </p:txBody>
      </p:sp>
      <p:sp>
        <p:nvSpPr>
          <p:cNvPr id="10" name="Rounded Rectangle 9"/>
          <p:cNvSpPr/>
          <p:nvPr/>
        </p:nvSpPr>
        <p:spPr>
          <a:xfrm>
            <a:off x="603321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088.png"/>
          <p:cNvPicPr>
            <a:picLocks noChangeAspect="1"/>
          </p:cNvPicPr>
          <p:nvPr/>
        </p:nvPicPr>
        <p:blipFill>
          <a:blip r:embed="rId3"/>
          <a:stretch>
            <a:fillRect/>
          </a:stretch>
        </p:blipFill>
        <p:spPr>
          <a:xfrm>
            <a:off x="548640" y="1261872"/>
            <a:ext cx="11094415" cy="315616"/>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Request with the new user's data, group profile and approver (part 5 of 5)</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Filled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186</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CHG-UA-2.1-05, CHG-UA-2.2-01</a:t>
            </a:r>
          </a:p>
        </p:txBody>
      </p:sp>
      <p:sp>
        <p:nvSpPr>
          <p:cNvPr id="10" name="Rounded Rectangle 9"/>
          <p:cNvSpPr/>
          <p:nvPr/>
        </p:nvSpPr>
        <p:spPr>
          <a:xfrm>
            <a:off x="603321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089.png"/>
          <p:cNvPicPr>
            <a:picLocks noChangeAspect="1"/>
          </p:cNvPicPr>
          <p:nvPr/>
        </p:nvPicPr>
        <p:blipFill>
          <a:blip r:embed="rId3"/>
          <a:stretch>
            <a:fillRect/>
          </a:stretch>
        </p:blipFill>
        <p:spPr>
          <a:xfrm>
            <a:off x="548640" y="1261872"/>
            <a:ext cx="11094415" cy="4150841"/>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Modify user: current values beside the requested ones (part 1 of 5)</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Filled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187</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CHG-UA-2.1-05, CHG-UA-2.2-01</a:t>
            </a:r>
          </a:p>
        </p:txBody>
      </p:sp>
      <p:sp>
        <p:nvSpPr>
          <p:cNvPr id="10" name="Rounded Rectangle 9"/>
          <p:cNvSpPr/>
          <p:nvPr/>
        </p:nvSpPr>
        <p:spPr>
          <a:xfrm>
            <a:off x="603321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090.png"/>
          <p:cNvPicPr>
            <a:picLocks noChangeAspect="1"/>
          </p:cNvPicPr>
          <p:nvPr/>
        </p:nvPicPr>
        <p:blipFill>
          <a:blip r:embed="rId3"/>
          <a:stretch>
            <a:fillRect/>
          </a:stretch>
        </p:blipFill>
        <p:spPr>
          <a:xfrm>
            <a:off x="548640" y="1261872"/>
            <a:ext cx="11094415" cy="461948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Modify user: current values beside the requested ones (part 2 of 5)</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Filled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188</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CHG-UA-2.1-05, CHG-UA-2.2-01</a:t>
            </a:r>
          </a:p>
        </p:txBody>
      </p:sp>
      <p:sp>
        <p:nvSpPr>
          <p:cNvPr id="10" name="Rounded Rectangle 9"/>
          <p:cNvSpPr/>
          <p:nvPr/>
        </p:nvSpPr>
        <p:spPr>
          <a:xfrm>
            <a:off x="603321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09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Modify user: current values beside the requested ones (part 3 of 5)</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Filled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189</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CHG-UA-2.1-05, CHG-UA-2.2-01</a:t>
            </a:r>
          </a:p>
        </p:txBody>
      </p:sp>
      <p:sp>
        <p:nvSpPr>
          <p:cNvPr id="10" name="Rounded Rectangle 9"/>
          <p:cNvSpPr/>
          <p:nvPr/>
        </p:nvSpPr>
        <p:spPr>
          <a:xfrm>
            <a:off x="603321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09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Modify user: current values beside the requested ones (part 4 of 5)</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Filled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190</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CHG-UA-2.1-05, CHG-UA-2.2-01</a:t>
            </a:r>
          </a:p>
        </p:txBody>
      </p:sp>
      <p:sp>
        <p:nvSpPr>
          <p:cNvPr id="10" name="Rounded Rectangle 9"/>
          <p:cNvSpPr/>
          <p:nvPr/>
        </p:nvSpPr>
        <p:spPr>
          <a:xfrm>
            <a:off x="603321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093.png"/>
          <p:cNvPicPr>
            <a:picLocks noChangeAspect="1"/>
          </p:cNvPicPr>
          <p:nvPr/>
        </p:nvPicPr>
        <p:blipFill>
          <a:blip r:embed="rId3"/>
          <a:stretch>
            <a:fillRect/>
          </a:stretch>
        </p:blipFill>
        <p:spPr>
          <a:xfrm>
            <a:off x="548640" y="1261872"/>
            <a:ext cx="11094415" cy="315616"/>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Modify user: current values beside the requested ones (part 5 of 5)</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Validation error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191</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CHG-UA-2.1-05, CHG-UA-2.2-01</a:t>
            </a:r>
          </a:p>
        </p:txBody>
      </p:sp>
      <p:sp>
        <p:nvSpPr>
          <p:cNvPr id="10" name="Rounded Rectangle 9"/>
          <p:cNvSpPr/>
          <p:nvPr/>
        </p:nvSpPr>
        <p:spPr>
          <a:xfrm>
            <a:off x="546628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094.png"/>
          <p:cNvPicPr>
            <a:picLocks noChangeAspect="1"/>
          </p:cNvPicPr>
          <p:nvPr/>
        </p:nvPicPr>
        <p:blipFill>
          <a:blip r:embed="rId3"/>
          <a:stretch>
            <a:fillRect/>
          </a:stretch>
        </p:blipFill>
        <p:spPr>
          <a:xfrm>
            <a:off x="548640" y="1261872"/>
            <a:ext cx="11094415" cy="42273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messages after Submit with a short user ID and no justification (part 1 of 5)</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Validation error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192</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CHG-UA-2.1-05, CHG-UA-2.2-01</a:t>
            </a:r>
          </a:p>
        </p:txBody>
      </p:sp>
      <p:sp>
        <p:nvSpPr>
          <p:cNvPr id="10" name="Rounded Rectangle 9"/>
          <p:cNvSpPr/>
          <p:nvPr/>
        </p:nvSpPr>
        <p:spPr>
          <a:xfrm>
            <a:off x="546628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095.png"/>
          <p:cNvPicPr>
            <a:picLocks noChangeAspect="1"/>
          </p:cNvPicPr>
          <p:nvPr/>
        </p:nvPicPr>
        <p:blipFill>
          <a:blip r:embed="rId3"/>
          <a:stretch>
            <a:fillRect/>
          </a:stretch>
        </p:blipFill>
        <p:spPr>
          <a:xfrm>
            <a:off x="548640" y="1261872"/>
            <a:ext cx="11094415" cy="4538189"/>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messages after Submit with a short user ID and no justification (part 2 of 5)</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Validation error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193</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CHG-UA-2.1-05, CHG-UA-2.2-01</a:t>
            </a:r>
          </a:p>
        </p:txBody>
      </p:sp>
      <p:sp>
        <p:nvSpPr>
          <p:cNvPr id="10" name="Rounded Rectangle 9"/>
          <p:cNvSpPr/>
          <p:nvPr/>
        </p:nvSpPr>
        <p:spPr>
          <a:xfrm>
            <a:off x="546628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096.png"/>
          <p:cNvPicPr>
            <a:picLocks noChangeAspect="1"/>
          </p:cNvPicPr>
          <p:nvPr/>
        </p:nvPicPr>
        <p:blipFill>
          <a:blip r:embed="rId3"/>
          <a:stretch>
            <a:fillRect/>
          </a:stretch>
        </p:blipFill>
        <p:spPr>
          <a:xfrm>
            <a:off x="548640" y="1261872"/>
            <a:ext cx="11094415" cy="4519061"/>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messages after Submit with a short user ID and no justification (part 3 of 5)</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Validation error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194</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CHG-UA-2.1-05, CHG-UA-2.2-01</a:t>
            </a:r>
          </a:p>
        </p:txBody>
      </p:sp>
      <p:sp>
        <p:nvSpPr>
          <p:cNvPr id="10" name="Rounded Rectangle 9"/>
          <p:cNvSpPr/>
          <p:nvPr/>
        </p:nvSpPr>
        <p:spPr>
          <a:xfrm>
            <a:off x="546628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09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messages after Submit with a short user ID and no justification (part 4 of 5)</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SCR-UA-07 New Request and Edit Request (user requests): Validation error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195</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CHG-UA-2.1-05, CHG-UA-2.2-01</a:t>
            </a:r>
          </a:p>
        </p:txBody>
      </p:sp>
      <p:sp>
        <p:nvSpPr>
          <p:cNvPr id="10" name="Rounded Rectangle 9"/>
          <p:cNvSpPr/>
          <p:nvPr/>
        </p:nvSpPr>
        <p:spPr>
          <a:xfrm>
            <a:off x="546628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098.png"/>
          <p:cNvPicPr>
            <a:picLocks noChangeAspect="1"/>
          </p:cNvPicPr>
          <p:nvPr/>
        </p:nvPicPr>
        <p:blipFill>
          <a:blip r:embed="rId3"/>
          <a:stretch>
            <a:fillRect/>
          </a:stretch>
        </p:blipFill>
        <p:spPr>
          <a:xfrm>
            <a:off x="548640" y="1261872"/>
            <a:ext cx="11094415" cy="535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messages after Submit with a short user ID and no justification (part 5 of 5)</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SCR-UA-08 Access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196</a:t>
            </a:r>
          </a:p>
        </p:txBody>
      </p:sp>
      <p:sp>
        <p:nvSpPr>
          <p:cNvPr id="9" name="Rounded Rectangle 8"/>
          <p:cNvSpPr/>
          <p:nvPr/>
        </p:nvSpPr>
        <p:spPr>
          <a:xfrm>
            <a:off x="3815791" y="896112"/>
            <a:ext cx="782726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CHG-UA-2.1-01, CHG-UA-2.1-02, CHG-UA-2.1-03, CHG-UA-2.1-04, CHG-UA-2.2-01</a:t>
            </a:r>
          </a:p>
        </p:txBody>
      </p:sp>
      <p:graphicFrame>
        <p:nvGraphicFramePr>
          <p:cNvPr id="10" name="Table 9"/>
          <p:cNvGraphicFramePr>
            <a:graphicFrameLocks noGrp="1"/>
          </p:cNvGraphicFramePr>
          <p:nvPr/>
        </p:nvGraphicFramePr>
        <p:xfrm>
          <a:off x="548640" y="1307592"/>
          <a:ext cx="6434760" cy="35356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User access requests</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access request: its number, type and subject, status and risk flags, who requested it and when, the approver, the effective date and the decision; the tabs Details (current and requested values), Approvers (in order, with each decision) and History (every event with its remarks); and the actions the viewer may take: edit, cancel, approve, give the second approval, return, reject or implement.</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Requestor, Approver, Second Approver, Business Administrator, System Administrator, Auditor, Information Security Officer, New Business Approver (keeps the access approval right)</a:t>
                      </a:r>
                    </a:p>
                  </a:txBody>
                  <a:tcPr marL="54864" marR="54864" marT="27432" marB="27432">
                    <a:solidFill>
                      <a:srgbClr val="FFFFFF"/>
                    </a:solidFill>
                  </a:tcPr>
                </a:tc>
              </a:tr>
              <a:tr h="9601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User Access › Access Requests › Access Request</a:t>
                      </a:r>
                    </a:p>
                    <a:p>
                      <a:r>
                        <a:rPr sz="950" b="0">
                          <a:solidFill>
                            <a:srgbClr val="4B4B4B"/>
                          </a:solidFill>
                          <a:latin typeface="Arial"/>
                        </a:rPr>
                        <a:t>Access Requests or Group Profile Requests › a row</a:t>
                      </a:r>
                    </a:p>
                    <a:p>
                      <a:r>
                        <a:rPr sz="950" b="0">
                          <a:solidFill>
                            <a:srgbClr val="4B4B4B"/>
                          </a:solidFill>
                          <a:latin typeface="Arial"/>
                        </a:rPr>
                        <a:t>My Approvals › an access request</a:t>
                      </a:r>
                    </a:p>
                    <a:p>
                      <a:r>
                        <a:rPr sz="950" b="0">
                          <a:solidFill>
                            <a:srgbClr val="4B4B4B"/>
                          </a:solidFill>
                          <a:latin typeface="Arial"/>
                        </a:rPr>
                        <a:t>The notices of the request (to approve, returned, decided, for second approval, to implement)</a:t>
                      </a:r>
                    </a:p>
                    <a:p>
                      <a:r>
                        <a:rPr sz="950" b="0">
                          <a:solidFill>
                            <a:srgbClr val="4B4B4B"/>
                          </a:solidFill>
                          <a:latin typeface="Arial"/>
                        </a:rPr>
                        <a:t>Bulk Request Batch › a line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13.2.3</a:t>
                      </a:r>
                    </a:p>
                  </a:txBody>
                  <a:tcPr marL="54864" marR="54864" marT="27432" marB="27432">
                    <a:solidFill>
                      <a:srgbClr val="FFFFFF"/>
                    </a:solidFill>
                  </a:tcPr>
                </a:tc>
              </a:tr>
              <a:tr h="38100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FR-UA-017, FR-UA-018, FR-UA-030, FR-UA-031, FR-UA-032, FR-UA-033, FR-UA-034, FR-UA-045, FR-UA-064</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request is decided under four eyes, and an approved change is applied, scheduled or passed on with a complete, unchangeable history.</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(13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7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3 images</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bl>
          </a:graphicData>
        </a:graphic>
      </p:graphicFrame>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SCR-UA-08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197</a:t>
            </a:r>
          </a:p>
        </p:txBody>
      </p:sp>
      <p:graphicFrame>
        <p:nvGraphicFramePr>
          <p:cNvPr id="9" name="Table 8"/>
          <p:cNvGraphicFramePr>
            <a:graphicFrameLocks noGrp="1"/>
          </p:cNvGraphicFramePr>
          <p:nvPr/>
        </p:nvGraphicFramePr>
        <p:xfrm>
          <a:off x="548640" y="1325880"/>
          <a:ext cx="11094411" cy="437385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Summary</a:t>
                      </a:r>
                    </a:p>
                  </a:txBody>
                  <a:tcPr marL="54864" marR="54864" marT="27432" marB="27432">
                    <a:solidFill>
                      <a:srgbClr val="FFFFFF"/>
                    </a:solidFill>
                  </a:tcPr>
                </a:tc>
                <a:tc>
                  <a:txBody>
                    <a:bodyPr/>
                    <a:lstStyle/>
                    <a:p>
                      <a:r>
                        <a:rPr sz="850" b="0">
                          <a:solidFill>
                            <a:srgbClr val="4B4B4B"/>
                          </a:solidFill>
                          <a:latin typeface="Arial"/>
                        </a:rPr>
                        <a:t>Title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Request type · full name of the user with the user ID in brackets, or group profile name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Summary</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Reference chip</a:t>
                      </a:r>
                    </a:p>
                  </a:txBody>
                  <a:tcPr marL="54864" marR="54864" marT="27432" marB="27432">
                    <a:solidFill>
                      <a:srgbClr val="E5F5FF"/>
                    </a:solidFill>
                  </a:tcPr>
                </a:tc>
                <a:tc>
                  <a:txBody>
                    <a:bodyPr/>
                    <a:lstStyle/>
                    <a:p>
                      <a:r>
                        <a:rPr sz="850" b="0">
                          <a:solidFill>
                            <a:srgbClr val="4B4B4B"/>
                          </a:solidFill>
                          <a:latin typeface="Arial"/>
                        </a:rPr>
                        <a:t>AR-yyyy-nnnnnn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Summary</a:t>
                      </a:r>
                    </a:p>
                  </a:txBody>
                  <a:tcPr marL="54864" marR="54864" marT="27432" marB="27432">
                    <a:solidFill>
                      <a:srgbClr val="FFFFFF"/>
                    </a:solidFill>
                  </a:tcPr>
                </a:tc>
                <a:tc>
                  <a:txBody>
                    <a:bodyPr/>
                    <a:lstStyle/>
                    <a:p>
                      <a:r>
                        <a:rPr sz="850" b="0">
                          <a:solidFill>
                            <a:srgbClr val="4B4B4B"/>
                          </a:solidFill>
                          <a:latin typeface="Arial"/>
                        </a:rPr>
                        <a:t>Status and risk flags</a:t>
                      </a:r>
                    </a:p>
                  </a:txBody>
                  <a:tcPr marL="54864" marR="54864" marT="27432" marB="27432">
                    <a:solidFill>
                      <a:srgbClr val="FFFFFF"/>
                    </a:solidFill>
                  </a:tcPr>
                </a:tc>
                <a:tc>
                  <a:txBody>
                    <a:bodyPr/>
                    <a:lstStyle/>
                    <a:p>
                      <a:r>
                        <a:rPr sz="850" b="0">
                          <a:solidFill>
                            <a:srgbClr val="4B4B4B"/>
                          </a:solidFill>
                          <a:latin typeface="Arial"/>
                        </a:rPr>
                        <a:t>Pill and tags</a:t>
                      </a:r>
                    </a:p>
                  </a:txBody>
                  <a:tcPr marL="54864" marR="54864" marT="27432" marB="27432">
                    <a:solidFill>
                      <a:srgbClr val="FFFFFF"/>
                    </a:solidFill>
                  </a:tcPr>
                </a:tc>
                <a:tc>
                  <a:txBody>
                    <a:bodyPr/>
                    <a:lstStyle/>
                    <a:p>
                      <a:r>
                        <a:rPr sz="850" b="0">
                          <a:solidFill>
                            <a:srgbClr val="4B4B4B"/>
                          </a:solidFill>
                          <a:latin typeface="Arial"/>
                        </a:rPr>
                        <a:t>Status; Privilege increase, Outside working hours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Summary</a:t>
                      </a:r>
                    </a:p>
                  </a:txBody>
                  <a:tcPr marL="54864" marR="54864" marT="27432" marB="27432">
                    <a:solidFill>
                      <a:srgbClr val="E5F5FF"/>
                    </a:solidFill>
                  </a:tcPr>
                </a:tc>
                <a:tc>
                  <a:txBody>
                    <a:bodyPr/>
                    <a:lstStyle/>
                    <a:p>
                      <a:r>
                        <a:rPr sz="850" b="0">
                          <a:solidFill>
                            <a:srgbClr val="4B4B4B"/>
                          </a:solidFill>
                          <a:latin typeface="Arial"/>
                        </a:rPr>
                        <a:t>Requested By</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Name of the requester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Summary</a:t>
                      </a:r>
                    </a:p>
                  </a:txBody>
                  <a:tcPr marL="54864" marR="54864" marT="27432" marB="27432">
                    <a:solidFill>
                      <a:srgbClr val="FFFFFF"/>
                    </a:solidFill>
                  </a:tcPr>
                </a:tc>
                <a:tc>
                  <a:txBody>
                    <a:bodyPr/>
                    <a:lstStyle/>
                    <a:p>
                      <a:r>
                        <a:rPr sz="850" b="0">
                          <a:solidFill>
                            <a:srgbClr val="4B4B4B"/>
                          </a:solidFill>
                          <a:latin typeface="Arial"/>
                        </a:rPr>
                        <a:t>Requested On</a:t>
                      </a:r>
                    </a:p>
                  </a:txBody>
                  <a:tcPr marL="54864" marR="54864" marT="27432" marB="27432">
                    <a:solidFill>
                      <a:srgbClr val="FFFFFF"/>
                    </a:solidFill>
                  </a:tcPr>
                </a:tc>
                <a:tc>
                  <a:txBody>
                    <a:bodyPr/>
                    <a:lstStyle/>
                    <a:p>
                      <a:r>
                        <a:rPr sz="850" b="0">
                          <a:solidFill>
                            <a:srgbClr val="4B4B4B"/>
                          </a:solidFill>
                          <a:latin typeface="Arial"/>
                        </a:rPr>
                        <a:t>Date and time</a:t>
                      </a:r>
                    </a:p>
                  </a:txBody>
                  <a:tcPr marL="54864" marR="54864" marT="27432" marB="27432">
                    <a:solidFill>
                      <a:srgbClr val="FFFFFF"/>
                    </a:solidFill>
                  </a:tcPr>
                </a:tc>
                <a:tc>
                  <a:txBody>
                    <a:bodyPr/>
                    <a:lstStyle/>
                    <a:p>
                      <a:r>
                        <a:rPr sz="850" b="0">
                          <a:solidFill>
                            <a:srgbClr val="4B4B4B"/>
                          </a:solidFill>
                          <a:latin typeface="Arial"/>
                        </a:rPr>
                        <a:t>dd-MMM-yyyy HH:mm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Summary</a:t>
                      </a:r>
                    </a:p>
                  </a:txBody>
                  <a:tcPr marL="54864" marR="54864" marT="27432" marB="27432">
                    <a:solidFill>
                      <a:srgbClr val="E5F5FF"/>
                    </a:solidFill>
                  </a:tcPr>
                </a:tc>
                <a:tc>
                  <a:txBody>
                    <a:bodyPr/>
                    <a:lstStyle/>
                    <a:p>
                      <a:r>
                        <a:rPr sz="850" b="0">
                          <a:solidFill>
                            <a:srgbClr val="4B4B4B"/>
                          </a:solidFill>
                          <a:latin typeface="Arial"/>
                        </a:rPr>
                        <a:t>Approver</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Name of the chosen approver or of the decider; Chosen on submission for a draft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Summary</a:t>
                      </a:r>
                    </a:p>
                  </a:txBody>
                  <a:tcPr marL="54864" marR="54864" marT="27432" marB="27432">
                    <a:solidFill>
                      <a:srgbClr val="FFFFFF"/>
                    </a:solidFill>
                  </a:tcPr>
                </a:tc>
                <a:tc>
                  <a:txBody>
                    <a:bodyPr/>
                    <a:lstStyle/>
                    <a:p>
                      <a:r>
                        <a:rPr sz="850" b="0">
                          <a:solidFill>
                            <a:srgbClr val="4B4B4B"/>
                          </a:solidFill>
                          <a:latin typeface="Arial"/>
                        </a:rPr>
                        <a:t>Effective</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 or On approval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Summary</a:t>
                      </a:r>
                    </a:p>
                  </a:txBody>
                  <a:tcPr marL="54864" marR="54864" marT="27432" marB="27432">
                    <a:solidFill>
                      <a:srgbClr val="E5F5FF"/>
                    </a:solidFill>
                  </a:tcPr>
                </a:tc>
                <a:tc>
                  <a:txBody>
                    <a:bodyPr/>
                    <a:lstStyle/>
                    <a:p>
                      <a:r>
                        <a:rPr sz="850" b="0">
                          <a:solidFill>
                            <a:srgbClr val="4B4B4B"/>
                          </a:solidFill>
                          <a:latin typeface="Arial"/>
                        </a:rPr>
                        <a:t>Decision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Pending Approval, or name · dd-MMM-yyyy HH:mm – comment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1127752">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Details</a:t>
                      </a:r>
                    </a:p>
                  </a:txBody>
                  <a:tcPr marL="54864" marR="54864" marT="27432" marB="27432">
                    <a:solidFill>
                      <a:srgbClr val="FFFFFF"/>
                    </a:solidFill>
                  </a:tcPr>
                </a:tc>
                <a:tc>
                  <a:txBody>
                    <a:bodyPr/>
                    <a:lstStyle/>
                    <a:p>
                      <a:r>
                        <a:rPr sz="850" b="0">
                          <a:solidFill>
                            <a:srgbClr val="4B4B4B"/>
                          </a:solidFill>
                          <a:latin typeface="Arial"/>
                        </a:rPr>
                        <a:t>Attribute / Current / Requested</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Full name, E-mail, Windows ID, Business unit, User level (list labels), Authorisation limit, Group profiles by name, Status; for a group profile: Group profile (name), Name, Description, Privilege level, Permissions added, Permissions removed (permission names)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Details</a:t>
                      </a:r>
                    </a:p>
                  </a:txBody>
                  <a:tcPr marL="54864" marR="54864" marT="27432" marB="27432">
                    <a:solidFill>
                      <a:srgbClr val="E5F5FF"/>
                    </a:solidFill>
                  </a:tcPr>
                </a:tc>
                <a:tc>
                  <a:txBody>
                    <a:bodyPr/>
                    <a:lstStyle/>
                    <a:p>
                      <a:r>
                        <a:rPr sz="850" b="0">
                          <a:solidFill>
                            <a:srgbClr val="4B4B4B"/>
                          </a:solidFill>
                          <a:latin typeface="Arial"/>
                        </a:rPr>
                        <a:t>Group Profile / Change</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One row per group profile the request adds (Added) or removes (Removed), by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SCR-UA-08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198</a:t>
            </a:r>
          </a:p>
        </p:txBody>
      </p:sp>
      <p:graphicFrame>
        <p:nvGraphicFramePr>
          <p:cNvPr id="9" name="Table 8"/>
          <p:cNvGraphicFramePr>
            <a:graphicFrameLocks noGrp="1"/>
          </p:cNvGraphicFramePr>
          <p:nvPr/>
        </p:nvGraphicFramePr>
        <p:xfrm>
          <a:off x="548640" y="1325880"/>
          <a:ext cx="11094411" cy="265936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739135">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Details</a:t>
                      </a:r>
                    </a:p>
                  </a:txBody>
                  <a:tcPr marL="54864" marR="54864" marT="27432" marB="27432">
                    <a:solidFill>
                      <a:srgbClr val="FFFFFF"/>
                    </a:solidFill>
                  </a:tcPr>
                </a:tc>
                <a:tc>
                  <a:txBody>
                    <a:bodyPr/>
                    <a:lstStyle/>
                    <a:p>
                      <a:r>
                        <a:rPr sz="850" b="0">
                          <a:solidFill>
                            <a:srgbClr val="4B4B4B"/>
                          </a:solidFill>
                          <a:latin typeface="Arial"/>
                        </a:rPr>
                        <a:t>Remarks / Effective date / Reason / Members / Could not be applied</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Justification; effective date (dd-MMM-yyyy); deactivation reason (list label); members of a profile to deactivate; the error of a scheduled change that failed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Approvers</a:t>
                      </a:r>
                    </a:p>
                  </a:txBody>
                  <a:tcPr marL="54864" marR="54864" marT="27432" marB="27432">
                    <a:solidFill>
                      <a:srgbClr val="E5F5FF"/>
                    </a:solidFill>
                  </a:tcPr>
                </a:tc>
                <a:tc>
                  <a:txBody>
                    <a:bodyPr/>
                    <a:lstStyle/>
                    <a:p>
                      <a:r>
                        <a:rPr sz="850" b="0">
                          <a:solidFill>
                            <a:srgbClr val="4B4B4B"/>
                          </a:solidFill>
                          <a:latin typeface="Arial"/>
                        </a:rPr>
                        <a:t>Order / Approver / Decision / Remarks / Decided</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One row per approver in order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History</a:t>
                      </a:r>
                    </a:p>
                  </a:txBody>
                  <a:tcPr marL="54864" marR="54864" marT="27432" marB="27432">
                    <a:solidFill>
                      <a:srgbClr val="FFFFFF"/>
                    </a:solidFill>
                  </a:tcPr>
                </a:tc>
                <a:tc>
                  <a:txBody>
                    <a:bodyPr/>
                    <a:lstStyle/>
                    <a:p>
                      <a:r>
                        <a:rPr sz="850" b="0">
                          <a:solidFill>
                            <a:srgbClr val="4B4B4B"/>
                          </a:solidFill>
                          <a:latin typeface="Arial"/>
                        </a:rPr>
                        <a:t>Date / Action / Status / By / Remarks</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Every event: saved, submitted, returned, resubmitted, cancelled, approved, second approval, rejected, scheduled, applied, failed to apply, for implementation, implemented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Dialogs</a:t>
                      </a:r>
                    </a:p>
                  </a:txBody>
                  <a:tcPr marL="54864" marR="54864" marT="27432" marB="27432">
                    <a:solidFill>
                      <a:srgbClr val="E5F5FF"/>
                    </a:solidFill>
                  </a:tcPr>
                </a:tc>
                <a:tc>
                  <a:txBody>
                    <a:bodyPr/>
                    <a:lstStyle/>
                    <a:p>
                      <a:r>
                        <a:rPr sz="850" b="0">
                          <a:solidFill>
                            <a:srgbClr val="4B4B4B"/>
                          </a:solidFill>
                          <a:latin typeface="Arial"/>
                        </a:rPr>
                        <a:t>Comment / Remarks / Reason</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Up to 1,000 characters</a:t>
                      </a:r>
                    </a:p>
                  </a:txBody>
                  <a:tcPr marL="54864" marR="54864" marT="27432" marB="27432">
                    <a:solidFill>
                      <a:srgbClr val="E5F5FF"/>
                    </a:solidFill>
                  </a:tcPr>
                </a:tc>
                <a:tc>
                  <a:txBody>
                    <a:bodyPr/>
                    <a:lstStyle/>
                    <a:p>
                      <a:r>
                        <a:rPr sz="850" b="0">
                          <a:solidFill>
                            <a:srgbClr val="4B4B4B"/>
                          </a:solidFill>
                          <a:latin typeface="Arial"/>
                        </a:rPr>
                        <a:t>Cond.: Return, Reject, Cancel</a:t>
                      </a:r>
                    </a:p>
                  </a:txBody>
                  <a:tcPr marL="54864" marR="54864" marT="27432" marB="27432">
                    <a:solidFill>
                      <a:srgbClr val="E5F5FF"/>
                    </a:solidFill>
                  </a:tcPr>
                </a:tc>
                <a:tc>
                  <a:txBody>
                    <a:bodyPr/>
                    <a:lstStyle/>
                    <a:p>
                      <a:r>
                        <a:rPr sz="850" b="0">
                          <a:solidFill>
                            <a:srgbClr val="4B4B4B"/>
                          </a:solidFill>
                          <a:latin typeface="Arial"/>
                        </a:rPr>
                        <a:t>Not blank for a return, rejection or cancellation</a:t>
                      </a:r>
                    </a:p>
                  </a:txBody>
                  <a:tcPr marL="54864" marR="54864" marT="27432" marB="27432">
                    <a:solidFill>
                      <a:srgbClr val="E5F5FF"/>
                    </a:solidFill>
                  </a:tcPr>
                </a:tc>
                <a:tc>
                  <a:txBody>
                    <a:bodyPr/>
                    <a:lstStyle/>
                    <a:p>
                      <a:r>
                        <a:rPr sz="850" b="0">
                          <a:solidFill>
                            <a:srgbClr val="4B4B4B"/>
                          </a:solidFill>
                          <a:latin typeface="Arial"/>
                        </a:rPr>
                        <a:t>Enter the remarks</a:t>
                      </a:r>
                    </a:p>
                  </a:txBody>
                  <a:tcPr marL="54864" marR="54864" marT="27432" marB="27432">
                    <a:solidFill>
                      <a:srgbClr val="E5F5FF"/>
                    </a:solidFill>
                  </a:tcPr>
                </a:tc>
              </a:tr>
            </a:tbl>
          </a:graphicData>
        </a:graphic>
      </p:graphicFrame>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199</a:t>
            </a:r>
          </a:p>
        </p:txBody>
      </p:sp>
      <p:graphicFrame>
        <p:nvGraphicFramePr>
          <p:cNvPr id="9" name="Table 8"/>
          <p:cNvGraphicFramePr>
            <a:graphicFrameLocks noGrp="1"/>
          </p:cNvGraphicFramePr>
          <p:nvPr/>
        </p:nvGraphicFramePr>
        <p:xfrm>
          <a:off x="548640" y="1325880"/>
          <a:ext cx="11094412" cy="384045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Edit Request</a:t>
                      </a:r>
                    </a:p>
                  </a:txBody>
                  <a:tcPr marL="54864" marR="54864" marT="27432" marB="27432">
                    <a:solidFill>
                      <a:srgbClr val="FFFFFF"/>
                    </a:solidFill>
                  </a:tcPr>
                </a:tc>
                <a:tc>
                  <a:txBody>
                    <a:bodyPr/>
                    <a:lstStyle/>
                    <a:p>
                      <a:r>
                        <a:rPr sz="850" b="0">
                          <a:solidFill>
                            <a:srgbClr val="4B4B4B"/>
                          </a:solidFill>
                          <a:latin typeface="Arial"/>
                        </a:rPr>
                        <a:t>The creator (correction right for a returned request)</a:t>
                      </a:r>
                    </a:p>
                  </a:txBody>
                  <a:tcPr marL="54864" marR="54864" marT="27432" marB="27432">
                    <a:solidFill>
                      <a:srgbClr val="FFFFFF"/>
                    </a:solidFill>
                  </a:tcPr>
                </a:tc>
                <a:tc>
                  <a:txBody>
                    <a:bodyPr/>
                    <a:lstStyle/>
                    <a:p>
                      <a:r>
                        <a:rPr sz="850" b="0">
                          <a:solidFill>
                            <a:srgbClr val="4B4B4B"/>
                          </a:solidFill>
                          <a:latin typeface="Arial"/>
                        </a:rPr>
                        <a:t>Draft or Returned</a:t>
                      </a:r>
                    </a:p>
                  </a:txBody>
                  <a:tcPr marL="54864" marR="54864" marT="27432" marB="27432">
                    <a:solidFill>
                      <a:srgbClr val="FFFFFF"/>
                    </a:solidFill>
                  </a:tcPr>
                </a:tc>
                <a:tc>
                  <a:txBody>
                    <a:bodyPr/>
                    <a:lstStyle/>
                    <a:p>
                      <a:r>
                        <a:rPr sz="850" b="0">
                          <a:solidFill>
                            <a:srgbClr val="4B4B4B"/>
                          </a:solidFill>
                          <a:latin typeface="Arial"/>
                        </a:rPr>
                        <a:t>Opens Edit Request (SCR-UA-07)</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Cancel Request</a:t>
                      </a:r>
                    </a:p>
                  </a:txBody>
                  <a:tcPr marL="54864" marR="54864" marT="27432" marB="27432">
                    <a:solidFill>
                      <a:srgbClr val="E5F5FF"/>
                    </a:solidFill>
                  </a:tcPr>
                </a:tc>
                <a:tc>
                  <a:txBody>
                    <a:bodyPr/>
                    <a:lstStyle/>
                    <a:p>
                      <a:r>
                        <a:rPr sz="850" b="0">
                          <a:solidFill>
                            <a:srgbClr val="4B4B4B"/>
                          </a:solidFill>
                          <a:latin typeface="Arial"/>
                        </a:rPr>
                        <a:t>The creator (cancel right); the approver of a scheduled request</a:t>
                      </a:r>
                    </a:p>
                  </a:txBody>
                  <a:tcPr marL="54864" marR="54864" marT="27432" marB="27432">
                    <a:solidFill>
                      <a:srgbClr val="E5F5FF"/>
                    </a:solidFill>
                  </a:tcPr>
                </a:tc>
                <a:tc>
                  <a:txBody>
                    <a:bodyPr/>
                    <a:lstStyle/>
                    <a:p>
                      <a:r>
                        <a:rPr sz="850" b="0">
                          <a:solidFill>
                            <a:srgbClr val="4B4B4B"/>
                          </a:solidFill>
                          <a:latin typeface="Arial"/>
                        </a:rPr>
                        <a:t>Draft, Pending Approval, Pending Second Approval, Returned or Scheduled</a:t>
                      </a:r>
                    </a:p>
                  </a:txBody>
                  <a:tcPr marL="54864" marR="54864" marT="27432" marB="27432">
                    <a:solidFill>
                      <a:srgbClr val="E5F5FF"/>
                    </a:solidFill>
                  </a:tcPr>
                </a:tc>
                <a:tc>
                  <a:txBody>
                    <a:bodyPr/>
                    <a:lstStyle/>
                    <a:p>
                      <a:r>
                        <a:rPr sz="850" b="0">
                          <a:solidFill>
                            <a:srgbClr val="4B4B4B"/>
                          </a:solidFill>
                          <a:latin typeface="Arial"/>
                        </a:rPr>
                        <a:t>Asks the reason and cancels the request; it is kept, never deleted</a:t>
                      </a:r>
                    </a:p>
                  </a:txBody>
                  <a:tcPr marL="54864" marR="54864" marT="27432" marB="27432">
                    <a:solidFill>
                      <a:srgbClr val="E5F5FF"/>
                    </a:solidFill>
                  </a:tcPr>
                </a:tc>
                <a:tc>
                  <a:txBody>
                    <a:bodyPr/>
                    <a:lstStyle/>
                    <a:p>
                      <a:r>
                        <a:rPr sz="850" b="0">
                          <a:solidFill>
                            <a:srgbClr val="4B4B4B"/>
                          </a:solidFill>
                          <a:latin typeface="Arial"/>
                        </a:rPr>
                        <a:t>Cancelled</a:t>
                      </a:r>
                    </a:p>
                  </a:txBody>
                  <a:tcPr marL="54864" marR="54864" marT="27432" marB="27432">
                    <a:solidFill>
                      <a:srgbClr val="E5F5FF"/>
                    </a:solidFill>
                  </a:tcPr>
                </a:tc>
                <a:tc>
                  <a:txBody>
                    <a:bodyPr/>
                    <a:lstStyle/>
                    <a:p>
                      <a:r>
                        <a:rPr sz="850" b="0">
                          <a:solidFill>
                            <a:srgbClr val="4B4B4B"/>
                          </a:solidFill>
                          <a:latin typeface="Arial"/>
                        </a:rPr>
                        <a:t>Access request AR-yyyy-nnnnnn cancelled, to the approver</a:t>
                      </a:r>
                    </a:p>
                  </a:txBody>
                  <a:tcPr marL="54864" marR="54864" marT="27432" marB="27432">
                    <a:solidFill>
                      <a:srgbClr val="E5F5FF"/>
                    </a:solidFill>
                  </a:tcPr>
                </a:tc>
              </a:tr>
              <a:tr h="1127752">
                <a:tc>
                  <a:txBody>
                    <a:bodyPr/>
                    <a:lstStyle/>
                    <a:p>
                      <a:r>
                        <a:rPr sz="850" b="0">
                          <a:solidFill>
                            <a:srgbClr val="4B4B4B"/>
                          </a:solidFill>
                          <a:latin typeface="Arial"/>
                        </a:rPr>
                        <a:t>Approve and Apply</a:t>
                      </a:r>
                    </a:p>
                  </a:txBody>
                  <a:tcPr marL="54864" marR="54864" marT="27432" marB="27432">
                    <a:solidFill>
                      <a:srgbClr val="FFFFFF"/>
                    </a:solidFill>
                  </a:tcPr>
                </a:tc>
                <a:tc>
                  <a:txBody>
                    <a:bodyPr/>
                    <a:lstStyle/>
                    <a:p>
                      <a:r>
                        <a:rPr sz="850" b="0">
                          <a:solidFill>
                            <a:srgbClr val="4B4B4B"/>
                          </a:solidFill>
                          <a:latin typeface="Arial"/>
                        </a:rPr>
                        <a:t>The chosen approver (approval right), not the requester nor the user concerned</a:t>
                      </a:r>
                    </a:p>
                  </a:txBody>
                  <a:tcPr marL="54864" marR="54864" marT="27432" marB="27432">
                    <a:solidFill>
                      <a:srgbClr val="FFFFFF"/>
                    </a:solidFill>
                  </a:tcPr>
                </a:tc>
                <a:tc>
                  <a:txBody>
                    <a:bodyPr/>
                    <a:lstStyle/>
                    <a:p>
                      <a:r>
                        <a:rPr sz="850" b="0">
                          <a:solidFill>
                            <a:srgbClr val="4B4B4B"/>
                          </a:solidFill>
                          <a:latin typeface="Arial"/>
                        </a:rPr>
                        <a:t>Pending Approval</a:t>
                      </a:r>
                    </a:p>
                  </a:txBody>
                  <a:tcPr marL="54864" marR="54864" marT="27432" marB="27432">
                    <a:solidFill>
                      <a:srgbClr val="FFFFFF"/>
                    </a:solidFill>
                  </a:tcPr>
                </a:tc>
                <a:tc>
                  <a:txBody>
                    <a:bodyPr/>
                    <a:lstStyle/>
                    <a:p>
                      <a:r>
                        <a:rPr sz="850" b="0">
                          <a:solidFill>
                            <a:srgbClr val="4B4B4B"/>
                          </a:solidFill>
                          <a:latin typeface="Arial"/>
                        </a:rPr>
                        <a:t>Applies the change now, schedules it for the effective date, passes it to the next approver in order, sends it for a second approval when a risk flag is found, or (group profile) sends it to the System Administrator. For an enrolment, shows the temporary password once</a:t>
                      </a:r>
                    </a:p>
                  </a:txBody>
                  <a:tcPr marL="54864" marR="54864" marT="27432" marB="27432">
                    <a:solidFill>
                      <a:srgbClr val="FFFFFF"/>
                    </a:solidFill>
                  </a:tcPr>
                </a:tc>
                <a:tc>
                  <a:txBody>
                    <a:bodyPr/>
                    <a:lstStyle/>
                    <a:p>
                      <a:r>
                        <a:rPr sz="850" b="0">
                          <a:solidFill>
                            <a:srgbClr val="4B4B4B"/>
                          </a:solidFill>
                          <a:latin typeface="Arial"/>
                        </a:rPr>
                        <a:t>Approved, Scheduled, Pending Approval, Pending Second Approval or For Implementation</a:t>
                      </a:r>
                    </a:p>
                  </a:txBody>
                  <a:tcPr marL="54864" marR="54864" marT="27432" marB="27432">
                    <a:solidFill>
                      <a:srgbClr val="FFFFFF"/>
                    </a:solidFill>
                  </a:tcPr>
                </a:tc>
                <a:tc>
                  <a:txBody>
                    <a:bodyPr/>
                    <a:lstStyle/>
                    <a:p>
                      <a:r>
                        <a:rPr sz="850" b="0">
                          <a:solidFill>
                            <a:srgbClr val="4B4B4B"/>
                          </a:solidFill>
                          <a:latin typeface="Arial"/>
                        </a:rPr>
                        <a:t>Decision notice to the requester; Your access changed to the user (in the app and by e-mail); for a second approval or implementation, notices to the second approvers or System Administrators</a:t>
                      </a:r>
                    </a:p>
                  </a:txBody>
                  <a:tcPr marL="54864" marR="54864" marT="27432" marB="27432">
                    <a:solidFill>
                      <a:srgbClr val="FFFFFF"/>
                    </a:solidFill>
                  </a:tcPr>
                </a:tc>
              </a:tr>
              <a:tr h="350518">
                <a:tc>
                  <a:txBody>
                    <a:bodyPr/>
                    <a:lstStyle/>
                    <a:p>
                      <a:r>
                        <a:rPr sz="850" b="0">
                          <a:solidFill>
                            <a:srgbClr val="4B4B4B"/>
                          </a:solidFill>
                          <a:latin typeface="Arial"/>
                        </a:rPr>
                        <a:t>Second Approval</a:t>
                      </a:r>
                    </a:p>
                  </a:txBody>
                  <a:tcPr marL="54864" marR="54864" marT="27432" marB="27432">
                    <a:solidFill>
                      <a:srgbClr val="E5F5FF"/>
                    </a:solidFill>
                  </a:tcPr>
                </a:tc>
                <a:tc>
                  <a:txBody>
                    <a:bodyPr/>
                    <a:lstStyle/>
                    <a:p>
                      <a:r>
                        <a:rPr sz="850" b="0">
                          <a:solidFill>
                            <a:srgbClr val="4B4B4B"/>
                          </a:solidFill>
                          <a:latin typeface="Arial"/>
                        </a:rPr>
                        <a:t>A second approver who did not give the first approval</a:t>
                      </a:r>
                    </a:p>
                  </a:txBody>
                  <a:tcPr marL="54864" marR="54864" marT="27432" marB="27432">
                    <a:solidFill>
                      <a:srgbClr val="E5F5FF"/>
                    </a:solidFill>
                  </a:tcPr>
                </a:tc>
                <a:tc>
                  <a:txBody>
                    <a:bodyPr/>
                    <a:lstStyle/>
                    <a:p>
                      <a:r>
                        <a:rPr sz="850" b="0">
                          <a:solidFill>
                            <a:srgbClr val="4B4B4B"/>
                          </a:solidFill>
                          <a:latin typeface="Arial"/>
                        </a:rPr>
                        <a:t>Pending Second Approval</a:t>
                      </a:r>
                    </a:p>
                  </a:txBody>
                  <a:tcPr marL="54864" marR="54864" marT="27432" marB="27432">
                    <a:solidFill>
                      <a:srgbClr val="E5F5FF"/>
                    </a:solidFill>
                  </a:tcPr>
                </a:tc>
                <a:tc>
                  <a:txBody>
                    <a:bodyPr/>
                    <a:lstStyle/>
                    <a:p>
                      <a:r>
                        <a:rPr sz="850" b="0">
                          <a:solidFill>
                            <a:srgbClr val="4B4B4B"/>
                          </a:solidFill>
                          <a:latin typeface="Arial"/>
                        </a:rPr>
                        <a:t>Applies, schedules or sends for implementation as above</a:t>
                      </a:r>
                    </a:p>
                  </a:txBody>
                  <a:tcPr marL="54864" marR="54864" marT="27432" marB="27432">
                    <a:solidFill>
                      <a:srgbClr val="E5F5FF"/>
                    </a:solidFill>
                  </a:tcPr>
                </a:tc>
                <a:tc>
                  <a:txBody>
                    <a:bodyPr/>
                    <a:lstStyle/>
                    <a:p>
                      <a:r>
                        <a:rPr sz="850" b="0">
                          <a:solidFill>
                            <a:srgbClr val="4B4B4B"/>
                          </a:solidFill>
                          <a:latin typeface="Arial"/>
                        </a:rPr>
                        <a:t>Approved, Scheduled or For Implementation</a:t>
                      </a:r>
                    </a:p>
                  </a:txBody>
                  <a:tcPr marL="54864" marR="54864" marT="27432" marB="27432">
                    <a:solidFill>
                      <a:srgbClr val="E5F5FF"/>
                    </a:solidFill>
                  </a:tcPr>
                </a:tc>
                <a:tc>
                  <a:txBody>
                    <a:bodyPr/>
                    <a:lstStyle/>
                    <a:p>
                      <a:r>
                        <a:rPr sz="850" b="0">
                          <a:solidFill>
                            <a:srgbClr val="4B4B4B"/>
                          </a:solidFill>
                          <a:latin typeface="Arial"/>
                        </a:rPr>
                        <a:t>As Approve and Apply</a:t>
                      </a:r>
                    </a:p>
                  </a:txBody>
                  <a:tcPr marL="54864" marR="54864" marT="27432" marB="27432">
                    <a:solidFill>
                      <a:srgbClr val="E5F5FF"/>
                    </a:solidFill>
                  </a:tcPr>
                </a:tc>
              </a:tr>
              <a:tr h="480057">
                <a:tc>
                  <a:txBody>
                    <a:bodyPr/>
                    <a:lstStyle/>
                    <a:p>
                      <a:r>
                        <a:rPr sz="850" b="0">
                          <a:solidFill>
                            <a:srgbClr val="4B4B4B"/>
                          </a:solidFill>
                          <a:latin typeface="Arial"/>
                        </a:rPr>
                        <a:t>Return</a:t>
                      </a:r>
                    </a:p>
                  </a:txBody>
                  <a:tcPr marL="54864" marR="54864" marT="27432" marB="27432">
                    <a:solidFill>
                      <a:srgbClr val="FFFFFF"/>
                    </a:solidFill>
                  </a:tcPr>
                </a:tc>
                <a:tc>
                  <a:txBody>
                    <a:bodyPr/>
                    <a:lstStyle/>
                    <a:p>
                      <a:r>
                        <a:rPr sz="850" b="0">
                          <a:solidFill>
                            <a:srgbClr val="4B4B4B"/>
                          </a:solidFill>
                          <a:latin typeface="Arial"/>
                        </a:rPr>
                        <a:t>The deciding approver</a:t>
                      </a:r>
                    </a:p>
                  </a:txBody>
                  <a:tcPr marL="54864" marR="54864" marT="27432" marB="27432">
                    <a:solidFill>
                      <a:srgbClr val="FFFFFF"/>
                    </a:solidFill>
                  </a:tcPr>
                </a:tc>
                <a:tc>
                  <a:txBody>
                    <a:bodyPr/>
                    <a:lstStyle/>
                    <a:p>
                      <a:r>
                        <a:rPr sz="850" b="0">
                          <a:solidFill>
                            <a:srgbClr val="4B4B4B"/>
                          </a:solidFill>
                          <a:latin typeface="Arial"/>
                        </a:rPr>
                        <a:t>Pending Approval or Pending Second Approval</a:t>
                      </a:r>
                    </a:p>
                  </a:txBody>
                  <a:tcPr marL="54864" marR="54864" marT="27432" marB="27432">
                    <a:solidFill>
                      <a:srgbClr val="FFFFFF"/>
                    </a:solidFill>
                  </a:tcPr>
                </a:tc>
                <a:tc>
                  <a:txBody>
                    <a:bodyPr/>
                    <a:lstStyle/>
                    <a:p>
                      <a:r>
                        <a:rPr sz="850" b="0">
                          <a:solidFill>
                            <a:srgbClr val="4B4B4B"/>
                          </a:solidFill>
                          <a:latin typeface="Arial"/>
                        </a:rPr>
                        <a:t>Asks the remarks and returns the request to the requester for correction</a:t>
                      </a:r>
                    </a:p>
                  </a:txBody>
                  <a:tcPr marL="54864" marR="54864" marT="27432" marB="27432">
                    <a:solidFill>
                      <a:srgbClr val="FFFFFF"/>
                    </a:solidFill>
                  </a:tcPr>
                </a:tc>
                <a:tc>
                  <a:txBody>
                    <a:bodyPr/>
                    <a:lstStyle/>
                    <a:p>
                      <a:r>
                        <a:rPr sz="850" b="0">
                          <a:solidFill>
                            <a:srgbClr val="4B4B4B"/>
                          </a:solidFill>
                          <a:latin typeface="Arial"/>
                        </a:rPr>
                        <a:t>Returned</a:t>
                      </a:r>
                    </a:p>
                  </a:txBody>
                  <a:tcPr marL="54864" marR="54864" marT="27432" marB="27432">
                    <a:solidFill>
                      <a:srgbClr val="FFFFFF"/>
                    </a:solidFill>
                  </a:tcPr>
                </a:tc>
                <a:tc>
                  <a:txBody>
                    <a:bodyPr/>
                    <a:lstStyle/>
                    <a:p>
                      <a:r>
                        <a:rPr sz="850" b="0">
                          <a:solidFill>
                            <a:srgbClr val="4B4B4B"/>
                          </a:solidFill>
                          <a:latin typeface="Arial"/>
                        </a:rPr>
                        <a:t>Access request AR-yyyy-nnnnnn returned, with the remarks</a:t>
                      </a:r>
                    </a:p>
                  </a:txBody>
                  <a:tcPr marL="54864" marR="54864" marT="27432" marB="27432">
                    <a:solidFill>
                      <a:srgbClr val="FFFFFF"/>
                    </a:solidFill>
                  </a:tcPr>
                </a:tc>
              </a:tr>
              <a:tr h="350518">
                <a:tc>
                  <a:txBody>
                    <a:bodyPr/>
                    <a:lstStyle/>
                    <a:p>
                      <a:r>
                        <a:rPr sz="850" b="0">
                          <a:solidFill>
                            <a:srgbClr val="4B4B4B"/>
                          </a:solidFill>
                          <a:latin typeface="Arial"/>
                        </a:rPr>
                        <a:t>Reject</a:t>
                      </a:r>
                    </a:p>
                  </a:txBody>
                  <a:tcPr marL="54864" marR="54864" marT="27432" marB="27432">
                    <a:solidFill>
                      <a:srgbClr val="E5F5FF"/>
                    </a:solidFill>
                  </a:tcPr>
                </a:tc>
                <a:tc>
                  <a:txBody>
                    <a:bodyPr/>
                    <a:lstStyle/>
                    <a:p>
                      <a:r>
                        <a:rPr sz="850" b="0">
                          <a:solidFill>
                            <a:srgbClr val="4B4B4B"/>
                          </a:solidFill>
                          <a:latin typeface="Arial"/>
                        </a:rPr>
                        <a:t>The deciding approver</a:t>
                      </a:r>
                    </a:p>
                  </a:txBody>
                  <a:tcPr marL="54864" marR="54864" marT="27432" marB="27432">
                    <a:solidFill>
                      <a:srgbClr val="E5F5FF"/>
                    </a:solidFill>
                  </a:tcPr>
                </a:tc>
                <a:tc>
                  <a:txBody>
                    <a:bodyPr/>
                    <a:lstStyle/>
                    <a:p>
                      <a:r>
                        <a:rPr sz="850" b="0">
                          <a:solidFill>
                            <a:srgbClr val="4B4B4B"/>
                          </a:solidFill>
                          <a:latin typeface="Arial"/>
                        </a:rPr>
                        <a:t>Pending Approval or Pending Second Approval</a:t>
                      </a:r>
                    </a:p>
                  </a:txBody>
                  <a:tcPr marL="54864" marR="54864" marT="27432" marB="27432">
                    <a:solidFill>
                      <a:srgbClr val="E5F5FF"/>
                    </a:solidFill>
                  </a:tcPr>
                </a:tc>
                <a:tc>
                  <a:txBody>
                    <a:bodyPr/>
                    <a:lstStyle/>
                    <a:p>
                      <a:r>
                        <a:rPr sz="850" b="0">
                          <a:solidFill>
                            <a:srgbClr val="4B4B4B"/>
                          </a:solidFill>
                          <a:latin typeface="Arial"/>
                        </a:rPr>
                        <a:t>Asks the reason and closes the request; a rejection is final</a:t>
                      </a:r>
                    </a:p>
                  </a:txBody>
                  <a:tcPr marL="54864" marR="54864" marT="27432" marB="27432">
                    <a:solidFill>
                      <a:srgbClr val="E5F5FF"/>
                    </a:solidFill>
                  </a:tcPr>
                </a:tc>
                <a:tc>
                  <a:txBody>
                    <a:bodyPr/>
                    <a:lstStyle/>
                    <a:p>
                      <a:r>
                        <a:rPr sz="850" b="0">
                          <a:solidFill>
                            <a:srgbClr val="4B4B4B"/>
                          </a:solidFill>
                          <a:latin typeface="Arial"/>
                        </a:rPr>
                        <a:t>Rejected</a:t>
                      </a:r>
                    </a:p>
                  </a:txBody>
                  <a:tcPr marL="54864" marR="54864" marT="27432" marB="27432">
                    <a:solidFill>
                      <a:srgbClr val="E5F5FF"/>
                    </a:solidFill>
                  </a:tcPr>
                </a:tc>
                <a:tc>
                  <a:txBody>
                    <a:bodyPr/>
                    <a:lstStyle/>
                    <a:p>
                      <a:r>
                        <a:rPr sz="850" b="0">
                          <a:solidFill>
                            <a:srgbClr val="4B4B4B"/>
                          </a:solidFill>
                          <a:latin typeface="Arial"/>
                        </a:rPr>
                        <a:t>Access request AR-yyyy-nnnnnn rejected</a:t>
                      </a:r>
                    </a:p>
                  </a:txBody>
                  <a:tcPr marL="54864" marR="54864" marT="27432" marB="27432">
                    <a:solidFill>
                      <a:srgbClr val="E5F5FF"/>
                    </a:solidFill>
                  </a:tcPr>
                </a:tc>
              </a:tr>
              <a:tr h="480057">
                <a:tc>
                  <a:txBody>
                    <a:bodyPr/>
                    <a:lstStyle/>
                    <a:p>
                      <a:r>
                        <a:rPr sz="850" b="0">
                          <a:solidFill>
                            <a:srgbClr val="4B4B4B"/>
                          </a:solidFill>
                          <a:latin typeface="Arial"/>
                        </a:rPr>
                        <a:t>Implement Request</a:t>
                      </a:r>
                    </a:p>
                  </a:txBody>
                  <a:tcPr marL="54864" marR="54864" marT="27432" marB="27432">
                    <a:solidFill>
                      <a:srgbClr val="FFFFFF"/>
                    </a:solidFill>
                  </a:tcPr>
                </a:tc>
                <a:tc>
                  <a:txBody>
                    <a:bodyPr/>
                    <a:lstStyle/>
                    <a:p>
                      <a:r>
                        <a:rPr sz="850" b="0">
                          <a:solidFill>
                            <a:srgbClr val="4B4B4B"/>
                          </a:solidFill>
                          <a:latin typeface="Arial"/>
                        </a:rPr>
                        <a:t>System Administrator (role management right), not the requester</a:t>
                      </a:r>
                    </a:p>
                  </a:txBody>
                  <a:tcPr marL="54864" marR="54864" marT="27432" marB="27432">
                    <a:solidFill>
                      <a:srgbClr val="FFFFFF"/>
                    </a:solidFill>
                  </a:tcPr>
                </a:tc>
                <a:tc>
                  <a:txBody>
                    <a:bodyPr/>
                    <a:lstStyle/>
                    <a:p>
                      <a:r>
                        <a:rPr sz="850" b="0">
                          <a:solidFill>
                            <a:srgbClr val="4B4B4B"/>
                          </a:solidFill>
                          <a:latin typeface="Arial"/>
                        </a:rPr>
                        <a:t>For Implementation</a:t>
                      </a:r>
                    </a:p>
                  </a:txBody>
                  <a:tcPr marL="54864" marR="54864" marT="27432" marB="27432">
                    <a:solidFill>
                      <a:srgbClr val="FFFFFF"/>
                    </a:solidFill>
                  </a:tcPr>
                </a:tc>
                <a:tc>
                  <a:txBody>
                    <a:bodyPr/>
                    <a:lstStyle/>
                    <a:p>
                      <a:r>
                        <a:rPr sz="850" b="0">
                          <a:solidFill>
                            <a:srgbClr val="4B4B4B"/>
                          </a:solidFill>
                          <a:latin typeface="Arial"/>
                        </a:rPr>
                        <a:t>Applies the approved group-profile change now</a:t>
                      </a:r>
                    </a:p>
                  </a:txBody>
                  <a:tcPr marL="54864" marR="54864" marT="27432" marB="27432">
                    <a:solidFill>
                      <a:srgbClr val="FFFFFF"/>
                    </a:solidFill>
                  </a:tcPr>
                </a:tc>
                <a:tc>
                  <a:txBody>
                    <a:bodyPr/>
                    <a:lstStyle/>
                    <a:p>
                      <a:r>
                        <a:rPr sz="850" b="0">
                          <a:solidFill>
                            <a:srgbClr val="4B4B4B"/>
                          </a:solidFill>
                          <a:latin typeface="Arial"/>
                        </a:rPr>
                        <a:t>Implemented</a:t>
                      </a:r>
                    </a:p>
                  </a:txBody>
                  <a:tcPr marL="54864" marR="54864" marT="27432" marB="27432">
                    <a:solidFill>
                      <a:srgbClr val="FFFFFF"/>
                    </a:solidFill>
                  </a:tcPr>
                </a:tc>
                <a:tc>
                  <a:txBody>
                    <a:bodyPr/>
                    <a:lstStyle/>
                    <a:p>
                      <a:r>
                        <a:rPr sz="850" b="0">
                          <a:solidFill>
                            <a:srgbClr val="4B4B4B"/>
                          </a:solidFill>
                          <a:latin typeface="Arial"/>
                        </a:rPr>
                        <a:t>Access request AR-yyyy-nnnnnn implemented, to the requester</a:t>
                      </a:r>
                    </a:p>
                  </a:txBody>
                  <a:tcPr marL="54864" marR="54864" marT="27432" marB="27432">
                    <a:solidFill>
                      <a:srgbClr val="FFFFFF"/>
                    </a:solidFill>
                  </a:tcPr>
                </a:tc>
              </a:tr>
            </a:tbl>
          </a:graphicData>
        </a:graphic>
      </p:graphicFrame>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200</a:t>
            </a:r>
          </a:p>
        </p:txBody>
      </p:sp>
      <p:graphicFrame>
        <p:nvGraphicFramePr>
          <p:cNvPr id="9" name="Table 8"/>
          <p:cNvGraphicFramePr>
            <a:graphicFrameLocks noGrp="1"/>
          </p:cNvGraphicFramePr>
          <p:nvPr/>
        </p:nvGraphicFramePr>
        <p:xfrm>
          <a:off x="548640" y="1325880"/>
          <a:ext cx="11094415" cy="24079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The requester and the user the request is about never decide it: A request cannot be decided by the user who submitted it; You cannot decide a request about your own access (FR-UA-031).</a:t>
                      </a:r>
                    </a:p>
                  </a:txBody>
                  <a:tcPr marL="54864" marR="54864" marT="27432" marB="27432">
                    <a:solidFill>
                      <a:srgbClr val="FFFFFF"/>
                    </a:solidFill>
                  </a:tcPr>
                </a:tc>
              </a:tr>
              <a:tr h="243840">
                <a:tc>
                  <a:txBody>
                    <a:bodyPr/>
                    <a:lstStyle/>
                    <a:p>
                      <a:r>
                        <a:rPr sz="1000" b="0">
                          <a:solidFill>
                            <a:srgbClr val="4B4B4B"/>
                          </a:solidFill>
                          <a:latin typeface="Arial"/>
                        </a:rPr>
                        <a:t>Only the approver chosen by the requester decides a pending request: Request &lt;request no&gt; is assigned to &lt;approver&gt; for approval (FR-UA-015, FR-UA-031).</a:t>
                      </a:r>
                    </a:p>
                  </a:txBody>
                  <a:tcPr marL="54864" marR="54864" marT="27432" marB="27432">
                    <a:solidFill>
                      <a:srgbClr val="E5F5FF"/>
                    </a:solidFill>
                  </a:tcPr>
                </a:tc>
              </a:tr>
              <a:tr h="396240">
                <a:tc>
                  <a:txBody>
                    <a:bodyPr/>
                    <a:lstStyle/>
                    <a:p>
                      <a:r>
                        <a:rPr sz="1000" b="0">
                          <a:solidFill>
                            <a:srgbClr val="4B4B4B"/>
                          </a:solidFill>
                          <a:latin typeface="Arial"/>
                        </a:rPr>
                        <a:t>A request that gives a High or Admin group profile, creates or raises a profile to High or Admin, reactivates a High or Admin profile, or is submitted or approved outside the working hours (UAM_WORKING_HOURS, 08:00-18:00 Monday to Friday as delivered) needs a second approval by another approver and raises an alert (FR-UA-034).</a:t>
                      </a:r>
                    </a:p>
                  </a:txBody>
                  <a:tcPr marL="54864" marR="54864" marT="27432" marB="27432">
                    <a:solidFill>
                      <a:srgbClr val="FFFFFF"/>
                    </a:solidFill>
                  </a:tcPr>
                </a:tc>
              </a:tr>
              <a:tr h="243840">
                <a:tc>
                  <a:txBody>
                    <a:bodyPr/>
                    <a:lstStyle/>
                    <a:p>
                      <a:r>
                        <a:rPr sz="1000" b="0">
                          <a:solidFill>
                            <a:srgbClr val="4B4B4B"/>
                          </a:solidFill>
                          <a:latin typeface="Arial"/>
                        </a:rPr>
                        <a:t>Return and rejection need a text; the requester receives it with the notice (FR-UA-032, FR-UA-033).</a:t>
                      </a:r>
                    </a:p>
                  </a:txBody>
                  <a:tcPr marL="54864" marR="54864" marT="27432" marB="27432">
                    <a:solidFill>
                      <a:srgbClr val="E5F5FF"/>
                    </a:solidFill>
                  </a:tcPr>
                </a:tc>
              </a:tr>
              <a:tr h="243840">
                <a:tc>
                  <a:txBody>
                    <a:bodyPr/>
                    <a:lstStyle/>
                    <a:p>
                      <a:r>
                        <a:rPr sz="1000" b="0">
                          <a:solidFill>
                            <a:srgbClr val="4B4B4B"/>
                          </a:solidFill>
                          <a:latin typeface="Arial"/>
                        </a:rPr>
                        <a:t>The temporary password of a new user is shown once to the approver, never stored in clear and never e-mailed; the user must change it at the first sign-in (FR-UA-011, FR-UA-031).</a:t>
                      </a:r>
                    </a:p>
                  </a:txBody>
                  <a:tcPr marL="54864" marR="54864" marT="27432" marB="27432">
                    <a:solidFill>
                      <a:srgbClr val="FFFFFF"/>
                    </a:solidFill>
                  </a:tcPr>
                </a:tc>
              </a:tr>
              <a:tr h="396240">
                <a:tc>
                  <a:txBody>
                    <a:bodyPr/>
                    <a:lstStyle/>
                    <a:p>
                      <a:r>
                        <a:rPr sz="1000" b="0">
                          <a:solidFill>
                            <a:srgbClr val="4B4B4B"/>
                          </a:solidFill>
                          <a:latin typeface="Arial"/>
                        </a:rPr>
                        <a:t>A scheduled request is re-checked and applied by the daily job on its effective date; if it can no longer be applied it stays scheduled with the reason and an alert is raised (FR-UA-020).</a:t>
                      </a:r>
                    </a:p>
                  </a:txBody>
                  <a:tcPr marL="54864" marR="54864" marT="27432" marB="27432">
                    <a:solidFill>
                      <a:srgbClr val="E5F5FF"/>
                    </a:solidFill>
                  </a:tcPr>
                </a:tc>
              </a:tr>
              <a:tr h="243840">
                <a:tc>
                  <a:txBody>
                    <a:bodyPr/>
                    <a:lstStyle/>
                    <a:p>
                      <a:r>
                        <a:rPr sz="1000" b="0">
                          <a:solidFill>
                            <a:srgbClr val="4B4B4B"/>
                          </a:solidFill>
                          <a:latin typeface="Arial"/>
                        </a:rPr>
                        <a:t>Every applied change writes the access change log with the from and to values, the request number, the approver and the time; the history cannot be changed (FR-UA-064).</a:t>
                      </a:r>
                    </a:p>
                  </a:txBody>
                  <a:tcPr marL="54864" marR="54864" marT="27432" marB="27432">
                    <a:solidFill>
                      <a:srgbClr val="FFFFFF"/>
                    </a:solidFill>
                  </a:tcPr>
                </a:tc>
              </a:tr>
            </a:tbl>
          </a:graphicData>
        </a:graphic>
      </p:graphicFrame>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SCR-UA-08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201</a:t>
            </a:r>
          </a:p>
        </p:txBody>
      </p:sp>
      <p:graphicFrame>
        <p:nvGraphicFramePr>
          <p:cNvPr id="9" name="Table 8"/>
          <p:cNvGraphicFramePr>
            <a:graphicFrameLocks noGrp="1"/>
          </p:cNvGraphicFramePr>
          <p:nvPr/>
        </p:nvGraphicFramePr>
        <p:xfrm>
          <a:off x="548640" y="1325880"/>
          <a:ext cx="11094413" cy="233172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WT-C step 6</a:t>
                      </a:r>
                    </a:p>
                  </a:txBody>
                  <a:tcPr marL="54864" marR="54864" marT="27432" marB="27432">
                    <a:solidFill>
                      <a:srgbClr val="FFFFFF"/>
                    </a:solidFill>
                  </a:tcPr>
                </a:tc>
                <a:tc>
                  <a:txBody>
                    <a:bodyPr/>
                    <a:lstStyle/>
                    <a:p>
                      <a:r>
                        <a:rPr sz="900" b="0">
                          <a:solidFill>
                            <a:srgbClr val="4B4B4B"/>
                          </a:solidFill>
                          <a:latin typeface="Arial"/>
                        </a:rPr>
                        <a:t>Opens AR-2026-900002, assigned to Ulysses Access Approver</a:t>
                      </a:r>
                    </a:p>
                  </a:txBody>
                  <a:tcPr marL="54864" marR="54864" marT="27432" marB="27432">
                    <a:solidFill>
                      <a:srgbClr val="FFFFFF"/>
                    </a:solidFill>
                  </a:tcPr>
                </a:tc>
                <a:tc>
                  <a:txBody>
                    <a:bodyPr/>
                    <a:lstStyle/>
                    <a:p>
                      <a:r>
                        <a:rPr sz="900" b="0">
                          <a:solidFill>
                            <a:srgbClr val="4B4B4B"/>
                          </a:solidFill>
                          <a:latin typeface="Arial"/>
                        </a:rPr>
                        <a:t>SCR-UA-08_wt-c-step-06.png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2</a:t>
                      </a:r>
                    </a:p>
                  </a:txBody>
                  <a:tcPr marL="54864" marR="54864" marT="27432" marB="27432">
                    <a:solidFill>
                      <a:srgbClr val="E5F5FF"/>
                    </a:solidFill>
                  </a:tcPr>
                </a:tc>
                <a:tc>
                  <a:txBody>
                    <a:bodyPr/>
                    <a:lstStyle/>
                    <a:p>
                      <a:r>
                        <a:rPr sz="900" b="0">
                          <a:solidFill>
                            <a:srgbClr val="4B4B4B"/>
                          </a:solidFill>
                          <a:latin typeface="Arial"/>
                        </a:rPr>
                        <a:t>Clicks Edit Request, checks the data and clicks Submit</a:t>
                      </a:r>
                    </a:p>
                  </a:txBody>
                  <a:tcPr marL="54864" marR="54864" marT="27432" marB="27432">
                    <a:solidFill>
                      <a:srgbClr val="E5F5FF"/>
                    </a:solidFill>
                  </a:tcPr>
                </a:tc>
                <a:tc>
                  <a:txBody>
                    <a:bodyPr/>
                    <a:lstStyle/>
                    <a:p>
                      <a:r>
                        <a:rPr sz="900" b="0">
                          <a:solidFill>
                            <a:srgbClr val="4B4B4B"/>
                          </a:solidFill>
                          <a:latin typeface="Arial"/>
                        </a:rPr>
                        <a:t>SCR-UA-08_wt-a-step-02.png</a:t>
                      </a:r>
                    </a:p>
                  </a:txBody>
                  <a:tcPr marL="54864" marR="54864" marT="27432" marB="27432">
                    <a:solidFill>
                      <a:srgbClr val="E5F5FF"/>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4</a:t>
                      </a:r>
                    </a:p>
                  </a:txBody>
                  <a:tcPr marL="54864" marR="54864" marT="27432" marB="27432">
                    <a:solidFill>
                      <a:srgbClr val="FFFFFF"/>
                    </a:solidFill>
                  </a:tcPr>
                </a:tc>
                <a:tc>
                  <a:txBody>
                    <a:bodyPr/>
                    <a:lstStyle/>
                    <a:p>
                      <a:r>
                        <a:rPr sz="900" b="0">
                          <a:solidFill>
                            <a:srgbClr val="4B4B4B"/>
                          </a:solidFill>
                          <a:latin typeface="Arial"/>
                        </a:rPr>
                        <a:t>Opens the request, reads the Details tab (current and requested values), clicks Approve and Apply, adds a comment and confirms</a:t>
                      </a:r>
                    </a:p>
                  </a:txBody>
                  <a:tcPr marL="54864" marR="54864" marT="27432" marB="27432">
                    <a:solidFill>
                      <a:srgbClr val="FFFFFF"/>
                    </a:solidFill>
                  </a:tcPr>
                </a:tc>
                <a:tc>
                  <a:txBody>
                    <a:bodyPr/>
                    <a:lstStyle/>
                    <a:p>
                      <a:r>
                        <a:rPr sz="900" b="0">
                          <a:solidFill>
                            <a:srgbClr val="4B4B4B"/>
                          </a:solidFill>
                          <a:latin typeface="Arial"/>
                        </a:rPr>
                        <a:t>SCR-UA-08_wt-a-step-04.png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WT-B step 2</a:t>
                      </a:r>
                    </a:p>
                  </a:txBody>
                  <a:tcPr marL="54864" marR="54864" marT="27432" marB="27432">
                    <a:solidFill>
                      <a:srgbClr val="E5F5FF"/>
                    </a:solidFill>
                  </a:tcPr>
                </a:tc>
                <a:tc>
                  <a:txBody>
                    <a:bodyPr/>
                    <a:lstStyle/>
                    <a:p>
                      <a:r>
                        <a:rPr sz="900" b="0">
                          <a:solidFill>
                            <a:srgbClr val="4B4B4B"/>
                          </a:solidFill>
                          <a:latin typeface="Arial"/>
                        </a:rPr>
                        <a:t>Opens the request: the Details tab shows the group profiles added; clicks Approve and Apply</a:t>
                      </a:r>
                    </a:p>
                  </a:txBody>
                  <a:tcPr marL="54864" marR="54864" marT="27432" marB="27432">
                    <a:solidFill>
                      <a:srgbClr val="E5F5FF"/>
                    </a:solidFill>
                  </a:tcPr>
                </a:tc>
                <a:tc>
                  <a:txBody>
                    <a:bodyPr/>
                    <a:lstStyle/>
                    <a:p>
                      <a:r>
                        <a:rPr sz="900" b="0">
                          <a:solidFill>
                            <a:srgbClr val="4B4B4B"/>
                          </a:solidFill>
                          <a:latin typeface="Arial"/>
                        </a:rPr>
                        <a:t>SCR-UA-08_wt-b-step-02.png</a:t>
                      </a:r>
                    </a:p>
                  </a:txBody>
                  <a:tcPr marL="54864" marR="54864" marT="27432" marB="27432">
                    <a:solidFill>
                      <a:srgbClr val="E5F5FF"/>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3</a:t>
                      </a:r>
                    </a:p>
                  </a:txBody>
                  <a:tcPr marL="54864" marR="54864" marT="27432" marB="27432">
                    <a:solidFill>
                      <a:srgbClr val="FFFFFF"/>
                    </a:solidFill>
                  </a:tcPr>
                </a:tc>
                <a:tc>
                  <a:txBody>
                    <a:bodyPr/>
                    <a:lstStyle/>
                    <a:p>
                      <a:r>
                        <a:rPr sz="900" b="0">
                          <a:solidFill>
                            <a:srgbClr val="4B4B4B"/>
                          </a:solidFill>
                          <a:latin typeface="Arial"/>
                        </a:rPr>
                        <a:t>Opens AR-2026-900008 from the Second Approval tab: the tag Privilege increase, first approved by the Approver; clicks Second Approval and confirms</a:t>
                      </a:r>
                    </a:p>
                  </a:txBody>
                  <a:tcPr marL="54864" marR="54864" marT="27432" marB="27432">
                    <a:solidFill>
                      <a:srgbClr val="FFFFFF"/>
                    </a:solidFill>
                  </a:tcPr>
                </a:tc>
                <a:tc>
                  <a:txBody>
                    <a:bodyPr/>
                    <a:lstStyle/>
                    <a:p>
                      <a:r>
                        <a:rPr sz="900" b="0">
                          <a:solidFill>
                            <a:srgbClr val="4B4B4B"/>
                          </a:solidFill>
                          <a:latin typeface="Arial"/>
                        </a:rPr>
                        <a:t>SCR-UA-08_wt-b-step-03.png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WT-B step 6</a:t>
                      </a:r>
                    </a:p>
                  </a:txBody>
                  <a:tcPr marL="54864" marR="54864" marT="27432" marB="27432">
                    <a:solidFill>
                      <a:srgbClr val="E5F5FF"/>
                    </a:solidFill>
                  </a:tcPr>
                </a:tc>
                <a:tc>
                  <a:txBody>
                    <a:bodyPr/>
                    <a:lstStyle/>
                    <a:p>
                      <a:r>
                        <a:rPr sz="900" b="0">
                          <a:solidFill>
                            <a:srgbClr val="4B4B4B"/>
                          </a:solidFill>
                          <a:latin typeface="Arial"/>
                        </a:rPr>
                        <a:t>Opens the request from My Approvals and approves it</a:t>
                      </a:r>
                    </a:p>
                  </a:txBody>
                  <a:tcPr marL="54864" marR="54864" marT="27432" marB="27432">
                    <a:solidFill>
                      <a:srgbClr val="E5F5FF"/>
                    </a:solidFill>
                  </a:tcPr>
                </a:tc>
                <a:tc>
                  <a:txBody>
                    <a:bodyPr/>
                    <a:lstStyle/>
                    <a:p>
                      <a:r>
                        <a:rPr sz="900" b="0">
                          <a:solidFill>
                            <a:srgbClr val="4B4B4B"/>
                          </a:solidFill>
                          <a:latin typeface="Arial"/>
                        </a:rPr>
                        <a:t>SCR-UA-08_wt-b-step-06.png</a:t>
                      </a:r>
                    </a:p>
                  </a:txBody>
                  <a:tcPr marL="54864" marR="54864" marT="27432" marB="27432">
                    <a:solidFill>
                      <a:srgbClr val="E5F5FF"/>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9</a:t>
                      </a:r>
                    </a:p>
                  </a:txBody>
                  <a:tcPr marL="54864" marR="54864" marT="27432" marB="27432">
                    <a:solidFill>
                      <a:srgbClr val="FFFFFF"/>
                    </a:solidFill>
                  </a:tcPr>
                </a:tc>
                <a:tc>
                  <a:txBody>
                    <a:bodyPr/>
                    <a:lstStyle/>
                    <a:p>
                      <a:r>
                        <a:rPr sz="900" b="0">
                          <a:solidFill>
                            <a:srgbClr val="4B4B4B"/>
                          </a:solidFill>
                          <a:latin typeface="Arial"/>
                        </a:rPr>
                        <a:t>Approves the deactivation</a:t>
                      </a:r>
                    </a:p>
                  </a:txBody>
                  <a:tcPr marL="54864" marR="54864" marT="27432" marB="27432">
                    <a:solidFill>
                      <a:srgbClr val="FFFFFF"/>
                    </a:solidFill>
                  </a:tcPr>
                </a:tc>
                <a:tc>
                  <a:txBody>
                    <a:bodyPr/>
                    <a:lstStyle/>
                    <a:p>
                      <a:r>
                        <a:rPr sz="900" b="0">
                          <a:solidFill>
                            <a:srgbClr val="4B4B4B"/>
                          </a:solidFill>
                          <a:latin typeface="Arial"/>
                        </a:rPr>
                        <a:t>SCR-UA-08_wt-b-step-09.png</a:t>
                      </a:r>
                    </a:p>
                  </a:txBody>
                  <a:tcPr marL="54864" marR="54864" marT="27432" marB="27432">
                    <a:solidFill>
                      <a:srgbClr val="FFFFFF"/>
                    </a:solidFill>
                  </a:tcPr>
                </a:tc>
              </a:tr>
              <a:tr h="228600">
                <a:tc>
                  <a:txBody>
                    <a:bodyPr/>
                    <a:lstStyle/>
                    <a:p>
                      <a:r>
                        <a:rPr sz="900" b="0">
                          <a:solidFill>
                            <a:srgbClr val="4B4B4B"/>
                          </a:solidFill>
                          <a:latin typeface="Arial"/>
                        </a:rPr>
                        <a:t>Pending approval</a:t>
                      </a:r>
                    </a:p>
                  </a:txBody>
                  <a:tcPr marL="54864" marR="54864" marT="27432" marB="27432">
                    <a:solidFill>
                      <a:srgbClr val="E5F5FF"/>
                    </a:solidFill>
                  </a:tcPr>
                </a:tc>
                <a:tc>
                  <a:txBody>
                    <a:bodyPr/>
                    <a:lstStyle/>
                    <a:p>
                      <a:r>
                        <a:rPr sz="900" b="0">
                          <a:solidFill>
                            <a:srgbClr val="4B4B4B"/>
                          </a:solidFill>
                          <a:latin typeface="Arial"/>
                        </a:rPr>
                        <a:t>WT-B step 5</a:t>
                      </a:r>
                    </a:p>
                  </a:txBody>
                  <a:tcPr marL="54864" marR="54864" marT="27432" marB="27432">
                    <a:solidFill>
                      <a:srgbClr val="E5F5FF"/>
                    </a:solidFill>
                  </a:tcPr>
                </a:tc>
                <a:tc>
                  <a:txBody>
                    <a:bodyPr/>
                    <a:lstStyle/>
                    <a:p>
                      <a:r>
                        <a:rPr sz="900" b="0">
                          <a:solidFill>
                            <a:srgbClr val="4B4B4B"/>
                          </a:solidFill>
                          <a:latin typeface="Arial"/>
                        </a:rPr>
                        <a:t>Approves the group-profile request</a:t>
                      </a:r>
                    </a:p>
                  </a:txBody>
                  <a:tcPr marL="54864" marR="54864" marT="27432" marB="27432">
                    <a:solidFill>
                      <a:srgbClr val="E5F5FF"/>
                    </a:solidFill>
                  </a:tcPr>
                </a:tc>
                <a:tc>
                  <a:txBody>
                    <a:bodyPr/>
                    <a:lstStyle/>
                    <a:p>
                      <a:r>
                        <a:rPr sz="900" b="0">
                          <a:solidFill>
                            <a:srgbClr val="4B4B4B"/>
                          </a:solidFill>
                          <a:latin typeface="Arial"/>
                        </a:rPr>
                        <a:t>SCR-UA-08_wt-b-step-05.png</a:t>
                      </a:r>
                    </a:p>
                  </a:txBody>
                  <a:tcPr marL="54864" marR="54864" marT="27432" marB="27432">
                    <a:solidFill>
                      <a:srgbClr val="E5F5FF"/>
                    </a:solidFill>
                  </a:tcPr>
                </a:tc>
              </a:tr>
            </a:tbl>
          </a:graphicData>
        </a:graphic>
      </p:graphicFrame>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SCR-UA-08 Access Request record: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202</a:t>
            </a:r>
          </a:p>
        </p:txBody>
      </p:sp>
      <p:sp>
        <p:nvSpPr>
          <p:cNvPr id="9" name="Rounded Rectangle 8"/>
          <p:cNvSpPr/>
          <p:nvPr/>
        </p:nvSpPr>
        <p:spPr>
          <a:xfrm>
            <a:off x="6147511" y="896112"/>
            <a:ext cx="549554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CHG-UA-2.1-01, CHG-UA-2.1-04, CHG-UA-2.2-01</a:t>
            </a:r>
          </a:p>
        </p:txBody>
      </p:sp>
      <p:sp>
        <p:nvSpPr>
          <p:cNvPr id="10" name="Rounded Rectangle 9"/>
          <p:cNvSpPr/>
          <p:nvPr/>
        </p:nvSpPr>
        <p:spPr>
          <a:xfrm>
            <a:off x="3605479"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1" name="Picture 10" descr="scr-ua-08-02-approve.png"/>
          <p:cNvPicPr>
            <a:picLocks noChangeAspect="1"/>
          </p:cNvPicPr>
          <p:nvPr/>
        </p:nvPicPr>
        <p:blipFill>
          <a:blip r:embed="rId3"/>
          <a:stretch>
            <a:fillRect/>
          </a:stretch>
        </p:blipFill>
        <p:spPr>
          <a:xfrm>
            <a:off x="548640" y="1261872"/>
            <a:ext cx="11094415" cy="444244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Approve and Apply dialog</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SCR-UA-08 Access Request record: Success message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203</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CHG-UA-2.1-04, CHG-UA-2.2-01</a:t>
            </a:r>
          </a:p>
        </p:txBody>
      </p:sp>
      <p:sp>
        <p:nvSpPr>
          <p:cNvPr id="10" name="Rounded Rectangle 9"/>
          <p:cNvSpPr/>
          <p:nvPr/>
        </p:nvSpPr>
        <p:spPr>
          <a:xfrm>
            <a:off x="555315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slice-00099.png"/>
          <p:cNvPicPr>
            <a:picLocks noChangeAspect="1"/>
          </p:cNvPicPr>
          <p:nvPr/>
        </p:nvPicPr>
        <p:blipFill>
          <a:blip r:embed="rId3"/>
          <a:stretch>
            <a:fillRect/>
          </a:stretch>
        </p:blipFill>
        <p:spPr>
          <a:xfrm>
            <a:off x="548640" y="1261872"/>
            <a:ext cx="11094415" cy="4735073"/>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temporary password of a new user, shown once after the approval (part 1 of 3)</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SCR-UA-08 Access Request record: Success message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204</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CHG-UA-2.1-04, CHG-UA-2.2-01</a:t>
            </a:r>
          </a:p>
        </p:txBody>
      </p:sp>
      <p:sp>
        <p:nvSpPr>
          <p:cNvPr id="10" name="Rounded Rectangle 9"/>
          <p:cNvSpPr/>
          <p:nvPr/>
        </p:nvSpPr>
        <p:spPr>
          <a:xfrm>
            <a:off x="555315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slice-00100.png"/>
          <p:cNvPicPr>
            <a:picLocks noChangeAspect="1"/>
          </p:cNvPicPr>
          <p:nvPr/>
        </p:nvPicPr>
        <p:blipFill>
          <a:blip r:embed="rId3"/>
          <a:stretch>
            <a:fillRect/>
          </a:stretch>
        </p:blipFill>
        <p:spPr>
          <a:xfrm>
            <a:off x="548640" y="1261872"/>
            <a:ext cx="11094415" cy="4735073"/>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temporary password of a new user, shown once after the approval (part 2 of 3)</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SCR-UA-08 Access Request record: Success message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205</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CHG-UA-2.1-04, CHG-UA-2.2-01</a:t>
            </a:r>
          </a:p>
        </p:txBody>
      </p:sp>
      <p:sp>
        <p:nvSpPr>
          <p:cNvPr id="10" name="Rounded Rectangle 9"/>
          <p:cNvSpPr/>
          <p:nvPr/>
        </p:nvSpPr>
        <p:spPr>
          <a:xfrm>
            <a:off x="555315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slice-00101.png"/>
          <p:cNvPicPr>
            <a:picLocks noChangeAspect="1"/>
          </p:cNvPicPr>
          <p:nvPr/>
        </p:nvPicPr>
        <p:blipFill>
          <a:blip r:embed="rId3"/>
          <a:stretch>
            <a:fillRect/>
          </a:stretch>
        </p:blipFill>
        <p:spPr>
          <a:xfrm>
            <a:off x="548640" y="1261872"/>
            <a:ext cx="11094415" cy="87387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temporary password of a new user, shown once after the approval (part 3 of 3)</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SCR-UA-08 Access Request record: Pending approval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206</a:t>
            </a:r>
          </a:p>
        </p:txBody>
      </p:sp>
      <p:sp>
        <p:nvSpPr>
          <p:cNvPr id="9" name="Rounded Rectangle 8"/>
          <p:cNvSpPr/>
          <p:nvPr/>
        </p:nvSpPr>
        <p:spPr>
          <a:xfrm>
            <a:off x="3815791" y="896112"/>
            <a:ext cx="782726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CHG-UA-2.1-01, CHG-UA-2.1-02, CHG-UA-2.1-03, CHG-UA-2.1-04, CHG-UA-2.2-01</a:t>
            </a:r>
          </a:p>
        </p:txBody>
      </p:sp>
      <p:sp>
        <p:nvSpPr>
          <p:cNvPr id="10" name="Rounded Rectangle 9"/>
          <p:cNvSpPr/>
          <p:nvPr/>
        </p:nvSpPr>
        <p:spPr>
          <a:xfrm>
            <a:off x="1968703"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1" name="Picture 10" descr="slice-00102.png"/>
          <p:cNvPicPr>
            <a:picLocks noChangeAspect="1"/>
          </p:cNvPicPr>
          <p:nvPr/>
        </p:nvPicPr>
        <p:blipFill>
          <a:blip r:embed="rId3"/>
          <a:stretch>
            <a:fillRect/>
          </a:stretch>
        </p:blipFill>
        <p:spPr>
          <a:xfrm>
            <a:off x="548640" y="1261872"/>
            <a:ext cx="11094415" cy="4519061"/>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request waiting for the Approver, Details tab (part 1 of 3)</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SCR-UA-08 Access Request record: Pending approval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207</a:t>
            </a:r>
          </a:p>
        </p:txBody>
      </p:sp>
      <p:sp>
        <p:nvSpPr>
          <p:cNvPr id="9" name="Rounded Rectangle 8"/>
          <p:cNvSpPr/>
          <p:nvPr/>
        </p:nvSpPr>
        <p:spPr>
          <a:xfrm>
            <a:off x="3815791" y="896112"/>
            <a:ext cx="782726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CHG-UA-2.1-01, CHG-UA-2.1-02, CHG-UA-2.1-03, CHG-UA-2.1-04, CHG-UA-2.2-01</a:t>
            </a:r>
          </a:p>
        </p:txBody>
      </p:sp>
      <p:sp>
        <p:nvSpPr>
          <p:cNvPr id="10" name="Rounded Rectangle 9"/>
          <p:cNvSpPr/>
          <p:nvPr/>
        </p:nvSpPr>
        <p:spPr>
          <a:xfrm>
            <a:off x="1968703"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1" name="Picture 10" descr="slice-00103.png"/>
          <p:cNvPicPr>
            <a:picLocks noChangeAspect="1"/>
          </p:cNvPicPr>
          <p:nvPr/>
        </p:nvPicPr>
        <p:blipFill>
          <a:blip r:embed="rId3"/>
          <a:stretch>
            <a:fillRect/>
          </a:stretch>
        </p:blipFill>
        <p:spPr>
          <a:xfrm>
            <a:off x="548640" y="1261872"/>
            <a:ext cx="11094415" cy="447124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request waiting for the Approver, Details tab (part 2 of 3)</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SCR-UA-08 Access Request record: Pending approval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208</a:t>
            </a:r>
          </a:p>
        </p:txBody>
      </p:sp>
      <p:sp>
        <p:nvSpPr>
          <p:cNvPr id="9" name="Rounded Rectangle 8"/>
          <p:cNvSpPr/>
          <p:nvPr/>
        </p:nvSpPr>
        <p:spPr>
          <a:xfrm>
            <a:off x="3815791" y="896112"/>
            <a:ext cx="782726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CHG-UA-2.1-01, CHG-UA-2.1-02, CHG-UA-2.1-03, CHG-UA-2.1-04, CHG-UA-2.2-01</a:t>
            </a:r>
          </a:p>
        </p:txBody>
      </p:sp>
      <p:sp>
        <p:nvSpPr>
          <p:cNvPr id="10" name="Rounded Rectangle 9"/>
          <p:cNvSpPr/>
          <p:nvPr/>
        </p:nvSpPr>
        <p:spPr>
          <a:xfrm>
            <a:off x="1968703"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1" name="Picture 10" descr="slice-00104.png"/>
          <p:cNvPicPr>
            <a:picLocks noChangeAspect="1"/>
          </p:cNvPicPr>
          <p:nvPr/>
        </p:nvPicPr>
        <p:blipFill>
          <a:blip r:embed="rId3"/>
          <a:stretch>
            <a:fillRect/>
          </a:stretch>
        </p:blipFill>
        <p:spPr>
          <a:xfrm>
            <a:off x="548640" y="1261872"/>
            <a:ext cx="11094415" cy="822516"/>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request waiting for the Approver, Details tab (part 3 of 3)</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SCR-UA-08 Access Request record: Pending approval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209</a:t>
            </a:r>
          </a:p>
        </p:txBody>
      </p:sp>
      <p:sp>
        <p:nvSpPr>
          <p:cNvPr id="9" name="Rounded Rectangle 8"/>
          <p:cNvSpPr/>
          <p:nvPr/>
        </p:nvSpPr>
        <p:spPr>
          <a:xfrm>
            <a:off x="3815791" y="896112"/>
            <a:ext cx="782726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CHG-UA-2.1-01, CHG-UA-2.1-02, CHG-UA-2.1-03, CHG-UA-2.1-04, CHG-UA-2.2-01</a:t>
            </a:r>
          </a:p>
        </p:txBody>
      </p:sp>
      <p:sp>
        <p:nvSpPr>
          <p:cNvPr id="10" name="Rounded Rectangle 9"/>
          <p:cNvSpPr/>
          <p:nvPr/>
        </p:nvSpPr>
        <p:spPr>
          <a:xfrm>
            <a:off x="1968703"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1" name="Picture 10" descr="slice-00105.png"/>
          <p:cNvPicPr>
            <a:picLocks noChangeAspect="1"/>
          </p:cNvPicPr>
          <p:nvPr/>
        </p:nvPicPr>
        <p:blipFill>
          <a:blip r:embed="rId3"/>
          <a:stretch>
            <a:fillRect/>
          </a:stretch>
        </p:blipFill>
        <p:spPr>
          <a:xfrm>
            <a:off x="548640" y="1261872"/>
            <a:ext cx="11094415" cy="471034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privileged change waiting for the second approval (part 1 of 3)</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SCR-UA-08 Access Request record: Pending approval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210</a:t>
            </a:r>
          </a:p>
        </p:txBody>
      </p:sp>
      <p:sp>
        <p:nvSpPr>
          <p:cNvPr id="9" name="Rounded Rectangle 8"/>
          <p:cNvSpPr/>
          <p:nvPr/>
        </p:nvSpPr>
        <p:spPr>
          <a:xfrm>
            <a:off x="3815791" y="896112"/>
            <a:ext cx="782726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CHG-UA-2.1-01, CHG-UA-2.1-02, CHG-UA-2.1-03, CHG-UA-2.1-04, CHG-UA-2.2-01</a:t>
            </a:r>
          </a:p>
        </p:txBody>
      </p:sp>
      <p:sp>
        <p:nvSpPr>
          <p:cNvPr id="10" name="Rounded Rectangle 9"/>
          <p:cNvSpPr/>
          <p:nvPr/>
        </p:nvSpPr>
        <p:spPr>
          <a:xfrm>
            <a:off x="1968703"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1" name="Picture 10" descr="slice-00106.png"/>
          <p:cNvPicPr>
            <a:picLocks noChangeAspect="1"/>
          </p:cNvPicPr>
          <p:nvPr/>
        </p:nvPicPr>
        <p:blipFill>
          <a:blip r:embed="rId3"/>
          <a:stretch>
            <a:fillRect/>
          </a:stretch>
        </p:blipFill>
        <p:spPr>
          <a:xfrm>
            <a:off x="548640" y="1261872"/>
            <a:ext cx="11094415" cy="447124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privileged change waiting for the second approval (part 2 of 3)</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SCR-UA-08 Access Request record: Pending approval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211</a:t>
            </a:r>
          </a:p>
        </p:txBody>
      </p:sp>
      <p:sp>
        <p:nvSpPr>
          <p:cNvPr id="9" name="Rounded Rectangle 8"/>
          <p:cNvSpPr/>
          <p:nvPr/>
        </p:nvSpPr>
        <p:spPr>
          <a:xfrm>
            <a:off x="3815791" y="896112"/>
            <a:ext cx="782726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CHG-UA-2.1-01, CHG-UA-2.1-02, CHG-UA-2.1-03, CHG-UA-2.1-04, CHG-UA-2.2-01</a:t>
            </a:r>
          </a:p>
        </p:txBody>
      </p:sp>
      <p:sp>
        <p:nvSpPr>
          <p:cNvPr id="10" name="Rounded Rectangle 9"/>
          <p:cNvSpPr/>
          <p:nvPr/>
        </p:nvSpPr>
        <p:spPr>
          <a:xfrm>
            <a:off x="1968703"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1" name="Picture 10" descr="slice-00107.png"/>
          <p:cNvPicPr>
            <a:picLocks noChangeAspect="1"/>
          </p:cNvPicPr>
          <p:nvPr/>
        </p:nvPicPr>
        <p:blipFill>
          <a:blip r:embed="rId3"/>
          <a:stretch>
            <a:fillRect/>
          </a:stretch>
        </p:blipFill>
        <p:spPr>
          <a:xfrm>
            <a:off x="548640" y="1261872"/>
            <a:ext cx="11094415" cy="822516"/>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privileged change waiting for the second approval (part 3 of 3)</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SCR-UA-08 Access Request record: Rejected or returned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212</a:t>
            </a:r>
          </a:p>
        </p:txBody>
      </p:sp>
      <p:sp>
        <p:nvSpPr>
          <p:cNvPr id="9" name="Rounded Rectangle 8"/>
          <p:cNvSpPr/>
          <p:nvPr/>
        </p:nvSpPr>
        <p:spPr>
          <a:xfrm>
            <a:off x="3815791" y="896112"/>
            <a:ext cx="782726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CHG-UA-2.1-01, CHG-UA-2.1-02, CHG-UA-2.1-03, CHG-UA-2.1-04, CHG-UA-2.2-01</a:t>
            </a:r>
          </a:p>
        </p:txBody>
      </p:sp>
      <p:sp>
        <p:nvSpPr>
          <p:cNvPr id="10" name="Rounded Rectangle 9"/>
          <p:cNvSpPr/>
          <p:nvPr/>
        </p:nvSpPr>
        <p:spPr>
          <a:xfrm>
            <a:off x="1621231" y="896112"/>
            <a:ext cx="2103120"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Rejected or returned</a:t>
            </a:r>
          </a:p>
        </p:txBody>
      </p:sp>
      <p:pic>
        <p:nvPicPr>
          <p:cNvPr id="11" name="Picture 10" descr="slice-0010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returned request with its remarks, History tab (part 1 of 3)</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SCR-UA-08 Access Request record: Rejected or returned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213</a:t>
            </a:r>
          </a:p>
        </p:txBody>
      </p:sp>
      <p:sp>
        <p:nvSpPr>
          <p:cNvPr id="9" name="Rounded Rectangle 8"/>
          <p:cNvSpPr/>
          <p:nvPr/>
        </p:nvSpPr>
        <p:spPr>
          <a:xfrm>
            <a:off x="3815791" y="896112"/>
            <a:ext cx="782726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CHG-UA-2.1-01, CHG-UA-2.1-02, CHG-UA-2.1-03, CHG-UA-2.1-04, CHG-UA-2.2-01</a:t>
            </a:r>
          </a:p>
        </p:txBody>
      </p:sp>
      <p:sp>
        <p:nvSpPr>
          <p:cNvPr id="10" name="Rounded Rectangle 9"/>
          <p:cNvSpPr/>
          <p:nvPr/>
        </p:nvSpPr>
        <p:spPr>
          <a:xfrm>
            <a:off x="1621231" y="896112"/>
            <a:ext cx="2103120"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Rejected or returned</a:t>
            </a:r>
          </a:p>
        </p:txBody>
      </p:sp>
      <p:pic>
        <p:nvPicPr>
          <p:cNvPr id="11" name="Picture 10" descr="slice-0010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returned request with its remarks, History tab (part 2 of 3)</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SCR-UA-08 Access Request record: Rejected or returned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214</a:t>
            </a:r>
          </a:p>
        </p:txBody>
      </p:sp>
      <p:sp>
        <p:nvSpPr>
          <p:cNvPr id="9" name="Rounded Rectangle 8"/>
          <p:cNvSpPr/>
          <p:nvPr/>
        </p:nvSpPr>
        <p:spPr>
          <a:xfrm>
            <a:off x="3815791" y="896112"/>
            <a:ext cx="782726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CHG-UA-2.1-01, CHG-UA-2.1-02, CHG-UA-2.1-03, CHG-UA-2.1-04, CHG-UA-2.2-01</a:t>
            </a:r>
          </a:p>
        </p:txBody>
      </p:sp>
      <p:sp>
        <p:nvSpPr>
          <p:cNvPr id="10" name="Rounded Rectangle 9"/>
          <p:cNvSpPr/>
          <p:nvPr/>
        </p:nvSpPr>
        <p:spPr>
          <a:xfrm>
            <a:off x="1621231" y="896112"/>
            <a:ext cx="2103120"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Rejected or returned</a:t>
            </a:r>
          </a:p>
        </p:txBody>
      </p:sp>
      <p:pic>
        <p:nvPicPr>
          <p:cNvPr id="11" name="Picture 10" descr="slice-00110.png"/>
          <p:cNvPicPr>
            <a:picLocks noChangeAspect="1"/>
          </p:cNvPicPr>
          <p:nvPr/>
        </p:nvPicPr>
        <p:blipFill>
          <a:blip r:embed="rId3"/>
          <a:stretch>
            <a:fillRect/>
          </a:stretch>
        </p:blipFill>
        <p:spPr>
          <a:xfrm>
            <a:off x="548640" y="1261872"/>
            <a:ext cx="11094415" cy="286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returned request with its remarks, History tab (part 3 of 3)</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SCR-UA-09 Bulk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215</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graphicFrame>
        <p:nvGraphicFramePr>
          <p:cNvPr id="10" name="Table 9"/>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User access requests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Many user requests in one file: the requester downloads the template, fills in one row per user (enrol, modify, deactivate or reactivate), uploads it and reviews the check of every row; the valid rows become the draft lines of a batch, which is submitted to one approver from the batch page. The list shows the batches.</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Requestor, Approver, Business Administrator, System Administrator, New Business Approver (keeps the access approval right)</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User Access › Bulk Request</a:t>
                      </a:r>
                    </a:p>
                    <a:p>
                      <a:r>
                        <a:rPr sz="950" b="0">
                          <a:solidFill>
                            <a:srgbClr val="4B4B4B"/>
                          </a:solidFill>
                          <a:latin typeface="Arial"/>
                        </a:rPr>
                        <a:t>Setup &amp; Administration › User Access › Bulk Request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FR-UA-019</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Mass changes, such as the users of a new team, are prepared in one file and follow the same checks and four-eyes decision as single requests.</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SCR-UA-09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216</a:t>
            </a:r>
          </a:p>
        </p:txBody>
      </p:sp>
      <p:graphicFrame>
        <p:nvGraphicFramePr>
          <p:cNvPr id="9" name="Table 8"/>
          <p:cNvGraphicFramePr>
            <a:graphicFrameLocks noGrp="1"/>
          </p:cNvGraphicFramePr>
          <p:nvPr/>
        </p:nvGraphicFramePr>
        <p:xfrm>
          <a:off x="548640" y="1325880"/>
          <a:ext cx="11094411" cy="202691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Upload</a:t>
                      </a:r>
                    </a:p>
                  </a:txBody>
                  <a:tcPr marL="54864" marR="54864" marT="27432" marB="27432">
                    <a:solidFill>
                      <a:srgbClr val="FFFFFF"/>
                    </a:solidFill>
                  </a:tcPr>
                </a:tc>
                <a:tc>
                  <a:txBody>
                    <a:bodyPr/>
                    <a:lstStyle/>
                    <a:p>
                      <a:r>
                        <a:rPr sz="850" b="0">
                          <a:solidFill>
                            <a:srgbClr val="4B4B4B"/>
                          </a:solidFill>
                          <a:latin typeface="Arial"/>
                        </a:rPr>
                        <a:t>Upload wizard</a:t>
                      </a:r>
                    </a:p>
                  </a:txBody>
                  <a:tcPr marL="54864" marR="54864" marT="27432" marB="27432">
                    <a:solidFill>
                      <a:srgbClr val="FFFFFF"/>
                    </a:solidFill>
                  </a:tcPr>
                </a:tc>
                <a:tc>
                  <a:txBody>
                    <a:bodyPr/>
                    <a:lstStyle/>
                    <a:p>
                      <a:r>
                        <a:rPr sz="850" b="0">
                          <a:solidFill>
                            <a:srgbClr val="4B4B4B"/>
                          </a:solidFill>
                          <a:latin typeface="Arial"/>
                        </a:rPr>
                        <a:t>Upload</a:t>
                      </a:r>
                    </a:p>
                  </a:txBody>
                  <a:tcPr marL="54864" marR="54864" marT="27432" marB="27432">
                    <a:solidFill>
                      <a:srgbClr val="FFFFFF"/>
                    </a:solidFill>
                  </a:tcPr>
                </a:tc>
                <a:tc>
                  <a:txBody>
                    <a:bodyPr/>
                    <a:lstStyle/>
                    <a:p>
                      <a:r>
                        <a:rPr sz="850" b="0">
                          <a:solidFill>
                            <a:srgbClr val="4B4B4B"/>
                          </a:solidFill>
                          <a:latin typeface="Arial"/>
                        </a:rPr>
                        <a:t>Template Bulk access requests (Excel); see Upload screens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File checks; every row checked as a request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Batches</a:t>
                      </a:r>
                    </a:p>
                  </a:txBody>
                  <a:tcPr marL="54864" marR="54864" marT="27432" marB="27432">
                    <a:solidFill>
                      <a:srgbClr val="E5F5FF"/>
                    </a:solidFill>
                  </a:tcPr>
                </a:tc>
                <a:tc>
                  <a:txBody>
                    <a:bodyPr/>
                    <a:lstStyle/>
                    <a:p>
                      <a:r>
                        <a:rPr sz="850" b="0">
                          <a:solidFill>
                            <a:srgbClr val="4B4B4B"/>
                          </a:solidFill>
                          <a:latin typeface="Arial"/>
                        </a:rPr>
                        <a:t>Batch</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BLK-yyyy-nnnnnn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Batches</a:t>
                      </a:r>
                    </a:p>
                  </a:txBody>
                  <a:tcPr marL="54864" marR="54864" marT="27432" marB="27432">
                    <a:solidFill>
                      <a:srgbClr val="FFFFFF"/>
                    </a:solidFill>
                  </a:tcPr>
                </a:tc>
                <a:tc>
                  <a:txBody>
                    <a:bodyPr/>
                    <a:lstStyle/>
                    <a:p>
                      <a:r>
                        <a:rPr sz="850" b="0">
                          <a:solidFill>
                            <a:srgbClr val="4B4B4B"/>
                          </a:solidFill>
                          <a:latin typeface="Arial"/>
                        </a:rPr>
                        <a:t>Lines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Number of lines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Batches</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Draft, Pending Approval, Returned, Approved, Rejected, Cancelled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Batches</a:t>
                      </a:r>
                    </a:p>
                  </a:txBody>
                  <a:tcPr marL="54864" marR="54864" marT="27432" marB="27432">
                    <a:solidFill>
                      <a:srgbClr val="FFFFFF"/>
                    </a:solidFill>
                  </a:tcPr>
                </a:tc>
                <a:tc>
                  <a:txBody>
                    <a:bodyPr/>
                    <a:lstStyle/>
                    <a:p>
                      <a:r>
                        <a:rPr sz="850" b="0">
                          <a:solidFill>
                            <a:srgbClr val="4B4B4B"/>
                          </a:solidFill>
                          <a:latin typeface="Arial"/>
                        </a:rPr>
                        <a:t>Remarks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Batch remarks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Batches</a:t>
                      </a:r>
                    </a:p>
                  </a:txBody>
                  <a:tcPr marL="54864" marR="54864" marT="27432" marB="27432">
                    <a:solidFill>
                      <a:srgbClr val="E5F5FF"/>
                    </a:solidFill>
                  </a:tcPr>
                </a:tc>
                <a:tc>
                  <a:txBody>
                    <a:bodyPr/>
                    <a:lstStyle/>
                    <a:p>
                      <a:r>
                        <a:rPr sz="850" b="0">
                          <a:solidFill>
                            <a:srgbClr val="4B4B4B"/>
                          </a:solidFill>
                          <a:latin typeface="Arial"/>
                        </a:rPr>
                        <a:t>Requested By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Batches</a:t>
                      </a:r>
                    </a:p>
                  </a:txBody>
                  <a:tcPr marL="54864" marR="54864" marT="27432" marB="27432">
                    <a:solidFill>
                      <a:srgbClr val="FFFFFF"/>
                    </a:solidFill>
                  </a:tcPr>
                </a:tc>
                <a:tc>
                  <a:txBody>
                    <a:bodyPr/>
                    <a:lstStyle/>
                    <a:p>
                      <a:r>
                        <a:rPr sz="850" b="0">
                          <a:solidFill>
                            <a:srgbClr val="4B4B4B"/>
                          </a:solidFill>
                          <a:latin typeface="Arial"/>
                        </a:rPr>
                        <a:t>Uploaded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 HH:mm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217</a:t>
            </a:r>
          </a:p>
        </p:txBody>
      </p:sp>
      <p:graphicFrame>
        <p:nvGraphicFramePr>
          <p:cNvPr id="9" name="Table 8"/>
          <p:cNvGraphicFramePr>
            <a:graphicFrameLocks noGrp="1"/>
          </p:cNvGraphicFramePr>
          <p:nvPr/>
        </p:nvGraphicFramePr>
        <p:xfrm>
          <a:off x="548640" y="1325880"/>
          <a:ext cx="11094412" cy="105155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609596">
                <a:tc>
                  <a:txBody>
                    <a:bodyPr/>
                    <a:lstStyle/>
                    <a:p>
                      <a:r>
                        <a:rPr sz="850" b="0">
                          <a:solidFill>
                            <a:srgbClr val="4B4B4B"/>
                          </a:solidFill>
                          <a:latin typeface="Arial"/>
                        </a:rPr>
                        <a:t>Upload and commit the file</a:t>
                      </a:r>
                    </a:p>
                  </a:txBody>
                  <a:tcPr marL="54864" marR="54864" marT="27432" marB="27432">
                    <a:solidFill>
                      <a:srgbClr val="FFFFFF"/>
                    </a:solidFill>
                  </a:tcPr>
                </a:tc>
                <a:tc>
                  <a:txBody>
                    <a:bodyPr/>
                    <a:lstStyle/>
                    <a:p>
                      <a:r>
                        <a:rPr sz="850" b="0">
                          <a:solidFill>
                            <a:srgbClr val="4B4B4B"/>
                          </a:solidFill>
                          <a:latin typeface="Arial"/>
                        </a:rPr>
                        <a:t>Requestor, Business Administrator, System Administrator (enrol or modify right, and bulk upload right)</a:t>
                      </a:r>
                    </a:p>
                  </a:txBody>
                  <a:tcPr marL="54864" marR="54864" marT="27432" marB="27432">
                    <a:solidFill>
                      <a:srgbClr val="FFFFFF"/>
                    </a:solidFill>
                  </a:tcPr>
                </a:tc>
                <a:tc>
                  <a:txBody>
                    <a:bodyPr/>
                    <a:lstStyle/>
                    <a:p>
                      <a:r>
                        <a:rPr sz="850" b="0">
                          <a:solidFill>
                            <a:srgbClr val="4B4B4B"/>
                          </a:solidFill>
                          <a:latin typeface="Arial"/>
                        </a:rPr>
                        <a:t>A file of the template is chosen</a:t>
                      </a:r>
                    </a:p>
                  </a:txBody>
                  <a:tcPr marL="54864" marR="54864" marT="27432" marB="27432">
                    <a:solidFill>
                      <a:srgbClr val="FFFFFF"/>
                    </a:solidFill>
                  </a:tcPr>
                </a:tc>
                <a:tc>
                  <a:txBody>
                    <a:bodyPr/>
                    <a:lstStyle/>
                    <a:p>
                      <a:r>
                        <a:rPr sz="850" b="0">
                          <a:solidFill>
                            <a:srgbClr val="4B4B4B"/>
                          </a:solidFill>
                          <a:latin typeface="Arial"/>
                        </a:rPr>
                        <a:t>Checks every row; the valid rows are saved as the draft lines of a new batch. Toast: Batch BLK-yyyy-nnnnnn saved as a draft</a:t>
                      </a:r>
                    </a:p>
                  </a:txBody>
                  <a:tcPr marL="54864" marR="54864" marT="27432" marB="27432">
                    <a:solidFill>
                      <a:srgbClr val="FFFFFF"/>
                    </a:solidFill>
                  </a:tcPr>
                </a:tc>
                <a:tc>
                  <a:txBody>
                    <a:bodyPr/>
                    <a:lstStyle/>
                    <a:p>
                      <a:r>
                        <a:rPr sz="850" b="0">
                          <a:solidFill>
                            <a:srgbClr val="4B4B4B"/>
                          </a:solidFill>
                          <a:latin typeface="Arial"/>
                        </a:rPr>
                        <a:t>Draft batch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 a batch</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Bulk Request Batch (SCR-UA-10)</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218</a:t>
            </a:r>
          </a:p>
        </p:txBody>
      </p:sp>
      <p:graphicFrame>
        <p:nvGraphicFramePr>
          <p:cNvPr id="9" name="Table 8"/>
          <p:cNvGraphicFramePr>
            <a:graphicFrameLocks noGrp="1"/>
          </p:cNvGraphicFramePr>
          <p:nvPr/>
        </p:nvGraphicFramePr>
        <p:xfrm>
          <a:off x="548640" y="1325880"/>
          <a:ext cx="11094415" cy="8839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Each row is checked with the rules of a single request of its action, the separation-of-duties rules included; a row in error is reported with its message and is not saved (FR-UA-019, FR-UA-053).</a:t>
                      </a:r>
                    </a:p>
                  </a:txBody>
                  <a:tcPr marL="54864" marR="54864" marT="27432" marB="27432">
                    <a:solidFill>
                      <a:srgbClr val="FFFFFF"/>
                    </a:solidFill>
                  </a:tcPr>
                </a:tc>
              </a:tr>
              <a:tr h="243840">
                <a:tc>
                  <a:txBody>
                    <a:bodyPr/>
                    <a:lstStyle/>
                    <a:p>
                      <a:r>
                        <a:rPr sz="1000" b="0">
                          <a:solidFill>
                            <a:srgbClr val="4B4B4B"/>
                          </a:solidFill>
                          <a:latin typeface="Arial"/>
                        </a:rPr>
                        <a:t>The actions of the file are ENROL, MODIFY, DEACTIVATE and REACTIVATE; group profiles are listed by their codes separated by a semicolon (FR-UA-019).</a:t>
                      </a:r>
                    </a:p>
                  </a:txBody>
                  <a:tcPr marL="54864" marR="54864" marT="27432" marB="27432">
                    <a:solidFill>
                      <a:srgbClr val="E5F5FF"/>
                    </a:solidFill>
                  </a:tcPr>
                </a:tc>
              </a:tr>
            </a:tbl>
          </a:graphicData>
        </a:graphic>
      </p:graphicFrame>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SCR-UA-09 Bulk Request: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219</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11.png"/>
          <p:cNvPicPr>
            <a:picLocks noChangeAspect="1"/>
          </p:cNvPicPr>
          <p:nvPr/>
        </p:nvPicPr>
        <p:blipFill>
          <a:blip r:embed="rId3"/>
          <a:stretch>
            <a:fillRect/>
          </a:stretch>
        </p:blipFill>
        <p:spPr>
          <a:xfrm>
            <a:off x="548640" y="1261872"/>
            <a:ext cx="11094415" cy="4686433"/>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Bulk Request with the upload wizard and the batches (part 1 of 2)</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SCR-UA-09 Bulk Request: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220</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12.png"/>
          <p:cNvPicPr>
            <a:picLocks noChangeAspect="1"/>
          </p:cNvPicPr>
          <p:nvPr/>
        </p:nvPicPr>
        <p:blipFill>
          <a:blip r:embed="rId3"/>
          <a:stretch>
            <a:fillRect/>
          </a:stretch>
        </p:blipFill>
        <p:spPr>
          <a:xfrm>
            <a:off x="548640" y="1261872"/>
            <a:ext cx="11094415" cy="470556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Bulk Request with the upload wizard and the batches (part 2 of 2)</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SCR-UA-09 Bulk Request: Validation error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221</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113.png"/>
          <p:cNvPicPr>
            <a:picLocks noChangeAspect="1"/>
          </p:cNvPicPr>
          <p:nvPr/>
        </p:nvPicPr>
        <p:blipFill>
          <a:blip r:embed="rId3"/>
          <a:stretch>
            <a:fillRect/>
          </a:stretch>
        </p:blipFill>
        <p:spPr>
          <a:xfrm>
            <a:off x="548640" y="1261872"/>
            <a:ext cx="11094415" cy="472469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Bulk Request: the check of each row after the upload (part 1 of 3)</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SCR-UA-09 Bulk Request: Validation error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222</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114.png"/>
          <p:cNvPicPr>
            <a:picLocks noChangeAspect="1"/>
          </p:cNvPicPr>
          <p:nvPr/>
        </p:nvPicPr>
        <p:blipFill>
          <a:blip r:embed="rId3"/>
          <a:stretch>
            <a:fillRect/>
          </a:stretch>
        </p:blipFill>
        <p:spPr>
          <a:xfrm>
            <a:off x="548640" y="1261872"/>
            <a:ext cx="11094415" cy="460992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Bulk Request: the check of each row after the upload (part 2 of 3)</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SCR-UA-09 Bulk Request: Validation error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115.png"/>
          <p:cNvPicPr>
            <a:picLocks noChangeAspect="1"/>
          </p:cNvPicPr>
          <p:nvPr/>
        </p:nvPicPr>
        <p:blipFill>
          <a:blip r:embed="rId3"/>
          <a:stretch>
            <a:fillRect/>
          </a:stretch>
        </p:blipFill>
        <p:spPr>
          <a:xfrm>
            <a:off x="548640" y="1261872"/>
            <a:ext cx="11094415" cy="81295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Bulk Request: the check of each row after the upload (part 3 of 3)</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SCR-UA-10 Bulk Request Batch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224</a:t>
            </a:r>
          </a:p>
        </p:txBody>
      </p:sp>
      <p:sp>
        <p:nvSpPr>
          <p:cNvPr id="9" name="Rounded Rectangle 8"/>
          <p:cNvSpPr/>
          <p:nvPr/>
        </p:nvSpPr>
        <p:spPr>
          <a:xfrm>
            <a:off x="6147511" y="896112"/>
            <a:ext cx="549554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CHG-UA-2.1-01, CHG-UA-2.1-02, CHG-UA-2.2-01</a:t>
            </a:r>
          </a:p>
        </p:txBody>
      </p:sp>
      <p:graphicFrame>
        <p:nvGraphicFramePr>
          <p:cNvPr id="10" name="Table 9"/>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User access requests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bulk batch: its lines with their status and error; the requester submits it to one approver with the batch remarks, or cancels it; the approver approves (each line applied on its own), returns or rejects it.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Requestor, Approver, Second Approver, Business Administrator, System Administrator, Auditor, New Business Approver (keeps the access approval right)</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User Access › Bulk Request › Bulk Request Batch</a:t>
                      </a:r>
                    </a:p>
                    <a:p>
                      <a:r>
                        <a:rPr sz="950" b="0">
                          <a:solidFill>
                            <a:srgbClr val="4B4B4B"/>
                          </a:solidFill>
                          <a:latin typeface="Arial"/>
                        </a:rPr>
                        <a:t>Bulk Request › a batch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FR-UA-019</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whole file is decided in one step, line by line, with the evidence of each line kept on its own request.</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225</a:t>
            </a:r>
          </a:p>
        </p:txBody>
      </p:sp>
      <p:graphicFrame>
        <p:nvGraphicFramePr>
          <p:cNvPr id="9" name="Table 8"/>
          <p:cNvGraphicFramePr>
            <a:graphicFrameLocks noGrp="1"/>
          </p:cNvGraphicFramePr>
          <p:nvPr/>
        </p:nvGraphicFramePr>
        <p:xfrm>
          <a:off x="548640" y="1325880"/>
          <a:ext cx="11094411" cy="180593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Summary</a:t>
                      </a:r>
                    </a:p>
                  </a:txBody>
                  <a:tcPr marL="54864" marR="54864" marT="27432" marB="27432">
                    <a:solidFill>
                      <a:srgbClr val="FFFFFF"/>
                    </a:solidFill>
                  </a:tcPr>
                </a:tc>
                <a:tc>
                  <a:txBody>
                    <a:bodyPr/>
                    <a:lstStyle/>
                    <a:p>
                      <a:r>
                        <a:rPr sz="850" b="0">
                          <a:solidFill>
                            <a:srgbClr val="4B4B4B"/>
                          </a:solidFill>
                          <a:latin typeface="Arial"/>
                        </a:rPr>
                        <a:t>Batch</a:t>
                      </a:r>
                    </a:p>
                  </a:txBody>
                  <a:tcPr marL="54864" marR="54864" marT="27432" marB="27432">
                    <a:solidFill>
                      <a:srgbClr val="FFFFFF"/>
                    </a:solidFill>
                  </a:tcPr>
                </a:tc>
                <a:tc>
                  <a:txBody>
                    <a:bodyPr/>
                    <a:lstStyle/>
                    <a:p>
                      <a:r>
                        <a:rPr sz="850" b="0">
                          <a:solidFill>
                            <a:srgbClr val="4B4B4B"/>
                          </a:solidFill>
                          <a:latin typeface="Arial"/>
                        </a:rPr>
                        <a:t>Reference chip</a:t>
                      </a:r>
                    </a:p>
                  </a:txBody>
                  <a:tcPr marL="54864" marR="54864" marT="27432" marB="27432">
                    <a:solidFill>
                      <a:srgbClr val="FFFFFF"/>
                    </a:solidFill>
                  </a:tcPr>
                </a:tc>
                <a:tc>
                  <a:txBody>
                    <a:bodyPr/>
                    <a:lstStyle/>
                    <a:p>
                      <a:r>
                        <a:rPr sz="850" b="0">
                          <a:solidFill>
                            <a:srgbClr val="4B4B4B"/>
                          </a:solidFill>
                          <a:latin typeface="Arial"/>
                        </a:rPr>
                        <a:t>BLK-yyyy-nnnnnn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Summary</a:t>
                      </a:r>
                    </a:p>
                  </a:txBody>
                  <a:tcPr marL="54864" marR="54864" marT="27432" marB="27432">
                    <a:solidFill>
                      <a:srgbClr val="E5F5FF"/>
                    </a:solidFill>
                  </a:tcPr>
                </a:tc>
                <a:tc>
                  <a:txBody>
                    <a:bodyPr/>
                    <a:lstStyle/>
                    <a:p>
                      <a:r>
                        <a:rPr sz="850" b="0">
                          <a:solidFill>
                            <a:srgbClr val="4B4B4B"/>
                          </a:solidFill>
                          <a:latin typeface="Arial"/>
                        </a:rPr>
                        <a:t>Requested By</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Name of the requester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Summary</a:t>
                      </a:r>
                    </a:p>
                  </a:txBody>
                  <a:tcPr marL="54864" marR="54864" marT="27432" marB="27432">
                    <a:solidFill>
                      <a:srgbClr val="FFFFFF"/>
                    </a:solidFill>
                  </a:tcPr>
                </a:tc>
                <a:tc>
                  <a:txBody>
                    <a:bodyPr/>
                    <a:lstStyle/>
                    <a:p>
                      <a:r>
                        <a:rPr sz="850" b="0">
                          <a:solidFill>
                            <a:srgbClr val="4B4B4B"/>
                          </a:solidFill>
                          <a:latin typeface="Arial"/>
                        </a:rPr>
                        <a:t>Requested On</a:t>
                      </a:r>
                    </a:p>
                  </a:txBody>
                  <a:tcPr marL="54864" marR="54864" marT="27432" marB="27432">
                    <a:solidFill>
                      <a:srgbClr val="FFFFFF"/>
                    </a:solidFill>
                  </a:tcPr>
                </a:tc>
                <a:tc>
                  <a:txBody>
                    <a:bodyPr/>
                    <a:lstStyle/>
                    <a:p>
                      <a:r>
                        <a:rPr sz="850" b="0">
                          <a:solidFill>
                            <a:srgbClr val="4B4B4B"/>
                          </a:solidFill>
                          <a:latin typeface="Arial"/>
                        </a:rPr>
                        <a:t>Date and time</a:t>
                      </a:r>
                    </a:p>
                  </a:txBody>
                  <a:tcPr marL="54864" marR="54864" marT="27432" marB="27432">
                    <a:solidFill>
                      <a:srgbClr val="FFFFFF"/>
                    </a:solidFill>
                  </a:tcPr>
                </a:tc>
                <a:tc>
                  <a:txBody>
                    <a:bodyPr/>
                    <a:lstStyle/>
                    <a:p>
                      <a:r>
                        <a:rPr sz="850" b="0">
                          <a:solidFill>
                            <a:srgbClr val="4B4B4B"/>
                          </a:solidFill>
                          <a:latin typeface="Arial"/>
                        </a:rPr>
                        <a:t>dd-MMM-yyyy HH:mm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Lines</a:t>
                      </a:r>
                    </a:p>
                  </a:txBody>
                  <a:tcPr marL="54864" marR="54864" marT="27432" marB="27432">
                    <a:solidFill>
                      <a:srgbClr val="E5F5FF"/>
                    </a:solidFill>
                  </a:tcPr>
                </a:tc>
                <a:tc>
                  <a:txBody>
                    <a:bodyPr/>
                    <a:lstStyle/>
                    <a:p>
                      <a:r>
                        <a:rPr sz="850" b="0">
                          <a:solidFill>
                            <a:srgbClr val="4B4B4B"/>
                          </a:solidFill>
                          <a:latin typeface="Arial"/>
                        </a:rPr>
                        <a:t>Request / Type / User / Change / Status / Error</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One access request per line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Submit Batch</a:t>
                      </a:r>
                    </a:p>
                  </a:txBody>
                  <a:tcPr marL="54864" marR="54864" marT="27432" marB="27432">
                    <a:solidFill>
                      <a:srgbClr val="FFFFFF"/>
                    </a:solidFill>
                  </a:tcPr>
                </a:tc>
                <a:tc>
                  <a:txBody>
                    <a:bodyPr/>
                    <a:lstStyle/>
                    <a:p>
                      <a:r>
                        <a:rPr sz="850" b="0">
                          <a:solidFill>
                            <a:srgbClr val="4B4B4B"/>
                          </a:solidFill>
                          <a:latin typeface="Arial"/>
                        </a:rPr>
                        <a:t>Approver</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Name (user ID) of each eligible approver</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An eligible approver</a:t>
                      </a:r>
                    </a:p>
                  </a:txBody>
                  <a:tcPr marL="54864" marR="54864" marT="27432" marB="27432">
                    <a:solidFill>
                      <a:srgbClr val="FFFFFF"/>
                    </a:solidFill>
                  </a:tcPr>
                </a:tc>
                <a:tc>
                  <a:txBody>
                    <a:bodyPr/>
                    <a:lstStyle/>
                    <a:p>
                      <a:r>
                        <a:rPr sz="850" b="0">
                          <a:solidFill>
                            <a:srgbClr val="4B4B4B"/>
                          </a:solidFill>
                          <a:latin typeface="Arial"/>
                        </a:rPr>
                        <a:t>Select the approver</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Submit Batch</a:t>
                      </a:r>
                    </a:p>
                  </a:txBody>
                  <a:tcPr marL="54864" marR="54864" marT="27432" marB="27432">
                    <a:solidFill>
                      <a:srgbClr val="E5F5FF"/>
                    </a:solidFill>
                  </a:tcPr>
                </a:tc>
                <a:tc>
                  <a:txBody>
                    <a:bodyPr/>
                    <a:lstStyle/>
                    <a:p>
                      <a:r>
                        <a:rPr sz="850" b="0">
                          <a:solidFill>
                            <a:srgbClr val="4B4B4B"/>
                          </a:solidFill>
                          <a:latin typeface="Arial"/>
                        </a:rPr>
                        <a:t>Remarks</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Up to 1,000 characters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Enter the remarks</a:t>
                      </a:r>
                    </a:p>
                  </a:txBody>
                  <a:tcPr marL="54864" marR="54864" marT="27432" marB="27432">
                    <a:solidFill>
                      <a:srgbClr val="E5F5FF"/>
                    </a:solidFill>
                  </a:tcPr>
                </a:tc>
              </a:tr>
            </a:tbl>
          </a:graphicData>
        </a:graphic>
      </p:graphicFrame>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226</a:t>
            </a:r>
          </a:p>
        </p:txBody>
      </p:sp>
      <p:graphicFrame>
        <p:nvGraphicFramePr>
          <p:cNvPr id="9" name="Table 8"/>
          <p:cNvGraphicFramePr>
            <a:graphicFrameLocks noGrp="1"/>
          </p:cNvGraphicFramePr>
          <p:nvPr/>
        </p:nvGraphicFramePr>
        <p:xfrm>
          <a:off x="548640" y="1325880"/>
          <a:ext cx="11094412" cy="2065009"/>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Submit Batch</a:t>
                      </a:r>
                    </a:p>
                  </a:txBody>
                  <a:tcPr marL="54864" marR="54864" marT="27432" marB="27432">
                    <a:solidFill>
                      <a:srgbClr val="FFFFFF"/>
                    </a:solidFill>
                  </a:tcPr>
                </a:tc>
                <a:tc>
                  <a:txBody>
                    <a:bodyPr/>
                    <a:lstStyle/>
                    <a:p>
                      <a:r>
                        <a:rPr sz="850" b="0">
                          <a:solidFill>
                            <a:srgbClr val="4B4B4B"/>
                          </a:solidFill>
                          <a:latin typeface="Arial"/>
                        </a:rPr>
                        <a:t>The creator of the batch</a:t>
                      </a:r>
                    </a:p>
                  </a:txBody>
                  <a:tcPr marL="54864" marR="54864" marT="27432" marB="27432">
                    <a:solidFill>
                      <a:srgbClr val="FFFFFF"/>
                    </a:solidFill>
                  </a:tcPr>
                </a:tc>
                <a:tc>
                  <a:txBody>
                    <a:bodyPr/>
                    <a:lstStyle/>
                    <a:p>
                      <a:r>
                        <a:rPr sz="850" b="0">
                          <a:solidFill>
                            <a:srgbClr val="4B4B4B"/>
                          </a:solidFill>
                          <a:latin typeface="Arial"/>
                        </a:rPr>
                        <a:t>Draft or Returned</a:t>
                      </a:r>
                    </a:p>
                  </a:txBody>
                  <a:tcPr marL="54864" marR="54864" marT="27432" marB="27432">
                    <a:solidFill>
                      <a:srgbClr val="FFFFFF"/>
                    </a:solidFill>
                  </a:tcPr>
                </a:tc>
                <a:tc>
                  <a:txBody>
                    <a:bodyPr/>
                    <a:lstStyle/>
                    <a:p>
                      <a:r>
                        <a:rPr sz="850" b="0">
                          <a:solidFill>
                            <a:srgbClr val="4B4B4B"/>
                          </a:solidFill>
                          <a:latin typeface="Arial"/>
                        </a:rPr>
                        <a:t>Submits every draft line to the chosen approver with the batch remarks</a:t>
                      </a:r>
                    </a:p>
                  </a:txBody>
                  <a:tcPr marL="54864" marR="54864" marT="27432" marB="27432">
                    <a:solidFill>
                      <a:srgbClr val="FFFFFF"/>
                    </a:solidFill>
                  </a:tcPr>
                </a:tc>
                <a:tc>
                  <a:txBody>
                    <a:bodyPr/>
                    <a:lstStyle/>
                    <a:p>
                      <a:r>
                        <a:rPr sz="850" b="0">
                          <a:solidFill>
                            <a:srgbClr val="4B4B4B"/>
                          </a:solidFill>
                          <a:latin typeface="Arial"/>
                        </a:rPr>
                        <a:t>Pending Approval</a:t>
                      </a:r>
                    </a:p>
                  </a:txBody>
                  <a:tcPr marL="54864" marR="54864" marT="27432" marB="27432">
                    <a:solidFill>
                      <a:srgbClr val="FFFFFF"/>
                    </a:solidFill>
                  </a:tcPr>
                </a:tc>
                <a:tc>
                  <a:txBody>
                    <a:bodyPr/>
                    <a:lstStyle/>
                    <a:p>
                      <a:r>
                        <a:rPr sz="850" b="0">
                          <a:solidFill>
                            <a:srgbClr val="4B4B4B"/>
                          </a:solidFill>
                          <a:latin typeface="Arial"/>
                        </a:rPr>
                        <a:t>Access request AR-yyyy-nnnnnn to approve, per line</a:t>
                      </a:r>
                    </a:p>
                  </a:txBody>
                  <a:tcPr marL="54864" marR="54864" marT="27432" marB="27432">
                    <a:solidFill>
                      <a:srgbClr val="FFFFFF"/>
                    </a:solidFill>
                  </a:tcPr>
                </a:tc>
              </a:tr>
              <a:tr h="480057">
                <a:tc>
                  <a:txBody>
                    <a:bodyPr/>
                    <a:lstStyle/>
                    <a:p>
                      <a:r>
                        <a:rPr sz="850" b="0">
                          <a:solidFill>
                            <a:srgbClr val="4B4B4B"/>
                          </a:solidFill>
                          <a:latin typeface="Arial"/>
                        </a:rPr>
                        <a:t>Approve Batch</a:t>
                      </a:r>
                    </a:p>
                  </a:txBody>
                  <a:tcPr marL="54864" marR="54864" marT="27432" marB="27432">
                    <a:solidFill>
                      <a:srgbClr val="E5F5FF"/>
                    </a:solidFill>
                  </a:tcPr>
                </a:tc>
                <a:tc>
                  <a:txBody>
                    <a:bodyPr/>
                    <a:lstStyle/>
                    <a:p>
                      <a:r>
                        <a:rPr sz="850" b="0">
                          <a:solidFill>
                            <a:srgbClr val="4B4B4B"/>
                          </a:solidFill>
                          <a:latin typeface="Arial"/>
                        </a:rPr>
                        <a:t>The approver (approval right), not the creator</a:t>
                      </a:r>
                    </a:p>
                  </a:txBody>
                  <a:tcPr marL="54864" marR="54864" marT="27432" marB="27432">
                    <a:solidFill>
                      <a:srgbClr val="E5F5FF"/>
                    </a:solidFill>
                  </a:tcPr>
                </a:tc>
                <a:tc>
                  <a:txBody>
                    <a:bodyPr/>
                    <a:lstStyle/>
                    <a:p>
                      <a:r>
                        <a:rPr sz="850" b="0">
                          <a:solidFill>
                            <a:srgbClr val="4B4B4B"/>
                          </a:solidFill>
                          <a:latin typeface="Arial"/>
                        </a:rPr>
                        <a:t>Pending Approval</a:t>
                      </a:r>
                    </a:p>
                  </a:txBody>
                  <a:tcPr marL="54864" marR="54864" marT="27432" marB="27432">
                    <a:solidFill>
                      <a:srgbClr val="E5F5FF"/>
                    </a:solidFill>
                  </a:tcPr>
                </a:tc>
                <a:tc>
                  <a:txBody>
                    <a:bodyPr/>
                    <a:lstStyle/>
                    <a:p>
                      <a:r>
                        <a:rPr sz="850" b="0">
                          <a:solidFill>
                            <a:srgbClr val="4B4B4B"/>
                          </a:solidFill>
                          <a:latin typeface="Arial"/>
                        </a:rPr>
                        <a:t>Approves each line on its own; the outcome lists each line with its status or error and the temporary passwords of new users, shown once</a:t>
                      </a:r>
                    </a:p>
                  </a:txBody>
                  <a:tcPr marL="54864" marR="54864" marT="27432" marB="27432">
                    <a:solidFill>
                      <a:srgbClr val="E5F5FF"/>
                    </a:solidFill>
                  </a:tcPr>
                </a:tc>
                <a:tc>
                  <a:txBody>
                    <a:bodyPr/>
                    <a:lstStyle/>
                    <a:p>
                      <a:r>
                        <a:rPr sz="850" b="0">
                          <a:solidFill>
                            <a:srgbClr val="4B4B4B"/>
                          </a:solidFill>
                          <a:latin typeface="Arial"/>
                        </a:rPr>
                        <a:t>Approved (lines applied, scheduled or for second approval)</a:t>
                      </a:r>
                    </a:p>
                  </a:txBody>
                  <a:tcPr marL="54864" marR="54864" marT="27432" marB="27432">
                    <a:solidFill>
                      <a:srgbClr val="E5F5FF"/>
                    </a:solidFill>
                  </a:tcPr>
                </a:tc>
                <a:tc>
                  <a:txBody>
                    <a:bodyPr/>
                    <a:lstStyle/>
                    <a:p>
                      <a:r>
                        <a:rPr sz="850" b="0">
                          <a:solidFill>
                            <a:srgbClr val="4B4B4B"/>
                          </a:solidFill>
                          <a:latin typeface="Arial"/>
                        </a:rPr>
                        <a:t>As Approve and Apply, per line</a:t>
                      </a:r>
                    </a:p>
                  </a:txBody>
                  <a:tcPr marL="54864" marR="54864" marT="27432" marB="27432">
                    <a:solidFill>
                      <a:srgbClr val="E5F5FF"/>
                    </a:solidFill>
                  </a:tcPr>
                </a:tc>
              </a:tr>
              <a:tr h="220979">
                <a:tc>
                  <a:txBody>
                    <a:bodyPr/>
                    <a:lstStyle/>
                    <a:p>
                      <a:r>
                        <a:rPr sz="850" b="0">
                          <a:solidFill>
                            <a:srgbClr val="4B4B4B"/>
                          </a:solidFill>
                          <a:latin typeface="Arial"/>
                        </a:rPr>
                        <a:t>Return Batch</a:t>
                      </a:r>
                    </a:p>
                  </a:txBody>
                  <a:tcPr marL="54864" marR="54864" marT="27432" marB="27432">
                    <a:solidFill>
                      <a:srgbClr val="FFFFFF"/>
                    </a:solidFill>
                  </a:tcPr>
                </a:tc>
                <a:tc>
                  <a:txBody>
                    <a:bodyPr/>
                    <a:lstStyle/>
                    <a:p>
                      <a:r>
                        <a:rPr sz="850" b="0">
                          <a:solidFill>
                            <a:srgbClr val="4B4B4B"/>
                          </a:solidFill>
                          <a:latin typeface="Arial"/>
                        </a:rPr>
                        <a:t>The approver</a:t>
                      </a:r>
                    </a:p>
                  </a:txBody>
                  <a:tcPr marL="54864" marR="54864" marT="27432" marB="27432">
                    <a:solidFill>
                      <a:srgbClr val="FFFFFF"/>
                    </a:solidFill>
                  </a:tcPr>
                </a:tc>
                <a:tc>
                  <a:txBody>
                    <a:bodyPr/>
                    <a:lstStyle/>
                    <a:p>
                      <a:r>
                        <a:rPr sz="850" b="0">
                          <a:solidFill>
                            <a:srgbClr val="4B4B4B"/>
                          </a:solidFill>
                          <a:latin typeface="Arial"/>
                        </a:rPr>
                        <a:t>Pending Approval</a:t>
                      </a:r>
                    </a:p>
                  </a:txBody>
                  <a:tcPr marL="54864" marR="54864" marT="27432" marB="27432">
                    <a:solidFill>
                      <a:srgbClr val="FFFFFF"/>
                    </a:solidFill>
                  </a:tcPr>
                </a:tc>
                <a:tc>
                  <a:txBody>
                    <a:bodyPr/>
                    <a:lstStyle/>
                    <a:p>
                      <a:r>
                        <a:rPr sz="850" b="0">
                          <a:solidFill>
                            <a:srgbClr val="4B4B4B"/>
                          </a:solidFill>
                          <a:latin typeface="Arial"/>
                        </a:rPr>
                        <a:t>Returns the batch with the remarks</a:t>
                      </a:r>
                    </a:p>
                  </a:txBody>
                  <a:tcPr marL="54864" marR="54864" marT="27432" marB="27432">
                    <a:solidFill>
                      <a:srgbClr val="FFFFFF"/>
                    </a:solidFill>
                  </a:tcPr>
                </a:tc>
                <a:tc>
                  <a:txBody>
                    <a:bodyPr/>
                    <a:lstStyle/>
                    <a:p>
                      <a:r>
                        <a:rPr sz="850" b="0">
                          <a:solidFill>
                            <a:srgbClr val="4B4B4B"/>
                          </a:solidFill>
                          <a:latin typeface="Arial"/>
                        </a:rPr>
                        <a:t>Returned</a:t>
                      </a:r>
                    </a:p>
                  </a:txBody>
                  <a:tcPr marL="54864" marR="54864" marT="27432" marB="27432">
                    <a:solidFill>
                      <a:srgbClr val="FFFFFF"/>
                    </a:solidFill>
                  </a:tcPr>
                </a:tc>
                <a:tc>
                  <a:txBody>
                    <a:bodyPr/>
                    <a:lstStyle/>
                    <a:p>
                      <a:r>
                        <a:rPr sz="850" b="0">
                          <a:solidFill>
                            <a:srgbClr val="4B4B4B"/>
                          </a:solidFill>
                          <a:latin typeface="Arial"/>
                        </a:rPr>
                        <a:t>Returned notice per line</a:t>
                      </a:r>
                    </a:p>
                  </a:txBody>
                  <a:tcPr marL="54864" marR="54864" marT="27432" marB="27432">
                    <a:solidFill>
                      <a:srgbClr val="FFFFFF"/>
                    </a:solidFill>
                  </a:tcPr>
                </a:tc>
              </a:tr>
              <a:tr h="220979">
                <a:tc>
                  <a:txBody>
                    <a:bodyPr/>
                    <a:lstStyle/>
                    <a:p>
                      <a:r>
                        <a:rPr sz="850" b="0">
                          <a:solidFill>
                            <a:srgbClr val="4B4B4B"/>
                          </a:solidFill>
                          <a:latin typeface="Arial"/>
                        </a:rPr>
                        <a:t>Reject Batch</a:t>
                      </a:r>
                    </a:p>
                  </a:txBody>
                  <a:tcPr marL="54864" marR="54864" marT="27432" marB="27432">
                    <a:solidFill>
                      <a:srgbClr val="E5F5FF"/>
                    </a:solidFill>
                  </a:tcPr>
                </a:tc>
                <a:tc>
                  <a:txBody>
                    <a:bodyPr/>
                    <a:lstStyle/>
                    <a:p>
                      <a:r>
                        <a:rPr sz="850" b="0">
                          <a:solidFill>
                            <a:srgbClr val="4B4B4B"/>
                          </a:solidFill>
                          <a:latin typeface="Arial"/>
                        </a:rPr>
                        <a:t>The approver</a:t>
                      </a:r>
                    </a:p>
                  </a:txBody>
                  <a:tcPr marL="54864" marR="54864" marT="27432" marB="27432">
                    <a:solidFill>
                      <a:srgbClr val="E5F5FF"/>
                    </a:solidFill>
                  </a:tcPr>
                </a:tc>
                <a:tc>
                  <a:txBody>
                    <a:bodyPr/>
                    <a:lstStyle/>
                    <a:p>
                      <a:r>
                        <a:rPr sz="850" b="0">
                          <a:solidFill>
                            <a:srgbClr val="4B4B4B"/>
                          </a:solidFill>
                          <a:latin typeface="Arial"/>
                        </a:rPr>
                        <a:t>Pending Approval</a:t>
                      </a:r>
                    </a:p>
                  </a:txBody>
                  <a:tcPr marL="54864" marR="54864" marT="27432" marB="27432">
                    <a:solidFill>
                      <a:srgbClr val="E5F5FF"/>
                    </a:solidFill>
                  </a:tcPr>
                </a:tc>
                <a:tc>
                  <a:txBody>
                    <a:bodyPr/>
                    <a:lstStyle/>
                    <a:p>
                      <a:r>
                        <a:rPr sz="850" b="0">
                          <a:solidFill>
                            <a:srgbClr val="4B4B4B"/>
                          </a:solidFill>
                          <a:latin typeface="Arial"/>
                        </a:rPr>
                        <a:t>Rejects every line with the reason</a:t>
                      </a:r>
                    </a:p>
                  </a:txBody>
                  <a:tcPr marL="54864" marR="54864" marT="27432" marB="27432">
                    <a:solidFill>
                      <a:srgbClr val="E5F5FF"/>
                    </a:solidFill>
                  </a:tcPr>
                </a:tc>
                <a:tc>
                  <a:txBody>
                    <a:bodyPr/>
                    <a:lstStyle/>
                    <a:p>
                      <a:r>
                        <a:rPr sz="850" b="0">
                          <a:solidFill>
                            <a:srgbClr val="4B4B4B"/>
                          </a:solidFill>
                          <a:latin typeface="Arial"/>
                        </a:rPr>
                        <a:t>Rejected</a:t>
                      </a:r>
                    </a:p>
                  </a:txBody>
                  <a:tcPr marL="54864" marR="54864" marT="27432" marB="27432">
                    <a:solidFill>
                      <a:srgbClr val="E5F5FF"/>
                    </a:solidFill>
                  </a:tcPr>
                </a:tc>
                <a:tc>
                  <a:txBody>
                    <a:bodyPr/>
                    <a:lstStyle/>
                    <a:p>
                      <a:r>
                        <a:rPr sz="850" b="0">
                          <a:solidFill>
                            <a:srgbClr val="4B4B4B"/>
                          </a:solidFill>
                          <a:latin typeface="Arial"/>
                        </a:rPr>
                        <a:t>Rejected notice per line</a:t>
                      </a:r>
                    </a:p>
                  </a:txBody>
                  <a:tcPr marL="54864" marR="54864" marT="27432" marB="27432">
                    <a:solidFill>
                      <a:srgbClr val="E5F5FF"/>
                    </a:solidFill>
                  </a:tcPr>
                </a:tc>
              </a:tr>
              <a:tr h="350518">
                <a:tc>
                  <a:txBody>
                    <a:bodyPr/>
                    <a:lstStyle/>
                    <a:p>
                      <a:r>
                        <a:rPr sz="850" b="0">
                          <a:solidFill>
                            <a:srgbClr val="4B4B4B"/>
                          </a:solidFill>
                          <a:latin typeface="Arial"/>
                        </a:rPr>
                        <a:t>Cancel Batch</a:t>
                      </a:r>
                    </a:p>
                  </a:txBody>
                  <a:tcPr marL="54864" marR="54864" marT="27432" marB="27432">
                    <a:solidFill>
                      <a:srgbClr val="FFFFFF"/>
                    </a:solidFill>
                  </a:tcPr>
                </a:tc>
                <a:tc>
                  <a:txBody>
                    <a:bodyPr/>
                    <a:lstStyle/>
                    <a:p>
                      <a:r>
                        <a:rPr sz="850" b="0">
                          <a:solidFill>
                            <a:srgbClr val="4B4B4B"/>
                          </a:solidFill>
                          <a:latin typeface="Arial"/>
                        </a:rPr>
                        <a:t>The creator of the batch</a:t>
                      </a:r>
                    </a:p>
                  </a:txBody>
                  <a:tcPr marL="54864" marR="54864" marT="27432" marB="27432">
                    <a:solidFill>
                      <a:srgbClr val="FFFFFF"/>
                    </a:solidFill>
                  </a:tcPr>
                </a:tc>
                <a:tc>
                  <a:txBody>
                    <a:bodyPr/>
                    <a:lstStyle/>
                    <a:p>
                      <a:r>
                        <a:rPr sz="850" b="0">
                          <a:solidFill>
                            <a:srgbClr val="4B4B4B"/>
                          </a:solidFill>
                          <a:latin typeface="Arial"/>
                        </a:rPr>
                        <a:t>Draft, Returned or Pending Approval</a:t>
                      </a:r>
                    </a:p>
                  </a:txBody>
                  <a:tcPr marL="54864" marR="54864" marT="27432" marB="27432">
                    <a:solidFill>
                      <a:srgbClr val="FFFFFF"/>
                    </a:solidFill>
                  </a:tcPr>
                </a:tc>
                <a:tc>
                  <a:txBody>
                    <a:bodyPr/>
                    <a:lstStyle/>
                    <a:p>
                      <a:r>
                        <a:rPr sz="850" b="0">
                          <a:solidFill>
                            <a:srgbClr val="4B4B4B"/>
                          </a:solidFill>
                          <a:latin typeface="Arial"/>
                        </a:rPr>
                        <a:t>Cancels every line with the reason</a:t>
                      </a:r>
                    </a:p>
                  </a:txBody>
                  <a:tcPr marL="54864" marR="54864" marT="27432" marB="27432">
                    <a:solidFill>
                      <a:srgbClr val="FFFFFF"/>
                    </a:solidFill>
                  </a:tcPr>
                </a:tc>
                <a:tc>
                  <a:txBody>
                    <a:bodyPr/>
                    <a:lstStyle/>
                    <a:p>
                      <a:r>
                        <a:rPr sz="850" b="0">
                          <a:solidFill>
                            <a:srgbClr val="4B4B4B"/>
                          </a:solidFill>
                          <a:latin typeface="Arial"/>
                        </a:rPr>
                        <a:t>Cancelled</a:t>
                      </a:r>
                    </a:p>
                  </a:txBody>
                  <a:tcPr marL="54864" marR="54864" marT="27432" marB="27432">
                    <a:solidFill>
                      <a:srgbClr val="FFFFFF"/>
                    </a:solidFill>
                  </a:tcPr>
                </a:tc>
                <a:tc>
                  <a:txBody>
                    <a:bodyPr/>
                    <a:lstStyle/>
                    <a:p>
                      <a:r>
                        <a:rPr sz="850" b="0">
                          <a:solidFill>
                            <a:srgbClr val="4B4B4B"/>
                          </a:solidFill>
                          <a:latin typeface="Arial"/>
                        </a:rPr>
                        <a:t>Cancelled notice to the approver</a:t>
                      </a:r>
                    </a:p>
                  </a:txBody>
                  <a:tcPr marL="54864" marR="54864" marT="27432" marB="27432">
                    <a:solidFill>
                      <a:srgbClr val="FFFFFF"/>
                    </a:solidFill>
                  </a:tcPr>
                </a:tc>
              </a:tr>
              <a:tr h="220979">
                <a:tc>
                  <a:txBody>
                    <a:bodyPr/>
                    <a:lstStyle/>
                    <a:p>
                      <a:r>
                        <a:rPr sz="850" b="0">
                          <a:solidFill>
                            <a:srgbClr val="4B4B4B"/>
                          </a:solidFill>
                          <a:latin typeface="Arial"/>
                        </a:rPr>
                        <a:t>Open a line</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line's request (SCR-UA-08)</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227</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batch is submitted only by its creator and decided by another user: Only the creator can submit batch &lt;batch no&gt; (FR-UA-019).</a:t>
                      </a:r>
                    </a:p>
                  </a:txBody>
                  <a:tcPr marL="54864" marR="54864" marT="27432" marB="27432">
                    <a:solidFill>
                      <a:srgbClr val="FFFFFF"/>
                    </a:solidFill>
                  </a:tcPr>
                </a:tc>
              </a:tr>
              <a:tr h="243840">
                <a:tc>
                  <a:txBody>
                    <a:bodyPr/>
                    <a:lstStyle/>
                    <a:p>
                      <a:r>
                        <a:rPr sz="1000" b="0">
                          <a:solidFill>
                            <a:srgbClr val="4B4B4B"/>
                          </a:solidFill>
                          <a:latin typeface="Arial"/>
                        </a:rPr>
                        <a:t>Each line is decided and applied on its own, with the checks and the risk rules of a single request; a line that needs a second approval waits for it (FR-UA-019, FR-UA-034).</a:t>
                      </a:r>
                    </a:p>
                  </a:txBody>
                  <a:tcPr marL="54864" marR="54864" marT="27432" marB="27432">
                    <a:solidFill>
                      <a:srgbClr val="E5F5FF"/>
                    </a:solidFill>
                  </a:tcPr>
                </a:tc>
              </a:tr>
            </a:tbl>
          </a:graphicData>
        </a:graphic>
      </p:graphicFrame>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SCR-UA-10 Bulk Request Batch: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228</a:t>
            </a:r>
          </a:p>
        </p:txBody>
      </p:sp>
      <p:sp>
        <p:nvSpPr>
          <p:cNvPr id="9" name="Rounded Rectangle 8"/>
          <p:cNvSpPr/>
          <p:nvPr/>
        </p:nvSpPr>
        <p:spPr>
          <a:xfrm>
            <a:off x="6147511" y="896112"/>
            <a:ext cx="549554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CHG-UA-2.1-01, CHG-UA-2.1-02, CHG-UA-2.2-01</a:t>
            </a:r>
          </a:p>
        </p:txBody>
      </p:sp>
      <p:sp>
        <p:nvSpPr>
          <p:cNvPr id="10" name="Rounded Rectangle 9"/>
          <p:cNvSpPr/>
          <p:nvPr/>
        </p:nvSpPr>
        <p:spPr>
          <a:xfrm>
            <a:off x="4300423"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1" name="Picture 10" descr="scr-ua-10-01-pending.png"/>
          <p:cNvPicPr>
            <a:picLocks noChangeAspect="1"/>
          </p:cNvPicPr>
          <p:nvPr/>
        </p:nvPicPr>
        <p:blipFill>
          <a:blip r:embed="rId3"/>
          <a:stretch>
            <a:fillRect/>
          </a:stretch>
        </p:blipFill>
        <p:spPr>
          <a:xfrm>
            <a:off x="1318068" y="1261872"/>
            <a:ext cx="9555559"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seed batch of three lines waiting for the Approver</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SCR-UA-11 Group Profile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229</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CHG-UA-2.1-01, CHG-UA-2.2-01</a:t>
            </a:r>
          </a:p>
        </p:txBody>
      </p:sp>
      <p:graphicFrame>
        <p:nvGraphicFramePr>
          <p:cNvPr id="10" name="Table 9"/>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Group profiles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work list of the group-profile requests: new profiles, changes to the permissions, name, description or privilege level of a profile, and the deactivation and reactivation of a profile. The approvers decide in the order chosen by the requester; the System Administrator implements the approved request.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Approver, Second Approver, Business Administrator, System Administrator, Auditor, Information Security Officer, New Business Approver (keeps the access approval right)</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User Access › Group Profile Requests</a:t>
                      </a:r>
                    </a:p>
                    <a:p>
                      <a:r>
                        <a:rPr sz="950" b="0">
                          <a:solidFill>
                            <a:srgbClr val="4B4B4B"/>
                          </a:solidFill>
                          <a:latin typeface="Arial"/>
                        </a:rPr>
                        <a:t>The notice Access request AR-yyyy-nnnnnn to implement (System Administrator)</a:t>
                      </a:r>
                    </a:p>
                    <a:p>
                      <a:r>
                        <a:rPr sz="950" b="0">
                          <a:solidFill>
                            <a:srgbClr val="4B4B4B"/>
                          </a:solidFill>
                          <a:latin typeface="Arial"/>
                        </a:rPr>
                        <a:t>Access Request record of a group-profile request › back arrow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FR-UA-040, FR-UA-044, FR-UA-045</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Business Administrator follows each profile change from the request to its implementation.</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230</a:t>
            </a:r>
          </a:p>
        </p:txBody>
      </p:sp>
      <p:graphicFrame>
        <p:nvGraphicFramePr>
          <p:cNvPr id="9" name="Table 8"/>
          <p:cNvGraphicFramePr>
            <a:graphicFrameLocks noGrp="1"/>
          </p:cNvGraphicFramePr>
          <p:nvPr/>
        </p:nvGraphicFramePr>
        <p:xfrm>
          <a:off x="548640" y="1325880"/>
          <a:ext cx="11094411" cy="223264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My Requests / Assigned to Me / Second Approval / For Implementation / All</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As Access Requests, limited to group-profile requests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Search</a:t>
                      </a:r>
                    </a:p>
                  </a:txBody>
                  <a:tcPr marL="54864" marR="54864" marT="27432" marB="27432">
                    <a:solidFill>
                      <a:srgbClr val="E5F5FF"/>
                    </a:solidFill>
                  </a:tcPr>
                </a:tc>
                <a:tc>
                  <a:txBody>
                    <a:bodyPr/>
                    <a:lstStyle/>
                    <a:p>
                      <a:r>
                        <a:rPr sz="850" b="0">
                          <a:solidFill>
                            <a:srgbClr val="4B4B4B"/>
                          </a:solidFill>
                          <a:latin typeface="Arial"/>
                        </a:rPr>
                        <a:t>Search Request No., User or Role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Part of a request number or group profile code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 search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Status</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and the request statuses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Request Type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New group profile, Modify group profile, Deactivate group profile, Reactivate group profile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Request / Type / Change / Requested By / Requested / Approver / Status</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As Access Requests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231</a:t>
            </a:r>
          </a:p>
        </p:txBody>
      </p:sp>
      <p:graphicFrame>
        <p:nvGraphicFramePr>
          <p:cNvPr id="9" name="Table 8"/>
          <p:cNvGraphicFramePr>
            <a:graphicFrameLocks noGrp="1"/>
          </p:cNvGraphicFramePr>
          <p:nvPr/>
        </p:nvGraphicFramePr>
        <p:xfrm>
          <a:off x="548640" y="1325880"/>
          <a:ext cx="11094412" cy="175259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New Group Profile Request</a:t>
                      </a:r>
                    </a:p>
                  </a:txBody>
                  <a:tcPr marL="54864" marR="54864" marT="27432" marB="27432">
                    <a:solidFill>
                      <a:srgbClr val="FFFFFF"/>
                    </a:solidFill>
                  </a:tcPr>
                </a:tc>
                <a:tc>
                  <a:txBody>
                    <a:bodyPr/>
                    <a:lstStyle/>
                    <a:p>
                      <a:r>
                        <a:rPr sz="850" b="0">
                          <a:solidFill>
                            <a:srgbClr val="4B4B4B"/>
                          </a:solidFill>
                          <a:latin typeface="Arial"/>
                        </a:rPr>
                        <a:t>Business Administrator, System Administrator (group-profile request right)</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New Request on the group-profile types (SCR-UA-12)</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Approve Selected</a:t>
                      </a:r>
                    </a:p>
                  </a:txBody>
                  <a:tcPr marL="54864" marR="54864" marT="27432" marB="27432">
                    <a:solidFill>
                      <a:srgbClr val="E5F5FF"/>
                    </a:solidFill>
                  </a:tcPr>
                </a:tc>
                <a:tc>
                  <a:txBody>
                    <a:bodyPr/>
                    <a:lstStyle/>
                    <a:p>
                      <a:r>
                        <a:rPr sz="850" b="0">
                          <a:solidFill>
                            <a:srgbClr val="4B4B4B"/>
                          </a:solidFill>
                          <a:latin typeface="Arial"/>
                        </a:rPr>
                        <a:t>Approver on Assigned to Me; Second Approver on Second Approval</a:t>
                      </a:r>
                    </a:p>
                  </a:txBody>
                  <a:tcPr marL="54864" marR="54864" marT="27432" marB="27432">
                    <a:solidFill>
                      <a:srgbClr val="E5F5FF"/>
                    </a:solidFill>
                  </a:tcPr>
                </a:tc>
                <a:tc>
                  <a:txBody>
                    <a:bodyPr/>
                    <a:lstStyle/>
                    <a:p>
                      <a:r>
                        <a:rPr sz="850" b="0">
                          <a:solidFill>
                            <a:srgbClr val="4B4B4B"/>
                          </a:solidFill>
                          <a:latin typeface="Arial"/>
                        </a:rPr>
                        <a:t>Rows selected</a:t>
                      </a:r>
                    </a:p>
                  </a:txBody>
                  <a:tcPr marL="54864" marR="54864" marT="27432" marB="27432">
                    <a:solidFill>
                      <a:srgbClr val="E5F5FF"/>
                    </a:solidFill>
                  </a:tcPr>
                </a:tc>
                <a:tc>
                  <a:txBody>
                    <a:bodyPr/>
                    <a:lstStyle/>
                    <a:p>
                      <a:r>
                        <a:rPr sz="850" b="0">
                          <a:solidFill>
                            <a:srgbClr val="4B4B4B"/>
                          </a:solidFill>
                          <a:latin typeface="Arial"/>
                        </a:rPr>
                        <a:t>Approves each selected request in turn</a:t>
                      </a:r>
                    </a:p>
                  </a:txBody>
                  <a:tcPr marL="54864" marR="54864" marT="27432" marB="27432">
                    <a:solidFill>
                      <a:srgbClr val="E5F5FF"/>
                    </a:solidFill>
                  </a:tcPr>
                </a:tc>
                <a:tc>
                  <a:txBody>
                    <a:bodyPr/>
                    <a:lstStyle/>
                    <a:p>
                      <a:r>
                        <a:rPr sz="850" b="0">
                          <a:solidFill>
                            <a:srgbClr val="4B4B4B"/>
                          </a:solidFill>
                          <a:latin typeface="Arial"/>
                        </a:rPr>
                        <a:t>Pending Approval (next approver), Pending Second Approval or For Implementation</a:t>
                      </a:r>
                    </a:p>
                  </a:txBody>
                  <a:tcPr marL="54864" marR="54864" marT="27432" marB="27432">
                    <a:solidFill>
                      <a:srgbClr val="E5F5FF"/>
                    </a:solidFill>
                  </a:tcPr>
                </a:tc>
                <a:tc>
                  <a:txBody>
                    <a:bodyPr/>
                    <a:lstStyle/>
                    <a:p>
                      <a:r>
                        <a:rPr sz="850" b="0">
                          <a:solidFill>
                            <a:srgbClr val="4B4B4B"/>
                          </a:solidFill>
                          <a:latin typeface="Arial"/>
                        </a:rPr>
                        <a:t>Notice to the next approver, second approvers or System Administrators</a:t>
                      </a:r>
                    </a:p>
                  </a:txBody>
                  <a:tcPr marL="54864" marR="54864" marT="27432" marB="27432">
                    <a:solidFill>
                      <a:srgbClr val="E5F5FF"/>
                    </a:solidFill>
                  </a:tcPr>
                </a:tc>
              </a:tr>
              <a:tr h="220979">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Shows or hides the filters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 a row</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request (SCR-UA-08)</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232</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one group-profile request per profile can be open at a time: A request for role &lt;code&gt; is already waiting for approval (FR-UA-040).</a:t>
                      </a:r>
                    </a:p>
                  </a:txBody>
                  <a:tcPr marL="54864" marR="54864" marT="27432" marB="27432">
                    <a:solidFill>
                      <a:srgbClr val="FFFFFF"/>
                    </a:solidFill>
                  </a:tcPr>
                </a:tc>
              </a:tr>
              <a:tr h="243840">
                <a:tc>
                  <a:txBody>
                    <a:bodyPr/>
                    <a:lstStyle/>
                    <a:p>
                      <a:r>
                        <a:rPr sz="1000" b="0">
                          <a:solidFill>
                            <a:srgbClr val="4B4B4B"/>
                          </a:solidFill>
                          <a:latin typeface="Arial"/>
                        </a:rPr>
                        <a:t>Every approver in the list decides in turn; the request goes to the System Administrator only after the last approval (FR-UA-044).</a:t>
                      </a:r>
                    </a:p>
                  </a:txBody>
                  <a:tcPr marL="54864" marR="54864" marT="27432" marB="27432">
                    <a:solidFill>
                      <a:srgbClr val="E5F5FF"/>
                    </a:solidFill>
                  </a:tcPr>
                </a:tc>
              </a:tr>
            </a:tbl>
          </a:graphicData>
        </a:graphic>
      </p:graphicFrame>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SCR-UA-11 Group Profile Requests: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233</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CHG-UA-2.1-01, CHG-UA-2.2-01</a:t>
            </a:r>
          </a:p>
        </p:txBody>
      </p:sp>
      <p:sp>
        <p:nvSpPr>
          <p:cNvPr id="10" name="Rounded Rectangle 9"/>
          <p:cNvSpPr/>
          <p:nvPr/>
        </p:nvSpPr>
        <p:spPr>
          <a:xfrm>
            <a:off x="603321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1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Group Profile Requests of the Business Administrator, All tab (part 1 of 2)</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SCR-UA-11 Group Profile Requests: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234</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CHG-UA-2.1-01, CHG-UA-2.2-01</a:t>
            </a:r>
          </a:p>
        </p:txBody>
      </p:sp>
      <p:sp>
        <p:nvSpPr>
          <p:cNvPr id="10" name="Rounded Rectangle 9"/>
          <p:cNvSpPr/>
          <p:nvPr/>
        </p:nvSpPr>
        <p:spPr>
          <a:xfrm>
            <a:off x="603321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17.png"/>
          <p:cNvPicPr>
            <a:picLocks noChangeAspect="1"/>
          </p:cNvPicPr>
          <p:nvPr/>
        </p:nvPicPr>
        <p:blipFill>
          <a:blip r:embed="rId3"/>
          <a:stretch>
            <a:fillRect/>
          </a:stretch>
        </p:blipFill>
        <p:spPr>
          <a:xfrm>
            <a:off x="548640" y="1261872"/>
            <a:ext cx="11094415" cy="2381473"/>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Group Profile Requests of the Business Administrator, All tab (part 2 of 2)</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SCR-UA-12 New Group Profile Request and Edit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235</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graphicFrame>
        <p:nvGraphicFramePr>
          <p:cNvPr id="10" name="Table 9"/>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Group profiles</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request form on the group-profile types. New group profile: code, name, description, privilege level and the permissions, grouped by functional area. Modify group profile: the profile, the permissions it should hold after the change (added and removed shown against the current ones) and a new name, description or level. Deactivate and reactivate: the profile, with the members who lose its screens. Approvers are listed in order.</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Requestor, Business Administrator, System Administrator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User Access › Group Profile Requests › New Request</a:t>
                      </a:r>
                    </a:p>
                    <a:p>
                      <a:r>
                        <a:rPr sz="950" b="0">
                          <a:solidFill>
                            <a:srgbClr val="4B4B4B"/>
                          </a:solidFill>
                          <a:latin typeface="Arial"/>
                        </a:rPr>
                        <a:t>Group Profile Requests › New Group Profile Request</a:t>
                      </a:r>
                    </a:p>
                    <a:p>
                      <a:r>
                        <a:rPr sz="950" b="0">
                          <a:solidFill>
                            <a:srgbClr val="4B4B4B"/>
                          </a:solidFill>
                          <a:latin typeface="Arial"/>
                        </a:rPr>
                        <a:t>Access Request record of a draft or returned group-profile request › Edit Request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FR-UA-040, FR-UA-041, FR-UA-042, FR-UA-043, FR-UA-044, FR-UA-051</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profile change is checked, decided by every approver in order and waits for the System Administrator to implement it.</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(5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2 images</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SCR-UA-12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236</a:t>
            </a:r>
          </a:p>
        </p:txBody>
      </p:sp>
      <p:graphicFrame>
        <p:nvGraphicFramePr>
          <p:cNvPr id="9" name="Table 8"/>
          <p:cNvGraphicFramePr>
            <a:graphicFrameLocks noGrp="1"/>
          </p:cNvGraphicFramePr>
          <p:nvPr/>
        </p:nvGraphicFramePr>
        <p:xfrm>
          <a:off x="548640" y="1325880"/>
          <a:ext cx="11094411" cy="480057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Request Type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New group profile, Modify group profile, Deactivate group profile, Reactivate group profile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The type of a saved request cannot change</a:t>
                      </a:r>
                    </a:p>
                  </a:txBody>
                  <a:tcPr marL="54864" marR="54864" marT="27432" marB="27432">
                    <a:solidFill>
                      <a:srgbClr val="FFFFFF"/>
                    </a:solidFill>
                  </a:tcPr>
                </a:tc>
                <a:tc>
                  <a:txBody>
                    <a:bodyPr/>
                    <a:lstStyle/>
                    <a:p>
                      <a:r>
                        <a:rPr sz="850" b="0">
                          <a:solidFill>
                            <a:srgbClr val="4B4B4B"/>
                          </a:solidFill>
                          <a:latin typeface="Arial"/>
                        </a:rPr>
                        <a:t>The type of request &lt;request no&gt; cannot change</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New group profile</a:t>
                      </a:r>
                    </a:p>
                  </a:txBody>
                  <a:tcPr marL="54864" marR="54864" marT="27432" marB="27432">
                    <a:solidFill>
                      <a:srgbClr val="E5F5FF"/>
                    </a:solidFill>
                  </a:tcPr>
                </a:tc>
                <a:tc>
                  <a:txBody>
                    <a:bodyPr/>
                    <a:lstStyle/>
                    <a:p>
                      <a:r>
                        <a:rPr sz="850" b="0">
                          <a:solidFill>
                            <a:srgbClr val="4B4B4B"/>
                          </a:solidFill>
                          <a:latin typeface="Arial"/>
                        </a:rPr>
                        <a:t>Profile Code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40 capital letters, digits or underscores (A-Z, 0-9 and _)</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Format; not the code of an existing profile</a:t>
                      </a:r>
                    </a:p>
                  </a:txBody>
                  <a:tcPr marL="54864" marR="54864" marT="27432" marB="27432">
                    <a:solidFill>
                      <a:srgbClr val="E5F5FF"/>
                    </a:solidFill>
                  </a:tcPr>
                </a:tc>
                <a:tc>
                  <a:txBody>
                    <a:bodyPr/>
                    <a:lstStyle/>
                    <a:p>
                      <a:r>
                        <a:rPr sz="850" b="0">
                          <a:solidFill>
                            <a:srgbClr val="4B4B4B"/>
                          </a:solidFill>
                          <a:latin typeface="Arial"/>
                        </a:rPr>
                        <a:t>Use up to 40 capital letters, digits or underscores</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New group profile</a:t>
                      </a:r>
                    </a:p>
                  </a:txBody>
                  <a:tcPr marL="54864" marR="54864" marT="27432" marB="27432">
                    <a:solidFill>
                      <a:srgbClr val="FFFFFF"/>
                    </a:solidFill>
                  </a:tcPr>
                </a:tc>
                <a:tc>
                  <a:txBody>
                    <a:bodyPr/>
                    <a:lstStyle/>
                    <a:p>
                      <a:r>
                        <a:rPr sz="850" b="0">
                          <a:solidFill>
                            <a:srgbClr val="4B4B4B"/>
                          </a:solidFill>
                          <a:latin typeface="Arial"/>
                        </a:rPr>
                        <a:t>Name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120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Enter the name of the group profile</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Profile data</a:t>
                      </a:r>
                    </a:p>
                  </a:txBody>
                  <a:tcPr marL="54864" marR="54864" marT="27432" marB="27432">
                    <a:solidFill>
                      <a:srgbClr val="E5F5FF"/>
                    </a:solidFill>
                  </a:tcPr>
                </a:tc>
                <a:tc>
                  <a:txBody>
                    <a:bodyPr/>
                    <a:lstStyle/>
                    <a:p>
                      <a:r>
                        <a:rPr sz="850" b="0">
                          <a:solidFill>
                            <a:srgbClr val="4B4B4B"/>
                          </a:solidFill>
                          <a:latin typeface="Arial"/>
                        </a:rPr>
                        <a:t>Description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500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Profile data</a:t>
                      </a:r>
                    </a:p>
                  </a:txBody>
                  <a:tcPr marL="54864" marR="54864" marT="27432" marB="27432">
                    <a:solidFill>
                      <a:srgbClr val="FFFFFF"/>
                    </a:solidFill>
                  </a:tcPr>
                </a:tc>
                <a:tc>
                  <a:txBody>
                    <a:bodyPr/>
                    <a:lstStyle/>
                    <a:p>
                      <a:r>
                        <a:rPr sz="850" b="0">
                          <a:solidFill>
                            <a:srgbClr val="4B4B4B"/>
                          </a:solidFill>
                          <a:latin typeface="Arial"/>
                        </a:rPr>
                        <a:t>Privilege Level</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Low, Standard, High, Admin; Standard (new) or Unchanged (modify) when blank</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High and Admin profiles need a second approval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Modify / Deactivate / Reactivate</a:t>
                      </a:r>
                    </a:p>
                  </a:txBody>
                  <a:tcPr marL="54864" marR="54864" marT="27432" marB="27432">
                    <a:solidFill>
                      <a:srgbClr val="E5F5FF"/>
                    </a:solidFill>
                  </a:tcPr>
                </a:tc>
                <a:tc>
                  <a:txBody>
                    <a:bodyPr/>
                    <a:lstStyle/>
                    <a:p>
                      <a:r>
                        <a:rPr sz="850" b="0">
                          <a:solidFill>
                            <a:srgbClr val="4B4B4B"/>
                          </a:solidFill>
                          <a:latin typeface="Arial"/>
                        </a:rPr>
                        <a:t>Group Profile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Profile name; active profiles (modify, deactivate, the System Administrator profile excluded) or inactive profiles (reactivate)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An existing profile in the right state</a:t>
                      </a:r>
                    </a:p>
                  </a:txBody>
                  <a:tcPr marL="54864" marR="54864" marT="27432" marB="27432">
                    <a:solidFill>
                      <a:srgbClr val="E5F5FF"/>
                    </a:solidFill>
                  </a:tcPr>
                </a:tc>
                <a:tc>
                  <a:txBody>
                    <a:bodyPr/>
                    <a:lstStyle/>
                    <a:p>
                      <a:r>
                        <a:rPr sz="850" b="0">
                          <a:solidFill>
                            <a:srgbClr val="4B4B4B"/>
                          </a:solidFill>
                          <a:latin typeface="Arial"/>
                        </a:rPr>
                        <a:t>Select the role to change</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Modify group profile</a:t>
                      </a:r>
                    </a:p>
                  </a:txBody>
                  <a:tcPr marL="54864" marR="54864" marT="27432" marB="27432">
                    <a:solidFill>
                      <a:srgbClr val="FFFFFF"/>
                    </a:solidFill>
                  </a:tcPr>
                </a:tc>
                <a:tc>
                  <a:txBody>
                    <a:bodyPr/>
                    <a:lstStyle/>
                    <a:p>
                      <a:r>
                        <a:rPr sz="850" b="0">
                          <a:solidFill>
                            <a:srgbClr val="4B4B4B"/>
                          </a:solidFill>
                          <a:latin typeface="Arial"/>
                        </a:rPr>
                        <a:t>New Name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120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151636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Permissions</a:t>
                      </a:r>
                    </a:p>
                  </a:txBody>
                  <a:tcPr marL="54864" marR="54864" marT="27432" marB="27432">
                    <a:solidFill>
                      <a:srgbClr val="E5F5FF"/>
                    </a:solidFill>
                  </a:tcPr>
                </a:tc>
                <a:tc>
                  <a:txBody>
                    <a:bodyPr/>
                    <a:lstStyle/>
                    <a:p>
                      <a:r>
                        <a:rPr sz="850" b="0">
                          <a:solidFill>
                            <a:srgbClr val="4B4B4B"/>
                          </a:solidFill>
                          <a:latin typeface="Arial"/>
                        </a:rPr>
                        <a:t>Permission check boxes by area</a:t>
                      </a:r>
                    </a:p>
                  </a:txBody>
                  <a:tcPr marL="54864" marR="54864" marT="27432" marB="27432">
                    <a:solidFill>
                      <a:srgbClr val="E5F5FF"/>
                    </a:solidFill>
                  </a:tcPr>
                </a:tc>
                <a:tc>
                  <a:txBody>
                    <a:bodyPr/>
                    <a:lstStyle/>
                    <a:p>
                      <a:r>
                        <a:rPr sz="850" b="0">
                          <a:solidFill>
                            <a:srgbClr val="4B4B4B"/>
                          </a:solidFill>
                          <a:latin typeface="Arial"/>
                        </a:rPr>
                        <a:t>Check boxes</a:t>
                      </a:r>
                    </a:p>
                  </a:txBody>
                  <a:tcPr marL="54864" marR="54864" marT="27432" marB="27432">
                    <a:solidFill>
                      <a:srgbClr val="E5F5FF"/>
                    </a:solidFill>
                  </a:tcPr>
                </a:tc>
                <a:tc>
                  <a:txBody>
                    <a:bodyPr/>
                    <a:lstStyle/>
                    <a:p>
                      <a:r>
                        <a:rPr sz="850" b="0">
                          <a:solidFill>
                            <a:srgbClr val="4B4B4B"/>
                          </a:solidFill>
                          <a:latin typeface="Arial"/>
                        </a:rPr>
                        <a:t>Permission names with the code below in small print, grouped by functional area (User Access, Administration, Clients, Product Maintenance...), unclassified permissions last</a:t>
                      </a:r>
                    </a:p>
                  </a:txBody>
                  <a:tcPr marL="54864" marR="54864" marT="27432" marB="27432">
                    <a:solidFill>
                      <a:srgbClr val="E5F5FF"/>
                    </a:solidFill>
                  </a:tcPr>
                </a:tc>
                <a:tc>
                  <a:txBody>
                    <a:bodyPr/>
                    <a:lstStyle/>
                    <a:p>
                      <a:r>
                        <a:rPr sz="850" b="0">
                          <a:solidFill>
                            <a:srgbClr val="4B4B4B"/>
                          </a:solidFill>
                          <a:latin typeface="Arial"/>
                        </a:rPr>
                        <a:t>Cond.: new profile (at least one); a change must add or remove one, or change the data</a:t>
                      </a:r>
                    </a:p>
                  </a:txBody>
                  <a:tcPr marL="54864" marR="54864" marT="27432" marB="27432">
                    <a:solidFill>
                      <a:srgbClr val="E5F5FF"/>
                    </a:solidFill>
                  </a:tcPr>
                </a:tc>
                <a:tc>
                  <a:txBody>
                    <a:bodyPr/>
                    <a:lstStyle/>
                    <a:p>
                      <a:r>
                        <a:rPr sz="850" b="0">
                          <a:solidFill>
                            <a:srgbClr val="4B4B4B"/>
                          </a:solidFill>
                          <a:latin typeface="Arial"/>
                        </a:rPr>
                        <a:t>Known permissions; not both added and removed</a:t>
                      </a:r>
                    </a:p>
                  </a:txBody>
                  <a:tcPr marL="54864" marR="54864" marT="27432" marB="27432">
                    <a:solidFill>
                      <a:srgbClr val="E5F5FF"/>
                    </a:solidFill>
                  </a:tcPr>
                </a:tc>
                <a:tc>
                  <a:txBody>
                    <a:bodyPr/>
                    <a:lstStyle/>
                    <a:p>
                      <a:r>
                        <a:rPr sz="850" b="0">
                          <a:solidFill>
                            <a:srgbClr val="4B4B4B"/>
                          </a:solidFill>
                          <a:latin typeface="Arial"/>
                        </a:rPr>
                        <a:t>Select at least one permission</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Permissions</a:t>
                      </a:r>
                    </a:p>
                  </a:txBody>
                  <a:tcPr marL="54864" marR="54864" marT="27432" marB="27432">
                    <a:solidFill>
                      <a:srgbClr val="FFFFFF"/>
                    </a:solidFill>
                  </a:tcPr>
                </a:tc>
                <a:tc>
                  <a:txBody>
                    <a:bodyPr/>
                    <a:lstStyle/>
                    <a:p>
                      <a:r>
                        <a:rPr sz="850" b="0">
                          <a:solidFill>
                            <a:srgbClr val="4B4B4B"/>
                          </a:solidFill>
                          <a:latin typeface="Arial"/>
                        </a:rPr>
                        <a:t>Added / Removed</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Names of the permissions added and removed against the current ones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 change must grant or withdraw at least one permission, or change the name, description or level</a:t>
                      </a:r>
                    </a:p>
                  </a:txBody>
                  <a:tcPr marL="54864" marR="54864" marT="27432" marB="27432">
                    <a:solidFill>
                      <a:srgbClr val="FFFFFF"/>
                    </a:solidFill>
                  </a:tcPr>
                </a:tc>
                <a:tc>
                  <a:txBody>
                    <a:bodyPr/>
                    <a:lstStyle/>
                    <a:p>
                      <a:r>
                        <a:rPr sz="850" b="0">
                          <a:solidFill>
                            <a:srgbClr val="4B4B4B"/>
                          </a:solidFill>
                          <a:latin typeface="Arial"/>
                        </a:rPr>
                        <a:t>Grant or withdraw at least one permission</a:t>
                      </a:r>
                    </a:p>
                  </a:txBody>
                  <a:tcPr marL="54864" marR="54864" marT="27432" marB="27432">
                    <a:solidFill>
                      <a:srgbClr val="FFFFFF"/>
                    </a:solidFill>
                  </a:tcPr>
                </a:tc>
              </a:tr>
            </a:tbl>
          </a:graphicData>
        </a:graphic>
      </p:graphicFrame>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SCR-UA-12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237</a:t>
            </a:r>
          </a:p>
        </p:txBody>
      </p:sp>
      <p:graphicFrame>
        <p:nvGraphicFramePr>
          <p:cNvPr id="9" name="Table 8"/>
          <p:cNvGraphicFramePr>
            <a:graphicFrameLocks noGrp="1"/>
          </p:cNvGraphicFramePr>
          <p:nvPr/>
        </p:nvGraphicFramePr>
        <p:xfrm>
          <a:off x="548640" y="1325880"/>
          <a:ext cx="11094411" cy="153161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10</a:t>
                      </a:r>
                    </a:p>
                  </a:txBody>
                  <a:tcPr marL="54864" marR="54864" marT="27432" marB="27432">
                    <a:solidFill>
                      <a:srgbClr val="FFFFFF"/>
                    </a:solidFill>
                  </a:tcPr>
                </a:tc>
                <a:tc>
                  <a:txBody>
                    <a:bodyPr/>
                    <a:lstStyle/>
                    <a:p>
                      <a:r>
                        <a:rPr sz="850" b="0">
                          <a:solidFill>
                            <a:srgbClr val="4B4B4B"/>
                          </a:solidFill>
                          <a:latin typeface="Arial"/>
                        </a:rPr>
                        <a:t>Deactivate group profile</a:t>
                      </a:r>
                    </a:p>
                  </a:txBody>
                  <a:tcPr marL="54864" marR="54864" marT="27432" marB="27432">
                    <a:solidFill>
                      <a:srgbClr val="FFFFFF"/>
                    </a:solidFill>
                  </a:tcPr>
                </a:tc>
                <a:tc>
                  <a:txBody>
                    <a:bodyPr/>
                    <a:lstStyle/>
                    <a:p>
                      <a:r>
                        <a:rPr sz="850" b="0">
                          <a:solidFill>
                            <a:srgbClr val="4B4B4B"/>
                          </a:solidFill>
                          <a:latin typeface="Arial"/>
                        </a:rPr>
                        <a:t>Members</a:t>
                      </a:r>
                    </a:p>
                  </a:txBody>
                  <a:tcPr marL="54864" marR="54864" marT="27432" marB="27432">
                    <a:solidFill>
                      <a:srgbClr val="FFFFFF"/>
                    </a:solidFill>
                  </a:tcPr>
                </a:tc>
                <a:tc>
                  <a:txBody>
                    <a:bodyPr/>
                    <a:lstStyle/>
                    <a:p>
                      <a:r>
                        <a:rPr sz="850" b="0">
                          <a:solidFill>
                            <a:srgbClr val="4B4B4B"/>
                          </a:solidFill>
                          <a:latin typeface="Arial"/>
                        </a:rPr>
                        <a:t>Warning</a:t>
                      </a:r>
                    </a:p>
                  </a:txBody>
                  <a:tcPr marL="54864" marR="54864" marT="27432" marB="27432">
                    <a:solidFill>
                      <a:srgbClr val="FFFFFF"/>
                    </a:solidFill>
                  </a:tcPr>
                </a:tc>
                <a:tc>
                  <a:txBody>
                    <a:bodyPr/>
                    <a:lstStyle/>
                    <a:p>
                      <a:r>
                        <a:rPr sz="850" b="0">
                          <a:solidFill>
                            <a:srgbClr val="4B4B4B"/>
                          </a:solidFill>
                          <a:latin typeface="Arial"/>
                        </a:rPr>
                        <a:t>Members who lose the profile's screens, and are told when it is implemented: user IDs, or The profile has no members.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11</a:t>
                      </a:r>
                    </a:p>
                  </a:txBody>
                  <a:tcPr marL="54864" marR="54864" marT="27432" marB="27432">
                    <a:solidFill>
                      <a:srgbClr val="E5F5FF"/>
                    </a:solidFill>
                  </a:tcPr>
                </a:tc>
                <a:tc>
                  <a:txBody>
                    <a:bodyPr/>
                    <a:lstStyle/>
                    <a:p>
                      <a:r>
                        <a:rPr sz="850" b="0">
                          <a:solidFill>
                            <a:srgbClr val="4B4B4B"/>
                          </a:solidFill>
                          <a:latin typeface="Arial"/>
                        </a:rPr>
                        <a:t>Approval</a:t>
                      </a:r>
                    </a:p>
                  </a:txBody>
                  <a:tcPr marL="54864" marR="54864" marT="27432" marB="27432">
                    <a:solidFill>
                      <a:srgbClr val="E5F5FF"/>
                    </a:solidFill>
                  </a:tcPr>
                </a:tc>
                <a:tc>
                  <a:txBody>
                    <a:bodyPr/>
                    <a:lstStyle/>
                    <a:p>
                      <a:r>
                        <a:rPr sz="850" b="0">
                          <a:solidFill>
                            <a:srgbClr val="4B4B4B"/>
                          </a:solidFill>
                          <a:latin typeface="Arial"/>
                        </a:rPr>
                        <a:t>Approvers in Order</a:t>
                      </a:r>
                    </a:p>
                  </a:txBody>
                  <a:tcPr marL="54864" marR="54864" marT="27432" marB="27432">
                    <a:solidFill>
                      <a:srgbClr val="E5F5FF"/>
                    </a:solidFill>
                  </a:tcPr>
                </a:tc>
                <a:tc>
                  <a:txBody>
                    <a:bodyPr/>
                    <a:lstStyle/>
                    <a:p>
                      <a:r>
                        <a:rPr sz="850" b="0">
                          <a:solidFill>
                            <a:srgbClr val="4B4B4B"/>
                          </a:solidFill>
                          <a:latin typeface="Arial"/>
                        </a:rPr>
                        <a:t>List and drop-down</a:t>
                      </a:r>
                    </a:p>
                  </a:txBody>
                  <a:tcPr marL="54864" marR="54864" marT="27432" marB="27432">
                    <a:solidFill>
                      <a:srgbClr val="E5F5FF"/>
                    </a:solidFill>
                  </a:tcPr>
                </a:tc>
                <a:tc>
                  <a:txBody>
                    <a:bodyPr/>
                    <a:lstStyle/>
                    <a:p>
                      <a:r>
                        <a:rPr sz="850" b="0">
                          <a:solidFill>
                            <a:srgbClr val="4B4B4B"/>
                          </a:solidFill>
                          <a:latin typeface="Arial"/>
                        </a:rPr>
                        <a:t>Name (user ID); arrows move an approver up; each approver decides in turn</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least one; eligible; no approver twice</a:t>
                      </a:r>
                    </a:p>
                  </a:txBody>
                  <a:tcPr marL="54864" marR="54864" marT="27432" marB="27432">
                    <a:solidFill>
                      <a:srgbClr val="E5F5FF"/>
                    </a:solidFill>
                  </a:tcPr>
                </a:tc>
                <a:tc>
                  <a:txBody>
                    <a:bodyPr/>
                    <a:lstStyle/>
                    <a:p>
                      <a:r>
                        <a:rPr sz="850" b="0">
                          <a:solidFill>
                            <a:srgbClr val="4B4B4B"/>
                          </a:solidFill>
                          <a:latin typeface="Arial"/>
                        </a:rPr>
                        <a:t>Add at least one approver</a:t>
                      </a:r>
                    </a:p>
                  </a:txBody>
                  <a:tcPr marL="54864" marR="54864" marT="27432" marB="27432">
                    <a:solidFill>
                      <a:srgbClr val="E5F5FF"/>
                    </a:solidFill>
                  </a:tcPr>
                </a:tc>
              </a:tr>
              <a:tr h="220979">
                <a:tc>
                  <a:txBody>
                    <a:bodyPr/>
                    <a:lstStyle/>
                    <a:p>
                      <a:r>
                        <a:rPr sz="850" b="0">
                          <a:solidFill>
                            <a:srgbClr val="4B4B4B"/>
                          </a:solidFill>
                          <a:latin typeface="Arial"/>
                        </a:rPr>
                        <a:t>12</a:t>
                      </a:r>
                    </a:p>
                  </a:txBody>
                  <a:tcPr marL="54864" marR="54864" marT="27432" marB="27432">
                    <a:solidFill>
                      <a:srgbClr val="FFFFFF"/>
                    </a:solidFill>
                  </a:tcPr>
                </a:tc>
                <a:tc>
                  <a:txBody>
                    <a:bodyPr/>
                    <a:lstStyle/>
                    <a:p>
                      <a:r>
                        <a:rPr sz="850" b="0">
                          <a:solidFill>
                            <a:srgbClr val="4B4B4B"/>
                          </a:solidFill>
                          <a:latin typeface="Arial"/>
                        </a:rPr>
                        <a:t>Approval</a:t>
                      </a:r>
                    </a:p>
                  </a:txBody>
                  <a:tcPr marL="54864" marR="54864" marT="27432" marB="27432">
                    <a:solidFill>
                      <a:srgbClr val="FFFFFF"/>
                    </a:solidFill>
                  </a:tcPr>
                </a:tc>
                <a:tc>
                  <a:txBody>
                    <a:bodyPr/>
                    <a:lstStyle/>
                    <a:p>
                      <a:r>
                        <a:rPr sz="850" b="0">
                          <a:solidFill>
                            <a:srgbClr val="4B4B4B"/>
                          </a:solidFill>
                          <a:latin typeface="Arial"/>
                        </a:rPr>
                        <a:t>Remarks (Justification)</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Up to 1,000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 on submission</a:t>
                      </a:r>
                    </a:p>
                  </a:txBody>
                  <a:tcPr marL="54864" marR="54864" marT="27432" marB="27432">
                    <a:solidFill>
                      <a:srgbClr val="FFFFFF"/>
                    </a:solidFill>
                  </a:tcPr>
                </a:tc>
                <a:tc>
                  <a:txBody>
                    <a:bodyPr/>
                    <a:lstStyle/>
                    <a:p>
                      <a:r>
                        <a:rPr sz="850" b="0">
                          <a:solidFill>
                            <a:srgbClr val="4B4B4B"/>
                          </a:solidFill>
                          <a:latin typeface="Arial"/>
                        </a:rPr>
                        <a:t>Enter the justification</a:t>
                      </a:r>
                    </a:p>
                  </a:txBody>
                  <a:tcPr marL="54864" marR="54864" marT="27432" marB="27432">
                    <a:solidFill>
                      <a:srgbClr val="FFFFFF"/>
                    </a:solidFill>
                  </a:tcPr>
                </a:tc>
              </a:tr>
            </a:tbl>
          </a:graphicData>
        </a:graphic>
      </p:graphicFrame>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238</a:t>
            </a:r>
          </a:p>
        </p:txBody>
      </p:sp>
      <p:graphicFrame>
        <p:nvGraphicFramePr>
          <p:cNvPr id="9" name="Table 8"/>
          <p:cNvGraphicFramePr>
            <a:graphicFrameLocks noGrp="1"/>
          </p:cNvGraphicFramePr>
          <p:nvPr/>
        </p:nvGraphicFramePr>
        <p:xfrm>
          <a:off x="548640" y="1325880"/>
          <a:ext cx="11094412" cy="175259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Save Draft</a:t>
                      </a:r>
                    </a:p>
                  </a:txBody>
                  <a:tcPr marL="54864" marR="54864" marT="27432" marB="27432">
                    <a:solidFill>
                      <a:srgbClr val="FFFFFF"/>
                    </a:solidFill>
                  </a:tcPr>
                </a:tc>
                <a:tc>
                  <a:txBody>
                    <a:bodyPr/>
                    <a:lstStyle/>
                    <a:p>
                      <a:r>
                        <a:rPr sz="850" b="0">
                          <a:solidFill>
                            <a:srgbClr val="4B4B4B"/>
                          </a:solidFill>
                          <a:latin typeface="Arial"/>
                        </a:rPr>
                        <a:t>Business Administrator, System Administrator (group-profile request right)</a:t>
                      </a:r>
                    </a:p>
                  </a:txBody>
                  <a:tcPr marL="54864" marR="54864" marT="27432" marB="27432">
                    <a:solidFill>
                      <a:srgbClr val="FFFFFF"/>
                    </a:solidFill>
                  </a:tcPr>
                </a:tc>
                <a:tc>
                  <a:txBody>
                    <a:bodyPr/>
                    <a:lstStyle/>
                    <a:p>
                      <a:r>
                        <a:rPr sz="850" b="0">
                          <a:solidFill>
                            <a:srgbClr val="4B4B4B"/>
                          </a:solidFill>
                          <a:latin typeface="Arial"/>
                        </a:rPr>
                        <a:t>Profile code or profile chosen</a:t>
                      </a:r>
                    </a:p>
                  </a:txBody>
                  <a:tcPr marL="54864" marR="54864" marT="27432" marB="27432">
                    <a:solidFill>
                      <a:srgbClr val="FFFFFF"/>
                    </a:solidFill>
                  </a:tcPr>
                </a:tc>
                <a:tc>
                  <a:txBody>
                    <a:bodyPr/>
                    <a:lstStyle/>
                    <a:p>
                      <a:r>
                        <a:rPr sz="850" b="0">
                          <a:solidFill>
                            <a:srgbClr val="4B4B4B"/>
                          </a:solidFill>
                          <a:latin typeface="Arial"/>
                        </a:rPr>
                        <a:t>Saves the draft with format checks only</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Submit</a:t>
                      </a:r>
                    </a:p>
                  </a:txBody>
                  <a:tcPr marL="54864" marR="54864" marT="27432" marB="27432">
                    <a:solidFill>
                      <a:srgbClr val="E5F5FF"/>
                    </a:solidFill>
                  </a:tcPr>
                </a:tc>
                <a:tc>
                  <a:txBody>
                    <a:bodyPr/>
                    <a:lstStyle/>
                    <a:p>
                      <a:r>
                        <a:rPr sz="850" b="0">
                          <a:solidFill>
                            <a:srgbClr val="4B4B4B"/>
                          </a:solidFill>
                          <a:latin typeface="Arial"/>
                        </a:rPr>
                        <a:t>As Save Draft</a:t>
                      </a:r>
                    </a:p>
                  </a:txBody>
                  <a:tcPr marL="54864" marR="54864" marT="27432" marB="27432">
                    <a:solidFill>
                      <a:srgbClr val="E5F5FF"/>
                    </a:solidFill>
                  </a:tcPr>
                </a:tc>
                <a:tc>
                  <a:txBody>
                    <a:bodyPr/>
                    <a:lstStyle/>
                    <a:p>
                      <a:r>
                        <a:rPr sz="850" b="0">
                          <a:solidFill>
                            <a:srgbClr val="4B4B4B"/>
                          </a:solidFill>
                          <a:latin typeface="Arial"/>
                        </a:rPr>
                        <a:t>Every field check passes</a:t>
                      </a:r>
                    </a:p>
                  </a:txBody>
                  <a:tcPr marL="54864" marR="54864" marT="27432" marB="27432">
                    <a:solidFill>
                      <a:srgbClr val="E5F5FF"/>
                    </a:solidFill>
                  </a:tcPr>
                </a:tc>
                <a:tc>
                  <a:txBody>
                    <a:bodyPr/>
                    <a:lstStyle/>
                    <a:p>
                      <a:r>
                        <a:rPr sz="850" b="0">
                          <a:solidFill>
                            <a:srgbClr val="4B4B4B"/>
                          </a:solidFill>
                          <a:latin typeface="Arial"/>
                        </a:rPr>
                        <a:t>Runs the full checks, evaluates the risk rules and sends the request to the first approver in order</a:t>
                      </a:r>
                    </a:p>
                  </a:txBody>
                  <a:tcPr marL="54864" marR="54864" marT="27432" marB="27432">
                    <a:solidFill>
                      <a:srgbClr val="E5F5FF"/>
                    </a:solidFill>
                  </a:tcPr>
                </a:tc>
                <a:tc>
                  <a:txBody>
                    <a:bodyPr/>
                    <a:lstStyle/>
                    <a:p>
                      <a:r>
                        <a:rPr sz="850" b="0">
                          <a:solidFill>
                            <a:srgbClr val="4B4B4B"/>
                          </a:solidFill>
                          <a:latin typeface="Arial"/>
                        </a:rPr>
                        <a:t>Pending Approval</a:t>
                      </a:r>
                    </a:p>
                  </a:txBody>
                  <a:tcPr marL="54864" marR="54864" marT="27432" marB="27432">
                    <a:solidFill>
                      <a:srgbClr val="E5F5FF"/>
                    </a:solidFill>
                  </a:tcPr>
                </a:tc>
                <a:tc>
                  <a:txBody>
                    <a:bodyPr/>
                    <a:lstStyle/>
                    <a:p>
                      <a:r>
                        <a:rPr sz="850" b="0">
                          <a:solidFill>
                            <a:srgbClr val="4B4B4B"/>
                          </a:solidFill>
                          <a:latin typeface="Arial"/>
                        </a:rPr>
                        <a:t>Access request AR-yyyy-nnnnnn to approve, to the first approver</a:t>
                      </a:r>
                    </a:p>
                  </a:txBody>
                  <a:tcPr marL="54864" marR="54864" marT="27432" marB="27432">
                    <a:solidFill>
                      <a:srgbClr val="E5F5FF"/>
                    </a:solidFill>
                  </a:tcPr>
                </a:tc>
              </a:tr>
              <a:tr h="350518">
                <a:tc>
                  <a:txBody>
                    <a:bodyPr/>
                    <a:lstStyle/>
                    <a:p>
                      <a:r>
                        <a:rPr sz="850" b="0">
                          <a:solidFill>
                            <a:srgbClr val="4B4B4B"/>
                          </a:solidFill>
                          <a:latin typeface="Arial"/>
                        </a:rPr>
                        <a:t>Resubmit</a:t>
                      </a:r>
                    </a:p>
                  </a:txBody>
                  <a:tcPr marL="54864" marR="54864" marT="27432" marB="27432">
                    <a:solidFill>
                      <a:srgbClr val="FFFFFF"/>
                    </a:solidFill>
                  </a:tcPr>
                </a:tc>
                <a:tc>
                  <a:txBody>
                    <a:bodyPr/>
                    <a:lstStyle/>
                    <a:p>
                      <a:r>
                        <a:rPr sz="850" b="0">
                          <a:solidFill>
                            <a:srgbClr val="4B4B4B"/>
                          </a:solidFill>
                          <a:latin typeface="Arial"/>
                        </a:rPr>
                        <a:t>The requester</a:t>
                      </a:r>
                    </a:p>
                  </a:txBody>
                  <a:tcPr marL="54864" marR="54864" marT="27432" marB="27432">
                    <a:solidFill>
                      <a:srgbClr val="FFFFFF"/>
                    </a:solidFill>
                  </a:tcPr>
                </a:tc>
                <a:tc>
                  <a:txBody>
                    <a:bodyPr/>
                    <a:lstStyle/>
                    <a:p>
                      <a:r>
                        <a:rPr sz="850" b="0">
                          <a:solidFill>
                            <a:srgbClr val="4B4B4B"/>
                          </a:solidFill>
                          <a:latin typeface="Arial"/>
                        </a:rPr>
                        <a:t>Returned request with correction remarks</a:t>
                      </a:r>
                    </a:p>
                  </a:txBody>
                  <a:tcPr marL="54864" marR="54864" marT="27432" marB="27432">
                    <a:solidFill>
                      <a:srgbClr val="FFFFFF"/>
                    </a:solidFill>
                  </a:tcPr>
                </a:tc>
                <a:tc>
                  <a:txBody>
                    <a:bodyPr/>
                    <a:lstStyle/>
                    <a:p>
                      <a:r>
                        <a:rPr sz="850" b="0">
                          <a:solidFill>
                            <a:srgbClr val="4B4B4B"/>
                          </a:solidFill>
                          <a:latin typeface="Arial"/>
                        </a:rPr>
                        <a:t>Resubmits the corrected request to the approvers</a:t>
                      </a:r>
                    </a:p>
                  </a:txBody>
                  <a:tcPr marL="54864" marR="54864" marT="27432" marB="27432">
                    <a:solidFill>
                      <a:srgbClr val="FFFFFF"/>
                    </a:solidFill>
                  </a:tcPr>
                </a:tc>
                <a:tc>
                  <a:txBody>
                    <a:bodyPr/>
                    <a:lstStyle/>
                    <a:p>
                      <a:r>
                        <a:rPr sz="850" b="0">
                          <a:solidFill>
                            <a:srgbClr val="4B4B4B"/>
                          </a:solidFill>
                          <a:latin typeface="Arial"/>
                        </a:rPr>
                        <a:t>Pending Approval</a:t>
                      </a:r>
                    </a:p>
                  </a:txBody>
                  <a:tcPr marL="54864" marR="54864" marT="27432" marB="27432">
                    <a:solidFill>
                      <a:srgbClr val="FFFFFF"/>
                    </a:solidFill>
                  </a:tcPr>
                </a:tc>
                <a:tc>
                  <a:txBody>
                    <a:bodyPr/>
                    <a:lstStyle/>
                    <a:p>
                      <a:r>
                        <a:rPr sz="850" b="0">
                          <a:solidFill>
                            <a:srgbClr val="4B4B4B"/>
                          </a:solidFill>
                          <a:latin typeface="Arial"/>
                        </a:rPr>
                        <a:t>As Submit</a:t>
                      </a:r>
                    </a:p>
                  </a:txBody>
                  <a:tcPr marL="54864" marR="54864" marT="27432" marB="27432">
                    <a:solidFill>
                      <a:srgbClr val="FFFFFF"/>
                    </a:solidFill>
                  </a:tcPr>
                </a:tc>
              </a:tr>
              <a:tr h="220979">
                <a:tc>
                  <a:txBody>
                    <a:bodyPr/>
                    <a:lstStyle/>
                    <a:p>
                      <a:r>
                        <a:rPr sz="850" b="0">
                          <a:solidFill>
                            <a:srgbClr val="4B4B4B"/>
                          </a:solidFill>
                          <a:latin typeface="Arial"/>
                        </a:rPr>
                        <a:t>Cancel</a:t>
                      </a:r>
                    </a:p>
                  </a:txBody>
                  <a:tcPr marL="54864" marR="54864" marT="27432" marB="27432">
                    <a:solidFill>
                      <a:srgbClr val="E5F5FF"/>
                    </a:solidFill>
                  </a:tcPr>
                </a:tc>
                <a:tc>
                  <a:txBody>
                    <a:bodyPr/>
                    <a:lstStyle/>
                    <a:p>
                      <a:r>
                        <a:rPr sz="850" b="0">
                          <a:solidFill>
                            <a:srgbClr val="4B4B4B"/>
                          </a:solidFill>
                          <a:latin typeface="Arial"/>
                        </a:rPr>
                        <a:t>The requester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Leaves the form without saving</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239</a:t>
            </a:r>
          </a:p>
        </p:txBody>
      </p:sp>
      <p:graphicFrame>
        <p:nvGraphicFramePr>
          <p:cNvPr id="9" name="Table 8"/>
          <p:cNvGraphicFramePr>
            <a:graphicFrameLocks noGrp="1"/>
          </p:cNvGraphicFramePr>
          <p:nvPr/>
        </p:nvGraphicFramePr>
        <p:xfrm>
          <a:off x="548640" y="1325880"/>
          <a:ext cx="11094415" cy="2011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A group-profile request has no effective date; it applies when the System Administrator implements it: An effective date applies to user requests; group profiles are implemented (FR-UA-040).</a:t>
                      </a:r>
                    </a:p>
                  </a:txBody>
                  <a:tcPr marL="54864" marR="54864" marT="27432" marB="27432">
                    <a:solidFill>
                      <a:srgbClr val="FFFFFF"/>
                    </a:solidFill>
                  </a:tcPr>
                </a:tc>
              </a:tr>
              <a:tr h="243840">
                <a:tc>
                  <a:txBody>
                    <a:bodyPr/>
                    <a:lstStyle/>
                    <a:p>
                      <a:r>
                        <a:rPr sz="1000" b="0">
                          <a:solidFill>
                            <a:srgbClr val="4B4B4B"/>
                          </a:solidFill>
                          <a:latin typeface="Arial"/>
                        </a:rPr>
                        <a:t>The System Administrator profile cannot be deactivated: Group profile System Administrator cannot be deactivated (FR-UA-042).</a:t>
                      </a:r>
                    </a:p>
                  </a:txBody>
                  <a:tcPr marL="54864" marR="54864" marT="27432" marB="27432">
                    <a:solidFill>
                      <a:srgbClr val="E5F5FF"/>
                    </a:solidFill>
                  </a:tcPr>
                </a:tc>
              </a:tr>
              <a:tr h="396240">
                <a:tc>
                  <a:txBody>
                    <a:bodyPr/>
                    <a:lstStyle/>
                    <a:p>
                      <a:r>
                        <a:rPr sz="1000" b="0">
                          <a:solidFill>
                            <a:srgbClr val="4B4B4B"/>
                          </a:solidFill>
                          <a:latin typeface="Arial"/>
                        </a:rPr>
                        <a:t>A deactivated profile grants nothing at once to its members and is no longer offered on requests; the members are listed on the request, a deactivation with members is allowed, and each member is told when the request is implemented, in the app and by e-mail (FR-UA-042, FR-UA-043).</a:t>
                      </a:r>
                    </a:p>
                  </a:txBody>
                  <a:tcPr marL="54864" marR="54864" marT="27432" marB="27432">
                    <a:solidFill>
                      <a:srgbClr val="FFFFFF"/>
                    </a:solidFill>
                  </a:tcPr>
                </a:tc>
              </a:tr>
              <a:tr h="243840">
                <a:tc>
                  <a:txBody>
                    <a:bodyPr/>
                    <a:lstStyle/>
                    <a:p>
                      <a:r>
                        <a:rPr sz="1000" b="0">
                          <a:solidFill>
                            <a:srgbClr val="4B4B4B"/>
                          </a:solidFill>
                          <a:latin typeface="Arial"/>
                        </a:rPr>
                        <a:t>The insurer-only permissions and the insurer roles hidden from BDOI are neither listed nor accepted: Permission(s) not available in BIBS: &lt;permissions&gt; (FR-UA-051).</a:t>
                      </a:r>
                    </a:p>
                  </a:txBody>
                  <a:tcPr marL="54864" marR="54864" marT="27432" marB="27432">
                    <a:solidFill>
                      <a:srgbClr val="E5F5FF"/>
                    </a:solidFill>
                  </a:tcPr>
                </a:tc>
              </a:tr>
              <a:tr h="243840">
                <a:tc>
                  <a:txBody>
                    <a:bodyPr/>
                    <a:lstStyle/>
                    <a:p>
                      <a:r>
                        <a:rPr sz="1000" b="0">
                          <a:solidFill>
                            <a:srgbClr val="4B4B4B"/>
                          </a:solidFill>
                          <a:latin typeface="Arial"/>
                        </a:rPr>
                        <a:t>Creating or raising a profile to High or Admin, and reactivating a High or Admin profile, need a second approval (FR-UA-034).</a:t>
                      </a:r>
                    </a:p>
                  </a:txBody>
                  <a:tcPr marL="54864" marR="54864" marT="27432" marB="27432">
                    <a:solidFill>
                      <a:srgbClr val="FFFFFF"/>
                    </a:solidFill>
                  </a:tcPr>
                </a:tc>
              </a:tr>
              <a:tr h="243840">
                <a:tc>
                  <a:txBody>
                    <a:bodyPr/>
                    <a:lstStyle/>
                    <a:p>
                      <a:r>
                        <a:rPr sz="1000" b="0">
                          <a:solidFill>
                            <a:srgbClr val="4B4B4B"/>
                          </a:solidFill>
                          <a:latin typeface="Arial"/>
                        </a:rPr>
                        <a:t>A change that lists too many permissions for one request is refused: Split the change into several requests (FR-UA-041).</a:t>
                      </a:r>
                    </a:p>
                  </a:txBody>
                  <a:tcPr marL="54864" marR="54864" marT="27432" marB="27432">
                    <a:solidFill>
                      <a:srgbClr val="E5F5FF"/>
                    </a:solidFill>
                  </a:tcPr>
                </a:tc>
              </a:tr>
            </a:tbl>
          </a:graphicData>
        </a:graphic>
      </p:graphicFrame>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SCR-UA-12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240</a:t>
            </a:r>
          </a:p>
        </p:txBody>
      </p:sp>
      <p:graphicFrame>
        <p:nvGraphicFramePr>
          <p:cNvPr id="9" name="Table 8"/>
          <p:cNvGraphicFramePr>
            <a:graphicFrameLocks noGrp="1"/>
          </p:cNvGraphicFramePr>
          <p:nvPr/>
        </p:nvGraphicFramePr>
        <p:xfrm>
          <a:off x="548640" y="1325880"/>
          <a:ext cx="11094413" cy="109728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WT-D step 5</a:t>
                      </a:r>
                    </a:p>
                  </a:txBody>
                  <a:tcPr marL="54864" marR="54864" marT="27432" marB="27432">
                    <a:solidFill>
                      <a:srgbClr val="FFFFFF"/>
                    </a:solidFill>
                  </a:tcPr>
                </a:tc>
                <a:tc>
                  <a:txBody>
                    <a:bodyPr/>
                    <a:lstStyle/>
                    <a:p>
                      <a:r>
                        <a:rPr sz="900" b="0">
                          <a:solidFill>
                            <a:srgbClr val="4B4B4B"/>
                          </a:solidFill>
                          <a:latin typeface="Arial"/>
                        </a:rPr>
                        <a:t>Opens New Group Profile Request of type New group profile and looks for the underwriting, insurer claims, reinsurance and reserve permissions</a:t>
                      </a:r>
                    </a:p>
                  </a:txBody>
                  <a:tcPr marL="54864" marR="54864" marT="27432" marB="27432">
                    <a:solidFill>
                      <a:srgbClr val="FFFFFF"/>
                    </a:solidFill>
                  </a:tcPr>
                </a:tc>
                <a:tc>
                  <a:txBody>
                    <a:bodyPr/>
                    <a:lstStyle/>
                    <a:p>
                      <a:r>
                        <a:rPr sz="900" b="0">
                          <a:solidFill>
                            <a:srgbClr val="4B4B4B"/>
                          </a:solidFill>
                          <a:latin typeface="Arial"/>
                        </a:rPr>
                        <a:t>SCR-UA-12_wt-d-step-05.png</a:t>
                      </a:r>
                    </a:p>
                  </a:txBody>
                  <a:tcPr marL="54864" marR="54864" marT="27432" marB="27432">
                    <a:solidFill>
                      <a:srgbClr val="FFFFFF"/>
                    </a:solidFill>
                  </a:tcPr>
                </a:tc>
              </a:tr>
              <a:tr h="50292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WT-B step 4</a:t>
                      </a:r>
                    </a:p>
                  </a:txBody>
                  <a:tcPr marL="54864" marR="54864" marT="27432" marB="27432">
                    <a:solidFill>
                      <a:srgbClr val="E5F5FF"/>
                    </a:solidFill>
                  </a:tcPr>
                </a:tc>
                <a:tc>
                  <a:txBody>
                    <a:bodyPr/>
                    <a:lstStyle/>
                    <a:p>
                      <a:r>
                        <a:rPr sz="900" b="0">
                          <a:solidFill>
                            <a:srgbClr val="4B4B4B"/>
                          </a:solidFill>
                          <a:latin typeface="Arial"/>
                        </a:rPr>
                        <a:t>Opens Group Profile Requests › New Group Profile Request, enters the code RENEWAL_ENQUIRY, the name and description, keeps the level Standard, ticks two permissions, adds the approvers Ulysses Access Approver then the New Business Approver, writes the justification and clicks Submit</a:t>
                      </a:r>
                    </a:p>
                  </a:txBody>
                  <a:tcPr marL="54864" marR="54864" marT="27432" marB="27432">
                    <a:solidFill>
                      <a:srgbClr val="E5F5FF"/>
                    </a:solidFill>
                  </a:tcPr>
                </a:tc>
                <a:tc>
                  <a:txBody>
                    <a:bodyPr/>
                    <a:lstStyle/>
                    <a:p>
                      <a:r>
                        <a:rPr sz="900" b="0">
                          <a:solidFill>
                            <a:srgbClr val="4B4B4B"/>
                          </a:solidFill>
                          <a:latin typeface="Arial"/>
                        </a:rPr>
                        <a:t>SCR-UA-12_wt-b-step-04.png</a:t>
                      </a:r>
                    </a:p>
                  </a:txBody>
                  <a:tcPr marL="54864" marR="54864" marT="27432" marB="27432">
                    <a:solidFill>
                      <a:srgbClr val="E5F5FF"/>
                    </a:solidFill>
                  </a:tcPr>
                </a:tc>
              </a:tr>
            </a:tbl>
          </a:graphicData>
        </a:graphic>
      </p:graphicFrame>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SCR-UA-12 New Group Profile Request and Edit Request: Filled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241</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118.png"/>
          <p:cNvPicPr>
            <a:picLocks noChangeAspect="1"/>
          </p:cNvPicPr>
          <p:nvPr/>
        </p:nvPicPr>
        <p:blipFill>
          <a:blip r:embed="rId3"/>
          <a:stretch>
            <a:fillRect/>
          </a:stretch>
        </p:blipFill>
        <p:spPr>
          <a:xfrm>
            <a:off x="548640" y="1261872"/>
            <a:ext cx="11094415" cy="4657741"/>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group profile with its permissions and two approvers in order (part 1 of 4)</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SCR-UA-12 New Group Profile Request and Edit Request: Filled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242</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11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group profile with its permissions and two approvers in order (part 2 of 4)</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SCR-UA-12 New Group Profile Request and Edit Request: Filled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120.png"/>
          <p:cNvPicPr>
            <a:picLocks noChangeAspect="1"/>
          </p:cNvPicPr>
          <p:nvPr/>
        </p:nvPicPr>
        <p:blipFill>
          <a:blip r:embed="rId3"/>
          <a:stretch>
            <a:fillRect/>
          </a:stretch>
        </p:blipFill>
        <p:spPr>
          <a:xfrm>
            <a:off x="548640" y="1261872"/>
            <a:ext cx="11094415" cy="4657741"/>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group profile with its permissions and two approvers in order (part 3 of 4)</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SCR-UA-12 New Group Profile Request and Edit Request: Filled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121.png"/>
          <p:cNvPicPr>
            <a:picLocks noChangeAspect="1"/>
          </p:cNvPicPr>
          <p:nvPr/>
        </p:nvPicPr>
        <p:blipFill>
          <a:blip r:embed="rId3"/>
          <a:stretch>
            <a:fillRect/>
          </a:stretch>
        </p:blipFill>
        <p:spPr>
          <a:xfrm>
            <a:off x="548640" y="1261872"/>
            <a:ext cx="11094415" cy="450471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group profile with its permissions and two approvers in order (part 4 of 4)</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SCR-UA-12 New Group Profile Request and Edit Request: Filled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245</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122.png"/>
          <p:cNvPicPr>
            <a:picLocks noChangeAspect="1"/>
          </p:cNvPicPr>
          <p:nvPr/>
        </p:nvPicPr>
        <p:blipFill>
          <a:blip r:embed="rId3"/>
          <a:stretch>
            <a:fillRect/>
          </a:stretch>
        </p:blipFill>
        <p:spPr>
          <a:xfrm>
            <a:off x="548640" y="1261872"/>
            <a:ext cx="11094415" cy="4657741"/>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Modify group profile: permissions added and removed against the current ones (part 1 of 4)</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SCR-UA-12 New Group Profile Request and Edit Request: Filled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12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Modify group profile: permissions added and removed against the current ones (part 2 of 4)</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SCR-UA-12 New Group Profile Request and Edit Request: Filled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247</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124.png"/>
          <p:cNvPicPr>
            <a:picLocks noChangeAspect="1"/>
          </p:cNvPicPr>
          <p:nvPr/>
        </p:nvPicPr>
        <p:blipFill>
          <a:blip r:embed="rId3"/>
          <a:stretch>
            <a:fillRect/>
          </a:stretch>
        </p:blipFill>
        <p:spPr>
          <a:xfrm>
            <a:off x="548640" y="1261872"/>
            <a:ext cx="11094415" cy="4657741"/>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Modify group profile: permissions added and removed against the current ones (part 3 of 4)</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SCR-UA-12 New Group Profile Request and Edit Request: Filled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248</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125.png"/>
          <p:cNvPicPr>
            <a:picLocks noChangeAspect="1"/>
          </p:cNvPicPr>
          <p:nvPr/>
        </p:nvPicPr>
        <p:blipFill>
          <a:blip r:embed="rId3"/>
          <a:stretch>
            <a:fillRect/>
          </a:stretch>
        </p:blipFill>
        <p:spPr>
          <a:xfrm>
            <a:off x="548640" y="1261872"/>
            <a:ext cx="11094415" cy="450471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Modify group profile: permissions added and removed against the current ones (part 4 of 4)</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SCR-UA-12 New Group Profile Request and Edit Request: Confirmation with reason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249</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5937199"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1" name="Picture 10" descr="slice-0012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Deactivate group profile with the members who lose its screens (part 1 of 2)</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SCR-UA-12 New Group Profile Request and Edit Request: Confirmation with reason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250</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5937199"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1" name="Picture 10" descr="slice-00127.png"/>
          <p:cNvPicPr>
            <a:picLocks noChangeAspect="1"/>
          </p:cNvPicPr>
          <p:nvPr/>
        </p:nvPicPr>
        <p:blipFill>
          <a:blip r:embed="rId3"/>
          <a:stretch>
            <a:fillRect/>
          </a:stretch>
        </p:blipFill>
        <p:spPr>
          <a:xfrm>
            <a:off x="548640" y="1261872"/>
            <a:ext cx="11094415" cy="230496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Deactivate group profile with the members who lose its screens (part 2 of 2)</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SCR-UA-13 User Access Matrix</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251</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graphicFrame>
        <p:nvGraphicFramePr>
          <p:cNvPr id="10" name="Table 9"/>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Access evidence and administration</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Every group profile against every permission as granted today, or against the functional areas and action classes (view only, create, amend, approve / validate) with the permissions behind each cell, with the number of active users of each profile. Read only; the Excel export holds both views.</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Approver, Business Administrator, System Administrator, Auditor, Information Security Officer, New Business Approver (keeps the access approval right)</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User Access › User Access Matrix</a:t>
                      </a:r>
                    </a:p>
                    <a:p>
                      <a:r>
                        <a:rPr sz="950" b="0">
                          <a:solidFill>
                            <a:srgbClr val="4B4B4B"/>
                          </a:solidFill>
                          <a:latin typeface="Arial"/>
                        </a:rPr>
                        <a:t>The old address Broking Setup › User Access Matrix opens this screen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FR-UA-051, FR-UA-061</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Business, Information Security and audit see in one table which profile can do what, and keep the export as evidence.</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252</a:t>
            </a:r>
          </a:p>
        </p:txBody>
      </p:sp>
      <p:graphicFrame>
        <p:nvGraphicFramePr>
          <p:cNvPr id="9" name="Table 8"/>
          <p:cNvGraphicFramePr>
            <a:graphicFrameLocks noGrp="1"/>
          </p:cNvGraphicFramePr>
          <p:nvPr/>
        </p:nvGraphicFramePr>
        <p:xfrm>
          <a:off x="548640" y="1325880"/>
          <a:ext cx="11094411" cy="236218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Search</a:t>
                      </a:r>
                    </a:p>
                  </a:txBody>
                  <a:tcPr marL="54864" marR="54864" marT="27432" marB="27432">
                    <a:solidFill>
                      <a:srgbClr val="FFFFFF"/>
                    </a:solidFill>
                  </a:tcPr>
                </a:tc>
                <a:tc>
                  <a:txBody>
                    <a:bodyPr/>
                    <a:lstStyle/>
                    <a:p>
                      <a:r>
                        <a:rPr sz="850" b="0">
                          <a:solidFill>
                            <a:srgbClr val="4B4B4B"/>
                          </a:solidFill>
                          <a:latin typeface="Arial"/>
                        </a:rPr>
                        <a:t>Find a permission or area</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Part of a permission name, code or area</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Views</a:t>
                      </a:r>
                    </a:p>
                  </a:txBody>
                  <a:tcPr marL="54864" marR="54864" marT="27432" marB="27432">
                    <a:solidFill>
                      <a:srgbClr val="E5F5FF"/>
                    </a:solidFill>
                  </a:tcPr>
                </a:tc>
                <a:tc>
                  <a:txBody>
                    <a:bodyPr/>
                    <a:lstStyle/>
                    <a:p>
                      <a:r>
                        <a:rPr sz="850" b="0">
                          <a:solidFill>
                            <a:srgbClr val="4B4B4B"/>
                          </a:solidFill>
                          <a:latin typeface="Arial"/>
                        </a:rPr>
                        <a:t>By Permission / By Action</a:t>
                      </a:r>
                    </a:p>
                  </a:txBody>
                  <a:tcPr marL="54864" marR="54864" marT="27432" marB="27432">
                    <a:solidFill>
                      <a:srgbClr val="E5F5FF"/>
                    </a:solidFill>
                  </a:tcPr>
                </a:tc>
                <a:tc>
                  <a:txBody>
                    <a:bodyPr/>
                    <a:lstStyle/>
                    <a:p>
                      <a:r>
                        <a:rPr sz="850" b="0">
                          <a:solidFill>
                            <a:srgbClr val="4B4B4B"/>
                          </a:solidFill>
                          <a:latin typeface="Arial"/>
                        </a:rPr>
                        <a:t>Tab</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By Permission</a:t>
                      </a:r>
                    </a:p>
                  </a:txBody>
                  <a:tcPr marL="54864" marR="54864" marT="27432" marB="27432">
                    <a:solidFill>
                      <a:srgbClr val="FFFFFF"/>
                    </a:solidFill>
                  </a:tcPr>
                </a:tc>
                <a:tc>
                  <a:txBody>
                    <a:bodyPr/>
                    <a:lstStyle/>
                    <a:p>
                      <a:r>
                        <a:rPr sz="850" b="0">
                          <a:solidFill>
                            <a:srgbClr val="4B4B4B"/>
                          </a:solidFill>
                          <a:latin typeface="Arial"/>
                        </a:rPr>
                        <a:t>Permission / Area / Action class</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Permission name with the code below in small print; functional area; View only, Create, Amend, Approve / Validate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Matrix</a:t>
                      </a:r>
                    </a:p>
                  </a:txBody>
                  <a:tcPr marL="54864" marR="54864" marT="27432" marB="27432">
                    <a:solidFill>
                      <a:srgbClr val="E5F5FF"/>
                    </a:solidFill>
                  </a:tcPr>
                </a:tc>
                <a:tc>
                  <a:txBody>
                    <a:bodyPr/>
                    <a:lstStyle/>
                    <a:p>
                      <a:r>
                        <a:rPr sz="850" b="0">
                          <a:solidFill>
                            <a:srgbClr val="4B4B4B"/>
                          </a:solidFill>
                          <a:latin typeface="Arial"/>
                        </a:rPr>
                        <a:t>Group profile columns</a:t>
                      </a:r>
                    </a:p>
                  </a:txBody>
                  <a:tcPr marL="54864" marR="54864" marT="27432" marB="27432">
                    <a:solidFill>
                      <a:srgbClr val="E5F5FF"/>
                    </a:solidFill>
                  </a:tcPr>
                </a:tc>
                <a:tc>
                  <a:txBody>
                    <a:bodyPr/>
                    <a:lstStyle/>
                    <a:p>
                      <a:r>
                        <a:rPr sz="850" b="0">
                          <a:solidFill>
                            <a:srgbClr val="4B4B4B"/>
                          </a:solidFill>
                          <a:latin typeface="Arial"/>
                        </a:rPr>
                        <a:t>Columns</a:t>
                      </a:r>
                    </a:p>
                  </a:txBody>
                  <a:tcPr marL="54864" marR="54864" marT="27432" marB="27432">
                    <a:solidFill>
                      <a:srgbClr val="E5F5FF"/>
                    </a:solidFill>
                  </a:tcPr>
                </a:tc>
                <a:tc>
                  <a:txBody>
                    <a:bodyPr/>
                    <a:lstStyle/>
                    <a:p>
                      <a:r>
                        <a:rPr sz="850" b="0">
                          <a:solidFill>
                            <a:srgbClr val="4B4B4B"/>
                          </a:solidFill>
                          <a:latin typeface="Arial"/>
                        </a:rPr>
                        <a:t>Profile name with the number of active users; a tick where the profile holds the permission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By Action</a:t>
                      </a:r>
                    </a:p>
                  </a:txBody>
                  <a:tcPr marL="54864" marR="54864" marT="27432" marB="27432">
                    <a:solidFill>
                      <a:srgbClr val="FFFFFF"/>
                    </a:solidFill>
                  </a:tcPr>
                </a:tc>
                <a:tc>
                  <a:txBody>
                    <a:bodyPr/>
                    <a:lstStyle/>
                    <a:p>
                      <a:r>
                        <a:rPr sz="850" b="0">
                          <a:solidFill>
                            <a:srgbClr val="4B4B4B"/>
                          </a:solidFill>
                          <a:latin typeface="Arial"/>
                        </a:rPr>
                        <a:t>Area / Action class</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One row per area and action class; each cell lists the names of the permissions the profile holds there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253</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Export to Excel</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matrix (both views) as an Excel file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254</a:t>
            </a:r>
          </a:p>
        </p:txBody>
      </p:sp>
      <p:graphicFrame>
        <p:nvGraphicFramePr>
          <p:cNvPr id="9" name="Table 8"/>
          <p:cNvGraphicFramePr>
            <a:graphicFrameLocks noGrp="1"/>
          </p:cNvGraphicFramePr>
          <p:nvPr/>
        </p:nvGraphicFramePr>
        <p:xfrm>
          <a:off x="548640" y="1325880"/>
          <a:ext cx="11094415" cy="11277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matrix is read from the grants in force; it changes only when a group-profile request is implemented (FR-UA-051).</a:t>
                      </a:r>
                    </a:p>
                  </a:txBody>
                  <a:tcPr marL="54864" marR="54864" marT="27432" marB="27432">
                    <a:solidFill>
                      <a:srgbClr val="FFFFFF"/>
                    </a:solidFill>
                  </a:tcPr>
                </a:tc>
              </a:tr>
              <a:tr h="396240">
                <a:tc>
                  <a:txBody>
                    <a:bodyPr/>
                    <a:lstStyle/>
                    <a:p>
                      <a:r>
                        <a:rPr sz="1000" b="0">
                          <a:solidFill>
                            <a:srgbClr val="4B4B4B"/>
                          </a:solidFill>
                          <a:latin typeface="Arial"/>
                        </a:rPr>
                        <a:t>The matrix is open to the holders of the request, approval, role management and audit rights (the Information Security Officer among them); the Requestor and the Second Approver do not have it, as the permissions matrix of the FRS grants them no such right (FR-UA-051).</a:t>
                      </a:r>
                    </a:p>
                  </a:txBody>
                  <a:tcPr marL="54864" marR="54864" marT="27432" marB="27432">
                    <a:solidFill>
                      <a:srgbClr val="E5F5FF"/>
                    </a:solidFill>
                  </a:tcPr>
                </a:tc>
              </a:tr>
              <a:tr h="243840">
                <a:tc>
                  <a:txBody>
                    <a:bodyPr/>
                    <a:lstStyle/>
                    <a:p>
                      <a:r>
                        <a:rPr sz="1000" b="0">
                          <a:solidFill>
                            <a:srgbClr val="4B4B4B"/>
                          </a:solidFill>
                          <a:latin typeface="Arial"/>
                        </a:rPr>
                        <a:t>The insurer-only permissions and the insurer roles hidden from BDOI are not listed (FR-UA-051).</a:t>
                      </a:r>
                    </a:p>
                  </a:txBody>
                  <a:tcPr marL="54864" marR="54864" marT="27432" marB="27432">
                    <a:solidFill>
                      <a:srgbClr val="FFFFFF"/>
                    </a:solidFill>
                  </a:tcPr>
                </a:tc>
              </a:tr>
            </a:tbl>
          </a:graphicData>
        </a:graphic>
      </p:graphicFrame>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SCR-UA-13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255</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Read-only or locked</a:t>
                      </a:r>
                    </a:p>
                  </a:txBody>
                  <a:tcPr marL="54864" marR="54864" marT="27432" marB="27432">
                    <a:solidFill>
                      <a:srgbClr val="FFFFFF"/>
                    </a:solidFill>
                  </a:tcPr>
                </a:tc>
                <a:tc>
                  <a:txBody>
                    <a:bodyPr/>
                    <a:lstStyle/>
                    <a:p>
                      <a:r>
                        <a:rPr sz="900" b="0">
                          <a:solidFill>
                            <a:srgbClr val="4B4B4B"/>
                          </a:solidFill>
                          <a:latin typeface="Arial"/>
                        </a:rPr>
                        <a:t>WT-D step 1</a:t>
                      </a:r>
                    </a:p>
                  </a:txBody>
                  <a:tcPr marL="54864" marR="54864" marT="27432" marB="27432">
                    <a:solidFill>
                      <a:srgbClr val="FFFFFF"/>
                    </a:solidFill>
                  </a:tcPr>
                </a:tc>
                <a:tc>
                  <a:txBody>
                    <a:bodyPr/>
                    <a:lstStyle/>
                    <a:p>
                      <a:r>
                        <a:rPr sz="900" b="0">
                          <a:solidFill>
                            <a:srgbClr val="4B4B4B"/>
                          </a:solidFill>
                          <a:latin typeface="Arial"/>
                        </a:rPr>
                        <a:t>Opens User Access › User Access Matrix, By Action, and searches USER ACCESS</a:t>
                      </a:r>
                    </a:p>
                  </a:txBody>
                  <a:tcPr marL="54864" marR="54864" marT="27432" marB="27432">
                    <a:solidFill>
                      <a:srgbClr val="FFFFFF"/>
                    </a:solidFill>
                  </a:tcPr>
                </a:tc>
                <a:tc>
                  <a:txBody>
                    <a:bodyPr/>
                    <a:lstStyle/>
                    <a:p>
                      <a:r>
                        <a:rPr sz="900" b="0">
                          <a:solidFill>
                            <a:srgbClr val="4B4B4B"/>
                          </a:solidFill>
                          <a:latin typeface="Arial"/>
                        </a:rPr>
                        <a:t>SCR-UA-13_wt-d-step-01.png</a:t>
                      </a:r>
                    </a:p>
                  </a:txBody>
                  <a:tcPr marL="54864" marR="54864" marT="27432" marB="27432">
                    <a:solidFill>
                      <a:srgbClr val="FFFFFF"/>
                    </a:solidFill>
                  </a:tcPr>
                </a:tc>
              </a:tr>
            </a:tbl>
          </a:graphicData>
        </a:graphic>
      </p:graphicFrame>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SCR-UA-13 User Access Matrix: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28.png"/>
          <p:cNvPicPr>
            <a:picLocks noChangeAspect="1"/>
          </p:cNvPicPr>
          <p:nvPr/>
        </p:nvPicPr>
        <p:blipFill>
          <a:blip r:embed="rId3"/>
          <a:stretch>
            <a:fillRect/>
          </a:stretch>
        </p:blipFill>
        <p:spPr>
          <a:xfrm>
            <a:off x="548640" y="1261872"/>
            <a:ext cx="11094415" cy="442366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Access Matrix by permission (part 1 of 3)</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SCR-UA-13 User Access Matrix: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257</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29.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Access Matrix by permission (part 2 of 3)</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SCR-UA-13 User Access Matrix: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258</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30.png"/>
          <p:cNvPicPr>
            <a:picLocks noChangeAspect="1"/>
          </p:cNvPicPr>
          <p:nvPr/>
        </p:nvPicPr>
        <p:blipFill>
          <a:blip r:embed="rId3"/>
          <a:stretch>
            <a:fillRect/>
          </a:stretch>
        </p:blipFill>
        <p:spPr>
          <a:xfrm>
            <a:off x="548640" y="1261872"/>
            <a:ext cx="11094415" cy="385483"/>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Access Matrix by permission (part 3 of 3)</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SCR-UA-13 User Access Matrix: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259</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31.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Access Matrix by area and action class (part 1 of 3)</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SCR-UA-13 User Access Matrix: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260</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32.png"/>
          <p:cNvPicPr>
            <a:picLocks noChangeAspect="1"/>
          </p:cNvPicPr>
          <p:nvPr/>
        </p:nvPicPr>
        <p:blipFill>
          <a:blip r:embed="rId3"/>
          <a:stretch>
            <a:fillRect/>
          </a:stretch>
        </p:blipFill>
        <p:spPr>
          <a:xfrm>
            <a:off x="548640" y="1261872"/>
            <a:ext cx="11094415" cy="4672817"/>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Access Matrix by area and action class (part 2 of 3)</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SCR-UA-13 User Access Matrix: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261</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33.png"/>
          <p:cNvPicPr>
            <a:picLocks noChangeAspect="1"/>
          </p:cNvPicPr>
          <p:nvPr/>
        </p:nvPicPr>
        <p:blipFill>
          <a:blip r:embed="rId3"/>
          <a:stretch>
            <a:fillRect/>
          </a:stretch>
        </p:blipFill>
        <p:spPr>
          <a:xfrm>
            <a:off x="548640" y="1261872"/>
            <a:ext cx="11094415" cy="136329"/>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Access Matrix by area and action class (part 3 of 3)</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SCR-UA-14 User Access Reports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262</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graphicFrame>
        <p:nvGraphicFramePr>
          <p:cNvPr id="10" name="Table 9"/>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Access evidence and administration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five user access reports, each opened in the report runner with its parameters and its PDF, Excel and CSV exports: User Access Report, User Group Profile Report, Group Profile Membership, User Access Audit Log and Access Requests.</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Approver, Business Administrator, System Administrator, Auditor, Information Security Officer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User Access › User Access Reports</a:t>
                      </a:r>
                    </a:p>
                    <a:p>
                      <a:r>
                        <a:rPr sz="950" b="0">
                          <a:solidFill>
                            <a:srgbClr val="4B4B4B"/>
                          </a:solidFill>
                          <a:latin typeface="Arial"/>
                        </a:rPr>
                        <a:t>Reports › Report Centre, category Control &amp; Audit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FR-UA-060, FR-UA-061, FR-UA-062, FR-UA-063</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evidence of who has which access, who granted it and every access activity is one click away.</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263</a:t>
            </a:r>
          </a:p>
        </p:txBody>
      </p:sp>
      <p:graphicFrame>
        <p:nvGraphicFramePr>
          <p:cNvPr id="9" name="Table 8"/>
          <p:cNvGraphicFramePr>
            <a:graphicFrameLocks noGrp="1"/>
          </p:cNvGraphicFramePr>
          <p:nvPr/>
        </p:nvGraphicFramePr>
        <p:xfrm>
          <a:off x="548640" y="1325880"/>
          <a:ext cx="11094411" cy="300988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Reports</a:t>
                      </a:r>
                    </a:p>
                  </a:txBody>
                  <a:tcPr marL="54864" marR="54864" marT="27432" marB="27432">
                    <a:solidFill>
                      <a:srgbClr val="FFFFFF"/>
                    </a:solidFill>
                  </a:tcPr>
                </a:tc>
                <a:tc>
                  <a:txBody>
                    <a:bodyPr/>
                    <a:lstStyle/>
                    <a:p>
                      <a:r>
                        <a:rPr sz="850" b="0">
                          <a:solidFill>
                            <a:srgbClr val="4B4B4B"/>
                          </a:solidFill>
                          <a:latin typeface="Arial"/>
                        </a:rPr>
                        <a:t>User Access Report</a:t>
                      </a:r>
                    </a:p>
                  </a:txBody>
                  <a:tcPr marL="54864" marR="54864" marT="27432" marB="27432">
                    <a:solidFill>
                      <a:srgbClr val="FFFFFF"/>
                    </a:solidFill>
                  </a:tcPr>
                </a:tc>
                <a:tc>
                  <a:txBody>
                    <a:bodyPr/>
                    <a:lstStyle/>
                    <a:p>
                      <a:r>
                        <a:rPr sz="850" b="0">
                          <a:solidFill>
                            <a:srgbClr val="4B4B4B"/>
                          </a:solidFill>
                          <a:latin typeface="Arial"/>
                        </a:rPr>
                        <a:t>Link</a:t>
                      </a:r>
                    </a:p>
                  </a:txBody>
                  <a:tcPr marL="54864" marR="54864" marT="27432" marB="27432">
                    <a:solidFill>
                      <a:srgbClr val="FFFFFF"/>
                    </a:solidFill>
                  </a:tcPr>
                </a:tc>
                <a:tc>
                  <a:txBody>
                    <a:bodyPr/>
                    <a:lstStyle/>
                    <a:p>
                      <a:r>
                        <a:rPr sz="850" b="0">
                          <a:solidFill>
                            <a:srgbClr val="4B4B4B"/>
                          </a:solidFill>
                          <a:latin typeface="Arial"/>
                        </a:rPr>
                        <a:t>Users with their group profiles, business unit, level and status, who created and last modified them and the last action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Reports</a:t>
                      </a:r>
                    </a:p>
                  </a:txBody>
                  <a:tcPr marL="54864" marR="54864" marT="27432" marB="27432">
                    <a:solidFill>
                      <a:srgbClr val="E5F5FF"/>
                    </a:solidFill>
                  </a:tcPr>
                </a:tc>
                <a:tc>
                  <a:txBody>
                    <a:bodyPr/>
                    <a:lstStyle/>
                    <a:p>
                      <a:r>
                        <a:rPr sz="850" b="0">
                          <a:solidFill>
                            <a:srgbClr val="4B4B4B"/>
                          </a:solidFill>
                          <a:latin typeface="Arial"/>
                        </a:rPr>
                        <a:t>User Group Profile Report</a:t>
                      </a:r>
                    </a:p>
                  </a:txBody>
                  <a:tcPr marL="54864" marR="54864" marT="27432" marB="27432">
                    <a:solidFill>
                      <a:srgbClr val="E5F5FF"/>
                    </a:solidFill>
                  </a:tcPr>
                </a:tc>
                <a:tc>
                  <a:txBody>
                    <a:bodyPr/>
                    <a:lstStyle/>
                    <a:p>
                      <a:r>
                        <a:rPr sz="850" b="0">
                          <a:solidFill>
                            <a:srgbClr val="4B4B4B"/>
                          </a:solidFill>
                          <a:latin typeface="Arial"/>
                        </a:rPr>
                        <a:t>Link</a:t>
                      </a:r>
                    </a:p>
                  </a:txBody>
                  <a:tcPr marL="54864" marR="54864" marT="27432" marB="27432">
                    <a:solidFill>
                      <a:srgbClr val="E5F5FF"/>
                    </a:solidFill>
                  </a:tcPr>
                </a:tc>
                <a:tc>
                  <a:txBody>
                    <a:bodyPr/>
                    <a:lstStyle/>
                    <a:p>
                      <a:r>
                        <a:rPr sz="850" b="0">
                          <a:solidFill>
                            <a:srgbClr val="4B4B4B"/>
                          </a:solidFill>
                          <a:latin typeface="Arial"/>
                        </a:rPr>
                        <a:t>For each group profile, the modules and tasks With Access or No Access, with created and modified dates and actors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Reports</a:t>
                      </a:r>
                    </a:p>
                  </a:txBody>
                  <a:tcPr marL="54864" marR="54864" marT="27432" marB="27432">
                    <a:solidFill>
                      <a:srgbClr val="FFFFFF"/>
                    </a:solidFill>
                  </a:tcPr>
                </a:tc>
                <a:tc>
                  <a:txBody>
                    <a:bodyPr/>
                    <a:lstStyle/>
                    <a:p>
                      <a:r>
                        <a:rPr sz="850" b="0">
                          <a:solidFill>
                            <a:srgbClr val="4B4B4B"/>
                          </a:solidFill>
                          <a:latin typeface="Arial"/>
                        </a:rPr>
                        <a:t>Group Profile Membership</a:t>
                      </a:r>
                    </a:p>
                  </a:txBody>
                  <a:tcPr marL="54864" marR="54864" marT="27432" marB="27432">
                    <a:solidFill>
                      <a:srgbClr val="FFFFFF"/>
                    </a:solidFill>
                  </a:tcPr>
                </a:tc>
                <a:tc>
                  <a:txBody>
                    <a:bodyPr/>
                    <a:lstStyle/>
                    <a:p>
                      <a:r>
                        <a:rPr sz="850" b="0">
                          <a:solidFill>
                            <a:srgbClr val="4B4B4B"/>
                          </a:solidFill>
                          <a:latin typeface="Arial"/>
                        </a:rPr>
                        <a:t>Link</a:t>
                      </a:r>
                    </a:p>
                  </a:txBody>
                  <a:tcPr marL="54864" marR="54864" marT="27432" marB="27432">
                    <a:solidFill>
                      <a:srgbClr val="FFFFFF"/>
                    </a:solidFill>
                  </a:tcPr>
                </a:tc>
                <a:tc>
                  <a:txBody>
                    <a:bodyPr/>
                    <a:lstStyle/>
                    <a:p>
                      <a:r>
                        <a:rPr sz="850" b="0">
                          <a:solidFill>
                            <a:srgbClr val="4B4B4B"/>
                          </a:solidFill>
                          <a:latin typeface="Arial"/>
                        </a:rPr>
                        <a:t>The members of each group profile on a date, with who added each member and when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Reports</a:t>
                      </a:r>
                    </a:p>
                  </a:txBody>
                  <a:tcPr marL="54864" marR="54864" marT="27432" marB="27432">
                    <a:solidFill>
                      <a:srgbClr val="E5F5FF"/>
                    </a:solidFill>
                  </a:tcPr>
                </a:tc>
                <a:tc>
                  <a:txBody>
                    <a:bodyPr/>
                    <a:lstStyle/>
                    <a:p>
                      <a:r>
                        <a:rPr sz="850" b="0">
                          <a:solidFill>
                            <a:srgbClr val="4B4B4B"/>
                          </a:solidFill>
                          <a:latin typeface="Arial"/>
                        </a:rPr>
                        <a:t>User Access Audit Log</a:t>
                      </a:r>
                    </a:p>
                  </a:txBody>
                  <a:tcPr marL="54864" marR="54864" marT="27432" marB="27432">
                    <a:solidFill>
                      <a:srgbClr val="E5F5FF"/>
                    </a:solidFill>
                  </a:tcPr>
                </a:tc>
                <a:tc>
                  <a:txBody>
                    <a:bodyPr/>
                    <a:lstStyle/>
                    <a:p>
                      <a:r>
                        <a:rPr sz="850" b="0">
                          <a:solidFill>
                            <a:srgbClr val="4B4B4B"/>
                          </a:solidFill>
                          <a:latin typeface="Arial"/>
                        </a:rPr>
                        <a:t>Link</a:t>
                      </a:r>
                    </a:p>
                  </a:txBody>
                  <a:tcPr marL="54864" marR="54864" marT="27432" marB="27432">
                    <a:solidFill>
                      <a:srgbClr val="E5F5FF"/>
                    </a:solidFill>
                  </a:tcPr>
                </a:tc>
                <a:tc>
                  <a:txBody>
                    <a:bodyPr/>
                    <a:lstStyle/>
                    <a:p>
                      <a:r>
                        <a:rPr sz="850" b="0">
                          <a:solidFill>
                            <a:srgbClr val="4B4B4B"/>
                          </a:solidFill>
                          <a:latin typeface="Arial"/>
                        </a:rPr>
                        <a:t>Every access activity with from and to values, done by, approved by and request number; sign-ins and sign-outs on request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Reports</a:t>
                      </a:r>
                    </a:p>
                  </a:txBody>
                  <a:tcPr marL="54864" marR="54864" marT="27432" marB="27432">
                    <a:solidFill>
                      <a:srgbClr val="FFFFFF"/>
                    </a:solidFill>
                  </a:tcPr>
                </a:tc>
                <a:tc>
                  <a:txBody>
                    <a:bodyPr/>
                    <a:lstStyle/>
                    <a:p>
                      <a:r>
                        <a:rPr sz="850" b="0">
                          <a:solidFill>
                            <a:srgbClr val="4B4B4B"/>
                          </a:solidFill>
                          <a:latin typeface="Arial"/>
                        </a:rPr>
                        <a:t>Access Requests</a:t>
                      </a:r>
                    </a:p>
                  </a:txBody>
                  <a:tcPr marL="54864" marR="54864" marT="27432" marB="27432">
                    <a:solidFill>
                      <a:srgbClr val="FFFFFF"/>
                    </a:solidFill>
                  </a:tcPr>
                </a:tc>
                <a:tc>
                  <a:txBody>
                    <a:bodyPr/>
                    <a:lstStyle/>
                    <a:p>
                      <a:r>
                        <a:rPr sz="850" b="0">
                          <a:solidFill>
                            <a:srgbClr val="4B4B4B"/>
                          </a:solidFill>
                          <a:latin typeface="Arial"/>
                        </a:rPr>
                        <a:t>Link</a:t>
                      </a:r>
                    </a:p>
                  </a:txBody>
                  <a:tcPr marL="54864" marR="54864" marT="27432" marB="27432">
                    <a:solidFill>
                      <a:srgbClr val="FFFFFF"/>
                    </a:solidFill>
                  </a:tcPr>
                </a:tc>
                <a:tc>
                  <a:txBody>
                    <a:bodyPr/>
                    <a:lstStyle/>
                    <a:p>
                      <a:r>
                        <a:rPr sz="850" b="0">
                          <a:solidFill>
                            <a:srgbClr val="4B4B4B"/>
                          </a:solidFill>
                          <a:latin typeface="Arial"/>
                        </a:rPr>
                        <a:t>Requests by status, type, requester and approver, with their age in days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264</a:t>
            </a:r>
          </a:p>
        </p:txBody>
      </p:sp>
      <p:graphicFrame>
        <p:nvGraphicFramePr>
          <p:cNvPr id="9" name="Table 8"/>
          <p:cNvGraphicFramePr>
            <a:graphicFrameLocks noGrp="1"/>
          </p:cNvGraphicFramePr>
          <p:nvPr/>
        </p:nvGraphicFramePr>
        <p:xfrm>
          <a:off x="548640" y="1325880"/>
          <a:ext cx="11094412" cy="57149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A report</a:t>
                      </a:r>
                    </a:p>
                  </a:txBody>
                  <a:tcPr marL="54864" marR="54864" marT="27432" marB="27432">
                    <a:solidFill>
                      <a:srgbClr val="FFFFFF"/>
                    </a:solidFill>
                  </a:tcPr>
                </a:tc>
                <a:tc>
                  <a:txBody>
                    <a:bodyPr/>
                    <a:lstStyle/>
                    <a:p>
                      <a:r>
                        <a:rPr sz="850" b="0">
                          <a:solidFill>
                            <a:srgbClr val="4B4B4B"/>
                          </a:solidFill>
                          <a:latin typeface="Arial"/>
                        </a:rPr>
                        <a:t>Holders of the user access report right</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report in the report runner (SCR-UA-17)</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265</a:t>
            </a:r>
          </a:p>
        </p:txBody>
      </p:sp>
      <p:graphicFrame>
        <p:nvGraphicFramePr>
          <p:cNvPr id="9" name="Table 8"/>
          <p:cNvGraphicFramePr>
            <a:graphicFrameLocks noGrp="1"/>
          </p:cNvGraphicFramePr>
          <p:nvPr/>
        </p:nvGraphicFramePr>
        <p:xfrm>
          <a:off x="548640" y="1325880"/>
          <a:ext cx="11094415" cy="6400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The reports are run by the Approver, the Business Administrator, the System Administrator, the Information Security Officer and the Auditor (user access report right) (FR-UA-060, FR-UA-063).</a:t>
                      </a:r>
                    </a:p>
                  </a:txBody>
                  <a:tcPr marL="54864" marR="54864" marT="27432" marB="27432">
                    <a:solidFill>
                      <a:srgbClr val="FFFFFF"/>
                    </a:solidFill>
                  </a:tcPr>
                </a:tc>
              </a:tr>
            </a:tbl>
          </a:graphicData>
        </a:graphic>
      </p:graphicFrame>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SCR-UA-14 User Access Reports: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cr-ua-14-01-list.png"/>
          <p:cNvPicPr>
            <a:picLocks noChangeAspect="1"/>
          </p:cNvPicPr>
          <p:nvPr/>
        </p:nvPicPr>
        <p:blipFill>
          <a:blip r:embed="rId3"/>
          <a:stretch>
            <a:fillRect/>
          </a:stretch>
        </p:blipFill>
        <p:spPr>
          <a:xfrm>
            <a:off x="1927072" y="1261872"/>
            <a:ext cx="8337551"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Access Reports</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SCR-UA-15 Users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267</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graphicFrame>
        <p:nvGraphicFramePr>
          <p:cNvPr id="10" name="Table 9"/>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Access evidence and administration</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System Administrator's list of users with their Windows ID, group profiles, business unit, user level, authorisation limit, last sign-in and status (Active, Online, Disabled, Locked); unlock of a locked account and the sessions of a user, with End Session. Users are created and changed only through access requests: Raise Request, or a row, opens a request.</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System Administrator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Administration › Users</a:t>
                      </a:r>
                    </a:p>
                    <a:p>
                      <a:r>
                        <a:rPr sz="950" b="0">
                          <a:solidFill>
                            <a:srgbClr val="4B4B4B"/>
                          </a:solidFill>
                          <a:latin typeface="Arial"/>
                        </a:rPr>
                        <a:t>Setup &amp; Administration › Administration › Users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FR-UA-052, FR-UA-004, FR-UA-064</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System Administrator sees every user's access and state, unlocks accounts and ends sessions, while every access change still goes through a request.</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268</a:t>
            </a:r>
          </a:p>
        </p:txBody>
      </p:sp>
      <p:graphicFrame>
        <p:nvGraphicFramePr>
          <p:cNvPr id="9" name="Table 8"/>
          <p:cNvGraphicFramePr>
            <a:graphicFrameLocks noGrp="1"/>
          </p:cNvGraphicFramePr>
          <p:nvPr/>
        </p:nvGraphicFramePr>
        <p:xfrm>
          <a:off x="548640" y="1325880"/>
          <a:ext cx="11094411" cy="339088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Search</a:t>
                      </a:r>
                    </a:p>
                  </a:txBody>
                  <a:tcPr marL="54864" marR="54864" marT="27432" marB="27432">
                    <a:solidFill>
                      <a:srgbClr val="FFFFFF"/>
                    </a:solidFill>
                  </a:tcPr>
                </a:tc>
                <a:tc>
                  <a:txBody>
                    <a:bodyPr/>
                    <a:lstStyle/>
                    <a:p>
                      <a:r>
                        <a:rPr sz="850" b="0">
                          <a:solidFill>
                            <a:srgbClr val="4B4B4B"/>
                          </a:solidFill>
                          <a:latin typeface="Arial"/>
                        </a:rPr>
                        <a:t>Search User ID, Name or Windows ID</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Part of the user ID, name or Windows ID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Contains search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Search</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statuses, Active, Online, Disabled, Locked</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User ID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User ID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Windows ID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Windows ID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Full Name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Name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Group Profiles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Names of the profiles held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Business Unit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Business unit group (list label)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User Level</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User level (list label)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Authorization Limit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Amount in PHP, or Unlimited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Last Login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dd-MMM-yyyy HH:mm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Active, Online (open session), Disabled, Locked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Sessions of a user</a:t>
                      </a:r>
                    </a:p>
                  </a:txBody>
                  <a:tcPr marL="54864" marR="54864" marT="27432" marB="27432">
                    <a:solidFill>
                      <a:srgbClr val="E5F5FF"/>
                    </a:solidFill>
                  </a:tcPr>
                </a:tc>
                <a:tc>
                  <a:txBody>
                    <a:bodyPr/>
                    <a:lstStyle/>
                    <a:p>
                      <a:r>
                        <a:rPr sz="850" b="0">
                          <a:solidFill>
                            <a:srgbClr val="4B4B4B"/>
                          </a:solidFill>
                          <a:latin typeface="Arial"/>
                        </a:rPr>
                        <a:t>Signed in / Last activity / Ended / Status</a:t>
                      </a:r>
                    </a:p>
                  </a:txBody>
                  <a:tcPr marL="54864" marR="54864" marT="27432" marB="27432">
                    <a:solidFill>
                      <a:srgbClr val="E5F5FF"/>
                    </a:solidFill>
                  </a:tcPr>
                </a:tc>
                <a:tc>
                  <a:txBody>
                    <a:bodyPr/>
                    <a:lstStyle/>
                    <a:p>
                      <a:r>
                        <a:rPr sz="850" b="0">
                          <a:solidFill>
                            <a:srgbClr val="4B4B4B"/>
                          </a:solidFill>
                          <a:latin typeface="Arial"/>
                        </a:rPr>
                        <a:t>Columns</a:t>
                      </a:r>
                    </a:p>
                  </a:txBody>
                  <a:tcPr marL="54864" marR="54864" marT="27432" marB="27432">
                    <a:solidFill>
                      <a:srgbClr val="E5F5FF"/>
                    </a:solidFill>
                  </a:tcPr>
                </a:tc>
                <a:tc>
                  <a:txBody>
                    <a:bodyPr/>
                    <a:lstStyle/>
                    <a:p>
                      <a:r>
                        <a:rPr sz="850" b="0">
                          <a:solidFill>
                            <a:srgbClr val="4B4B4B"/>
                          </a:solidFill>
                          <a:latin typeface="Arial"/>
                        </a:rPr>
                        <a:t>Date and time; Open, Logout, Idle Timeout, Expired, Admin Ended, Locked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269</a:t>
            </a:r>
          </a:p>
        </p:txBody>
      </p:sp>
      <p:graphicFrame>
        <p:nvGraphicFramePr>
          <p:cNvPr id="9" name="Table 8"/>
          <p:cNvGraphicFramePr>
            <a:graphicFrameLocks noGrp="1"/>
          </p:cNvGraphicFramePr>
          <p:nvPr/>
        </p:nvGraphicFramePr>
        <p:xfrm>
          <a:off x="548640" y="1325880"/>
          <a:ext cx="11094412" cy="193547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Raise Request</a:t>
                      </a:r>
                    </a:p>
                  </a:txBody>
                  <a:tcPr marL="54864" marR="54864" marT="27432" marB="27432">
                    <a:solidFill>
                      <a:srgbClr val="FFFFFF"/>
                    </a:solidFill>
                  </a:tcPr>
                </a:tc>
                <a:tc>
                  <a:txBody>
                    <a:bodyPr/>
                    <a:lstStyle/>
                    <a:p>
                      <a:r>
                        <a:rPr sz="850" b="0">
                          <a:solidFill>
                            <a:srgbClr val="4B4B4B"/>
                          </a:solidFill>
                          <a:latin typeface="Arial"/>
                        </a:rPr>
                        <a:t>System Administrator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New Request (SCR-UA-07)</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 a row</a:t>
                      </a:r>
                    </a:p>
                  </a:txBody>
                  <a:tcPr marL="54864" marR="54864" marT="27432" marB="27432">
                    <a:solidFill>
                      <a:srgbClr val="E5F5FF"/>
                    </a:solidFill>
                  </a:tcPr>
                </a:tc>
                <a:tc>
                  <a:txBody>
                    <a:bodyPr/>
                    <a:lstStyle/>
                    <a:p>
                      <a:r>
                        <a:rPr sz="850" b="0">
                          <a:solidFill>
                            <a:srgbClr val="4B4B4B"/>
                          </a:solidFill>
                          <a:latin typeface="Arial"/>
                        </a:rPr>
                        <a:t>System Administrator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a Modify user request for the user (SCR-UA-07)</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Unlock</a:t>
                      </a:r>
                    </a:p>
                  </a:txBody>
                  <a:tcPr marL="54864" marR="54864" marT="27432" marB="27432">
                    <a:solidFill>
                      <a:srgbClr val="FFFFFF"/>
                    </a:solidFill>
                  </a:tcPr>
                </a:tc>
                <a:tc>
                  <a:txBody>
                    <a:bodyPr/>
                    <a:lstStyle/>
                    <a:p>
                      <a:r>
                        <a:rPr sz="850" b="0">
                          <a:solidFill>
                            <a:srgbClr val="4B4B4B"/>
                          </a:solidFill>
                          <a:latin typeface="Arial"/>
                        </a:rPr>
                        <a:t>System Administrator (user management right)</a:t>
                      </a:r>
                    </a:p>
                  </a:txBody>
                  <a:tcPr marL="54864" marR="54864" marT="27432" marB="27432">
                    <a:solidFill>
                      <a:srgbClr val="FFFFFF"/>
                    </a:solidFill>
                  </a:tcPr>
                </a:tc>
                <a:tc>
                  <a:txBody>
                    <a:bodyPr/>
                    <a:lstStyle/>
                    <a:p>
                      <a:r>
                        <a:rPr sz="850" b="0">
                          <a:solidFill>
                            <a:srgbClr val="4B4B4B"/>
                          </a:solidFill>
                          <a:latin typeface="Arial"/>
                        </a:rPr>
                        <a:t>The user is locked</a:t>
                      </a:r>
                    </a:p>
                  </a:txBody>
                  <a:tcPr marL="54864" marR="54864" marT="27432" marB="27432">
                    <a:solidFill>
                      <a:srgbClr val="FFFFFF"/>
                    </a:solidFill>
                  </a:tcPr>
                </a:tc>
                <a:tc>
                  <a:txBody>
                    <a:bodyPr/>
                    <a:lstStyle/>
                    <a:p>
                      <a:r>
                        <a:rPr sz="850" b="0">
                          <a:solidFill>
                            <a:srgbClr val="4B4B4B"/>
                          </a:solidFill>
                          <a:latin typeface="Arial"/>
                        </a:rPr>
                        <a:t>Unlocks the account and resets the failed attempts; written to the access change log</a:t>
                      </a:r>
                    </a:p>
                  </a:txBody>
                  <a:tcPr marL="54864" marR="54864" marT="27432" marB="27432">
                    <a:solidFill>
                      <a:srgbClr val="FFFFFF"/>
                    </a:solidFill>
                  </a:tcPr>
                </a:tc>
                <a:tc>
                  <a:txBody>
                    <a:bodyPr/>
                    <a:lstStyle/>
                    <a:p>
                      <a:r>
                        <a:rPr sz="850" b="0">
                          <a:solidFill>
                            <a:srgbClr val="4B4B4B"/>
                          </a:solidFill>
                          <a:latin typeface="Arial"/>
                        </a:rPr>
                        <a:t>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Sessions</a:t>
                      </a:r>
                    </a:p>
                  </a:txBody>
                  <a:tcPr marL="54864" marR="54864" marT="27432" marB="27432">
                    <a:solidFill>
                      <a:srgbClr val="E5F5FF"/>
                    </a:solidFill>
                  </a:tcPr>
                </a:tc>
                <a:tc>
                  <a:txBody>
                    <a:bodyPr/>
                    <a:lstStyle/>
                    <a:p>
                      <a:r>
                        <a:rPr sz="850" b="0">
                          <a:solidFill>
                            <a:srgbClr val="4B4B4B"/>
                          </a:solidFill>
                          <a:latin typeface="Arial"/>
                        </a:rPr>
                        <a:t>System Administrator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sessions of the user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End Session</a:t>
                      </a:r>
                    </a:p>
                  </a:txBody>
                  <a:tcPr marL="54864" marR="54864" marT="27432" marB="27432">
                    <a:solidFill>
                      <a:srgbClr val="FFFFFF"/>
                    </a:solidFill>
                  </a:tcPr>
                </a:tc>
                <a:tc>
                  <a:txBody>
                    <a:bodyPr/>
                    <a:lstStyle/>
                    <a:p>
                      <a:r>
                        <a:rPr sz="850" b="0">
                          <a:solidFill>
                            <a:srgbClr val="4B4B4B"/>
                          </a:solidFill>
                          <a:latin typeface="Arial"/>
                        </a:rPr>
                        <a:t>System Administrator</a:t>
                      </a:r>
                    </a:p>
                  </a:txBody>
                  <a:tcPr marL="54864" marR="54864" marT="27432" marB="27432">
                    <a:solidFill>
                      <a:srgbClr val="FFFFFF"/>
                    </a:solidFill>
                  </a:tcPr>
                </a:tc>
                <a:tc>
                  <a:txBody>
                    <a:bodyPr/>
                    <a:lstStyle/>
                    <a:p>
                      <a:r>
                        <a:rPr sz="850" b="0">
                          <a:solidFill>
                            <a:srgbClr val="4B4B4B"/>
                          </a:solidFill>
                          <a:latin typeface="Arial"/>
                        </a:rPr>
                        <a:t>The session is open</a:t>
                      </a:r>
                    </a:p>
                  </a:txBody>
                  <a:tcPr marL="54864" marR="54864" marT="27432" marB="27432">
                    <a:solidFill>
                      <a:srgbClr val="FFFFFF"/>
                    </a:solidFill>
                  </a:tcPr>
                </a:tc>
                <a:tc>
                  <a:txBody>
                    <a:bodyPr/>
                    <a:lstStyle/>
                    <a:p>
                      <a:r>
                        <a:rPr sz="850" b="0">
                          <a:solidFill>
                            <a:srgbClr val="4B4B4B"/>
                          </a:solidFill>
                          <a:latin typeface="Arial"/>
                        </a:rPr>
                        <a:t>Ends the session at once on every server; the user is signed out at the next action. Toast: Session ended</a:t>
                      </a:r>
                    </a:p>
                  </a:txBody>
                  <a:tcPr marL="54864" marR="54864" marT="27432" marB="27432">
                    <a:solidFill>
                      <a:srgbClr val="FFFFFF"/>
                    </a:solidFill>
                  </a:tcPr>
                </a:tc>
                <a:tc>
                  <a:txBody>
                    <a:bodyPr/>
                    <a:lstStyle/>
                    <a:p>
                      <a:r>
                        <a:rPr sz="850" b="0">
                          <a:solidFill>
                            <a:srgbClr val="4B4B4B"/>
                          </a:solidFill>
                          <a:latin typeface="Arial"/>
                        </a:rPr>
                        <a:t>Admin Ended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New User (Emergency)</a:t>
                      </a:r>
                    </a:p>
                  </a:txBody>
                  <a:tcPr marL="54864" marR="54864" marT="27432" marB="27432">
                    <a:solidFill>
                      <a:srgbClr val="E5F5FF"/>
                    </a:solidFill>
                  </a:tcPr>
                </a:tc>
                <a:tc>
                  <a:txBody>
                    <a:bodyPr/>
                    <a:lstStyle/>
                    <a:p>
                      <a:r>
                        <a:rPr sz="850" b="0">
                          <a:solidFill>
                            <a:srgbClr val="4B4B4B"/>
                          </a:solidFill>
                          <a:latin typeface="Arial"/>
                        </a:rPr>
                        <a:t>System Administrator, only while UAM_DIRECT_ROLE_EDIT is on</a:t>
                      </a:r>
                    </a:p>
                  </a:txBody>
                  <a:tcPr marL="54864" marR="54864" marT="27432" marB="27432">
                    <a:solidFill>
                      <a:srgbClr val="E5F5FF"/>
                    </a:solidFill>
                  </a:tcPr>
                </a:tc>
                <a:tc>
                  <a:txBody>
                    <a:bodyPr/>
                    <a:lstStyle/>
                    <a:p>
                      <a:r>
                        <a:rPr sz="850" b="0">
                          <a:solidFill>
                            <a:srgbClr val="4B4B4B"/>
                          </a:solidFill>
                          <a:latin typeface="Arial"/>
                        </a:rPr>
                        <a:t>Emergency path open</a:t>
                      </a:r>
                    </a:p>
                  </a:txBody>
                  <a:tcPr marL="54864" marR="54864" marT="27432" marB="27432">
                    <a:solidFill>
                      <a:srgbClr val="E5F5FF"/>
                    </a:solidFill>
                  </a:tcPr>
                </a:tc>
                <a:tc>
                  <a:txBody>
                    <a:bodyPr/>
                    <a:lstStyle/>
                    <a:p>
                      <a:r>
                        <a:rPr sz="850" b="0">
                          <a:solidFill>
                            <a:srgbClr val="4B4B4B"/>
                          </a:solidFill>
                          <a:latin typeface="Arial"/>
                        </a:rPr>
                        <a:t>Creates or edits a user directly (audited, alert raised); not offered as delivered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Alert UAM_DIRECT_ROLE_EDIT</a:t>
                      </a:r>
                    </a:p>
                  </a:txBody>
                  <a:tcPr marL="54864" marR="54864" marT="27432" marB="27432">
                    <a:solidFill>
                      <a:srgbClr val="E5F5FF"/>
                    </a:solidFill>
                  </a:tcPr>
                </a:tc>
              </a:tr>
            </a:tbl>
          </a:graphicData>
        </a:graphic>
      </p:graphicFrame>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270</a:t>
            </a:r>
          </a:p>
        </p:txBody>
      </p:sp>
      <p:graphicFrame>
        <p:nvGraphicFramePr>
          <p:cNvPr id="9" name="Table 8"/>
          <p:cNvGraphicFramePr>
            <a:graphicFrameLocks noGrp="1"/>
          </p:cNvGraphicFramePr>
          <p:nvPr/>
        </p:nvGraphicFramePr>
        <p:xfrm>
          <a:off x="548640" y="1325880"/>
          <a:ext cx="11094415" cy="15240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Users, their data and their group profiles change only through an approved access request; the direct edit is an audited emergency path, closed as delivered (UAM_DIRECT_ROLE_EDIT = false) (FR-UA-052).</a:t>
                      </a:r>
                    </a:p>
                  </a:txBody>
                  <a:tcPr marL="54864" marR="54864" marT="27432" marB="27432">
                    <a:solidFill>
                      <a:srgbClr val="FFFFFF"/>
                    </a:solidFill>
                  </a:tcPr>
                </a:tc>
              </a:tr>
              <a:tr h="396240">
                <a:tc>
                  <a:txBody>
                    <a:bodyPr/>
                    <a:lstStyle/>
                    <a:p>
                      <a:r>
                        <a:rPr sz="1000" b="0">
                          <a:solidFill>
                            <a:srgbClr val="4B4B4B"/>
                          </a:solidFill>
                          <a:latin typeface="Arial"/>
                        </a:rPr>
                        <a:t>A user is shown Online while a session is open; Locked after 3 failed sign-ins; Disabled after a deactivation, by a request or by the dormant-user job (FR-UA-052, FR-UA-004, FR-UA-006).</a:t>
                      </a:r>
                    </a:p>
                  </a:txBody>
                  <a:tcPr marL="54864" marR="54864" marT="27432" marB="27432">
                    <a:solidFill>
                      <a:srgbClr val="E5F5FF"/>
                    </a:solidFill>
                  </a:tcPr>
                </a:tc>
              </a:tr>
              <a:tr h="243840">
                <a:tc>
                  <a:txBody>
                    <a:bodyPr/>
                    <a:lstStyle/>
                    <a:p>
                      <a:r>
                        <a:rPr sz="1000" b="0">
                          <a:solidFill>
                            <a:srgbClr val="4B4B4B"/>
                          </a:solidFill>
                          <a:latin typeface="Arial"/>
                        </a:rPr>
                        <a:t>A deactivated or locked user's open sessions end at once (FR-UA-013, FR-UA-004).</a:t>
                      </a:r>
                    </a:p>
                  </a:txBody>
                  <a:tcPr marL="54864" marR="54864" marT="27432" marB="27432">
                    <a:solidFill>
                      <a:srgbClr val="FFFFFF"/>
                    </a:solidFill>
                  </a:tcPr>
                </a:tc>
              </a:tr>
              <a:tr h="243840">
                <a:tc>
                  <a:txBody>
                    <a:bodyPr/>
                    <a:lstStyle/>
                    <a:p>
                      <a:r>
                        <a:rPr sz="1000" b="0">
                          <a:solidFill>
                            <a:srgbClr val="4B4B4B"/>
                          </a:solidFill>
                          <a:latin typeface="Arial"/>
                        </a:rPr>
                        <a:t>Unlock, password reset and the end of a session are written to the access change log or the audit trail with the administrator's name (FR-UA-064).</a:t>
                      </a:r>
                    </a:p>
                  </a:txBody>
                  <a:tcPr marL="54864" marR="54864" marT="27432" marB="27432">
                    <a:solidFill>
                      <a:srgbClr val="E5F5FF"/>
                    </a:solidFill>
                  </a:tcPr>
                </a:tc>
              </a:tr>
            </a:tbl>
          </a:graphicData>
        </a:graphic>
      </p:graphicFrame>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SCR-UA-15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271</a:t>
            </a:r>
          </a:p>
        </p:txBody>
      </p:sp>
      <p:graphicFrame>
        <p:nvGraphicFramePr>
          <p:cNvPr id="9" name="Table 8"/>
          <p:cNvGraphicFramePr>
            <a:graphicFrameLocks noGrp="1"/>
          </p:cNvGraphicFramePr>
          <p:nvPr/>
        </p:nvGraphicFramePr>
        <p:xfrm>
          <a:off x="548640" y="1325880"/>
          <a:ext cx="11094413" cy="6858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WT-C step 9</a:t>
                      </a:r>
                    </a:p>
                  </a:txBody>
                  <a:tcPr marL="54864" marR="54864" marT="27432" marB="27432">
                    <a:solidFill>
                      <a:srgbClr val="FFFFFF"/>
                    </a:solidFill>
                  </a:tcPr>
                </a:tc>
                <a:tc>
                  <a:txBody>
                    <a:bodyPr/>
                    <a:lstStyle/>
                    <a:p>
                      <a:r>
                        <a:rPr sz="900" b="0">
                          <a:solidFill>
                            <a:srgbClr val="4B4B4B"/>
                          </a:solidFill>
                          <a:latin typeface="Arial"/>
                        </a:rPr>
                        <a:t>Opens Users with the status Locked and clicks Unlock on a013000101</a:t>
                      </a:r>
                    </a:p>
                  </a:txBody>
                  <a:tcPr marL="54864" marR="54864" marT="27432" marB="27432">
                    <a:solidFill>
                      <a:srgbClr val="FFFFFF"/>
                    </a:solidFill>
                  </a:tcPr>
                </a:tc>
                <a:tc>
                  <a:txBody>
                    <a:bodyPr/>
                    <a:lstStyle/>
                    <a:p>
                      <a:r>
                        <a:rPr sz="900" b="0">
                          <a:solidFill>
                            <a:srgbClr val="4B4B4B"/>
                          </a:solidFill>
                          <a:latin typeface="Arial"/>
                        </a:rPr>
                        <a:t>SCR-UA-15_wt-c-step-09.png</a:t>
                      </a:r>
                    </a:p>
                  </a:txBody>
                  <a:tcPr marL="54864" marR="54864" marT="27432" marB="27432">
                    <a:solidFill>
                      <a:srgbClr val="FFFFFF"/>
                    </a:solidFill>
                  </a:tcPr>
                </a:tc>
              </a:tr>
              <a:tr h="228600">
                <a:tc>
                  <a:txBody>
                    <a:bodyPr/>
                    <a:lstStyle/>
                    <a:p>
                      <a:r>
                        <a:rPr sz="900" b="0">
                          <a:solidFill>
                            <a:srgbClr val="4B4B4B"/>
                          </a:solidFill>
                          <a:latin typeface="Arial"/>
                        </a:rPr>
                        <a:t>Read-only or locked</a:t>
                      </a:r>
                    </a:p>
                  </a:txBody>
                  <a:tcPr marL="54864" marR="54864" marT="27432" marB="27432">
                    <a:solidFill>
                      <a:srgbClr val="E5F5FF"/>
                    </a:solidFill>
                  </a:tcPr>
                </a:tc>
                <a:tc>
                  <a:txBody>
                    <a:bodyPr/>
                    <a:lstStyle/>
                    <a:p>
                      <a:r>
                        <a:rPr sz="900" b="0">
                          <a:solidFill>
                            <a:srgbClr val="4B4B4B"/>
                          </a:solidFill>
                          <a:latin typeface="Arial"/>
                        </a:rPr>
                        <a:t>WT-B step 10</a:t>
                      </a:r>
                    </a:p>
                  </a:txBody>
                  <a:tcPr marL="54864" marR="54864" marT="27432" marB="27432">
                    <a:solidFill>
                      <a:srgbClr val="E5F5FF"/>
                    </a:solidFill>
                  </a:tcPr>
                </a:tc>
                <a:tc>
                  <a:txBody>
                    <a:bodyPr/>
                    <a:lstStyle/>
                    <a:p>
                      <a:r>
                        <a:rPr sz="900" b="0">
                          <a:solidFill>
                            <a:srgbClr val="4B4B4B"/>
                          </a:solidFill>
                          <a:latin typeface="Arial"/>
                        </a:rPr>
                        <a:t>Opens Administration › Users with the status Disabled</a:t>
                      </a:r>
                    </a:p>
                  </a:txBody>
                  <a:tcPr marL="54864" marR="54864" marT="27432" marB="27432">
                    <a:solidFill>
                      <a:srgbClr val="E5F5FF"/>
                    </a:solidFill>
                  </a:tcPr>
                </a:tc>
                <a:tc>
                  <a:txBody>
                    <a:bodyPr/>
                    <a:lstStyle/>
                    <a:p>
                      <a:r>
                        <a:rPr sz="900" b="0">
                          <a:solidFill>
                            <a:srgbClr val="4B4B4B"/>
                          </a:solidFill>
                          <a:latin typeface="Arial"/>
                        </a:rPr>
                        <a:t>SCR-UA-15_wt-b-step-10.png</a:t>
                      </a:r>
                    </a:p>
                  </a:txBody>
                  <a:tcPr marL="54864" marR="54864" marT="27432" marB="27432">
                    <a:solidFill>
                      <a:srgbClr val="E5F5FF"/>
                    </a:solidFill>
                  </a:tcPr>
                </a:tc>
              </a:tr>
            </a:tbl>
          </a:graphicData>
        </a:graphic>
      </p:graphicFrame>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SCR-UA-15 Users: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272</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34.png"/>
          <p:cNvPicPr>
            <a:picLocks noChangeAspect="1"/>
          </p:cNvPicPr>
          <p:nvPr/>
        </p:nvPicPr>
        <p:blipFill>
          <a:blip r:embed="rId3"/>
          <a:stretch>
            <a:fillRect/>
          </a:stretch>
        </p:blipFill>
        <p:spPr>
          <a:xfrm>
            <a:off x="548640" y="1261872"/>
            <a:ext cx="11094415" cy="460192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Users with their status (part 1 of 4)</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SCR-UA-15 Users: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35.png"/>
          <p:cNvPicPr>
            <a:picLocks noChangeAspect="1"/>
          </p:cNvPicPr>
          <p:nvPr/>
        </p:nvPicPr>
        <p:blipFill>
          <a:blip r:embed="rId3"/>
          <a:stretch>
            <a:fillRect/>
          </a:stretch>
        </p:blipFill>
        <p:spPr>
          <a:xfrm>
            <a:off x="548640" y="1261872"/>
            <a:ext cx="11094415" cy="458636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Users with their status (part 2 of 4)</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SCR-UA-15 Users: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36.png"/>
          <p:cNvPicPr>
            <a:picLocks noChangeAspect="1"/>
          </p:cNvPicPr>
          <p:nvPr/>
        </p:nvPicPr>
        <p:blipFill>
          <a:blip r:embed="rId3"/>
          <a:stretch>
            <a:fillRect/>
          </a:stretch>
        </p:blipFill>
        <p:spPr>
          <a:xfrm>
            <a:off x="548640" y="1261872"/>
            <a:ext cx="11094415" cy="4734187"/>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Users with their status (part 3 of 4)</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SCR-UA-15 Users: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275</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37.png"/>
          <p:cNvPicPr>
            <a:picLocks noChangeAspect="1"/>
          </p:cNvPicPr>
          <p:nvPr/>
        </p:nvPicPr>
        <p:blipFill>
          <a:blip r:embed="rId3"/>
          <a:stretch>
            <a:fillRect/>
          </a:stretch>
        </p:blipFill>
        <p:spPr>
          <a:xfrm>
            <a:off x="548640" y="1261872"/>
            <a:ext cx="11094415" cy="117090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Users with their status (part 4 of 4)</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SCR-UA-15 Users: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cr-ua-15-02-sessions.png"/>
          <p:cNvPicPr>
            <a:picLocks noChangeAspect="1"/>
          </p:cNvPicPr>
          <p:nvPr/>
        </p:nvPicPr>
        <p:blipFill>
          <a:blip r:embed="rId3"/>
          <a:stretch>
            <a:fillRect/>
          </a:stretch>
        </p:blipFill>
        <p:spPr>
          <a:xfrm>
            <a:off x="2016155" y="1261872"/>
            <a:ext cx="8159384"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Sessions of a user, with End Session</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SCR-UA-16 Roles &amp; Permissions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277</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graphicFrame>
        <p:nvGraphicFramePr>
          <p:cNvPr id="10" name="Table 9"/>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Access evidence and administration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group profiles (roles) against the permissions, with the privilege level and the active flag of each profile, read only as delivered; and the approved group-profile requests waiting for the System Administrator, each implemented with Implement Request.</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System Administrator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Administration › Roles &amp; Permissions</a:t>
                      </a:r>
                    </a:p>
                    <a:p>
                      <a:r>
                        <a:rPr sz="950" b="0">
                          <a:solidFill>
                            <a:srgbClr val="4B4B4B"/>
                          </a:solidFill>
                          <a:latin typeface="Arial"/>
                        </a:rPr>
                        <a:t>Setup &amp; Administration › Administration › Roles &amp; Permissions</a:t>
                      </a:r>
                    </a:p>
                    <a:p>
                      <a:r>
                        <a:rPr sz="950" b="0">
                          <a:solidFill>
                            <a:srgbClr val="4B4B4B"/>
                          </a:solidFill>
                          <a:latin typeface="Arial"/>
                        </a:rPr>
                        <a:t>The notice Access request AR-yyyy-nnnnnn to implement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FR-UA-045, FR-UA-050, FR-UA-051</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approved profile change is applied by the System Administrator and recorded with the request number, the approver and the implementer.</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278</a:t>
            </a:r>
          </a:p>
        </p:txBody>
      </p:sp>
      <p:graphicFrame>
        <p:nvGraphicFramePr>
          <p:cNvPr id="9" name="Table 8"/>
          <p:cNvGraphicFramePr>
            <a:graphicFrameLocks noGrp="1"/>
          </p:cNvGraphicFramePr>
          <p:nvPr/>
        </p:nvGraphicFramePr>
        <p:xfrm>
          <a:off x="548640" y="1325880"/>
          <a:ext cx="11094411" cy="175259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Approved Requests to Implement</a:t>
                      </a:r>
                    </a:p>
                  </a:txBody>
                  <a:tcPr marL="54864" marR="54864" marT="27432" marB="27432">
                    <a:solidFill>
                      <a:srgbClr val="FFFFFF"/>
                    </a:solidFill>
                  </a:tcPr>
                </a:tc>
                <a:tc>
                  <a:txBody>
                    <a:bodyPr/>
                    <a:lstStyle/>
                    <a:p>
                      <a:r>
                        <a:rPr sz="850" b="0">
                          <a:solidFill>
                            <a:srgbClr val="4B4B4B"/>
                          </a:solidFill>
                          <a:latin typeface="Arial"/>
                        </a:rPr>
                        <a:t>Request / Change / Requested By / Approved</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AR-yyyy-nnnnnn; description; name; approver · dd-MMM-yyyy HH:mm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Implement dialog</a:t>
                      </a:r>
                    </a:p>
                  </a:txBody>
                  <a:tcPr marL="54864" marR="54864" marT="27432" marB="27432">
                    <a:solidFill>
                      <a:srgbClr val="E5F5FF"/>
                    </a:solidFill>
                  </a:tcPr>
                </a:tc>
                <a:tc>
                  <a:txBody>
                    <a:bodyPr/>
                    <a:lstStyle/>
                    <a:p>
                      <a:r>
                        <a:rPr sz="850" b="0">
                          <a:solidFill>
                            <a:srgbClr val="4B4B4B"/>
                          </a:solidFill>
                          <a:latin typeface="Arial"/>
                        </a:rPr>
                        <a:t>Permissions added / Permissions removed / Approved by</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Permission names; approver's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Matrix</a:t>
                      </a:r>
                    </a:p>
                  </a:txBody>
                  <a:tcPr marL="54864" marR="54864" marT="27432" marB="27432">
                    <a:solidFill>
                      <a:srgbClr val="FFFFFF"/>
                    </a:solidFill>
                  </a:tcPr>
                </a:tc>
                <a:tc>
                  <a:txBody>
                    <a:bodyPr/>
                    <a:lstStyle/>
                    <a:p>
                      <a:r>
                        <a:rPr sz="850" b="0">
                          <a:solidFill>
                            <a:srgbClr val="4B4B4B"/>
                          </a:solidFill>
                          <a:latin typeface="Arial"/>
                        </a:rPr>
                        <a:t>Permission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Permission name with the code below in small print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Matrix</a:t>
                      </a:r>
                    </a:p>
                  </a:txBody>
                  <a:tcPr marL="54864" marR="54864" marT="27432" marB="27432">
                    <a:solidFill>
                      <a:srgbClr val="E5F5FF"/>
                    </a:solidFill>
                  </a:tcPr>
                </a:tc>
                <a:tc>
                  <a:txBody>
                    <a:bodyPr/>
                    <a:lstStyle/>
                    <a:p>
                      <a:r>
                        <a:rPr sz="850" b="0">
                          <a:solidFill>
                            <a:srgbClr val="4B4B4B"/>
                          </a:solidFill>
                          <a:latin typeface="Arial"/>
                        </a:rPr>
                        <a:t>Profile columns</a:t>
                      </a:r>
                    </a:p>
                  </a:txBody>
                  <a:tcPr marL="54864" marR="54864" marT="27432" marB="27432">
                    <a:solidFill>
                      <a:srgbClr val="E5F5FF"/>
                    </a:solidFill>
                  </a:tcPr>
                </a:tc>
                <a:tc>
                  <a:txBody>
                    <a:bodyPr/>
                    <a:lstStyle/>
                    <a:p>
                      <a:r>
                        <a:rPr sz="850" b="0">
                          <a:solidFill>
                            <a:srgbClr val="4B4B4B"/>
                          </a:solidFill>
                          <a:latin typeface="Arial"/>
                        </a:rPr>
                        <a:t>Check boxes</a:t>
                      </a:r>
                    </a:p>
                  </a:txBody>
                  <a:tcPr marL="54864" marR="54864" marT="27432" marB="27432">
                    <a:solidFill>
                      <a:srgbClr val="E5F5FF"/>
                    </a:solidFill>
                  </a:tcPr>
                </a:tc>
                <a:tc>
                  <a:txBody>
                    <a:bodyPr/>
                    <a:lstStyle/>
                    <a:p>
                      <a:r>
                        <a:rPr sz="850" b="0">
                          <a:solidFill>
                            <a:srgbClr val="4B4B4B"/>
                          </a:solidFill>
                          <a:latin typeface="Arial"/>
                        </a:rPr>
                        <a:t>Profile name · privilege level, (inactive) and the Inactive pill for a deactivated profile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279</a:t>
            </a:r>
          </a:p>
        </p:txBody>
      </p:sp>
      <p:graphicFrame>
        <p:nvGraphicFramePr>
          <p:cNvPr id="9" name="Table 8"/>
          <p:cNvGraphicFramePr>
            <a:graphicFrameLocks noGrp="1"/>
          </p:cNvGraphicFramePr>
          <p:nvPr/>
        </p:nvGraphicFramePr>
        <p:xfrm>
          <a:off x="548640" y="1325880"/>
          <a:ext cx="11094412" cy="105155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Implement Request</a:t>
                      </a:r>
                    </a:p>
                  </a:txBody>
                  <a:tcPr marL="54864" marR="54864" marT="27432" marB="27432">
                    <a:solidFill>
                      <a:srgbClr val="FFFFFF"/>
                    </a:solidFill>
                  </a:tcPr>
                </a:tc>
                <a:tc>
                  <a:txBody>
                    <a:bodyPr/>
                    <a:lstStyle/>
                    <a:p>
                      <a:r>
                        <a:rPr sz="850" b="0">
                          <a:solidFill>
                            <a:srgbClr val="4B4B4B"/>
                          </a:solidFill>
                          <a:latin typeface="Arial"/>
                        </a:rPr>
                        <a:t>System Administrator (role management right), not the requester</a:t>
                      </a:r>
                    </a:p>
                  </a:txBody>
                  <a:tcPr marL="54864" marR="54864" marT="27432" marB="27432">
                    <a:solidFill>
                      <a:srgbClr val="FFFFFF"/>
                    </a:solidFill>
                  </a:tcPr>
                </a:tc>
                <a:tc>
                  <a:txBody>
                    <a:bodyPr/>
                    <a:lstStyle/>
                    <a:p>
                      <a:r>
                        <a:rPr sz="850" b="0">
                          <a:solidFill>
                            <a:srgbClr val="4B4B4B"/>
                          </a:solidFill>
                          <a:latin typeface="Arial"/>
                        </a:rPr>
                        <a:t>Request For Implementation</a:t>
                      </a:r>
                    </a:p>
                  </a:txBody>
                  <a:tcPr marL="54864" marR="54864" marT="27432" marB="27432">
                    <a:solidFill>
                      <a:srgbClr val="FFFFFF"/>
                    </a:solidFill>
                  </a:tcPr>
                </a:tc>
                <a:tc>
                  <a:txBody>
                    <a:bodyPr/>
                    <a:lstStyle/>
                    <a:p>
                      <a:r>
                        <a:rPr sz="850" b="0">
                          <a:solidFill>
                            <a:srgbClr val="4B4B4B"/>
                          </a:solidFill>
                          <a:latin typeface="Arial"/>
                        </a:rPr>
                        <a:t>Applies the approved change to the group profile now; the request becomes Implemented. Toast: AR-yyyy-nnnnnn implemented</a:t>
                      </a:r>
                    </a:p>
                  </a:txBody>
                  <a:tcPr marL="54864" marR="54864" marT="27432" marB="27432">
                    <a:solidFill>
                      <a:srgbClr val="FFFFFF"/>
                    </a:solidFill>
                  </a:tcPr>
                </a:tc>
                <a:tc>
                  <a:txBody>
                    <a:bodyPr/>
                    <a:lstStyle/>
                    <a:p>
                      <a:r>
                        <a:rPr sz="850" b="0">
                          <a:solidFill>
                            <a:srgbClr val="4B4B4B"/>
                          </a:solidFill>
                          <a:latin typeface="Arial"/>
                        </a:rPr>
                        <a:t>Implemented</a:t>
                      </a:r>
                    </a:p>
                  </a:txBody>
                  <a:tcPr marL="54864" marR="54864" marT="27432" marB="27432">
                    <a:solidFill>
                      <a:srgbClr val="FFFFFF"/>
                    </a:solidFill>
                  </a:tcPr>
                </a:tc>
                <a:tc>
                  <a:txBody>
                    <a:bodyPr/>
                    <a:lstStyle/>
                    <a:p>
                      <a:r>
                        <a:rPr sz="850" b="0">
                          <a:solidFill>
                            <a:srgbClr val="4B4B4B"/>
                          </a:solidFill>
                          <a:latin typeface="Arial"/>
                        </a:rPr>
                        <a:t>Access request AR-yyyy-nnnnnn implemented, to the requester</a:t>
                      </a:r>
                    </a:p>
                  </a:txBody>
                  <a:tcPr marL="54864" marR="54864" marT="27432" marB="27432">
                    <a:solidFill>
                      <a:srgbClr val="FFFFFF"/>
                    </a:solidFill>
                  </a:tcPr>
                </a:tc>
              </a:tr>
              <a:tr h="350518">
                <a:tc>
                  <a:txBody>
                    <a:bodyPr/>
                    <a:lstStyle/>
                    <a:p>
                      <a:r>
                        <a:rPr sz="850" b="0">
                          <a:solidFill>
                            <a:srgbClr val="4B4B4B"/>
                          </a:solidFill>
                          <a:latin typeface="Arial"/>
                        </a:rPr>
                        <a:t>Save</a:t>
                      </a:r>
                    </a:p>
                  </a:txBody>
                  <a:tcPr marL="54864" marR="54864" marT="27432" marB="27432">
                    <a:solidFill>
                      <a:srgbClr val="E5F5FF"/>
                    </a:solidFill>
                  </a:tcPr>
                </a:tc>
                <a:tc>
                  <a:txBody>
                    <a:bodyPr/>
                    <a:lstStyle/>
                    <a:p>
                      <a:r>
                        <a:rPr sz="850" b="0">
                          <a:solidFill>
                            <a:srgbClr val="4B4B4B"/>
                          </a:solidFill>
                          <a:latin typeface="Arial"/>
                        </a:rPr>
                        <a:t>System Administrator, only while UAM_DIRECT_ROLE_EDIT is on</a:t>
                      </a:r>
                    </a:p>
                  </a:txBody>
                  <a:tcPr marL="54864" marR="54864" marT="27432" marB="27432">
                    <a:solidFill>
                      <a:srgbClr val="E5F5FF"/>
                    </a:solidFill>
                  </a:tcPr>
                </a:tc>
                <a:tc>
                  <a:txBody>
                    <a:bodyPr/>
                    <a:lstStyle/>
                    <a:p>
                      <a:r>
                        <a:rPr sz="850" b="0">
                          <a:solidFill>
                            <a:srgbClr val="4B4B4B"/>
                          </a:solidFill>
                          <a:latin typeface="Arial"/>
                        </a:rPr>
                        <a:t>Emergency path open and a profile column changed</a:t>
                      </a:r>
                    </a:p>
                  </a:txBody>
                  <a:tcPr marL="54864" marR="54864" marT="27432" marB="27432">
                    <a:solidFill>
                      <a:srgbClr val="E5F5FF"/>
                    </a:solidFill>
                  </a:tcPr>
                </a:tc>
                <a:tc>
                  <a:txBody>
                    <a:bodyPr/>
                    <a:lstStyle/>
                    <a:p>
                      <a:r>
                        <a:rPr sz="850" b="0">
                          <a:solidFill>
                            <a:srgbClr val="4B4B4B"/>
                          </a:solidFill>
                          <a:latin typeface="Arial"/>
                        </a:rPr>
                        <a:t>Saves the profile directly; audited and alerted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Alert UAM_DIRECT_ROLE_EDIT</a:t>
                      </a:r>
                    </a:p>
                  </a:txBody>
                  <a:tcPr marL="54864" marR="54864" marT="27432" marB="27432">
                    <a:solidFill>
                      <a:srgbClr val="E5F5FF"/>
                    </a:solidFill>
                  </a:tcPr>
                </a:tc>
              </a:tr>
            </a:tbl>
          </a:graphicData>
        </a:graphic>
      </p:graphicFrame>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280</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Group profiles change only by implementing an approved group-profile request: Roles are changed through an approved group-profile request; implement the request instead (FR-UA-045).</a:t>
                      </a:r>
                    </a:p>
                  </a:txBody>
                  <a:tcPr marL="54864" marR="54864" marT="27432" marB="27432">
                    <a:solidFill>
                      <a:srgbClr val="FFFFFF"/>
                    </a:solidFill>
                  </a:tcPr>
                </a:tc>
              </a:tr>
              <a:tr h="243840">
                <a:tc>
                  <a:txBody>
                    <a:bodyPr/>
                    <a:lstStyle/>
                    <a:p>
                      <a:r>
                        <a:rPr sz="1000" b="0">
                          <a:solidFill>
                            <a:srgbClr val="4B4B4B"/>
                          </a:solidFill>
                          <a:latin typeface="Arial"/>
                        </a:rPr>
                        <a:t>The implementer is never the requester: A request is implemented by someone other than its requester (FR-UA-045).</a:t>
                      </a:r>
                    </a:p>
                  </a:txBody>
                  <a:tcPr marL="54864" marR="54864" marT="27432" marB="27432">
                    <a:solidFill>
                      <a:srgbClr val="E5F5FF"/>
                    </a:solidFill>
                  </a:tcPr>
                </a:tc>
              </a:tr>
              <a:tr h="243840">
                <a:tc>
                  <a:txBody>
                    <a:bodyPr/>
                    <a:lstStyle/>
                    <a:p>
                      <a:r>
                        <a:rPr sz="1000" b="0">
                          <a:solidFill>
                            <a:srgbClr val="4B4B4B"/>
                          </a:solidFill>
                          <a:latin typeface="Arial"/>
                        </a:rPr>
                        <a:t>While the emergency path is open the page says so, and every direct edit is audited and raises an alert (FR-UA-045, FR-UA-052).</a:t>
                      </a:r>
                    </a:p>
                  </a:txBody>
                  <a:tcPr marL="54864" marR="54864" marT="27432" marB="27432">
                    <a:solidFill>
                      <a:srgbClr val="FFFFFF"/>
                    </a:solidFill>
                  </a:tcPr>
                </a:tc>
              </a:tr>
            </a:tbl>
          </a:graphicData>
        </a:graphic>
      </p:graphicFrame>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SCR-UA-16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281</a:t>
            </a:r>
          </a:p>
        </p:txBody>
      </p:sp>
      <p:graphicFrame>
        <p:nvGraphicFramePr>
          <p:cNvPr id="9" name="Table 8"/>
          <p:cNvGraphicFramePr>
            <a:graphicFrameLocks noGrp="1"/>
          </p:cNvGraphicFramePr>
          <p:nvPr/>
        </p:nvGraphicFramePr>
        <p:xfrm>
          <a:off x="548640" y="1325880"/>
          <a:ext cx="11094413" cy="8229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WT-C step 7</a:t>
                      </a:r>
                    </a:p>
                  </a:txBody>
                  <a:tcPr marL="54864" marR="54864" marT="27432" marB="27432">
                    <a:solidFill>
                      <a:srgbClr val="FFFFFF"/>
                    </a:solidFill>
                  </a:tcPr>
                </a:tc>
                <a:tc>
                  <a:txBody>
                    <a:bodyPr/>
                    <a:lstStyle/>
                    <a:p>
                      <a:r>
                        <a:rPr sz="900" b="0">
                          <a:solidFill>
                            <a:srgbClr val="4B4B4B"/>
                          </a:solidFill>
                          <a:latin typeface="Arial"/>
                        </a:rPr>
                        <a:t>Clicks Implement Request on a group-profile request he raised himself</a:t>
                      </a:r>
                    </a:p>
                  </a:txBody>
                  <a:tcPr marL="54864" marR="54864" marT="27432" marB="27432">
                    <a:solidFill>
                      <a:srgbClr val="FFFFFF"/>
                    </a:solidFill>
                  </a:tcPr>
                </a:tc>
                <a:tc>
                  <a:txBody>
                    <a:bodyPr/>
                    <a:lstStyle/>
                    <a:p>
                      <a:r>
                        <a:rPr sz="900" b="0">
                          <a:solidFill>
                            <a:srgbClr val="4B4B4B"/>
                          </a:solidFill>
                          <a:latin typeface="Arial"/>
                        </a:rPr>
                        <a:t>SCR-UA-16_wt-c-step-07.png</a:t>
                      </a:r>
                    </a:p>
                  </a:txBody>
                  <a:tcPr marL="54864" marR="54864" marT="27432" marB="27432">
                    <a:solidFill>
                      <a:srgbClr val="FFFFFF"/>
                    </a:solidFill>
                  </a:tcPr>
                </a:tc>
              </a:tr>
              <a:tr h="36576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WT-B step 7</a:t>
                      </a:r>
                    </a:p>
                  </a:txBody>
                  <a:tcPr marL="54864" marR="54864" marT="27432" marB="27432">
                    <a:solidFill>
                      <a:srgbClr val="E5F5FF"/>
                    </a:solidFill>
                  </a:tcPr>
                </a:tc>
                <a:tc>
                  <a:txBody>
                    <a:bodyPr/>
                    <a:lstStyle/>
                    <a:p>
                      <a:r>
                        <a:rPr sz="900" b="0">
                          <a:solidFill>
                            <a:srgbClr val="4B4B4B"/>
                          </a:solidFill>
                          <a:latin typeface="Arial"/>
                        </a:rPr>
                        <a:t>Opens Roles &amp; Permissions, finds the request under Approved Requests to Implement, clicks Implement Request and confirms</a:t>
                      </a:r>
                    </a:p>
                  </a:txBody>
                  <a:tcPr marL="54864" marR="54864" marT="27432" marB="27432">
                    <a:solidFill>
                      <a:srgbClr val="E5F5FF"/>
                    </a:solidFill>
                  </a:tcPr>
                </a:tc>
                <a:tc>
                  <a:txBody>
                    <a:bodyPr/>
                    <a:lstStyle/>
                    <a:p>
                      <a:r>
                        <a:rPr sz="900" b="0">
                          <a:solidFill>
                            <a:srgbClr val="4B4B4B"/>
                          </a:solidFill>
                          <a:latin typeface="Arial"/>
                        </a:rPr>
                        <a:t>SCR-UA-16_wt-b-step-07.png</a:t>
                      </a:r>
                    </a:p>
                  </a:txBody>
                  <a:tcPr marL="54864" marR="54864" marT="27432" marB="27432">
                    <a:solidFill>
                      <a:srgbClr val="E5F5FF"/>
                    </a:solidFill>
                  </a:tcPr>
                </a:tc>
              </a:tr>
            </a:tbl>
          </a:graphicData>
        </a:graphic>
      </p:graphicFrame>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SCR-UA-16 Roles &amp; Permissions: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282</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5937199"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1" name="Picture 10" descr="scr-ua-16-02-dialog.png"/>
          <p:cNvPicPr>
            <a:picLocks noChangeAspect="1"/>
          </p:cNvPicPr>
          <p:nvPr/>
        </p:nvPicPr>
        <p:blipFill>
          <a:blip r:embed="rId3"/>
          <a:stretch>
            <a:fillRect/>
          </a:stretch>
        </p:blipFill>
        <p:spPr>
          <a:xfrm>
            <a:off x="548640" y="1261872"/>
            <a:ext cx="11094415" cy="4606111"/>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Implement Request dialog with the permissions added and removed</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SCR-UA-16 Roles &amp; Permissions: Success message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slice-00138.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Roles &amp; Permissions with the approved requests to implement (part 1 of 4)</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SCR-UA-16 Roles &amp; Permissions: Success message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slice-00139.png"/>
          <p:cNvPicPr>
            <a:picLocks noChangeAspect="1"/>
          </p:cNvPicPr>
          <p:nvPr/>
        </p:nvPicPr>
        <p:blipFill>
          <a:blip r:embed="rId3"/>
          <a:stretch>
            <a:fillRect/>
          </a:stretch>
        </p:blipFill>
        <p:spPr>
          <a:xfrm>
            <a:off x="548640" y="1261872"/>
            <a:ext cx="11094415" cy="4654013"/>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Roles &amp; Permissions with the approved requests to implement (part 2 of 4)</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SCR-UA-16 Roles &amp; Permissions: Success message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285</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slice-00140.png"/>
          <p:cNvPicPr>
            <a:picLocks noChangeAspect="1"/>
          </p:cNvPicPr>
          <p:nvPr/>
        </p:nvPicPr>
        <p:blipFill>
          <a:blip r:embed="rId3"/>
          <a:stretch>
            <a:fillRect/>
          </a:stretch>
        </p:blipFill>
        <p:spPr>
          <a:xfrm>
            <a:off x="548640" y="1261872"/>
            <a:ext cx="11094415" cy="4677518"/>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Roles &amp; Permissions with the approved requests to implement (part 3 of 4)</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SCR-UA-16 Roles &amp; Permissions: Success message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slice-00141.png"/>
          <p:cNvPicPr>
            <a:picLocks noChangeAspect="1"/>
          </p:cNvPicPr>
          <p:nvPr/>
        </p:nvPicPr>
        <p:blipFill>
          <a:blip r:embed="rId3"/>
          <a:stretch>
            <a:fillRect/>
          </a:stretch>
        </p:blipFill>
        <p:spPr>
          <a:xfrm>
            <a:off x="548640" y="1261872"/>
            <a:ext cx="11094415" cy="4174508"/>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Roles &amp; Permissions with the approved requests to implement (part 4 of 4)</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SCR-UA-17 User access report (report runner)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287</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graphicFrame>
        <p:nvGraphicFramePr>
          <p:cNvPr id="10" name="Table 9"/>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Access evidence and administration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A user access report in the report runner: its parameters with their defaults, Run Report, Print, the PDF, Excel and CSV downloads, and the result with the parameters echoed and the notes of the report.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Approver, Business Administrator, System Administrator, Auditor, Information Security Officer, New Business Approver (keeps the access approval right)</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User Access › User Access Reports › Report</a:t>
                      </a:r>
                    </a:p>
                    <a:p>
                      <a:r>
                        <a:rPr sz="950" b="0">
                          <a:solidFill>
                            <a:srgbClr val="4B4B4B"/>
                          </a:solidFill>
                          <a:latin typeface="Arial"/>
                        </a:rPr>
                        <a:t>User Access Reports › a report</a:t>
                      </a:r>
                    </a:p>
                    <a:p>
                      <a:r>
                        <a:rPr sz="950" b="0">
                          <a:solidFill>
                            <a:srgbClr val="4B4B4B"/>
                          </a:solidFill>
                          <a:latin typeface="Arial"/>
                        </a:rPr>
                        <a:t>Reports › Report Centre › a report of the category Control &amp; Audit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FR-UA-060, FR-UA-061, FR-UA-062, FR-UA-063</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reports of the BRD samples A to D, and the request list, are produced with their coverage and exported for audit.</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(7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7 images</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SCR-UA-17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288</a:t>
            </a:r>
          </a:p>
        </p:txBody>
      </p:sp>
      <p:graphicFrame>
        <p:nvGraphicFramePr>
          <p:cNvPr id="9" name="Table 8"/>
          <p:cNvGraphicFramePr>
            <a:graphicFrameLocks noGrp="1"/>
          </p:cNvGraphicFramePr>
          <p:nvPr/>
        </p:nvGraphicFramePr>
        <p:xfrm>
          <a:off x="548640" y="1325880"/>
          <a:ext cx="11094411" cy="298702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Parameters</a:t>
                      </a:r>
                    </a:p>
                  </a:txBody>
                  <a:tcPr marL="54864" marR="54864" marT="27432" marB="27432">
                    <a:solidFill>
                      <a:srgbClr val="FFFFFF"/>
                    </a:solidFill>
                  </a:tcPr>
                </a:tc>
                <a:tc>
                  <a:txBody>
                    <a:bodyPr/>
                    <a:lstStyle/>
                    <a:p>
                      <a:r>
                        <a:rPr sz="850" b="0">
                          <a:solidFill>
                            <a:srgbClr val="4B4B4B"/>
                          </a:solidFill>
                          <a:latin typeface="Arial"/>
                        </a:rPr>
                        <a:t>As of Date</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 not in the future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after today</a:t>
                      </a:r>
                    </a:p>
                  </a:txBody>
                  <a:tcPr marL="54864" marR="54864" marT="27432" marB="27432">
                    <a:solidFill>
                      <a:srgbClr val="FFFFFF"/>
                    </a:solidFill>
                  </a:tcPr>
                </a:tc>
                <a:tc>
                  <a:txBody>
                    <a:bodyPr/>
                    <a:lstStyle/>
                    <a:p>
                      <a:r>
                        <a:rPr sz="850" b="0">
                          <a:solidFill>
                            <a:srgbClr val="4B4B4B"/>
                          </a:solidFill>
                          <a:latin typeface="Arial"/>
                        </a:rPr>
                        <a:t>The as-of date cannot be in the future</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Parameters</a:t>
                      </a:r>
                    </a:p>
                  </a:txBody>
                  <a:tcPr marL="54864" marR="54864" marT="27432" marB="27432">
                    <a:solidFill>
                      <a:srgbClr val="E5F5FF"/>
                    </a:solidFill>
                  </a:tcPr>
                </a:tc>
                <a:tc>
                  <a:txBody>
                    <a:bodyPr/>
                    <a:lstStyle/>
                    <a:p>
                      <a:r>
                        <a:rPr sz="850" b="0">
                          <a:solidFill>
                            <a:srgbClr val="4B4B4B"/>
                          </a:solidFill>
                          <a:latin typeface="Arial"/>
                        </a:rPr>
                        <a:t>Date From / Date To</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The end on or after the start</a:t>
                      </a:r>
                    </a:p>
                  </a:txBody>
                  <a:tcPr marL="54864" marR="54864" marT="27432" marB="27432">
                    <a:solidFill>
                      <a:srgbClr val="E5F5FF"/>
                    </a:solidFill>
                  </a:tcPr>
                </a:tc>
                <a:tc>
                  <a:txBody>
                    <a:bodyPr/>
                    <a:lstStyle/>
                    <a:p>
                      <a:r>
                        <a:rPr sz="850" b="0">
                          <a:solidFill>
                            <a:srgbClr val="4B4B4B"/>
                          </a:solidFill>
                          <a:latin typeface="Arial"/>
                        </a:rPr>
                        <a:t>The end date must be on or after the start date</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Parameters</a:t>
                      </a:r>
                    </a:p>
                  </a:txBody>
                  <a:tcPr marL="54864" marR="54864" marT="27432" marB="27432">
                    <a:solidFill>
                      <a:srgbClr val="FFFFFF"/>
                    </a:solidFill>
                  </a:tcPr>
                </a:tc>
                <a:tc>
                  <a:txBody>
                    <a:bodyPr/>
                    <a:lstStyle/>
                    <a:p>
                      <a:r>
                        <a:rPr sz="850" b="0">
                          <a:solidFill>
                            <a:srgbClr val="4B4B4B"/>
                          </a:solidFill>
                          <a:latin typeface="Arial"/>
                        </a:rPr>
                        <a:t>Business Unit Group</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Business unit code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Parameters</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Active, Disabled, Locked (users); the request statuses (Access Requests)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Parameters</a:t>
                      </a:r>
                    </a:p>
                  </a:txBody>
                  <a:tcPr marL="54864" marR="54864" marT="27432" marB="27432">
                    <a:solidFill>
                      <a:srgbClr val="FFFFFF"/>
                    </a:solidFill>
                  </a:tcPr>
                </a:tc>
                <a:tc>
                  <a:txBody>
                    <a:bodyPr/>
                    <a:lstStyle/>
                    <a:p>
                      <a:r>
                        <a:rPr sz="850" b="0">
                          <a:solidFill>
                            <a:srgbClr val="4B4B4B"/>
                          </a:solidFill>
                          <a:latin typeface="Arial"/>
                        </a:rPr>
                        <a:t>Group Profile (code)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Profile code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Parameters</a:t>
                      </a:r>
                    </a:p>
                  </a:txBody>
                  <a:tcPr marL="54864" marR="54864" marT="27432" marB="27432">
                    <a:solidFill>
                      <a:srgbClr val="E5F5FF"/>
                    </a:solidFill>
                  </a:tcPr>
                </a:tc>
                <a:tc>
                  <a:txBody>
                    <a:bodyPr/>
                    <a:lstStyle/>
                    <a:p>
                      <a:r>
                        <a:rPr sz="850" b="0">
                          <a:solidFill>
                            <a:srgbClr val="4B4B4B"/>
                          </a:solidFill>
                          <a:latin typeface="Arial"/>
                        </a:rPr>
                        <a:t>Module (area code)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Area code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Parameters</a:t>
                      </a:r>
                    </a:p>
                  </a:txBody>
                  <a:tcPr marL="54864" marR="54864" marT="27432" marB="27432">
                    <a:solidFill>
                      <a:srgbClr val="FFFFFF"/>
                    </a:solidFill>
                  </a:tcPr>
                </a:tc>
                <a:tc>
                  <a:txBody>
                    <a:bodyPr/>
                    <a:lstStyle/>
                    <a:p>
                      <a:r>
                        <a:rPr sz="850" b="0">
                          <a:solidFill>
                            <a:srgbClr val="4B4B4B"/>
                          </a:solidFill>
                          <a:latin typeface="Arial"/>
                        </a:rPr>
                        <a:t>Active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Yes, No</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Parameters</a:t>
                      </a:r>
                    </a:p>
                  </a:txBody>
                  <a:tcPr marL="54864" marR="54864" marT="27432" marB="27432">
                    <a:solidFill>
                      <a:srgbClr val="E5F5FF"/>
                    </a:solidFill>
                  </a:tcPr>
                </a:tc>
                <a:tc>
                  <a:txBody>
                    <a:bodyPr/>
                    <a:lstStyle/>
                    <a:p>
                      <a:r>
                        <a:rPr sz="850" b="0">
                          <a:solidFill>
                            <a:srgbClr val="4B4B4B"/>
                          </a:solidFill>
                          <a:latin typeface="Arial"/>
                        </a:rPr>
                        <a:t>User / Activity / Include Log-ins and Log-outs</a:t>
                      </a:r>
                    </a:p>
                  </a:txBody>
                  <a:tcPr marL="54864" marR="54864" marT="27432" marB="27432">
                    <a:solidFill>
                      <a:srgbClr val="E5F5FF"/>
                    </a:solidFill>
                  </a:tcPr>
                </a:tc>
                <a:tc>
                  <a:txBody>
                    <a:bodyPr/>
                    <a:lstStyle/>
                    <a:p>
                      <a:r>
                        <a:rPr sz="850" b="0">
                          <a:solidFill>
                            <a:srgbClr val="4B4B4B"/>
                          </a:solidFill>
                          <a:latin typeface="Arial"/>
                        </a:rPr>
                        <a:t>Text / Drop-down / Check box</a:t>
                      </a:r>
                    </a:p>
                  </a:txBody>
                  <a:tcPr marL="54864" marR="54864" marT="27432" marB="27432">
                    <a:solidFill>
                      <a:srgbClr val="E5F5FF"/>
                    </a:solidFill>
                  </a:tcPr>
                </a:tc>
                <a:tc>
                  <a:txBody>
                    <a:bodyPr/>
                    <a:lstStyle/>
                    <a:p>
                      <a:r>
                        <a:rPr sz="850" b="0">
                          <a:solidFill>
                            <a:srgbClr val="4B4B4B"/>
                          </a:solidFill>
                          <a:latin typeface="Arial"/>
                        </a:rPr>
                        <a:t>User ID; the access activities; sign-ins and sign-outs of the audit trail</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Parameters</a:t>
                      </a:r>
                    </a:p>
                  </a:txBody>
                  <a:tcPr marL="54864" marR="54864" marT="27432" marB="27432">
                    <a:solidFill>
                      <a:srgbClr val="FFFFFF"/>
                    </a:solidFill>
                  </a:tcPr>
                </a:tc>
                <a:tc>
                  <a:txBody>
                    <a:bodyPr/>
                    <a:lstStyle/>
                    <a:p>
                      <a:r>
                        <a:rPr sz="850" b="0">
                          <a:solidFill>
                            <a:srgbClr val="4B4B4B"/>
                          </a:solidFill>
                          <a:latin typeface="Arial"/>
                        </a:rPr>
                        <a:t>Request Type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and the request types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SCR-UA-17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289</a:t>
            </a:r>
          </a:p>
        </p:txBody>
      </p:sp>
      <p:graphicFrame>
        <p:nvGraphicFramePr>
          <p:cNvPr id="9" name="Table 8"/>
          <p:cNvGraphicFramePr>
            <a:graphicFrameLocks noGrp="1"/>
          </p:cNvGraphicFramePr>
          <p:nvPr/>
        </p:nvGraphicFramePr>
        <p:xfrm>
          <a:off x="548640" y="1325880"/>
          <a:ext cx="11094411" cy="264412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423142">
                <a:tc>
                  <a:txBody>
                    <a:bodyPr/>
                    <a:lstStyle/>
                    <a:p>
                      <a:r>
                        <a:rPr sz="850" b="0">
                          <a:solidFill>
                            <a:srgbClr val="4B4B4B"/>
                          </a:solidFill>
                          <a:latin typeface="Arial"/>
                        </a:rPr>
                        <a:t>10</a:t>
                      </a:r>
                    </a:p>
                  </a:txBody>
                  <a:tcPr marL="54864" marR="54864" marT="27432" marB="27432">
                    <a:solidFill>
                      <a:srgbClr val="FFFFFF"/>
                    </a:solidFill>
                  </a:tcPr>
                </a:tc>
                <a:tc>
                  <a:txBody>
                    <a:bodyPr/>
                    <a:lstStyle/>
                    <a:p>
                      <a:r>
                        <a:rPr sz="850" b="0">
                          <a:solidFill>
                            <a:srgbClr val="4B4B4B"/>
                          </a:solidFill>
                          <a:latin typeface="Arial"/>
                        </a:rPr>
                        <a:t>Result</a:t>
                      </a:r>
                    </a:p>
                  </a:txBody>
                  <a:tcPr marL="54864" marR="54864" marT="27432" marB="27432">
                    <a:solidFill>
                      <a:srgbClr val="FFFFFF"/>
                    </a:solidFill>
                  </a:tcPr>
                </a:tc>
                <a:tc>
                  <a:txBody>
                    <a:bodyPr/>
                    <a:lstStyle/>
                    <a:p>
                      <a:r>
                        <a:rPr sz="850" b="0">
                          <a:solidFill>
                            <a:srgbClr val="4B4B4B"/>
                          </a:solidFill>
                          <a:latin typeface="Arial"/>
                        </a:rPr>
                        <a:t>Columns of the report</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User Access Report: User Name, User ID / Windows ID, User Group Profile, Business Unit / User Level, Status, Created by, Date Created, Modified by, Date Modified, Last Action / by. User Group Profile Report: Module Name, Task Name, Access, Date Created, Created by, Date Modified, Modified by. Group Profile Membership: Member Username, Member User ID, Created by, Date Created, Modified by, Date Modified. User Access Audit Log: Date, Activity, From, To, Done By, Approved By, Request No. Access Requests: Request No., Request Type, User / Group Profile, Requester, Approver, Date Created, Date Decided, Effective Date, Age (days), Requests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290</a:t>
            </a:r>
          </a:p>
        </p:txBody>
      </p:sp>
      <p:graphicFrame>
        <p:nvGraphicFramePr>
          <p:cNvPr id="9" name="Table 8"/>
          <p:cNvGraphicFramePr>
            <a:graphicFrameLocks noGrp="1"/>
          </p:cNvGraphicFramePr>
          <p:nvPr/>
        </p:nvGraphicFramePr>
        <p:xfrm>
          <a:off x="548640" y="1325880"/>
          <a:ext cx="11094412" cy="127253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Run Report</a:t>
                      </a:r>
                    </a:p>
                  </a:txBody>
                  <a:tcPr marL="54864" marR="54864" marT="27432" marB="27432">
                    <a:solidFill>
                      <a:srgbClr val="FFFFFF"/>
                    </a:solidFill>
                  </a:tcPr>
                </a:tc>
                <a:tc>
                  <a:txBody>
                    <a:bodyPr/>
                    <a:lstStyle/>
                    <a:p>
                      <a:r>
                        <a:rPr sz="850" b="0">
                          <a:solidFill>
                            <a:srgbClr val="4B4B4B"/>
                          </a:solidFill>
                          <a:latin typeface="Arial"/>
                        </a:rPr>
                        <a:t>Holders of the user access report right</a:t>
                      </a:r>
                    </a:p>
                  </a:txBody>
                  <a:tcPr marL="54864" marR="54864" marT="27432" marB="27432">
                    <a:solidFill>
                      <a:srgbClr val="FFFFFF"/>
                    </a:solidFill>
                  </a:tcPr>
                </a:tc>
                <a:tc>
                  <a:txBody>
                    <a:bodyPr/>
                    <a:lstStyle/>
                    <a:p>
                      <a:r>
                        <a:rPr sz="850" b="0">
                          <a:solidFill>
                            <a:srgbClr val="4B4B4B"/>
                          </a:solidFill>
                          <a:latin typeface="Arial"/>
                        </a:rPr>
                        <a:t>Required parameters valid</a:t>
                      </a:r>
                    </a:p>
                  </a:txBody>
                  <a:tcPr marL="54864" marR="54864" marT="27432" marB="27432">
                    <a:solidFill>
                      <a:srgbClr val="FFFFFF"/>
                    </a:solidFill>
                  </a:tcPr>
                </a:tc>
                <a:tc>
                  <a:txBody>
                    <a:bodyPr/>
                    <a:lstStyle/>
                    <a:p>
                      <a:r>
                        <a:rPr sz="850" b="0">
                          <a:solidFill>
                            <a:srgbClr val="4B4B4B"/>
                          </a:solidFill>
                          <a:latin typeface="Arial"/>
                        </a:rPr>
                        <a:t>Runs the report on screen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Print</a:t>
                      </a:r>
                    </a:p>
                  </a:txBody>
                  <a:tcPr marL="54864" marR="54864" marT="27432" marB="27432">
                    <a:solidFill>
                      <a:srgbClr val="E5F5FF"/>
                    </a:solidFill>
                  </a:tcPr>
                </a:tc>
                <a:tc>
                  <a:txBody>
                    <a:bodyPr/>
                    <a:lstStyle/>
                    <a:p>
                      <a:r>
                        <a:rPr sz="850" b="0">
                          <a:solidFill>
                            <a:srgbClr val="4B4B4B"/>
                          </a:solidFill>
                          <a:latin typeface="Arial"/>
                        </a:rPr>
                        <a:t>As Run Report</a:t>
                      </a:r>
                    </a:p>
                  </a:txBody>
                  <a:tcPr marL="54864" marR="54864" marT="27432" marB="27432">
                    <a:solidFill>
                      <a:srgbClr val="E5F5FF"/>
                    </a:solidFill>
                  </a:tcPr>
                </a:tc>
                <a:tc>
                  <a:txBody>
                    <a:bodyPr/>
                    <a:lstStyle/>
                    <a:p>
                      <a:r>
                        <a:rPr sz="850" b="0">
                          <a:solidFill>
                            <a:srgbClr val="4B4B4B"/>
                          </a:solidFill>
                          <a:latin typeface="Arial"/>
                        </a:rPr>
                        <a:t>Required parameters valid</a:t>
                      </a:r>
                    </a:p>
                  </a:txBody>
                  <a:tcPr marL="54864" marR="54864" marT="27432" marB="27432">
                    <a:solidFill>
                      <a:srgbClr val="E5F5FF"/>
                    </a:solidFill>
                  </a:tcPr>
                </a:tc>
                <a:tc>
                  <a:txBody>
                    <a:bodyPr/>
                    <a:lstStyle/>
                    <a:p>
                      <a:r>
                        <a:rPr sz="850" b="0">
                          <a:solidFill>
                            <a:srgbClr val="4B4B4B"/>
                          </a:solidFill>
                          <a:latin typeface="Arial"/>
                        </a:rPr>
                        <a:t>Opens the printable report with the paper, orientation and width chosen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PDF / Excel / CSV download</a:t>
                      </a:r>
                    </a:p>
                  </a:txBody>
                  <a:tcPr marL="54864" marR="54864" marT="27432" marB="27432">
                    <a:solidFill>
                      <a:srgbClr val="FFFFFF"/>
                    </a:solidFill>
                  </a:tcPr>
                </a:tc>
                <a:tc>
                  <a:txBody>
                    <a:bodyPr/>
                    <a:lstStyle/>
                    <a:p>
                      <a:r>
                        <a:rPr sz="850" b="0">
                          <a:solidFill>
                            <a:srgbClr val="4B4B4B"/>
                          </a:solidFill>
                          <a:latin typeface="Arial"/>
                        </a:rPr>
                        <a:t>As Run Report</a:t>
                      </a:r>
                    </a:p>
                  </a:txBody>
                  <a:tcPr marL="54864" marR="54864" marT="27432" marB="27432">
                    <a:solidFill>
                      <a:srgbClr val="FFFFFF"/>
                    </a:solidFill>
                  </a:tcPr>
                </a:tc>
                <a:tc>
                  <a:txBody>
                    <a:bodyPr/>
                    <a:lstStyle/>
                    <a:p>
                      <a:r>
                        <a:rPr sz="850" b="0">
                          <a:solidFill>
                            <a:srgbClr val="4B4B4B"/>
                          </a:solidFill>
                          <a:latin typeface="Arial"/>
                        </a:rPr>
                        <a:t>Required parameters valid</a:t>
                      </a:r>
                    </a:p>
                  </a:txBody>
                  <a:tcPr marL="54864" marR="54864" marT="27432" marB="27432">
                    <a:solidFill>
                      <a:srgbClr val="FFFFFF"/>
                    </a:solidFill>
                  </a:tcPr>
                </a:tc>
                <a:tc>
                  <a:txBody>
                    <a:bodyPr/>
                    <a:lstStyle/>
                    <a:p>
                      <a:r>
                        <a:rPr sz="850" b="0">
                          <a:solidFill>
                            <a:srgbClr val="4B4B4B"/>
                          </a:solidFill>
                          <a:latin typeface="Arial"/>
                        </a:rPr>
                        <a:t>Downloads the report; the header carries the report name, the user who generated it, the date coverage and the time generated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291</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as-of reports show the access held at the end of the as-of date (Philippine time), derived from the access change log (FR-UA-060, FR-UA-062).</a:t>
                      </a:r>
                    </a:p>
                  </a:txBody>
                  <a:tcPr marL="54864" marR="54864" marT="27432" marB="27432">
                    <a:solidFill>
                      <a:srgbClr val="FFFFFF"/>
                    </a:solidFill>
                  </a:tcPr>
                </a:tc>
              </a:tr>
              <a:tr h="243840">
                <a:tc>
                  <a:txBody>
                    <a:bodyPr/>
                    <a:lstStyle/>
                    <a:p>
                      <a:r>
                        <a:rPr sz="1000" b="0">
                          <a:solidFill>
                            <a:srgbClr val="4B4B4B"/>
                          </a:solidFill>
                          <a:latin typeface="Arial"/>
                        </a:rPr>
                        <a:t>Created by and Modified by show the approver and the request number, or the user of a direct change (FR-UA-060).</a:t>
                      </a:r>
                    </a:p>
                  </a:txBody>
                  <a:tcPr marL="54864" marR="54864" marT="27432" marB="27432">
                    <a:solidFill>
                      <a:srgbClr val="E5F5FF"/>
                    </a:solidFill>
                  </a:tcPr>
                </a:tc>
              </a:tr>
              <a:tr h="243840">
                <a:tc>
                  <a:txBody>
                    <a:bodyPr/>
                    <a:lstStyle/>
                    <a:p>
                      <a:r>
                        <a:rPr sz="1000" b="0">
                          <a:solidFill>
                            <a:srgbClr val="4B4B4B"/>
                          </a:solidFill>
                          <a:latin typeface="Arial"/>
                        </a:rPr>
                        <a:t>The audit log merges the access change log, the request history and, on request, the sign-ins, failed sign-ins and sign-outs (FR-UA-063).</a:t>
                      </a:r>
                    </a:p>
                  </a:txBody>
                  <a:tcPr marL="54864" marR="54864" marT="27432" marB="27432">
                    <a:solidFill>
                      <a:srgbClr val="FFFFFF"/>
                    </a:solidFill>
                  </a:tcPr>
                </a:tc>
              </a:tr>
            </a:tbl>
          </a:graphicData>
        </a:graphic>
      </p:graphicFrame>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SCR-UA-17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292</a:t>
            </a:r>
          </a:p>
        </p:txBody>
      </p:sp>
      <p:graphicFrame>
        <p:nvGraphicFramePr>
          <p:cNvPr id="9" name="Table 8"/>
          <p:cNvGraphicFramePr>
            <a:graphicFrameLocks noGrp="1"/>
          </p:cNvGraphicFramePr>
          <p:nvPr/>
        </p:nvGraphicFramePr>
        <p:xfrm>
          <a:off x="548640" y="1325880"/>
          <a:ext cx="11094413" cy="12801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Read-only or locked</a:t>
                      </a:r>
                    </a:p>
                  </a:txBody>
                  <a:tcPr marL="54864" marR="54864" marT="27432" marB="27432">
                    <a:solidFill>
                      <a:srgbClr val="FFFFFF"/>
                    </a:solidFill>
                  </a:tcPr>
                </a:tc>
                <a:tc>
                  <a:txBody>
                    <a:bodyPr/>
                    <a:lstStyle/>
                    <a:p>
                      <a:r>
                        <a:rPr sz="900" b="0">
                          <a:solidFill>
                            <a:srgbClr val="4B4B4B"/>
                          </a:solidFill>
                          <a:latin typeface="Arial"/>
                        </a:rPr>
                        <a:t>WT-A step 8</a:t>
                      </a:r>
                    </a:p>
                  </a:txBody>
                  <a:tcPr marL="54864" marR="54864" marT="27432" marB="27432">
                    <a:solidFill>
                      <a:srgbClr val="FFFFFF"/>
                    </a:solidFill>
                  </a:tcPr>
                </a:tc>
                <a:tc>
                  <a:txBody>
                    <a:bodyPr/>
                    <a:lstStyle/>
                    <a:p>
                      <a:r>
                        <a:rPr sz="900" b="0">
                          <a:solidFill>
                            <a:srgbClr val="4B4B4B"/>
                          </a:solidFill>
                          <a:latin typeface="Arial"/>
                        </a:rPr>
                        <a:t>Opens User Access Reports › User Access Audit Log for today, ticks Include Log-ins and Log-outs and clicks Run Report</a:t>
                      </a:r>
                    </a:p>
                  </a:txBody>
                  <a:tcPr marL="54864" marR="54864" marT="27432" marB="27432">
                    <a:solidFill>
                      <a:srgbClr val="FFFFFF"/>
                    </a:solidFill>
                  </a:tcPr>
                </a:tc>
                <a:tc>
                  <a:txBody>
                    <a:bodyPr/>
                    <a:lstStyle/>
                    <a:p>
                      <a:r>
                        <a:rPr sz="900" b="0">
                          <a:solidFill>
                            <a:srgbClr val="4B4B4B"/>
                          </a:solidFill>
                          <a:latin typeface="Arial"/>
                        </a:rPr>
                        <a:t>SCR-UA-17_wt-a-step-08.png</a:t>
                      </a:r>
                    </a:p>
                  </a:txBody>
                  <a:tcPr marL="54864" marR="54864" marT="27432" marB="27432">
                    <a:solidFill>
                      <a:srgbClr val="FFFFFF"/>
                    </a:solidFill>
                  </a:tcPr>
                </a:tc>
              </a:tr>
              <a:tr h="228600">
                <a:tc>
                  <a:txBody>
                    <a:bodyPr/>
                    <a:lstStyle/>
                    <a:p>
                      <a:r>
                        <a:rPr sz="900" b="0">
                          <a:solidFill>
                            <a:srgbClr val="4B4B4B"/>
                          </a:solidFill>
                          <a:latin typeface="Arial"/>
                        </a:rPr>
                        <a:t>Read-only or locked</a:t>
                      </a:r>
                    </a:p>
                  </a:txBody>
                  <a:tcPr marL="54864" marR="54864" marT="27432" marB="27432">
                    <a:solidFill>
                      <a:srgbClr val="E5F5FF"/>
                    </a:solidFill>
                  </a:tcPr>
                </a:tc>
                <a:tc>
                  <a:txBody>
                    <a:bodyPr/>
                    <a:lstStyle/>
                    <a:p>
                      <a:r>
                        <a:rPr sz="900" b="0">
                          <a:solidFill>
                            <a:srgbClr val="4B4B4B"/>
                          </a:solidFill>
                          <a:latin typeface="Arial"/>
                        </a:rPr>
                        <a:t>WT-D step 2</a:t>
                      </a:r>
                    </a:p>
                  </a:txBody>
                  <a:tcPr marL="54864" marR="54864" marT="27432" marB="27432">
                    <a:solidFill>
                      <a:srgbClr val="E5F5FF"/>
                    </a:solidFill>
                  </a:tcPr>
                </a:tc>
                <a:tc>
                  <a:txBody>
                    <a:bodyPr/>
                    <a:lstStyle/>
                    <a:p>
                      <a:r>
                        <a:rPr sz="900" b="0">
                          <a:solidFill>
                            <a:srgbClr val="4B4B4B"/>
                          </a:solidFill>
                          <a:latin typeface="Arial"/>
                        </a:rPr>
                        <a:t>Runs the User Group Profile Report for the profile UAM_APPROVER</a:t>
                      </a:r>
                    </a:p>
                  </a:txBody>
                  <a:tcPr marL="54864" marR="54864" marT="27432" marB="27432">
                    <a:solidFill>
                      <a:srgbClr val="E5F5FF"/>
                    </a:solidFill>
                  </a:tcPr>
                </a:tc>
                <a:tc>
                  <a:txBody>
                    <a:bodyPr/>
                    <a:lstStyle/>
                    <a:p>
                      <a:r>
                        <a:rPr sz="900" b="0">
                          <a:solidFill>
                            <a:srgbClr val="4B4B4B"/>
                          </a:solidFill>
                          <a:latin typeface="Arial"/>
                        </a:rPr>
                        <a:t>SCR-UA-17_wt-d-step-02.png</a:t>
                      </a:r>
                    </a:p>
                  </a:txBody>
                  <a:tcPr marL="54864" marR="54864" marT="27432" marB="27432">
                    <a:solidFill>
                      <a:srgbClr val="E5F5FF"/>
                    </a:solidFill>
                  </a:tcPr>
                </a:tc>
              </a:tr>
              <a:tr h="228600">
                <a:tc>
                  <a:txBody>
                    <a:bodyPr/>
                    <a:lstStyle/>
                    <a:p>
                      <a:r>
                        <a:rPr sz="900" b="0">
                          <a:solidFill>
                            <a:srgbClr val="4B4B4B"/>
                          </a:solidFill>
                          <a:latin typeface="Arial"/>
                        </a:rPr>
                        <a:t>Read-only or locked</a:t>
                      </a:r>
                    </a:p>
                  </a:txBody>
                  <a:tcPr marL="54864" marR="54864" marT="27432" marB="27432">
                    <a:solidFill>
                      <a:srgbClr val="FFFFFF"/>
                    </a:solidFill>
                  </a:tcPr>
                </a:tc>
                <a:tc>
                  <a:txBody>
                    <a:bodyPr/>
                    <a:lstStyle/>
                    <a:p>
                      <a:r>
                        <a:rPr sz="900" b="0">
                          <a:solidFill>
                            <a:srgbClr val="4B4B4B"/>
                          </a:solidFill>
                          <a:latin typeface="Arial"/>
                        </a:rPr>
                        <a:t>WT-D step 3</a:t>
                      </a:r>
                    </a:p>
                  </a:txBody>
                  <a:tcPr marL="54864" marR="54864" marT="27432" marB="27432">
                    <a:solidFill>
                      <a:srgbClr val="FFFFFF"/>
                    </a:solidFill>
                  </a:tcPr>
                </a:tc>
                <a:tc>
                  <a:txBody>
                    <a:bodyPr/>
                    <a:lstStyle/>
                    <a:p>
                      <a:r>
                        <a:rPr sz="900" b="0">
                          <a:solidFill>
                            <a:srgbClr val="4B4B4B"/>
                          </a:solidFill>
                          <a:latin typeface="Arial"/>
                        </a:rPr>
                        <a:t>Runs Group Profile Membership for MKT_AO as of today</a:t>
                      </a:r>
                    </a:p>
                  </a:txBody>
                  <a:tcPr marL="54864" marR="54864" marT="27432" marB="27432">
                    <a:solidFill>
                      <a:srgbClr val="FFFFFF"/>
                    </a:solidFill>
                  </a:tcPr>
                </a:tc>
                <a:tc>
                  <a:txBody>
                    <a:bodyPr/>
                    <a:lstStyle/>
                    <a:p>
                      <a:r>
                        <a:rPr sz="900" b="0">
                          <a:solidFill>
                            <a:srgbClr val="4B4B4B"/>
                          </a:solidFill>
                          <a:latin typeface="Arial"/>
                        </a:rPr>
                        <a:t>SCR-UA-17_wt-d-step-03.png</a:t>
                      </a:r>
                    </a:p>
                  </a:txBody>
                  <a:tcPr marL="54864" marR="54864" marT="27432" marB="27432">
                    <a:solidFill>
                      <a:srgbClr val="FFFFFF"/>
                    </a:solidFill>
                  </a:tcPr>
                </a:tc>
              </a:tr>
              <a:tr h="228600">
                <a:tc>
                  <a:txBody>
                    <a:bodyPr/>
                    <a:lstStyle/>
                    <a:p>
                      <a:r>
                        <a:rPr sz="900" b="0">
                          <a:solidFill>
                            <a:srgbClr val="4B4B4B"/>
                          </a:solidFill>
                          <a:latin typeface="Arial"/>
                        </a:rPr>
                        <a:t>Read-only or locked</a:t>
                      </a:r>
                    </a:p>
                  </a:txBody>
                  <a:tcPr marL="54864" marR="54864" marT="27432" marB="27432">
                    <a:solidFill>
                      <a:srgbClr val="E5F5FF"/>
                    </a:solidFill>
                  </a:tcPr>
                </a:tc>
                <a:tc>
                  <a:txBody>
                    <a:bodyPr/>
                    <a:lstStyle/>
                    <a:p>
                      <a:r>
                        <a:rPr sz="900" b="0">
                          <a:solidFill>
                            <a:srgbClr val="4B4B4B"/>
                          </a:solidFill>
                          <a:latin typeface="Arial"/>
                        </a:rPr>
                        <a:t>WT-D step 4</a:t>
                      </a:r>
                    </a:p>
                  </a:txBody>
                  <a:tcPr marL="54864" marR="54864" marT="27432" marB="27432">
                    <a:solidFill>
                      <a:srgbClr val="E5F5FF"/>
                    </a:solidFill>
                  </a:tcPr>
                </a:tc>
                <a:tc>
                  <a:txBody>
                    <a:bodyPr/>
                    <a:lstStyle/>
                    <a:p>
                      <a:r>
                        <a:rPr sz="900" b="0">
                          <a:solidFill>
                            <a:srgbClr val="4B4B4B"/>
                          </a:solidFill>
                          <a:latin typeface="Arial"/>
                        </a:rPr>
                        <a:t>Runs the User Access Audit Log from the installation date with the activity Group Profile Changes</a:t>
                      </a:r>
                    </a:p>
                  </a:txBody>
                  <a:tcPr marL="54864" marR="54864" marT="27432" marB="27432">
                    <a:solidFill>
                      <a:srgbClr val="E5F5FF"/>
                    </a:solidFill>
                  </a:tcPr>
                </a:tc>
                <a:tc>
                  <a:txBody>
                    <a:bodyPr/>
                    <a:lstStyle/>
                    <a:p>
                      <a:r>
                        <a:rPr sz="900" b="0">
                          <a:solidFill>
                            <a:srgbClr val="4B4B4B"/>
                          </a:solidFill>
                          <a:latin typeface="Arial"/>
                        </a:rPr>
                        <a:t>SCR-UA-17_wt-d-step-04.png</a:t>
                      </a:r>
                    </a:p>
                  </a:txBody>
                  <a:tcPr marL="54864" marR="54864" marT="27432" marB="27432">
                    <a:solidFill>
                      <a:srgbClr val="E5F5FF"/>
                    </a:solidFill>
                  </a:tcPr>
                </a:tc>
              </a:tr>
            </a:tbl>
          </a:graphicData>
        </a:graphic>
      </p:graphicFrame>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SCR-UA-17 User access report (report runner): Read-only or locked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42.png"/>
          <p:cNvPicPr>
            <a:picLocks noChangeAspect="1"/>
          </p:cNvPicPr>
          <p:nvPr/>
        </p:nvPicPr>
        <p:blipFill>
          <a:blip r:embed="rId3"/>
          <a:stretch>
            <a:fillRect/>
          </a:stretch>
        </p:blipFill>
        <p:spPr>
          <a:xfrm>
            <a:off x="548640" y="1261872"/>
            <a:ext cx="11094415" cy="460700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Access Audit Log with the from and to values (part 1 of 4)</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SCR-UA-17 User access report (report runner): Read-only or locked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43.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Access Audit Log with the from and to values (part 2 of 4)</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SCR-UA-17 User access report (report runner): Read-only or locked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295</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44.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Access Audit Log with the from and to values (part 3 of 4)</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SCR-UA-17 User access report (report runner): Read-only or locked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45.png"/>
          <p:cNvPicPr>
            <a:picLocks noChangeAspect="1"/>
          </p:cNvPicPr>
          <p:nvPr/>
        </p:nvPicPr>
        <p:blipFill>
          <a:blip r:embed="rId3"/>
          <a:stretch>
            <a:fillRect/>
          </a:stretch>
        </p:blipFill>
        <p:spPr>
          <a:xfrm>
            <a:off x="548640" y="1261872"/>
            <a:ext cx="11094415" cy="4165106"/>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Access Audit Log with the from and to values (part 4 of 4)</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SCR-UA-17 User access report (report runner): Read-only or locked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297</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46.png"/>
          <p:cNvPicPr>
            <a:picLocks noChangeAspect="1"/>
          </p:cNvPicPr>
          <p:nvPr/>
        </p:nvPicPr>
        <p:blipFill>
          <a:blip r:embed="rId3"/>
          <a:stretch>
            <a:fillRect/>
          </a:stretch>
        </p:blipFill>
        <p:spPr>
          <a:xfrm>
            <a:off x="548640" y="1261872"/>
            <a:ext cx="11094415" cy="434212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Group Profile Report of one profile (part 1 of 5)</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SCR-UA-17 User access report (report runner): Read-only or locked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298</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47.png"/>
          <p:cNvPicPr>
            <a:picLocks noChangeAspect="1"/>
          </p:cNvPicPr>
          <p:nvPr/>
        </p:nvPicPr>
        <p:blipFill>
          <a:blip r:embed="rId3"/>
          <a:stretch>
            <a:fillRect/>
          </a:stretch>
        </p:blipFill>
        <p:spPr>
          <a:xfrm>
            <a:off x="548640" y="1261872"/>
            <a:ext cx="11094415" cy="4638613"/>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Group Profile Report of one profile (part 2 of 5)</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SCR-UA-17 User access report (report runner): Read-only or locked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299</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48.png"/>
          <p:cNvPicPr>
            <a:picLocks noChangeAspect="1"/>
          </p:cNvPicPr>
          <p:nvPr/>
        </p:nvPicPr>
        <p:blipFill>
          <a:blip r:embed="rId3"/>
          <a:stretch>
            <a:fillRect/>
          </a:stretch>
        </p:blipFill>
        <p:spPr>
          <a:xfrm>
            <a:off x="548640" y="1261872"/>
            <a:ext cx="11094415" cy="4662523"/>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Group Profile Report of one profile (part 3 of 5)</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SCR-UA-17 User access report (report runner): Read-only or locked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300</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49.png"/>
          <p:cNvPicPr>
            <a:picLocks noChangeAspect="1"/>
          </p:cNvPicPr>
          <p:nvPr/>
        </p:nvPicPr>
        <p:blipFill>
          <a:blip r:embed="rId3"/>
          <a:stretch>
            <a:fillRect/>
          </a:stretch>
        </p:blipFill>
        <p:spPr>
          <a:xfrm>
            <a:off x="548640" y="1261872"/>
            <a:ext cx="11094415" cy="466730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Group Profile Report of one profile (part 4 of 5)</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SCR-UA-17 User access report (report runner): Read-only or locked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301</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50.png"/>
          <p:cNvPicPr>
            <a:picLocks noChangeAspect="1"/>
          </p:cNvPicPr>
          <p:nvPr/>
        </p:nvPicPr>
        <p:blipFill>
          <a:blip r:embed="rId3"/>
          <a:stretch>
            <a:fillRect/>
          </a:stretch>
        </p:blipFill>
        <p:spPr>
          <a:xfrm>
            <a:off x="548640" y="1261872"/>
            <a:ext cx="11094415" cy="24388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Group Profile Report of one profile (part 5 of 5)</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SCR-UA-17 User access report (report runner): Read-only or locked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302</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51.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Access Report as of today (part 1 of 4)</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SCR-UA-17 User access report (report runner): Read-only or locked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52.png"/>
          <p:cNvPicPr>
            <a:picLocks noChangeAspect="1"/>
          </p:cNvPicPr>
          <p:nvPr/>
        </p:nvPicPr>
        <p:blipFill>
          <a:blip r:embed="rId3"/>
          <a:stretch>
            <a:fillRect/>
          </a:stretch>
        </p:blipFill>
        <p:spPr>
          <a:xfrm>
            <a:off x="548640" y="1261872"/>
            <a:ext cx="11094415" cy="4508281"/>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Access Report as of today (part 2 of 4)</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SCR-UA-17 User access report (report runner): Read-only or locked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53.png"/>
          <p:cNvPicPr>
            <a:picLocks noChangeAspect="1"/>
          </p:cNvPicPr>
          <p:nvPr/>
        </p:nvPicPr>
        <p:blipFill>
          <a:blip r:embed="rId3"/>
          <a:stretch>
            <a:fillRect/>
          </a:stretch>
        </p:blipFill>
        <p:spPr>
          <a:xfrm>
            <a:off x="548640" y="1261872"/>
            <a:ext cx="11094415" cy="4701023"/>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Access Report as of today (part 3 of 4)</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SCR-UA-17 User access report (report runner): Read-only or locked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305</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54.png"/>
          <p:cNvPicPr>
            <a:picLocks noChangeAspect="1"/>
          </p:cNvPicPr>
          <p:nvPr/>
        </p:nvPicPr>
        <p:blipFill>
          <a:blip r:embed="rId3"/>
          <a:stretch>
            <a:fillRect/>
          </a:stretch>
        </p:blipFill>
        <p:spPr>
          <a:xfrm>
            <a:off x="548640" y="1261872"/>
            <a:ext cx="11094415" cy="429673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User Access Report as of today (part 4 of 4)</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SCR-UA-18 System Parameters (sign-in, password and access settings)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graphicFrame>
        <p:nvGraphicFramePr>
          <p:cNvPr id="10" name="Table 9"/>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Access evidence and administration</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list of the business parameters, with the security category holding the sign-in, password, session and access-request settings of this set. The System Administrator changes a value in a dialog, checked by type and range; a change of a security setting waits until the Information Security Officer approves it.</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Business Administrator, System Administrator, Auditor, Information Security Officer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Administration › System Parameters</a:t>
                      </a:r>
                    </a:p>
                    <a:p>
                      <a:r>
                        <a:rPr sz="950" b="0">
                          <a:solidFill>
                            <a:srgbClr val="4B4B4B"/>
                          </a:solidFill>
                          <a:latin typeface="Arial"/>
                        </a:rPr>
                        <a:t>Setup &amp; Administration › Administration › System Parameters</a:t>
                      </a:r>
                    </a:p>
                    <a:p>
                      <a:r>
                        <a:rPr sz="950" b="0">
                          <a:solidFill>
                            <a:srgbClr val="4B4B4B"/>
                          </a:solidFill>
                          <a:latin typeface="Arial"/>
                        </a:rPr>
                        <a:t>The notice Security setting to approve, and My Approvals (Information Security Officer)</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FR-UA-001, FR-UA-002, FR-UA-005, FR-UA-006, FR-UA-052, FR-UA-054</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security settings agreed with BDOI Information Security change only under four eyes, and every change is kept under audit.</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307</a:t>
            </a:r>
          </a:p>
        </p:txBody>
      </p:sp>
      <p:graphicFrame>
        <p:nvGraphicFramePr>
          <p:cNvPr id="9" name="Table 8"/>
          <p:cNvGraphicFramePr>
            <a:graphicFrameLocks noGrp="1"/>
          </p:cNvGraphicFramePr>
          <p:nvPr/>
        </p:nvGraphicFramePr>
        <p:xfrm>
          <a:off x="548640" y="1325880"/>
          <a:ext cx="11094411" cy="409953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Parameters</a:t>
                      </a:r>
                    </a:p>
                  </a:txBody>
                  <a:tcPr marL="54864" marR="54864" marT="27432" marB="27432">
                    <a:solidFill>
                      <a:srgbClr val="FFFFFF"/>
                    </a:solidFill>
                  </a:tcPr>
                </a:tc>
                <a:tc>
                  <a:txBody>
                    <a:bodyPr/>
                    <a:lstStyle/>
                    <a:p>
                      <a:r>
                        <a:rPr sz="850" b="0">
                          <a:solidFill>
                            <a:srgbClr val="4B4B4B"/>
                          </a:solidFill>
                          <a:latin typeface="Arial"/>
                        </a:rPr>
                        <a:t>Category</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Security for the settings of this set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164590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Parameters</a:t>
                      </a:r>
                    </a:p>
                  </a:txBody>
                  <a:tcPr marL="54864" marR="54864" marT="27432" marB="27432">
                    <a:solidFill>
                      <a:srgbClr val="E5F5FF"/>
                    </a:solidFill>
                  </a:tcPr>
                </a:tc>
                <a:tc>
                  <a:txBody>
                    <a:bodyPr/>
                    <a:lstStyle/>
                    <a:p>
                      <a:r>
                        <a:rPr sz="850" b="0">
                          <a:solidFill>
                            <a:srgbClr val="4B4B4B"/>
                          </a:solidFill>
                          <a:latin typeface="Arial"/>
                        </a:rPr>
                        <a:t>Parameter</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LOGIN_MAX_FAILED_ATTEMPTS, SESSION_IDLE_WARNING_MINUTES, SESSION_TIMEOUT_MINUTES, SESSION_EXPIRY_WARNING_MINUTES, AUTH_MODE, USER_ID_PATTERN, USER_ID_FORMAT_TEXT, PASSWORD_HISTORY_COUNT, PASSWORD_MAX_AGE_DAYS, PASSWORD_MIN_AGE_DAYS, UAM_WORKING_HOURS, UAM_ANY_APPROVER, UAM_DIRECT_ROLE_EDIT, UAM_ROLE_APPLY_ON_APPROVAL, UAM_EXTERNAL_USERS, UAM_DORMANT_DAYS, UAM_DORMANT_NOTICE_DAYS, JOB_FAILURE_RECIPIENTS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Parameters</a:t>
                      </a:r>
                    </a:p>
                  </a:txBody>
                  <a:tcPr marL="54864" marR="54864" marT="27432" marB="27432">
                    <a:solidFill>
                      <a:srgbClr val="FFFFFF"/>
                    </a:solidFill>
                  </a:tcPr>
                </a:tc>
                <a:tc>
                  <a:txBody>
                    <a:bodyPr/>
                    <a:lstStyle/>
                    <a:p>
                      <a:r>
                        <a:rPr sz="850" b="0">
                          <a:solidFill>
                            <a:srgbClr val="4B4B4B"/>
                          </a:solidFill>
                          <a:latin typeface="Arial"/>
                        </a:rPr>
                        <a:t>Value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Value in force; under it, Waiting for approval: &lt;new value&gt;, asked by &lt;name&gt; while a change waits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Parameters</a:t>
                      </a:r>
                    </a:p>
                  </a:txBody>
                  <a:tcPr marL="54864" marR="54864" marT="27432" marB="27432">
                    <a:solidFill>
                      <a:srgbClr val="E5F5FF"/>
                    </a:solidFill>
                  </a:tcPr>
                </a:tc>
                <a:tc>
                  <a:txBody>
                    <a:bodyPr/>
                    <a:lstStyle/>
                    <a:p>
                      <a:r>
                        <a:rPr sz="850" b="0">
                          <a:solidFill>
                            <a:srgbClr val="4B4B4B"/>
                          </a:solidFill>
                          <a:latin typeface="Arial"/>
                        </a:rPr>
                        <a:t>Description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What the parameter does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Parameters</a:t>
                      </a:r>
                    </a:p>
                  </a:txBody>
                  <a:tcPr marL="54864" marR="54864" marT="27432" marB="27432">
                    <a:solidFill>
                      <a:srgbClr val="FFFFFF"/>
                    </a:solidFill>
                  </a:tcPr>
                </a:tc>
                <a:tc>
                  <a:txBody>
                    <a:bodyPr/>
                    <a:lstStyle/>
                    <a:p>
                      <a:r>
                        <a:rPr sz="850" b="0">
                          <a:solidFill>
                            <a:srgbClr val="4B4B4B"/>
                          </a:solidFill>
                          <a:latin typeface="Arial"/>
                        </a:rPr>
                        <a:t>Last Changed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Name, dd-MMM-yyyy HH:mm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Edit dialog</a:t>
                      </a:r>
                    </a:p>
                  </a:txBody>
                  <a:tcPr marL="54864" marR="54864" marT="27432" marB="27432">
                    <a:solidFill>
                      <a:srgbClr val="E5F5FF"/>
                    </a:solidFill>
                  </a:tcPr>
                </a:tc>
                <a:tc>
                  <a:txBody>
                    <a:bodyPr/>
                    <a:lstStyle/>
                    <a:p>
                      <a:r>
                        <a:rPr sz="850" b="0">
                          <a:solidFill>
                            <a:srgbClr val="4B4B4B"/>
                          </a:solidFill>
                          <a:latin typeface="Arial"/>
                        </a:rPr>
                        <a:t>Value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1,000 characters; the hint gives the type and range; a security setting says that the change applies once another user approves it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Type and range of the parameter</a:t>
                      </a:r>
                    </a:p>
                  </a:txBody>
                  <a:tcPr marL="54864" marR="54864" marT="27432" marB="27432">
                    <a:solidFill>
                      <a:srgbClr val="E5F5FF"/>
                    </a:solidFill>
                  </a:tcPr>
                </a:tc>
                <a:tc>
                  <a:txBody>
                    <a:bodyPr/>
                    <a:lstStyle/>
                    <a:p>
                      <a:r>
                        <a:rPr sz="850" b="0">
                          <a:solidFill>
                            <a:srgbClr val="4B4B4B"/>
                          </a:solidFill>
                          <a:latin typeface="Arial"/>
                        </a:rPr>
                        <a:t>&lt;parameter&gt; &lt;error of the type or range&gt;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Approval dialog</a:t>
                      </a:r>
                    </a:p>
                  </a:txBody>
                  <a:tcPr marL="54864" marR="54864" marT="27432" marB="27432">
                    <a:solidFill>
                      <a:srgbClr val="FFFFFF"/>
                    </a:solidFill>
                  </a:tcPr>
                </a:tc>
                <a:tc>
                  <a:txBody>
                    <a:bodyPr/>
                    <a:lstStyle/>
                    <a:p>
                      <a:r>
                        <a:rPr sz="850" b="0">
                          <a:solidFill>
                            <a:srgbClr val="4B4B4B"/>
                          </a:solidFill>
                          <a:latin typeface="Arial"/>
                        </a:rPr>
                        <a:t>Current value / New value / Requested by / Requested 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The two values; the name of the requester and dd-MMM-yyyy HH:mm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308</a:t>
            </a:r>
          </a:p>
        </p:txBody>
      </p:sp>
      <p:graphicFrame>
        <p:nvGraphicFramePr>
          <p:cNvPr id="9" name="Table 8"/>
          <p:cNvGraphicFramePr>
            <a:graphicFrameLocks noGrp="1"/>
          </p:cNvGraphicFramePr>
          <p:nvPr/>
        </p:nvGraphicFramePr>
        <p:xfrm>
          <a:off x="548640" y="1325880"/>
          <a:ext cx="11094412" cy="227074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609596">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System Administrator (parameter management right); Information Security Officer (security setting approval right)</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edit dialog; for a setting whose change waits, the approval dialog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Save</a:t>
                      </a:r>
                    </a:p>
                  </a:txBody>
                  <a:tcPr marL="54864" marR="54864" marT="27432" marB="27432">
                    <a:solidFill>
                      <a:srgbClr val="E5F5FF"/>
                    </a:solidFill>
                  </a:tcPr>
                </a:tc>
                <a:tc>
                  <a:txBody>
                    <a:bodyPr/>
                    <a:lstStyle/>
                    <a:p>
                      <a:r>
                        <a:rPr sz="850" b="0">
                          <a:solidFill>
                            <a:srgbClr val="4B4B4B"/>
                          </a:solidFill>
                          <a:latin typeface="Arial"/>
                        </a:rPr>
                        <a:t>System Administrator (parameter management right)</a:t>
                      </a:r>
                    </a:p>
                  </a:txBody>
                  <a:tcPr marL="54864" marR="54864" marT="27432" marB="27432">
                    <a:solidFill>
                      <a:srgbClr val="E5F5FF"/>
                    </a:solidFill>
                  </a:tcPr>
                </a:tc>
                <a:tc>
                  <a:txBody>
                    <a:bodyPr/>
                    <a:lstStyle/>
                    <a:p>
                      <a:r>
                        <a:rPr sz="850" b="0">
                          <a:solidFill>
                            <a:srgbClr val="4B4B4B"/>
                          </a:solidFill>
                          <a:latin typeface="Arial"/>
                        </a:rPr>
                        <a:t>Value valid</a:t>
                      </a:r>
                    </a:p>
                  </a:txBody>
                  <a:tcPr marL="54864" marR="54864" marT="27432" marB="27432">
                    <a:solidFill>
                      <a:srgbClr val="E5F5FF"/>
                    </a:solidFill>
                  </a:tcPr>
                </a:tc>
                <a:tc>
                  <a:txBody>
                    <a:bodyPr/>
                    <a:lstStyle/>
                    <a:p>
                      <a:r>
                        <a:rPr sz="850" b="0">
                          <a:solidFill>
                            <a:srgbClr val="4B4B4B"/>
                          </a:solidFill>
                          <a:latin typeface="Arial"/>
                        </a:rPr>
                        <a:t>A security setting: keeps the change as waiting for approval and tells the approvers. Toast: &lt;description&gt;: change sent for approval. Another parameter: saves it at once. Toast: &lt;description&gt;: updated</a:t>
                      </a:r>
                    </a:p>
                  </a:txBody>
                  <a:tcPr marL="54864" marR="54864" marT="27432" marB="27432">
                    <a:solidFill>
                      <a:srgbClr val="E5F5FF"/>
                    </a:solidFill>
                  </a:tcPr>
                </a:tc>
                <a:tc>
                  <a:txBody>
                    <a:bodyPr/>
                    <a:lstStyle/>
                    <a:p>
                      <a:r>
                        <a:rPr sz="850" b="0">
                          <a:solidFill>
                            <a:srgbClr val="4B4B4B"/>
                          </a:solidFill>
                          <a:latin typeface="Arial"/>
                        </a:rPr>
                        <a:t>Waiting for approval, or changed</a:t>
                      </a:r>
                    </a:p>
                  </a:txBody>
                  <a:tcPr marL="54864" marR="54864" marT="27432" marB="27432">
                    <a:solidFill>
                      <a:srgbClr val="E5F5FF"/>
                    </a:solidFill>
                  </a:tcPr>
                </a:tc>
                <a:tc>
                  <a:txBody>
                    <a:bodyPr/>
                    <a:lstStyle/>
                    <a:p>
                      <a:r>
                        <a:rPr sz="850" b="0">
                          <a:solidFill>
                            <a:srgbClr val="4B4B4B"/>
                          </a:solidFill>
                          <a:latin typeface="Arial"/>
                        </a:rPr>
                        <a:t>Security setting to approve, to the Information Security Officers</a:t>
                      </a:r>
                    </a:p>
                  </a:txBody>
                  <a:tcPr marL="54864" marR="54864" marT="27432" marB="27432">
                    <a:solidFill>
                      <a:srgbClr val="E5F5FF"/>
                    </a:solidFill>
                  </a:tcPr>
                </a:tc>
              </a:tr>
              <a:tr h="480057">
                <a:tc>
                  <a:txBody>
                    <a:bodyPr/>
                    <a:lstStyle/>
                    <a:p>
                      <a:r>
                        <a:rPr sz="850" b="0">
                          <a:solidFill>
                            <a:srgbClr val="4B4B4B"/>
                          </a:solidFill>
                          <a:latin typeface="Arial"/>
                        </a:rPr>
                        <a:t>Approve</a:t>
                      </a:r>
                    </a:p>
                  </a:txBody>
                  <a:tcPr marL="54864" marR="54864" marT="27432" marB="27432">
                    <a:solidFill>
                      <a:srgbClr val="FFFFFF"/>
                    </a:solidFill>
                  </a:tcPr>
                </a:tc>
                <a:tc>
                  <a:txBody>
                    <a:bodyPr/>
                    <a:lstStyle/>
                    <a:p>
                      <a:r>
                        <a:rPr sz="850" b="0">
                          <a:solidFill>
                            <a:srgbClr val="4B4B4B"/>
                          </a:solidFill>
                          <a:latin typeface="Arial"/>
                        </a:rPr>
                        <a:t>Information Security Officer (security setting approval right), not the requester</a:t>
                      </a:r>
                    </a:p>
                  </a:txBody>
                  <a:tcPr marL="54864" marR="54864" marT="27432" marB="27432">
                    <a:solidFill>
                      <a:srgbClr val="FFFFFF"/>
                    </a:solidFill>
                  </a:tcPr>
                </a:tc>
                <a:tc>
                  <a:txBody>
                    <a:bodyPr/>
                    <a:lstStyle/>
                    <a:p>
                      <a:r>
                        <a:rPr sz="850" b="0">
                          <a:solidFill>
                            <a:srgbClr val="4B4B4B"/>
                          </a:solidFill>
                          <a:latin typeface="Arial"/>
                        </a:rPr>
                        <a:t>A change waits</a:t>
                      </a:r>
                    </a:p>
                  </a:txBody>
                  <a:tcPr marL="54864" marR="54864" marT="27432" marB="27432">
                    <a:solidFill>
                      <a:srgbClr val="FFFFFF"/>
                    </a:solidFill>
                  </a:tcPr>
                </a:tc>
                <a:tc>
                  <a:txBody>
                    <a:bodyPr/>
                    <a:lstStyle/>
                    <a:p>
                      <a:r>
                        <a:rPr sz="850" b="0">
                          <a:solidFill>
                            <a:srgbClr val="4B4B4B"/>
                          </a:solidFill>
                          <a:latin typeface="Arial"/>
                        </a:rPr>
                        <a:t>Applies the new value at once, audited with the requester and the approver. Toast: &lt;description&gt;: change approved</a:t>
                      </a:r>
                    </a:p>
                  </a:txBody>
                  <a:tcPr marL="54864" marR="54864" marT="27432" marB="27432">
                    <a:solidFill>
                      <a:srgbClr val="FFFFFF"/>
                    </a:solidFill>
                  </a:tcPr>
                </a:tc>
                <a:tc>
                  <a:txBody>
                    <a:bodyPr/>
                    <a:lstStyle/>
                    <a:p>
                      <a:r>
                        <a:rPr sz="850" b="0">
                          <a:solidFill>
                            <a:srgbClr val="4B4B4B"/>
                          </a:solidFill>
                          <a:latin typeface="Arial"/>
                        </a:rPr>
                        <a:t>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Reject</a:t>
                      </a:r>
                    </a:p>
                  </a:txBody>
                  <a:tcPr marL="54864" marR="54864" marT="27432" marB="27432">
                    <a:solidFill>
                      <a:srgbClr val="E5F5FF"/>
                    </a:solidFill>
                  </a:tcPr>
                </a:tc>
                <a:tc>
                  <a:txBody>
                    <a:bodyPr/>
                    <a:lstStyle/>
                    <a:p>
                      <a:r>
                        <a:rPr sz="850" b="0">
                          <a:solidFill>
                            <a:srgbClr val="4B4B4B"/>
                          </a:solidFill>
                          <a:latin typeface="Arial"/>
                        </a:rPr>
                        <a:t>Information Security Officer; Withdraw for the requester</a:t>
                      </a:r>
                    </a:p>
                  </a:txBody>
                  <a:tcPr marL="54864" marR="54864" marT="27432" marB="27432">
                    <a:solidFill>
                      <a:srgbClr val="E5F5FF"/>
                    </a:solidFill>
                  </a:tcPr>
                </a:tc>
                <a:tc>
                  <a:txBody>
                    <a:bodyPr/>
                    <a:lstStyle/>
                    <a:p>
                      <a:r>
                        <a:rPr sz="850" b="0">
                          <a:solidFill>
                            <a:srgbClr val="4B4B4B"/>
                          </a:solidFill>
                          <a:latin typeface="Arial"/>
                        </a:rPr>
                        <a:t>A change waits</a:t>
                      </a:r>
                    </a:p>
                  </a:txBody>
                  <a:tcPr marL="54864" marR="54864" marT="27432" marB="27432">
                    <a:solidFill>
                      <a:srgbClr val="E5F5FF"/>
                    </a:solidFill>
                  </a:tcPr>
                </a:tc>
                <a:tc>
                  <a:txBody>
                    <a:bodyPr/>
                    <a:lstStyle/>
                    <a:p>
                      <a:r>
                        <a:rPr sz="850" b="0">
                          <a:solidFill>
                            <a:srgbClr val="4B4B4B"/>
                          </a:solidFill>
                          <a:latin typeface="Arial"/>
                        </a:rPr>
                        <a:t>Drops the change; the current value stays. Toast: Change rejected</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309</a:t>
            </a:r>
          </a:p>
        </p:txBody>
      </p:sp>
      <p:graphicFrame>
        <p:nvGraphicFramePr>
          <p:cNvPr id="9" name="Table 8"/>
          <p:cNvGraphicFramePr>
            <a:graphicFrameLocks noGrp="1"/>
          </p:cNvGraphicFramePr>
          <p:nvPr/>
        </p:nvGraphicFramePr>
        <p:xfrm>
          <a:off x="548640" y="1325880"/>
          <a:ext cx="11094415" cy="13716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the System Administrator asks for a change of a parameter; every change is written to the audit trail with the old and new value and the user (FR-UA-052).</a:t>
                      </a:r>
                    </a:p>
                  </a:txBody>
                  <a:tcPr marL="54864" marR="54864" marT="27432" marB="27432">
                    <a:solidFill>
                      <a:srgbClr val="FFFFFF"/>
                    </a:solidFill>
                  </a:tcPr>
                </a:tc>
              </a:tr>
              <a:tr h="396240">
                <a:tc>
                  <a:txBody>
                    <a:bodyPr/>
                    <a:lstStyle/>
                    <a:p>
                      <a:r>
                        <a:rPr sz="1000" b="0">
                          <a:solidFill>
                            <a:srgbClr val="4B4B4B"/>
                          </a:solidFill>
                          <a:latin typeface="Arial"/>
                        </a:rPr>
                        <a:t>A change of a security setting, the emergency path UAM_DIRECT_ROLE_EDIT included, applies only when a holder of the approval right other than the requester approves it: A change cannot be approved by the user who asked for it (FR-UA-054).</a:t>
                      </a:r>
                    </a:p>
                  </a:txBody>
                  <a:tcPr marL="54864" marR="54864" marT="27432" marB="27432">
                    <a:solidFill>
                      <a:srgbClr val="E5F5FF"/>
                    </a:solidFill>
                  </a:tcPr>
                </a:tc>
              </a:tr>
              <a:tr h="243840">
                <a:tc>
                  <a:txBody>
                    <a:bodyPr/>
                    <a:lstStyle/>
                    <a:p>
                      <a:r>
                        <a:rPr sz="1000" b="0">
                          <a:solidFill>
                            <a:srgbClr val="4B4B4B"/>
                          </a:solidFill>
                          <a:latin typeface="Arial"/>
                        </a:rPr>
                        <a:t>One change per setting waits at a time: A change of &lt;setting&gt; already waits for approval; approve or reject it first (FR-UA-054).</a:t>
                      </a:r>
                    </a:p>
                  </a:txBody>
                  <a:tcPr marL="54864" marR="54864" marT="27432" marB="27432">
                    <a:solidFill>
                      <a:srgbClr val="FFFFFF"/>
                    </a:solidFill>
                  </a:tcPr>
                </a:tc>
              </a:tr>
              <a:tr h="243840">
                <a:tc>
                  <a:txBody>
                    <a:bodyPr/>
                    <a:lstStyle/>
                    <a:p>
                      <a:r>
                        <a:rPr sz="1000" b="0">
                          <a:solidFill>
                            <a:srgbClr val="4B4B4B"/>
                          </a:solidFill>
                          <a:latin typeface="Arial"/>
                        </a:rPr>
                        <a:t>The session, lock-out and password values are those of chapter 9 and of the configuration input template of the sign-in parameters (FR-UA-001, FR-UA-002, FR-UA-005).</a:t>
                      </a:r>
                    </a:p>
                  </a:txBody>
                  <a:tcPr marL="54864" marR="54864" marT="27432" marB="27432">
                    <a:solidFill>
                      <a:srgbClr val="E5F5FF"/>
                    </a:solidFill>
                  </a:tcPr>
                </a:tc>
              </a:tr>
            </a:tbl>
          </a:graphicData>
        </a:graphic>
      </p:graphicFrame>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SCR-UA-18 System Parameters (sign-in, password and access settings):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310</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55.png"/>
          <p:cNvPicPr>
            <a:picLocks noChangeAspect="1"/>
          </p:cNvPicPr>
          <p:nvPr/>
        </p:nvPicPr>
        <p:blipFill>
          <a:blip r:embed="rId3"/>
          <a:stretch>
            <a:fillRect/>
          </a:stretch>
        </p:blipFill>
        <p:spPr>
          <a:xfrm>
            <a:off x="548640" y="1261872"/>
            <a:ext cx="11094415" cy="4654013"/>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System Parameters, security settings (part 1 of 4)</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SCR-UA-18 System Parameters (sign-in, password and access settings):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311</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56.png"/>
          <p:cNvPicPr>
            <a:picLocks noChangeAspect="1"/>
          </p:cNvPicPr>
          <p:nvPr/>
        </p:nvPicPr>
        <p:blipFill>
          <a:blip r:embed="rId3"/>
          <a:stretch>
            <a:fillRect/>
          </a:stretch>
        </p:blipFill>
        <p:spPr>
          <a:xfrm>
            <a:off x="548640" y="1261872"/>
            <a:ext cx="11094415" cy="4654013"/>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System Parameters, security settings (part 2 of 4)</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SCR-UA-18 System Parameters (sign-in, password and access settings):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312</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57.png"/>
          <p:cNvPicPr>
            <a:picLocks noChangeAspect="1"/>
          </p:cNvPicPr>
          <p:nvPr/>
        </p:nvPicPr>
        <p:blipFill>
          <a:blip r:embed="rId3"/>
          <a:stretch>
            <a:fillRect/>
          </a:stretch>
        </p:blipFill>
        <p:spPr>
          <a:xfrm>
            <a:off x="548640" y="1261872"/>
            <a:ext cx="11094415" cy="4654013"/>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System Parameters, security settings (part 3 of 4)</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SCR-UA-18 System Parameters (sign-in, password and access settings):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58.png"/>
          <p:cNvPicPr>
            <a:picLocks noChangeAspect="1"/>
          </p:cNvPicPr>
          <p:nvPr/>
        </p:nvPicPr>
        <p:blipFill>
          <a:blip r:embed="rId3"/>
          <a:stretch>
            <a:fillRect/>
          </a:stretch>
        </p:blipFill>
        <p:spPr>
          <a:xfrm>
            <a:off x="548640" y="1261872"/>
            <a:ext cx="11094415" cy="4277931"/>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System Parameters, security settings (part 4 of 4)</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SCR-UA-18 System Parameters (sign-in, password and access settings):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632143"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1" name="Picture 10" descr="scr-ua-18-02-approve.png"/>
          <p:cNvPicPr>
            <a:picLocks noChangeAspect="1"/>
          </p:cNvPicPr>
          <p:nvPr/>
        </p:nvPicPr>
        <p:blipFill>
          <a:blip r:embed="rId3"/>
          <a:stretch>
            <a:fillRect/>
          </a:stretch>
        </p:blipFill>
        <p:spPr>
          <a:xfrm>
            <a:off x="2053558" y="1261872"/>
            <a:ext cx="8084578"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System Parameters as the Information Security Officer sees it</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SCR-UA-19 Separation of Duties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315</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graphicFrame>
        <p:nvGraphicFramePr>
          <p:cNvPr id="10" name="Table 9"/>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Access evidence and administration</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pairs of group profiles that one user may not hold together, with the reason of each. The Business Administrator adds a rule or asks for its deactivation; the Information Security Officer authorises or rejects each change. Every user request and bulk line is checked against the active rules.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Business Administrator, Information Security Officer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Setup &amp; Administration › User Access › Separation of Duties</a:t>
                      </a:r>
                    </a:p>
                    <a:p>
                      <a:r>
                        <a:rPr sz="950" b="0">
                          <a:solidFill>
                            <a:srgbClr val="4B4B4B"/>
                          </a:solidFill>
                          <a:latin typeface="Arial"/>
                        </a:rPr>
                        <a:t>Setup &amp; Administration › User Access › Separation of Duties</a:t>
                      </a:r>
                    </a:p>
                    <a:p>
                      <a:r>
                        <a:rPr sz="950" b="0">
                          <a:solidFill>
                            <a:srgbClr val="4B4B4B"/>
                          </a:solidFill>
                          <a:latin typeface="Arial"/>
                        </a:rPr>
                        <a:t>The notice Separation-of-duties rule &lt;rule&gt; to authorise, and My Approvals (Information Security Officer)</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13.4.7</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FR-UA-053</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combinations of profiles that Information Security forbids are refused by the system, not found afterwards.</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SCR-UA-19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316</a:t>
            </a:r>
          </a:p>
        </p:txBody>
      </p:sp>
      <p:graphicFrame>
        <p:nvGraphicFramePr>
          <p:cNvPr id="9" name="Table 8"/>
          <p:cNvGraphicFramePr>
            <a:graphicFrameLocks noGrp="1"/>
          </p:cNvGraphicFramePr>
          <p:nvPr/>
        </p:nvGraphicFramePr>
        <p:xfrm>
          <a:off x="548640" y="1325880"/>
          <a:ext cx="11094411" cy="298702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Rules</a:t>
                      </a:r>
                    </a:p>
                  </a:txBody>
                  <a:tcPr marL="54864" marR="54864" marT="27432" marB="27432">
                    <a:solidFill>
                      <a:srgbClr val="FFFFFF"/>
                    </a:solidFill>
                  </a:tcPr>
                </a:tc>
                <a:tc>
                  <a:txBody>
                    <a:bodyPr/>
                    <a:lstStyle/>
                    <a:p>
                      <a:r>
                        <a:rPr sz="850" b="0">
                          <a:solidFill>
                            <a:srgbClr val="4B4B4B"/>
                          </a:solidFill>
                          <a:latin typeface="Arial"/>
                        </a:rPr>
                        <a:t>Rule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SOD-nnnnnn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Rules</a:t>
                      </a:r>
                    </a:p>
                  </a:txBody>
                  <a:tcPr marL="54864" marR="54864" marT="27432" marB="27432">
                    <a:solidFill>
                      <a:srgbClr val="E5F5FF"/>
                    </a:solidFill>
                  </a:tcPr>
                </a:tc>
                <a:tc>
                  <a:txBody>
                    <a:bodyPr/>
                    <a:lstStyle/>
                    <a:p>
                      <a:r>
                        <a:rPr sz="850" b="0">
                          <a:solidFill>
                            <a:srgbClr val="4B4B4B"/>
                          </a:solidFill>
                          <a:latin typeface="Arial"/>
                        </a:rPr>
                        <a:t>Group Profile / May Not Be Held With</a:t>
                      </a:r>
                    </a:p>
                  </a:txBody>
                  <a:tcPr marL="54864" marR="54864" marT="27432" marB="27432">
                    <a:solidFill>
                      <a:srgbClr val="E5F5FF"/>
                    </a:solidFill>
                  </a:tcPr>
                </a:tc>
                <a:tc>
                  <a:txBody>
                    <a:bodyPr/>
                    <a:lstStyle/>
                    <a:p>
                      <a:r>
                        <a:rPr sz="850" b="0">
                          <a:solidFill>
                            <a:srgbClr val="4B4B4B"/>
                          </a:solidFill>
                          <a:latin typeface="Arial"/>
                        </a:rPr>
                        <a:t>Columns</a:t>
                      </a:r>
                    </a:p>
                  </a:txBody>
                  <a:tcPr marL="54864" marR="54864" marT="27432" marB="27432">
                    <a:solidFill>
                      <a:srgbClr val="E5F5FF"/>
                    </a:solidFill>
                  </a:tcPr>
                </a:tc>
                <a:tc>
                  <a:txBody>
                    <a:bodyPr/>
                    <a:lstStyle/>
                    <a:p>
                      <a:r>
                        <a:rPr sz="850" b="0">
                          <a:solidFill>
                            <a:srgbClr val="4B4B4B"/>
                          </a:solidFill>
                          <a:latin typeface="Arial"/>
                        </a:rPr>
                        <a:t>Profile names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Rules</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Why one user may not hold both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Rules</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Pending Authorization, Active, Inactive; under it New rule to authorise or Deactivation to authorise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Rules</a:t>
                      </a:r>
                    </a:p>
                  </a:txBody>
                  <a:tcPr marL="54864" marR="54864" marT="27432" marB="27432">
                    <a:solidFill>
                      <a:srgbClr val="FFFFFF"/>
                    </a:solidFill>
                  </a:tcPr>
                </a:tc>
                <a:tc>
                  <a:txBody>
                    <a:bodyPr/>
                    <a:lstStyle/>
                    <a:p>
                      <a:r>
                        <a:rPr sz="850" b="0">
                          <a:solidFill>
                            <a:srgbClr val="4B4B4B"/>
                          </a:solidFill>
                          <a:latin typeface="Arial"/>
                        </a:rPr>
                        <a:t>Maker / Authorised</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Name; name and dd-MMM-yyyy HH:mm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Rules</a:t>
                      </a:r>
                    </a:p>
                  </a:txBody>
                  <a:tcPr marL="54864" marR="54864" marT="27432" marB="27432">
                    <a:solidFill>
                      <a:srgbClr val="E5F5FF"/>
                    </a:solidFill>
                  </a:tcPr>
                </a:tc>
                <a:tc>
                  <a:txBody>
                    <a:bodyPr/>
                    <a:lstStyle/>
                    <a:p>
                      <a:r>
                        <a:rPr sz="850" b="0">
                          <a:solidFill>
                            <a:srgbClr val="4B4B4B"/>
                          </a:solidFill>
                          <a:latin typeface="Arial"/>
                        </a:rPr>
                        <a:t>Row action menu</a:t>
                      </a:r>
                    </a:p>
                  </a:txBody>
                  <a:tcPr marL="54864" marR="54864" marT="27432" marB="27432">
                    <a:solidFill>
                      <a:srgbClr val="E5F5FF"/>
                    </a:solidFill>
                  </a:tcPr>
                </a:tc>
                <a:tc>
                  <a:txBody>
                    <a:bodyPr/>
                    <a:lstStyle/>
                    <a:p>
                      <a:r>
                        <a:rPr sz="850" b="0">
                          <a:solidFill>
                            <a:srgbClr val="4B4B4B"/>
                          </a:solidFill>
                          <a:latin typeface="Arial"/>
                        </a:rPr>
                        <a:t>Row action menu</a:t>
                      </a:r>
                    </a:p>
                  </a:txBody>
                  <a:tcPr marL="54864" marR="54864" marT="27432" marB="27432">
                    <a:solidFill>
                      <a:srgbClr val="E5F5FF"/>
                    </a:solidFill>
                  </a:tcPr>
                </a:tc>
                <a:tc>
                  <a:txBody>
                    <a:bodyPr/>
                    <a:lstStyle/>
                    <a:p>
                      <a:r>
                        <a:rPr sz="850" b="0">
                          <a:solidFill>
                            <a:srgbClr val="4B4B4B"/>
                          </a:solidFill>
                          <a:latin typeface="Arial"/>
                        </a:rPr>
                        <a:t>Authorise and Reject of a waiting change, Deactivate of an active rule, each confirmed in a dialog</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New Rule</a:t>
                      </a:r>
                    </a:p>
                  </a:txBody>
                  <a:tcPr marL="54864" marR="54864" marT="27432" marB="27432">
                    <a:solidFill>
                      <a:srgbClr val="FFFFFF"/>
                    </a:solidFill>
                  </a:tcPr>
                </a:tc>
                <a:tc>
                  <a:txBody>
                    <a:bodyPr/>
                    <a:lstStyle/>
                    <a:p>
                      <a:r>
                        <a:rPr sz="850" b="0">
                          <a:solidFill>
                            <a:srgbClr val="4B4B4B"/>
                          </a:solidFill>
                          <a:latin typeface="Arial"/>
                        </a:rPr>
                        <a:t>Group Profile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Active group profiles by name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Select the first group profile</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New Rule</a:t>
                      </a:r>
                    </a:p>
                  </a:txBody>
                  <a:tcPr marL="54864" marR="54864" marT="27432" marB="27432">
                    <a:solidFill>
                      <a:srgbClr val="E5F5FF"/>
                    </a:solidFill>
                  </a:tcPr>
                </a:tc>
                <a:tc>
                  <a:txBody>
                    <a:bodyPr/>
                    <a:lstStyle/>
                    <a:p>
                      <a:r>
                        <a:rPr sz="850" b="0">
                          <a:solidFill>
                            <a:srgbClr val="4B4B4B"/>
                          </a:solidFill>
                          <a:latin typeface="Arial"/>
                        </a:rPr>
                        <a:t>May Not Be Held With</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Active group profiles by name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Different from the first</a:t>
                      </a:r>
                    </a:p>
                  </a:txBody>
                  <a:tcPr marL="54864" marR="54864" marT="27432" marB="27432">
                    <a:solidFill>
                      <a:srgbClr val="E5F5FF"/>
                    </a:solidFill>
                  </a:tcPr>
                </a:tc>
                <a:tc>
                  <a:txBody>
                    <a:bodyPr/>
                    <a:lstStyle/>
                    <a:p>
                      <a:r>
                        <a:rPr sz="850" b="0">
                          <a:solidFill>
                            <a:srgbClr val="4B4B4B"/>
                          </a:solidFill>
                          <a:latin typeface="Arial"/>
                        </a:rPr>
                        <a:t>Choose two different group profiles</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New Rule</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Up to 500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Enter why the two profiles are not held together</a:t>
                      </a:r>
                    </a:p>
                  </a:txBody>
                  <a:tcPr marL="54864" marR="54864" marT="27432" marB="27432">
                    <a:solidFill>
                      <a:srgbClr val="FFFFFF"/>
                    </a:solidFill>
                  </a:tcPr>
                </a:tc>
              </a:tr>
            </a:tbl>
          </a:graphicData>
        </a:graphic>
      </p:graphicFrame>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317</a:t>
            </a:r>
          </a:p>
        </p:txBody>
      </p:sp>
      <p:graphicFrame>
        <p:nvGraphicFramePr>
          <p:cNvPr id="9" name="Table 8"/>
          <p:cNvGraphicFramePr>
            <a:graphicFrameLocks noGrp="1"/>
          </p:cNvGraphicFramePr>
          <p:nvPr/>
        </p:nvGraphicFramePr>
        <p:xfrm>
          <a:off x="548640" y="1325880"/>
          <a:ext cx="11094412" cy="223264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Rule</a:t>
                      </a:r>
                    </a:p>
                  </a:txBody>
                  <a:tcPr marL="54864" marR="54864" marT="27432" marB="27432">
                    <a:solidFill>
                      <a:srgbClr val="FFFFFF"/>
                    </a:solidFill>
                  </a:tcPr>
                </a:tc>
                <a:tc>
                  <a:txBody>
                    <a:bodyPr/>
                    <a:lstStyle/>
                    <a:p>
                      <a:r>
                        <a:rPr sz="850" b="0">
                          <a:solidFill>
                            <a:srgbClr val="4B4B4B"/>
                          </a:solidFill>
                          <a:latin typeface="Arial"/>
                        </a:rPr>
                        <a:t>Business Administrator (rule maintenance right)</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New Rule dialog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Send for Authorisation</a:t>
                      </a:r>
                    </a:p>
                  </a:txBody>
                  <a:tcPr marL="54864" marR="54864" marT="27432" marB="27432">
                    <a:solidFill>
                      <a:srgbClr val="E5F5FF"/>
                    </a:solidFill>
                  </a:tcPr>
                </a:tc>
                <a:tc>
                  <a:txBody>
                    <a:bodyPr/>
                    <a:lstStyle/>
                    <a:p>
                      <a:r>
                        <a:rPr sz="850" b="0">
                          <a:solidFill>
                            <a:srgbClr val="4B4B4B"/>
                          </a:solidFill>
                          <a:latin typeface="Arial"/>
                        </a:rPr>
                        <a:t>Business Administrator</a:t>
                      </a:r>
                    </a:p>
                  </a:txBody>
                  <a:tcPr marL="54864" marR="54864" marT="27432" marB="27432">
                    <a:solidFill>
                      <a:srgbClr val="E5F5FF"/>
                    </a:solidFill>
                  </a:tcPr>
                </a:tc>
                <a:tc>
                  <a:txBody>
                    <a:bodyPr/>
                    <a:lstStyle/>
                    <a:p>
                      <a:r>
                        <a:rPr sz="850" b="0">
                          <a:solidFill>
                            <a:srgbClr val="4B4B4B"/>
                          </a:solidFill>
                          <a:latin typeface="Arial"/>
                        </a:rPr>
                        <a:t>Both profiles and the reason entered</a:t>
                      </a:r>
                    </a:p>
                  </a:txBody>
                  <a:tcPr marL="54864" marR="54864" marT="27432" marB="27432">
                    <a:solidFill>
                      <a:srgbClr val="E5F5FF"/>
                    </a:solidFill>
                  </a:tcPr>
                </a:tc>
                <a:tc>
                  <a:txBody>
                    <a:bodyPr/>
                    <a:lstStyle/>
                    <a:p>
                      <a:r>
                        <a:rPr sz="850" b="0">
                          <a:solidFill>
                            <a:srgbClr val="4B4B4B"/>
                          </a:solidFill>
                          <a:latin typeface="Arial"/>
                        </a:rPr>
                        <a:t>Saves the rule as pending. Toast: Rule SOD-nnnnnn sent for authorisation</a:t>
                      </a:r>
                    </a:p>
                  </a:txBody>
                  <a:tcPr marL="54864" marR="54864" marT="27432" marB="27432">
                    <a:solidFill>
                      <a:srgbClr val="E5F5FF"/>
                    </a:solidFill>
                  </a:tcPr>
                </a:tc>
                <a:tc>
                  <a:txBody>
                    <a:bodyPr/>
                    <a:lstStyle/>
                    <a:p>
                      <a:r>
                        <a:rPr sz="850" b="0">
                          <a:solidFill>
                            <a:srgbClr val="4B4B4B"/>
                          </a:solidFill>
                          <a:latin typeface="Arial"/>
                        </a:rPr>
                        <a:t>Pending Authorization</a:t>
                      </a:r>
                    </a:p>
                  </a:txBody>
                  <a:tcPr marL="54864" marR="54864" marT="27432" marB="27432">
                    <a:solidFill>
                      <a:srgbClr val="E5F5FF"/>
                    </a:solidFill>
                  </a:tcPr>
                </a:tc>
                <a:tc>
                  <a:txBody>
                    <a:bodyPr/>
                    <a:lstStyle/>
                    <a:p>
                      <a:r>
                        <a:rPr sz="850" b="0">
                          <a:solidFill>
                            <a:srgbClr val="4B4B4B"/>
                          </a:solidFill>
                          <a:latin typeface="Arial"/>
                        </a:rPr>
                        <a:t>Separation-of-duties rule to authorise, to the Information Security Officers</a:t>
                      </a:r>
                    </a:p>
                  </a:txBody>
                  <a:tcPr marL="54864" marR="54864" marT="27432" marB="27432">
                    <a:solidFill>
                      <a:srgbClr val="E5F5FF"/>
                    </a:solidFill>
                  </a:tcPr>
                </a:tc>
              </a:tr>
              <a:tr h="350518">
                <a:tc>
                  <a:txBody>
                    <a:bodyPr/>
                    <a:lstStyle/>
                    <a:p>
                      <a:r>
                        <a:rPr sz="850" b="0">
                          <a:solidFill>
                            <a:srgbClr val="4B4B4B"/>
                          </a:solidFill>
                          <a:latin typeface="Arial"/>
                        </a:rPr>
                        <a:t>Deactivate</a:t>
                      </a:r>
                    </a:p>
                  </a:txBody>
                  <a:tcPr marL="54864" marR="54864" marT="27432" marB="27432">
                    <a:solidFill>
                      <a:srgbClr val="FFFFFF"/>
                    </a:solidFill>
                  </a:tcPr>
                </a:tc>
                <a:tc>
                  <a:txBody>
                    <a:bodyPr/>
                    <a:lstStyle/>
                    <a:p>
                      <a:r>
                        <a:rPr sz="850" b="0">
                          <a:solidFill>
                            <a:srgbClr val="4B4B4B"/>
                          </a:solidFill>
                          <a:latin typeface="Arial"/>
                        </a:rPr>
                        <a:t>Business Administrator</a:t>
                      </a:r>
                    </a:p>
                  </a:txBody>
                  <a:tcPr marL="54864" marR="54864" marT="27432" marB="27432">
                    <a:solidFill>
                      <a:srgbClr val="FFFFFF"/>
                    </a:solidFill>
                  </a:tcPr>
                </a:tc>
                <a:tc>
                  <a:txBody>
                    <a:bodyPr/>
                    <a:lstStyle/>
                    <a:p>
                      <a:r>
                        <a:rPr sz="850" b="0">
                          <a:solidFill>
                            <a:srgbClr val="4B4B4B"/>
                          </a:solidFill>
                          <a:latin typeface="Arial"/>
                        </a:rPr>
                        <a:t>Active rule, nothing waiting</a:t>
                      </a:r>
                    </a:p>
                  </a:txBody>
                  <a:tcPr marL="54864" marR="54864" marT="27432" marB="27432">
                    <a:solidFill>
                      <a:srgbClr val="FFFFFF"/>
                    </a:solidFill>
                  </a:tcPr>
                </a:tc>
                <a:tc>
                  <a:txBody>
                    <a:bodyPr/>
                    <a:lstStyle/>
                    <a:p>
                      <a:r>
                        <a:rPr sz="850" b="0">
                          <a:solidFill>
                            <a:srgbClr val="4B4B4B"/>
                          </a:solidFill>
                          <a:latin typeface="Arial"/>
                        </a:rPr>
                        <a:t>Asks for the deactivation; the rule stays active until authorised</a:t>
                      </a:r>
                    </a:p>
                  </a:txBody>
                  <a:tcPr marL="54864" marR="54864" marT="27432" marB="27432">
                    <a:solidFill>
                      <a:srgbClr val="FFFFFF"/>
                    </a:solidFill>
                  </a:tcPr>
                </a:tc>
                <a:tc>
                  <a:txBody>
                    <a:bodyPr/>
                    <a:lstStyle/>
                    <a:p>
                      <a:r>
                        <a:rPr sz="850" b="0">
                          <a:solidFill>
                            <a:srgbClr val="4B4B4B"/>
                          </a:solidFill>
                          <a:latin typeface="Arial"/>
                        </a:rPr>
                        <a:t>Active (deactivation to authorise)</a:t>
                      </a:r>
                    </a:p>
                  </a:txBody>
                  <a:tcPr marL="54864" marR="54864" marT="27432" marB="27432">
                    <a:solidFill>
                      <a:srgbClr val="FFFFFF"/>
                    </a:solidFill>
                  </a:tcPr>
                </a:tc>
                <a:tc>
                  <a:txBody>
                    <a:bodyPr/>
                    <a:lstStyle/>
                    <a:p>
                      <a:r>
                        <a:rPr sz="850" b="0">
                          <a:solidFill>
                            <a:srgbClr val="4B4B4B"/>
                          </a:solidFill>
                          <a:latin typeface="Arial"/>
                        </a:rPr>
                        <a:t>Separation-of-duties rule to authorise</a:t>
                      </a:r>
                    </a:p>
                  </a:txBody>
                  <a:tcPr marL="54864" marR="54864" marT="27432" marB="27432">
                    <a:solidFill>
                      <a:srgbClr val="FFFFFF"/>
                    </a:solidFill>
                  </a:tcPr>
                </a:tc>
              </a:tr>
              <a:tr h="480057">
                <a:tc>
                  <a:txBody>
                    <a:bodyPr/>
                    <a:lstStyle/>
                    <a:p>
                      <a:r>
                        <a:rPr sz="850" b="0">
                          <a:solidFill>
                            <a:srgbClr val="4B4B4B"/>
                          </a:solidFill>
                          <a:latin typeface="Arial"/>
                        </a:rPr>
                        <a:t>Authorise</a:t>
                      </a:r>
                    </a:p>
                  </a:txBody>
                  <a:tcPr marL="54864" marR="54864" marT="27432" marB="27432">
                    <a:solidFill>
                      <a:srgbClr val="E5F5FF"/>
                    </a:solidFill>
                  </a:tcPr>
                </a:tc>
                <a:tc>
                  <a:txBody>
                    <a:bodyPr/>
                    <a:lstStyle/>
                    <a:p>
                      <a:r>
                        <a:rPr sz="850" b="0">
                          <a:solidFill>
                            <a:srgbClr val="4B4B4B"/>
                          </a:solidFill>
                          <a:latin typeface="Arial"/>
                        </a:rPr>
                        <a:t>Information Security Officer (rule authorisation right), not the maker</a:t>
                      </a:r>
                    </a:p>
                  </a:txBody>
                  <a:tcPr marL="54864" marR="54864" marT="27432" marB="27432">
                    <a:solidFill>
                      <a:srgbClr val="E5F5FF"/>
                    </a:solidFill>
                  </a:tcPr>
                </a:tc>
                <a:tc>
                  <a:txBody>
                    <a:bodyPr/>
                    <a:lstStyle/>
                    <a:p>
                      <a:r>
                        <a:rPr sz="850" b="0">
                          <a:solidFill>
                            <a:srgbClr val="4B4B4B"/>
                          </a:solidFill>
                          <a:latin typeface="Arial"/>
                        </a:rPr>
                        <a:t>A creation or deactivation waits</a:t>
                      </a:r>
                    </a:p>
                  </a:txBody>
                  <a:tcPr marL="54864" marR="54864" marT="27432" marB="27432">
                    <a:solidFill>
                      <a:srgbClr val="E5F5FF"/>
                    </a:solidFill>
                  </a:tcPr>
                </a:tc>
                <a:tc>
                  <a:txBody>
                    <a:bodyPr/>
                    <a:lstStyle/>
                    <a:p>
                      <a:r>
                        <a:rPr sz="850" b="0">
                          <a:solidFill>
                            <a:srgbClr val="4B4B4B"/>
                          </a:solidFill>
                          <a:latin typeface="Arial"/>
                        </a:rPr>
                        <a:t>A new rule becomes active; a deactivated rule becomes inactive. Toast: Rule &lt;rule&gt; authorised</a:t>
                      </a:r>
                    </a:p>
                  </a:txBody>
                  <a:tcPr marL="54864" marR="54864" marT="27432" marB="27432">
                    <a:solidFill>
                      <a:srgbClr val="E5F5FF"/>
                    </a:solidFill>
                  </a:tcPr>
                </a:tc>
                <a:tc>
                  <a:txBody>
                    <a:bodyPr/>
                    <a:lstStyle/>
                    <a:p>
                      <a:r>
                        <a:rPr sz="850" b="0">
                          <a:solidFill>
                            <a:srgbClr val="4B4B4B"/>
                          </a:solidFill>
                          <a:latin typeface="Arial"/>
                        </a:rPr>
                        <a:t>Active or 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Reject</a:t>
                      </a:r>
                    </a:p>
                  </a:txBody>
                  <a:tcPr marL="54864" marR="54864" marT="27432" marB="27432">
                    <a:solidFill>
                      <a:srgbClr val="FFFFFF"/>
                    </a:solidFill>
                  </a:tcPr>
                </a:tc>
                <a:tc>
                  <a:txBody>
                    <a:bodyPr/>
                    <a:lstStyle/>
                    <a:p>
                      <a:r>
                        <a:rPr sz="850" b="0">
                          <a:solidFill>
                            <a:srgbClr val="4B4B4B"/>
                          </a:solidFill>
                          <a:latin typeface="Arial"/>
                        </a:rPr>
                        <a:t>Information Security Officer, not the maker</a:t>
                      </a:r>
                    </a:p>
                  </a:txBody>
                  <a:tcPr marL="54864" marR="54864" marT="27432" marB="27432">
                    <a:solidFill>
                      <a:srgbClr val="FFFFFF"/>
                    </a:solidFill>
                  </a:tcPr>
                </a:tc>
                <a:tc>
                  <a:txBody>
                    <a:bodyPr/>
                    <a:lstStyle/>
                    <a:p>
                      <a:r>
                        <a:rPr sz="850" b="0">
                          <a:solidFill>
                            <a:srgbClr val="4B4B4B"/>
                          </a:solidFill>
                          <a:latin typeface="Arial"/>
                        </a:rPr>
                        <a:t>A creation or deactivation waits</a:t>
                      </a:r>
                    </a:p>
                  </a:txBody>
                  <a:tcPr marL="54864" marR="54864" marT="27432" marB="27432">
                    <a:solidFill>
                      <a:srgbClr val="FFFFFF"/>
                    </a:solidFill>
                  </a:tcPr>
                </a:tc>
                <a:tc>
                  <a:txBody>
                    <a:bodyPr/>
                    <a:lstStyle/>
                    <a:p>
                      <a:r>
                        <a:rPr sz="850" b="0">
                          <a:solidFill>
                            <a:srgbClr val="4B4B4B"/>
                          </a:solidFill>
                          <a:latin typeface="Arial"/>
                        </a:rPr>
                        <a:t>A new rule is closed; a rule whose deactivation is rejected stays active. Toast: Rule &lt;rule&gt; rejected</a:t>
                      </a:r>
                    </a:p>
                  </a:txBody>
                  <a:tcPr marL="54864" marR="54864" marT="27432" marB="27432">
                    <a:solidFill>
                      <a:srgbClr val="FFFFFF"/>
                    </a:solidFill>
                  </a:tcPr>
                </a:tc>
                <a:tc>
                  <a:txBody>
                    <a:bodyPr/>
                    <a:lstStyle/>
                    <a:p>
                      <a:r>
                        <a:rPr sz="850" b="0">
                          <a:solidFill>
                            <a:srgbClr val="4B4B4B"/>
                          </a:solidFill>
                          <a:latin typeface="Arial"/>
                        </a:rPr>
                        <a:t>Inactive or 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318</a:t>
            </a:r>
          </a:p>
        </p:txBody>
      </p:sp>
      <p:graphicFrame>
        <p:nvGraphicFramePr>
          <p:cNvPr id="9" name="Table 8"/>
          <p:cNvGraphicFramePr>
            <a:graphicFrameLocks noGrp="1"/>
          </p:cNvGraphicFramePr>
          <p:nvPr/>
        </p:nvGraphicFramePr>
        <p:xfrm>
          <a:off x="548640" y="1325880"/>
          <a:ext cx="11094415" cy="13716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rule applies only once authorised, and the maker never authorises it: A record cannot be authorized by the user who maintained it (FR-UA-053).</a:t>
                      </a:r>
                    </a:p>
                  </a:txBody>
                  <a:tcPr marL="54864" marR="54864" marT="27432" marB="27432">
                    <a:solidFill>
                      <a:srgbClr val="FFFFFF"/>
                    </a:solidFill>
                  </a:tcPr>
                </a:tc>
              </a:tr>
              <a:tr h="243840">
                <a:tc>
                  <a:txBody>
                    <a:bodyPr/>
                    <a:lstStyle/>
                    <a:p>
                      <a:r>
                        <a:rPr sz="1000" b="0">
                          <a:solidFill>
                            <a:srgbClr val="4B4B4B"/>
                          </a:solidFill>
                          <a:latin typeface="Arial"/>
                        </a:rPr>
                        <a:t>One rule per pair of profiles, in either order: A rule for these two group profiles already exists (FR-UA-053).</a:t>
                      </a:r>
                    </a:p>
                  </a:txBody>
                  <a:tcPr marL="54864" marR="54864" marT="27432" marB="27432">
                    <a:solidFill>
                      <a:srgbClr val="E5F5FF"/>
                    </a:solidFill>
                  </a:tcPr>
                </a:tc>
              </a:tr>
              <a:tr h="396240">
                <a:tc>
                  <a:txBody>
                    <a:bodyPr/>
                    <a:lstStyle/>
                    <a:p>
                      <a:r>
                        <a:rPr sz="1000" b="0">
                          <a:solidFill>
                            <a:srgbClr val="4B4B4B"/>
                          </a:solidFill>
                          <a:latin typeface="Arial"/>
                        </a:rPr>
                        <a:t>A request or bulk line that gives one user both profiles of an active rule is refused, on submission and at approval: One user may not hold both &lt;profile&gt; and &lt;profile&gt; (separation-of-duties rule &lt;rule&gt;) (FR-UA-053).</a:t>
                      </a:r>
                    </a:p>
                  </a:txBody>
                  <a:tcPr marL="54864" marR="54864" marT="27432" marB="27432">
                    <a:solidFill>
                      <a:srgbClr val="FFFFFF"/>
                    </a:solidFill>
                  </a:tcPr>
                </a:tc>
              </a:tr>
              <a:tr h="243840">
                <a:tc>
                  <a:txBody>
                    <a:bodyPr/>
                    <a:lstStyle/>
                    <a:p>
                      <a:r>
                        <a:rPr sz="1000" b="0">
                          <a:solidFill>
                            <a:srgbClr val="4B4B4B"/>
                          </a:solidFill>
                          <a:latin typeface="Arial"/>
                        </a:rPr>
                        <a:t>A new rule does not change the users who already hold both profiles; they are found with the User Access Report and changed by requests (FR-UA-053, FR-UA-060).</a:t>
                      </a:r>
                    </a:p>
                  </a:txBody>
                  <a:tcPr marL="54864" marR="54864" marT="27432" marB="27432">
                    <a:solidFill>
                      <a:srgbClr val="E5F5FF"/>
                    </a:solidFill>
                  </a:tcPr>
                </a:tc>
              </a:tr>
            </a:tbl>
          </a:graphicData>
        </a:graphic>
      </p:graphicFrame>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SCR-UA-19 Separation of Duties: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319</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cr-ua-19-02-new.png"/>
          <p:cNvPicPr>
            <a:picLocks noChangeAspect="1"/>
          </p:cNvPicPr>
          <p:nvPr/>
        </p:nvPicPr>
        <p:blipFill>
          <a:blip r:embed="rId3"/>
          <a:stretch>
            <a:fillRect/>
          </a:stretch>
        </p:blipFill>
        <p:spPr>
          <a:xfrm>
            <a:off x="548640" y="1261872"/>
            <a:ext cx="11094415" cy="467625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separation-of-duties rule</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SCR-UA-19 Separation of Duties: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320</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CHG-UA-2.2-01</a:t>
            </a:r>
          </a:p>
        </p:txBody>
      </p:sp>
      <p:sp>
        <p:nvSpPr>
          <p:cNvPr id="10" name="Rounded Rectangle 9"/>
          <p:cNvSpPr/>
          <p:nvPr/>
        </p:nvSpPr>
        <p:spPr>
          <a:xfrm>
            <a:off x="6632143"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1" name="Picture 10" descr="scr-ua-19-01-list.png"/>
          <p:cNvPicPr>
            <a:picLocks noChangeAspect="1"/>
          </p:cNvPicPr>
          <p:nvPr/>
        </p:nvPicPr>
        <p:blipFill>
          <a:blip r:embed="rId3"/>
          <a:stretch>
            <a:fillRect/>
          </a:stretch>
        </p:blipFill>
        <p:spPr>
          <a:xfrm>
            <a:off x="1486412" y="1261872"/>
            <a:ext cx="9218870"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Separation of Duties with a rule to authorise</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Outputs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Documents, e-mails and notifications, and the exports as the user receives them</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BRD-11 User Access Maintenance</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DO-01 User Access Report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322</a:t>
            </a:r>
          </a:p>
        </p:txBody>
      </p:sp>
      <p:pic>
        <p:nvPicPr>
          <p:cNvPr id="9" name="Picture 8" descr="doc-user-access.png"/>
          <p:cNvPicPr>
            <a:picLocks noChangeAspect="1"/>
          </p:cNvPicPr>
          <p:nvPr/>
        </p:nvPicPr>
        <p:blipFill>
          <a:blip r:embed="rId3"/>
          <a:stretch>
            <a:fillRect/>
          </a:stretch>
        </p:blipFill>
        <p:spPr>
          <a:xfrm>
            <a:off x="548640" y="1261872"/>
            <a:ext cx="5669280" cy="4006549"/>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51460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Report layout of the report runner (sample A of the BRD)</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(landscape), Excel, CSV</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User Access Reports › User Access Report › PDF, Excel or CSV</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 (kept by the user; the report is archived with its parameters)</a:t>
                      </a:r>
                    </a:p>
                  </a:txBody>
                  <a:tcPr marL="54864" marR="54864" marT="27432" marB="27432">
                    <a:solidFill>
                      <a:srgbClr val="FFFFFF"/>
                    </a:solidFill>
                  </a:tcPr>
                </a:tc>
              </a:tr>
              <a:tr h="160020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Header: report name, generated by (user), as-of date, date and time generated – from the run</a:t>
                      </a:r>
                    </a:p>
                    <a:p>
                      <a:r>
                        <a:rPr sz="900" b="0">
                          <a:solidFill>
                            <a:srgbClr val="4B4B4B"/>
                          </a:solidFill>
                          <a:latin typeface="Arial"/>
                        </a:rPr>
                        <a:t>User Name, User ID / Windows ID, Business Unit / User Level, Status – from the user master as at the end of the as-of date</a:t>
                      </a:r>
                    </a:p>
                    <a:p>
                      <a:r>
                        <a:rPr sz="900" b="0">
                          <a:solidFill>
                            <a:srgbClr val="4B4B4B"/>
                          </a:solidFill>
                          <a:latin typeface="Arial"/>
                        </a:rPr>
                        <a:t>User Group Profile – the profiles held on the as-of date, derived from the access change log</a:t>
                      </a:r>
                    </a:p>
                    <a:p>
                      <a:r>
                        <a:rPr sz="900" b="0">
                          <a:solidFill>
                            <a:srgbClr val="4B4B4B"/>
                          </a:solidFill>
                          <a:latin typeface="Arial"/>
                        </a:rPr>
                        <a:t>Created by / Date Created, Modified by / Date Modified – the approver and the request number of the enrolment and of the last change, or the user of a direct change</a:t>
                      </a:r>
                    </a:p>
                    <a:p>
                      <a:r>
                        <a:rPr sz="900" b="0">
                          <a:solidFill>
                            <a:srgbClr val="4B4B4B"/>
                          </a:solidFill>
                          <a:latin typeface="Arial"/>
                        </a:rPr>
                        <a:t>Last Action / by – added, modified, deactivated or reactivated, and by whom</a:t>
                      </a:r>
                    </a:p>
                  </a:txBody>
                  <a:tcPr marL="54864" marR="54864" marT="27432" marB="27432">
                    <a:solidFill>
                      <a:srgbClr val="FFFFFF"/>
                    </a:solidFill>
                  </a:tcPr>
                </a:tc>
              </a:tr>
            </a:tbl>
          </a:graphicData>
        </a:graphic>
      </p:graphicFrame>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DO-02 User Group Profile Report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323</a:t>
            </a:r>
          </a:p>
        </p:txBody>
      </p:sp>
      <p:pic>
        <p:nvPicPr>
          <p:cNvPr id="9" name="Picture 8" descr="doc-group-profile.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82880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Report layout of the report runner (sample B of the BRD)</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Excel, CSV</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User Access Reports › User Group Profile Report</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txBody>
                  <a:tcPr marL="54864" marR="54864" marT="27432" marB="27432">
                    <a:solidFill>
                      <a:srgbClr val="FFFFFF"/>
                    </a:solidFill>
                  </a:tcPr>
                </a:tc>
              </a:tr>
              <a:tr h="91440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Header as DO-01, with the profile, module and active filters</a:t>
                      </a:r>
                    </a:p>
                    <a:p>
                      <a:r>
                        <a:rPr sz="900" b="0">
                          <a:solidFill>
                            <a:srgbClr val="4B4B4B"/>
                          </a:solidFill>
                          <a:latin typeface="Arial"/>
                        </a:rPr>
                        <a:t>Group profile – code and name, as a group heading</a:t>
                      </a:r>
                    </a:p>
                    <a:p>
                      <a:r>
                        <a:rPr sz="900" b="0">
                          <a:solidFill>
                            <a:srgbClr val="4B4B4B"/>
                          </a:solidFill>
                          <a:latin typeface="Arial"/>
                        </a:rPr>
                        <a:t>Module Name, Task Name – the functional area and the permission</a:t>
                      </a:r>
                    </a:p>
                    <a:p>
                      <a:r>
                        <a:rPr sz="900" b="0">
                          <a:solidFill>
                            <a:srgbClr val="4B4B4B"/>
                          </a:solidFill>
                          <a:latin typeface="Arial"/>
                        </a:rPr>
                        <a:t>Access – With Access or No Access</a:t>
                      </a:r>
                    </a:p>
                    <a:p>
                      <a:r>
                        <a:rPr sz="900" b="0">
                          <a:solidFill>
                            <a:srgbClr val="4B4B4B"/>
                          </a:solidFill>
                          <a:latin typeface="Arial"/>
                        </a:rPr>
                        <a:t>Date Created, Created by, Date Modified, Modified by – from the access change log of the profile</a:t>
                      </a:r>
                    </a:p>
                  </a:txBody>
                  <a:tcPr marL="54864" marR="54864" marT="27432" marB="27432">
                    <a:solidFill>
                      <a:srgbClr val="FFFFFF"/>
                    </a:solidFill>
                  </a:tcPr>
                </a:tc>
              </a:tr>
            </a:tbl>
          </a:graphicData>
        </a:graphic>
      </p:graphicFrame>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DO-03 Group Profile Membership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324</a:t>
            </a:r>
          </a:p>
        </p:txBody>
      </p:sp>
      <p:pic>
        <p:nvPicPr>
          <p:cNvPr id="9" name="Picture 8" descr="doc-group-members.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69164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Report layout of the report runner (sample C of the BRD)</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Excel, CSV</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User Access Reports › Group Profile Membership</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txBody>
                  <a:tcPr marL="54864" marR="54864" marT="27432" marB="27432">
                    <a:solidFill>
                      <a:srgbClr val="FFFFFF"/>
                    </a:solidFill>
                  </a:tcPr>
                </a:tc>
              </a:tr>
              <a:tr h="77724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Header as DO-01, with the profile and the as-of date</a:t>
                      </a:r>
                    </a:p>
                    <a:p>
                      <a:r>
                        <a:rPr sz="900" b="0">
                          <a:solidFill>
                            <a:srgbClr val="4B4B4B"/>
                          </a:solidFill>
                          <a:latin typeface="Arial"/>
                        </a:rPr>
                        <a:t>Member Username, Member User ID – the members of each profile on the as-of date</a:t>
                      </a:r>
                    </a:p>
                    <a:p>
                      <a:r>
                        <a:rPr sz="900" b="0">
                          <a:solidFill>
                            <a:srgbClr val="4B4B4B"/>
                          </a:solidFill>
                          <a:latin typeface="Arial"/>
                        </a:rPr>
                        <a:t>Created by, Date Created, Modified by, Date Modified – who added the member and when, from the access change log</a:t>
                      </a:r>
                    </a:p>
                  </a:txBody>
                  <a:tcPr marL="54864" marR="54864" marT="27432" marB="27432">
                    <a:solidFill>
                      <a:srgbClr val="FFFFFF"/>
                    </a:solidFill>
                  </a:tcPr>
                </a:tc>
              </a:tr>
            </a:tbl>
          </a:graphicData>
        </a:graphic>
      </p:graphicFrame>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DO-04 User Access Audit Log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325</a:t>
            </a:r>
          </a:p>
        </p:txBody>
      </p:sp>
      <p:pic>
        <p:nvPicPr>
          <p:cNvPr id="9" name="Picture 8" descr="doc-audit-log.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51460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Report layout of the report runner (sample D of the BRD)</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Excel, CSV</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User Access Reports › User Access Audit Log</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txBody>
                  <a:tcPr marL="54864" marR="54864" marT="27432" marB="27432">
                    <a:solidFill>
                      <a:srgbClr val="FFFFFF"/>
                    </a:solidFill>
                  </a:tcPr>
                </a:tc>
              </a:tr>
              <a:tr h="160020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Header as DO-01, with the period, user and activity filters</a:t>
                      </a:r>
                    </a:p>
                    <a:p>
                      <a:r>
                        <a:rPr sz="900" b="0">
                          <a:solidFill>
                            <a:srgbClr val="4B4B4B"/>
                          </a:solidFill>
                          <a:latin typeface="Arial"/>
                        </a:rPr>
                        <a:t>Date, Activity – the time and the activity in the words of the BRD sample (Enroll New User, Modify User Group Profile of, Deactivate User, Reset Password of, Create Group Profile, Modify Group Profile Access of...)</a:t>
                      </a:r>
                    </a:p>
                    <a:p>
                      <a:r>
                        <a:rPr sz="900" b="0">
                          <a:solidFill>
                            <a:srgbClr val="4B4B4B"/>
                          </a:solidFill>
                          <a:latin typeface="Arial"/>
                        </a:rPr>
                        <a:t>From, To – the value before and after (Null when none; profile codes shown as profile names)</a:t>
                      </a:r>
                    </a:p>
                    <a:p>
                      <a:r>
                        <a:rPr sz="900" b="0">
                          <a:solidFill>
                            <a:srgbClr val="4B4B4B"/>
                          </a:solidFill>
                          <a:latin typeface="Arial"/>
                        </a:rPr>
                        <a:t>Done By, Approved By, Request No. – from the access change log and the request history</a:t>
                      </a:r>
                    </a:p>
                    <a:p>
                      <a:r>
                        <a:rPr sz="900" b="0">
                          <a:solidFill>
                            <a:srgbClr val="4B4B4B"/>
                          </a:solidFill>
                          <a:latin typeface="Arial"/>
                        </a:rPr>
                        <a:t>Log-in, Failed Log-in, Log-out – from the audit trail when Include Log-ins and Log-outs is ticked</a:t>
                      </a:r>
                    </a:p>
                  </a:txBody>
                  <a:tcPr marL="54864" marR="54864" marT="27432" marB="27432">
                    <a:solidFill>
                      <a:srgbClr val="FFFFFF"/>
                    </a:solidFill>
                  </a:tcPr>
                </a:tc>
              </a:tr>
            </a:tbl>
          </a:graphicData>
        </a:graphic>
      </p:graphicFrame>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DO-05 Access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326</a:t>
            </a:r>
          </a:p>
        </p:txBody>
      </p:sp>
      <p:pic>
        <p:nvPicPr>
          <p:cNvPr id="9" name="Picture 8" descr="doc-requests.png"/>
          <p:cNvPicPr>
            <a:picLocks noChangeAspect="1"/>
          </p:cNvPicPr>
          <p:nvPr/>
        </p:nvPicPr>
        <p:blipFill>
          <a:blip r:embed="rId3"/>
          <a:stretch>
            <a:fillRect/>
          </a:stretch>
        </p:blipFill>
        <p:spPr>
          <a:xfrm>
            <a:off x="548640" y="1261872"/>
            <a:ext cx="5669280" cy="4006549"/>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69164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Report layout of the report runner</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Excel, CSV</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User Access Reports › Access Requests</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txBody>
                  <a:tcPr marL="54864" marR="54864" marT="27432" marB="27432">
                    <a:solidFill>
                      <a:srgbClr val="FFFFFF"/>
                    </a:solidFill>
                  </a:tcPr>
                </a:tc>
              </a:tr>
              <a:tr h="77724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Header as DO-01, with the period, status and request type</a:t>
                      </a:r>
                    </a:p>
                    <a:p>
                      <a:r>
                        <a:rPr sz="900" b="0">
                          <a:solidFill>
                            <a:srgbClr val="4B4B4B"/>
                          </a:solidFill>
                          <a:latin typeface="Arial"/>
                        </a:rPr>
                        <a:t>Request No., Request Type, User / Group Profile, Requester, Approver – from the access request</a:t>
                      </a:r>
                    </a:p>
                    <a:p>
                      <a:r>
                        <a:rPr sz="900" b="0">
                          <a:solidFill>
                            <a:srgbClr val="4B4B4B"/>
                          </a:solidFill>
                          <a:latin typeface="Arial"/>
                        </a:rPr>
                        <a:t>Date Created, Date Decided, Effective Date, Age (days) – from the request and its history; open requests age to today</a:t>
                      </a:r>
                    </a:p>
                  </a:txBody>
                  <a:tcPr marL="54864" marR="54864" marT="27432" marB="27432">
                    <a:solidFill>
                      <a:srgbClr val="FFFFFF"/>
                    </a:solidFill>
                  </a:tcPr>
                </a:tc>
              </a:tr>
            </a:tbl>
          </a:graphicData>
        </a:graphic>
      </p:graphicFrame>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DO-06 User Access Matrix (Excel)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327</a:t>
            </a:r>
          </a:p>
        </p:txBody>
      </p:sp>
      <p:pic>
        <p:nvPicPr>
          <p:cNvPr id="9" name="Picture 8" descr="doc-access-matrix.png"/>
          <p:cNvPicPr>
            <a:picLocks noChangeAspect="1"/>
          </p:cNvPicPr>
          <p:nvPr/>
        </p:nvPicPr>
        <p:blipFill>
          <a:blip r:embed="rId3"/>
          <a:stretch>
            <a:fillRect/>
          </a:stretch>
        </p:blipFill>
        <p:spPr>
          <a:xfrm>
            <a:off x="548640" y="1261872"/>
            <a:ext cx="5669280" cy="1973159"/>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82880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Workbook of the User Access Matrix</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Excel, two sheets (by permission; by area and action class)</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User Access Matrix › Export to Excel</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txBody>
                  <a:tcPr marL="54864" marR="54864" marT="27432" marB="27432">
                    <a:solidFill>
                      <a:srgbClr val="FFFFFF"/>
                    </a:solidFill>
                  </a:tcPr>
                </a:tc>
              </a:tr>
              <a:tr h="91440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Sheet User Access Matrix: Permission, Area (area code), Action class and one column per group profile code, with Y where the profile holds the permission; the first row gives the enabled users of each profile – from the role grants in force</a:t>
                      </a:r>
                    </a:p>
                    <a:p>
                      <a:r>
                        <a:rPr sz="900" b="0">
                          <a:solidFill>
                            <a:srgbClr val="4B4B4B"/>
                          </a:solidFill>
                          <a:latin typeface="Arial"/>
                        </a:rPr>
                        <a:t>Sheet By Action: Area, Action class, Permissions and, per profile, the permissions it holds there</a:t>
                      </a:r>
                    </a:p>
                  </a:txBody>
                  <a:tcPr marL="54864" marR="54864" marT="27432" marB="27432">
                    <a:solidFill>
                      <a:srgbClr val="FFFFFF"/>
                    </a:solidFill>
                  </a:tcPr>
                </a:tc>
              </a:tr>
            </a:tbl>
          </a:graphicData>
        </a:graphic>
      </p:graphicFrame>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Notifications and e-mails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328</a:t>
            </a:r>
          </a:p>
        </p:txBody>
      </p:sp>
      <p:graphicFrame>
        <p:nvGraphicFramePr>
          <p:cNvPr id="9" name="Table 8"/>
          <p:cNvGraphicFramePr>
            <a:graphicFrameLocks noGrp="1"/>
          </p:cNvGraphicFramePr>
          <p:nvPr/>
        </p:nvGraphicFramePr>
        <p:xfrm>
          <a:off x="548640" y="1325880"/>
          <a:ext cx="11094413" cy="4762471"/>
        </p:xfrm>
        <a:graphic>
          <a:graphicData uri="http://schemas.openxmlformats.org/drawingml/2006/table">
            <a:tbl>
              <a:tblPr firstRow="1" bandRow="1">
                <a:tableStyleId>{5C22544A-7EE6-4342-B048-85BDC9FD1C3A}</a:tableStyleId>
              </a:tblPr>
              <a:tblGrid>
                <a:gridCol w="682733"/>
                <a:gridCol w="1109441"/>
                <a:gridCol w="2730932"/>
                <a:gridCol w="2218883"/>
                <a:gridCol w="4352424"/>
              </a:tblGrid>
              <a:tr h="220979">
                <a:tc>
                  <a:txBody>
                    <a:bodyPr/>
                    <a:lstStyle/>
                    <a:p>
                      <a:r>
                        <a:rPr sz="850" b="1">
                          <a:solidFill>
                            <a:srgbClr val="FFFFFF"/>
                          </a:solidFill>
                          <a:latin typeface="Arial"/>
                        </a:rPr>
                        <a:t>ID</a:t>
                      </a:r>
                    </a:p>
                  </a:txBody>
                  <a:tcPr marL="54864" marR="54864" marT="27432" marB="27432">
                    <a:solidFill>
                      <a:srgbClr val="004EA8"/>
                    </a:solidFill>
                  </a:tcPr>
                </a:tc>
                <a:tc>
                  <a:txBody>
                    <a:bodyPr/>
                    <a:lstStyle/>
                    <a:p>
                      <a:r>
                        <a:rPr sz="850" b="1">
                          <a:solidFill>
                            <a:srgbClr val="FFFFFF"/>
                          </a:solidFill>
                          <a:latin typeface="Arial"/>
                        </a:rPr>
                        <a:t>Channel</a:t>
                      </a:r>
                    </a:p>
                  </a:txBody>
                  <a:tcPr marL="54864" marR="54864" marT="27432" marB="27432">
                    <a:solidFill>
                      <a:srgbClr val="004EA8"/>
                    </a:solidFill>
                  </a:tcPr>
                </a:tc>
                <a:tc>
                  <a:txBody>
                    <a:bodyPr/>
                    <a:lstStyle/>
                    <a:p>
                      <a:r>
                        <a:rPr sz="850" b="1">
                          <a:solidFill>
                            <a:srgbClr val="FFFFFF"/>
                          </a:solidFill>
                          <a:latin typeface="Arial"/>
                        </a:rPr>
                        <a:t>Trigger</a:t>
                      </a:r>
                    </a:p>
                  </a:txBody>
                  <a:tcPr marL="54864" marR="54864" marT="27432" marB="27432">
                    <a:solidFill>
                      <a:srgbClr val="004EA8"/>
                    </a:solidFill>
                  </a:tcPr>
                </a:tc>
                <a:tc>
                  <a:txBody>
                    <a:bodyPr/>
                    <a:lstStyle/>
                    <a:p>
                      <a:r>
                        <a:rPr sz="850" b="1">
                          <a:solidFill>
                            <a:srgbClr val="FFFFFF"/>
                          </a:solidFill>
                          <a:latin typeface="Arial"/>
                        </a:rPr>
                        <a:t>Recipient</a:t>
                      </a:r>
                    </a:p>
                  </a:txBody>
                  <a:tcPr marL="54864" marR="54864" marT="27432" marB="27432">
                    <a:solidFill>
                      <a:srgbClr val="004EA8"/>
                    </a:solidFill>
                  </a:tcPr>
                </a:tc>
                <a:tc>
                  <a:txBody>
                    <a:bodyPr/>
                    <a:lstStyle/>
                    <a:p>
                      <a:r>
                        <a:rPr sz="850" b="1">
                          <a:solidFill>
                            <a:srgbClr val="FFFFFF"/>
                          </a:solidFill>
                          <a:latin typeface="Arial"/>
                        </a:rPr>
                        <a:t>Content</a:t>
                      </a:r>
                    </a:p>
                  </a:txBody>
                  <a:tcPr marL="54864" marR="54864" marT="27432" marB="27432">
                    <a:solidFill>
                      <a:srgbClr val="004EA8"/>
                    </a:solidFill>
                  </a:tcPr>
                </a:tc>
              </a:tr>
              <a:tr h="609596">
                <a:tc>
                  <a:txBody>
                    <a:bodyPr/>
                    <a:lstStyle/>
                    <a:p>
                      <a:r>
                        <a:rPr sz="850" b="0">
                          <a:solidFill>
                            <a:srgbClr val="4B4B4B"/>
                          </a:solidFill>
                          <a:latin typeface="Arial"/>
                        </a:rPr>
                        <a:t>NT-01</a:t>
                      </a:r>
                    </a:p>
                  </a:txBody>
                  <a:tcPr marL="54864" marR="54864" marT="27432" marB="27432">
                    <a:solidFill>
                      <a:srgbClr val="FFFFFF"/>
                    </a:solidFill>
                  </a:tcPr>
                </a:tc>
                <a:tc>
                  <a:txBody>
                    <a:bodyPr/>
                    <a:lstStyle/>
                    <a:p>
                      <a:r>
                        <a:rPr sz="850" b="0">
                          <a:solidFill>
                            <a:srgbClr val="4B4B4B"/>
                          </a:solidFill>
                          <a:latin typeface="Arial"/>
                        </a:rPr>
                        <a:t>In-app (and e-mail by preference)</a:t>
                      </a:r>
                    </a:p>
                  </a:txBody>
                  <a:tcPr marL="54864" marR="54864" marT="27432" marB="27432">
                    <a:solidFill>
                      <a:srgbClr val="FFFFFF"/>
                    </a:solidFill>
                  </a:tcPr>
                </a:tc>
                <a:tc>
                  <a:txBody>
                    <a:bodyPr/>
                    <a:lstStyle/>
                    <a:p>
                      <a:r>
                        <a:rPr sz="850" b="0">
                          <a:solidFill>
                            <a:srgbClr val="4B4B4B"/>
                          </a:solidFill>
                          <a:latin typeface="Arial"/>
                        </a:rPr>
                        <a:t>A request is submitted or resubmitted; a group-profile request is approved by one approver and waits for the next in order</a:t>
                      </a:r>
                    </a:p>
                  </a:txBody>
                  <a:tcPr marL="54864" marR="54864" marT="27432" marB="27432">
                    <a:solidFill>
                      <a:srgbClr val="FFFFFF"/>
                    </a:solidFill>
                  </a:tcPr>
                </a:tc>
                <a:tc>
                  <a:txBody>
                    <a:bodyPr/>
                    <a:lstStyle/>
                    <a:p>
                      <a:r>
                        <a:rPr sz="850" b="0">
                          <a:solidFill>
                            <a:srgbClr val="4B4B4B"/>
                          </a:solidFill>
                          <a:latin typeface="Arial"/>
                        </a:rPr>
                        <a:t>The approver chosen by the requester (the next approver in order); for a request raised without a chosen approver, every holder of the approval right</a:t>
                      </a:r>
                    </a:p>
                  </a:txBody>
                  <a:tcPr marL="54864" marR="54864" marT="27432" marB="27432">
                    <a:solidFill>
                      <a:srgbClr val="FFFFFF"/>
                    </a:solidFill>
                  </a:tcPr>
                </a:tc>
                <a:tc>
                  <a:txBody>
                    <a:bodyPr/>
                    <a:lstStyle/>
                    <a:p>
                      <a:r>
                        <a:rPr sz="850" b="0">
                          <a:solidFill>
                            <a:srgbClr val="4B4B4B"/>
                          </a:solidFill>
                          <a:latin typeface="Arial"/>
                        </a:rPr>
                        <a:t>Title: Access request &lt;request no&gt; to approve. Text: &lt;description of the change&gt;</a:t>
                      </a:r>
                    </a:p>
                  </a:txBody>
                  <a:tcPr marL="54864" marR="54864" marT="27432" marB="27432">
                    <a:solidFill>
                      <a:srgbClr val="FFFFFF"/>
                    </a:solidFill>
                  </a:tcPr>
                </a:tc>
              </a:tr>
              <a:tr h="350518">
                <a:tc>
                  <a:txBody>
                    <a:bodyPr/>
                    <a:lstStyle/>
                    <a:p>
                      <a:r>
                        <a:rPr sz="850" b="0">
                          <a:solidFill>
                            <a:srgbClr val="4B4B4B"/>
                          </a:solidFill>
                          <a:latin typeface="Arial"/>
                        </a:rPr>
                        <a:t>NT-02</a:t>
                      </a:r>
                    </a:p>
                  </a:txBody>
                  <a:tcPr marL="54864" marR="54864" marT="27432" marB="27432">
                    <a:solidFill>
                      <a:srgbClr val="E5F5FF"/>
                    </a:solidFill>
                  </a:tcPr>
                </a:tc>
                <a:tc>
                  <a:txBody>
                    <a:bodyPr/>
                    <a:lstStyle/>
                    <a:p>
                      <a:r>
                        <a:rPr sz="850" b="0">
                          <a:solidFill>
                            <a:srgbClr val="4B4B4B"/>
                          </a:solidFill>
                          <a:latin typeface="Arial"/>
                        </a:rPr>
                        <a:t>In-app (and e-mail by preference)</a:t>
                      </a:r>
                    </a:p>
                  </a:txBody>
                  <a:tcPr marL="54864" marR="54864" marT="27432" marB="27432">
                    <a:solidFill>
                      <a:srgbClr val="E5F5FF"/>
                    </a:solidFill>
                  </a:tcPr>
                </a:tc>
                <a:tc>
                  <a:txBody>
                    <a:bodyPr/>
                    <a:lstStyle/>
                    <a:p>
                      <a:r>
                        <a:rPr sz="850" b="0">
                          <a:solidFill>
                            <a:srgbClr val="4B4B4B"/>
                          </a:solidFill>
                          <a:latin typeface="Arial"/>
                        </a:rPr>
                        <a:t>The first approval of a request with a risk flag (privilege increase, outside working hours)</a:t>
                      </a:r>
                    </a:p>
                  </a:txBody>
                  <a:tcPr marL="54864" marR="54864" marT="27432" marB="27432">
                    <a:solidFill>
                      <a:srgbClr val="E5F5FF"/>
                    </a:solidFill>
                  </a:tcPr>
                </a:tc>
                <a:tc>
                  <a:txBody>
                    <a:bodyPr/>
                    <a:lstStyle/>
                    <a:p>
                      <a:r>
                        <a:rPr sz="850" b="0">
                          <a:solidFill>
                            <a:srgbClr val="4B4B4B"/>
                          </a:solidFill>
                          <a:latin typeface="Arial"/>
                        </a:rPr>
                        <a:t>Every holder of the second approval right (Second Approver)</a:t>
                      </a:r>
                    </a:p>
                  </a:txBody>
                  <a:tcPr marL="54864" marR="54864" marT="27432" marB="27432">
                    <a:solidFill>
                      <a:srgbClr val="E5F5FF"/>
                    </a:solidFill>
                  </a:tcPr>
                </a:tc>
                <a:tc>
                  <a:txBody>
                    <a:bodyPr/>
                    <a:lstStyle/>
                    <a:p>
                      <a:r>
                        <a:rPr sz="850" b="0">
                          <a:solidFill>
                            <a:srgbClr val="4B4B4B"/>
                          </a:solidFill>
                          <a:latin typeface="Arial"/>
                        </a:rPr>
                        <a:t>Title: Access request &lt;request no&gt; for second approval. Text: &lt;description of the change&gt; &lt;risk flags&gt;</a:t>
                      </a:r>
                    </a:p>
                  </a:txBody>
                  <a:tcPr marL="54864" marR="54864" marT="27432" marB="27432">
                    <a:solidFill>
                      <a:srgbClr val="E5F5FF"/>
                    </a:solidFill>
                  </a:tcPr>
                </a:tc>
              </a:tr>
              <a:tr h="350518">
                <a:tc>
                  <a:txBody>
                    <a:bodyPr/>
                    <a:lstStyle/>
                    <a:p>
                      <a:r>
                        <a:rPr sz="850" b="0">
                          <a:solidFill>
                            <a:srgbClr val="4B4B4B"/>
                          </a:solidFill>
                          <a:latin typeface="Arial"/>
                        </a:rPr>
                        <a:t>NT-03</a:t>
                      </a:r>
                    </a:p>
                  </a:txBody>
                  <a:tcPr marL="54864" marR="54864" marT="27432" marB="27432">
                    <a:solidFill>
                      <a:srgbClr val="FFFFFF"/>
                    </a:solidFill>
                  </a:tcPr>
                </a:tc>
                <a:tc>
                  <a:txBody>
                    <a:bodyPr/>
                    <a:lstStyle/>
                    <a:p>
                      <a:r>
                        <a:rPr sz="850" b="0">
                          <a:solidFill>
                            <a:srgbClr val="4B4B4B"/>
                          </a:solidFill>
                          <a:latin typeface="Arial"/>
                        </a:rPr>
                        <a:t>In-app (and e-mail by preference)</a:t>
                      </a:r>
                    </a:p>
                  </a:txBody>
                  <a:tcPr marL="54864" marR="54864" marT="27432" marB="27432">
                    <a:solidFill>
                      <a:srgbClr val="FFFFFF"/>
                    </a:solidFill>
                  </a:tcPr>
                </a:tc>
                <a:tc>
                  <a:txBody>
                    <a:bodyPr/>
                    <a:lstStyle/>
                    <a:p>
                      <a:r>
                        <a:rPr sz="850" b="0">
                          <a:solidFill>
                            <a:srgbClr val="4B4B4B"/>
                          </a:solidFill>
                          <a:latin typeface="Arial"/>
                        </a:rPr>
                        <a:t>The last approval of a group-profile request (the request waits for implementation)</a:t>
                      </a:r>
                    </a:p>
                  </a:txBody>
                  <a:tcPr marL="54864" marR="54864" marT="27432" marB="27432">
                    <a:solidFill>
                      <a:srgbClr val="FFFFFF"/>
                    </a:solidFill>
                  </a:tcPr>
                </a:tc>
                <a:tc>
                  <a:txBody>
                    <a:bodyPr/>
                    <a:lstStyle/>
                    <a:p>
                      <a:r>
                        <a:rPr sz="850" b="0">
                          <a:solidFill>
                            <a:srgbClr val="4B4B4B"/>
                          </a:solidFill>
                          <a:latin typeface="Arial"/>
                        </a:rPr>
                        <a:t>Every holder of the role management right (System Administrator)</a:t>
                      </a:r>
                    </a:p>
                  </a:txBody>
                  <a:tcPr marL="54864" marR="54864" marT="27432" marB="27432">
                    <a:solidFill>
                      <a:srgbClr val="FFFFFF"/>
                    </a:solidFill>
                  </a:tcPr>
                </a:tc>
                <a:tc>
                  <a:txBody>
                    <a:bodyPr/>
                    <a:lstStyle/>
                    <a:p>
                      <a:r>
                        <a:rPr sz="850" b="0">
                          <a:solidFill>
                            <a:srgbClr val="4B4B4B"/>
                          </a:solidFill>
                          <a:latin typeface="Arial"/>
                        </a:rPr>
                        <a:t>Title: Access request &lt;request no&gt; to implement. Text: &lt;description of the change&gt;</a:t>
                      </a:r>
                    </a:p>
                  </a:txBody>
                  <a:tcPr marL="54864" marR="54864" marT="27432" marB="27432">
                    <a:solidFill>
                      <a:srgbClr val="FFFFFF"/>
                    </a:solidFill>
                  </a:tcPr>
                </a:tc>
              </a:tr>
              <a:tr h="609596">
                <a:tc>
                  <a:txBody>
                    <a:bodyPr/>
                    <a:lstStyle/>
                    <a:p>
                      <a:r>
                        <a:rPr sz="850" b="0">
                          <a:solidFill>
                            <a:srgbClr val="4B4B4B"/>
                          </a:solidFill>
                          <a:latin typeface="Arial"/>
                        </a:rPr>
                        <a:t>NT-04</a:t>
                      </a:r>
                    </a:p>
                  </a:txBody>
                  <a:tcPr marL="54864" marR="54864" marT="27432" marB="27432">
                    <a:solidFill>
                      <a:srgbClr val="E5F5FF"/>
                    </a:solidFill>
                  </a:tcPr>
                </a:tc>
                <a:tc>
                  <a:txBody>
                    <a:bodyPr/>
                    <a:lstStyle/>
                    <a:p>
                      <a:r>
                        <a:rPr sz="850" b="0">
                          <a:solidFill>
                            <a:srgbClr val="4B4B4B"/>
                          </a:solidFill>
                          <a:latin typeface="Arial"/>
                        </a:rPr>
                        <a:t>In-app (and e-mail by preference)</a:t>
                      </a:r>
                    </a:p>
                  </a:txBody>
                  <a:tcPr marL="54864" marR="54864" marT="27432" marB="27432">
                    <a:solidFill>
                      <a:srgbClr val="E5F5FF"/>
                    </a:solidFill>
                  </a:tcPr>
                </a:tc>
                <a:tc>
                  <a:txBody>
                    <a:bodyPr/>
                    <a:lstStyle/>
                    <a:p>
                      <a:r>
                        <a:rPr sz="850" b="0">
                          <a:solidFill>
                            <a:srgbClr val="4B4B4B"/>
                          </a:solidFill>
                          <a:latin typeface="Arial"/>
                        </a:rPr>
                        <a:t>A request is decided or completed: approved (applied), approved with a future effective date, approved for implementation, rejected, implemented, applied on its effective date by the daily job</a:t>
                      </a:r>
                    </a:p>
                  </a:txBody>
                  <a:tcPr marL="54864" marR="54864" marT="27432" marB="27432">
                    <a:solidFill>
                      <a:srgbClr val="E5F5FF"/>
                    </a:solidFill>
                  </a:tcPr>
                </a:tc>
                <a:tc>
                  <a:txBody>
                    <a:bodyPr/>
                    <a:lstStyle/>
                    <a:p>
                      <a:r>
                        <a:rPr sz="850" b="0">
                          <a:solidFill>
                            <a:srgbClr val="4B4B4B"/>
                          </a:solidFill>
                          <a:latin typeface="Arial"/>
                        </a:rPr>
                        <a:t>The requester (the user who submitted the request)</a:t>
                      </a:r>
                    </a:p>
                  </a:txBody>
                  <a:tcPr marL="54864" marR="54864" marT="27432" marB="27432">
                    <a:solidFill>
                      <a:srgbClr val="E5F5FF"/>
                    </a:solidFill>
                  </a:tcPr>
                </a:tc>
                <a:tc>
                  <a:txBody>
                    <a:bodyPr/>
                    <a:lstStyle/>
                    <a:p>
                      <a:r>
                        <a:rPr sz="850" b="0">
                          <a:solidFill>
                            <a:srgbClr val="4B4B4B"/>
                          </a:solidFill>
                          <a:latin typeface="Arial"/>
                        </a:rPr>
                        <a:t>Title: Access request &lt;request no&gt; approved | approved, applies on &lt;dd-MMM-yyyy&gt; | approved, for implementation | rejected | implemented | applied on its effective date. Text: &lt;description of the change&gt; (&lt;comment of the decider&gt;)</a:t>
                      </a:r>
                    </a:p>
                  </a:txBody>
                  <a:tcPr marL="54864" marR="54864" marT="27432" marB="27432">
                    <a:solidFill>
                      <a:srgbClr val="E5F5FF"/>
                    </a:solidFill>
                  </a:tcPr>
                </a:tc>
              </a:tr>
              <a:tr h="350518">
                <a:tc>
                  <a:txBody>
                    <a:bodyPr/>
                    <a:lstStyle/>
                    <a:p>
                      <a:r>
                        <a:rPr sz="850" b="0">
                          <a:solidFill>
                            <a:srgbClr val="4B4B4B"/>
                          </a:solidFill>
                          <a:latin typeface="Arial"/>
                        </a:rPr>
                        <a:t>NT-05</a:t>
                      </a:r>
                    </a:p>
                  </a:txBody>
                  <a:tcPr marL="54864" marR="54864" marT="27432" marB="27432">
                    <a:solidFill>
                      <a:srgbClr val="FFFFFF"/>
                    </a:solidFill>
                  </a:tcPr>
                </a:tc>
                <a:tc>
                  <a:txBody>
                    <a:bodyPr/>
                    <a:lstStyle/>
                    <a:p>
                      <a:r>
                        <a:rPr sz="850" b="0">
                          <a:solidFill>
                            <a:srgbClr val="4B4B4B"/>
                          </a:solidFill>
                          <a:latin typeface="Arial"/>
                        </a:rPr>
                        <a:t>In-app (and e-mail by preference)</a:t>
                      </a:r>
                    </a:p>
                  </a:txBody>
                  <a:tcPr marL="54864" marR="54864" marT="27432" marB="27432">
                    <a:solidFill>
                      <a:srgbClr val="FFFFFF"/>
                    </a:solidFill>
                  </a:tcPr>
                </a:tc>
                <a:tc>
                  <a:txBody>
                    <a:bodyPr/>
                    <a:lstStyle/>
                    <a:p>
                      <a:r>
                        <a:rPr sz="850" b="0">
                          <a:solidFill>
                            <a:srgbClr val="4B4B4B"/>
                          </a:solidFill>
                          <a:latin typeface="Arial"/>
                        </a:rPr>
                        <a:t>The approver returns a request (Return)</a:t>
                      </a:r>
                    </a:p>
                  </a:txBody>
                  <a:tcPr marL="54864" marR="54864" marT="27432" marB="27432">
                    <a:solidFill>
                      <a:srgbClr val="FFFFFF"/>
                    </a:solidFill>
                  </a:tcPr>
                </a:tc>
                <a:tc>
                  <a:txBody>
                    <a:bodyPr/>
                    <a:lstStyle/>
                    <a:p>
                      <a:r>
                        <a:rPr sz="850" b="0">
                          <a:solidFill>
                            <a:srgbClr val="4B4B4B"/>
                          </a:solidFill>
                          <a:latin typeface="Arial"/>
                        </a:rPr>
                        <a:t>The requester</a:t>
                      </a:r>
                    </a:p>
                  </a:txBody>
                  <a:tcPr marL="54864" marR="54864" marT="27432" marB="27432">
                    <a:solidFill>
                      <a:srgbClr val="FFFFFF"/>
                    </a:solidFill>
                  </a:tcPr>
                </a:tc>
                <a:tc>
                  <a:txBody>
                    <a:bodyPr/>
                    <a:lstStyle/>
                    <a:p>
                      <a:r>
                        <a:rPr sz="850" b="0">
                          <a:solidFill>
                            <a:srgbClr val="4B4B4B"/>
                          </a:solidFill>
                          <a:latin typeface="Arial"/>
                        </a:rPr>
                        <a:t>Title: Access request &lt;request no&gt; returned. Text: &lt;description of the change&gt; - &lt;remarks&gt;</a:t>
                      </a:r>
                    </a:p>
                  </a:txBody>
                  <a:tcPr marL="54864" marR="54864" marT="27432" marB="27432">
                    <a:solidFill>
                      <a:srgbClr val="FFFFFF"/>
                    </a:solidFill>
                  </a:tcPr>
                </a:tc>
              </a:tr>
              <a:tr h="350518">
                <a:tc>
                  <a:txBody>
                    <a:bodyPr/>
                    <a:lstStyle/>
                    <a:p>
                      <a:r>
                        <a:rPr sz="850" b="0">
                          <a:solidFill>
                            <a:srgbClr val="4B4B4B"/>
                          </a:solidFill>
                          <a:latin typeface="Arial"/>
                        </a:rPr>
                        <a:t>NT-06</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The creator cancels a request that was assigned to an approver</a:t>
                      </a:r>
                    </a:p>
                  </a:txBody>
                  <a:tcPr marL="54864" marR="54864" marT="27432" marB="27432">
                    <a:solidFill>
                      <a:srgbClr val="E5F5FF"/>
                    </a:solidFill>
                  </a:tcPr>
                </a:tc>
                <a:tc>
                  <a:txBody>
                    <a:bodyPr/>
                    <a:lstStyle/>
                    <a:p>
                      <a:r>
                        <a:rPr sz="850" b="0">
                          <a:solidFill>
                            <a:srgbClr val="4B4B4B"/>
                          </a:solidFill>
                          <a:latin typeface="Arial"/>
                        </a:rPr>
                        <a:t>The approver the request was assigned to</a:t>
                      </a:r>
                    </a:p>
                  </a:txBody>
                  <a:tcPr marL="54864" marR="54864" marT="27432" marB="27432">
                    <a:solidFill>
                      <a:srgbClr val="E5F5FF"/>
                    </a:solidFill>
                  </a:tcPr>
                </a:tc>
                <a:tc>
                  <a:txBody>
                    <a:bodyPr/>
                    <a:lstStyle/>
                    <a:p>
                      <a:r>
                        <a:rPr sz="850" b="0">
                          <a:solidFill>
                            <a:srgbClr val="4B4B4B"/>
                          </a:solidFill>
                          <a:latin typeface="Arial"/>
                        </a:rPr>
                        <a:t>Title: Access request &lt;request no&gt; cancelled. Text: &lt;description of the change&gt; - &lt;reason&gt;</a:t>
                      </a:r>
                    </a:p>
                  </a:txBody>
                  <a:tcPr marL="54864" marR="54864" marT="27432" marB="27432">
                    <a:solidFill>
                      <a:srgbClr val="E5F5FF"/>
                    </a:solidFill>
                  </a:tcPr>
                </a:tc>
              </a:tr>
              <a:tr h="480057">
                <a:tc>
                  <a:txBody>
                    <a:bodyPr/>
                    <a:lstStyle/>
                    <a:p>
                      <a:r>
                        <a:rPr sz="850" b="0">
                          <a:solidFill>
                            <a:srgbClr val="4B4B4B"/>
                          </a:solidFill>
                          <a:latin typeface="Arial"/>
                        </a:rPr>
                        <a:t>NT-07</a:t>
                      </a:r>
                    </a:p>
                  </a:txBody>
                  <a:tcPr marL="54864" marR="54864" marT="27432" marB="27432">
                    <a:solidFill>
                      <a:srgbClr val="FFFFFF"/>
                    </a:solidFill>
                  </a:tcPr>
                </a:tc>
                <a:tc>
                  <a:txBody>
                    <a:bodyPr/>
                    <a:lstStyle/>
                    <a:p>
                      <a:r>
                        <a:rPr sz="850" b="0">
                          <a:solidFill>
                            <a:srgbClr val="4B4B4B"/>
                          </a:solidFill>
                          <a:latin typeface="Arial"/>
                        </a:rPr>
                        <a:t>In-app and e-mail</a:t>
                      </a:r>
                    </a:p>
                  </a:txBody>
                  <a:tcPr marL="54864" marR="54864" marT="27432" marB="27432">
                    <a:solidFill>
                      <a:srgbClr val="FFFFFF"/>
                    </a:solidFill>
                  </a:tcPr>
                </a:tc>
                <a:tc>
                  <a:txBody>
                    <a:bodyPr/>
                    <a:lstStyle/>
                    <a:p>
                      <a:r>
                        <a:rPr sz="850" b="0">
                          <a:solidFill>
                            <a:srgbClr val="4B4B4B"/>
                          </a:solidFill>
                          <a:latin typeface="Arial"/>
                        </a:rPr>
                        <a:t>An approved change to a user is applied (at approval, or on the effective date)</a:t>
                      </a:r>
                    </a:p>
                  </a:txBody>
                  <a:tcPr marL="54864" marR="54864" marT="27432" marB="27432">
                    <a:solidFill>
                      <a:srgbClr val="FFFFFF"/>
                    </a:solidFill>
                  </a:tcPr>
                </a:tc>
                <a:tc>
                  <a:txBody>
                    <a:bodyPr/>
                    <a:lstStyle/>
                    <a:p>
                      <a:r>
                        <a:rPr sz="850" b="0">
                          <a:solidFill>
                            <a:srgbClr val="4B4B4B"/>
                          </a:solidFill>
                          <a:latin typeface="Arial"/>
                        </a:rPr>
                        <a:t>The user whose access changed (e-mail to the user's registered address)</a:t>
                      </a:r>
                    </a:p>
                  </a:txBody>
                  <a:tcPr marL="54864" marR="54864" marT="27432" marB="27432">
                    <a:solidFill>
                      <a:srgbClr val="FFFFFF"/>
                    </a:solidFill>
                  </a:tcPr>
                </a:tc>
                <a:tc>
                  <a:txBody>
                    <a:bodyPr/>
                    <a:lstStyle/>
                    <a:p>
                      <a:r>
                        <a:rPr sz="850" b="0">
                          <a:solidFill>
                            <a:srgbClr val="4B4B4B"/>
                          </a:solidFill>
                          <a:latin typeface="Arial"/>
                        </a:rPr>
                        <a:t>In-app title: Your access changed. Text: Your access changed: &lt;description of the change&gt; (request &lt;request no&gt;). E-mail subject: BrokerVerse: your access changed; body: the same text</a:t>
                      </a:r>
                    </a:p>
                  </a:txBody>
                  <a:tcPr marL="54864" marR="54864" marT="27432" marB="27432">
                    <a:solidFill>
                      <a:srgbClr val="FFFFFF"/>
                    </a:solidFill>
                  </a:tcPr>
                </a:tc>
              </a:tr>
              <a:tr h="480057">
                <a:tc>
                  <a:txBody>
                    <a:bodyPr/>
                    <a:lstStyle/>
                    <a:p>
                      <a:r>
                        <a:rPr sz="850" b="0">
                          <a:solidFill>
                            <a:srgbClr val="4B4B4B"/>
                          </a:solidFill>
                          <a:latin typeface="Arial"/>
                        </a:rPr>
                        <a:t>NT-14</a:t>
                      </a:r>
                    </a:p>
                  </a:txBody>
                  <a:tcPr marL="54864" marR="54864" marT="27432" marB="27432">
                    <a:solidFill>
                      <a:srgbClr val="E5F5FF"/>
                    </a:solidFill>
                  </a:tcPr>
                </a:tc>
                <a:tc>
                  <a:txBody>
                    <a:bodyPr/>
                    <a:lstStyle/>
                    <a:p>
                      <a:r>
                        <a:rPr sz="850" b="0">
                          <a:solidFill>
                            <a:srgbClr val="4B4B4B"/>
                          </a:solidFill>
                          <a:latin typeface="Arial"/>
                        </a:rPr>
                        <a:t>In-app and e-mail</a:t>
                      </a:r>
                    </a:p>
                  </a:txBody>
                  <a:tcPr marL="54864" marR="54864" marT="27432" marB="27432">
                    <a:solidFill>
                      <a:srgbClr val="E5F5FF"/>
                    </a:solidFill>
                  </a:tcPr>
                </a:tc>
                <a:tc>
                  <a:txBody>
                    <a:bodyPr/>
                    <a:lstStyle/>
                    <a:p>
                      <a:r>
                        <a:rPr sz="850" b="0">
                          <a:solidFill>
                            <a:srgbClr val="4B4B4B"/>
                          </a:solidFill>
                          <a:latin typeface="Arial"/>
                        </a:rPr>
                        <a:t>A request that deactivates or reactivates a group profile is implemented (or applied on approval)</a:t>
                      </a:r>
                    </a:p>
                  </a:txBody>
                  <a:tcPr marL="54864" marR="54864" marT="27432" marB="27432">
                    <a:solidFill>
                      <a:srgbClr val="E5F5FF"/>
                    </a:solidFill>
                  </a:tcPr>
                </a:tc>
                <a:tc>
                  <a:txBody>
                    <a:bodyPr/>
                    <a:lstStyle/>
                    <a:p>
                      <a:r>
                        <a:rPr sz="850" b="0">
                          <a:solidFill>
                            <a:srgbClr val="4B4B4B"/>
                          </a:solidFill>
                          <a:latin typeface="Arial"/>
                        </a:rPr>
                        <a:t>Each active member of the group profile (e-mail to the member's registered address)</a:t>
                      </a:r>
                    </a:p>
                  </a:txBody>
                  <a:tcPr marL="54864" marR="54864" marT="27432" marB="27432">
                    <a:solidFill>
                      <a:srgbClr val="E5F5FF"/>
                    </a:solidFill>
                  </a:tcPr>
                </a:tc>
                <a:tc>
                  <a:txBody>
                    <a:bodyPr/>
                    <a:lstStyle/>
                    <a:p>
                      <a:r>
                        <a:rPr sz="850" b="0">
                          <a:solidFill>
                            <a:srgbClr val="4B4B4B"/>
                          </a:solidFill>
                          <a:latin typeface="Arial"/>
                        </a:rPr>
                        <a:t>In-app title: Your access changed. Text: Your access changed: &lt;description of the change&gt;, a group profile you hold (request &lt;request no&gt;). E-mail subject: BrokerVerse: your access changed; body: the same text</a:t>
                      </a:r>
                    </a:p>
                  </a:txBody>
                  <a:tcPr marL="54864" marR="54864" marT="27432" marB="27432">
                    <a:solidFill>
                      <a:srgbClr val="E5F5FF"/>
                    </a:solidFill>
                  </a:tcPr>
                </a:tc>
              </a:tr>
              <a:tr h="609596">
                <a:tc>
                  <a:txBody>
                    <a:bodyPr/>
                    <a:lstStyle/>
                    <a:p>
                      <a:r>
                        <a:rPr sz="850" b="0">
                          <a:solidFill>
                            <a:srgbClr val="4B4B4B"/>
                          </a:solidFill>
                          <a:latin typeface="Arial"/>
                        </a:rPr>
                        <a:t>NT-15</a:t>
                      </a:r>
                    </a:p>
                  </a:txBody>
                  <a:tcPr marL="54864" marR="54864" marT="27432" marB="27432">
                    <a:solidFill>
                      <a:srgbClr val="FFFFFF"/>
                    </a:solidFill>
                  </a:tcPr>
                </a:tc>
                <a:tc>
                  <a:txBody>
                    <a:bodyPr/>
                    <a:lstStyle/>
                    <a:p>
                      <a:r>
                        <a:rPr sz="850" b="0">
                          <a:solidFill>
                            <a:srgbClr val="4B4B4B"/>
                          </a:solidFill>
                          <a:latin typeface="Arial"/>
                        </a:rPr>
                        <a:t>In-app and e-mail</a:t>
                      </a:r>
                    </a:p>
                  </a:txBody>
                  <a:tcPr marL="54864" marR="54864" marT="27432" marB="27432">
                    <a:solidFill>
                      <a:srgbClr val="FFFFFF"/>
                    </a:solidFill>
                  </a:tcPr>
                </a:tc>
                <a:tc>
                  <a:txBody>
                    <a:bodyPr/>
                    <a:lstStyle/>
                    <a:p>
                      <a:r>
                        <a:rPr sz="850" b="0">
                          <a:solidFill>
                            <a:srgbClr val="4B4B4B"/>
                          </a:solidFill>
                          <a:latin typeface="Arial"/>
                        </a:rPr>
                        <a:t>The daily job UAM_DORMANT_USERS (00:15) finds a user whose deactivation date is UAM_DORMANT_NOTICE_DAYS days away (7)</a:t>
                      </a:r>
                    </a:p>
                  </a:txBody>
                  <a:tcPr marL="54864" marR="54864" marT="27432" marB="27432">
                    <a:solidFill>
                      <a:srgbClr val="FFFFFF"/>
                    </a:solidFill>
                  </a:tcPr>
                </a:tc>
                <a:tc>
                  <a:txBody>
                    <a:bodyPr/>
                    <a:lstStyle/>
                    <a:p>
                      <a:r>
                        <a:rPr sz="850" b="0">
                          <a:solidFill>
                            <a:srgbClr val="4B4B4B"/>
                          </a:solidFill>
                          <a:latin typeface="Arial"/>
                        </a:rPr>
                        <a:t>The dormant user</a:t>
                      </a:r>
                    </a:p>
                  </a:txBody>
                  <a:tcPr marL="54864" marR="54864" marT="27432" marB="27432">
                    <a:solidFill>
                      <a:srgbClr val="FFFFFF"/>
                    </a:solidFill>
                  </a:tcPr>
                </a:tc>
                <a:tc>
                  <a:txBody>
                    <a:bodyPr/>
                    <a:lstStyle/>
                    <a:p>
                      <a:r>
                        <a:rPr sz="850" b="0">
                          <a:solidFill>
                            <a:srgbClr val="4B4B4B"/>
                          </a:solidFill>
                          <a:latin typeface="Arial"/>
                        </a:rPr>
                        <a:t>Title: Your account will be deactivated. Text: You have not signed in to BrokerVerse for a long time. Sign in before &lt;dd-MMM-yyyy&gt;, or your account is deactivated and a new access request is needed. E-mail subject: BrokerVerse: sign in to keep your account</a:t>
                      </a:r>
                    </a:p>
                  </a:txBody>
                  <a:tcPr marL="54864" marR="54864" marT="27432" marB="27432">
                    <a:solidFill>
                      <a:srgbClr val="FFFFFF"/>
                    </a:solidFill>
                  </a:tcPr>
                </a:tc>
              </a:tr>
              <a:tr h="350518">
                <a:tc>
                  <a:txBody>
                    <a:bodyPr/>
                    <a:lstStyle/>
                    <a:p>
                      <a:r>
                        <a:rPr sz="850" b="0">
                          <a:solidFill>
                            <a:srgbClr val="4B4B4B"/>
                          </a:solidFill>
                          <a:latin typeface="Arial"/>
                        </a:rPr>
                        <a:t>NT-16</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The daily job UAM_DORMANT_USERS deactivates one or more users (each also receives NT-07)</a:t>
                      </a:r>
                    </a:p>
                  </a:txBody>
                  <a:tcPr marL="54864" marR="54864" marT="27432" marB="27432">
                    <a:solidFill>
                      <a:srgbClr val="E5F5FF"/>
                    </a:solidFill>
                  </a:tcPr>
                </a:tc>
                <a:tc>
                  <a:txBody>
                    <a:bodyPr/>
                    <a:lstStyle/>
                    <a:p>
                      <a:r>
                        <a:rPr sz="850" b="0">
                          <a:solidFill>
                            <a:srgbClr val="4B4B4B"/>
                          </a:solidFill>
                          <a:latin typeface="Arial"/>
                        </a:rPr>
                        <a:t>Every holder of the request right (Business Administrator, System Administrator)</a:t>
                      </a:r>
                    </a:p>
                  </a:txBody>
                  <a:tcPr marL="54864" marR="54864" marT="27432" marB="27432">
                    <a:solidFill>
                      <a:srgbClr val="E5F5FF"/>
                    </a:solidFill>
                  </a:tcPr>
                </a:tc>
                <a:tc>
                  <a:txBody>
                    <a:bodyPr/>
                    <a:lstStyle/>
                    <a:p>
                      <a:r>
                        <a:rPr sz="850" b="0">
                          <a:solidFill>
                            <a:srgbClr val="4B4B4B"/>
                          </a:solidFill>
                          <a:latin typeface="Arial"/>
                        </a:rPr>
                        <a:t>Title: Dormant users deactivated. Text: &lt;count&gt; user(s) without a sign-in for &lt;days&gt; days were deactivated: &lt;user IDs&gt;</a:t>
                      </a:r>
                    </a:p>
                  </a:txBody>
                  <a:tcPr marL="54864" marR="54864" marT="27432" marB="27432">
                    <a:solidFill>
                      <a:srgbClr val="E5F5FF"/>
                    </a:solidFill>
                  </a:tcPr>
                </a:tc>
              </a:tr>
            </a:tbl>
          </a:graphicData>
        </a:graphic>
      </p:graphicFrame>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Notifications and e-mails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329</a:t>
            </a:r>
          </a:p>
        </p:txBody>
      </p:sp>
      <p:graphicFrame>
        <p:nvGraphicFramePr>
          <p:cNvPr id="9" name="Table 8"/>
          <p:cNvGraphicFramePr>
            <a:graphicFrameLocks noGrp="1"/>
          </p:cNvGraphicFramePr>
          <p:nvPr/>
        </p:nvGraphicFramePr>
        <p:xfrm>
          <a:off x="548640" y="1325880"/>
          <a:ext cx="11094413" cy="4061435"/>
        </p:xfrm>
        <a:graphic>
          <a:graphicData uri="http://schemas.openxmlformats.org/drawingml/2006/table">
            <a:tbl>
              <a:tblPr firstRow="1" bandRow="1">
                <a:tableStyleId>{5C22544A-7EE6-4342-B048-85BDC9FD1C3A}</a:tableStyleId>
              </a:tblPr>
              <a:tblGrid>
                <a:gridCol w="682733"/>
                <a:gridCol w="1109441"/>
                <a:gridCol w="2730932"/>
                <a:gridCol w="2218883"/>
                <a:gridCol w="4352424"/>
              </a:tblGrid>
              <a:tr h="220979">
                <a:tc>
                  <a:txBody>
                    <a:bodyPr/>
                    <a:lstStyle/>
                    <a:p>
                      <a:r>
                        <a:rPr sz="850" b="1">
                          <a:solidFill>
                            <a:srgbClr val="FFFFFF"/>
                          </a:solidFill>
                          <a:latin typeface="Arial"/>
                        </a:rPr>
                        <a:t>ID</a:t>
                      </a:r>
                    </a:p>
                  </a:txBody>
                  <a:tcPr marL="54864" marR="54864" marT="27432" marB="27432">
                    <a:solidFill>
                      <a:srgbClr val="004EA8"/>
                    </a:solidFill>
                  </a:tcPr>
                </a:tc>
                <a:tc>
                  <a:txBody>
                    <a:bodyPr/>
                    <a:lstStyle/>
                    <a:p>
                      <a:r>
                        <a:rPr sz="850" b="1">
                          <a:solidFill>
                            <a:srgbClr val="FFFFFF"/>
                          </a:solidFill>
                          <a:latin typeface="Arial"/>
                        </a:rPr>
                        <a:t>Channel</a:t>
                      </a:r>
                    </a:p>
                  </a:txBody>
                  <a:tcPr marL="54864" marR="54864" marT="27432" marB="27432">
                    <a:solidFill>
                      <a:srgbClr val="004EA8"/>
                    </a:solidFill>
                  </a:tcPr>
                </a:tc>
                <a:tc>
                  <a:txBody>
                    <a:bodyPr/>
                    <a:lstStyle/>
                    <a:p>
                      <a:r>
                        <a:rPr sz="850" b="1">
                          <a:solidFill>
                            <a:srgbClr val="FFFFFF"/>
                          </a:solidFill>
                          <a:latin typeface="Arial"/>
                        </a:rPr>
                        <a:t>Trigger</a:t>
                      </a:r>
                    </a:p>
                  </a:txBody>
                  <a:tcPr marL="54864" marR="54864" marT="27432" marB="27432">
                    <a:solidFill>
                      <a:srgbClr val="004EA8"/>
                    </a:solidFill>
                  </a:tcPr>
                </a:tc>
                <a:tc>
                  <a:txBody>
                    <a:bodyPr/>
                    <a:lstStyle/>
                    <a:p>
                      <a:r>
                        <a:rPr sz="850" b="1">
                          <a:solidFill>
                            <a:srgbClr val="FFFFFF"/>
                          </a:solidFill>
                          <a:latin typeface="Arial"/>
                        </a:rPr>
                        <a:t>Recipient</a:t>
                      </a:r>
                    </a:p>
                  </a:txBody>
                  <a:tcPr marL="54864" marR="54864" marT="27432" marB="27432">
                    <a:solidFill>
                      <a:srgbClr val="004EA8"/>
                    </a:solidFill>
                  </a:tcPr>
                </a:tc>
                <a:tc>
                  <a:txBody>
                    <a:bodyPr/>
                    <a:lstStyle/>
                    <a:p>
                      <a:r>
                        <a:rPr sz="850" b="1">
                          <a:solidFill>
                            <a:srgbClr val="FFFFFF"/>
                          </a:solidFill>
                          <a:latin typeface="Arial"/>
                        </a:rPr>
                        <a:t>Content</a:t>
                      </a:r>
                    </a:p>
                  </a:txBody>
                  <a:tcPr marL="54864" marR="54864" marT="27432" marB="27432">
                    <a:solidFill>
                      <a:srgbClr val="004EA8"/>
                    </a:solidFill>
                  </a:tcPr>
                </a:tc>
              </a:tr>
              <a:tr h="609596">
                <a:tc>
                  <a:txBody>
                    <a:bodyPr/>
                    <a:lstStyle/>
                    <a:p>
                      <a:r>
                        <a:rPr sz="850" b="0">
                          <a:solidFill>
                            <a:srgbClr val="4B4B4B"/>
                          </a:solidFill>
                          <a:latin typeface="Arial"/>
                        </a:rPr>
                        <a:t>NT-08</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A user asks for a reset link (Forgot password?, local sign-in)</a:t>
                      </a:r>
                    </a:p>
                  </a:txBody>
                  <a:tcPr marL="54864" marR="54864" marT="27432" marB="27432">
                    <a:solidFill>
                      <a:srgbClr val="FFFFFF"/>
                    </a:solidFill>
                  </a:tcPr>
                </a:tc>
                <a:tc>
                  <a:txBody>
                    <a:bodyPr/>
                    <a:lstStyle/>
                    <a:p>
                      <a:r>
                        <a:rPr sz="850" b="0">
                          <a:solidFill>
                            <a:srgbClr val="4B4B4B"/>
                          </a:solidFill>
                          <a:latin typeface="Arial"/>
                        </a:rPr>
                        <a:t>The registered e-mail address of the user, when the user is active and has one</a:t>
                      </a:r>
                    </a:p>
                  </a:txBody>
                  <a:tcPr marL="54864" marR="54864" marT="27432" marB="27432">
                    <a:solidFill>
                      <a:srgbClr val="FFFFFF"/>
                    </a:solidFill>
                  </a:tcPr>
                </a:tc>
                <a:tc>
                  <a:txBody>
                    <a:bodyPr/>
                    <a:lstStyle/>
                    <a:p>
                      <a:r>
                        <a:rPr sz="850" b="0">
                          <a:solidFill>
                            <a:srgbClr val="4B4B4B"/>
                          </a:solidFill>
                          <a:latin typeface="Arial"/>
                        </a:rPr>
                        <a:t>Subject: BrokerVerse: reset your password. Body: Dear &lt;full name&gt;, A new BrokerVerse password was requested for user &lt;user ID&gt;. Open this link to set it: &lt;link&gt;. The link works once and expires at &lt;date and time&gt; (Philippine time). If you did not ask for it, ignore this e-mail; your password stays as it is.</a:t>
                      </a:r>
                    </a:p>
                  </a:txBody>
                  <a:tcPr marL="54864" marR="54864" marT="27432" marB="27432">
                    <a:solidFill>
                      <a:srgbClr val="FFFFFF"/>
                    </a:solidFill>
                  </a:tcPr>
                </a:tc>
              </a:tr>
              <a:tr h="480057">
                <a:tc>
                  <a:txBody>
                    <a:bodyPr/>
                    <a:lstStyle/>
                    <a:p>
                      <a:r>
                        <a:rPr sz="850" b="0">
                          <a:solidFill>
                            <a:srgbClr val="4B4B4B"/>
                          </a:solidFill>
                          <a:latin typeface="Arial"/>
                        </a:rPr>
                        <a:t>NT-09</a:t>
                      </a:r>
                    </a:p>
                  </a:txBody>
                  <a:tcPr marL="54864" marR="54864" marT="27432" marB="27432">
                    <a:solidFill>
                      <a:srgbClr val="E5F5FF"/>
                    </a:solidFill>
                  </a:tcPr>
                </a:tc>
                <a:tc>
                  <a:txBody>
                    <a:bodyPr/>
                    <a:lstStyle/>
                    <a:p>
                      <a:r>
                        <a:rPr sz="850" b="0">
                          <a:solidFill>
                            <a:srgbClr val="4B4B4B"/>
                          </a:solidFill>
                          <a:latin typeface="Arial"/>
                        </a:rPr>
                        <a:t>In-app and e-mail (by preference)</a:t>
                      </a:r>
                    </a:p>
                  </a:txBody>
                  <a:tcPr marL="54864" marR="54864" marT="27432" marB="27432">
                    <a:solidFill>
                      <a:srgbClr val="E5F5FF"/>
                    </a:solidFill>
                  </a:tcPr>
                </a:tc>
                <a:tc>
                  <a:txBody>
                    <a:bodyPr/>
                    <a:lstStyle/>
                    <a:p>
                      <a:r>
                        <a:rPr sz="850" b="0">
                          <a:solidFill>
                            <a:srgbClr val="4B4B4B"/>
                          </a:solidFill>
                          <a:latin typeface="Arial"/>
                        </a:rPr>
                        <a:t>The daily job PASSWORD_EXPIRY_NOTICE (06:00) finds a password that expires within 7 days (local sign-in)</a:t>
                      </a:r>
                    </a:p>
                  </a:txBody>
                  <a:tcPr marL="54864" marR="54864" marT="27432" marB="27432">
                    <a:solidFill>
                      <a:srgbClr val="E5F5FF"/>
                    </a:solidFill>
                  </a:tcPr>
                </a:tc>
                <a:tc>
                  <a:txBody>
                    <a:bodyPr/>
                    <a:lstStyle/>
                    <a:p>
                      <a:r>
                        <a:rPr sz="850" b="0">
                          <a:solidFill>
                            <a:srgbClr val="4B4B4B"/>
                          </a:solidFill>
                          <a:latin typeface="Arial"/>
                        </a:rPr>
                        <a:t>The user whose password expires</a:t>
                      </a:r>
                    </a:p>
                  </a:txBody>
                  <a:tcPr marL="54864" marR="54864" marT="27432" marB="27432">
                    <a:solidFill>
                      <a:srgbClr val="E5F5FF"/>
                    </a:solidFill>
                  </a:tcPr>
                </a:tc>
                <a:tc>
                  <a:txBody>
                    <a:bodyPr/>
                    <a:lstStyle/>
                    <a:p>
                      <a:r>
                        <a:rPr sz="850" b="0">
                          <a:solidFill>
                            <a:srgbClr val="4B4B4B"/>
                          </a:solidFill>
                          <a:latin typeface="Arial"/>
                        </a:rPr>
                        <a:t>Title: Your password expires soon. Text: Your BrokerVerse password expires on &lt;date and time&gt; (Philippine time). Change it on My Profile before then. E-mail subject: BrokerVerse: your password expires soon</a:t>
                      </a:r>
                    </a:p>
                  </a:txBody>
                  <a:tcPr marL="54864" marR="54864" marT="27432" marB="27432">
                    <a:solidFill>
                      <a:srgbClr val="E5F5FF"/>
                    </a:solidFill>
                  </a:tcPr>
                </a:tc>
              </a:tr>
              <a:tr h="609596">
                <a:tc>
                  <a:txBody>
                    <a:bodyPr/>
                    <a:lstStyle/>
                    <a:p>
                      <a:r>
                        <a:rPr sz="850" b="0">
                          <a:solidFill>
                            <a:srgbClr val="4B4B4B"/>
                          </a:solidFill>
                          <a:latin typeface="Arial"/>
                        </a:rPr>
                        <a:t>NT-10</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A scheduled batch job fails (for example the daily application of dated access changes)</a:t>
                      </a:r>
                    </a:p>
                  </a:txBody>
                  <a:tcPr marL="54864" marR="54864" marT="27432" marB="27432">
                    <a:solidFill>
                      <a:srgbClr val="FFFFFF"/>
                    </a:solidFill>
                  </a:tcPr>
                </a:tc>
                <a:tc>
                  <a:txBody>
                    <a:bodyPr/>
                    <a:lstStyle/>
                    <a:p>
                      <a:r>
                        <a:rPr sz="850" b="0">
                          <a:solidFill>
                            <a:srgbClr val="4B4B4B"/>
                          </a:solidFill>
                          <a:latin typeface="Arial"/>
                        </a:rPr>
                        <a:t>The addresses of the parameter JOB_FAILURE_RECIPIENTS</a:t>
                      </a:r>
                    </a:p>
                  </a:txBody>
                  <a:tcPr marL="54864" marR="54864" marT="27432" marB="27432">
                    <a:solidFill>
                      <a:srgbClr val="FFFFFF"/>
                    </a:solidFill>
                  </a:tcPr>
                </a:tc>
                <a:tc>
                  <a:txBody>
                    <a:bodyPr/>
                    <a:lstStyle/>
                    <a:p>
                      <a:r>
                        <a:rPr sz="850" b="0">
                          <a:solidFill>
                            <a:srgbClr val="4B4B4B"/>
                          </a:solidFill>
                          <a:latin typeface="Arial"/>
                        </a:rPr>
                        <a:t>Subject: BrokerVerse: batch job &lt;job&gt; failed. Body: The batch job &lt;job&gt; failed. Run: &lt;run&gt;. Started: &lt;date and time&gt; (Philippine time). Trigger: &lt;trigger&gt;. Error: &lt;message&gt;. Open Administration &gt; Scheduled Jobs to see the run history and run the job again.</a:t>
                      </a:r>
                    </a:p>
                  </a:txBody>
                  <a:tcPr marL="54864" marR="54864" marT="27432" marB="27432">
                    <a:solidFill>
                      <a:srgbClr val="FFFFFF"/>
                    </a:solidFill>
                  </a:tcPr>
                </a:tc>
              </a:tr>
              <a:tr h="350518">
                <a:tc>
                  <a:txBody>
                    <a:bodyPr/>
                    <a:lstStyle/>
                    <a:p>
                      <a:r>
                        <a:rPr sz="850" b="0">
                          <a:solidFill>
                            <a:srgbClr val="4B4B4B"/>
                          </a:solidFill>
                          <a:latin typeface="Arial"/>
                        </a:rPr>
                        <a:t>NT-11</a:t>
                      </a:r>
                    </a:p>
                  </a:txBody>
                  <a:tcPr marL="54864" marR="54864" marT="27432" marB="27432">
                    <a:solidFill>
                      <a:srgbClr val="E5F5FF"/>
                    </a:solidFill>
                  </a:tcPr>
                </a:tc>
                <a:tc>
                  <a:txBody>
                    <a:bodyPr/>
                    <a:lstStyle/>
                    <a:p>
                      <a:r>
                        <a:rPr sz="850" b="0">
                          <a:solidFill>
                            <a:srgbClr val="4B4B4B"/>
                          </a:solidFill>
                          <a:latin typeface="Arial"/>
                        </a:rPr>
                        <a:t>Alert inbox</a:t>
                      </a:r>
                    </a:p>
                  </a:txBody>
                  <a:tcPr marL="54864" marR="54864" marT="27432" marB="27432">
                    <a:solidFill>
                      <a:srgbClr val="E5F5FF"/>
                    </a:solidFill>
                  </a:tcPr>
                </a:tc>
                <a:tc>
                  <a:txBody>
                    <a:bodyPr/>
                    <a:lstStyle/>
                    <a:p>
                      <a:r>
                        <a:rPr sz="850" b="0">
                          <a:solidFill>
                            <a:srgbClr val="4B4B4B"/>
                          </a:solidFill>
                          <a:latin typeface="Arial"/>
                        </a:rPr>
                        <a:t>A request with a risk flag passes its first approval (alert Privileged access change, medium)</a:t>
                      </a:r>
                    </a:p>
                  </a:txBody>
                  <a:tcPr marL="54864" marR="54864" marT="27432" marB="27432">
                    <a:solidFill>
                      <a:srgbClr val="E5F5FF"/>
                    </a:solidFill>
                  </a:tcPr>
                </a:tc>
                <a:tc>
                  <a:txBody>
                    <a:bodyPr/>
                    <a:lstStyle/>
                    <a:p>
                      <a:r>
                        <a:rPr sz="850" b="0">
                          <a:solidFill>
                            <a:srgbClr val="4B4B4B"/>
                          </a:solidFill>
                          <a:latin typeface="Arial"/>
                        </a:rPr>
                        <a:t>Holders of the alert right (System Administrator, Auditor)</a:t>
                      </a:r>
                    </a:p>
                  </a:txBody>
                  <a:tcPr marL="54864" marR="54864" marT="27432" marB="27432">
                    <a:solidFill>
                      <a:srgbClr val="E5F5FF"/>
                    </a:solidFill>
                  </a:tcPr>
                </a:tc>
                <a:tc>
                  <a:txBody>
                    <a:bodyPr/>
                    <a:lstStyle/>
                    <a:p>
                      <a:r>
                        <a:rPr sz="850" b="0">
                          <a:solidFill>
                            <a:srgbClr val="4B4B4B"/>
                          </a:solidFill>
                          <a:latin typeface="Arial"/>
                        </a:rPr>
                        <a:t>Access request &lt;request no&gt; &lt;risk flags&gt;: &lt;description of the change&gt;</a:t>
                      </a:r>
                    </a:p>
                  </a:txBody>
                  <a:tcPr marL="54864" marR="54864" marT="27432" marB="27432">
                    <a:solidFill>
                      <a:srgbClr val="E5F5FF"/>
                    </a:solidFill>
                  </a:tcPr>
                </a:tc>
              </a:tr>
              <a:tr h="480057">
                <a:tc>
                  <a:txBody>
                    <a:bodyPr/>
                    <a:lstStyle/>
                    <a:p>
                      <a:r>
                        <a:rPr sz="850" b="0">
                          <a:solidFill>
                            <a:srgbClr val="4B4B4B"/>
                          </a:solidFill>
                          <a:latin typeface="Arial"/>
                        </a:rPr>
                        <a:t>NT-12</a:t>
                      </a:r>
                    </a:p>
                  </a:txBody>
                  <a:tcPr marL="54864" marR="54864" marT="27432" marB="27432">
                    <a:solidFill>
                      <a:srgbClr val="FFFFFF"/>
                    </a:solidFill>
                  </a:tcPr>
                </a:tc>
                <a:tc>
                  <a:txBody>
                    <a:bodyPr/>
                    <a:lstStyle/>
                    <a:p>
                      <a:r>
                        <a:rPr sz="850" b="0">
                          <a:solidFill>
                            <a:srgbClr val="4B4B4B"/>
                          </a:solidFill>
                          <a:latin typeface="Arial"/>
                        </a:rPr>
                        <a:t>Alert inbox</a:t>
                      </a:r>
                    </a:p>
                  </a:txBody>
                  <a:tcPr marL="54864" marR="54864" marT="27432" marB="27432">
                    <a:solidFill>
                      <a:srgbClr val="FFFFFF"/>
                    </a:solidFill>
                  </a:tcPr>
                </a:tc>
                <a:tc>
                  <a:txBody>
                    <a:bodyPr/>
                    <a:lstStyle/>
                    <a:p>
                      <a:r>
                        <a:rPr sz="850" b="0">
                          <a:solidFill>
                            <a:srgbClr val="4B4B4B"/>
                          </a:solidFill>
                          <a:latin typeface="Arial"/>
                        </a:rPr>
                        <a:t>A scheduled request cannot be applied on its effective date (alert Scheduled access change failed, high)</a:t>
                      </a:r>
                    </a:p>
                  </a:txBody>
                  <a:tcPr marL="54864" marR="54864" marT="27432" marB="27432">
                    <a:solidFill>
                      <a:srgbClr val="FFFFFF"/>
                    </a:solidFill>
                  </a:tcPr>
                </a:tc>
                <a:tc>
                  <a:txBody>
                    <a:bodyPr/>
                    <a:lstStyle/>
                    <a:p>
                      <a:r>
                        <a:rPr sz="850" b="0">
                          <a:solidFill>
                            <a:srgbClr val="4B4B4B"/>
                          </a:solidFill>
                          <a:latin typeface="Arial"/>
                        </a:rPr>
                        <a:t>Holders of the alert right (System Administrator, Auditor)</a:t>
                      </a:r>
                    </a:p>
                  </a:txBody>
                  <a:tcPr marL="54864" marR="54864" marT="27432" marB="27432">
                    <a:solidFill>
                      <a:srgbClr val="FFFFFF"/>
                    </a:solidFill>
                  </a:tcPr>
                </a:tc>
                <a:tc>
                  <a:txBody>
                    <a:bodyPr/>
                    <a:lstStyle/>
                    <a:p>
                      <a:r>
                        <a:rPr sz="850" b="0">
                          <a:solidFill>
                            <a:srgbClr val="4B4B4B"/>
                          </a:solidFill>
                          <a:latin typeface="Arial"/>
                        </a:rPr>
                        <a:t>Access request &lt;request no&gt; could not be applied on &lt;dd-MMM-yyyy&gt;: &lt;reason&gt;</a:t>
                      </a:r>
                    </a:p>
                  </a:txBody>
                  <a:tcPr marL="54864" marR="54864" marT="27432" marB="27432">
                    <a:solidFill>
                      <a:srgbClr val="FFFFFF"/>
                    </a:solidFill>
                  </a:tcPr>
                </a:tc>
              </a:tr>
              <a:tr h="480057">
                <a:tc>
                  <a:txBody>
                    <a:bodyPr/>
                    <a:lstStyle/>
                    <a:p>
                      <a:r>
                        <a:rPr sz="850" b="0">
                          <a:solidFill>
                            <a:srgbClr val="4B4B4B"/>
                          </a:solidFill>
                          <a:latin typeface="Arial"/>
                        </a:rPr>
                        <a:t>NT-13</a:t>
                      </a:r>
                    </a:p>
                  </a:txBody>
                  <a:tcPr marL="54864" marR="54864" marT="27432" marB="27432">
                    <a:solidFill>
                      <a:srgbClr val="E5F5FF"/>
                    </a:solidFill>
                  </a:tcPr>
                </a:tc>
                <a:tc>
                  <a:txBody>
                    <a:bodyPr/>
                    <a:lstStyle/>
                    <a:p>
                      <a:r>
                        <a:rPr sz="850" b="0">
                          <a:solidFill>
                            <a:srgbClr val="4B4B4B"/>
                          </a:solidFill>
                          <a:latin typeface="Arial"/>
                        </a:rPr>
                        <a:t>Alert inbox</a:t>
                      </a:r>
                    </a:p>
                  </a:txBody>
                  <a:tcPr marL="54864" marR="54864" marT="27432" marB="27432">
                    <a:solidFill>
                      <a:srgbClr val="E5F5FF"/>
                    </a:solidFill>
                  </a:tcPr>
                </a:tc>
                <a:tc>
                  <a:txBody>
                    <a:bodyPr/>
                    <a:lstStyle/>
                    <a:p>
                      <a:r>
                        <a:rPr sz="850" b="0">
                          <a:solidFill>
                            <a:srgbClr val="4B4B4B"/>
                          </a:solidFill>
                          <a:latin typeface="Arial"/>
                        </a:rPr>
                        <a:t>A group profile is created or changed directly while the emergency path UAM_DIRECT_ROLE_EDIT is open (alert Role edited outside a request, medium)</a:t>
                      </a:r>
                    </a:p>
                  </a:txBody>
                  <a:tcPr marL="54864" marR="54864" marT="27432" marB="27432">
                    <a:solidFill>
                      <a:srgbClr val="E5F5FF"/>
                    </a:solidFill>
                  </a:tcPr>
                </a:tc>
                <a:tc>
                  <a:txBody>
                    <a:bodyPr/>
                    <a:lstStyle/>
                    <a:p>
                      <a:r>
                        <a:rPr sz="850" b="0">
                          <a:solidFill>
                            <a:srgbClr val="4B4B4B"/>
                          </a:solidFill>
                          <a:latin typeface="Arial"/>
                        </a:rPr>
                        <a:t>Holders of the alert right (System Administrator, Auditor)</a:t>
                      </a:r>
                    </a:p>
                  </a:txBody>
                  <a:tcPr marL="54864" marR="54864" marT="27432" marB="27432">
                    <a:solidFill>
                      <a:srgbClr val="E5F5FF"/>
                    </a:solidFill>
                  </a:tcPr>
                </a:tc>
                <a:tc>
                  <a:txBody>
                    <a:bodyPr/>
                    <a:lstStyle/>
                    <a:p>
                      <a:r>
                        <a:rPr sz="850" b="0">
                          <a:solidFill>
                            <a:srgbClr val="4B4B4B"/>
                          </a:solidFill>
                          <a:latin typeface="Arial"/>
                        </a:rPr>
                        <a:t>Role &lt;code&gt; &lt;change&gt; directly by &lt;user&gt; (emergency path UAM_DIRECT_ROLE_EDIT)</a:t>
                      </a:r>
                    </a:p>
                  </a:txBody>
                  <a:tcPr marL="54864" marR="54864" marT="27432" marB="27432">
                    <a:solidFill>
                      <a:srgbClr val="E5F5FF"/>
                    </a:solidFill>
                  </a:tcPr>
                </a:tc>
              </a:tr>
              <a:tr h="350518">
                <a:tc>
                  <a:txBody>
                    <a:bodyPr/>
                    <a:lstStyle/>
                    <a:p>
                      <a:r>
                        <a:rPr sz="850" b="0">
                          <a:solidFill>
                            <a:srgbClr val="4B4B4B"/>
                          </a:solidFill>
                          <a:latin typeface="Arial"/>
                        </a:rPr>
                        <a:t>NT-17</a:t>
                      </a:r>
                    </a:p>
                  </a:txBody>
                  <a:tcPr marL="54864" marR="54864" marT="27432" marB="27432">
                    <a:solidFill>
                      <a:srgbClr val="FFFFFF"/>
                    </a:solidFill>
                  </a:tcPr>
                </a:tc>
                <a:tc>
                  <a:txBody>
                    <a:bodyPr/>
                    <a:lstStyle/>
                    <a:p>
                      <a:r>
                        <a:rPr sz="850" b="0">
                          <a:solidFill>
                            <a:srgbClr val="4B4B4B"/>
                          </a:solidFill>
                          <a:latin typeface="Arial"/>
                        </a:rPr>
                        <a:t>In-app (and e-mail by preference)</a:t>
                      </a:r>
                    </a:p>
                  </a:txBody>
                  <a:tcPr marL="54864" marR="54864" marT="27432" marB="27432">
                    <a:solidFill>
                      <a:srgbClr val="FFFFFF"/>
                    </a:solidFill>
                  </a:tcPr>
                </a:tc>
                <a:tc>
                  <a:txBody>
                    <a:bodyPr/>
                    <a:lstStyle/>
                    <a:p>
                      <a:r>
                        <a:rPr sz="850" b="0">
                          <a:solidFill>
                            <a:srgbClr val="4B4B4B"/>
                          </a:solidFill>
                          <a:latin typeface="Arial"/>
                        </a:rPr>
                        <a:t>A separation-of-duties rule is created, or its deactivation is asked</a:t>
                      </a:r>
                    </a:p>
                  </a:txBody>
                  <a:tcPr marL="54864" marR="54864" marT="27432" marB="27432">
                    <a:solidFill>
                      <a:srgbClr val="FFFFFF"/>
                    </a:solidFill>
                  </a:tcPr>
                </a:tc>
                <a:tc>
                  <a:txBody>
                    <a:bodyPr/>
                    <a:lstStyle/>
                    <a:p>
                      <a:r>
                        <a:rPr sz="850" b="0">
                          <a:solidFill>
                            <a:srgbClr val="4B4B4B"/>
                          </a:solidFill>
                          <a:latin typeface="Arial"/>
                        </a:rPr>
                        <a:t>Every holder of the rule authorisation right (Information Security Officer)</a:t>
                      </a:r>
                    </a:p>
                  </a:txBody>
                  <a:tcPr marL="54864" marR="54864" marT="27432" marB="27432">
                    <a:solidFill>
                      <a:srgbClr val="FFFFFF"/>
                    </a:solidFill>
                  </a:tcPr>
                </a:tc>
                <a:tc>
                  <a:txBody>
                    <a:bodyPr/>
                    <a:lstStyle/>
                    <a:p>
                      <a:r>
                        <a:rPr sz="850" b="0">
                          <a:solidFill>
                            <a:srgbClr val="4B4B4B"/>
                          </a:solidFill>
                          <a:latin typeface="Arial"/>
                        </a:rPr>
                        <a:t>Title: Separation-of-duties rule &lt;rule&gt; to authorise. Text: The new rule | deactivation of rule &lt;rule&gt;: &lt;reason&gt;</a:t>
                      </a:r>
                    </a:p>
                  </a:txBody>
                  <a:tcPr marL="54864" marR="54864" marT="27432" marB="27432">
                    <a:solidFill>
                      <a:srgbClr val="FFFFFF"/>
                    </a:solidFill>
                  </a:tcPr>
                </a:tc>
              </a:tr>
              <a:tr h="480057">
                <a:tc>
                  <a:txBody>
                    <a:bodyPr/>
                    <a:lstStyle/>
                    <a:p>
                      <a:r>
                        <a:rPr sz="850" b="0">
                          <a:solidFill>
                            <a:srgbClr val="4B4B4B"/>
                          </a:solidFill>
                          <a:latin typeface="Arial"/>
                        </a:rPr>
                        <a:t>NT-18</a:t>
                      </a:r>
                    </a:p>
                  </a:txBody>
                  <a:tcPr marL="54864" marR="54864" marT="27432" marB="27432">
                    <a:solidFill>
                      <a:srgbClr val="E5F5FF"/>
                    </a:solidFill>
                  </a:tcPr>
                </a:tc>
                <a:tc>
                  <a:txBody>
                    <a:bodyPr/>
                    <a:lstStyle/>
                    <a:p>
                      <a:r>
                        <a:rPr sz="850" b="0">
                          <a:solidFill>
                            <a:srgbClr val="4B4B4B"/>
                          </a:solidFill>
                          <a:latin typeface="Arial"/>
                        </a:rPr>
                        <a:t>In-app and e-mail (by preference)</a:t>
                      </a:r>
                    </a:p>
                  </a:txBody>
                  <a:tcPr marL="54864" marR="54864" marT="27432" marB="27432">
                    <a:solidFill>
                      <a:srgbClr val="E5F5FF"/>
                    </a:solidFill>
                  </a:tcPr>
                </a:tc>
                <a:tc>
                  <a:txBody>
                    <a:bodyPr/>
                    <a:lstStyle/>
                    <a:p>
                      <a:r>
                        <a:rPr sz="850" b="0">
                          <a:solidFill>
                            <a:srgbClr val="4B4B4B"/>
                          </a:solidFill>
                          <a:latin typeface="Arial"/>
                        </a:rPr>
                        <a:t>The System Administrator changes a security setting on System Parameters</a:t>
                      </a:r>
                    </a:p>
                  </a:txBody>
                  <a:tcPr marL="54864" marR="54864" marT="27432" marB="27432">
                    <a:solidFill>
                      <a:srgbClr val="E5F5FF"/>
                    </a:solidFill>
                  </a:tcPr>
                </a:tc>
                <a:tc>
                  <a:txBody>
                    <a:bodyPr/>
                    <a:lstStyle/>
                    <a:p>
                      <a:r>
                        <a:rPr sz="850" b="0">
                          <a:solidFill>
                            <a:srgbClr val="4B4B4B"/>
                          </a:solidFill>
                          <a:latin typeface="Arial"/>
                        </a:rPr>
                        <a:t>Every holder of the security setting approval right (Information Security Officer)</a:t>
                      </a:r>
                    </a:p>
                  </a:txBody>
                  <a:tcPr marL="54864" marR="54864" marT="27432" marB="27432">
                    <a:solidFill>
                      <a:srgbClr val="E5F5FF"/>
                    </a:solidFill>
                  </a:tcPr>
                </a:tc>
                <a:tc>
                  <a:txBody>
                    <a:bodyPr/>
                    <a:lstStyle/>
                    <a:p>
                      <a:r>
                        <a:rPr sz="850" b="0">
                          <a:solidFill>
                            <a:srgbClr val="4B4B4B"/>
                          </a:solidFill>
                          <a:latin typeface="Arial"/>
                        </a:rPr>
                        <a:t>Title: Security setting to approve: &lt;description of the setting&gt;. Text: &lt;user&gt; asks to change it from '&lt;current value&gt;' to '&lt;new value&gt;'</a:t>
                      </a:r>
                    </a:p>
                  </a:txBody>
                  <a:tcPr marL="54864" marR="54864" marT="27432" marB="27432">
                    <a:solidFill>
                      <a:srgbClr val="E5F5FF"/>
                    </a:solidFill>
                  </a:tcPr>
                </a:tc>
              </a:tr>
            </a:tbl>
          </a:graphicData>
        </a:graphic>
      </p:graphicFrame>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Exports and downloads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330</a:t>
            </a:r>
          </a:p>
        </p:txBody>
      </p:sp>
      <p:graphicFrame>
        <p:nvGraphicFramePr>
          <p:cNvPr id="9" name="Table 8"/>
          <p:cNvGraphicFramePr>
            <a:graphicFrameLocks noGrp="1"/>
          </p:cNvGraphicFramePr>
          <p:nvPr/>
        </p:nvGraphicFramePr>
        <p:xfrm>
          <a:off x="548640" y="1325880"/>
          <a:ext cx="11094413" cy="1051560"/>
        </p:xfrm>
        <a:graphic>
          <a:graphicData uri="http://schemas.openxmlformats.org/drawingml/2006/table">
            <a:tbl>
              <a:tblPr firstRow="1" bandRow="1">
                <a:tableStyleId>{5C22544A-7EE6-4342-B048-85BDC9FD1C3A}</a:tableStyleId>
              </a:tblPr>
              <a:tblGrid>
                <a:gridCol w="1194783"/>
                <a:gridCol w="2048199"/>
                <a:gridCol w="2560249"/>
                <a:gridCol w="5291182"/>
              </a:tblGrid>
              <a:tr h="228600">
                <a:tc>
                  <a:txBody>
                    <a:bodyPr/>
                    <a:lstStyle/>
                    <a:p>
                      <a:r>
                        <a:rPr sz="900" b="1">
                          <a:solidFill>
                            <a:srgbClr val="FFFFFF"/>
                          </a:solidFill>
                          <a:latin typeface="Arial"/>
                        </a:rPr>
                        <a:t>Screen</a:t>
                      </a:r>
                    </a:p>
                  </a:txBody>
                  <a:tcPr marL="54864" marR="54864" marT="27432" marB="27432">
                    <a:solidFill>
                      <a:srgbClr val="004EA8"/>
                    </a:solidFill>
                  </a:tcPr>
                </a:tc>
                <a:tc>
                  <a:txBody>
                    <a:bodyPr/>
                    <a:lstStyle/>
                    <a:p>
                      <a:r>
                        <a:rPr sz="900" b="1">
                          <a:solidFill>
                            <a:srgbClr val="FFFFFF"/>
                          </a:solidFill>
                          <a:latin typeface="Arial"/>
                        </a:rPr>
                        <a:t>Button</a:t>
                      </a:r>
                    </a:p>
                  </a:txBody>
                  <a:tcPr marL="54864" marR="54864" marT="27432" marB="27432">
                    <a:solidFill>
                      <a:srgbClr val="004EA8"/>
                    </a:solidFill>
                  </a:tcPr>
                </a:tc>
                <a:tc>
                  <a:txBody>
                    <a:bodyPr/>
                    <a:lstStyle/>
                    <a:p>
                      <a:r>
                        <a:rPr sz="900" b="1">
                          <a:solidFill>
                            <a:srgbClr val="FFFFFF"/>
                          </a:solidFill>
                          <a:latin typeface="Arial"/>
                        </a:rPr>
                        <a:t>Who</a:t>
                      </a:r>
                    </a:p>
                  </a:txBody>
                  <a:tcPr marL="54864" marR="54864" marT="27432" marB="27432">
                    <a:solidFill>
                      <a:srgbClr val="004EA8"/>
                    </a:solidFill>
                  </a:tcPr>
                </a:tc>
                <a:tc>
                  <a:txBody>
                    <a:bodyPr/>
                    <a:lstStyle/>
                    <a:p>
                      <a:r>
                        <a:rPr sz="900" b="1">
                          <a:solidFill>
                            <a:srgbClr val="FFFFFF"/>
                          </a:solidFill>
                          <a:latin typeface="Arial"/>
                        </a:rPr>
                        <a:t>What the user receives</a:t>
                      </a:r>
                    </a:p>
                  </a:txBody>
                  <a:tcPr marL="54864" marR="54864" marT="27432" marB="27432">
                    <a:solidFill>
                      <a:srgbClr val="004EA8"/>
                    </a:solidFill>
                  </a:tcPr>
                </a:tc>
              </a:tr>
              <a:tr h="228600">
                <a:tc>
                  <a:txBody>
                    <a:bodyPr/>
                    <a:lstStyle/>
                    <a:p>
                      <a:r>
                        <a:rPr sz="900" b="0">
                          <a:solidFill>
                            <a:srgbClr val="4B4B4B"/>
                          </a:solidFill>
                          <a:latin typeface="Arial"/>
                        </a:rPr>
                        <a:t>SCR-UA-13</a:t>
                      </a:r>
                    </a:p>
                  </a:txBody>
                  <a:tcPr marL="54864" marR="54864" marT="27432" marB="27432">
                    <a:solidFill>
                      <a:srgbClr val="FFFFFF"/>
                    </a:solidFill>
                  </a:tcPr>
                </a:tc>
                <a:tc>
                  <a:txBody>
                    <a:bodyPr/>
                    <a:lstStyle/>
                    <a:p>
                      <a:r>
                        <a:rPr sz="900" b="0">
                          <a:solidFill>
                            <a:srgbClr val="4B4B4B"/>
                          </a:solidFill>
                          <a:latin typeface="Arial"/>
                        </a:rPr>
                        <a:t>Export to Excel</a:t>
                      </a:r>
                    </a:p>
                  </a:txBody>
                  <a:tcPr marL="54864" marR="54864" marT="27432" marB="27432">
                    <a:solidFill>
                      <a:srgbClr val="FFFFFF"/>
                    </a:solidFill>
                  </a:tcPr>
                </a:tc>
                <a:tc>
                  <a:txBody>
                    <a:bodyPr/>
                    <a:lstStyle/>
                    <a:p>
                      <a:r>
                        <a:rPr sz="900" b="0">
                          <a:solidFill>
                            <a:srgbClr val="4B4B4B"/>
                          </a:solidFill>
                          <a:latin typeface="Arial"/>
                        </a:rPr>
                        <a:t>Every user of the screen</a:t>
                      </a:r>
                    </a:p>
                  </a:txBody>
                  <a:tcPr marL="54864" marR="54864" marT="27432" marB="27432">
                    <a:solidFill>
                      <a:srgbClr val="FFFFFF"/>
                    </a:solidFill>
                  </a:tcPr>
                </a:tc>
                <a:tc>
                  <a:txBody>
                    <a:bodyPr/>
                    <a:lstStyle/>
                    <a:p>
                      <a:r>
                        <a:rPr sz="900" b="0">
                          <a:solidFill>
                            <a:srgbClr val="4B4B4B"/>
                          </a:solidFill>
                          <a:latin typeface="Arial"/>
                        </a:rPr>
                        <a:t>Downloads the matrix (both views) as an Excel file</a:t>
                      </a:r>
                    </a:p>
                  </a:txBody>
                  <a:tcPr marL="54864" marR="54864" marT="27432" marB="27432">
                    <a:solidFill>
                      <a:srgbClr val="FFFFFF"/>
                    </a:solidFill>
                  </a:tcPr>
                </a:tc>
              </a:tr>
              <a:tr h="228600">
                <a:tc>
                  <a:txBody>
                    <a:bodyPr/>
                    <a:lstStyle/>
                    <a:p>
                      <a:r>
                        <a:rPr sz="900" b="0">
                          <a:solidFill>
                            <a:srgbClr val="4B4B4B"/>
                          </a:solidFill>
                          <a:latin typeface="Arial"/>
                        </a:rPr>
                        <a:t>SCR-UA-17</a:t>
                      </a:r>
                    </a:p>
                  </a:txBody>
                  <a:tcPr marL="54864" marR="54864" marT="27432" marB="27432">
                    <a:solidFill>
                      <a:srgbClr val="E5F5FF"/>
                    </a:solidFill>
                  </a:tcPr>
                </a:tc>
                <a:tc>
                  <a:txBody>
                    <a:bodyPr/>
                    <a:lstStyle/>
                    <a:p>
                      <a:r>
                        <a:rPr sz="900" b="0">
                          <a:solidFill>
                            <a:srgbClr val="4B4B4B"/>
                          </a:solidFill>
                          <a:latin typeface="Arial"/>
                        </a:rPr>
                        <a:t>Print</a:t>
                      </a:r>
                    </a:p>
                  </a:txBody>
                  <a:tcPr marL="54864" marR="54864" marT="27432" marB="27432">
                    <a:solidFill>
                      <a:srgbClr val="E5F5FF"/>
                    </a:solidFill>
                  </a:tcPr>
                </a:tc>
                <a:tc>
                  <a:txBody>
                    <a:bodyPr/>
                    <a:lstStyle/>
                    <a:p>
                      <a:r>
                        <a:rPr sz="900" b="0">
                          <a:solidFill>
                            <a:srgbClr val="4B4B4B"/>
                          </a:solidFill>
                          <a:latin typeface="Arial"/>
                        </a:rPr>
                        <a:t>As Run Report</a:t>
                      </a:r>
                    </a:p>
                  </a:txBody>
                  <a:tcPr marL="54864" marR="54864" marT="27432" marB="27432">
                    <a:solidFill>
                      <a:srgbClr val="E5F5FF"/>
                    </a:solidFill>
                  </a:tcPr>
                </a:tc>
                <a:tc>
                  <a:txBody>
                    <a:bodyPr/>
                    <a:lstStyle/>
                    <a:p>
                      <a:r>
                        <a:rPr sz="900" b="0">
                          <a:solidFill>
                            <a:srgbClr val="4B4B4B"/>
                          </a:solidFill>
                          <a:latin typeface="Arial"/>
                        </a:rPr>
                        <a:t>Opens the printable report with the paper, orientation and width chosen</a:t>
                      </a:r>
                    </a:p>
                  </a:txBody>
                  <a:tcPr marL="54864" marR="54864" marT="27432" marB="27432">
                    <a:solidFill>
                      <a:srgbClr val="E5F5FF"/>
                    </a:solidFill>
                  </a:tcPr>
                </a:tc>
              </a:tr>
              <a:tr h="365760">
                <a:tc>
                  <a:txBody>
                    <a:bodyPr/>
                    <a:lstStyle/>
                    <a:p>
                      <a:r>
                        <a:rPr sz="900" b="0">
                          <a:solidFill>
                            <a:srgbClr val="4B4B4B"/>
                          </a:solidFill>
                          <a:latin typeface="Arial"/>
                        </a:rPr>
                        <a:t>SCR-UA-17</a:t>
                      </a:r>
                    </a:p>
                  </a:txBody>
                  <a:tcPr marL="54864" marR="54864" marT="27432" marB="27432">
                    <a:solidFill>
                      <a:srgbClr val="FFFFFF"/>
                    </a:solidFill>
                  </a:tcPr>
                </a:tc>
                <a:tc>
                  <a:txBody>
                    <a:bodyPr/>
                    <a:lstStyle/>
                    <a:p>
                      <a:r>
                        <a:rPr sz="900" b="0">
                          <a:solidFill>
                            <a:srgbClr val="4B4B4B"/>
                          </a:solidFill>
                          <a:latin typeface="Arial"/>
                        </a:rPr>
                        <a:t>PDF / Excel / CSV download</a:t>
                      </a:r>
                    </a:p>
                  </a:txBody>
                  <a:tcPr marL="54864" marR="54864" marT="27432" marB="27432">
                    <a:solidFill>
                      <a:srgbClr val="FFFFFF"/>
                    </a:solidFill>
                  </a:tcPr>
                </a:tc>
                <a:tc>
                  <a:txBody>
                    <a:bodyPr/>
                    <a:lstStyle/>
                    <a:p>
                      <a:r>
                        <a:rPr sz="900" b="0">
                          <a:solidFill>
                            <a:srgbClr val="4B4B4B"/>
                          </a:solidFill>
                          <a:latin typeface="Arial"/>
                        </a:rPr>
                        <a:t>As Run Report</a:t>
                      </a:r>
                    </a:p>
                  </a:txBody>
                  <a:tcPr marL="54864" marR="54864" marT="27432" marB="27432">
                    <a:solidFill>
                      <a:srgbClr val="FFFFFF"/>
                    </a:solidFill>
                  </a:tcPr>
                </a:tc>
                <a:tc>
                  <a:txBody>
                    <a:bodyPr/>
                    <a:lstStyle/>
                    <a:p>
                      <a:r>
                        <a:rPr sz="900" b="0">
                          <a:solidFill>
                            <a:srgbClr val="4B4B4B"/>
                          </a:solidFill>
                          <a:latin typeface="Arial"/>
                        </a:rPr>
                        <a:t>Downloads the report; the header carries the report name, the user who generated it, the date coverage and the time generated</a:t>
                      </a:r>
                    </a:p>
                  </a:txBody>
                  <a:tcPr marL="54864" marR="54864" marT="27432" marB="27432">
                    <a:solidFill>
                      <a:srgbClr val="FFFFFF"/>
                    </a:solidFill>
                  </a:tcPr>
                </a:tc>
              </a:tr>
            </a:tbl>
          </a:graphicData>
        </a:graphic>
      </p:graphicFrame>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UX points for confirmation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Presentation items to confirm, screen observations, accessibility and the desktop assumptions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BRD-11 User Access Maintenance</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Presentation items of the clarifications chapter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332</a:t>
            </a:r>
          </a:p>
        </p:txBody>
      </p:sp>
      <p:graphicFrame>
        <p:nvGraphicFramePr>
          <p:cNvPr id="9" name="Table 8"/>
          <p:cNvGraphicFramePr>
            <a:graphicFrameLocks noGrp="1"/>
          </p:cNvGraphicFramePr>
          <p:nvPr/>
        </p:nvGraphicFramePr>
        <p:xfrm>
          <a:off x="548640" y="1325880"/>
          <a:ext cx="11094413" cy="2331720"/>
        </p:xfrm>
        <a:graphic>
          <a:graphicData uri="http://schemas.openxmlformats.org/drawingml/2006/table">
            <a:tbl>
              <a:tblPr firstRow="1" bandRow="1">
                <a:tableStyleId>{5C22544A-7EE6-4342-B048-85BDC9FD1C3A}</a:tableStyleId>
              </a:tblPr>
              <a:tblGrid>
                <a:gridCol w="1024099"/>
                <a:gridCol w="2048199"/>
                <a:gridCol w="5120499"/>
                <a:gridCol w="2901616"/>
              </a:tblGrid>
              <a:tr h="228600">
                <a:tc>
                  <a:txBody>
                    <a:bodyPr/>
                    <a:lstStyle/>
                    <a:p>
                      <a:r>
                        <a:rPr sz="900" b="1">
                          <a:solidFill>
                            <a:srgbClr val="FFFFFF"/>
                          </a:solidFill>
                          <a:latin typeface="Arial"/>
                        </a:rPr>
                        <a:t>Ref</a:t>
                      </a:r>
                    </a:p>
                  </a:txBody>
                  <a:tcPr marL="54864" marR="54864" marT="27432" marB="27432">
                    <a:solidFill>
                      <a:srgbClr val="004EA8"/>
                    </a:solidFill>
                  </a:tcPr>
                </a:tc>
                <a:tc>
                  <a:txBody>
                    <a:bodyPr/>
                    <a:lstStyle/>
                    <a:p>
                      <a:r>
                        <a:rPr sz="900" b="1">
                          <a:solidFill>
                            <a:srgbClr val="FFFFFF"/>
                          </a:solidFill>
                          <a:latin typeface="Arial"/>
                        </a:rPr>
                        <a:t>Topic</a:t>
                      </a:r>
                    </a:p>
                  </a:txBody>
                  <a:tcPr marL="54864" marR="54864" marT="27432" marB="27432">
                    <a:solidFill>
                      <a:srgbClr val="004EA8"/>
                    </a:solidFill>
                  </a:tcPr>
                </a:tc>
                <a:tc>
                  <a:txBody>
                    <a:bodyPr/>
                    <a:lstStyle/>
                    <a:p>
                      <a:r>
                        <a:rPr sz="900" b="1">
                          <a:solidFill>
                            <a:srgbClr val="FFFFFF"/>
                          </a:solidFill>
                          <a:latin typeface="Arial"/>
                        </a:rPr>
                        <a:t>Proposed</a:t>
                      </a:r>
                    </a:p>
                  </a:txBody>
                  <a:tcPr marL="54864" marR="54864" marT="27432" marB="27432">
                    <a:solidFill>
                      <a:srgbClr val="004EA8"/>
                    </a:solidFill>
                  </a:tcPr>
                </a:tc>
                <a:tc>
                  <a:txBody>
                    <a:bodyPr/>
                    <a:lstStyle/>
                    <a:p>
                      <a:r>
                        <a:rPr sz="900" b="1">
                          <a:solidFill>
                            <a:srgbClr val="FFFFFF"/>
                          </a:solidFill>
                          <a:latin typeface="Arial"/>
                        </a:rPr>
                        <a:t>To confirm</a:t>
                      </a:r>
                    </a:p>
                  </a:txBody>
                  <a:tcPr marL="54864" marR="54864" marT="27432" marB="27432">
                    <a:solidFill>
                      <a:srgbClr val="004EA8"/>
                    </a:solidFill>
                  </a:tcPr>
                </a:tc>
              </a:tr>
              <a:tr h="365760">
                <a:tc>
                  <a:txBody>
                    <a:bodyPr/>
                    <a:lstStyle/>
                    <a:p>
                      <a:r>
                        <a:rPr sz="900" b="0">
                          <a:solidFill>
                            <a:srgbClr val="4B4B4B"/>
                          </a:solidFill>
                          <a:latin typeface="Arial"/>
                        </a:rPr>
                        <a:t>CLR-UA-10</a:t>
                      </a:r>
                    </a:p>
                  </a:txBody>
                  <a:tcPr marL="54864" marR="54864" marT="27432" marB="27432">
                    <a:solidFill>
                      <a:srgbClr val="FFFFFF"/>
                    </a:solidFill>
                  </a:tcPr>
                </a:tc>
                <a:tc>
                  <a:txBody>
                    <a:bodyPr/>
                    <a:lstStyle/>
                    <a:p>
                      <a:r>
                        <a:rPr sz="900" b="0">
                          <a:solidFill>
                            <a:srgbClr val="4B4B4B"/>
                          </a:solidFill>
                          <a:latin typeface="Arial"/>
                        </a:rPr>
                        <a:t>Module and task names in the reports (3.003; FR-UA-060, 061)</a:t>
                      </a:r>
                    </a:p>
                  </a:txBody>
                  <a:tcPr marL="54864" marR="54864" marT="27432" marB="27432">
                    <a:solidFill>
                      <a:srgbClr val="FFFFFF"/>
                    </a:solidFill>
                  </a:tcPr>
                </a:tc>
                <a:tc>
                  <a:txBody>
                    <a:bodyPr/>
                    <a:lstStyle/>
                    <a:p>
                      <a:r>
                        <a:rPr sz="900" b="0">
                          <a:solidFill>
                            <a:srgbClr val="4B4B4B"/>
                          </a:solidFill>
                          <a:latin typeface="Arial"/>
                        </a:rPr>
                        <a:t>The User Group Profile Report shows the module as the permission area and the task as the permission name. The report parameters Group Profile and Module are offered as lists.</a:t>
                      </a:r>
                    </a:p>
                  </a:txBody>
                  <a:tcPr marL="54864" marR="54864" marT="27432" marB="27432">
                    <a:solidFill>
                      <a:srgbClr val="FFFFFF"/>
                    </a:solidFill>
                  </a:tcPr>
                </a:tc>
                <a:tc>
                  <a:txBody>
                    <a:bodyPr/>
                    <a:lstStyle/>
                    <a:p>
                      <a:r>
                        <a:rPr sz="900" b="0">
                          <a:solidFill>
                            <a:srgbClr val="4B4B4B"/>
                          </a:solidFill>
                          <a:latin typeface="Arial"/>
                        </a:rPr>
                        <a:t>Confirm the module and task names (UQ11).</a:t>
                      </a:r>
                    </a:p>
                  </a:txBody>
                  <a:tcPr marL="54864" marR="54864" marT="27432" marB="27432">
                    <a:solidFill>
                      <a:srgbClr val="FFFFFF"/>
                    </a:solidFill>
                  </a:tcPr>
                </a:tc>
              </a:tr>
              <a:tr h="365760">
                <a:tc>
                  <a:txBody>
                    <a:bodyPr/>
                    <a:lstStyle/>
                    <a:p>
                      <a:r>
                        <a:rPr sz="900" b="0">
                          <a:solidFill>
                            <a:srgbClr val="4B4B4B"/>
                          </a:solidFill>
                          <a:latin typeface="Arial"/>
                        </a:rPr>
                        <a:t>CLR-UA-11</a:t>
                      </a:r>
                    </a:p>
                  </a:txBody>
                  <a:tcPr marL="54864" marR="54864" marT="27432" marB="27432">
                    <a:solidFill>
                      <a:srgbClr val="E5F5FF"/>
                    </a:solidFill>
                  </a:tcPr>
                </a:tc>
                <a:tc>
                  <a:txBody>
                    <a:bodyPr/>
                    <a:lstStyle/>
                    <a:p>
                      <a:r>
                        <a:rPr sz="900" b="0">
                          <a:solidFill>
                            <a:srgbClr val="4B4B4B"/>
                          </a:solidFill>
                          <a:latin typeface="Arial"/>
                        </a:rPr>
                        <a:t>User Access Matrix for requesters (4.002.2.7; FR-UA-051)</a:t>
                      </a:r>
                    </a:p>
                  </a:txBody>
                  <a:tcPr marL="54864" marR="54864" marT="27432" marB="27432">
                    <a:solidFill>
                      <a:srgbClr val="E5F5FF"/>
                    </a:solidFill>
                  </a:tcPr>
                </a:tc>
                <a:tc>
                  <a:txBody>
                    <a:bodyPr/>
                    <a:lstStyle/>
                    <a:p>
                      <a:r>
                        <a:rPr sz="900" b="0">
                          <a:solidFill>
                            <a:srgbClr val="4B4B4B"/>
                          </a:solidFill>
                          <a:latin typeface="Arial"/>
                        </a:rPr>
                        <a:t>The Requestor and the Second Approver do not open the User Access Matrix; the matrix serves the request, approval, role management and audit rights.</a:t>
                      </a:r>
                    </a:p>
                  </a:txBody>
                  <a:tcPr marL="54864" marR="54864" marT="27432" marB="27432">
                    <a:solidFill>
                      <a:srgbClr val="E5F5FF"/>
                    </a:solidFill>
                  </a:tcPr>
                </a:tc>
                <a:tc>
                  <a:txBody>
                    <a:bodyPr/>
                    <a:lstStyle/>
                    <a:p>
                      <a:r>
                        <a:rPr sz="900" b="0">
                          <a:solidFill>
                            <a:srgbClr val="4B4B4B"/>
                          </a:solidFill>
                          <a:latin typeface="Arial"/>
                        </a:rPr>
                        <a:t>Decide whether requesters should read the User Access Matrix.</a:t>
                      </a:r>
                    </a:p>
                  </a:txBody>
                  <a:tcPr marL="54864" marR="54864" marT="27432" marB="27432">
                    <a:solidFill>
                      <a:srgbClr val="E5F5FF"/>
                    </a:solidFill>
                  </a:tcPr>
                </a:tc>
              </a:tr>
              <a:tr h="640080">
                <a:tc>
                  <a:txBody>
                    <a:bodyPr/>
                    <a:lstStyle/>
                    <a:p>
                      <a:r>
                        <a:rPr sz="900" b="0">
                          <a:solidFill>
                            <a:srgbClr val="4B4B4B"/>
                          </a:solidFill>
                          <a:latin typeface="Arial"/>
                        </a:rPr>
                        <a:t>CLR-UA-18</a:t>
                      </a:r>
                    </a:p>
                  </a:txBody>
                  <a:tcPr marL="54864" marR="54864" marT="27432" marB="27432">
                    <a:solidFill>
                      <a:srgbClr val="FFFFFF"/>
                    </a:solidFill>
                  </a:tcPr>
                </a:tc>
                <a:tc>
                  <a:txBody>
                    <a:bodyPr/>
                    <a:lstStyle/>
                    <a:p>
                      <a:r>
                        <a:rPr sz="900" b="0">
                          <a:solidFill>
                            <a:srgbClr val="4B4B4B"/>
                          </a:solidFill>
                          <a:latin typeface="Arial"/>
                        </a:rPr>
                        <a:t>Stage list of an access request</a:t>
                      </a:r>
                    </a:p>
                  </a:txBody>
                  <a:tcPr marL="54864" marR="54864" marT="27432" marB="27432">
                    <a:solidFill>
                      <a:srgbClr val="FFFFFF"/>
                    </a:solidFill>
                  </a:tcPr>
                </a:tc>
                <a:tc>
                  <a:txBody>
                    <a:bodyPr/>
                    <a:lstStyle/>
                    <a:p>
                      <a:r>
                        <a:rPr sz="900" b="0">
                          <a:solidFill>
                            <a:srgbClr val="4B4B4B"/>
                          </a:solidFill>
                          <a:latin typeface="Arial"/>
                        </a:rPr>
                        <a:t>The stepper of an access request shows Draft, Pending Approval, Second approval (only where one is needed), then Approved; a group-profile request ends with For implementation and Implemented. Scheduled shows while an approved change waits for its effective date; a returned request shows in amber, a rejected or cancelled one in red.</a:t>
                      </a:r>
                    </a:p>
                  </a:txBody>
                  <a:tcPr marL="54864" marR="54864" marT="27432" marB="27432">
                    <a:solidFill>
                      <a:srgbClr val="FFFFFF"/>
                    </a:solidFill>
                  </a:tcPr>
                </a:tc>
                <a:tc>
                  <a:txBody>
                    <a:bodyPr/>
                    <a:lstStyle/>
                    <a:p>
                      <a:r>
                        <a:rPr sz="900" b="0">
                          <a:solidFill>
                            <a:srgbClr val="4B4B4B"/>
                          </a:solidFill>
                          <a:latin typeface="Arial"/>
                        </a:rPr>
                        <a:t>Confirm the stage list and its names.</a:t>
                      </a:r>
                    </a:p>
                  </a:txBody>
                  <a:tcPr marL="54864" marR="54864" marT="27432" marB="27432">
                    <a:solidFill>
                      <a:srgbClr val="FFFFFF"/>
                    </a:solidFill>
                  </a:tcPr>
                </a:tc>
              </a:tr>
              <a:tr h="365760">
                <a:tc>
                  <a:txBody>
                    <a:bodyPr/>
                    <a:lstStyle/>
                    <a:p>
                      <a:r>
                        <a:rPr sz="900" b="0">
                          <a:solidFill>
                            <a:srgbClr val="4B4B4B"/>
                          </a:solidFill>
                          <a:latin typeface="Arial"/>
                        </a:rPr>
                        <a:t>CLR-UA-19</a:t>
                      </a:r>
                    </a:p>
                  </a:txBody>
                  <a:tcPr marL="54864" marR="54864" marT="27432" marB="27432">
                    <a:solidFill>
                      <a:srgbClr val="E5F5FF"/>
                    </a:solidFill>
                  </a:tcPr>
                </a:tc>
                <a:tc>
                  <a:txBody>
                    <a:bodyPr/>
                    <a:lstStyle/>
                    <a:p>
                      <a:r>
                        <a:rPr sz="900" b="0">
                          <a:solidFill>
                            <a:srgbClr val="4B4B4B"/>
                          </a:solidFill>
                          <a:latin typeface="Arial"/>
                        </a:rPr>
                        <a:t>Main path with two good endings</a:t>
                      </a:r>
                    </a:p>
                  </a:txBody>
                  <a:tcPr marL="54864" marR="54864" marT="27432" marB="27432">
                    <a:solidFill>
                      <a:srgbClr val="E5F5FF"/>
                    </a:solidFill>
                  </a:tcPr>
                </a:tc>
                <a:tc>
                  <a:txBody>
                    <a:bodyPr/>
                    <a:lstStyle/>
                    <a:p>
                      <a:r>
                        <a:rPr sz="900" b="0">
                          <a:solidFill>
                            <a:srgbClr val="4B4B4B"/>
                          </a:solidFill>
                          <a:latin typeface="Arial"/>
                        </a:rPr>
                        <a:t>A user request ends at Approved and a group-profile request at Implemented; the stepper shows only the ending of the request type.</a:t>
                      </a:r>
                    </a:p>
                  </a:txBody>
                  <a:tcPr marL="54864" marR="54864" marT="27432" marB="27432">
                    <a:solidFill>
                      <a:srgbClr val="E5F5FF"/>
                    </a:solidFill>
                  </a:tcPr>
                </a:tc>
                <a:tc>
                  <a:txBody>
                    <a:bodyPr/>
                    <a:lstStyle/>
                    <a:p>
                      <a:r>
                        <a:rPr sz="900" b="0">
                          <a:solidFill>
                            <a:srgbClr val="4B4B4B"/>
                          </a:solidFill>
                          <a:latin typeface="Arial"/>
                        </a:rPr>
                        <a:t>Confirm the ending shown for each request type.</a:t>
                      </a:r>
                    </a:p>
                  </a:txBody>
                  <a:tcPr marL="54864" marR="54864" marT="27432" marB="27432">
                    <a:solidFill>
                      <a:srgbClr val="E5F5FF"/>
                    </a:solidFill>
                  </a:tcPr>
                </a:tc>
              </a:tr>
              <a:tr h="365760">
                <a:tc>
                  <a:txBody>
                    <a:bodyPr/>
                    <a:lstStyle/>
                    <a:p>
                      <a:r>
                        <a:rPr sz="900" b="0">
                          <a:solidFill>
                            <a:srgbClr val="4B4B4B"/>
                          </a:solidFill>
                          <a:latin typeface="Arial"/>
                        </a:rPr>
                        <a:t>CLR-UA-20</a:t>
                      </a:r>
                    </a:p>
                  </a:txBody>
                  <a:tcPr marL="54864" marR="54864" marT="27432" marB="27432">
                    <a:solidFill>
                      <a:srgbClr val="FFFFFF"/>
                    </a:solidFill>
                  </a:tcPr>
                </a:tc>
                <a:tc>
                  <a:txBody>
                    <a:bodyPr/>
                    <a:lstStyle/>
                    <a:p>
                      <a:r>
                        <a:rPr sz="900" b="0">
                          <a:solidFill>
                            <a:srgbClr val="4B4B4B"/>
                          </a:solidFill>
                          <a:latin typeface="Arial"/>
                        </a:rPr>
                        <a:t>Full status labels</a:t>
                      </a:r>
                    </a:p>
                  </a:txBody>
                  <a:tcPr marL="54864" marR="54864" marT="27432" marB="27432">
                    <a:solidFill>
                      <a:srgbClr val="FFFFFF"/>
                    </a:solidFill>
                  </a:tcPr>
                </a:tc>
                <a:tc>
                  <a:txBody>
                    <a:bodyPr/>
                    <a:lstStyle/>
                    <a:p>
                      <a:r>
                        <a:rPr sz="900" b="0">
                          <a:solidFill>
                            <a:srgbClr val="4B4B4B"/>
                          </a:solidFill>
                          <a:latin typeface="Arial"/>
                        </a:rPr>
                        <a:t>Request and user statuses show their full label (for example Pending Approval, For implementation); a short form with the full label in the tooltip is used only above 21 characters.</a:t>
                      </a:r>
                    </a:p>
                  </a:txBody>
                  <a:tcPr marL="54864" marR="54864" marT="27432" marB="27432">
                    <a:solidFill>
                      <a:srgbClr val="FFFFFF"/>
                    </a:solidFill>
                  </a:tcPr>
                </a:tc>
                <a:tc>
                  <a:txBody>
                    <a:bodyPr/>
                    <a:lstStyle/>
                    <a:p>
                      <a:r>
                        <a:rPr sz="900" b="0">
                          <a:solidFill>
                            <a:srgbClr val="4B4B4B"/>
                          </a:solidFill>
                          <a:latin typeface="Arial"/>
                        </a:rPr>
                        <a:t>Confirm full labels.</a:t>
                      </a:r>
                    </a:p>
                  </a:txBody>
                  <a:tcPr marL="54864" marR="54864" marT="27432" marB="27432">
                    <a:solidFill>
                      <a:srgbClr val="FFFFFF"/>
                    </a:solidFill>
                  </a:tcPr>
                </a:tc>
              </a:tr>
            </a:tbl>
          </a:graphicData>
        </a:graphic>
      </p:graphicFrame>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observations: proposals for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333</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938758"/>
                <a:gridCol w="1536149"/>
                <a:gridCol w="4267082"/>
                <a:gridCol w="4352424"/>
              </a:tblGrid>
              <a:tr h="228600">
                <a:tc>
                  <a:txBody>
                    <a:bodyPr/>
                    <a:lstStyle/>
                    <a:p>
                      <a:r>
                        <a:rPr sz="900" b="1">
                          <a:solidFill>
                            <a:srgbClr val="FFFFFF"/>
                          </a:solidFill>
                          <a:latin typeface="Arial"/>
                        </a:rPr>
                        <a:t>No.</a:t>
                      </a:r>
                    </a:p>
                  </a:txBody>
                  <a:tcPr marL="54864" marR="54864" marT="27432" marB="27432">
                    <a:solidFill>
                      <a:srgbClr val="004EA8"/>
                    </a:solidFill>
                  </a:tcPr>
                </a:tc>
                <a:tc>
                  <a:txBody>
                    <a:bodyPr/>
                    <a:lstStyle/>
                    <a:p>
                      <a:r>
                        <a:rPr sz="900" b="1">
                          <a:solidFill>
                            <a:srgbClr val="FFFFFF"/>
                          </a:solidFill>
                          <a:latin typeface="Arial"/>
                        </a:rPr>
                        <a:t>Screens</a:t>
                      </a:r>
                    </a:p>
                  </a:txBody>
                  <a:tcPr marL="54864" marR="54864" marT="27432" marB="27432">
                    <a:solidFill>
                      <a:srgbClr val="004EA8"/>
                    </a:solidFill>
                  </a:tcPr>
                </a:tc>
                <a:tc>
                  <a:txBody>
                    <a:bodyPr/>
                    <a:lstStyle/>
                    <a:p>
                      <a:r>
                        <a:rPr sz="900" b="1">
                          <a:solidFill>
                            <a:srgbClr val="FFFFFF"/>
                          </a:solidFill>
                          <a:latin typeface="Arial"/>
                        </a:rPr>
                        <a:t>Observation</a:t>
                      </a:r>
                    </a:p>
                  </a:txBody>
                  <a:tcPr marL="54864" marR="54864" marT="27432" marB="27432">
                    <a:solidFill>
                      <a:srgbClr val="004EA8"/>
                    </a:solidFill>
                  </a:tcPr>
                </a:tc>
                <a:tc>
                  <a:txBody>
                    <a:bodyPr/>
                    <a:lstStyle/>
                    <a:p>
                      <a:r>
                        <a:rPr sz="900" b="1">
                          <a:solidFill>
                            <a:srgbClr val="FFFFFF"/>
                          </a:solidFill>
                          <a:latin typeface="Arial"/>
                        </a:rPr>
                        <a:t>Proposal</a:t>
                      </a:r>
                    </a:p>
                  </a:txBody>
                  <a:tcPr marL="54864" marR="54864" marT="27432" marB="27432">
                    <a:solidFill>
                      <a:srgbClr val="004EA8"/>
                    </a:solidFill>
                  </a:tcPr>
                </a:tc>
              </a:tr>
              <a:tr h="365760">
                <a:tc>
                  <a:txBody>
                    <a:bodyPr/>
                    <a:lstStyle/>
                    <a:p>
                      <a:r>
                        <a:rPr sz="900" b="0">
                          <a:solidFill>
                            <a:srgbClr val="4B4B4B"/>
                          </a:solidFill>
                          <a:latin typeface="Arial"/>
                        </a:rPr>
                        <a:t>UX-UA-01</a:t>
                      </a:r>
                    </a:p>
                  </a:txBody>
                  <a:tcPr marL="54864" marR="54864" marT="27432" marB="27432">
                    <a:solidFill>
                      <a:srgbClr val="FFFFFF"/>
                    </a:solidFill>
                  </a:tcPr>
                </a:tc>
                <a:tc>
                  <a:txBody>
                    <a:bodyPr/>
                    <a:lstStyle/>
                    <a:p>
                      <a:r>
                        <a:rPr sz="900" b="0">
                          <a:solidFill>
                            <a:srgbClr val="4B4B4B"/>
                          </a:solidFill>
                          <a:latin typeface="Arial"/>
                        </a:rPr>
                        <a:t>SCR-UA-06</a:t>
                      </a:r>
                    </a:p>
                  </a:txBody>
                  <a:tcPr marL="54864" marR="54864" marT="27432" marB="27432">
                    <a:solidFill>
                      <a:srgbClr val="FFFFFF"/>
                    </a:solidFill>
                  </a:tcPr>
                </a:tc>
                <a:tc>
                  <a:txBody>
                    <a:bodyPr/>
                    <a:lstStyle/>
                    <a:p>
                      <a:r>
                        <a:rPr sz="900" b="0">
                          <a:solidFill>
                            <a:srgbClr val="4B4B4B"/>
                          </a:solidFill>
                          <a:latin typeface="Arial"/>
                        </a:rPr>
                        <a:t>The Change column of the request list names the subject user by the user ID only.</a:t>
                      </a:r>
                    </a:p>
                  </a:txBody>
                  <a:tcPr marL="54864" marR="54864" marT="27432" marB="27432">
                    <a:solidFill>
                      <a:srgbClr val="FFFFFF"/>
                    </a:solidFill>
                  </a:tcPr>
                </a:tc>
                <a:tc>
                  <a:txBody>
                    <a:bodyPr/>
                    <a:lstStyle/>
                    <a:p>
                      <a:r>
                        <a:rPr sz="900" b="0">
                          <a:solidFill>
                            <a:srgbClr val="4B4B4B"/>
                          </a:solidFill>
                          <a:latin typeface="Arial"/>
                        </a:rPr>
                        <a:t>Name the user with the full name first and the user ID in brackets, as the request record does.</a:t>
                      </a:r>
                    </a:p>
                  </a:txBody>
                  <a:tcPr marL="54864" marR="54864" marT="27432" marB="27432">
                    <a:solidFill>
                      <a:srgbClr val="FFFFFF"/>
                    </a:solidFill>
                  </a:tcPr>
                </a:tc>
              </a:tr>
            </a:tbl>
          </a:graphicData>
        </a:graphic>
      </p:graphicFrame>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Accessibility notes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334</a:t>
            </a:r>
          </a:p>
        </p:txBody>
      </p:sp>
      <p:graphicFrame>
        <p:nvGraphicFramePr>
          <p:cNvPr id="9" name="Table 8"/>
          <p:cNvGraphicFramePr>
            <a:graphicFrameLocks noGrp="1"/>
          </p:cNvGraphicFramePr>
          <p:nvPr/>
        </p:nvGraphicFramePr>
        <p:xfrm>
          <a:off x="548640" y="1325880"/>
          <a:ext cx="11094414" cy="2377440"/>
        </p:xfrm>
        <a:graphic>
          <a:graphicData uri="http://schemas.openxmlformats.org/drawingml/2006/table">
            <a:tbl>
              <a:tblPr firstRow="1" bandRow="1">
                <a:tableStyleId>{5C22544A-7EE6-4342-B048-85BDC9FD1C3A}</a:tableStyleId>
              </a:tblPr>
              <a:tblGrid>
                <a:gridCol w="1706833"/>
                <a:gridCol w="5120499"/>
                <a:gridCol w="4267082"/>
              </a:tblGrid>
              <a:tr h="243840">
                <a:tc>
                  <a:txBody>
                    <a:bodyPr/>
                    <a:lstStyle/>
                    <a:p>
                      <a:r>
                        <a:rPr sz="1000" b="1">
                          <a:solidFill>
                            <a:srgbClr val="FFFFFF"/>
                          </a:solidFill>
                          <a:latin typeface="Arial"/>
                        </a:rPr>
                        <a:t>Topic</a:t>
                      </a:r>
                    </a:p>
                  </a:txBody>
                  <a:tcPr marL="54864" marR="54864" marT="27432" marB="27432">
                    <a:solidFill>
                      <a:srgbClr val="004EA8"/>
                    </a:solidFill>
                  </a:tcPr>
                </a:tc>
                <a:tc>
                  <a:txBody>
                    <a:bodyPr/>
                    <a:lstStyle/>
                    <a:p>
                      <a:r>
                        <a:rPr sz="1000" b="1">
                          <a:solidFill>
                            <a:srgbClr val="FFFFFF"/>
                          </a:solidFill>
                          <a:latin typeface="Arial"/>
                        </a:rPr>
                        <a:t>What the screens do</a:t>
                      </a:r>
                    </a:p>
                  </a:txBody>
                  <a:tcPr marL="54864" marR="54864" marT="27432" marB="27432">
                    <a:solidFill>
                      <a:srgbClr val="004EA8"/>
                    </a:solidFill>
                  </a:tcPr>
                </a:tc>
                <a:tc>
                  <a:txBody>
                    <a:bodyPr/>
                    <a:lstStyle/>
                    <a:p>
                      <a:r>
                        <a:rPr sz="1000" b="1">
                          <a:solidFill>
                            <a:srgbClr val="FFFFFF"/>
                          </a:solidFill>
                          <a:latin typeface="Arial"/>
                        </a:rPr>
                        <a:t>For the UX Design team</a:t>
                      </a:r>
                    </a:p>
                  </a:txBody>
                  <a:tcPr marL="54864" marR="54864" marT="27432" marB="27432">
                    <a:solidFill>
                      <a:srgbClr val="004EA8"/>
                    </a:solidFill>
                  </a:tcPr>
                </a:tc>
              </a:tr>
              <a:tr h="396240">
                <a:tc>
                  <a:txBody>
                    <a:bodyPr/>
                    <a:lstStyle/>
                    <a:p>
                      <a:r>
                        <a:rPr sz="1000" b="0">
                          <a:solidFill>
                            <a:srgbClr val="4B4B4B"/>
                          </a:solidFill>
                          <a:latin typeface="Arial"/>
                        </a:rPr>
                        <a:t>Keyboard</a:t>
                      </a:r>
                    </a:p>
                  </a:txBody>
                  <a:tcPr marL="54864" marR="54864" marT="27432" marB="27432">
                    <a:solidFill>
                      <a:srgbClr val="FFFFFF"/>
                    </a:solidFill>
                  </a:tcPr>
                </a:tc>
                <a:tc>
                  <a:txBody>
                    <a:bodyPr/>
                    <a:lstStyle/>
                    <a:p>
                      <a:r>
                        <a:rPr sz="1000" b="0">
                          <a:solidFill>
                            <a:srgbClr val="4B4B4B"/>
                          </a:solidFill>
                          <a:latin typeface="Arial"/>
                        </a:rPr>
                        <a:t>Tabs move with the arrow keys, Home and End; table rows open with Enter; tree tables expand and collapse with the arrow keys; dialogs close with Escape</a:t>
                      </a:r>
                    </a:p>
                  </a:txBody>
                  <a:tcPr marL="54864" marR="54864" marT="27432" marB="27432">
                    <a:solidFill>
                      <a:srgbClr val="FFFFFF"/>
                    </a:solidFill>
                  </a:tcPr>
                </a:tc>
                <a:tc>
                  <a:txBody>
                    <a:bodyPr/>
                    <a:lstStyle/>
                    <a:p>
                      <a:r>
                        <a:rPr sz="1000" b="0">
                          <a:solidFill>
                            <a:srgbClr val="4B4B4B"/>
                          </a:solidFill>
                          <a:latin typeface="Arial"/>
                        </a:rPr>
                        <a:t>Keep every action reachable without a mouse; keep the order of the tabs and fields</a:t>
                      </a:r>
                    </a:p>
                  </a:txBody>
                  <a:tcPr marL="54864" marR="54864" marT="27432" marB="27432">
                    <a:solidFill>
                      <a:srgbClr val="FFFFFF"/>
                    </a:solidFill>
                  </a:tcPr>
                </a:tc>
              </a:tr>
              <a:tr h="396240">
                <a:tc>
                  <a:txBody>
                    <a:bodyPr/>
                    <a:lstStyle/>
                    <a:p>
                      <a:r>
                        <a:rPr sz="1000" b="0">
                          <a:solidFill>
                            <a:srgbClr val="4B4B4B"/>
                          </a:solidFill>
                          <a:latin typeface="Arial"/>
                        </a:rPr>
                        <a:t>Focus</a:t>
                      </a:r>
                    </a:p>
                  </a:txBody>
                  <a:tcPr marL="54864" marR="54864" marT="27432" marB="27432">
                    <a:solidFill>
                      <a:srgbClr val="E5F5FF"/>
                    </a:solidFill>
                  </a:tcPr>
                </a:tc>
                <a:tc>
                  <a:txBody>
                    <a:bodyPr/>
                    <a:lstStyle/>
                    <a:p>
                      <a:r>
                        <a:rPr sz="1000" b="0">
                          <a:solidFill>
                            <a:srgbClr val="4B4B4B"/>
                          </a:solidFill>
                          <a:latin typeface="Arial"/>
                        </a:rPr>
                        <a:t>A visible focus ring (3 px CTA Blue halo) on every control; a dialog takes the focus and returns it to the button that opened it</a:t>
                      </a:r>
                    </a:p>
                  </a:txBody>
                  <a:tcPr marL="54864" marR="54864" marT="27432" marB="27432">
                    <a:solidFill>
                      <a:srgbClr val="E5F5FF"/>
                    </a:solidFill>
                  </a:tcPr>
                </a:tc>
                <a:tc>
                  <a:txBody>
                    <a:bodyPr/>
                    <a:lstStyle/>
                    <a:p>
                      <a:r>
                        <a:rPr sz="1000" b="0">
                          <a:solidFill>
                            <a:srgbClr val="4B4B4B"/>
                          </a:solidFill>
                          <a:latin typeface="Arial"/>
                        </a:rPr>
                        <a:t>Never hide the focus ring; show it in the designs</a:t>
                      </a:r>
                    </a:p>
                  </a:txBody>
                  <a:tcPr marL="54864" marR="54864" marT="27432" marB="27432">
                    <a:solidFill>
                      <a:srgbClr val="E5F5FF"/>
                    </a:solidFill>
                  </a:tcPr>
                </a:tc>
              </a:tr>
              <a:tr h="396240">
                <a:tc>
                  <a:txBody>
                    <a:bodyPr/>
                    <a:lstStyle/>
                    <a:p>
                      <a:r>
                        <a:rPr sz="1000" b="0">
                          <a:solidFill>
                            <a:srgbClr val="4B4B4B"/>
                          </a:solidFill>
                          <a:latin typeface="Arial"/>
                        </a:rPr>
                        <a:t>Contrast</a:t>
                      </a:r>
                    </a:p>
                  </a:txBody>
                  <a:tcPr marL="54864" marR="54864" marT="27432" marB="27432">
                    <a:solidFill>
                      <a:srgbClr val="FFFFFF"/>
                    </a:solidFill>
                  </a:tcPr>
                </a:tc>
                <a:tc>
                  <a:txBody>
                    <a:bodyPr/>
                    <a:lstStyle/>
                    <a:p>
                      <a:r>
                        <a:rPr sz="1000" b="0">
                          <a:solidFill>
                            <a:srgbClr val="4B4B4B"/>
                          </a:solidFill>
                          <a:latin typeface="Arial"/>
                        </a:rPr>
                        <a:t>Text and pills meet AA contrast; no dark text on a dark fill or light text on a light fill; yellow only as an accent</a:t>
                      </a:r>
                    </a:p>
                  </a:txBody>
                  <a:tcPr marL="54864" marR="54864" marT="27432" marB="27432">
                    <a:solidFill>
                      <a:srgbClr val="FFFFFF"/>
                    </a:solidFill>
                  </a:tcPr>
                </a:tc>
                <a:tc>
                  <a:txBody>
                    <a:bodyPr/>
                    <a:lstStyle/>
                    <a:p>
                      <a:r>
                        <a:rPr sz="1000" b="0">
                          <a:solidFill>
                            <a:srgbClr val="4B4B4B"/>
                          </a:solidFill>
                          <a:latin typeface="Arial"/>
                        </a:rPr>
                        <a:t>Check new colours of pills, tags and charts for AA</a:t>
                      </a:r>
                    </a:p>
                  </a:txBody>
                  <a:tcPr marL="54864" marR="54864" marT="27432" marB="27432">
                    <a:solidFill>
                      <a:srgbClr val="FFFFFF"/>
                    </a:solidFill>
                  </a:tcPr>
                </a:tc>
              </a:tr>
              <a:tr h="548640">
                <a:tc>
                  <a:txBody>
                    <a:bodyPr/>
                    <a:lstStyle/>
                    <a:p>
                      <a:r>
                        <a:rPr sz="1000" b="0">
                          <a:solidFill>
                            <a:srgbClr val="4B4B4B"/>
                          </a:solidFill>
                          <a:latin typeface="Arial"/>
                        </a:rPr>
                        <a:t>Error identification</a:t>
                      </a:r>
                    </a:p>
                  </a:txBody>
                  <a:tcPr marL="54864" marR="54864" marT="27432" marB="27432">
                    <a:solidFill>
                      <a:srgbClr val="E5F5FF"/>
                    </a:solidFill>
                  </a:tcPr>
                </a:tc>
                <a:tc>
                  <a:txBody>
                    <a:bodyPr/>
                    <a:lstStyle/>
                    <a:p>
                      <a:r>
                        <a:rPr sz="1000" b="0">
                          <a:solidFill>
                            <a:srgbClr val="4B4B4B"/>
                          </a:solidFill>
                          <a:latin typeface="Arial"/>
                        </a:rPr>
                        <a:t>Errors are named in words under the field with the field outlined; a long form lists its errors at the top with a link to the first field; colour is never the only sign</a:t>
                      </a:r>
                    </a:p>
                  </a:txBody>
                  <a:tcPr marL="54864" marR="54864" marT="27432" marB="27432">
                    <a:solidFill>
                      <a:srgbClr val="E5F5FF"/>
                    </a:solidFill>
                  </a:tcPr>
                </a:tc>
                <a:tc>
                  <a:txBody>
                    <a:bodyPr/>
                    <a:lstStyle/>
                    <a:p>
                      <a:r>
                        <a:rPr sz="1000" b="0">
                          <a:solidFill>
                            <a:srgbClr val="4B4B4B"/>
                          </a:solidFill>
                          <a:latin typeface="Arial"/>
                        </a:rPr>
                        <a:t>Keep the text of the message with its icon and title</a:t>
                      </a:r>
                    </a:p>
                  </a:txBody>
                  <a:tcPr marL="54864" marR="54864" marT="27432" marB="27432">
                    <a:solidFill>
                      <a:srgbClr val="E5F5FF"/>
                    </a:solidFill>
                  </a:tcPr>
                </a:tc>
              </a:tr>
              <a:tr h="396240">
                <a:tc>
                  <a:txBody>
                    <a:bodyPr/>
                    <a:lstStyle/>
                    <a:p>
                      <a:r>
                        <a:rPr sz="1000" b="0">
                          <a:solidFill>
                            <a:srgbClr val="4B4B4B"/>
                          </a:solidFill>
                          <a:latin typeface="Arial"/>
                        </a:rPr>
                        <a:t>Labels and names</a:t>
                      </a:r>
                    </a:p>
                  </a:txBody>
                  <a:tcPr marL="54864" marR="54864" marT="27432" marB="27432">
                    <a:solidFill>
                      <a:srgbClr val="FFFFFF"/>
                    </a:solidFill>
                  </a:tcPr>
                </a:tc>
                <a:tc>
                  <a:txBody>
                    <a:bodyPr/>
                    <a:lstStyle/>
                    <a:p>
                      <a:r>
                        <a:rPr sz="1000" b="0">
                          <a:solidFill>
                            <a:srgbClr val="4B4B4B"/>
                          </a:solidFill>
                          <a:latin typeface="Arial"/>
                        </a:rPr>
                        <a:t>Every field has a visible label above it; icons have a text label or a tooltip; users are named by their names</a:t>
                      </a:r>
                    </a:p>
                  </a:txBody>
                  <a:tcPr marL="54864" marR="54864" marT="27432" marB="27432">
                    <a:solidFill>
                      <a:srgbClr val="FFFFFF"/>
                    </a:solidFill>
                  </a:tcPr>
                </a:tc>
                <a:tc>
                  <a:txBody>
                    <a:bodyPr/>
                    <a:lstStyle/>
                    <a:p>
                      <a:r>
                        <a:rPr sz="1000" b="0">
                          <a:solidFill>
                            <a:srgbClr val="4B4B4B"/>
                          </a:solidFill>
                          <a:latin typeface="Arial"/>
                        </a:rPr>
                        <a:t>No placeholder as the only label</a:t>
                      </a:r>
                    </a:p>
                  </a:txBody>
                  <a:tcPr marL="54864" marR="54864" marT="27432" marB="27432">
                    <a:solidFill>
                      <a:srgbClr val="FFFFFF"/>
                    </a:solidFill>
                  </a:tcPr>
                </a:tc>
              </a:tr>
            </a:tbl>
          </a:graphicData>
        </a:graphic>
      </p:graphicFrame>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Desktop and responsive assumptions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335</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500">
                <a:solidFill>
                  <a:srgbClr val="004EA8"/>
                </a:solidFill>
                <a:latin typeface="Arial"/>
              </a:rPr>
              <a:t>•  </a:t>
            </a:r>
            <a:r>
              <a:rPr sz="1500">
                <a:solidFill>
                  <a:srgbClr val="4B4B4B"/>
                </a:solidFill>
                <a:latin typeface="Arial"/>
              </a:rPr>
              <a:t>BIBS is a desktop web application used in the office; the designs are for 1440 x 900 at 100 % zoom and work from 1280 px wide</a:t>
            </a:r>
          </a:p>
          <a:p>
            <a:pPr>
              <a:spcAft>
                <a:spcPts val="600"/>
              </a:spcAft>
            </a:pPr>
            <a:r>
              <a:rPr sz="1500">
                <a:solidFill>
                  <a:srgbClr val="004EA8"/>
                </a:solidFill>
                <a:latin typeface="Arial"/>
              </a:rPr>
              <a:t>•  </a:t>
            </a:r>
            <a:r>
              <a:rPr sz="1500">
                <a:solidFill>
                  <a:srgbClr val="4B4B4B"/>
                </a:solidFill>
                <a:latin typeface="Arial"/>
              </a:rPr>
              <a:t>The images of this deck are taken at 1440 x 900 at twice the screen resolution</a:t>
            </a:r>
          </a:p>
          <a:p>
            <a:pPr>
              <a:spcAft>
                <a:spcPts val="600"/>
              </a:spcAft>
            </a:pPr>
            <a:r>
              <a:rPr sz="1500">
                <a:solidFill>
                  <a:srgbClr val="004EA8"/>
                </a:solidFill>
                <a:latin typeface="Arial"/>
              </a:rPr>
              <a:t>•  </a:t>
            </a:r>
            <a:r>
              <a:rPr sz="1500">
                <a:solidFill>
                  <a:srgbClr val="4B4B4B"/>
                </a:solidFill>
                <a:latin typeface="Arial"/>
              </a:rPr>
              <a:t>Narrow widths: the menu collapses; the workflow step bar keeps the first, the last and the current stage and its neighbours; tables scroll inside their card with the header row in view</a:t>
            </a:r>
          </a:p>
          <a:p>
            <a:pPr>
              <a:spcAft>
                <a:spcPts val="600"/>
              </a:spcAft>
            </a:pPr>
            <a:r>
              <a:rPr sz="1500">
                <a:solidFill>
                  <a:srgbClr val="004EA8"/>
                </a:solidFill>
                <a:latin typeface="Arial"/>
              </a:rPr>
              <a:t>•  </a:t>
            </a:r>
            <a:r>
              <a:rPr sz="1500">
                <a:solidFill>
                  <a:srgbClr val="4B4B4B"/>
                </a:solidFill>
                <a:latin typeface="Arial"/>
              </a:rPr>
              <a:t>No phone or tablet layout is in scope; printing uses the BDO print layout (A4 landscape, no menu or buttons)</a:t>
            </a:r>
          </a:p>
          <a:p>
            <a:pPr>
              <a:spcAft>
                <a:spcPts val="600"/>
              </a:spcAft>
            </a:pPr>
            <a:r>
              <a:rPr sz="1500">
                <a:solidFill>
                  <a:srgbClr val="004EA8"/>
                </a:solidFill>
                <a:latin typeface="Arial"/>
              </a:rPr>
              <a:t>•  </a:t>
            </a:r>
            <a:r>
              <a:rPr sz="1500">
                <a:solidFill>
                  <a:srgbClr val="4B4B4B"/>
                </a:solidFill>
                <a:latin typeface="Arial"/>
              </a:rPr>
              <a:t>Browser zoom up to 200 % keeps every function usable</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Appendix</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Screen ID, FRS section and requirements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BRD-11 User Access Maintenance</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337</a:t>
            </a:r>
          </a:p>
        </p:txBody>
      </p:sp>
      <p:graphicFrame>
        <p:nvGraphicFramePr>
          <p:cNvPr id="9" name="Table 8"/>
          <p:cNvGraphicFramePr>
            <a:graphicFrameLocks noGrp="1"/>
          </p:cNvGraphicFramePr>
          <p:nvPr/>
        </p:nvGraphicFramePr>
        <p:xfrm>
          <a:off x="548640" y="1325880"/>
          <a:ext cx="11094412" cy="4754856"/>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SCR-UA-01</a:t>
                      </a:r>
                    </a:p>
                  </a:txBody>
                  <a:tcPr marL="54864" marR="54864" marT="27432" marB="27432">
                    <a:solidFill>
                      <a:srgbClr val="FFFFFF"/>
                    </a:solidFill>
                  </a:tcPr>
                </a:tc>
                <a:tc>
                  <a:txBody>
                    <a:bodyPr/>
                    <a:lstStyle/>
                    <a:p>
                      <a:r>
                        <a:rPr sz="850" b="0">
                          <a:solidFill>
                            <a:srgbClr val="4B4B4B"/>
                          </a:solidFill>
                          <a:latin typeface="Arial"/>
                        </a:rPr>
                        <a:t>Login</a:t>
                      </a:r>
                    </a:p>
                  </a:txBody>
                  <a:tcPr marL="54864" marR="54864" marT="27432" marB="27432">
                    <a:solidFill>
                      <a:srgbClr val="FFFFFF"/>
                    </a:solidFill>
                  </a:tcPr>
                </a:tc>
                <a:tc>
                  <a:txBody>
                    <a:bodyPr/>
                    <a:lstStyle/>
                    <a:p>
                      <a:r>
                        <a:rPr sz="850" b="0">
                          <a:solidFill>
                            <a:srgbClr val="4B4B4B"/>
                          </a:solidFill>
                          <a:latin typeface="Arial"/>
                        </a:rPr>
                        <a:t>13.1.1</a:t>
                      </a:r>
                    </a:p>
                  </a:txBody>
                  <a:tcPr marL="54864" marR="54864" marT="27432" marB="27432">
                    <a:solidFill>
                      <a:srgbClr val="FFFFFF"/>
                    </a:solidFill>
                  </a:tcPr>
                </a:tc>
                <a:tc>
                  <a:txBody>
                    <a:bodyPr/>
                    <a:lstStyle/>
                    <a:p>
                      <a:r>
                        <a:rPr sz="850" b="0">
                          <a:solidFill>
                            <a:srgbClr val="4B4B4B"/>
                          </a:solidFill>
                          <a:latin typeface="Arial"/>
                        </a:rPr>
                        <a:t>FR-UA-001, FR-UA-003</a:t>
                      </a:r>
                    </a:p>
                  </a:txBody>
                  <a:tcPr marL="54864" marR="54864" marT="27432" marB="27432">
                    <a:solidFill>
                      <a:srgbClr val="FFFFFF"/>
                    </a:solidFill>
                  </a:tcPr>
                </a:tc>
                <a:tc>
                  <a:txBody>
                    <a:bodyPr/>
                    <a:lstStyle/>
                    <a:p>
                      <a:r>
                        <a:rPr sz="850" b="0">
                          <a:solidFill>
                            <a:srgbClr val="4B4B4B"/>
                          </a:solidFill>
                          <a:latin typeface="Arial"/>
                        </a:rPr>
                        <a:t>6</a:t>
                      </a:r>
                    </a:p>
                  </a:txBody>
                  <a:tcPr marL="54864" marR="54864" marT="27432" marB="27432">
                    <a:solidFill>
                      <a:srgbClr val="FFFFFF"/>
                    </a:solidFill>
                  </a:tcPr>
                </a:tc>
                <a:tc>
                  <a:txBody>
                    <a:bodyPr/>
                    <a:lstStyle/>
                    <a:p>
                      <a:r>
                        <a:rPr sz="850" b="0">
                          <a:solidFill>
                            <a:srgbClr val="4B4B4B"/>
                          </a:solidFill>
                          <a:latin typeface="Arial"/>
                        </a:rPr>
                        <a:t>Default, Validation error, Read-only or locked</a:t>
                      </a:r>
                    </a:p>
                  </a:txBody>
                  <a:tcPr marL="54864" marR="54864" marT="27432" marB="27432">
                    <a:solidFill>
                      <a:srgbClr val="FFFFFF"/>
                    </a:solidFill>
                  </a:tcPr>
                </a:tc>
              </a:tr>
              <a:tr h="220979">
                <a:tc>
                  <a:txBody>
                    <a:bodyPr/>
                    <a:lstStyle/>
                    <a:p>
                      <a:r>
                        <a:rPr sz="850" b="0">
                          <a:solidFill>
                            <a:srgbClr val="4B4B4B"/>
                          </a:solidFill>
                          <a:latin typeface="Arial"/>
                        </a:rPr>
                        <a:t>SCR-UA-02</a:t>
                      </a:r>
                    </a:p>
                  </a:txBody>
                  <a:tcPr marL="54864" marR="54864" marT="27432" marB="27432">
                    <a:solidFill>
                      <a:srgbClr val="E5F5FF"/>
                    </a:solidFill>
                  </a:tcPr>
                </a:tc>
                <a:tc>
                  <a:txBody>
                    <a:bodyPr/>
                    <a:lstStyle/>
                    <a:p>
                      <a:r>
                        <a:rPr sz="850" b="0">
                          <a:solidFill>
                            <a:srgbClr val="4B4B4B"/>
                          </a:solidFill>
                          <a:latin typeface="Arial"/>
                        </a:rPr>
                        <a:t>Forgot Password and Set a New Password</a:t>
                      </a:r>
                    </a:p>
                  </a:txBody>
                  <a:tcPr marL="54864" marR="54864" marT="27432" marB="27432">
                    <a:solidFill>
                      <a:srgbClr val="E5F5FF"/>
                    </a:solidFill>
                  </a:tcPr>
                </a:tc>
                <a:tc>
                  <a:txBody>
                    <a:bodyPr/>
                    <a:lstStyle/>
                    <a:p>
                      <a:r>
                        <a:rPr sz="850" b="0">
                          <a:solidFill>
                            <a:srgbClr val="4B4B4B"/>
                          </a:solidFill>
                          <a:latin typeface="Arial"/>
                        </a:rPr>
                        <a:t>13.1.2</a:t>
                      </a:r>
                    </a:p>
                  </a:txBody>
                  <a:tcPr marL="54864" marR="54864" marT="27432" marB="27432">
                    <a:solidFill>
                      <a:srgbClr val="E5F5FF"/>
                    </a:solidFill>
                  </a:tcPr>
                </a:tc>
                <a:tc>
                  <a:txBody>
                    <a:bodyPr/>
                    <a:lstStyle/>
                    <a:p>
                      <a:r>
                        <a:rPr sz="850" b="0">
                          <a:solidFill>
                            <a:srgbClr val="4B4B4B"/>
                          </a:solidFill>
                          <a:latin typeface="Arial"/>
                        </a:rPr>
                        <a:t>FR-UA-005</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 Filled, Success message</a:t>
                      </a:r>
                    </a:p>
                  </a:txBody>
                  <a:tcPr marL="54864" marR="54864" marT="27432" marB="27432">
                    <a:solidFill>
                      <a:srgbClr val="E5F5FF"/>
                    </a:solidFill>
                  </a:tcPr>
                </a:tc>
              </a:tr>
              <a:tr h="220979">
                <a:tc>
                  <a:txBody>
                    <a:bodyPr/>
                    <a:lstStyle/>
                    <a:p>
                      <a:r>
                        <a:rPr sz="850" b="0">
                          <a:solidFill>
                            <a:srgbClr val="4B4B4B"/>
                          </a:solidFill>
                          <a:latin typeface="Arial"/>
                        </a:rPr>
                        <a:t>SCR-UA-03</a:t>
                      </a:r>
                    </a:p>
                  </a:txBody>
                  <a:tcPr marL="54864" marR="54864" marT="27432" marB="27432">
                    <a:solidFill>
                      <a:srgbClr val="FFFFFF"/>
                    </a:solidFill>
                  </a:tcPr>
                </a:tc>
                <a:tc>
                  <a:txBody>
                    <a:bodyPr/>
                    <a:lstStyle/>
                    <a:p>
                      <a:r>
                        <a:rPr sz="850" b="0">
                          <a:solidFill>
                            <a:srgbClr val="4B4B4B"/>
                          </a:solidFill>
                          <a:latin typeface="Arial"/>
                        </a:rPr>
                        <a:t>Change Your Password (forced change)</a:t>
                      </a:r>
                    </a:p>
                  </a:txBody>
                  <a:tcPr marL="54864" marR="54864" marT="27432" marB="27432">
                    <a:solidFill>
                      <a:srgbClr val="FFFFFF"/>
                    </a:solidFill>
                  </a:tcPr>
                </a:tc>
                <a:tc>
                  <a:txBody>
                    <a:bodyPr/>
                    <a:lstStyle/>
                    <a:p>
                      <a:r>
                        <a:rPr sz="850" b="0">
                          <a:solidFill>
                            <a:srgbClr val="4B4B4B"/>
                          </a:solidFill>
                          <a:latin typeface="Arial"/>
                        </a:rPr>
                        <a:t>13.1.3</a:t>
                      </a:r>
                    </a:p>
                  </a:txBody>
                  <a:tcPr marL="54864" marR="54864" marT="27432" marB="27432">
                    <a:solidFill>
                      <a:srgbClr val="FFFFFF"/>
                    </a:solidFill>
                  </a:tcPr>
                </a:tc>
                <a:tc>
                  <a:txBody>
                    <a:bodyPr/>
                    <a:lstStyle/>
                    <a:p>
                      <a:r>
                        <a:rPr sz="850" b="0">
                          <a:solidFill>
                            <a:srgbClr val="4B4B4B"/>
                          </a:solidFill>
                          <a:latin typeface="Arial"/>
                        </a:rPr>
                        <a:t>FR-UA-005</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Success message</a:t>
                      </a:r>
                    </a:p>
                  </a:txBody>
                  <a:tcPr marL="54864" marR="54864" marT="27432" marB="27432">
                    <a:solidFill>
                      <a:srgbClr val="FFFFFF"/>
                    </a:solidFill>
                  </a:tcPr>
                </a:tc>
              </a:tr>
              <a:tr h="220979">
                <a:tc>
                  <a:txBody>
                    <a:bodyPr/>
                    <a:lstStyle/>
                    <a:p>
                      <a:r>
                        <a:rPr sz="850" b="0">
                          <a:solidFill>
                            <a:srgbClr val="4B4B4B"/>
                          </a:solidFill>
                          <a:latin typeface="Arial"/>
                        </a:rPr>
                        <a:t>SCR-UA-04</a:t>
                      </a:r>
                    </a:p>
                  </a:txBody>
                  <a:tcPr marL="54864" marR="54864" marT="27432" marB="27432">
                    <a:solidFill>
                      <a:srgbClr val="E5F5FF"/>
                    </a:solidFill>
                  </a:tcPr>
                </a:tc>
                <a:tc>
                  <a:txBody>
                    <a:bodyPr/>
                    <a:lstStyle/>
                    <a:p>
                      <a:r>
                        <a:rPr sz="850" b="0">
                          <a:solidFill>
                            <a:srgbClr val="4B4B4B"/>
                          </a:solidFill>
                          <a:latin typeface="Arial"/>
                        </a:rPr>
                        <a:t>Inactivity and Session-end Warnings</a:t>
                      </a:r>
                    </a:p>
                  </a:txBody>
                  <a:tcPr marL="54864" marR="54864" marT="27432" marB="27432">
                    <a:solidFill>
                      <a:srgbClr val="E5F5FF"/>
                    </a:solidFill>
                  </a:tcPr>
                </a:tc>
                <a:tc>
                  <a:txBody>
                    <a:bodyPr/>
                    <a:lstStyle/>
                    <a:p>
                      <a:r>
                        <a:rPr sz="850" b="0">
                          <a:solidFill>
                            <a:srgbClr val="4B4B4B"/>
                          </a:solidFill>
                          <a:latin typeface="Arial"/>
                        </a:rPr>
                        <a:t>13.1.4</a:t>
                      </a:r>
                    </a:p>
                  </a:txBody>
                  <a:tcPr marL="54864" marR="54864" marT="27432" marB="27432">
                    <a:solidFill>
                      <a:srgbClr val="E5F5FF"/>
                    </a:solidFill>
                  </a:tcPr>
                </a:tc>
                <a:tc>
                  <a:txBody>
                    <a:bodyPr/>
                    <a:lstStyle/>
                    <a:p>
                      <a:r>
                        <a:rPr sz="850" b="0">
                          <a:solidFill>
                            <a:srgbClr val="4B4B4B"/>
                          </a:solidFill>
                          <a:latin typeface="Arial"/>
                        </a:rPr>
                        <a:t>FR-UA-002, FR-UA-004</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Confirmation with reason</a:t>
                      </a:r>
                    </a:p>
                  </a:txBody>
                  <a:tcPr marL="54864" marR="54864" marT="27432" marB="27432">
                    <a:solidFill>
                      <a:srgbClr val="E5F5FF"/>
                    </a:solidFill>
                  </a:tcPr>
                </a:tc>
              </a:tr>
              <a:tr h="220979">
                <a:tc>
                  <a:txBody>
                    <a:bodyPr/>
                    <a:lstStyle/>
                    <a:p>
                      <a:r>
                        <a:rPr sz="850" b="0">
                          <a:solidFill>
                            <a:srgbClr val="4B4B4B"/>
                          </a:solidFill>
                          <a:latin typeface="Arial"/>
                        </a:rPr>
                        <a:t>SCR-UA-05</a:t>
                      </a:r>
                    </a:p>
                  </a:txBody>
                  <a:tcPr marL="54864" marR="54864" marT="27432" marB="27432">
                    <a:solidFill>
                      <a:srgbClr val="FFFFFF"/>
                    </a:solidFill>
                  </a:tcPr>
                </a:tc>
                <a:tc>
                  <a:txBody>
                    <a:bodyPr/>
                    <a:lstStyle/>
                    <a:p>
                      <a:r>
                        <a:rPr sz="850" b="0">
                          <a:solidFill>
                            <a:srgbClr val="4B4B4B"/>
                          </a:solidFill>
                          <a:latin typeface="Arial"/>
                        </a:rPr>
                        <a:t>My Profile</a:t>
                      </a:r>
                    </a:p>
                  </a:txBody>
                  <a:tcPr marL="54864" marR="54864" marT="27432" marB="27432">
                    <a:solidFill>
                      <a:srgbClr val="FFFFFF"/>
                    </a:solidFill>
                  </a:tcPr>
                </a:tc>
                <a:tc>
                  <a:txBody>
                    <a:bodyPr/>
                    <a:lstStyle/>
                    <a:p>
                      <a:r>
                        <a:rPr sz="850" b="0">
                          <a:solidFill>
                            <a:srgbClr val="4B4B4B"/>
                          </a:solidFill>
                          <a:latin typeface="Arial"/>
                        </a:rPr>
                        <a:t>13.1.5</a:t>
                      </a:r>
                    </a:p>
                  </a:txBody>
                  <a:tcPr marL="54864" marR="54864" marT="27432" marB="27432">
                    <a:solidFill>
                      <a:srgbClr val="FFFFFF"/>
                    </a:solidFill>
                  </a:tcPr>
                </a:tc>
                <a:tc>
                  <a:txBody>
                    <a:bodyPr/>
                    <a:lstStyle/>
                    <a:p>
                      <a:r>
                        <a:rPr sz="850" b="0">
                          <a:solidFill>
                            <a:srgbClr val="4B4B4B"/>
                          </a:solidFill>
                          <a:latin typeface="Arial"/>
                        </a:rPr>
                        <a:t>FR-UA-004, FR-UA-005</a:t>
                      </a:r>
                    </a:p>
                  </a:txBody>
                  <a:tcPr marL="54864" marR="54864" marT="27432" marB="27432">
                    <a:solidFill>
                      <a:srgbClr val="FFFFFF"/>
                    </a:solidFill>
                  </a:tcPr>
                </a:tc>
                <a:tc>
                  <a:txBody>
                    <a:bodyPr/>
                    <a:lstStyle/>
                    <a:p>
                      <a:r>
                        <a:rPr sz="850" b="0">
                          <a:solidFill>
                            <a:srgbClr val="4B4B4B"/>
                          </a:solidFill>
                          <a:latin typeface="Arial"/>
                        </a:rPr>
                        <a:t>4</a:t>
                      </a:r>
                    </a:p>
                  </a:txBody>
                  <a:tcPr marL="54864" marR="54864" marT="27432" marB="27432">
                    <a:solidFill>
                      <a:srgbClr val="FFFFFF"/>
                    </a:solidFill>
                  </a:tcPr>
                </a:tc>
                <a:tc>
                  <a:txBody>
                    <a:bodyPr/>
                    <a:lstStyle/>
                    <a:p>
                      <a:r>
                        <a:rPr sz="850" b="0">
                          <a:solidFill>
                            <a:srgbClr val="4B4B4B"/>
                          </a:solidFill>
                          <a:latin typeface="Arial"/>
                        </a:rPr>
                        <a:t>Default, Validation error</a:t>
                      </a:r>
                    </a:p>
                  </a:txBody>
                  <a:tcPr marL="54864" marR="54864" marT="27432" marB="27432">
                    <a:solidFill>
                      <a:srgbClr val="FFFFFF"/>
                    </a:solidFill>
                  </a:tcPr>
                </a:tc>
              </a:tr>
              <a:tr h="220979">
                <a:tc>
                  <a:txBody>
                    <a:bodyPr/>
                    <a:lstStyle/>
                    <a:p>
                      <a:r>
                        <a:rPr sz="850" b="0">
                          <a:solidFill>
                            <a:srgbClr val="4B4B4B"/>
                          </a:solidFill>
                          <a:latin typeface="Arial"/>
                        </a:rPr>
                        <a:t>SCR-UA-06</a:t>
                      </a:r>
                    </a:p>
                  </a:txBody>
                  <a:tcPr marL="54864" marR="54864" marT="27432" marB="27432">
                    <a:solidFill>
                      <a:srgbClr val="E5F5FF"/>
                    </a:solidFill>
                  </a:tcPr>
                </a:tc>
                <a:tc>
                  <a:txBody>
                    <a:bodyPr/>
                    <a:lstStyle/>
                    <a:p>
                      <a:r>
                        <a:rPr sz="850" b="0">
                          <a:solidFill>
                            <a:srgbClr val="4B4B4B"/>
                          </a:solidFill>
                          <a:latin typeface="Arial"/>
                        </a:rPr>
                        <a:t>Access Requests</a:t>
                      </a:r>
                    </a:p>
                  </a:txBody>
                  <a:tcPr marL="54864" marR="54864" marT="27432" marB="27432">
                    <a:solidFill>
                      <a:srgbClr val="E5F5FF"/>
                    </a:solidFill>
                  </a:tcPr>
                </a:tc>
                <a:tc>
                  <a:txBody>
                    <a:bodyPr/>
                    <a:lstStyle/>
                    <a:p>
                      <a:r>
                        <a:rPr sz="850" b="0">
                          <a:solidFill>
                            <a:srgbClr val="4B4B4B"/>
                          </a:solidFill>
                          <a:latin typeface="Arial"/>
                        </a:rPr>
                        <a:t>13.2.1</a:t>
                      </a:r>
                    </a:p>
                  </a:txBody>
                  <a:tcPr marL="54864" marR="54864" marT="27432" marB="27432">
                    <a:solidFill>
                      <a:srgbClr val="E5F5FF"/>
                    </a:solidFill>
                  </a:tcPr>
                </a:tc>
                <a:tc>
                  <a:txBody>
                    <a:bodyPr/>
                    <a:lstStyle/>
                    <a:p>
                      <a:r>
                        <a:rPr sz="850" b="0">
                          <a:solidFill>
                            <a:srgbClr val="4B4B4B"/>
                          </a:solidFill>
                          <a:latin typeface="Arial"/>
                        </a:rPr>
                        <a:t>FR-UA-018, FR-UA-030, FR-UA-031</a:t>
                      </a:r>
                    </a:p>
                  </a:txBody>
                  <a:tcPr marL="54864" marR="54864" marT="27432" marB="27432">
                    <a:solidFill>
                      <a:srgbClr val="E5F5FF"/>
                    </a:solidFill>
                  </a:tcPr>
                </a:tc>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Default, Empty list, Pending approval</a:t>
                      </a:r>
                    </a:p>
                  </a:txBody>
                  <a:tcPr marL="54864" marR="54864" marT="27432" marB="27432">
                    <a:solidFill>
                      <a:srgbClr val="E5F5FF"/>
                    </a:solidFill>
                  </a:tcPr>
                </a:tc>
              </a:tr>
              <a:tr h="480057">
                <a:tc>
                  <a:txBody>
                    <a:bodyPr/>
                    <a:lstStyle/>
                    <a:p>
                      <a:r>
                        <a:rPr sz="850" b="0">
                          <a:solidFill>
                            <a:srgbClr val="4B4B4B"/>
                          </a:solidFill>
                          <a:latin typeface="Arial"/>
                        </a:rPr>
                        <a:t>SCR-UA-07</a:t>
                      </a:r>
                    </a:p>
                  </a:txBody>
                  <a:tcPr marL="54864" marR="54864" marT="27432" marB="27432">
                    <a:solidFill>
                      <a:srgbClr val="FFFFFF"/>
                    </a:solidFill>
                  </a:tcPr>
                </a:tc>
                <a:tc>
                  <a:txBody>
                    <a:bodyPr/>
                    <a:lstStyle/>
                    <a:p>
                      <a:r>
                        <a:rPr sz="850" b="0">
                          <a:solidFill>
                            <a:srgbClr val="4B4B4B"/>
                          </a:solidFill>
                          <a:latin typeface="Arial"/>
                        </a:rPr>
                        <a:t>New Request and Edit Request (user requests)</a:t>
                      </a:r>
                    </a:p>
                  </a:txBody>
                  <a:tcPr marL="54864" marR="54864" marT="27432" marB="27432">
                    <a:solidFill>
                      <a:srgbClr val="FFFFFF"/>
                    </a:solidFill>
                  </a:tcPr>
                </a:tc>
                <a:tc>
                  <a:txBody>
                    <a:bodyPr/>
                    <a:lstStyle/>
                    <a:p>
                      <a:r>
                        <a:rPr sz="850" b="0">
                          <a:solidFill>
                            <a:srgbClr val="4B4B4B"/>
                          </a:solidFill>
                          <a:latin typeface="Arial"/>
                        </a:rPr>
                        <a:t>13.2.2</a:t>
                      </a:r>
                    </a:p>
                  </a:txBody>
                  <a:tcPr marL="54864" marR="54864" marT="27432" marB="27432">
                    <a:solidFill>
                      <a:srgbClr val="FFFFFF"/>
                    </a:solidFill>
                  </a:tcPr>
                </a:tc>
                <a:tc>
                  <a:txBody>
                    <a:bodyPr/>
                    <a:lstStyle/>
                    <a:p>
                      <a:r>
                        <a:rPr sz="850" b="0">
                          <a:solidFill>
                            <a:srgbClr val="4B4B4B"/>
                          </a:solidFill>
                          <a:latin typeface="Arial"/>
                        </a:rPr>
                        <a:t>FR-UA-010, FR-UA-011, FR-UA-012, FR-UA-013, FR-UA-014, FR-UA-015, FR-UA-016, FR-UA-020, FR-UA-053</a:t>
                      </a:r>
                    </a:p>
                  </a:txBody>
                  <a:tcPr marL="54864" marR="54864" marT="27432" marB="27432">
                    <a:solidFill>
                      <a:srgbClr val="FFFFFF"/>
                    </a:solidFill>
                  </a:tcPr>
                </a:tc>
                <a:tc>
                  <a:txBody>
                    <a:bodyPr/>
                    <a:lstStyle/>
                    <a:p>
                      <a:r>
                        <a:rPr sz="850" b="0">
                          <a:solidFill>
                            <a:srgbClr val="4B4B4B"/>
                          </a:solidFill>
                          <a:latin typeface="Arial"/>
                        </a:rPr>
                        <a:t>12</a:t>
                      </a:r>
                    </a:p>
                  </a:txBody>
                  <a:tcPr marL="54864" marR="54864" marT="27432" marB="27432">
                    <a:solidFill>
                      <a:srgbClr val="FFFFFF"/>
                    </a:solidFill>
                  </a:tcPr>
                </a:tc>
                <a:tc>
                  <a:txBody>
                    <a:bodyPr/>
                    <a:lstStyle/>
                    <a:p>
                      <a:r>
                        <a:rPr sz="850" b="0">
                          <a:solidFill>
                            <a:srgbClr val="4B4B4B"/>
                          </a:solidFill>
                          <a:latin typeface="Arial"/>
                        </a:rPr>
                        <a:t>Default, Filled, Validation error, Success message</a:t>
                      </a:r>
                    </a:p>
                  </a:txBody>
                  <a:tcPr marL="54864" marR="54864" marT="27432" marB="27432">
                    <a:solidFill>
                      <a:srgbClr val="FFFFFF"/>
                    </a:solidFill>
                  </a:tcPr>
                </a:tc>
              </a:tr>
              <a:tr h="480057">
                <a:tc>
                  <a:txBody>
                    <a:bodyPr/>
                    <a:lstStyle/>
                    <a:p>
                      <a:r>
                        <a:rPr sz="850" b="0">
                          <a:solidFill>
                            <a:srgbClr val="4B4B4B"/>
                          </a:solidFill>
                          <a:latin typeface="Arial"/>
                        </a:rPr>
                        <a:t>SCR-UA-08</a:t>
                      </a:r>
                    </a:p>
                  </a:txBody>
                  <a:tcPr marL="54864" marR="54864" marT="27432" marB="27432">
                    <a:solidFill>
                      <a:srgbClr val="E5F5FF"/>
                    </a:solidFill>
                  </a:tcPr>
                </a:tc>
                <a:tc>
                  <a:txBody>
                    <a:bodyPr/>
                    <a:lstStyle/>
                    <a:p>
                      <a:r>
                        <a:rPr sz="850" b="0">
                          <a:solidFill>
                            <a:srgbClr val="4B4B4B"/>
                          </a:solidFill>
                          <a:latin typeface="Arial"/>
                        </a:rPr>
                        <a:t>Access Request record</a:t>
                      </a:r>
                    </a:p>
                  </a:txBody>
                  <a:tcPr marL="54864" marR="54864" marT="27432" marB="27432">
                    <a:solidFill>
                      <a:srgbClr val="E5F5FF"/>
                    </a:solidFill>
                  </a:tcPr>
                </a:tc>
                <a:tc>
                  <a:txBody>
                    <a:bodyPr/>
                    <a:lstStyle/>
                    <a:p>
                      <a:r>
                        <a:rPr sz="850" b="0">
                          <a:solidFill>
                            <a:srgbClr val="4B4B4B"/>
                          </a:solidFill>
                          <a:latin typeface="Arial"/>
                        </a:rPr>
                        <a:t>13.2.3</a:t>
                      </a:r>
                    </a:p>
                  </a:txBody>
                  <a:tcPr marL="54864" marR="54864" marT="27432" marB="27432">
                    <a:solidFill>
                      <a:srgbClr val="E5F5FF"/>
                    </a:solidFill>
                  </a:tcPr>
                </a:tc>
                <a:tc>
                  <a:txBody>
                    <a:bodyPr/>
                    <a:lstStyle/>
                    <a:p>
                      <a:r>
                        <a:rPr sz="850" b="0">
                          <a:solidFill>
                            <a:srgbClr val="4B4B4B"/>
                          </a:solidFill>
                          <a:latin typeface="Arial"/>
                        </a:rPr>
                        <a:t>FR-UA-017, FR-UA-018, FR-UA-030, FR-UA-031, FR-UA-032, FR-UA-033, FR-UA-034, FR-UA-045, FR-UA-064</a:t>
                      </a:r>
                    </a:p>
                  </a:txBody>
                  <a:tcPr marL="54864" marR="54864" marT="27432" marB="27432">
                    <a:solidFill>
                      <a:srgbClr val="E5F5FF"/>
                    </a:solidFill>
                  </a:tcPr>
                </a:tc>
                <a:tc>
                  <a:txBody>
                    <a:bodyPr/>
                    <a:lstStyle/>
                    <a:p>
                      <a:r>
                        <a:rPr sz="850" b="0">
                          <a:solidFill>
                            <a:srgbClr val="4B4B4B"/>
                          </a:solidFill>
                          <a:latin typeface="Arial"/>
                        </a:rPr>
                        <a:t>13</a:t>
                      </a:r>
                    </a:p>
                  </a:txBody>
                  <a:tcPr marL="54864" marR="54864" marT="27432" marB="27432">
                    <a:solidFill>
                      <a:srgbClr val="E5F5FF"/>
                    </a:solidFill>
                  </a:tcPr>
                </a:tc>
                <a:tc>
                  <a:txBody>
                    <a:bodyPr/>
                    <a:lstStyle/>
                    <a:p>
                      <a:r>
                        <a:rPr sz="850" b="0">
                          <a:solidFill>
                            <a:srgbClr val="4B4B4B"/>
                          </a:solidFill>
                          <a:latin typeface="Arial"/>
                        </a:rPr>
                        <a:t>Validation error, Confirmation with reason, Success message, Pending approval, Rejected or returned</a:t>
                      </a:r>
                    </a:p>
                  </a:txBody>
                  <a:tcPr marL="54864" marR="54864" marT="27432" marB="27432">
                    <a:solidFill>
                      <a:srgbClr val="E5F5FF"/>
                    </a:solidFill>
                  </a:tcPr>
                </a:tc>
              </a:tr>
              <a:tr h="220979">
                <a:tc>
                  <a:txBody>
                    <a:bodyPr/>
                    <a:lstStyle/>
                    <a:p>
                      <a:r>
                        <a:rPr sz="850" b="0">
                          <a:solidFill>
                            <a:srgbClr val="4B4B4B"/>
                          </a:solidFill>
                          <a:latin typeface="Arial"/>
                        </a:rPr>
                        <a:t>SCR-UA-09</a:t>
                      </a:r>
                    </a:p>
                  </a:txBody>
                  <a:tcPr marL="54864" marR="54864" marT="27432" marB="27432">
                    <a:solidFill>
                      <a:srgbClr val="FFFFFF"/>
                    </a:solidFill>
                  </a:tcPr>
                </a:tc>
                <a:tc>
                  <a:txBody>
                    <a:bodyPr/>
                    <a:lstStyle/>
                    <a:p>
                      <a:r>
                        <a:rPr sz="850" b="0">
                          <a:solidFill>
                            <a:srgbClr val="4B4B4B"/>
                          </a:solidFill>
                          <a:latin typeface="Arial"/>
                        </a:rPr>
                        <a:t>Bulk Request</a:t>
                      </a:r>
                    </a:p>
                  </a:txBody>
                  <a:tcPr marL="54864" marR="54864" marT="27432" marB="27432">
                    <a:solidFill>
                      <a:srgbClr val="FFFFFF"/>
                    </a:solidFill>
                  </a:tcPr>
                </a:tc>
                <a:tc>
                  <a:txBody>
                    <a:bodyPr/>
                    <a:lstStyle/>
                    <a:p>
                      <a:r>
                        <a:rPr sz="850" b="0">
                          <a:solidFill>
                            <a:srgbClr val="4B4B4B"/>
                          </a:solidFill>
                          <a:latin typeface="Arial"/>
                        </a:rPr>
                        <a:t>13.2.4</a:t>
                      </a:r>
                    </a:p>
                  </a:txBody>
                  <a:tcPr marL="54864" marR="54864" marT="27432" marB="27432">
                    <a:solidFill>
                      <a:srgbClr val="FFFFFF"/>
                    </a:solidFill>
                  </a:tcPr>
                </a:tc>
                <a:tc>
                  <a:txBody>
                    <a:bodyPr/>
                    <a:lstStyle/>
                    <a:p>
                      <a:r>
                        <a:rPr sz="850" b="0">
                          <a:solidFill>
                            <a:srgbClr val="4B4B4B"/>
                          </a:solidFill>
                          <a:latin typeface="Arial"/>
                        </a:rPr>
                        <a:t>FR-UA-019</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Validation error</a:t>
                      </a:r>
                    </a:p>
                  </a:txBody>
                  <a:tcPr marL="54864" marR="54864" marT="27432" marB="27432">
                    <a:solidFill>
                      <a:srgbClr val="FFFFFF"/>
                    </a:solidFill>
                  </a:tcPr>
                </a:tc>
              </a:tr>
              <a:tr h="220979">
                <a:tc>
                  <a:txBody>
                    <a:bodyPr/>
                    <a:lstStyle/>
                    <a:p>
                      <a:r>
                        <a:rPr sz="850" b="0">
                          <a:solidFill>
                            <a:srgbClr val="4B4B4B"/>
                          </a:solidFill>
                          <a:latin typeface="Arial"/>
                        </a:rPr>
                        <a:t>SCR-UA-10</a:t>
                      </a:r>
                    </a:p>
                  </a:txBody>
                  <a:tcPr marL="54864" marR="54864" marT="27432" marB="27432">
                    <a:solidFill>
                      <a:srgbClr val="E5F5FF"/>
                    </a:solidFill>
                  </a:tcPr>
                </a:tc>
                <a:tc>
                  <a:txBody>
                    <a:bodyPr/>
                    <a:lstStyle/>
                    <a:p>
                      <a:r>
                        <a:rPr sz="850" b="0">
                          <a:solidFill>
                            <a:srgbClr val="4B4B4B"/>
                          </a:solidFill>
                          <a:latin typeface="Arial"/>
                        </a:rPr>
                        <a:t>Bulk Request Batch</a:t>
                      </a:r>
                    </a:p>
                  </a:txBody>
                  <a:tcPr marL="54864" marR="54864" marT="27432" marB="27432">
                    <a:solidFill>
                      <a:srgbClr val="E5F5FF"/>
                    </a:solidFill>
                  </a:tcPr>
                </a:tc>
                <a:tc>
                  <a:txBody>
                    <a:bodyPr/>
                    <a:lstStyle/>
                    <a:p>
                      <a:r>
                        <a:rPr sz="850" b="0">
                          <a:solidFill>
                            <a:srgbClr val="4B4B4B"/>
                          </a:solidFill>
                          <a:latin typeface="Arial"/>
                        </a:rPr>
                        <a:t>13.2.5</a:t>
                      </a:r>
                    </a:p>
                  </a:txBody>
                  <a:tcPr marL="54864" marR="54864" marT="27432" marB="27432">
                    <a:solidFill>
                      <a:srgbClr val="E5F5FF"/>
                    </a:solidFill>
                  </a:tcPr>
                </a:tc>
                <a:tc>
                  <a:txBody>
                    <a:bodyPr/>
                    <a:lstStyle/>
                    <a:p>
                      <a:r>
                        <a:rPr sz="850" b="0">
                          <a:solidFill>
                            <a:srgbClr val="4B4B4B"/>
                          </a:solidFill>
                          <a:latin typeface="Arial"/>
                        </a:rPr>
                        <a:t>FR-UA-019</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Pending approval</a:t>
                      </a:r>
                    </a:p>
                  </a:txBody>
                  <a:tcPr marL="54864" marR="54864" marT="27432" marB="27432">
                    <a:solidFill>
                      <a:srgbClr val="E5F5FF"/>
                    </a:solidFill>
                  </a:tcPr>
                </a:tc>
              </a:tr>
              <a:tr h="220979">
                <a:tc>
                  <a:txBody>
                    <a:bodyPr/>
                    <a:lstStyle/>
                    <a:p>
                      <a:r>
                        <a:rPr sz="850" b="0">
                          <a:solidFill>
                            <a:srgbClr val="4B4B4B"/>
                          </a:solidFill>
                          <a:latin typeface="Arial"/>
                        </a:rPr>
                        <a:t>SCR-UA-11</a:t>
                      </a:r>
                    </a:p>
                  </a:txBody>
                  <a:tcPr marL="54864" marR="54864" marT="27432" marB="27432">
                    <a:solidFill>
                      <a:srgbClr val="FFFFFF"/>
                    </a:solidFill>
                  </a:tcPr>
                </a:tc>
                <a:tc>
                  <a:txBody>
                    <a:bodyPr/>
                    <a:lstStyle/>
                    <a:p>
                      <a:r>
                        <a:rPr sz="850" b="0">
                          <a:solidFill>
                            <a:srgbClr val="4B4B4B"/>
                          </a:solidFill>
                          <a:latin typeface="Arial"/>
                        </a:rPr>
                        <a:t>Group Profile Requests</a:t>
                      </a:r>
                    </a:p>
                  </a:txBody>
                  <a:tcPr marL="54864" marR="54864" marT="27432" marB="27432">
                    <a:solidFill>
                      <a:srgbClr val="FFFFFF"/>
                    </a:solidFill>
                  </a:tcPr>
                </a:tc>
                <a:tc>
                  <a:txBody>
                    <a:bodyPr/>
                    <a:lstStyle/>
                    <a:p>
                      <a:r>
                        <a:rPr sz="850" b="0">
                          <a:solidFill>
                            <a:srgbClr val="4B4B4B"/>
                          </a:solidFill>
                          <a:latin typeface="Arial"/>
                        </a:rPr>
                        <a:t>13.3.1</a:t>
                      </a:r>
                    </a:p>
                  </a:txBody>
                  <a:tcPr marL="54864" marR="54864" marT="27432" marB="27432">
                    <a:solidFill>
                      <a:srgbClr val="FFFFFF"/>
                    </a:solidFill>
                  </a:tcPr>
                </a:tc>
                <a:tc>
                  <a:txBody>
                    <a:bodyPr/>
                    <a:lstStyle/>
                    <a:p>
                      <a:r>
                        <a:rPr sz="850" b="0">
                          <a:solidFill>
                            <a:srgbClr val="4B4B4B"/>
                          </a:solidFill>
                          <a:latin typeface="Arial"/>
                        </a:rPr>
                        <a:t>FR-UA-040, FR-UA-044, FR-UA-045</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350518">
                <a:tc>
                  <a:txBody>
                    <a:bodyPr/>
                    <a:lstStyle/>
                    <a:p>
                      <a:r>
                        <a:rPr sz="850" b="0">
                          <a:solidFill>
                            <a:srgbClr val="4B4B4B"/>
                          </a:solidFill>
                          <a:latin typeface="Arial"/>
                        </a:rPr>
                        <a:t>SCR-UA-12</a:t>
                      </a:r>
                    </a:p>
                  </a:txBody>
                  <a:tcPr marL="54864" marR="54864" marT="27432" marB="27432">
                    <a:solidFill>
                      <a:srgbClr val="E5F5FF"/>
                    </a:solidFill>
                  </a:tcPr>
                </a:tc>
                <a:tc>
                  <a:txBody>
                    <a:bodyPr/>
                    <a:lstStyle/>
                    <a:p>
                      <a:r>
                        <a:rPr sz="850" b="0">
                          <a:solidFill>
                            <a:srgbClr val="4B4B4B"/>
                          </a:solidFill>
                          <a:latin typeface="Arial"/>
                        </a:rPr>
                        <a:t>New Group Profile Request and Edit Request</a:t>
                      </a:r>
                    </a:p>
                  </a:txBody>
                  <a:tcPr marL="54864" marR="54864" marT="27432" marB="27432">
                    <a:solidFill>
                      <a:srgbClr val="E5F5FF"/>
                    </a:solidFill>
                  </a:tcPr>
                </a:tc>
                <a:tc>
                  <a:txBody>
                    <a:bodyPr/>
                    <a:lstStyle/>
                    <a:p>
                      <a:r>
                        <a:rPr sz="850" b="0">
                          <a:solidFill>
                            <a:srgbClr val="4B4B4B"/>
                          </a:solidFill>
                          <a:latin typeface="Arial"/>
                        </a:rPr>
                        <a:t>13.3.2</a:t>
                      </a:r>
                    </a:p>
                  </a:txBody>
                  <a:tcPr marL="54864" marR="54864" marT="27432" marB="27432">
                    <a:solidFill>
                      <a:srgbClr val="E5F5FF"/>
                    </a:solidFill>
                  </a:tcPr>
                </a:tc>
                <a:tc>
                  <a:txBody>
                    <a:bodyPr/>
                    <a:lstStyle/>
                    <a:p>
                      <a:r>
                        <a:rPr sz="850" b="0">
                          <a:solidFill>
                            <a:srgbClr val="4B4B4B"/>
                          </a:solidFill>
                          <a:latin typeface="Arial"/>
                        </a:rPr>
                        <a:t>FR-UA-040, FR-UA-041, FR-UA-042, FR-UA-043, FR-UA-044, FR-UA-051</a:t>
                      </a:r>
                    </a:p>
                  </a:txBody>
                  <a:tcPr marL="54864" marR="54864" marT="27432" marB="27432">
                    <a:solidFill>
                      <a:srgbClr val="E5F5FF"/>
                    </a:solidFill>
                  </a:tcPr>
                </a:tc>
                <a:tc>
                  <a:txBody>
                    <a:bodyPr/>
                    <a:lstStyle/>
                    <a:p>
                      <a:r>
                        <a:rPr sz="850" b="0">
                          <a:solidFill>
                            <a:srgbClr val="4B4B4B"/>
                          </a:solidFill>
                          <a:latin typeface="Arial"/>
                        </a:rPr>
                        <a:t>5</a:t>
                      </a:r>
                    </a:p>
                  </a:txBody>
                  <a:tcPr marL="54864" marR="54864" marT="27432" marB="27432">
                    <a:solidFill>
                      <a:srgbClr val="E5F5FF"/>
                    </a:solidFill>
                  </a:tcPr>
                </a:tc>
                <a:tc>
                  <a:txBody>
                    <a:bodyPr/>
                    <a:lstStyle/>
                    <a:p>
                      <a:r>
                        <a:rPr sz="850" b="0">
                          <a:solidFill>
                            <a:srgbClr val="4B4B4B"/>
                          </a:solidFill>
                          <a:latin typeface="Arial"/>
                        </a:rPr>
                        <a:t>Default, Filled, Confirmation with reason, Success message</a:t>
                      </a:r>
                    </a:p>
                  </a:txBody>
                  <a:tcPr marL="54864" marR="54864" marT="27432" marB="27432">
                    <a:solidFill>
                      <a:srgbClr val="E5F5FF"/>
                    </a:solidFill>
                  </a:tcPr>
                </a:tc>
              </a:tr>
              <a:tr h="220979">
                <a:tc>
                  <a:txBody>
                    <a:bodyPr/>
                    <a:lstStyle/>
                    <a:p>
                      <a:r>
                        <a:rPr sz="850" b="0">
                          <a:solidFill>
                            <a:srgbClr val="4B4B4B"/>
                          </a:solidFill>
                          <a:latin typeface="Arial"/>
                        </a:rPr>
                        <a:t>SCR-UA-13</a:t>
                      </a:r>
                    </a:p>
                  </a:txBody>
                  <a:tcPr marL="54864" marR="54864" marT="27432" marB="27432">
                    <a:solidFill>
                      <a:srgbClr val="FFFFFF"/>
                    </a:solidFill>
                  </a:tcPr>
                </a:tc>
                <a:tc>
                  <a:txBody>
                    <a:bodyPr/>
                    <a:lstStyle/>
                    <a:p>
                      <a:r>
                        <a:rPr sz="850" b="0">
                          <a:solidFill>
                            <a:srgbClr val="4B4B4B"/>
                          </a:solidFill>
                          <a:latin typeface="Arial"/>
                        </a:rPr>
                        <a:t>User Access Matrix</a:t>
                      </a:r>
                    </a:p>
                  </a:txBody>
                  <a:tcPr marL="54864" marR="54864" marT="27432" marB="27432">
                    <a:solidFill>
                      <a:srgbClr val="FFFFFF"/>
                    </a:solidFill>
                  </a:tcPr>
                </a:tc>
                <a:tc>
                  <a:txBody>
                    <a:bodyPr/>
                    <a:lstStyle/>
                    <a:p>
                      <a:r>
                        <a:rPr sz="850" b="0">
                          <a:solidFill>
                            <a:srgbClr val="4B4B4B"/>
                          </a:solidFill>
                          <a:latin typeface="Arial"/>
                        </a:rPr>
                        <a:t>13.4.1</a:t>
                      </a:r>
                    </a:p>
                  </a:txBody>
                  <a:tcPr marL="54864" marR="54864" marT="27432" marB="27432">
                    <a:solidFill>
                      <a:srgbClr val="FFFFFF"/>
                    </a:solidFill>
                  </a:tcPr>
                </a:tc>
                <a:tc>
                  <a:txBody>
                    <a:bodyPr/>
                    <a:lstStyle/>
                    <a:p>
                      <a:r>
                        <a:rPr sz="850" b="0">
                          <a:solidFill>
                            <a:srgbClr val="4B4B4B"/>
                          </a:solidFill>
                          <a:latin typeface="Arial"/>
                        </a:rPr>
                        <a:t>FR-UA-051, FR-UA-061</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Read-only or locked</a:t>
                      </a:r>
                    </a:p>
                  </a:txBody>
                  <a:tcPr marL="54864" marR="54864" marT="27432" marB="27432">
                    <a:solidFill>
                      <a:srgbClr val="FFFFFF"/>
                    </a:solidFill>
                  </a:tcPr>
                </a:tc>
              </a:tr>
              <a:tr h="220979">
                <a:tc>
                  <a:txBody>
                    <a:bodyPr/>
                    <a:lstStyle/>
                    <a:p>
                      <a:r>
                        <a:rPr sz="850" b="0">
                          <a:solidFill>
                            <a:srgbClr val="4B4B4B"/>
                          </a:solidFill>
                          <a:latin typeface="Arial"/>
                        </a:rPr>
                        <a:t>SCR-UA-14</a:t>
                      </a:r>
                    </a:p>
                  </a:txBody>
                  <a:tcPr marL="54864" marR="54864" marT="27432" marB="27432">
                    <a:solidFill>
                      <a:srgbClr val="E5F5FF"/>
                    </a:solidFill>
                  </a:tcPr>
                </a:tc>
                <a:tc>
                  <a:txBody>
                    <a:bodyPr/>
                    <a:lstStyle/>
                    <a:p>
                      <a:r>
                        <a:rPr sz="850" b="0">
                          <a:solidFill>
                            <a:srgbClr val="4B4B4B"/>
                          </a:solidFill>
                          <a:latin typeface="Arial"/>
                        </a:rPr>
                        <a:t>User Access Reports</a:t>
                      </a:r>
                    </a:p>
                  </a:txBody>
                  <a:tcPr marL="54864" marR="54864" marT="27432" marB="27432">
                    <a:solidFill>
                      <a:srgbClr val="E5F5FF"/>
                    </a:solidFill>
                  </a:tcPr>
                </a:tc>
                <a:tc>
                  <a:txBody>
                    <a:bodyPr/>
                    <a:lstStyle/>
                    <a:p>
                      <a:r>
                        <a:rPr sz="850" b="0">
                          <a:solidFill>
                            <a:srgbClr val="4B4B4B"/>
                          </a:solidFill>
                          <a:latin typeface="Arial"/>
                        </a:rPr>
                        <a:t>13.4.2</a:t>
                      </a:r>
                    </a:p>
                  </a:txBody>
                  <a:tcPr marL="54864" marR="54864" marT="27432" marB="27432">
                    <a:solidFill>
                      <a:srgbClr val="E5F5FF"/>
                    </a:solidFill>
                  </a:tcPr>
                </a:tc>
                <a:tc>
                  <a:txBody>
                    <a:bodyPr/>
                    <a:lstStyle/>
                    <a:p>
                      <a:r>
                        <a:rPr sz="850" b="0">
                          <a:solidFill>
                            <a:srgbClr val="4B4B4B"/>
                          </a:solidFill>
                          <a:latin typeface="Arial"/>
                        </a:rPr>
                        <a:t>FR-UA-060, FR-UA-061, FR-UA-062, FR-UA-063</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SCR-UA-15</a:t>
                      </a:r>
                    </a:p>
                  </a:txBody>
                  <a:tcPr marL="54864" marR="54864" marT="27432" marB="27432">
                    <a:solidFill>
                      <a:srgbClr val="FFFFFF"/>
                    </a:solidFill>
                  </a:tcPr>
                </a:tc>
                <a:tc>
                  <a:txBody>
                    <a:bodyPr/>
                    <a:lstStyle/>
                    <a:p>
                      <a:r>
                        <a:rPr sz="850" b="0">
                          <a:solidFill>
                            <a:srgbClr val="4B4B4B"/>
                          </a:solidFill>
                          <a:latin typeface="Arial"/>
                        </a:rPr>
                        <a:t>Users</a:t>
                      </a:r>
                    </a:p>
                  </a:txBody>
                  <a:tcPr marL="54864" marR="54864" marT="27432" marB="27432">
                    <a:solidFill>
                      <a:srgbClr val="FFFFFF"/>
                    </a:solidFill>
                  </a:tcPr>
                </a:tc>
                <a:tc>
                  <a:txBody>
                    <a:bodyPr/>
                    <a:lstStyle/>
                    <a:p>
                      <a:r>
                        <a:rPr sz="850" b="0">
                          <a:solidFill>
                            <a:srgbClr val="4B4B4B"/>
                          </a:solidFill>
                          <a:latin typeface="Arial"/>
                        </a:rPr>
                        <a:t>13.4.3</a:t>
                      </a:r>
                    </a:p>
                  </a:txBody>
                  <a:tcPr marL="54864" marR="54864" marT="27432" marB="27432">
                    <a:solidFill>
                      <a:srgbClr val="FFFFFF"/>
                    </a:solidFill>
                  </a:tcPr>
                </a:tc>
                <a:tc>
                  <a:txBody>
                    <a:bodyPr/>
                    <a:lstStyle/>
                    <a:p>
                      <a:r>
                        <a:rPr sz="850" b="0">
                          <a:solidFill>
                            <a:srgbClr val="4B4B4B"/>
                          </a:solidFill>
                          <a:latin typeface="Arial"/>
                        </a:rPr>
                        <a:t>FR-UA-052, FR-UA-004, FR-UA-064</a:t>
                      </a:r>
                    </a:p>
                  </a:txBody>
                  <a:tcPr marL="54864" marR="54864" marT="27432" marB="27432">
                    <a:solidFill>
                      <a:srgbClr val="FFFFFF"/>
                    </a:solidFill>
                  </a:tcPr>
                </a:tc>
                <a:tc>
                  <a:txBody>
                    <a:bodyPr/>
                    <a:lstStyle/>
                    <a:p>
                      <a:r>
                        <a:rPr sz="850" b="0">
                          <a:solidFill>
                            <a:srgbClr val="4B4B4B"/>
                          </a:solidFill>
                          <a:latin typeface="Arial"/>
                        </a:rPr>
                        <a:t>4</a:t>
                      </a:r>
                    </a:p>
                  </a:txBody>
                  <a:tcPr marL="54864" marR="54864" marT="27432" marB="27432">
                    <a:solidFill>
                      <a:srgbClr val="FFFFFF"/>
                    </a:solidFill>
                  </a:tcPr>
                </a:tc>
                <a:tc>
                  <a:txBody>
                    <a:bodyPr/>
                    <a:lstStyle/>
                    <a:p>
                      <a:r>
                        <a:rPr sz="850" b="0">
                          <a:solidFill>
                            <a:srgbClr val="4B4B4B"/>
                          </a:solidFill>
                          <a:latin typeface="Arial"/>
                        </a:rPr>
                        <a:t>Default, Success message, Read-only or locked</a:t>
                      </a:r>
                    </a:p>
                  </a:txBody>
                  <a:tcPr marL="54864" marR="54864" marT="27432" marB="27432">
                    <a:solidFill>
                      <a:srgbClr val="FFFFFF"/>
                    </a:solidFill>
                  </a:tcPr>
                </a:tc>
              </a:tr>
              <a:tr h="350518">
                <a:tc>
                  <a:txBody>
                    <a:bodyPr/>
                    <a:lstStyle/>
                    <a:p>
                      <a:r>
                        <a:rPr sz="850" b="0">
                          <a:solidFill>
                            <a:srgbClr val="4B4B4B"/>
                          </a:solidFill>
                          <a:latin typeface="Arial"/>
                        </a:rPr>
                        <a:t>SCR-UA-16</a:t>
                      </a:r>
                    </a:p>
                  </a:txBody>
                  <a:tcPr marL="54864" marR="54864" marT="27432" marB="27432">
                    <a:solidFill>
                      <a:srgbClr val="E5F5FF"/>
                    </a:solidFill>
                  </a:tcPr>
                </a:tc>
                <a:tc>
                  <a:txBody>
                    <a:bodyPr/>
                    <a:lstStyle/>
                    <a:p>
                      <a:r>
                        <a:rPr sz="850" b="0">
                          <a:solidFill>
                            <a:srgbClr val="4B4B4B"/>
                          </a:solidFill>
                          <a:latin typeface="Arial"/>
                        </a:rPr>
                        <a:t>Roles &amp; Permissions</a:t>
                      </a:r>
                    </a:p>
                  </a:txBody>
                  <a:tcPr marL="54864" marR="54864" marT="27432" marB="27432">
                    <a:solidFill>
                      <a:srgbClr val="E5F5FF"/>
                    </a:solidFill>
                  </a:tcPr>
                </a:tc>
                <a:tc>
                  <a:txBody>
                    <a:bodyPr/>
                    <a:lstStyle/>
                    <a:p>
                      <a:r>
                        <a:rPr sz="850" b="0">
                          <a:solidFill>
                            <a:srgbClr val="4B4B4B"/>
                          </a:solidFill>
                          <a:latin typeface="Arial"/>
                        </a:rPr>
                        <a:t>13.4.4</a:t>
                      </a:r>
                    </a:p>
                  </a:txBody>
                  <a:tcPr marL="54864" marR="54864" marT="27432" marB="27432">
                    <a:solidFill>
                      <a:srgbClr val="E5F5FF"/>
                    </a:solidFill>
                  </a:tcPr>
                </a:tc>
                <a:tc>
                  <a:txBody>
                    <a:bodyPr/>
                    <a:lstStyle/>
                    <a:p>
                      <a:r>
                        <a:rPr sz="850" b="0">
                          <a:solidFill>
                            <a:srgbClr val="4B4B4B"/>
                          </a:solidFill>
                          <a:latin typeface="Arial"/>
                        </a:rPr>
                        <a:t>FR-UA-045, FR-UA-050, FR-UA-051</a:t>
                      </a:r>
                    </a:p>
                  </a:txBody>
                  <a:tcPr marL="54864" marR="54864" marT="27432" marB="27432">
                    <a:solidFill>
                      <a:srgbClr val="E5F5FF"/>
                    </a:solidFill>
                  </a:tcPr>
                </a:tc>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Validation error, Confirmation with reason, Success message</a:t>
                      </a:r>
                    </a:p>
                  </a:txBody>
                  <a:tcPr marL="54864" marR="54864" marT="27432" marB="27432">
                    <a:solidFill>
                      <a:srgbClr val="E5F5FF"/>
                    </a:solidFill>
                  </a:tcPr>
                </a:tc>
              </a:tr>
              <a:tr h="220979">
                <a:tc>
                  <a:txBody>
                    <a:bodyPr/>
                    <a:lstStyle/>
                    <a:p>
                      <a:r>
                        <a:rPr sz="850" b="0">
                          <a:solidFill>
                            <a:srgbClr val="4B4B4B"/>
                          </a:solidFill>
                          <a:latin typeface="Arial"/>
                        </a:rPr>
                        <a:t>SCR-UA-17</a:t>
                      </a:r>
                    </a:p>
                  </a:txBody>
                  <a:tcPr marL="54864" marR="54864" marT="27432" marB="27432">
                    <a:solidFill>
                      <a:srgbClr val="FFFFFF"/>
                    </a:solidFill>
                  </a:tcPr>
                </a:tc>
                <a:tc>
                  <a:txBody>
                    <a:bodyPr/>
                    <a:lstStyle/>
                    <a:p>
                      <a:r>
                        <a:rPr sz="850" b="0">
                          <a:solidFill>
                            <a:srgbClr val="4B4B4B"/>
                          </a:solidFill>
                          <a:latin typeface="Arial"/>
                        </a:rPr>
                        <a:t>User access report (report runner)</a:t>
                      </a:r>
                    </a:p>
                  </a:txBody>
                  <a:tcPr marL="54864" marR="54864" marT="27432" marB="27432">
                    <a:solidFill>
                      <a:srgbClr val="FFFFFF"/>
                    </a:solidFill>
                  </a:tcPr>
                </a:tc>
                <a:tc>
                  <a:txBody>
                    <a:bodyPr/>
                    <a:lstStyle/>
                    <a:p>
                      <a:r>
                        <a:rPr sz="850" b="0">
                          <a:solidFill>
                            <a:srgbClr val="4B4B4B"/>
                          </a:solidFill>
                          <a:latin typeface="Arial"/>
                        </a:rPr>
                        <a:t>13.4.5</a:t>
                      </a:r>
                    </a:p>
                  </a:txBody>
                  <a:tcPr marL="54864" marR="54864" marT="27432" marB="27432">
                    <a:solidFill>
                      <a:srgbClr val="FFFFFF"/>
                    </a:solidFill>
                  </a:tcPr>
                </a:tc>
                <a:tc>
                  <a:txBody>
                    <a:bodyPr/>
                    <a:lstStyle/>
                    <a:p>
                      <a:r>
                        <a:rPr sz="850" b="0">
                          <a:solidFill>
                            <a:srgbClr val="4B4B4B"/>
                          </a:solidFill>
                          <a:latin typeface="Arial"/>
                        </a:rPr>
                        <a:t>FR-UA-060, FR-UA-061, FR-UA-062, FR-UA-063</a:t>
                      </a:r>
                    </a:p>
                  </a:txBody>
                  <a:tcPr marL="54864" marR="54864" marT="27432" marB="27432">
                    <a:solidFill>
                      <a:srgbClr val="FFFFFF"/>
                    </a:solidFill>
                  </a:tcPr>
                </a:tc>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Read-only or locked</a:t>
                      </a:r>
                    </a:p>
                  </a:txBody>
                  <a:tcPr marL="54864" marR="54864" marT="27432" marB="27432">
                    <a:solidFill>
                      <a:srgbClr val="FFFFFF"/>
                    </a:solidFill>
                  </a:tcPr>
                </a:tc>
              </a:tr>
            </a:tbl>
          </a:graphicData>
        </a:graphic>
      </p:graphicFrame>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BRD-11 User Access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338</a:t>
            </a:r>
          </a:p>
        </p:txBody>
      </p:sp>
      <p:graphicFrame>
        <p:nvGraphicFramePr>
          <p:cNvPr id="9" name="Table 8"/>
          <p:cNvGraphicFramePr>
            <a:graphicFrameLocks noGrp="1"/>
          </p:cNvGraphicFramePr>
          <p:nvPr/>
        </p:nvGraphicFramePr>
        <p:xfrm>
          <a:off x="548640" y="1325880"/>
          <a:ext cx="11094412" cy="4015721"/>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350518">
                <a:tc>
                  <a:txBody>
                    <a:bodyPr/>
                    <a:lstStyle/>
                    <a:p>
                      <a:r>
                        <a:rPr sz="850" b="0">
                          <a:solidFill>
                            <a:srgbClr val="4B4B4B"/>
                          </a:solidFill>
                          <a:latin typeface="Arial"/>
                        </a:rPr>
                        <a:t>SCR-UA-18</a:t>
                      </a:r>
                    </a:p>
                  </a:txBody>
                  <a:tcPr marL="54864" marR="54864" marT="27432" marB="27432">
                    <a:solidFill>
                      <a:srgbClr val="FFFFFF"/>
                    </a:solidFill>
                  </a:tcPr>
                </a:tc>
                <a:tc>
                  <a:txBody>
                    <a:bodyPr/>
                    <a:lstStyle/>
                    <a:p>
                      <a:r>
                        <a:rPr sz="850" b="0">
                          <a:solidFill>
                            <a:srgbClr val="4B4B4B"/>
                          </a:solidFill>
                          <a:latin typeface="Arial"/>
                        </a:rPr>
                        <a:t>System Parameters (sign-in, password and access settings)</a:t>
                      </a:r>
                    </a:p>
                  </a:txBody>
                  <a:tcPr marL="54864" marR="54864" marT="27432" marB="27432">
                    <a:solidFill>
                      <a:srgbClr val="FFFFFF"/>
                    </a:solidFill>
                  </a:tcPr>
                </a:tc>
                <a:tc>
                  <a:txBody>
                    <a:bodyPr/>
                    <a:lstStyle/>
                    <a:p>
                      <a:r>
                        <a:rPr sz="850" b="0">
                          <a:solidFill>
                            <a:srgbClr val="4B4B4B"/>
                          </a:solidFill>
                          <a:latin typeface="Arial"/>
                        </a:rPr>
                        <a:t>13.4.6</a:t>
                      </a:r>
                    </a:p>
                  </a:txBody>
                  <a:tcPr marL="54864" marR="54864" marT="27432" marB="27432">
                    <a:solidFill>
                      <a:srgbClr val="FFFFFF"/>
                    </a:solidFill>
                  </a:tcPr>
                </a:tc>
                <a:tc>
                  <a:txBody>
                    <a:bodyPr/>
                    <a:lstStyle/>
                    <a:p>
                      <a:r>
                        <a:rPr sz="850" b="0">
                          <a:solidFill>
                            <a:srgbClr val="4B4B4B"/>
                          </a:solidFill>
                          <a:latin typeface="Arial"/>
                        </a:rPr>
                        <a:t>FR-UA-001, FR-UA-002, FR-UA-005, FR-UA-006, FR-UA-052, FR-UA-054</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Pending approval</a:t>
                      </a:r>
                    </a:p>
                  </a:txBody>
                  <a:tcPr marL="54864" marR="54864" marT="27432" marB="27432">
                    <a:solidFill>
                      <a:srgbClr val="FFFFFF"/>
                    </a:solidFill>
                  </a:tcPr>
                </a:tc>
              </a:tr>
              <a:tr h="220979">
                <a:tc>
                  <a:txBody>
                    <a:bodyPr/>
                    <a:lstStyle/>
                    <a:p>
                      <a:r>
                        <a:rPr sz="850" b="0">
                          <a:solidFill>
                            <a:srgbClr val="4B4B4B"/>
                          </a:solidFill>
                          <a:latin typeface="Arial"/>
                        </a:rPr>
                        <a:t>SCR-UA-19</a:t>
                      </a:r>
                    </a:p>
                  </a:txBody>
                  <a:tcPr marL="54864" marR="54864" marT="27432" marB="27432">
                    <a:solidFill>
                      <a:srgbClr val="E5F5FF"/>
                    </a:solidFill>
                  </a:tcPr>
                </a:tc>
                <a:tc>
                  <a:txBody>
                    <a:bodyPr/>
                    <a:lstStyle/>
                    <a:p>
                      <a:r>
                        <a:rPr sz="850" b="0">
                          <a:solidFill>
                            <a:srgbClr val="4B4B4B"/>
                          </a:solidFill>
                          <a:latin typeface="Arial"/>
                        </a:rPr>
                        <a:t>Separation of Duties</a:t>
                      </a:r>
                    </a:p>
                  </a:txBody>
                  <a:tcPr marL="54864" marR="54864" marT="27432" marB="27432">
                    <a:solidFill>
                      <a:srgbClr val="E5F5FF"/>
                    </a:solidFill>
                  </a:tcPr>
                </a:tc>
                <a:tc>
                  <a:txBody>
                    <a:bodyPr/>
                    <a:lstStyle/>
                    <a:p>
                      <a:r>
                        <a:rPr sz="850" b="0">
                          <a:solidFill>
                            <a:srgbClr val="4B4B4B"/>
                          </a:solidFill>
                          <a:latin typeface="Arial"/>
                        </a:rPr>
                        <a:t>13.4.7</a:t>
                      </a:r>
                    </a:p>
                  </a:txBody>
                  <a:tcPr marL="54864" marR="54864" marT="27432" marB="27432">
                    <a:solidFill>
                      <a:srgbClr val="E5F5FF"/>
                    </a:solidFill>
                  </a:tcPr>
                </a:tc>
                <a:tc>
                  <a:txBody>
                    <a:bodyPr/>
                    <a:lstStyle/>
                    <a:p>
                      <a:r>
                        <a:rPr sz="850" b="0">
                          <a:solidFill>
                            <a:srgbClr val="4B4B4B"/>
                          </a:solidFill>
                          <a:latin typeface="Arial"/>
                        </a:rPr>
                        <a:t>FR-UA-053</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Pending approval</a:t>
                      </a:r>
                    </a:p>
                  </a:txBody>
                  <a:tcPr marL="54864" marR="54864" marT="27432" marB="27432">
                    <a:solidFill>
                      <a:srgbClr val="E5F5FF"/>
                    </a:solidFill>
                  </a:tcPr>
                </a:tc>
              </a:tr>
              <a:tr h="220979">
                <a:tc>
                  <a:txBody>
                    <a:bodyPr/>
                    <a:lstStyle/>
                    <a:p>
                      <a:r>
                        <a:rPr sz="850" b="0">
                          <a:solidFill>
                            <a:srgbClr val="4B4B4B"/>
                          </a:solidFill>
                          <a:latin typeface="Arial"/>
                        </a:rPr>
                        <a:t>NAV-UA-01</a:t>
                      </a:r>
                    </a:p>
                  </a:txBody>
                  <a:tcPr marL="54864" marR="54864" marT="27432" marB="27432">
                    <a:solidFill>
                      <a:srgbClr val="FFFFFF"/>
                    </a:solidFill>
                  </a:tcPr>
                </a:tc>
                <a:tc>
                  <a:txBody>
                    <a:bodyPr/>
                    <a:lstStyle/>
                    <a:p>
                      <a:r>
                        <a:rPr sz="850" b="0">
                          <a:solidFill>
                            <a:srgbClr val="4B4B4B"/>
                          </a:solidFill>
                          <a:latin typeface="Arial"/>
                        </a:rPr>
                        <a:t>Landing page and menu: Requestor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NAV-UA-02</a:t>
                      </a:r>
                    </a:p>
                  </a:txBody>
                  <a:tcPr marL="54864" marR="54864" marT="27432" marB="27432">
                    <a:solidFill>
                      <a:srgbClr val="E5F5FF"/>
                    </a:solidFill>
                  </a:tcPr>
                </a:tc>
                <a:tc>
                  <a:txBody>
                    <a:bodyPr/>
                    <a:lstStyle/>
                    <a:p>
                      <a:r>
                        <a:rPr sz="850" b="0">
                          <a:solidFill>
                            <a:srgbClr val="4B4B4B"/>
                          </a:solidFill>
                          <a:latin typeface="Arial"/>
                        </a:rPr>
                        <a:t>Landing page and menu: Approver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NAV-UA-03</a:t>
                      </a:r>
                    </a:p>
                  </a:txBody>
                  <a:tcPr marL="54864" marR="54864" marT="27432" marB="27432">
                    <a:solidFill>
                      <a:srgbClr val="FFFFFF"/>
                    </a:solidFill>
                  </a:tcPr>
                </a:tc>
                <a:tc>
                  <a:txBody>
                    <a:bodyPr/>
                    <a:lstStyle/>
                    <a:p>
                      <a:r>
                        <a:rPr sz="850" b="0">
                          <a:solidFill>
                            <a:srgbClr val="4B4B4B"/>
                          </a:solidFill>
                          <a:latin typeface="Arial"/>
                        </a:rPr>
                        <a:t>Landing page and menu: Second Approver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NAV-UA-04</a:t>
                      </a:r>
                    </a:p>
                  </a:txBody>
                  <a:tcPr marL="54864" marR="54864" marT="27432" marB="27432">
                    <a:solidFill>
                      <a:srgbClr val="E5F5FF"/>
                    </a:solidFill>
                  </a:tcPr>
                </a:tc>
                <a:tc>
                  <a:txBody>
                    <a:bodyPr/>
                    <a:lstStyle/>
                    <a:p>
                      <a:r>
                        <a:rPr sz="850" b="0">
                          <a:solidFill>
                            <a:srgbClr val="4B4B4B"/>
                          </a:solidFill>
                          <a:latin typeface="Arial"/>
                        </a:rPr>
                        <a:t>Landing page and menu: Business Administrator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NAV-UA-05</a:t>
                      </a:r>
                    </a:p>
                  </a:txBody>
                  <a:tcPr marL="54864" marR="54864" marT="27432" marB="27432">
                    <a:solidFill>
                      <a:srgbClr val="FFFFFF"/>
                    </a:solidFill>
                  </a:tcPr>
                </a:tc>
                <a:tc>
                  <a:txBody>
                    <a:bodyPr/>
                    <a:lstStyle/>
                    <a:p>
                      <a:r>
                        <a:rPr sz="850" b="0">
                          <a:solidFill>
                            <a:srgbClr val="4B4B4B"/>
                          </a:solidFill>
                          <a:latin typeface="Arial"/>
                        </a:rPr>
                        <a:t>Landing page and menu: System Administrator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NAV-UA-06</a:t>
                      </a:r>
                    </a:p>
                  </a:txBody>
                  <a:tcPr marL="54864" marR="54864" marT="27432" marB="27432">
                    <a:solidFill>
                      <a:srgbClr val="E5F5FF"/>
                    </a:solidFill>
                  </a:tcPr>
                </a:tc>
                <a:tc>
                  <a:txBody>
                    <a:bodyPr/>
                    <a:lstStyle/>
                    <a:p>
                      <a:r>
                        <a:rPr sz="850" b="0">
                          <a:solidFill>
                            <a:srgbClr val="4B4B4B"/>
                          </a:solidFill>
                          <a:latin typeface="Arial"/>
                        </a:rPr>
                        <a:t>Landing page and menu: Auditor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NAV-UA-07</a:t>
                      </a:r>
                    </a:p>
                  </a:txBody>
                  <a:tcPr marL="54864" marR="54864" marT="27432" marB="27432">
                    <a:solidFill>
                      <a:srgbClr val="FFFFFF"/>
                    </a:solidFill>
                  </a:tcPr>
                </a:tc>
                <a:tc>
                  <a:txBody>
                    <a:bodyPr/>
                    <a:lstStyle/>
                    <a:p>
                      <a:r>
                        <a:rPr sz="850" b="0">
                          <a:solidFill>
                            <a:srgbClr val="4B4B4B"/>
                          </a:solidFill>
                          <a:latin typeface="Arial"/>
                        </a:rPr>
                        <a:t>Landing page and menu: Information Security Officer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350518">
                <a:tc>
                  <a:txBody>
                    <a:bodyPr/>
                    <a:lstStyle/>
                    <a:p>
                      <a:r>
                        <a:rPr sz="850" b="0">
                          <a:solidFill>
                            <a:srgbClr val="4B4B4B"/>
                          </a:solidFill>
                          <a:latin typeface="Arial"/>
                        </a:rPr>
                        <a:t>NAV-UA-08</a:t>
                      </a:r>
                    </a:p>
                  </a:txBody>
                  <a:tcPr marL="54864" marR="54864" marT="27432" marB="27432">
                    <a:solidFill>
                      <a:srgbClr val="E5F5FF"/>
                    </a:solidFill>
                  </a:tcPr>
                </a:tc>
                <a:tc>
                  <a:txBody>
                    <a:bodyPr/>
                    <a:lstStyle/>
                    <a:p>
                      <a:r>
                        <a:rPr sz="850" b="0">
                          <a:solidFill>
                            <a:srgbClr val="4B4B4B"/>
                          </a:solidFill>
                          <a:latin typeface="Arial"/>
                        </a:rPr>
                        <a:t>Landing page and menu: New Business Approver (keeps the access approval right)</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DO-01</a:t>
                      </a:r>
                    </a:p>
                  </a:txBody>
                  <a:tcPr marL="54864" marR="54864" marT="27432" marB="27432">
                    <a:solidFill>
                      <a:srgbClr val="FFFFFF"/>
                    </a:solidFill>
                  </a:tcPr>
                </a:tc>
                <a:tc>
                  <a:txBody>
                    <a:bodyPr/>
                    <a:lstStyle/>
                    <a:p>
                      <a:r>
                        <a:rPr sz="850" b="0">
                          <a:solidFill>
                            <a:srgbClr val="4B4B4B"/>
                          </a:solidFill>
                          <a:latin typeface="Arial"/>
                        </a:rPr>
                        <a:t>User Access Report</a:t>
                      </a:r>
                    </a:p>
                  </a:txBody>
                  <a:tcPr marL="54864" marR="54864" marT="27432" marB="27432">
                    <a:solidFill>
                      <a:srgbClr val="FFFFFF"/>
                    </a:solidFill>
                  </a:tcPr>
                </a:tc>
                <a:tc>
                  <a:txBody>
                    <a:bodyPr/>
                    <a:lstStyle/>
                    <a:p>
                      <a:r>
                        <a:rPr sz="850" b="0">
                          <a:solidFill>
                            <a:srgbClr val="4B4B4B"/>
                          </a:solidFill>
                          <a:latin typeface="Arial"/>
                        </a:rPr>
                        <a:t>17.1</a:t>
                      </a:r>
                    </a:p>
                  </a:txBody>
                  <a:tcPr marL="54864" marR="54864" marT="27432" marB="27432">
                    <a:solidFill>
                      <a:srgbClr val="FFFFFF"/>
                    </a:solidFill>
                  </a:tcPr>
                </a:tc>
                <a:tc>
                  <a:txBody>
                    <a:bodyPr/>
                    <a:lstStyle/>
                    <a:p>
                      <a:r>
                        <a:rPr sz="850" b="0">
                          <a:solidFill>
                            <a:srgbClr val="4B4B4B"/>
                          </a:solidFill>
                          <a:latin typeface="Arial"/>
                        </a:rPr>
                        <a:t>FR-UA-060</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DO-02</a:t>
                      </a:r>
                    </a:p>
                  </a:txBody>
                  <a:tcPr marL="54864" marR="54864" marT="27432" marB="27432">
                    <a:solidFill>
                      <a:srgbClr val="E5F5FF"/>
                    </a:solidFill>
                  </a:tcPr>
                </a:tc>
                <a:tc>
                  <a:txBody>
                    <a:bodyPr/>
                    <a:lstStyle/>
                    <a:p>
                      <a:r>
                        <a:rPr sz="850" b="0">
                          <a:solidFill>
                            <a:srgbClr val="4B4B4B"/>
                          </a:solidFill>
                          <a:latin typeface="Arial"/>
                        </a:rPr>
                        <a:t>User Group Profile Report</a:t>
                      </a:r>
                    </a:p>
                  </a:txBody>
                  <a:tcPr marL="54864" marR="54864" marT="27432" marB="27432">
                    <a:solidFill>
                      <a:srgbClr val="E5F5FF"/>
                    </a:solidFill>
                  </a:tcPr>
                </a:tc>
                <a:tc>
                  <a:txBody>
                    <a:bodyPr/>
                    <a:lstStyle/>
                    <a:p>
                      <a:r>
                        <a:rPr sz="850" b="0">
                          <a:solidFill>
                            <a:srgbClr val="4B4B4B"/>
                          </a:solidFill>
                          <a:latin typeface="Arial"/>
                        </a:rPr>
                        <a:t>17.2</a:t>
                      </a:r>
                    </a:p>
                  </a:txBody>
                  <a:tcPr marL="54864" marR="54864" marT="27432" marB="27432">
                    <a:solidFill>
                      <a:srgbClr val="E5F5FF"/>
                    </a:solidFill>
                  </a:tcPr>
                </a:tc>
                <a:tc>
                  <a:txBody>
                    <a:bodyPr/>
                    <a:lstStyle/>
                    <a:p>
                      <a:r>
                        <a:rPr sz="850" b="0">
                          <a:solidFill>
                            <a:srgbClr val="4B4B4B"/>
                          </a:solidFill>
                          <a:latin typeface="Arial"/>
                        </a:rPr>
                        <a:t>FR-UA-061</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r h="220979">
                <a:tc>
                  <a:txBody>
                    <a:bodyPr/>
                    <a:lstStyle/>
                    <a:p>
                      <a:r>
                        <a:rPr sz="850" b="0">
                          <a:solidFill>
                            <a:srgbClr val="4B4B4B"/>
                          </a:solidFill>
                          <a:latin typeface="Arial"/>
                        </a:rPr>
                        <a:t>DO-03</a:t>
                      </a:r>
                    </a:p>
                  </a:txBody>
                  <a:tcPr marL="54864" marR="54864" marT="27432" marB="27432">
                    <a:solidFill>
                      <a:srgbClr val="FFFFFF"/>
                    </a:solidFill>
                  </a:tcPr>
                </a:tc>
                <a:tc>
                  <a:txBody>
                    <a:bodyPr/>
                    <a:lstStyle/>
                    <a:p>
                      <a:r>
                        <a:rPr sz="850" b="0">
                          <a:solidFill>
                            <a:srgbClr val="4B4B4B"/>
                          </a:solidFill>
                          <a:latin typeface="Arial"/>
                        </a:rPr>
                        <a:t>Group Profile Membership</a:t>
                      </a:r>
                    </a:p>
                  </a:txBody>
                  <a:tcPr marL="54864" marR="54864" marT="27432" marB="27432">
                    <a:solidFill>
                      <a:srgbClr val="FFFFFF"/>
                    </a:solidFill>
                  </a:tcPr>
                </a:tc>
                <a:tc>
                  <a:txBody>
                    <a:bodyPr/>
                    <a:lstStyle/>
                    <a:p>
                      <a:r>
                        <a:rPr sz="850" b="0">
                          <a:solidFill>
                            <a:srgbClr val="4B4B4B"/>
                          </a:solidFill>
                          <a:latin typeface="Arial"/>
                        </a:rPr>
                        <a:t>17.3</a:t>
                      </a:r>
                    </a:p>
                  </a:txBody>
                  <a:tcPr marL="54864" marR="54864" marT="27432" marB="27432">
                    <a:solidFill>
                      <a:srgbClr val="FFFFFF"/>
                    </a:solidFill>
                  </a:tcPr>
                </a:tc>
                <a:tc>
                  <a:txBody>
                    <a:bodyPr/>
                    <a:lstStyle/>
                    <a:p>
                      <a:r>
                        <a:rPr sz="850" b="0">
                          <a:solidFill>
                            <a:srgbClr val="4B4B4B"/>
                          </a:solidFill>
                          <a:latin typeface="Arial"/>
                        </a:rPr>
                        <a:t>FR-UA-062</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DO-04</a:t>
                      </a:r>
                    </a:p>
                  </a:txBody>
                  <a:tcPr marL="54864" marR="54864" marT="27432" marB="27432">
                    <a:solidFill>
                      <a:srgbClr val="E5F5FF"/>
                    </a:solidFill>
                  </a:tcPr>
                </a:tc>
                <a:tc>
                  <a:txBody>
                    <a:bodyPr/>
                    <a:lstStyle/>
                    <a:p>
                      <a:r>
                        <a:rPr sz="850" b="0">
                          <a:solidFill>
                            <a:srgbClr val="4B4B4B"/>
                          </a:solidFill>
                          <a:latin typeface="Arial"/>
                        </a:rPr>
                        <a:t>User Access Audit Log</a:t>
                      </a:r>
                    </a:p>
                  </a:txBody>
                  <a:tcPr marL="54864" marR="54864" marT="27432" marB="27432">
                    <a:solidFill>
                      <a:srgbClr val="E5F5FF"/>
                    </a:solidFill>
                  </a:tcPr>
                </a:tc>
                <a:tc>
                  <a:txBody>
                    <a:bodyPr/>
                    <a:lstStyle/>
                    <a:p>
                      <a:r>
                        <a:rPr sz="850" b="0">
                          <a:solidFill>
                            <a:srgbClr val="4B4B4B"/>
                          </a:solidFill>
                          <a:latin typeface="Arial"/>
                        </a:rPr>
                        <a:t>17.4</a:t>
                      </a:r>
                    </a:p>
                  </a:txBody>
                  <a:tcPr marL="54864" marR="54864" marT="27432" marB="27432">
                    <a:solidFill>
                      <a:srgbClr val="E5F5FF"/>
                    </a:solidFill>
                  </a:tcPr>
                </a:tc>
                <a:tc>
                  <a:txBody>
                    <a:bodyPr/>
                    <a:lstStyle/>
                    <a:p>
                      <a:r>
                        <a:rPr sz="850" b="0">
                          <a:solidFill>
                            <a:srgbClr val="4B4B4B"/>
                          </a:solidFill>
                          <a:latin typeface="Arial"/>
                        </a:rPr>
                        <a:t>FR-UA-063, FR-UA-064</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r h="220979">
                <a:tc>
                  <a:txBody>
                    <a:bodyPr/>
                    <a:lstStyle/>
                    <a:p>
                      <a:r>
                        <a:rPr sz="850" b="0">
                          <a:solidFill>
                            <a:srgbClr val="4B4B4B"/>
                          </a:solidFill>
                          <a:latin typeface="Arial"/>
                        </a:rPr>
                        <a:t>DO-05</a:t>
                      </a:r>
                    </a:p>
                  </a:txBody>
                  <a:tcPr marL="54864" marR="54864" marT="27432" marB="27432">
                    <a:solidFill>
                      <a:srgbClr val="FFFFFF"/>
                    </a:solidFill>
                  </a:tcPr>
                </a:tc>
                <a:tc>
                  <a:txBody>
                    <a:bodyPr/>
                    <a:lstStyle/>
                    <a:p>
                      <a:r>
                        <a:rPr sz="850" b="0">
                          <a:solidFill>
                            <a:srgbClr val="4B4B4B"/>
                          </a:solidFill>
                          <a:latin typeface="Arial"/>
                        </a:rPr>
                        <a:t>Access Requests</a:t>
                      </a:r>
                    </a:p>
                  </a:txBody>
                  <a:tcPr marL="54864" marR="54864" marT="27432" marB="27432">
                    <a:solidFill>
                      <a:srgbClr val="FFFFFF"/>
                    </a:solidFill>
                  </a:tcPr>
                </a:tc>
                <a:tc>
                  <a:txBody>
                    <a:bodyPr/>
                    <a:lstStyle/>
                    <a:p>
                      <a:r>
                        <a:rPr sz="850" b="0">
                          <a:solidFill>
                            <a:srgbClr val="4B4B4B"/>
                          </a:solidFill>
                          <a:latin typeface="Arial"/>
                        </a:rPr>
                        <a:t>17.5</a:t>
                      </a:r>
                    </a:p>
                  </a:txBody>
                  <a:tcPr marL="54864" marR="54864" marT="27432" marB="27432">
                    <a:solidFill>
                      <a:srgbClr val="FFFFFF"/>
                    </a:solidFill>
                  </a:tcPr>
                </a:tc>
                <a:tc>
                  <a:txBody>
                    <a:bodyPr/>
                    <a:lstStyle/>
                    <a:p>
                      <a:r>
                        <a:rPr sz="850" b="0">
                          <a:solidFill>
                            <a:srgbClr val="4B4B4B"/>
                          </a:solidFill>
                          <a:latin typeface="Arial"/>
                        </a:rPr>
                        <a:t>FR-UA-018</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DO-06</a:t>
                      </a:r>
                    </a:p>
                  </a:txBody>
                  <a:tcPr marL="54864" marR="54864" marT="27432" marB="27432">
                    <a:solidFill>
                      <a:srgbClr val="E5F5FF"/>
                    </a:solidFill>
                  </a:tcPr>
                </a:tc>
                <a:tc>
                  <a:txBody>
                    <a:bodyPr/>
                    <a:lstStyle/>
                    <a:p>
                      <a:r>
                        <a:rPr sz="850" b="0">
                          <a:solidFill>
                            <a:srgbClr val="4B4B4B"/>
                          </a:solidFill>
                          <a:latin typeface="Arial"/>
                        </a:rPr>
                        <a:t>User Access Matrix (Excel)</a:t>
                      </a:r>
                    </a:p>
                  </a:txBody>
                  <a:tcPr marL="54864" marR="54864" marT="27432" marB="27432">
                    <a:solidFill>
                      <a:srgbClr val="E5F5FF"/>
                    </a:solidFill>
                  </a:tcPr>
                </a:tc>
                <a:tc>
                  <a:txBody>
                    <a:bodyPr/>
                    <a:lstStyle/>
                    <a:p>
                      <a:r>
                        <a:rPr sz="850" b="0">
                          <a:solidFill>
                            <a:srgbClr val="4B4B4B"/>
                          </a:solidFill>
                          <a:latin typeface="Arial"/>
                        </a:rPr>
                        <a:t>17.6</a:t>
                      </a:r>
                    </a:p>
                  </a:txBody>
                  <a:tcPr marL="54864" marR="54864" marT="27432" marB="27432">
                    <a:solidFill>
                      <a:srgbClr val="E5F5FF"/>
                    </a:solidFill>
                  </a:tcPr>
                </a:tc>
                <a:tc>
                  <a:txBody>
                    <a:bodyPr/>
                    <a:lstStyle/>
                    <a:p>
                      <a:r>
                        <a:rPr sz="850" b="0">
                          <a:solidFill>
                            <a:srgbClr val="4B4B4B"/>
                          </a:solidFill>
                          <a:latin typeface="Arial"/>
                        </a:rPr>
                        <a:t>FR-UA-051</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UX Screen Deck BRD-11 User Access Maintenance</dc:title>
  <dc:subject>BIBS – BDOI Broker System</dc:subject>
  <dc:creator>iorta TechNXT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