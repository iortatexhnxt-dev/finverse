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guides the business units through the BRD-13 Data Migration sign-off pack, release set v2.0. It explains what the pack is, how to read it, the steps up to sign-off and what happens after. It is presented at the kick-off and stays in the pack as file 01.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Stress that the pack shows the screens, fields, rules and messages the business is asked to confirm.</a:t>
            </a:r>
          </a:p>
          <a:p>
            <a:r>
              <a:t>Signing means: this is what we get; the look, feel, fields, rules, messages and navigation are frozen.</a:t>
            </a:r>
          </a:p>
          <a:p>
            <a:r>
              <a:t>Data on the screenshots is seed data of the SIT environment; names and numbers are fictitious.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files are numbered 00 to 05 so they sort in reading order in the BRD folder. 00 Start Here is the short version of this deck; 02 Data Migration Handbook and 03 workbook carry the same rows; 04 and 05 are the test plan traced to the screens.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Nobody needs to read the whole Data Migration Handbook. Each role starts with its chapters and its sheets of the workbook; the trial migrations of Handbook Part A, chapter 10 are the fastest way to see the whole process.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Set issued: Day 0 (Mon 5-Oct-2026).</a:t>
            </a:r>
          </a:p>
          <a:p>
            <a:r>
              <a:t>2. Kick-off and walkthrough of the Migration Console on SIT: 3 sessions, 7 to 9-Oct-2026.</a:t>
            </a:r>
          </a:p>
          <a:p>
            <a:r>
              <a:t>3. Review with the workbook; decisions on the proposed rules: Until Wed 21-Oct-2026 (M1 rules by Fri 16-Oct-2026).</a:t>
            </a:r>
          </a:p>
          <a:p>
            <a:r>
              <a:t>4. Comments consolidated and a Q&amp;A session: 3 working days, Q&amp;A on Mon 26-Oct-2026.</a:t>
            </a:r>
          </a:p>
          <a:p>
            <a:r>
              <a:t>5. One revision cycle (v2.1): v2.1 on Wed 28-Oct-2026; check by the reviewers until Thu 29-Oct-2026.</a:t>
            </a:r>
          </a:p>
          <a:p>
            <a:r>
              <a:t>6. Sign-off meeting and signature: Fri 30-Oct-2026 (M2).</a:t>
            </a:r>
          </a:p>
          <a:p>
            <a:r>
              <a:t>7. Handover to the migration runs: From Mon 2-Nov-2026.</a:t>
            </a:r>
          </a:p>
          <a:p>
            <a:r>
              <a:t>8. Traceability into the trial migrations, SIT and UAT: Trial migrations Apr - Oct 2027; dress rehearsal Nov 2027; cut-over Jan 2028.</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 responsible, A accountable, C consulted, I informed. The durations are indicative; the dates are those of the Start Here guide.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 responsible, A accountable, C consulted, I informed. The durations are indicative; the dates are those of the Start Here guide.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set holds business content only: screens, fields, rules, messages, notifications, documents, walkthroughs and reports. Business users sign the business content; BDOI IT reviews the interfaces, the user access and the Technical Specification, a separate document that holds the technical content; the Program Manager of Business Project Services reviews the traceability and the completeness; the Product Owner approves the whole set; iorta TechNXT prepares it.</a:t>
            </a:r>
          </a:p>
          <a:p>
            <a:r>
              <a:t>The roles are those of the BRD approval sheet (BRD-13 approval pages p.15-16 (draft V0.01, not yet signed)).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set holds business content only: screens, fields, rules, messages, notifications, documents, walkthroughs and reports. Business users sign the business content; BDOI IT reviews the interfaces, the user access and the Technical Specification, a separate document that holds the technical content; the Program Manager of Business Project Services reviews the traceability and the completeness; the Product Owner approves the whole set; iorta TechNXT prepares it.</a:t>
            </a:r>
          </a:p>
          <a:p>
            <a:r>
              <a:t>The roles are those of the BRD approval sheet (BRD-13 approval pages p.15-16 (draft V0.01, not yet signed)).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certificate sheet of the workbook lists the same signatories in the same order: prepared by, input provided by, reviewed by, approved by, as on the BRD approval sheet. A role the set adds to the approval sheet is marked there.</a:t>
            </a:r>
          </a:p>
          <a:p>
            <a:r>
              <a:t>iorta TechNXT project team: Project Manager, Business Analysis, Migration Lead, test lead: Added for this set (author of the Handbook and the Migration Workbook).</a:t>
            </a:r>
          </a:p>
          <a:p>
            <a:r>
              <a:t>Program Manager, Enterprise Services Group - Business Project Services (BPS): Prepared by (p.15).</a:t>
            </a:r>
          </a:p>
          <a:p>
            <a:r>
              <a:t>Data Migration Lead: Added for this set.</a:t>
            </a:r>
          </a:p>
          <a:p>
            <a:r>
              <a:t>Data owners of the objects (department representatives named per object): Added for this set (named per object in the Migration Workbook).</a:t>
            </a:r>
          </a:p>
          <a:p>
            <a:r>
              <a:t>Marketing Business System (MBS): Reviewed by (p.15).</a:t>
            </a:r>
          </a:p>
          <a:p>
            <a:r>
              <a:t>BDOI Information Technology Group (BDOI IT): Added for this set.</a:t>
            </a:r>
          </a:p>
          <a:p>
            <a:r>
              <a:t>Product Owner, Marketing Business System: Approved by (p.15).</a:t>
            </a:r>
          </a:p>
          <a:p>
            <a:r>
              <a:t>Product Owner - Comptrollership - Disbursement: Approved by (p.15).</a:t>
            </a:r>
          </a:p>
          <a:p>
            <a:r>
              <a:t>Product Owner - Comptrollership - FRBS and ACSL: Approved by (p.15).</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certificate sheet of the workbook lists the same signatories in the same order: prepared by, input provided by, reviewed by, approved by, as on the BRD approval sheet. A role the set adds to the approval sheet is marked there.</a:t>
            </a:r>
          </a:p>
          <a:p>
            <a:r>
              <a:t>Operations: Financial Transactions and Processing: Approved by (p.15).</a:t>
            </a:r>
          </a:p>
          <a:p>
            <a:r>
              <a:t>Head - Operations: Approved by (p.15).</a:t>
            </a:r>
          </a:p>
          <a:p>
            <a:r>
              <a:t>Unit Head - Analytics and Risk Management: Approved by (p.15).</a:t>
            </a:r>
          </a:p>
          <a:p>
            <a:r>
              <a:t>Unit Head - Claims, Analytics, Risk Management, Reinsurance and Technical Underwriting: Approved by (p.16).</a:t>
            </a:r>
          </a:p>
          <a:p>
            <a:r>
              <a:t>Unit Head - Combank and Corbank: Approved by (p.16).</a:t>
            </a:r>
          </a:p>
          <a:p>
            <a:r>
              <a:t>Head - Comptrollership: Approved by (p.16).</a:t>
            </a:r>
          </a:p>
          <a:p>
            <a:r>
              <a:t>Head - Retail Marketing: Approved by (p.16).</a:t>
            </a:r>
          </a:p>
          <a:p>
            <a:r>
              <a:t>Head - Corporate and Retail Marketing: Approved by (p.16).</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No. column is the numbered marker on the screenshot of the Data Migration Handbook, or the column number of a load template. The drop-down columns accept only the listed values. The Comments log, Meeting minutes and Version history sheets are kept by the project team; the Sign-off certificate is signed at the end.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object goes through the same steps in every trial migration, the dress rehearsal and the production cut-over. The gates are signed in the Migration Console; a break sends the batch back to validation with a fix at source, a new code map version or a waiver. Gate G7 is the go / no-go of the whole cut-over.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persona sees only the menu entries of its role; the full menu of each persona is in Handbook Part B, chapter 17 and on the Menu by persona sheet of the workbook.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Screenshots of the SIT environment with seed data; every screen of the module is in Handbook Part B, chapter 19.</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approach follows the BRD: a stable Day-1 with clean master data and the open positions carried forward. History is not converted into BIBS transactions.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decisions are proposals that each business owner confirms at gate G1 in the Migration Console. Conditional objects wait for BDOI's decision (proposed rule PR-DM-05).</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BDOI names the owners and stewards by 30 October 2026 (M2). The workbook sheet Data owners has the columns for the names.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run uses fresh masked extracts, so every fix is proven with new data. The production cut-over repeats the rehearsed plan.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maker of a batch cannot sign its reconciliation or acceptance, and one person cannot sign two gates of one batch.</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Until the go / no-go decision the rollback restores the snapshot taken before the production load and legacy reopens. After the point of no return issues are fixed forward in BIBS.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Users work migrated and new records on the same screens. The report Changes to Legacy Invoices shows every change made in BIBS to a legacy invoice.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rules the business units ask about most. Each rule is stated with its FR on the screen where it applies.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contract is part of the signed set. Data Migration loads every object through the module that owns it and hands the open items to Operations, Collections, Cashiering, Commission, Remittance, Accounting and Renewal, which process them after go-live. A later change in any of those BRDs that touches a line of this contract (a new mandatory field of a client, account or invoice, another accounting rule for the legacy items, another renewal lead time) is raised as a change request against this signed set in the Change Management Register, assessed for its effect on the layouts, the code maps, the reconciliation and the cut-over plan, and approved by the owners of both BRDs; the affected pages and layouts of this set are then re-issued and signed as a delta.</a:t>
            </a:r>
          </a:p>
          <a:p>
            <a:r>
              <a:t>IC-01 BRD-1 New Business (Out): Migrated clients (C01) with their identity, contacts, addresses, segment, AO and KYC status; payout accounts (C03); one BIBS client per matched cluster, found by any legacy client number</a:t>
            </a:r>
          </a:p>
          <a:p>
            <a:r>
              <a:t>IC-02 BRD-1 New Business; BRD-2 Operations (Out): In-force policy headers (P01, P01S) as booked accounts of origin Migrated with the legacy package as given; the legacy invoices link to them</a:t>
            </a:r>
          </a:p>
          <a:p>
            <a:r>
              <a:t>IC-03 BRD-2 Operations (Out): Open legacy invoices (F01, F01S, F01C) in the Operations ledger with their components, insurer shares and values at cut-over; endorsements of legacy invoices booked in the legacy context</a:t>
            </a:r>
          </a:p>
          <a:p>
            <a:r>
              <a:t>IC-04 BRD-2 Operations (Cashiering) (Out): Legacy unapplied payments (F02) with the legacy AR, references and disposition in progress; the Unapplied to Income and Legacy PR 2307 Reversal batches</a:t>
            </a:r>
          </a:p>
          <a:p>
            <a:r>
              <a:t>IC-05 BRD-4 Collections (Out): Open collection state (F03) - dispositions, promises to pay, instalment plans and collector assignments of the open legacy invoices, carried as the legacy follow-up of the worklist item; tags "DP PR for reversal"</a:t>
            </a:r>
          </a:p>
          <a:p>
            <a:r>
              <a:t>IC-06 BRD-2 Operations (Commission); BRD-4 (Out): The DP PR Legacy Reversal of legacy invoices paid directly to the insurer</a:t>
            </a:r>
          </a:p>
          <a:p>
            <a:r>
              <a:t>IC-07 BRD-5 Accounting (FRBS, ACSL) (In and Out): In: the chart of accounts, the legacy control accounts and Migration Clearing, and the accounting rules of the legacy components (set up by Comptrollership). Out: the provisional GL opening (G01), the opening entries of the invoices and unapplied payments, the opening-balance adjustments (G03); the legacy context of the GL to sub-ledger reconciliation</a:t>
            </a:r>
          </a:p>
          <a:p>
            <a:r>
              <a:t>IC-08 BRD-6 Renewal (Out): The migrated policy headers expiring from go-live to 31 May 2028 and the renewal advices already sent (P03) for the go-live renewal extraction; the package code map (R06) for the package check at sanitation; the migrated headers for the daily extraction from 1 June 2028</a:t>
            </a:r>
          </a:p>
          <a:p>
            <a:r>
              <a:t>IC-09 BRD-3 Product Maintenance (In): Products, package versions, insurers and commission rates of BIBS, which the code maps target; values created from the migration (CREATE entries) are authorised in their masters</a:t>
            </a:r>
          </a:p>
          <a:p>
            <a:r>
              <a:t>IC-10 BRD-10 Sanction Screening (Out): Migrated clients for one full screening run after the client load (no screening per client during the load)</a:t>
            </a:r>
          </a:p>
          <a:p>
            <a:r>
              <a:t>IC-11 BRD-11 User Access Maintenance (In): The users of the migration roles and of every persona, created through User Access requests; legacy user IDs are only mapped (user code map)</a:t>
            </a:r>
          </a:p>
          <a:p>
            <a:r>
              <a:t>IC-12 BDOI IT (legacy EBIX, QPS, ISYS, CMS) (In): Extracts in the load templates with their control files; the legacy freeze and read-only mode; the document transfer folder; the read-only addresses of the legacy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ways to handle a case: an in-scope clarification (no change to the signed set, answered in the comments log); a change request with mandays in the Change Management Register; a delta sign-off of the affected pages only.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these examples to agree the handling of a case during the review.</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sign-off meeting starts when the exit criteria are met; the set is done when the certificate is signed and the content of the set is frozen.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Handover means the objects are decided, the layouts are frozen and the first full extracts are prepared for 29 January 2027.</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Nothing in a signed set changes without a request in the register.</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steps:</a:t>
            </a:r>
          </a:p>
          <a:p>
            <a:r>
              <a:t>Kick-off and first console walkthrough on Wed 7-Oct-2026</a:t>
            </a:r>
          </a:p>
          <a:p>
            <a:r>
              <a:t>Decisions on the M1 rules by Fri 16-Oct-2026; workbooks returned by Wed 21-Oct-2026</a:t>
            </a:r>
          </a:p>
          <a:p>
            <a:r>
              <a:t>Q&amp;A on Mon 26-Oct-2026; sign-off on Fri 30-Oct-2026 (M2)</a:t>
            </a:r>
          </a:p>
          <a:p>
            <a:r>
              <a:t>First full extracts in the templates by Fri 29-Jan-2027 (M3); Trial migration 1 from 19-Apr-2027</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other BRD sets follow the same pack, guide and steps.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do-insure.png"/>
          <p:cNvPicPr>
            <a:picLocks noChangeAspect="1"/>
          </p:cNvPicPr>
          <p:nvPr/>
        </p:nvPicPr>
        <p:blipFill>
          <a:blip r:embed="rId2"/>
          <a:stretch>
            <a:fillRect/>
          </a:stretch>
        </p:blipFill>
        <p:spPr>
          <a:xfrm>
            <a:off x="548640" y="548640"/>
            <a:ext cx="2926080" cy="596053"/>
          </a:xfrm>
          <a:prstGeom prst="rect">
            <a:avLst/>
          </a:prstGeom>
        </p:spPr>
      </p:pic>
      <p:sp>
        <p:nvSpPr>
          <p:cNvPr id="3" name="TextBox 2"/>
          <p:cNvSpPr txBox="1"/>
          <p:nvPr/>
        </p:nvSpPr>
        <p:spPr>
          <a:xfrm>
            <a:off x="548640" y="2194560"/>
            <a:ext cx="10058400" cy="1280160"/>
          </a:xfrm>
          <a:prstGeom prst="rect">
            <a:avLst/>
          </a:prstGeom>
          <a:noFill/>
        </p:spPr>
        <p:txBody>
          <a:bodyPr wrap="square" anchor="b" lIns="45720" rIns="45720">
            <a:spAutoFit/>
          </a:bodyPr>
          <a:lstStyle/>
          <a:p>
            <a:r>
              <a:rPr sz="4000" b="1" i="0">
                <a:solidFill>
                  <a:srgbClr val="004EA8"/>
                </a:solidFill>
                <a:latin typeface="Arial"/>
              </a:rPr>
              <a:t>Sign-off Pack Guide: BRD-13 Data Migration</a:t>
            </a:r>
          </a:p>
        </p:txBody>
      </p:sp>
      <p:sp>
        <p:nvSpPr>
          <p:cNvPr id="4" name="Rectangle 3"/>
          <p:cNvSpPr/>
          <p:nvPr/>
        </p:nvSpPr>
        <p:spPr>
          <a:xfrm>
            <a:off x="548640" y="3611880"/>
            <a:ext cx="201168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794760"/>
            <a:ext cx="10058400" cy="548640"/>
          </a:xfrm>
          <a:prstGeom prst="rect">
            <a:avLst/>
          </a:prstGeom>
          <a:noFill/>
        </p:spPr>
        <p:txBody>
          <a:bodyPr wrap="square" anchor="t" lIns="45720" rIns="45720">
            <a:spAutoFit/>
          </a:bodyPr>
          <a:lstStyle/>
          <a:p>
            <a:r>
              <a:rPr sz="2000" b="0" i="0">
                <a:solidFill>
                  <a:srgbClr val="2E2E2E"/>
                </a:solidFill>
                <a:latin typeface="Arial"/>
              </a:rPr>
              <a:t>BRD-13 Data Migration business sign-off pack, release set v2.0</a:t>
            </a:r>
          </a:p>
        </p:txBody>
      </p:sp>
      <p:sp>
        <p:nvSpPr>
          <p:cNvPr id="6" name="TextBox 5"/>
          <p:cNvSpPr txBox="1"/>
          <p:nvPr/>
        </p:nvSpPr>
        <p:spPr>
          <a:xfrm>
            <a:off x="548640" y="4343400"/>
            <a:ext cx="10058400" cy="457200"/>
          </a:xfrm>
          <a:prstGeom prst="rect">
            <a:avLst/>
          </a:prstGeom>
          <a:noFill/>
        </p:spPr>
        <p:txBody>
          <a:bodyPr wrap="square" anchor="t" lIns="45720" rIns="45720">
            <a:spAutoFit/>
          </a:bodyPr>
          <a:lstStyle/>
          <a:p>
            <a:r>
              <a:rPr sz="1600" b="0" i="0">
                <a:solidFill>
                  <a:srgbClr val="656565"/>
                </a:solidFill>
                <a:latin typeface="Arial"/>
              </a:rPr>
              <a:t>BIBS – BDOI Broker System</a:t>
            </a:r>
          </a:p>
        </p:txBody>
      </p:sp>
      <p:sp>
        <p:nvSpPr>
          <p:cNvPr id="7" name="TextBox 6"/>
          <p:cNvSpPr txBox="1"/>
          <p:nvPr/>
        </p:nvSpPr>
        <p:spPr>
          <a:xfrm>
            <a:off x="548640" y="5943600"/>
            <a:ext cx="8229600" cy="365760"/>
          </a:xfrm>
          <a:prstGeom prst="rect">
            <a:avLst/>
          </a:prstGeom>
          <a:noFill/>
        </p:spPr>
        <p:txBody>
          <a:bodyPr wrap="square" anchor="t" lIns="45720" rIns="45720">
            <a:spAutoFit/>
          </a:bodyPr>
          <a:lstStyle/>
          <a:p>
            <a:r>
              <a:rPr sz="1100" b="0" i="0">
                <a:solidFill>
                  <a:srgbClr val="656565"/>
                </a:solidFill>
                <a:latin typeface="Arial"/>
              </a:rPr>
              <a:t>BDO Insurance and Reinsurance Brokers, Inc. | Version 2.0 | 5 October 2026 | Confidential</a:t>
            </a:r>
          </a:p>
        </p:txBody>
      </p:sp>
      <p:sp>
        <p:nvSpPr>
          <p:cNvPr id="8" name="TextBox 7"/>
          <p:cNvSpPr txBox="1"/>
          <p:nvPr/>
        </p:nvSpPr>
        <p:spPr>
          <a:xfrm>
            <a:off x="8351215" y="5897880"/>
            <a:ext cx="1828800" cy="365760"/>
          </a:xfrm>
          <a:prstGeom prst="rect">
            <a:avLst/>
          </a:prstGeom>
          <a:noFill/>
        </p:spPr>
        <p:txBody>
          <a:bodyPr wrap="square" anchor="ctr" lIns="45720" rIns="45720">
            <a:spAutoFit/>
          </a:bodyPr>
          <a:lstStyle/>
          <a:p>
            <a:pPr algn="r"/>
            <a:r>
              <a:rPr sz="1000" b="0" i="0">
                <a:solidFill>
                  <a:srgbClr val="656565"/>
                </a:solidFill>
                <a:latin typeface="Arial"/>
              </a:rPr>
              <a:t>Prepared by</a:t>
            </a:r>
          </a:p>
        </p:txBody>
      </p:sp>
      <p:pic>
        <p:nvPicPr>
          <p:cNvPr id="9" name="Picture 8" descr="iorta-technxt.png"/>
          <p:cNvPicPr>
            <a:picLocks noChangeAspect="1"/>
          </p:cNvPicPr>
          <p:nvPr/>
        </p:nvPicPr>
        <p:blipFill>
          <a:blip r:embed="rId3"/>
          <a:stretch>
            <a:fillRect/>
          </a:stretch>
        </p:blipFill>
        <p:spPr>
          <a:xfrm>
            <a:off x="10271455" y="5806440"/>
            <a:ext cx="1371600" cy="404213"/>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Purpose of the pack and what sign-off means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800">
                <a:solidFill>
                  <a:srgbClr val="004EA8"/>
                </a:solidFill>
                <a:latin typeface="Arial"/>
              </a:rPr>
              <a:t>•  </a:t>
            </a:r>
            <a:r>
              <a:rPr sz="1800">
                <a:solidFill>
                  <a:srgbClr val="4B4B4B"/>
                </a:solidFill>
                <a:latin typeface="Arial"/>
              </a:rPr>
              <a:t>The pack shows the proposed Data Migration of BIBS, screen by screen, so each business unit confirms what it will get</a:t>
            </a:r>
          </a:p>
          <a:p>
            <a:pPr lvl="1">
              <a:spcAft>
                <a:spcPts val="600"/>
              </a:spcAft>
            </a:pPr>
            <a:r>
              <a:rPr sz="1600">
                <a:solidFill>
                  <a:srgbClr val="656565"/>
                </a:solidFill>
                <a:latin typeface="Arial"/>
              </a:rPr>
              <a:t>–  </a:t>
            </a:r>
            <a:r>
              <a:rPr sz="1600">
                <a:solidFill>
                  <a:srgbClr val="4B4B4B"/>
                </a:solidFill>
                <a:latin typeface="Arial"/>
              </a:rPr>
              <a:t>Content: 20 screens, 189 fields, 67 business rules, 216 messages</a:t>
            </a:r>
          </a:p>
          <a:p>
            <a:pPr lvl="1">
              <a:spcAft>
                <a:spcPts val="600"/>
              </a:spcAft>
            </a:pPr>
            <a:r>
              <a:rPr sz="1600">
                <a:solidFill>
                  <a:srgbClr val="656565"/>
                </a:solidFill>
                <a:latin typeface="Arial"/>
              </a:rPr>
              <a:t>–  </a:t>
            </a:r>
            <a:r>
              <a:rPr sz="1600">
                <a:solidFill>
                  <a:srgbClr val="4B4B4B"/>
                </a:solidFill>
                <a:latin typeface="Arial"/>
              </a:rPr>
              <a:t>Every screen of the Migration Console with numbered fields, the migration catalogue (objects, load templates, code maps, rules, owners), the cut-over plan and the reconciliation sign-off</a:t>
            </a:r>
          </a:p>
          <a:p>
            <a:pPr>
              <a:spcAft>
                <a:spcPts val="600"/>
              </a:spcAft>
            </a:pPr>
            <a:r>
              <a:rPr sz="1800">
                <a:solidFill>
                  <a:srgbClr val="004EA8"/>
                </a:solidFill>
                <a:latin typeface="Arial"/>
              </a:rPr>
              <a:t>•  </a:t>
            </a:r>
            <a:r>
              <a:rPr sz="1800">
                <a:solidFill>
                  <a:srgbClr val="4B4B4B"/>
                </a:solidFill>
                <a:latin typeface="Arial"/>
              </a:rPr>
              <a:t>Signing freezes the content, the screens and the navigation of the module</a:t>
            </a:r>
          </a:p>
          <a:p>
            <a:pPr lvl="1">
              <a:spcAft>
                <a:spcPts val="600"/>
              </a:spcAft>
            </a:pPr>
            <a:r>
              <a:rPr sz="1600">
                <a:solidFill>
                  <a:srgbClr val="656565"/>
                </a:solidFill>
                <a:latin typeface="Arial"/>
              </a:rPr>
              <a:t>–  </a:t>
            </a:r>
            <a:r>
              <a:rPr sz="1600">
                <a:solidFill>
                  <a:srgbClr val="4B4B4B"/>
                </a:solidFill>
                <a:latin typeface="Arial"/>
              </a:rPr>
              <a:t>After sign-off a change goes through the Change Management Register with its mandays</a:t>
            </a:r>
          </a:p>
          <a:p>
            <a:pPr lvl="1">
              <a:spcAft>
                <a:spcPts val="600"/>
              </a:spcAft>
            </a:pPr>
            <a:r>
              <a:rPr sz="1600">
                <a:solidFill>
                  <a:srgbClr val="656565"/>
                </a:solidFill>
                <a:latin typeface="Arial"/>
              </a:rPr>
              <a:t>–  </a:t>
            </a:r>
            <a:r>
              <a:rPr sz="1600">
                <a:solidFill>
                  <a:srgbClr val="4B4B4B"/>
                </a:solidFill>
                <a:latin typeface="Arial"/>
              </a:rPr>
              <a:t>Configuration values marked default (SLA hours, thresholds, list entries, templates) stay open</a:t>
            </a:r>
          </a:p>
          <a:p>
            <a:pPr>
              <a:spcAft>
                <a:spcPts val="600"/>
              </a:spcAft>
            </a:pPr>
            <a:r>
              <a:rPr sz="1800">
                <a:solidFill>
                  <a:srgbClr val="004EA8"/>
                </a:solidFill>
                <a:latin typeface="Arial"/>
              </a:rPr>
              <a:t>•  </a:t>
            </a:r>
            <a:r>
              <a:rPr sz="1800">
                <a:solidFill>
                  <a:srgbClr val="4B4B4B"/>
                </a:solidFill>
                <a:latin typeface="Arial"/>
              </a:rPr>
              <a:t>The screenshots use fictitious seed data only, in the BDO theme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The pack at a glance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a:t>
            </a:r>
          </a:p>
        </p:txBody>
      </p:sp>
      <p:graphicFrame>
        <p:nvGraphicFramePr>
          <p:cNvPr id="9" name="Table 8"/>
          <p:cNvGraphicFramePr>
            <a:graphicFrameLocks noGrp="1"/>
          </p:cNvGraphicFramePr>
          <p:nvPr/>
        </p:nvGraphicFramePr>
        <p:xfrm>
          <a:off x="548640" y="1371600"/>
          <a:ext cx="11094413" cy="2560320"/>
        </p:xfrm>
        <a:graphic>
          <a:graphicData uri="http://schemas.openxmlformats.org/drawingml/2006/table">
            <a:tbl>
              <a:tblPr firstRow="1" bandRow="1">
                <a:tableStyleId>{5C22544A-7EE6-4342-B048-85BDC9FD1C3A}</a:tableStyleId>
              </a:tblPr>
              <a:tblGrid>
                <a:gridCol w="3025749"/>
                <a:gridCol w="4370527"/>
                <a:gridCol w="2185263"/>
                <a:gridCol w="1512874"/>
              </a:tblGrid>
              <a:tr h="365760">
                <a:tc>
                  <a:txBody>
                    <a:bodyPr/>
                    <a:lstStyle/>
                    <a:p>
                      <a:r>
                        <a:rPr sz="1000" b="1">
                          <a:solidFill>
                            <a:srgbClr val="FFFFFF"/>
                          </a:solidFill>
                          <a:latin typeface="Arial"/>
                        </a:rPr>
                        <a:t>File</a:t>
                      </a:r>
                    </a:p>
                  </a:txBody>
                  <a:tcPr marL="73152" marR="73152" marT="36576" marB="36576">
                    <a:solidFill>
                      <a:srgbClr val="004EA8"/>
                    </a:solidFill>
                  </a:tcPr>
                </a:tc>
                <a:tc>
                  <a:txBody>
                    <a:bodyPr/>
                    <a:lstStyle/>
                    <a:p>
                      <a:r>
                        <a:rPr sz="1000" b="1">
                          <a:solidFill>
                            <a:srgbClr val="FFFFFF"/>
                          </a:solidFill>
                          <a:latin typeface="Arial"/>
                        </a:rPr>
                        <a:t>What it is for</a:t>
                      </a:r>
                    </a:p>
                  </a:txBody>
                  <a:tcPr marL="73152" marR="73152" marT="36576" marB="36576">
                    <a:solidFill>
                      <a:srgbClr val="004EA8"/>
                    </a:solidFill>
                  </a:tcPr>
                </a:tc>
                <a:tc>
                  <a:txBody>
                    <a:bodyPr/>
                    <a:lstStyle/>
                    <a:p>
                      <a:r>
                        <a:rPr sz="1000" b="1">
                          <a:solidFill>
                            <a:srgbClr val="FFFFFF"/>
                          </a:solidFill>
                          <a:latin typeface="Arial"/>
                        </a:rPr>
                        <a:t>Who reads it</a:t>
                      </a:r>
                    </a:p>
                  </a:txBody>
                  <a:tcPr marL="73152" marR="73152" marT="36576" marB="36576">
                    <a:solidFill>
                      <a:srgbClr val="004EA8"/>
                    </a:solidFill>
                  </a:tcPr>
                </a:tc>
                <a:tc>
                  <a:txBody>
                    <a:bodyPr/>
                    <a:lstStyle/>
                    <a:p>
                      <a:r>
                        <a:rPr sz="1000" b="1">
                          <a:solidFill>
                            <a:srgbClr val="FFFFFF"/>
                          </a:solidFill>
                          <a:latin typeface="Arial"/>
                        </a:rPr>
                        <a:t>When</a:t>
                      </a:r>
                    </a:p>
                  </a:txBody>
                  <a:tcPr marL="73152" marR="73152" marT="36576" marB="36576">
                    <a:solidFill>
                      <a:srgbClr val="004EA8"/>
                    </a:solidFill>
                  </a:tcPr>
                </a:tc>
              </a:tr>
              <a:tr h="365760">
                <a:tc>
                  <a:txBody>
                    <a:bodyPr/>
                    <a:lstStyle/>
                    <a:p>
                      <a:r>
                        <a:rPr sz="1000" b="0">
                          <a:solidFill>
                            <a:srgbClr val="4B4B4B"/>
                          </a:solidFill>
                          <a:latin typeface="Arial"/>
                        </a:rPr>
                        <a:t>00_BIBS_StartHere_BRD-13_Data_Migration_v2.0.docx</a:t>
                      </a:r>
                    </a:p>
                  </a:txBody>
                  <a:tcPr marL="73152" marR="73152" marT="36576" marB="36576">
                    <a:solidFill>
                      <a:srgbClr val="FFFFFF"/>
                    </a:solidFill>
                  </a:tcPr>
                </a:tc>
                <a:tc>
                  <a:txBody>
                    <a:bodyPr/>
                    <a:lstStyle/>
                    <a:p>
                      <a:r>
                        <a:rPr sz="1000" b="0">
                          <a:solidFill>
                            <a:srgbClr val="4B4B4B"/>
                          </a:solidFill>
                          <a:latin typeface="Arial"/>
                        </a:rPr>
                        <a:t>Start Here: the map of the set, who reads what, the steps up to sign-off and the dates</a:t>
                      </a:r>
                    </a:p>
                  </a:txBody>
                  <a:tcPr marL="73152" marR="73152" marT="36576" marB="36576">
                    <a:solidFill>
                      <a:srgbClr val="FFFFFF"/>
                    </a:solidFill>
                  </a:tcPr>
                </a:tc>
                <a:tc>
                  <a:txBody>
                    <a:bodyPr/>
                    <a:lstStyle/>
                    <a:p>
                      <a:r>
                        <a:rPr sz="1000" b="0">
                          <a:solidFill>
                            <a:srgbClr val="4B4B4B"/>
                          </a:solidFill>
                          <a:latin typeface="Arial"/>
                        </a:rPr>
                        <a:t>Everyone</a:t>
                      </a:r>
                    </a:p>
                  </a:txBody>
                  <a:tcPr marL="73152" marR="73152" marT="36576" marB="36576">
                    <a:solidFill>
                      <a:srgbClr val="FFFFFF"/>
                    </a:solidFill>
                  </a:tcPr>
                </a:tc>
                <a:tc>
                  <a:txBody>
                    <a:bodyPr/>
                    <a:lstStyle/>
                    <a:p>
                      <a:r>
                        <a:rPr sz="1000" b="0">
                          <a:solidFill>
                            <a:srgbClr val="4B4B4B"/>
                          </a:solidFill>
                          <a:latin typeface="Arial"/>
                        </a:rPr>
                        <a:t>First, on issue</a:t>
                      </a:r>
                    </a:p>
                  </a:txBody>
                  <a:tcPr marL="73152" marR="73152" marT="36576" marB="36576">
                    <a:solidFill>
                      <a:srgbClr val="FFFFFF"/>
                    </a:solidFill>
                  </a:tcPr>
                </a:tc>
              </a:tr>
              <a:tr h="365760">
                <a:tc>
                  <a:txBody>
                    <a:bodyPr/>
                    <a:lstStyle/>
                    <a:p>
                      <a:r>
                        <a:rPr sz="1000" b="0">
                          <a:solidFill>
                            <a:srgbClr val="4B4B4B"/>
                          </a:solidFill>
                          <a:latin typeface="Arial"/>
                        </a:rPr>
                        <a:t>01_BIBS_GuideDeck_BRD-13_Data_Migration_v2.0.pptx</a:t>
                      </a:r>
                    </a:p>
                  </a:txBody>
                  <a:tcPr marL="73152" marR="73152" marT="36576" marB="36576">
                    <a:solidFill>
                      <a:srgbClr val="E5F5FF"/>
                    </a:solidFill>
                  </a:tcPr>
                </a:tc>
                <a:tc>
                  <a:txBody>
                    <a:bodyPr/>
                    <a:lstStyle/>
                    <a:p>
                      <a:r>
                        <a:rPr sz="1000" b="0">
                          <a:solidFill>
                            <a:srgbClr val="4B4B4B"/>
                          </a:solidFill>
                          <a:latin typeface="Arial"/>
                        </a:rPr>
                        <a:t>Guide deck: the migration approach, the objects and decisions, roles and data owners, trial migrations and dress rehearsal, sign-off gates, cut-over and go / no-go, migrated and new data, caveats, entry and exit criteria, handover</a:t>
                      </a:r>
                    </a:p>
                  </a:txBody>
                  <a:tcPr marL="73152" marR="73152" marT="36576" marB="36576">
                    <a:solidFill>
                      <a:srgbClr val="E5F5FF"/>
                    </a:solidFill>
                  </a:tcPr>
                </a:tc>
                <a:tc>
                  <a:txBody>
                    <a:bodyPr/>
                    <a:lstStyle/>
                    <a:p>
                      <a:r>
                        <a:rPr sz="1000" b="0">
                          <a:solidFill>
                            <a:srgbClr val="4B4B4B"/>
                          </a:solidFill>
                          <a:latin typeface="Arial"/>
                        </a:rPr>
                        <a:t>Business owner, data owners, Comptrollership, BDOI IT; presented at the kick-off</a:t>
                      </a:r>
                    </a:p>
                  </a:txBody>
                  <a:tcPr marL="73152" marR="73152" marT="36576" marB="36576">
                    <a:solidFill>
                      <a:srgbClr val="E5F5FF"/>
                    </a:solidFill>
                  </a:tcPr>
                </a:tc>
                <a:tc>
                  <a:txBody>
                    <a:bodyPr/>
                    <a:lstStyle/>
                    <a:p>
                      <a:r>
                        <a:rPr sz="1000" b="0">
                          <a:solidFill>
                            <a:srgbClr val="4B4B4B"/>
                          </a:solidFill>
                          <a:latin typeface="Arial"/>
                        </a:rPr>
                        <a:t>Kick-off session</a:t>
                      </a:r>
                    </a:p>
                  </a:txBody>
                  <a:tcPr marL="73152" marR="73152" marT="36576" marB="36576">
                    <a:solidFill>
                      <a:srgbClr val="E5F5FF"/>
                    </a:solidFill>
                  </a:tcPr>
                </a:tc>
              </a:tr>
              <a:tr h="365760">
                <a:tc>
                  <a:txBody>
                    <a:bodyPr/>
                    <a:lstStyle/>
                    <a:p>
                      <a:r>
                        <a:rPr sz="1000" b="0">
                          <a:solidFill>
                            <a:srgbClr val="4B4B4B"/>
                          </a:solidFill>
                          <a:latin typeface="Arial"/>
                        </a:rPr>
                        <a:t>02_BIBS_Handbook_BRD-13_Data_Migration_v2.0.docx</a:t>
                      </a:r>
                    </a:p>
                  </a:txBody>
                  <a:tcPr marL="73152" marR="73152" marT="36576" marB="36576">
                    <a:solidFill>
                      <a:srgbClr val="FFFFFF"/>
                    </a:solidFill>
                  </a:tcPr>
                </a:tc>
                <a:tc>
                  <a:txBody>
                    <a:bodyPr/>
                    <a:lstStyle/>
                    <a:p>
                      <a:r>
                        <a:rPr sz="1000" b="0">
                          <a:solidFill>
                            <a:srgbClr val="4B4B4B"/>
                          </a:solidFill>
                          <a:latin typeface="Arial"/>
                        </a:rPr>
                        <a:t>Data Migration Handbook: A strategy and approach; B functional specification of the Migration Console with screenshots, fields, actions, rules and messages, the markers of migrated data and the legacy batches; C reconciliation and the sign-off gates per object; D the cut-over runbook, run-off and decommissioning; the proposed rules for confirmation</a:t>
                      </a:r>
                    </a:p>
                  </a:txBody>
                  <a:tcPr marL="73152" marR="73152" marT="36576" marB="36576">
                    <a:solidFill>
                      <a:srgbClr val="FFFFFF"/>
                    </a:solidFill>
                  </a:tcPr>
                </a:tc>
                <a:tc>
                  <a:txBody>
                    <a:bodyPr/>
                    <a:lstStyle/>
                    <a:p>
                      <a:r>
                        <a:rPr sz="1000" b="0">
                          <a:solidFill>
                            <a:srgbClr val="4B4B4B"/>
                          </a:solidFill>
                          <a:latin typeface="Arial"/>
                        </a:rPr>
                        <a:t>Data owners and Comptrollership for their objects and parts; BDOI IT; the Renewal processing team</a:t>
                      </a:r>
                    </a:p>
                  </a:txBody>
                  <a:tcPr marL="73152" marR="73152" marT="36576" marB="36576">
                    <a:solidFill>
                      <a:srgbClr val="FFFFFF"/>
                    </a:solidFill>
                  </a:tcPr>
                </a:tc>
                <a:tc>
                  <a:txBody>
                    <a:bodyPr/>
                    <a:lstStyle/>
                    <a:p>
                      <a:r>
                        <a:rPr sz="1000" b="0">
                          <a:solidFill>
                            <a:srgbClr val="4B4B4B"/>
                          </a:solidFill>
                          <a:latin typeface="Arial"/>
                        </a:rPr>
                        <a:t>During the review, with the console walkthroughs</a:t>
                      </a:r>
                    </a:p>
                  </a:txBody>
                  <a:tcPr marL="73152" marR="73152" marT="36576" marB="36576">
                    <a:solidFill>
                      <a:srgbClr val="FFFFFF"/>
                    </a:solidFill>
                  </a:tcPr>
                </a:tc>
              </a:tr>
              <a:tr h="365760">
                <a:tc>
                  <a:txBody>
                    <a:bodyPr/>
                    <a:lstStyle/>
                    <a:p>
                      <a:r>
                        <a:rPr sz="1000" b="0">
                          <a:solidFill>
                            <a:srgbClr val="4B4B4B"/>
                          </a:solidFill>
                          <a:latin typeface="Arial"/>
                        </a:rPr>
                        <a:t>03_BIBS_Workbook_BRD-13_Data_Migration_v2.0.xlsx</a:t>
                      </a:r>
                    </a:p>
                  </a:txBody>
                  <a:tcPr marL="73152" marR="73152" marT="36576" marB="36576">
                    <a:solidFill>
                      <a:srgbClr val="E5F5FF"/>
                    </a:solidFill>
                  </a:tcPr>
                </a:tc>
                <a:tc>
                  <a:txBody>
                    <a:bodyPr/>
                    <a:lstStyle/>
                    <a:p>
                      <a:r>
                        <a:rPr sz="1000" b="0">
                          <a:solidFill>
                            <a:srgbClr val="4B4B4B"/>
                          </a:solidFill>
                          <a:latin typeface="Arial"/>
                        </a:rPr>
                        <a:t>Migration Workbook: object catalogue and decisions, extract planning, the load templates (one sheet per layout), code maps, validation rules, data owners, cut-over task plan, reconciliation sign-off per object, proposed rules with the BDOI decision, the screens; comments log, meeting minutes, version history, sign-off certificate</a:t>
                      </a:r>
                    </a:p>
                  </a:txBody>
                  <a:tcPr marL="73152" marR="73152" marT="36576" marB="36576">
                    <a:solidFill>
                      <a:srgbClr val="E5F5FF"/>
                    </a:solidFill>
                  </a:tcPr>
                </a:tc>
                <a:tc>
                  <a:txBody>
                    <a:bodyPr/>
                    <a:lstStyle/>
                    <a:p>
                      <a:r>
                        <a:rPr sz="1000" b="0">
                          <a:solidFill>
                            <a:srgbClr val="4B4B4B"/>
                          </a:solidFill>
                          <a:latin typeface="Arial"/>
                        </a:rPr>
                        <a:t>Every reviewer; the signatories sign it</a:t>
                      </a:r>
                    </a:p>
                  </a:txBody>
                  <a:tcPr marL="73152" marR="73152" marT="36576" marB="36576">
                    <a:solidFill>
                      <a:srgbClr val="E5F5FF"/>
                    </a:solidFill>
                  </a:tcPr>
                </a:tc>
                <a:tc>
                  <a:txBody>
                    <a:bodyPr/>
                    <a:lstStyle/>
                    <a:p>
                      <a:r>
                        <a:rPr sz="1000" b="0">
                          <a:solidFill>
                            <a:srgbClr val="4B4B4B"/>
                          </a:solidFill>
                          <a:latin typeface="Arial"/>
                        </a:rPr>
                        <a:t>During the review and at sign-off</a:t>
                      </a:r>
                    </a:p>
                  </a:txBody>
                  <a:tcPr marL="73152" marR="73152" marT="36576" marB="36576">
                    <a:solidFill>
                      <a:srgbClr val="E5F5FF"/>
                    </a:solidFill>
                  </a:tcPr>
                </a:tc>
              </a:tr>
              <a:tr h="365760">
                <a:tc>
                  <a:txBody>
                    <a:bodyPr/>
                    <a:lstStyle/>
                    <a:p>
                      <a:r>
                        <a:rPr sz="1000" b="0">
                          <a:solidFill>
                            <a:srgbClr val="4B4B4B"/>
                          </a:solidFill>
                          <a:latin typeface="Arial"/>
                        </a:rPr>
                        <a:t>04_BIBS_TestPlan_BRD-13_Data_Migration_v2.0.xlsx</a:t>
                      </a:r>
                    </a:p>
                  </a:txBody>
                  <a:tcPr marL="73152" marR="73152" marT="36576" marB="36576">
                    <a:solidFill>
                      <a:srgbClr val="FFFFFF"/>
                    </a:solidFill>
                  </a:tcPr>
                </a:tc>
                <a:tc>
                  <a:txBody>
                    <a:bodyPr/>
                    <a:lstStyle/>
                    <a:p>
                      <a:r>
                        <a:rPr sz="1000" b="0">
                          <a:solidFill>
                            <a:srgbClr val="4B4B4B"/>
                          </a:solidFill>
                          <a:latin typeface="Arial"/>
                        </a:rPr>
                        <a:t>Test plan workbook: the test cases traced to the requirements and to the screens, with the trial migration, reconciliation, rollback, rerun and cut-over rehearsal scenarios</a:t>
                      </a:r>
                    </a:p>
                  </a:txBody>
                  <a:tcPr marL="73152" marR="73152" marT="36576" marB="36576">
                    <a:solidFill>
                      <a:srgbClr val="FFFFFF"/>
                    </a:solidFill>
                  </a:tcPr>
                </a:tc>
                <a:tc>
                  <a:txBody>
                    <a:bodyPr/>
                    <a:lstStyle/>
                    <a:p>
                      <a:r>
                        <a:rPr sz="1000" b="0">
                          <a:solidFill>
                            <a:srgbClr val="4B4B4B"/>
                          </a:solidFill>
                          <a:latin typeface="Arial"/>
                        </a:rPr>
                        <a:t>Data owners who verify the trial migrations; BDOI IT</a:t>
                      </a:r>
                    </a:p>
                  </a:txBody>
                  <a:tcPr marL="73152" marR="73152" marT="36576" marB="36576">
                    <a:solidFill>
                      <a:srgbClr val="FFFFFF"/>
                    </a:solidFill>
                  </a:tcPr>
                </a:tc>
                <a:tc>
                  <a:txBody>
                    <a:bodyPr/>
                    <a:lstStyle/>
                    <a:p>
                      <a:r>
                        <a:rPr sz="1000" b="0">
                          <a:solidFill>
                            <a:srgbClr val="4B4B4B"/>
                          </a:solidFill>
                          <a:latin typeface="Arial"/>
                        </a:rPr>
                        <a:t>After the handbook; used again in the trial migrations</a:t>
                      </a:r>
                    </a:p>
                  </a:txBody>
                  <a:tcPr marL="73152" marR="73152" marT="36576" marB="36576">
                    <a:solidFill>
                      <a:srgbClr val="FFFFFF"/>
                    </a:solidFill>
                  </a:tcPr>
                </a:tc>
              </a:tr>
              <a:tr h="365760">
                <a:tc>
                  <a:txBody>
                    <a:bodyPr/>
                    <a:lstStyle/>
                    <a:p>
                      <a:r>
                        <a:rPr sz="1000" b="0">
                          <a:solidFill>
                            <a:srgbClr val="4B4B4B"/>
                          </a:solidFill>
                          <a:latin typeface="Arial"/>
                        </a:rPr>
                        <a:t>05_BIBS_TestPlan_BRD-13_Data_Migration_Summary_v2.0.docx</a:t>
                      </a:r>
                    </a:p>
                  </a:txBody>
                  <a:tcPr marL="73152" marR="73152" marT="36576" marB="36576">
                    <a:solidFill>
                      <a:srgbClr val="E5F5FF"/>
                    </a:solidFill>
                  </a:tcPr>
                </a:tc>
                <a:tc>
                  <a:txBody>
                    <a:bodyPr/>
                    <a:lstStyle/>
                    <a:p>
                      <a:r>
                        <a:rPr sz="1000" b="0">
                          <a:solidFill>
                            <a:srgbClr val="4B4B4B"/>
                          </a:solidFill>
                          <a:latin typeface="Arial"/>
                        </a:rPr>
                        <a:t>Test plan summary: scope, approach, coverage and the cases by area</a:t>
                      </a:r>
                    </a:p>
                  </a:txBody>
                  <a:tcPr marL="73152" marR="73152" marT="36576" marB="36576">
                    <a:solidFill>
                      <a:srgbClr val="E5F5FF"/>
                    </a:solidFill>
                  </a:tcPr>
                </a:tc>
                <a:tc>
                  <a:txBody>
                    <a:bodyPr/>
                    <a:lstStyle/>
                    <a:p>
                      <a:r>
                        <a:rPr sz="1000" b="0">
                          <a:solidFill>
                            <a:srgbClr val="4B4B4B"/>
                          </a:solidFill>
                          <a:latin typeface="Arial"/>
                        </a:rPr>
                        <a:t>Business owner, BDOI IT</a:t>
                      </a:r>
                    </a:p>
                  </a:txBody>
                  <a:tcPr marL="73152" marR="73152" marT="36576" marB="36576">
                    <a:solidFill>
                      <a:srgbClr val="E5F5FF"/>
                    </a:solidFill>
                  </a:tcPr>
                </a:tc>
                <a:tc>
                  <a:txBody>
                    <a:bodyPr/>
                    <a:lstStyle/>
                    <a:p>
                      <a:r>
                        <a:rPr sz="1000" b="0">
                          <a:solidFill>
                            <a:srgbClr val="4B4B4B"/>
                          </a:solidFill>
                          <a:latin typeface="Arial"/>
                        </a:rPr>
                        <a:t>Before sign-off</a:t>
                      </a:r>
                    </a:p>
                  </a:txBody>
                  <a:tcPr marL="73152" marR="73152" marT="36576" marB="36576">
                    <a:solidFill>
                      <a:srgbClr val="E5F5FF"/>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Where to start: reading order per role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a:t>
            </a:r>
          </a:p>
        </p:txBody>
      </p:sp>
      <p:graphicFrame>
        <p:nvGraphicFramePr>
          <p:cNvPr id="9" name="Table 8"/>
          <p:cNvGraphicFramePr>
            <a:graphicFrameLocks noGrp="1"/>
          </p:cNvGraphicFramePr>
          <p:nvPr/>
        </p:nvGraphicFramePr>
        <p:xfrm>
          <a:off x="548640" y="1371600"/>
          <a:ext cx="11094414" cy="2560320"/>
        </p:xfrm>
        <a:graphic>
          <a:graphicData uri="http://schemas.openxmlformats.org/drawingml/2006/table">
            <a:tbl>
              <a:tblPr firstRow="1" bandRow="1">
                <a:tableStyleId>{5C22544A-7EE6-4342-B048-85BDC9FD1C3A}</a:tableStyleId>
              </a:tblPr>
              <a:tblGrid>
                <a:gridCol w="2383923"/>
                <a:gridCol w="8710491"/>
              </a:tblGrid>
              <a:tr h="365760">
                <a:tc>
                  <a:txBody>
                    <a:bodyPr/>
                    <a:lstStyle/>
                    <a:p>
                      <a:r>
                        <a:rPr sz="1100" b="1">
                          <a:solidFill>
                            <a:srgbClr val="FFFFFF"/>
                          </a:solidFill>
                          <a:latin typeface="Arial"/>
                        </a:rPr>
                        <a:t>Role</a:t>
                      </a:r>
                    </a:p>
                  </a:txBody>
                  <a:tcPr marL="73152" marR="73152" marT="36576" marB="36576">
                    <a:solidFill>
                      <a:srgbClr val="004EA8"/>
                    </a:solidFill>
                  </a:tcPr>
                </a:tc>
                <a:tc>
                  <a:txBody>
                    <a:bodyPr/>
                    <a:lstStyle/>
                    <a:p>
                      <a:r>
                        <a:rPr sz="1100" b="1">
                          <a:solidFill>
                            <a:srgbClr val="FFFFFF"/>
                          </a:solidFill>
                          <a:latin typeface="Arial"/>
                        </a:rPr>
                        <a:t>Read, in this order</a:t>
                      </a:r>
                    </a:p>
                  </a:txBody>
                  <a:tcPr marL="73152" marR="73152" marT="36576" marB="36576">
                    <a:solidFill>
                      <a:srgbClr val="004EA8"/>
                    </a:solidFill>
                  </a:tcPr>
                </a:tc>
              </a:tr>
              <a:tr h="365760">
                <a:tc>
                  <a:txBody>
                    <a:bodyPr/>
                    <a:lstStyle/>
                    <a:p>
                      <a:r>
                        <a:rPr sz="1100" b="0">
                          <a:solidFill>
                            <a:srgbClr val="4B4B4B"/>
                          </a:solidFill>
                          <a:latin typeface="Arial"/>
                        </a:rPr>
                        <a:t>Approver (Product Owner, Marketing Business System) and Program Manager, Business Project Services</a:t>
                      </a:r>
                    </a:p>
                  </a:txBody>
                  <a:tcPr marL="73152" marR="73152" marT="36576" marB="36576">
                    <a:solidFill>
                      <a:srgbClr val="FFFFFF"/>
                    </a:solidFill>
                  </a:tcPr>
                </a:tc>
                <a:tc>
                  <a:txBody>
                    <a:bodyPr/>
                    <a:lstStyle/>
                    <a:p>
                      <a:r>
                        <a:rPr sz="1100" b="0">
                          <a:solidFill>
                            <a:srgbClr val="4B4B4B"/>
                          </a:solidFill>
                          <a:latin typeface="Arial"/>
                        </a:rPr>
                        <a:t>00 Start Here; 01 Guide deck; Handbook Part A (approach, objects and decisions, cycles, cut-over) and the chapter Proposed business rules and clarifications for confirmation; workbook sheets Object catalogue, Proposed rules and Sign-off certificate</a:t>
                      </a:r>
                    </a:p>
                  </a:txBody>
                  <a:tcPr marL="73152" marR="73152" marT="36576" marB="36576">
                    <a:solidFill>
                      <a:srgbClr val="FFFFFF"/>
                    </a:solidFill>
                  </a:tcPr>
                </a:tc>
              </a:tr>
              <a:tr h="365760">
                <a:tc>
                  <a:txBody>
                    <a:bodyPr/>
                    <a:lstStyle/>
                    <a:p>
                      <a:r>
                        <a:rPr sz="1100" b="0">
                          <a:solidFill>
                            <a:srgbClr val="4B4B4B"/>
                          </a:solidFill>
                          <a:latin typeface="Arial"/>
                        </a:rPr>
                        <a:t>Data owners per object: Marketing Business System (R01, R05, R06, C01, C03); Heads of Retail and Corporate Marketing (R03, C01); Operations (R04, R07, P01, F01-F04, F06); Comptrollership (R02, R08, F01, F02, G01, G03); Disbursement (R09, C03); Compliance and Analytics (C04, H01, H02); Renewal processing team (P03)</a:t>
                      </a:r>
                    </a:p>
                  </a:txBody>
                  <a:tcPr marL="73152" marR="73152" marT="36576" marB="36576">
                    <a:solidFill>
                      <a:srgbClr val="E5F5FF"/>
                    </a:solidFill>
                  </a:tcPr>
                </a:tc>
                <a:tc>
                  <a:txBody>
                    <a:bodyPr/>
                    <a:lstStyle/>
                    <a:p>
                      <a:r>
                        <a:rPr sz="1100" b="0">
                          <a:solidFill>
                            <a:srgbClr val="4B4B4B"/>
                          </a:solidFill>
                          <a:latin typeface="Arial"/>
                        </a:rPr>
                        <a:t>Handbook Part A chapter 3 (objects and decisions) and chapter 6 (templates and mapping); the load template sheets of your objects, Code maps and Validation rules; Part C chapters 32 and 34 for the reconciliation and the samples you verify; workbook sheets Object catalogue, Data owners, Extract planning, Reconciliation sign-off</a:t>
                      </a:r>
                    </a:p>
                  </a:txBody>
                  <a:tcPr marL="73152" marR="73152" marT="36576" marB="36576">
                    <a:solidFill>
                      <a:srgbClr val="E5F5FF"/>
                    </a:solidFill>
                  </a:tcPr>
                </a:tc>
              </a:tr>
              <a:tr h="365760">
                <a:tc>
                  <a:txBody>
                    <a:bodyPr/>
                    <a:lstStyle/>
                    <a:p>
                      <a:r>
                        <a:rPr sz="1100" b="0">
                          <a:solidFill>
                            <a:srgbClr val="4B4B4B"/>
                          </a:solidFill>
                          <a:latin typeface="Arial"/>
                        </a:rPr>
                        <a:t>Comptrollership</a:t>
                      </a:r>
                    </a:p>
                  </a:txBody>
                  <a:tcPr marL="73152" marR="73152" marT="36576" marB="36576">
                    <a:solidFill>
                      <a:srgbClr val="FFFFFF"/>
                    </a:solidFill>
                  </a:tcPr>
                </a:tc>
                <a:tc>
                  <a:txBody>
                    <a:bodyPr/>
                    <a:lstStyle/>
                    <a:p>
                      <a:r>
                        <a:rPr sz="1100" b="0">
                          <a:solidFill>
                            <a:srgbClr val="4B4B4B"/>
                          </a:solidFill>
                          <a:latin typeface="Arial"/>
                        </a:rPr>
                        <a:t>Handbook Part A chapter 7 (legacy invoices and sub-ledgers) and chapter 11 (cut-over strategy); Part D chapter 44 (year-end cut-over); Part B screens Reconciliation and Opening-Balance Adjustments; Part C chapter 33 (Migration Clearing and the adjustment reconciliation); the proposed rules PR-DM-01, 02, 06, 10 and 14; workbook sheets G01, G03, G03D, F01C and Reconciliation sign-off</a:t>
                      </a:r>
                    </a:p>
                  </a:txBody>
                  <a:tcPr marL="73152" marR="73152" marT="36576" marB="36576">
                    <a:solidFill>
                      <a:srgbClr val="FFFFFF"/>
                    </a:solidFill>
                  </a:tcPr>
                </a:tc>
              </a:tr>
              <a:tr h="365760">
                <a:tc>
                  <a:txBody>
                    <a:bodyPr/>
                    <a:lstStyle/>
                    <a:p>
                      <a:r>
                        <a:rPr sz="1100" b="0">
                          <a:solidFill>
                            <a:srgbClr val="4B4B4B"/>
                          </a:solidFill>
                          <a:latin typeface="Arial"/>
                        </a:rPr>
                        <a:t>Renewal processing team</a:t>
                      </a:r>
                    </a:p>
                  </a:txBody>
                  <a:tcPr marL="73152" marR="73152" marT="36576" marB="36576">
                    <a:solidFill>
                      <a:srgbClr val="E5F5FF"/>
                    </a:solidFill>
                  </a:tcPr>
                </a:tc>
                <a:tc>
                  <a:txBody>
                    <a:bodyPr/>
                    <a:lstStyle/>
                    <a:p>
                      <a:r>
                        <a:rPr sz="1100" b="0">
                          <a:solidFill>
                            <a:srgbClr val="4B4B4B"/>
                          </a:solidFill>
                          <a:latin typeface="Arial"/>
                        </a:rPr>
                        <a:t>Handbook Part A chapter 8 (renewal-driven transition); Part B Batches (resubmissions of the RA-sent file); Part D tasks of the go-live renewal extraction and the day-1 queue; workbook sheet P03 and the load template workbook of P03 exported by the console</a:t>
                      </a:r>
                    </a:p>
                  </a:txBody>
                  <a:tcPr marL="73152" marR="73152" marT="36576" marB="36576">
                    <a:solidFill>
                      <a:srgbClr val="E5F5FF"/>
                    </a:solidFill>
                  </a:tcPr>
                </a:tc>
              </a:tr>
              <a:tr h="365760">
                <a:tc>
                  <a:txBody>
                    <a:bodyPr/>
                    <a:lstStyle/>
                    <a:p>
                      <a:r>
                        <a:rPr sz="1100" b="0">
                          <a:solidFill>
                            <a:srgbClr val="4B4B4B"/>
                          </a:solidFill>
                          <a:latin typeface="Arial"/>
                        </a:rPr>
                        <a:t>BDOI IT</a:t>
                      </a:r>
                    </a:p>
                  </a:txBody>
                  <a:tcPr marL="73152" marR="73152" marT="36576" marB="36576">
                    <a:solidFill>
                      <a:srgbClr val="FFFFFF"/>
                    </a:solidFill>
                  </a:tcPr>
                </a:tc>
                <a:tc>
                  <a:txBody>
                    <a:bodyPr/>
                    <a:lstStyle/>
                    <a:p>
                      <a:r>
                        <a:rPr sz="1100" b="0">
                          <a:solidFill>
                            <a:srgbClr val="4B4B4B"/>
                          </a:solidFill>
                          <a:latin typeface="Arial"/>
                        </a:rPr>
                        <a:t>Handbook Part A chapter 6 (templates, secure transfer, masking) and chapter 12 (data security); Part B Extracts and Layouts and Rules; Part D (freeze, final extracts, rollback, decommissioning); proposed rules PR-DM-03 and PR-DM-04; workbook sheets File rules, Load templates, Control file, Cut-over tasks</a:t>
                      </a:r>
                    </a:p>
                  </a:txBody>
                  <a:tcPr marL="73152" marR="73152" marT="36576" marB="36576">
                    <a:solidFill>
                      <a:srgbClr val="FFFFFF"/>
                    </a:solidFill>
                  </a:tcPr>
                </a:tc>
              </a:tr>
              <a:tr h="365760">
                <a:tc>
                  <a:txBody>
                    <a:bodyPr/>
                    <a:lstStyle/>
                    <a:p>
                      <a:r>
                        <a:rPr sz="1100" b="0">
                          <a:solidFill>
                            <a:srgbClr val="4B4B4B"/>
                          </a:solidFill>
                          <a:latin typeface="Arial"/>
                        </a:rPr>
                        <a:t>iorta TechNXT project team</a:t>
                      </a:r>
                    </a:p>
                  </a:txBody>
                  <a:tcPr marL="73152" marR="73152" marT="36576" marB="36576">
                    <a:solidFill>
                      <a:srgbClr val="E5F5FF"/>
                    </a:solidFill>
                  </a:tcPr>
                </a:tc>
                <a:tc>
                  <a:txBody>
                    <a:bodyPr/>
                    <a:lstStyle/>
                    <a:p>
                      <a:r>
                        <a:rPr sz="1100" b="0">
                          <a:solidFill>
                            <a:srgbClr val="4B4B4B"/>
                          </a:solidFill>
                          <a:latin typeface="Arial"/>
                        </a:rPr>
                        <a:t>All documents; keeps the comments log, the meeting minutes and the version history of the workbook, answers every comment and keeps the traceability to the trial migrations, SIT and UAT</a:t>
                      </a:r>
                    </a:p>
                  </a:txBody>
                  <a:tcPr marL="73152" marR="73152" marT="36576" marB="36576">
                    <a:solidFill>
                      <a:srgbClr val="E5F5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Approach: from issue to closure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a:t>
            </a:r>
          </a:p>
        </p:txBody>
      </p:sp>
      <p:sp>
        <p:nvSpPr>
          <p:cNvPr id="9" name="Rounded Rectangle 8"/>
          <p:cNvSpPr/>
          <p:nvPr/>
        </p:nvSpPr>
        <p:spPr>
          <a:xfrm>
            <a:off x="548640"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8368"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a:t>
            </a:r>
          </a:p>
        </p:txBody>
      </p:sp>
      <p:sp>
        <p:nvSpPr>
          <p:cNvPr id="11" name="TextBox 10"/>
          <p:cNvSpPr txBox="1"/>
          <p:nvPr/>
        </p:nvSpPr>
        <p:spPr>
          <a:xfrm>
            <a:off x="1115568" y="1490472"/>
            <a:ext cx="1824913" cy="502920"/>
          </a:xfrm>
          <a:prstGeom prst="rect">
            <a:avLst/>
          </a:prstGeom>
          <a:noFill/>
        </p:spPr>
        <p:txBody>
          <a:bodyPr wrap="square" anchor="ctr" lIns="45720" rIns="45720">
            <a:spAutoFit/>
          </a:bodyPr>
          <a:lstStyle/>
          <a:p>
            <a:r>
              <a:rPr sz="1300" b="1" i="0">
                <a:solidFill>
                  <a:srgbClr val="004EA8"/>
                </a:solidFill>
                <a:latin typeface="Arial"/>
              </a:rPr>
              <a:t>Set issued</a:t>
            </a:r>
          </a:p>
        </p:txBody>
      </p:sp>
      <p:sp>
        <p:nvSpPr>
          <p:cNvPr id="12" name="TextBox 11"/>
          <p:cNvSpPr txBox="1"/>
          <p:nvPr/>
        </p:nvSpPr>
        <p:spPr>
          <a:xfrm>
            <a:off x="658368" y="2057400"/>
            <a:ext cx="2245537" cy="822960"/>
          </a:xfrm>
          <a:prstGeom prst="rect">
            <a:avLst/>
          </a:prstGeom>
          <a:noFill/>
        </p:spPr>
        <p:txBody>
          <a:bodyPr wrap="square" anchor="t" lIns="45720" rIns="45720">
            <a:spAutoFit/>
          </a:bodyPr>
          <a:lstStyle/>
          <a:p>
            <a:r>
              <a:rPr sz="1000" b="0" i="0">
                <a:solidFill>
                  <a:srgbClr val="4B4B4B"/>
                </a:solidFill>
                <a:latin typeface="Arial"/>
              </a:rPr>
              <a:t>Release set v2.0 in the BRD-13 folder of Drop 0; invitations to the sessions</a:t>
            </a:r>
          </a:p>
        </p:txBody>
      </p:sp>
      <p:sp>
        <p:nvSpPr>
          <p:cNvPr id="13" name="TextBox 12"/>
          <p:cNvSpPr txBox="1"/>
          <p:nvPr/>
        </p:nvSpPr>
        <p:spPr>
          <a:xfrm>
            <a:off x="658368" y="2971800"/>
            <a:ext cx="2245537" cy="384048"/>
          </a:xfrm>
          <a:prstGeom prst="rect">
            <a:avLst/>
          </a:prstGeom>
          <a:noFill/>
        </p:spPr>
        <p:txBody>
          <a:bodyPr wrap="square" anchor="t" lIns="45720" rIns="45720">
            <a:spAutoFit/>
          </a:bodyPr>
          <a:lstStyle/>
          <a:p>
            <a:r>
              <a:rPr sz="1000" b="1" i="0">
                <a:solidFill>
                  <a:srgbClr val="2E2E2E"/>
                </a:solidFill>
                <a:latin typeface="Arial"/>
              </a:rPr>
              <a:t>Day 0 (Mon 5-Oct-2026)</a:t>
            </a:r>
          </a:p>
        </p:txBody>
      </p:sp>
      <p:sp>
        <p:nvSpPr>
          <p:cNvPr id="14" name="Right Arrow 13"/>
          <p:cNvSpPr/>
          <p:nvPr/>
        </p:nvSpPr>
        <p:spPr>
          <a:xfrm>
            <a:off x="3077641" y="229514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425113"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534841"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2</a:t>
            </a:r>
          </a:p>
        </p:txBody>
      </p:sp>
      <p:sp>
        <p:nvSpPr>
          <p:cNvPr id="17" name="TextBox 16"/>
          <p:cNvSpPr txBox="1"/>
          <p:nvPr/>
        </p:nvSpPr>
        <p:spPr>
          <a:xfrm>
            <a:off x="3992041" y="1490472"/>
            <a:ext cx="1824913" cy="502920"/>
          </a:xfrm>
          <a:prstGeom prst="rect">
            <a:avLst/>
          </a:prstGeom>
          <a:noFill/>
        </p:spPr>
        <p:txBody>
          <a:bodyPr wrap="square" anchor="ctr" lIns="45720" rIns="45720">
            <a:spAutoFit/>
          </a:bodyPr>
          <a:lstStyle/>
          <a:p>
            <a:r>
              <a:rPr sz="1300" b="1" i="0">
                <a:solidFill>
                  <a:srgbClr val="004EA8"/>
                </a:solidFill>
                <a:latin typeface="Arial"/>
              </a:rPr>
              <a:t>Kick-off and walkthrough of the Migration Console on SIT</a:t>
            </a:r>
          </a:p>
        </p:txBody>
      </p:sp>
      <p:sp>
        <p:nvSpPr>
          <p:cNvPr id="18" name="TextBox 17"/>
          <p:cNvSpPr txBox="1"/>
          <p:nvPr/>
        </p:nvSpPr>
        <p:spPr>
          <a:xfrm>
            <a:off x="3534841" y="2057400"/>
            <a:ext cx="2245537" cy="822960"/>
          </a:xfrm>
          <a:prstGeom prst="rect">
            <a:avLst/>
          </a:prstGeom>
          <a:noFill/>
        </p:spPr>
        <p:txBody>
          <a:bodyPr wrap="square" anchor="t" lIns="45720" rIns="45720">
            <a:spAutoFit/>
          </a:bodyPr>
          <a:lstStyle/>
          <a:p>
            <a:r>
              <a:rPr sz="1000" b="0" i="0">
                <a:solidFill>
                  <a:srgbClr val="4B4B4B"/>
                </a:solidFill>
                <a:latin typeface="Arial"/>
              </a:rPr>
              <a:t>Console shown live; first questions logged in the comments log; minutes</a:t>
            </a:r>
          </a:p>
        </p:txBody>
      </p:sp>
      <p:sp>
        <p:nvSpPr>
          <p:cNvPr id="19" name="TextBox 18"/>
          <p:cNvSpPr txBox="1"/>
          <p:nvPr/>
        </p:nvSpPr>
        <p:spPr>
          <a:xfrm>
            <a:off x="3534841" y="2971800"/>
            <a:ext cx="2245537" cy="384048"/>
          </a:xfrm>
          <a:prstGeom prst="rect">
            <a:avLst/>
          </a:prstGeom>
          <a:noFill/>
        </p:spPr>
        <p:txBody>
          <a:bodyPr wrap="square" anchor="t" lIns="45720" rIns="45720">
            <a:spAutoFit/>
          </a:bodyPr>
          <a:lstStyle/>
          <a:p>
            <a:r>
              <a:rPr sz="1000" b="1" i="0">
                <a:solidFill>
                  <a:srgbClr val="2E2E2E"/>
                </a:solidFill>
                <a:latin typeface="Arial"/>
              </a:rPr>
              <a:t>3 sessions, 7 to 9-Oct-2026</a:t>
            </a:r>
          </a:p>
        </p:txBody>
      </p:sp>
      <p:sp>
        <p:nvSpPr>
          <p:cNvPr id="20" name="Right Arrow 19"/>
          <p:cNvSpPr/>
          <p:nvPr/>
        </p:nvSpPr>
        <p:spPr>
          <a:xfrm>
            <a:off x="5954115" y="229514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01587"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11315"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3</a:t>
            </a:r>
          </a:p>
        </p:txBody>
      </p:sp>
      <p:sp>
        <p:nvSpPr>
          <p:cNvPr id="23" name="TextBox 22"/>
          <p:cNvSpPr txBox="1"/>
          <p:nvPr/>
        </p:nvSpPr>
        <p:spPr>
          <a:xfrm>
            <a:off x="6868515" y="1490472"/>
            <a:ext cx="1824913" cy="502920"/>
          </a:xfrm>
          <a:prstGeom prst="rect">
            <a:avLst/>
          </a:prstGeom>
          <a:noFill/>
        </p:spPr>
        <p:txBody>
          <a:bodyPr wrap="square" anchor="ctr" lIns="45720" rIns="45720">
            <a:spAutoFit/>
          </a:bodyPr>
          <a:lstStyle/>
          <a:p>
            <a:r>
              <a:rPr sz="1300" b="1" i="0">
                <a:solidFill>
                  <a:srgbClr val="004EA8"/>
                </a:solidFill>
                <a:latin typeface="Arial"/>
              </a:rPr>
              <a:t>Review with the workbook; decisions on the proposed rules</a:t>
            </a:r>
          </a:p>
        </p:txBody>
      </p:sp>
      <p:sp>
        <p:nvSpPr>
          <p:cNvPr id="24" name="TextBox 23"/>
          <p:cNvSpPr txBox="1"/>
          <p:nvPr/>
        </p:nvSpPr>
        <p:spPr>
          <a:xfrm>
            <a:off x="6411315" y="2057400"/>
            <a:ext cx="2245537" cy="822960"/>
          </a:xfrm>
          <a:prstGeom prst="rect">
            <a:avLst/>
          </a:prstGeom>
          <a:noFill/>
        </p:spPr>
        <p:txBody>
          <a:bodyPr wrap="square" anchor="t" lIns="45720" rIns="45720">
            <a:spAutoFit/>
          </a:bodyPr>
          <a:lstStyle/>
          <a:p>
            <a:r>
              <a:rPr sz="1000" b="0" i="0">
                <a:solidFill>
                  <a:srgbClr val="4B4B4B"/>
                </a:solidFill>
                <a:latin typeface="Arial"/>
              </a:rPr>
              <a:t>Every row marked Accept, Change requested or Comment; decisions on the rules needed by 16-Oct-2026 (M1); comments log entries</a:t>
            </a:r>
          </a:p>
        </p:txBody>
      </p:sp>
      <p:sp>
        <p:nvSpPr>
          <p:cNvPr id="25" name="TextBox 24"/>
          <p:cNvSpPr txBox="1"/>
          <p:nvPr/>
        </p:nvSpPr>
        <p:spPr>
          <a:xfrm>
            <a:off x="6411315" y="2971800"/>
            <a:ext cx="2245537" cy="384048"/>
          </a:xfrm>
          <a:prstGeom prst="rect">
            <a:avLst/>
          </a:prstGeom>
          <a:noFill/>
        </p:spPr>
        <p:txBody>
          <a:bodyPr wrap="square" anchor="t" lIns="45720" rIns="45720">
            <a:spAutoFit/>
          </a:bodyPr>
          <a:lstStyle/>
          <a:p>
            <a:r>
              <a:rPr sz="1000" b="1" i="0">
                <a:solidFill>
                  <a:srgbClr val="2E2E2E"/>
                </a:solidFill>
                <a:latin typeface="Arial"/>
              </a:rPr>
              <a:t>Until Wed 21-Oct-2026 (M1 rules by Fri 16-Oct-2026)</a:t>
            </a:r>
          </a:p>
        </p:txBody>
      </p:sp>
      <p:sp>
        <p:nvSpPr>
          <p:cNvPr id="26" name="Right Arrow 25"/>
          <p:cNvSpPr/>
          <p:nvPr/>
        </p:nvSpPr>
        <p:spPr>
          <a:xfrm>
            <a:off x="8830589" y="229514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178061"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287789"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4</a:t>
            </a:r>
          </a:p>
        </p:txBody>
      </p:sp>
      <p:sp>
        <p:nvSpPr>
          <p:cNvPr id="29" name="TextBox 28"/>
          <p:cNvSpPr txBox="1"/>
          <p:nvPr/>
        </p:nvSpPr>
        <p:spPr>
          <a:xfrm>
            <a:off x="9744989" y="1490472"/>
            <a:ext cx="1824913" cy="502920"/>
          </a:xfrm>
          <a:prstGeom prst="rect">
            <a:avLst/>
          </a:prstGeom>
          <a:noFill/>
        </p:spPr>
        <p:txBody>
          <a:bodyPr wrap="square" anchor="ctr" lIns="45720" rIns="45720">
            <a:spAutoFit/>
          </a:bodyPr>
          <a:lstStyle/>
          <a:p>
            <a:r>
              <a:rPr sz="1300" b="1" i="0">
                <a:solidFill>
                  <a:srgbClr val="004EA8"/>
                </a:solidFill>
                <a:latin typeface="Arial"/>
              </a:rPr>
              <a:t>Comments consolidated and a Q&amp;A session</a:t>
            </a:r>
          </a:p>
        </p:txBody>
      </p:sp>
      <p:sp>
        <p:nvSpPr>
          <p:cNvPr id="30" name="TextBox 29"/>
          <p:cNvSpPr txBox="1"/>
          <p:nvPr/>
        </p:nvSpPr>
        <p:spPr>
          <a:xfrm>
            <a:off x="9287789" y="2057400"/>
            <a:ext cx="2245537" cy="822960"/>
          </a:xfrm>
          <a:prstGeom prst="rect">
            <a:avLst/>
          </a:prstGeom>
          <a:noFill/>
        </p:spPr>
        <p:txBody>
          <a:bodyPr wrap="square" anchor="t" lIns="45720" rIns="45720">
            <a:spAutoFit/>
          </a:bodyPr>
          <a:lstStyle/>
          <a:p>
            <a:r>
              <a:rPr sz="1000" b="0" i="0">
                <a:solidFill>
                  <a:srgbClr val="4B4B4B"/>
                </a:solidFill>
                <a:latin typeface="Arial"/>
              </a:rPr>
              <a:t>One consolidated comments log, each item typed (clarification, correction, change request) and answered; Q&amp;A minutes</a:t>
            </a:r>
          </a:p>
        </p:txBody>
      </p:sp>
      <p:sp>
        <p:nvSpPr>
          <p:cNvPr id="31" name="TextBox 30"/>
          <p:cNvSpPr txBox="1"/>
          <p:nvPr/>
        </p:nvSpPr>
        <p:spPr>
          <a:xfrm>
            <a:off x="9287789" y="2971800"/>
            <a:ext cx="2245537" cy="384048"/>
          </a:xfrm>
          <a:prstGeom prst="rect">
            <a:avLst/>
          </a:prstGeom>
          <a:noFill/>
        </p:spPr>
        <p:txBody>
          <a:bodyPr wrap="square" anchor="t" lIns="45720" rIns="45720">
            <a:spAutoFit/>
          </a:bodyPr>
          <a:lstStyle/>
          <a:p>
            <a:r>
              <a:rPr sz="1000" b="1" i="0">
                <a:solidFill>
                  <a:srgbClr val="2E2E2E"/>
                </a:solidFill>
                <a:latin typeface="Arial"/>
              </a:rPr>
              <a:t>3 working days, Q&amp;A on Mon 26-Oct-2026</a:t>
            </a:r>
          </a:p>
        </p:txBody>
      </p:sp>
      <p:sp>
        <p:nvSpPr>
          <p:cNvPr id="32" name="Rounded Rectangle 31"/>
          <p:cNvSpPr/>
          <p:nvPr/>
        </p:nvSpPr>
        <p:spPr>
          <a:xfrm>
            <a:off x="548640" y="384048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58368" y="395020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5</a:t>
            </a:r>
          </a:p>
        </p:txBody>
      </p:sp>
      <p:sp>
        <p:nvSpPr>
          <p:cNvPr id="34" name="TextBox 33"/>
          <p:cNvSpPr txBox="1"/>
          <p:nvPr/>
        </p:nvSpPr>
        <p:spPr>
          <a:xfrm>
            <a:off x="1115568" y="3913632"/>
            <a:ext cx="1824913" cy="502920"/>
          </a:xfrm>
          <a:prstGeom prst="rect">
            <a:avLst/>
          </a:prstGeom>
          <a:noFill/>
        </p:spPr>
        <p:txBody>
          <a:bodyPr wrap="square" anchor="ctr" lIns="45720" rIns="45720">
            <a:spAutoFit/>
          </a:bodyPr>
          <a:lstStyle/>
          <a:p>
            <a:r>
              <a:rPr sz="1300" b="1" i="0">
                <a:solidFill>
                  <a:srgbClr val="004EA8"/>
                </a:solidFill>
                <a:latin typeface="Arial"/>
              </a:rPr>
              <a:t>One revision cycle (v2.1)</a:t>
            </a:r>
          </a:p>
        </p:txBody>
      </p:sp>
      <p:sp>
        <p:nvSpPr>
          <p:cNvPr id="35" name="TextBox 34"/>
          <p:cNvSpPr txBox="1"/>
          <p:nvPr/>
        </p:nvSpPr>
        <p:spPr>
          <a:xfrm>
            <a:off x="658368" y="4480560"/>
            <a:ext cx="2245537" cy="822960"/>
          </a:xfrm>
          <a:prstGeom prst="rect">
            <a:avLst/>
          </a:prstGeom>
          <a:noFill/>
        </p:spPr>
        <p:txBody>
          <a:bodyPr wrap="square" anchor="t" lIns="45720" rIns="45720">
            <a:spAutoFit/>
          </a:bodyPr>
          <a:lstStyle/>
          <a:p>
            <a:r>
              <a:rPr sz="1000" b="0" i="0">
                <a:solidFill>
                  <a:srgbClr val="4B4B4B"/>
                </a:solidFill>
                <a:latin typeface="Arial"/>
              </a:rPr>
              <a:t>Release set v2.1 with the changed rows marked and the decided rules applied; change requests raised for the rest</a:t>
            </a:r>
          </a:p>
        </p:txBody>
      </p:sp>
      <p:sp>
        <p:nvSpPr>
          <p:cNvPr id="36" name="TextBox 35"/>
          <p:cNvSpPr txBox="1"/>
          <p:nvPr/>
        </p:nvSpPr>
        <p:spPr>
          <a:xfrm>
            <a:off x="658368" y="5394960"/>
            <a:ext cx="2245537" cy="384048"/>
          </a:xfrm>
          <a:prstGeom prst="rect">
            <a:avLst/>
          </a:prstGeom>
          <a:noFill/>
        </p:spPr>
        <p:txBody>
          <a:bodyPr wrap="square" anchor="t" lIns="45720" rIns="45720">
            <a:spAutoFit/>
          </a:bodyPr>
          <a:lstStyle/>
          <a:p>
            <a:r>
              <a:rPr sz="1000" b="1" i="0">
                <a:solidFill>
                  <a:srgbClr val="2E2E2E"/>
                </a:solidFill>
                <a:latin typeface="Arial"/>
              </a:rPr>
              <a:t>v2.1 on Wed 28-Oct-2026; check by the reviewers until Thu 29-Oct-2026</a:t>
            </a:r>
          </a:p>
        </p:txBody>
      </p:sp>
      <p:sp>
        <p:nvSpPr>
          <p:cNvPr id="37" name="Right Arrow 36"/>
          <p:cNvSpPr/>
          <p:nvPr/>
        </p:nvSpPr>
        <p:spPr>
          <a:xfrm>
            <a:off x="3077641" y="471830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3425113" y="384048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3534841" y="395020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6</a:t>
            </a:r>
          </a:p>
        </p:txBody>
      </p:sp>
      <p:sp>
        <p:nvSpPr>
          <p:cNvPr id="40" name="TextBox 39"/>
          <p:cNvSpPr txBox="1"/>
          <p:nvPr/>
        </p:nvSpPr>
        <p:spPr>
          <a:xfrm>
            <a:off x="3992041" y="3913632"/>
            <a:ext cx="1824913" cy="502920"/>
          </a:xfrm>
          <a:prstGeom prst="rect">
            <a:avLst/>
          </a:prstGeom>
          <a:noFill/>
        </p:spPr>
        <p:txBody>
          <a:bodyPr wrap="square" anchor="ctr" lIns="45720" rIns="45720">
            <a:spAutoFit/>
          </a:bodyPr>
          <a:lstStyle/>
          <a:p>
            <a:r>
              <a:rPr sz="1300" b="1" i="0">
                <a:solidFill>
                  <a:srgbClr val="004EA8"/>
                </a:solidFill>
                <a:latin typeface="Arial"/>
              </a:rPr>
              <a:t>Sign-off meeting and signature</a:t>
            </a:r>
          </a:p>
        </p:txBody>
      </p:sp>
      <p:sp>
        <p:nvSpPr>
          <p:cNvPr id="41" name="TextBox 40"/>
          <p:cNvSpPr txBox="1"/>
          <p:nvPr/>
        </p:nvSpPr>
        <p:spPr>
          <a:xfrm>
            <a:off x="3534841" y="4480560"/>
            <a:ext cx="2245537" cy="822960"/>
          </a:xfrm>
          <a:prstGeom prst="rect">
            <a:avLst/>
          </a:prstGeom>
          <a:noFill/>
        </p:spPr>
        <p:txBody>
          <a:bodyPr wrap="square" anchor="t" lIns="45720" rIns="45720">
            <a:spAutoFit/>
          </a:bodyPr>
          <a:lstStyle/>
          <a:p>
            <a:r>
              <a:rPr sz="1000" b="0" i="0">
                <a:solidFill>
                  <a:srgbClr val="4B4B4B"/>
                </a:solidFill>
                <a:latin typeface="Arial"/>
              </a:rPr>
              <a:t>Signed sign-off certificate; minutes; objects decided (G1) and layouts frozen, version 1 (M2)</a:t>
            </a:r>
          </a:p>
        </p:txBody>
      </p:sp>
      <p:sp>
        <p:nvSpPr>
          <p:cNvPr id="42" name="TextBox 41"/>
          <p:cNvSpPr txBox="1"/>
          <p:nvPr/>
        </p:nvSpPr>
        <p:spPr>
          <a:xfrm>
            <a:off x="3534841" y="5394960"/>
            <a:ext cx="2245537" cy="384048"/>
          </a:xfrm>
          <a:prstGeom prst="rect">
            <a:avLst/>
          </a:prstGeom>
          <a:noFill/>
        </p:spPr>
        <p:txBody>
          <a:bodyPr wrap="square" anchor="t" lIns="45720" rIns="45720">
            <a:spAutoFit/>
          </a:bodyPr>
          <a:lstStyle/>
          <a:p>
            <a:r>
              <a:rPr sz="1000" b="1" i="0">
                <a:solidFill>
                  <a:srgbClr val="2E2E2E"/>
                </a:solidFill>
                <a:latin typeface="Arial"/>
              </a:rPr>
              <a:t>Fri 30-Oct-2026 (M2)</a:t>
            </a:r>
          </a:p>
        </p:txBody>
      </p:sp>
      <p:sp>
        <p:nvSpPr>
          <p:cNvPr id="43" name="Right Arrow 42"/>
          <p:cNvSpPr/>
          <p:nvPr/>
        </p:nvSpPr>
        <p:spPr>
          <a:xfrm>
            <a:off x="5954115" y="471830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6301587" y="384048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6411315" y="395020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7</a:t>
            </a:r>
          </a:p>
        </p:txBody>
      </p:sp>
      <p:sp>
        <p:nvSpPr>
          <p:cNvPr id="46" name="TextBox 45"/>
          <p:cNvSpPr txBox="1"/>
          <p:nvPr/>
        </p:nvSpPr>
        <p:spPr>
          <a:xfrm>
            <a:off x="6868515" y="3913632"/>
            <a:ext cx="1824913" cy="502920"/>
          </a:xfrm>
          <a:prstGeom prst="rect">
            <a:avLst/>
          </a:prstGeom>
          <a:noFill/>
        </p:spPr>
        <p:txBody>
          <a:bodyPr wrap="square" anchor="ctr" lIns="45720" rIns="45720">
            <a:spAutoFit/>
          </a:bodyPr>
          <a:lstStyle/>
          <a:p>
            <a:r>
              <a:rPr sz="1300" b="1" i="0">
                <a:solidFill>
                  <a:srgbClr val="004EA8"/>
                </a:solidFill>
                <a:latin typeface="Arial"/>
              </a:rPr>
              <a:t>Handover to the migration runs</a:t>
            </a:r>
          </a:p>
        </p:txBody>
      </p:sp>
      <p:sp>
        <p:nvSpPr>
          <p:cNvPr id="47" name="TextBox 46"/>
          <p:cNvSpPr txBox="1"/>
          <p:nvPr/>
        </p:nvSpPr>
        <p:spPr>
          <a:xfrm>
            <a:off x="6411315" y="4480560"/>
            <a:ext cx="2245537" cy="822960"/>
          </a:xfrm>
          <a:prstGeom prst="rect">
            <a:avLst/>
          </a:prstGeom>
          <a:noFill/>
        </p:spPr>
        <p:txBody>
          <a:bodyPr wrap="square" anchor="t" lIns="45720" rIns="45720">
            <a:spAutoFit/>
          </a:bodyPr>
          <a:lstStyle/>
          <a:p>
            <a:r>
              <a:rPr sz="1000" b="0" i="0">
                <a:solidFill>
                  <a:srgbClr val="4B4B4B"/>
                </a:solidFill>
                <a:latin typeface="Arial"/>
              </a:rPr>
              <a:t>Decisions and owners entered in the Migration Console; first full extracts in the templates by 29-Jan-2027 (M3)</a:t>
            </a:r>
          </a:p>
        </p:txBody>
      </p:sp>
      <p:sp>
        <p:nvSpPr>
          <p:cNvPr id="48" name="TextBox 47"/>
          <p:cNvSpPr txBox="1"/>
          <p:nvPr/>
        </p:nvSpPr>
        <p:spPr>
          <a:xfrm>
            <a:off x="6411315" y="5394960"/>
            <a:ext cx="2245537" cy="384048"/>
          </a:xfrm>
          <a:prstGeom prst="rect">
            <a:avLst/>
          </a:prstGeom>
          <a:noFill/>
        </p:spPr>
        <p:txBody>
          <a:bodyPr wrap="square" anchor="t" lIns="45720" rIns="45720">
            <a:spAutoFit/>
          </a:bodyPr>
          <a:lstStyle/>
          <a:p>
            <a:r>
              <a:rPr sz="1000" b="1" i="0">
                <a:solidFill>
                  <a:srgbClr val="2E2E2E"/>
                </a:solidFill>
                <a:latin typeface="Arial"/>
              </a:rPr>
              <a:t>From Mon 2-Nov-2026</a:t>
            </a:r>
          </a:p>
        </p:txBody>
      </p:sp>
      <p:sp>
        <p:nvSpPr>
          <p:cNvPr id="49" name="Right Arrow 48"/>
          <p:cNvSpPr/>
          <p:nvPr/>
        </p:nvSpPr>
        <p:spPr>
          <a:xfrm>
            <a:off x="8830589" y="471830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9178061" y="384048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9287789" y="395020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8</a:t>
            </a:r>
          </a:p>
        </p:txBody>
      </p:sp>
      <p:sp>
        <p:nvSpPr>
          <p:cNvPr id="52" name="TextBox 51"/>
          <p:cNvSpPr txBox="1"/>
          <p:nvPr/>
        </p:nvSpPr>
        <p:spPr>
          <a:xfrm>
            <a:off x="9744989" y="3913632"/>
            <a:ext cx="1824913" cy="502920"/>
          </a:xfrm>
          <a:prstGeom prst="rect">
            <a:avLst/>
          </a:prstGeom>
          <a:noFill/>
        </p:spPr>
        <p:txBody>
          <a:bodyPr wrap="square" anchor="ctr" lIns="45720" rIns="45720">
            <a:spAutoFit/>
          </a:bodyPr>
          <a:lstStyle/>
          <a:p>
            <a:r>
              <a:rPr sz="1300" b="1" i="0">
                <a:solidFill>
                  <a:srgbClr val="004EA8"/>
                </a:solidFill>
                <a:latin typeface="Arial"/>
              </a:rPr>
              <a:t>Traceability into the trial migrations, SIT and UAT</a:t>
            </a:r>
          </a:p>
        </p:txBody>
      </p:sp>
      <p:sp>
        <p:nvSpPr>
          <p:cNvPr id="53" name="TextBox 52"/>
          <p:cNvSpPr txBox="1"/>
          <p:nvPr/>
        </p:nvSpPr>
        <p:spPr>
          <a:xfrm>
            <a:off x="9287789" y="4480560"/>
            <a:ext cx="2245537" cy="822960"/>
          </a:xfrm>
          <a:prstGeom prst="rect">
            <a:avLst/>
          </a:prstGeom>
          <a:noFill/>
        </p:spPr>
        <p:txBody>
          <a:bodyPr wrap="square" anchor="t" lIns="45720" rIns="45720">
            <a:spAutoFit/>
          </a:bodyPr>
          <a:lstStyle/>
          <a:p>
            <a:r>
              <a:rPr sz="1000" b="0" i="0">
                <a:solidFill>
                  <a:srgbClr val="4B4B4B"/>
                </a:solidFill>
                <a:latin typeface="Arial"/>
              </a:rPr>
              <a:t>Trial migrations 1 to 4 and the dress rehearsal run and signed against the set; results against each row</a:t>
            </a:r>
          </a:p>
        </p:txBody>
      </p:sp>
      <p:sp>
        <p:nvSpPr>
          <p:cNvPr id="54" name="TextBox 53"/>
          <p:cNvSpPr txBox="1"/>
          <p:nvPr/>
        </p:nvSpPr>
        <p:spPr>
          <a:xfrm>
            <a:off x="9287789" y="5394960"/>
            <a:ext cx="2245537" cy="384048"/>
          </a:xfrm>
          <a:prstGeom prst="rect">
            <a:avLst/>
          </a:prstGeom>
          <a:noFill/>
        </p:spPr>
        <p:txBody>
          <a:bodyPr wrap="square" anchor="t" lIns="45720" rIns="45720">
            <a:spAutoFit/>
          </a:bodyPr>
          <a:lstStyle/>
          <a:p>
            <a:r>
              <a:rPr sz="1000" b="1" i="0">
                <a:solidFill>
                  <a:srgbClr val="2E2E2E"/>
                </a:solidFill>
                <a:latin typeface="Arial"/>
              </a:rPr>
              <a:t>Trial migrations Apr - Oct 2027; dress rehearsal Nov 2027; cut-over Jan 2028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Steps in detail (1 of 2): who, inputs, outputs, duration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a:t>
            </a:r>
          </a:p>
        </p:txBody>
      </p:sp>
      <p:graphicFrame>
        <p:nvGraphicFramePr>
          <p:cNvPr id="9" name="Table 8"/>
          <p:cNvGraphicFramePr>
            <a:graphicFrameLocks noGrp="1"/>
          </p:cNvGraphicFramePr>
          <p:nvPr/>
        </p:nvGraphicFramePr>
        <p:xfrm>
          <a:off x="548640" y="1371600"/>
          <a:ext cx="11094412" cy="1828800"/>
        </p:xfrm>
        <a:graphic>
          <a:graphicData uri="http://schemas.openxmlformats.org/drawingml/2006/table">
            <a:tbl>
              <a:tblPr firstRow="1" bandRow="1">
                <a:tableStyleId>{5C22544A-7EE6-4342-B048-85BDC9FD1C3A}</a:tableStyleId>
              </a:tblPr>
              <a:tblGrid>
                <a:gridCol w="1807978"/>
                <a:gridCol w="2794148"/>
                <a:gridCol w="2301063"/>
                <a:gridCol w="2629787"/>
                <a:gridCol w="1561436"/>
              </a:tblGrid>
              <a:tr h="365760">
                <a:tc>
                  <a:txBody>
                    <a:bodyPr/>
                    <a:lstStyle/>
                    <a:p>
                      <a:r>
                        <a:rPr sz="1000" b="1">
                          <a:solidFill>
                            <a:srgbClr val="FFFFFF"/>
                          </a:solidFill>
                          <a:latin typeface="Arial"/>
                        </a:rPr>
                        <a:t>Step</a:t>
                      </a:r>
                    </a:p>
                  </a:txBody>
                  <a:tcPr marL="73152" marR="73152" marT="36576" marB="36576">
                    <a:solidFill>
                      <a:srgbClr val="004EA8"/>
                    </a:solidFill>
                  </a:tcPr>
                </a:tc>
                <a:tc>
                  <a:txBody>
                    <a:bodyPr/>
                    <a:lstStyle/>
                    <a:p>
                      <a:r>
                        <a:rPr sz="1000" b="1">
                          <a:solidFill>
                            <a:srgbClr val="FFFFFF"/>
                          </a:solidFill>
                          <a:latin typeface="Arial"/>
                        </a:rPr>
                        <a:t>Who (R, A, C, I)</a:t>
                      </a:r>
                    </a:p>
                  </a:txBody>
                  <a:tcPr marL="73152" marR="73152" marT="36576" marB="36576">
                    <a:solidFill>
                      <a:srgbClr val="004EA8"/>
                    </a:solidFill>
                  </a:tcPr>
                </a:tc>
                <a:tc>
                  <a:txBody>
                    <a:bodyPr/>
                    <a:lstStyle/>
                    <a:p>
                      <a:r>
                        <a:rPr sz="1000" b="1">
                          <a:solidFill>
                            <a:srgbClr val="FFFFFF"/>
                          </a:solidFill>
                          <a:latin typeface="Arial"/>
                        </a:rPr>
                        <a:t>Inputs</a:t>
                      </a:r>
                    </a:p>
                  </a:txBody>
                  <a:tcPr marL="73152" marR="73152" marT="36576" marB="36576">
                    <a:solidFill>
                      <a:srgbClr val="004EA8"/>
                    </a:solidFill>
                  </a:tcPr>
                </a:tc>
                <a:tc>
                  <a:txBody>
                    <a:bodyPr/>
                    <a:lstStyle/>
                    <a:p>
                      <a:r>
                        <a:rPr sz="1000" b="1">
                          <a:solidFill>
                            <a:srgbClr val="FFFFFF"/>
                          </a:solidFill>
                          <a:latin typeface="Arial"/>
                        </a:rPr>
                        <a:t>Outputs</a:t>
                      </a:r>
                    </a:p>
                  </a:txBody>
                  <a:tcPr marL="73152" marR="73152" marT="36576" marB="36576">
                    <a:solidFill>
                      <a:srgbClr val="004EA8"/>
                    </a:solidFill>
                  </a:tcPr>
                </a:tc>
                <a:tc>
                  <a:txBody>
                    <a:bodyPr/>
                    <a:lstStyle/>
                    <a:p>
                      <a:r>
                        <a:rPr sz="1000" b="1">
                          <a:solidFill>
                            <a:srgbClr val="FFFFFF"/>
                          </a:solidFill>
                          <a:latin typeface="Arial"/>
                        </a:rPr>
                        <a:t>Duration</a:t>
                      </a:r>
                    </a:p>
                  </a:txBody>
                  <a:tcPr marL="73152" marR="73152" marT="36576" marB="36576">
                    <a:solidFill>
                      <a:srgbClr val="004EA8"/>
                    </a:solidFill>
                  </a:tcPr>
                </a:tc>
              </a:tr>
              <a:tr h="365760">
                <a:tc>
                  <a:txBody>
                    <a:bodyPr/>
                    <a:lstStyle/>
                    <a:p>
                      <a:r>
                        <a:rPr sz="1000" b="0">
                          <a:solidFill>
                            <a:srgbClr val="4B4B4B"/>
                          </a:solidFill>
                          <a:latin typeface="Arial"/>
                        </a:rPr>
                        <a:t>1. Set issued</a:t>
                      </a:r>
                    </a:p>
                  </a:txBody>
                  <a:tcPr marL="73152" marR="73152" marT="36576" marB="36576">
                    <a:solidFill>
                      <a:srgbClr val="FFFFFF"/>
                    </a:solidFill>
                  </a:tcPr>
                </a:tc>
                <a:tc>
                  <a:txBody>
                    <a:bodyPr/>
                    <a:lstStyle/>
                    <a:p>
                      <a:r>
                        <a:rPr sz="1000" b="0">
                          <a:solidFill>
                            <a:srgbClr val="4B4B4B"/>
                          </a:solidFill>
                          <a:latin typeface="Arial"/>
                        </a:rPr>
                        <a:t>R: iorta TechNXT Project Manager; A: iorta TechNXT delivery lead; I: all reviewers</a:t>
                      </a:r>
                    </a:p>
                  </a:txBody>
                  <a:tcPr marL="73152" marR="73152" marT="36576" marB="36576">
                    <a:solidFill>
                      <a:srgbClr val="FFFFFF"/>
                    </a:solidFill>
                  </a:tcPr>
                </a:tc>
                <a:tc>
                  <a:txBody>
                    <a:bodyPr/>
                    <a:lstStyle/>
                    <a:p>
                      <a:r>
                        <a:rPr sz="1000" b="0">
                          <a:solidFill>
                            <a:srgbClr val="4B4B4B"/>
                          </a:solidFill>
                          <a:latin typeface="Arial"/>
                        </a:rPr>
                        <a:t>Handbook, Migration Workbook, test plan, guide and deck</a:t>
                      </a:r>
                    </a:p>
                  </a:txBody>
                  <a:tcPr marL="73152" marR="73152" marT="36576" marB="36576">
                    <a:solidFill>
                      <a:srgbClr val="FFFFFF"/>
                    </a:solidFill>
                  </a:tcPr>
                </a:tc>
                <a:tc>
                  <a:txBody>
                    <a:bodyPr/>
                    <a:lstStyle/>
                    <a:p>
                      <a:r>
                        <a:rPr sz="1000" b="0">
                          <a:solidFill>
                            <a:srgbClr val="4B4B4B"/>
                          </a:solidFill>
                          <a:latin typeface="Arial"/>
                        </a:rPr>
                        <a:t>Release set v2.0 in the BRD-13 folder of Drop 0; invitations to the sessions</a:t>
                      </a:r>
                    </a:p>
                  </a:txBody>
                  <a:tcPr marL="73152" marR="73152" marT="36576" marB="36576">
                    <a:solidFill>
                      <a:srgbClr val="FFFFFF"/>
                    </a:solidFill>
                  </a:tcPr>
                </a:tc>
                <a:tc>
                  <a:txBody>
                    <a:bodyPr/>
                    <a:lstStyle/>
                    <a:p>
                      <a:r>
                        <a:rPr sz="1000" b="0">
                          <a:solidFill>
                            <a:srgbClr val="4B4B4B"/>
                          </a:solidFill>
                          <a:latin typeface="Arial"/>
                        </a:rPr>
                        <a:t>Day 0 (Mon 5-Oct-2026)</a:t>
                      </a:r>
                    </a:p>
                  </a:txBody>
                  <a:tcPr marL="73152" marR="73152" marT="36576" marB="36576">
                    <a:solidFill>
                      <a:srgbClr val="FFFFFF"/>
                    </a:solidFill>
                  </a:tcPr>
                </a:tc>
              </a:tr>
              <a:tr h="365760">
                <a:tc>
                  <a:txBody>
                    <a:bodyPr/>
                    <a:lstStyle/>
                    <a:p>
                      <a:r>
                        <a:rPr sz="1000" b="0">
                          <a:solidFill>
                            <a:srgbClr val="4B4B4B"/>
                          </a:solidFill>
                          <a:latin typeface="Arial"/>
                        </a:rPr>
                        <a:t>2. Kick-off and walkthrough of the Migration Console on SIT</a:t>
                      </a:r>
                    </a:p>
                  </a:txBody>
                  <a:tcPr marL="73152" marR="73152" marT="36576" marB="36576">
                    <a:solidFill>
                      <a:srgbClr val="E5F5FF"/>
                    </a:solidFill>
                  </a:tcPr>
                </a:tc>
                <a:tc>
                  <a:txBody>
                    <a:bodyPr/>
                    <a:lstStyle/>
                    <a:p>
                      <a:r>
                        <a:rPr sz="1000" b="0">
                          <a:solidFill>
                            <a:srgbClr val="4B4B4B"/>
                          </a:solidFill>
                          <a:latin typeface="Arial"/>
                        </a:rPr>
                        <a:t>R: iorta TechNXT Business Analysis; A: Program Manager; C: data owners, Comptrollership, BDOI IT, Renewal processing team</a:t>
                      </a:r>
                    </a:p>
                  </a:txBody>
                  <a:tcPr marL="73152" marR="73152" marT="36576" marB="36576">
                    <a:solidFill>
                      <a:srgbClr val="E5F5FF"/>
                    </a:solidFill>
                  </a:tcPr>
                </a:tc>
                <a:tc>
                  <a:txBody>
                    <a:bodyPr/>
                    <a:lstStyle/>
                    <a:p>
                      <a:r>
                        <a:rPr sz="1000" b="0">
                          <a:solidFill>
                            <a:srgbClr val="4B4B4B"/>
                          </a:solidFill>
                          <a:latin typeface="Arial"/>
                        </a:rPr>
                        <a:t>Guide deck; SIT users with seed data; one object from extract to acceptance</a:t>
                      </a:r>
                    </a:p>
                  </a:txBody>
                  <a:tcPr marL="73152" marR="73152" marT="36576" marB="36576">
                    <a:solidFill>
                      <a:srgbClr val="E5F5FF"/>
                    </a:solidFill>
                  </a:tcPr>
                </a:tc>
                <a:tc>
                  <a:txBody>
                    <a:bodyPr/>
                    <a:lstStyle/>
                    <a:p>
                      <a:r>
                        <a:rPr sz="1000" b="0">
                          <a:solidFill>
                            <a:srgbClr val="4B4B4B"/>
                          </a:solidFill>
                          <a:latin typeface="Arial"/>
                        </a:rPr>
                        <a:t>Console shown live; first questions logged in the comments log; minutes</a:t>
                      </a:r>
                    </a:p>
                  </a:txBody>
                  <a:tcPr marL="73152" marR="73152" marT="36576" marB="36576">
                    <a:solidFill>
                      <a:srgbClr val="E5F5FF"/>
                    </a:solidFill>
                  </a:tcPr>
                </a:tc>
                <a:tc>
                  <a:txBody>
                    <a:bodyPr/>
                    <a:lstStyle/>
                    <a:p>
                      <a:r>
                        <a:rPr sz="1000" b="0">
                          <a:solidFill>
                            <a:srgbClr val="4B4B4B"/>
                          </a:solidFill>
                          <a:latin typeface="Arial"/>
                        </a:rPr>
                        <a:t>3 sessions, 7 to 9-Oct-2026</a:t>
                      </a:r>
                    </a:p>
                  </a:txBody>
                  <a:tcPr marL="73152" marR="73152" marT="36576" marB="36576">
                    <a:solidFill>
                      <a:srgbClr val="E5F5FF"/>
                    </a:solidFill>
                  </a:tcPr>
                </a:tc>
              </a:tr>
              <a:tr h="365760">
                <a:tc>
                  <a:txBody>
                    <a:bodyPr/>
                    <a:lstStyle/>
                    <a:p>
                      <a:r>
                        <a:rPr sz="1000" b="0">
                          <a:solidFill>
                            <a:srgbClr val="4B4B4B"/>
                          </a:solidFill>
                          <a:latin typeface="Arial"/>
                        </a:rPr>
                        <a:t>3. Review with the workbook; decisions on the proposed rules</a:t>
                      </a:r>
                    </a:p>
                  </a:txBody>
                  <a:tcPr marL="73152" marR="73152" marT="36576" marB="36576">
                    <a:solidFill>
                      <a:srgbClr val="FFFFFF"/>
                    </a:solidFill>
                  </a:tcPr>
                </a:tc>
                <a:tc>
                  <a:txBody>
                    <a:bodyPr/>
                    <a:lstStyle/>
                    <a:p>
                      <a:r>
                        <a:rPr sz="1000" b="0">
                          <a:solidFill>
                            <a:srgbClr val="4B4B4B"/>
                          </a:solidFill>
                          <a:latin typeface="Arial"/>
                        </a:rPr>
                        <a:t>R: data owners and their stewards, Comptrollership, BDOI IT; A: Program Manager; C: iorta TechNXT (questions)</a:t>
                      </a:r>
                    </a:p>
                  </a:txBody>
                  <a:tcPr marL="73152" marR="73152" marT="36576" marB="36576">
                    <a:solidFill>
                      <a:srgbClr val="FFFFFF"/>
                    </a:solidFill>
                  </a:tcPr>
                </a:tc>
                <a:tc>
                  <a:txBody>
                    <a:bodyPr/>
                    <a:lstStyle/>
                    <a:p>
                      <a:r>
                        <a:rPr sz="1000" b="0">
                          <a:solidFill>
                            <a:srgbClr val="4B4B4B"/>
                          </a:solidFill>
                          <a:latin typeface="Arial"/>
                        </a:rPr>
                        <a:t>Handbook parts of each role; workbook sheets with the BU review columns; the proposed rules</a:t>
                      </a:r>
                    </a:p>
                  </a:txBody>
                  <a:tcPr marL="73152" marR="73152" marT="36576" marB="36576">
                    <a:solidFill>
                      <a:srgbClr val="FFFFFF"/>
                    </a:solidFill>
                  </a:tcPr>
                </a:tc>
                <a:tc>
                  <a:txBody>
                    <a:bodyPr/>
                    <a:lstStyle/>
                    <a:p>
                      <a:r>
                        <a:rPr sz="1000" b="0">
                          <a:solidFill>
                            <a:srgbClr val="4B4B4B"/>
                          </a:solidFill>
                          <a:latin typeface="Arial"/>
                        </a:rPr>
                        <a:t>Every row marked Accept, Change requested or Comment; decisions on the rules needed by 16-Oct-2026 (M1); comments log entries</a:t>
                      </a:r>
                    </a:p>
                  </a:txBody>
                  <a:tcPr marL="73152" marR="73152" marT="36576" marB="36576">
                    <a:solidFill>
                      <a:srgbClr val="FFFFFF"/>
                    </a:solidFill>
                  </a:tcPr>
                </a:tc>
                <a:tc>
                  <a:txBody>
                    <a:bodyPr/>
                    <a:lstStyle/>
                    <a:p>
                      <a:r>
                        <a:rPr sz="1000" b="0">
                          <a:solidFill>
                            <a:srgbClr val="4B4B4B"/>
                          </a:solidFill>
                          <a:latin typeface="Arial"/>
                        </a:rPr>
                        <a:t>Until Wed 21-Oct-2026 (M1 rules by Fri 16-Oct-2026)</a:t>
                      </a:r>
                    </a:p>
                  </a:txBody>
                  <a:tcPr marL="73152" marR="73152" marT="36576" marB="36576">
                    <a:solidFill>
                      <a:srgbClr val="FFFFFF"/>
                    </a:solidFill>
                  </a:tcPr>
                </a:tc>
              </a:tr>
              <a:tr h="365760">
                <a:tc>
                  <a:txBody>
                    <a:bodyPr/>
                    <a:lstStyle/>
                    <a:p>
                      <a:r>
                        <a:rPr sz="1000" b="0">
                          <a:solidFill>
                            <a:srgbClr val="4B4B4B"/>
                          </a:solidFill>
                          <a:latin typeface="Arial"/>
                        </a:rPr>
                        <a:t>4. Comments consolidated and a Q&amp;A session</a:t>
                      </a:r>
                    </a:p>
                  </a:txBody>
                  <a:tcPr marL="73152" marR="73152" marT="36576" marB="36576">
                    <a:solidFill>
                      <a:srgbClr val="E5F5FF"/>
                    </a:solidFill>
                  </a:tcPr>
                </a:tc>
                <a:tc>
                  <a:txBody>
                    <a:bodyPr/>
                    <a:lstStyle/>
                    <a:p>
                      <a:r>
                        <a:rPr sz="1000" b="0">
                          <a:solidFill>
                            <a:srgbClr val="4B4B4B"/>
                          </a:solidFill>
                          <a:latin typeface="Arial"/>
                        </a:rPr>
                        <a:t>R: iorta TechNXT Project Manager and Business Analysis; A: Program Manager; C: reviewers</a:t>
                      </a:r>
                    </a:p>
                  </a:txBody>
                  <a:tcPr marL="73152" marR="73152" marT="36576" marB="36576">
                    <a:solidFill>
                      <a:srgbClr val="E5F5FF"/>
                    </a:solidFill>
                  </a:tcPr>
                </a:tc>
                <a:tc>
                  <a:txBody>
                    <a:bodyPr/>
                    <a:lstStyle/>
                    <a:p>
                      <a:r>
                        <a:rPr sz="1000" b="0">
                          <a:solidFill>
                            <a:srgbClr val="4B4B4B"/>
                          </a:solidFill>
                          <a:latin typeface="Arial"/>
                        </a:rPr>
                        <a:t>Returned workbooks</a:t>
                      </a:r>
                    </a:p>
                  </a:txBody>
                  <a:tcPr marL="73152" marR="73152" marT="36576" marB="36576">
                    <a:solidFill>
                      <a:srgbClr val="E5F5FF"/>
                    </a:solidFill>
                  </a:tcPr>
                </a:tc>
                <a:tc>
                  <a:txBody>
                    <a:bodyPr/>
                    <a:lstStyle/>
                    <a:p>
                      <a:r>
                        <a:rPr sz="1000" b="0">
                          <a:solidFill>
                            <a:srgbClr val="4B4B4B"/>
                          </a:solidFill>
                          <a:latin typeface="Arial"/>
                        </a:rPr>
                        <a:t>One consolidated comments log, each item typed (clarification, correction, change request) and answered; Q&amp;A minutes</a:t>
                      </a:r>
                    </a:p>
                  </a:txBody>
                  <a:tcPr marL="73152" marR="73152" marT="36576" marB="36576">
                    <a:solidFill>
                      <a:srgbClr val="E5F5FF"/>
                    </a:solidFill>
                  </a:tcPr>
                </a:tc>
                <a:tc>
                  <a:txBody>
                    <a:bodyPr/>
                    <a:lstStyle/>
                    <a:p>
                      <a:r>
                        <a:rPr sz="1000" b="0">
                          <a:solidFill>
                            <a:srgbClr val="4B4B4B"/>
                          </a:solidFill>
                          <a:latin typeface="Arial"/>
                        </a:rPr>
                        <a:t>3 working days, Q&amp;A on Mon 26-Oct-2026</a:t>
                      </a:r>
                    </a:p>
                  </a:txBody>
                  <a:tcPr marL="73152" marR="73152" marT="36576" marB="36576">
                    <a:solidFill>
                      <a:srgbClr val="E5F5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Steps in detail (2 of 2): who, inputs, outputs, duration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a:t>
            </a:r>
          </a:p>
        </p:txBody>
      </p:sp>
      <p:graphicFrame>
        <p:nvGraphicFramePr>
          <p:cNvPr id="9" name="Table 8"/>
          <p:cNvGraphicFramePr>
            <a:graphicFrameLocks noGrp="1"/>
          </p:cNvGraphicFramePr>
          <p:nvPr/>
        </p:nvGraphicFramePr>
        <p:xfrm>
          <a:off x="548640" y="1371600"/>
          <a:ext cx="11094412" cy="1828800"/>
        </p:xfrm>
        <a:graphic>
          <a:graphicData uri="http://schemas.openxmlformats.org/drawingml/2006/table">
            <a:tbl>
              <a:tblPr firstRow="1" bandRow="1">
                <a:tableStyleId>{5C22544A-7EE6-4342-B048-85BDC9FD1C3A}</a:tableStyleId>
              </a:tblPr>
              <a:tblGrid>
                <a:gridCol w="1807978"/>
                <a:gridCol w="2794148"/>
                <a:gridCol w="2301063"/>
                <a:gridCol w="2629787"/>
                <a:gridCol w="1561436"/>
              </a:tblGrid>
              <a:tr h="365760">
                <a:tc>
                  <a:txBody>
                    <a:bodyPr/>
                    <a:lstStyle/>
                    <a:p>
                      <a:r>
                        <a:rPr sz="1000" b="1">
                          <a:solidFill>
                            <a:srgbClr val="FFFFFF"/>
                          </a:solidFill>
                          <a:latin typeface="Arial"/>
                        </a:rPr>
                        <a:t>Step</a:t>
                      </a:r>
                    </a:p>
                  </a:txBody>
                  <a:tcPr marL="73152" marR="73152" marT="36576" marB="36576">
                    <a:solidFill>
                      <a:srgbClr val="004EA8"/>
                    </a:solidFill>
                  </a:tcPr>
                </a:tc>
                <a:tc>
                  <a:txBody>
                    <a:bodyPr/>
                    <a:lstStyle/>
                    <a:p>
                      <a:r>
                        <a:rPr sz="1000" b="1">
                          <a:solidFill>
                            <a:srgbClr val="FFFFFF"/>
                          </a:solidFill>
                          <a:latin typeface="Arial"/>
                        </a:rPr>
                        <a:t>Who (R, A, C, I)</a:t>
                      </a:r>
                    </a:p>
                  </a:txBody>
                  <a:tcPr marL="73152" marR="73152" marT="36576" marB="36576">
                    <a:solidFill>
                      <a:srgbClr val="004EA8"/>
                    </a:solidFill>
                  </a:tcPr>
                </a:tc>
                <a:tc>
                  <a:txBody>
                    <a:bodyPr/>
                    <a:lstStyle/>
                    <a:p>
                      <a:r>
                        <a:rPr sz="1000" b="1">
                          <a:solidFill>
                            <a:srgbClr val="FFFFFF"/>
                          </a:solidFill>
                          <a:latin typeface="Arial"/>
                        </a:rPr>
                        <a:t>Inputs</a:t>
                      </a:r>
                    </a:p>
                  </a:txBody>
                  <a:tcPr marL="73152" marR="73152" marT="36576" marB="36576">
                    <a:solidFill>
                      <a:srgbClr val="004EA8"/>
                    </a:solidFill>
                  </a:tcPr>
                </a:tc>
                <a:tc>
                  <a:txBody>
                    <a:bodyPr/>
                    <a:lstStyle/>
                    <a:p>
                      <a:r>
                        <a:rPr sz="1000" b="1">
                          <a:solidFill>
                            <a:srgbClr val="FFFFFF"/>
                          </a:solidFill>
                          <a:latin typeface="Arial"/>
                        </a:rPr>
                        <a:t>Outputs</a:t>
                      </a:r>
                    </a:p>
                  </a:txBody>
                  <a:tcPr marL="73152" marR="73152" marT="36576" marB="36576">
                    <a:solidFill>
                      <a:srgbClr val="004EA8"/>
                    </a:solidFill>
                  </a:tcPr>
                </a:tc>
                <a:tc>
                  <a:txBody>
                    <a:bodyPr/>
                    <a:lstStyle/>
                    <a:p>
                      <a:r>
                        <a:rPr sz="1000" b="1">
                          <a:solidFill>
                            <a:srgbClr val="FFFFFF"/>
                          </a:solidFill>
                          <a:latin typeface="Arial"/>
                        </a:rPr>
                        <a:t>Duration</a:t>
                      </a:r>
                    </a:p>
                  </a:txBody>
                  <a:tcPr marL="73152" marR="73152" marT="36576" marB="36576">
                    <a:solidFill>
                      <a:srgbClr val="004EA8"/>
                    </a:solidFill>
                  </a:tcPr>
                </a:tc>
              </a:tr>
              <a:tr h="365760">
                <a:tc>
                  <a:txBody>
                    <a:bodyPr/>
                    <a:lstStyle/>
                    <a:p>
                      <a:r>
                        <a:rPr sz="1000" b="0">
                          <a:solidFill>
                            <a:srgbClr val="4B4B4B"/>
                          </a:solidFill>
                          <a:latin typeface="Arial"/>
                        </a:rPr>
                        <a:t>5. One revision cycle (v2.1)</a:t>
                      </a:r>
                    </a:p>
                  </a:txBody>
                  <a:tcPr marL="73152" marR="73152" marT="36576" marB="36576">
                    <a:solidFill>
                      <a:srgbClr val="FFFFFF"/>
                    </a:solidFill>
                  </a:tcPr>
                </a:tc>
                <a:tc>
                  <a:txBody>
                    <a:bodyPr/>
                    <a:lstStyle/>
                    <a:p>
                      <a:r>
                        <a:rPr sz="1000" b="0">
                          <a:solidFill>
                            <a:srgbClr val="4B4B4B"/>
                          </a:solidFill>
                          <a:latin typeface="Arial"/>
                        </a:rPr>
                        <a:t>R: iorta TechNXT Business Analysis; A: iorta TechNXT delivery lead; C: reviewers who raised the items</a:t>
                      </a:r>
                    </a:p>
                  </a:txBody>
                  <a:tcPr marL="73152" marR="73152" marT="36576" marB="36576">
                    <a:solidFill>
                      <a:srgbClr val="FFFFFF"/>
                    </a:solidFill>
                  </a:tcPr>
                </a:tc>
                <a:tc>
                  <a:txBody>
                    <a:bodyPr/>
                    <a:lstStyle/>
                    <a:p>
                      <a:r>
                        <a:rPr sz="1000" b="0">
                          <a:solidFill>
                            <a:srgbClr val="4B4B4B"/>
                          </a:solidFill>
                          <a:latin typeface="Arial"/>
                        </a:rPr>
                        <a:t>Agreed clarifications and corrections; decisions on the proposed rules</a:t>
                      </a:r>
                    </a:p>
                  </a:txBody>
                  <a:tcPr marL="73152" marR="73152" marT="36576" marB="36576">
                    <a:solidFill>
                      <a:srgbClr val="FFFFFF"/>
                    </a:solidFill>
                  </a:tcPr>
                </a:tc>
                <a:tc>
                  <a:txBody>
                    <a:bodyPr/>
                    <a:lstStyle/>
                    <a:p>
                      <a:r>
                        <a:rPr sz="1000" b="0">
                          <a:solidFill>
                            <a:srgbClr val="4B4B4B"/>
                          </a:solidFill>
                          <a:latin typeface="Arial"/>
                        </a:rPr>
                        <a:t>Release set v2.1 with the changed rows marked and the decided rules applied; change requests raised for the rest</a:t>
                      </a:r>
                    </a:p>
                  </a:txBody>
                  <a:tcPr marL="73152" marR="73152" marT="36576" marB="36576">
                    <a:solidFill>
                      <a:srgbClr val="FFFFFF"/>
                    </a:solidFill>
                  </a:tcPr>
                </a:tc>
                <a:tc>
                  <a:txBody>
                    <a:bodyPr/>
                    <a:lstStyle/>
                    <a:p>
                      <a:r>
                        <a:rPr sz="1000" b="0">
                          <a:solidFill>
                            <a:srgbClr val="4B4B4B"/>
                          </a:solidFill>
                          <a:latin typeface="Arial"/>
                        </a:rPr>
                        <a:t>v2.1 on Wed 28-Oct-2026; check by the reviewers until Thu 29-Oct-2026</a:t>
                      </a:r>
                    </a:p>
                  </a:txBody>
                  <a:tcPr marL="73152" marR="73152" marT="36576" marB="36576">
                    <a:solidFill>
                      <a:srgbClr val="FFFFFF"/>
                    </a:solidFill>
                  </a:tcPr>
                </a:tc>
              </a:tr>
              <a:tr h="365760">
                <a:tc>
                  <a:txBody>
                    <a:bodyPr/>
                    <a:lstStyle/>
                    <a:p>
                      <a:r>
                        <a:rPr sz="1000" b="0">
                          <a:solidFill>
                            <a:srgbClr val="4B4B4B"/>
                          </a:solidFill>
                          <a:latin typeface="Arial"/>
                        </a:rPr>
                        <a:t>6. Sign-off meeting and signature</a:t>
                      </a:r>
                    </a:p>
                  </a:txBody>
                  <a:tcPr marL="73152" marR="73152" marT="36576" marB="36576">
                    <a:solidFill>
                      <a:srgbClr val="E5F5FF"/>
                    </a:solidFill>
                  </a:tcPr>
                </a:tc>
                <a:tc>
                  <a:txBody>
                    <a:bodyPr/>
                    <a:lstStyle/>
                    <a:p>
                      <a:r>
                        <a:rPr sz="1000" b="0">
                          <a:solidFill>
                            <a:srgbClr val="4B4B4B"/>
                          </a:solidFill>
                          <a:latin typeface="Arial"/>
                        </a:rPr>
                        <a:t>R: iorta TechNXT Project Manager; A: Product Owner, Marketing Business System; C: Program Manager, data owners, Comptrollership, BDOI IT</a:t>
                      </a:r>
                    </a:p>
                  </a:txBody>
                  <a:tcPr marL="73152" marR="73152" marT="36576" marB="36576">
                    <a:solidFill>
                      <a:srgbClr val="E5F5FF"/>
                    </a:solidFill>
                  </a:tcPr>
                </a:tc>
                <a:tc>
                  <a:txBody>
                    <a:bodyPr/>
                    <a:lstStyle/>
                    <a:p>
                      <a:r>
                        <a:rPr sz="1000" b="0">
                          <a:solidFill>
                            <a:srgbClr val="4B4B4B"/>
                          </a:solidFill>
                          <a:latin typeface="Arial"/>
                        </a:rPr>
                        <a:t>v2.1 (or v2.0 when no revision is needed); open decisions with their date</a:t>
                      </a:r>
                    </a:p>
                  </a:txBody>
                  <a:tcPr marL="73152" marR="73152" marT="36576" marB="36576">
                    <a:solidFill>
                      <a:srgbClr val="E5F5FF"/>
                    </a:solidFill>
                  </a:tcPr>
                </a:tc>
                <a:tc>
                  <a:txBody>
                    <a:bodyPr/>
                    <a:lstStyle/>
                    <a:p>
                      <a:r>
                        <a:rPr sz="1000" b="0">
                          <a:solidFill>
                            <a:srgbClr val="4B4B4B"/>
                          </a:solidFill>
                          <a:latin typeface="Arial"/>
                        </a:rPr>
                        <a:t>Signed sign-off certificate; minutes; objects decided (G1) and layouts frozen, version 1 (M2)</a:t>
                      </a:r>
                    </a:p>
                  </a:txBody>
                  <a:tcPr marL="73152" marR="73152" marT="36576" marB="36576">
                    <a:solidFill>
                      <a:srgbClr val="E5F5FF"/>
                    </a:solidFill>
                  </a:tcPr>
                </a:tc>
                <a:tc>
                  <a:txBody>
                    <a:bodyPr/>
                    <a:lstStyle/>
                    <a:p>
                      <a:r>
                        <a:rPr sz="1000" b="0">
                          <a:solidFill>
                            <a:srgbClr val="4B4B4B"/>
                          </a:solidFill>
                          <a:latin typeface="Arial"/>
                        </a:rPr>
                        <a:t>Fri 30-Oct-2026 (M2)</a:t>
                      </a:r>
                    </a:p>
                  </a:txBody>
                  <a:tcPr marL="73152" marR="73152" marT="36576" marB="36576">
                    <a:solidFill>
                      <a:srgbClr val="E5F5FF"/>
                    </a:solidFill>
                  </a:tcPr>
                </a:tc>
              </a:tr>
              <a:tr h="365760">
                <a:tc>
                  <a:txBody>
                    <a:bodyPr/>
                    <a:lstStyle/>
                    <a:p>
                      <a:r>
                        <a:rPr sz="1000" b="0">
                          <a:solidFill>
                            <a:srgbClr val="4B4B4B"/>
                          </a:solidFill>
                          <a:latin typeface="Arial"/>
                        </a:rPr>
                        <a:t>7. Handover to the migration runs</a:t>
                      </a:r>
                    </a:p>
                  </a:txBody>
                  <a:tcPr marL="73152" marR="73152" marT="36576" marB="36576">
                    <a:solidFill>
                      <a:srgbClr val="FFFFFF"/>
                    </a:solidFill>
                  </a:tcPr>
                </a:tc>
                <a:tc>
                  <a:txBody>
                    <a:bodyPr/>
                    <a:lstStyle/>
                    <a:p>
                      <a:r>
                        <a:rPr sz="1000" b="0">
                          <a:solidFill>
                            <a:srgbClr val="4B4B4B"/>
                          </a:solidFill>
                          <a:latin typeface="Arial"/>
                        </a:rPr>
                        <a:t>R: iorta TechNXT delivery lead; A: Program Manager; I: BDOI IT, other BRD owners</a:t>
                      </a:r>
                    </a:p>
                  </a:txBody>
                  <a:tcPr marL="73152" marR="73152" marT="36576" marB="36576">
                    <a:solidFill>
                      <a:srgbClr val="FFFFFF"/>
                    </a:solidFill>
                  </a:tcPr>
                </a:tc>
                <a:tc>
                  <a:txBody>
                    <a:bodyPr/>
                    <a:lstStyle/>
                    <a:p>
                      <a:r>
                        <a:rPr sz="1000" b="0">
                          <a:solidFill>
                            <a:srgbClr val="4B4B4B"/>
                          </a:solidFill>
                          <a:latin typeface="Arial"/>
                        </a:rPr>
                        <a:t>Signed set; decided objects; frozen layouts; named owners and stewards</a:t>
                      </a:r>
                    </a:p>
                  </a:txBody>
                  <a:tcPr marL="73152" marR="73152" marT="36576" marB="36576">
                    <a:solidFill>
                      <a:srgbClr val="FFFFFF"/>
                    </a:solidFill>
                  </a:tcPr>
                </a:tc>
                <a:tc>
                  <a:txBody>
                    <a:bodyPr/>
                    <a:lstStyle/>
                    <a:p>
                      <a:r>
                        <a:rPr sz="1000" b="0">
                          <a:solidFill>
                            <a:srgbClr val="4B4B4B"/>
                          </a:solidFill>
                          <a:latin typeface="Arial"/>
                        </a:rPr>
                        <a:t>Decisions and owners entered in the Migration Console; first full extracts in the templates by 29-Jan-2027 (M3)</a:t>
                      </a:r>
                    </a:p>
                  </a:txBody>
                  <a:tcPr marL="73152" marR="73152" marT="36576" marB="36576">
                    <a:solidFill>
                      <a:srgbClr val="FFFFFF"/>
                    </a:solidFill>
                  </a:tcPr>
                </a:tc>
                <a:tc>
                  <a:txBody>
                    <a:bodyPr/>
                    <a:lstStyle/>
                    <a:p>
                      <a:r>
                        <a:rPr sz="1000" b="0">
                          <a:solidFill>
                            <a:srgbClr val="4B4B4B"/>
                          </a:solidFill>
                          <a:latin typeface="Arial"/>
                        </a:rPr>
                        <a:t>From Mon 2-Nov-2026</a:t>
                      </a:r>
                    </a:p>
                  </a:txBody>
                  <a:tcPr marL="73152" marR="73152" marT="36576" marB="36576">
                    <a:solidFill>
                      <a:srgbClr val="FFFFFF"/>
                    </a:solidFill>
                  </a:tcPr>
                </a:tc>
              </a:tr>
              <a:tr h="365760">
                <a:tc>
                  <a:txBody>
                    <a:bodyPr/>
                    <a:lstStyle/>
                    <a:p>
                      <a:r>
                        <a:rPr sz="1000" b="0">
                          <a:solidFill>
                            <a:srgbClr val="4B4B4B"/>
                          </a:solidFill>
                          <a:latin typeface="Arial"/>
                        </a:rPr>
                        <a:t>8. Traceability into the trial migrations, SIT and UAT</a:t>
                      </a:r>
                    </a:p>
                  </a:txBody>
                  <a:tcPr marL="73152" marR="73152" marT="36576" marB="36576">
                    <a:solidFill>
                      <a:srgbClr val="E5F5FF"/>
                    </a:solidFill>
                  </a:tcPr>
                </a:tc>
                <a:tc>
                  <a:txBody>
                    <a:bodyPr/>
                    <a:lstStyle/>
                    <a:p>
                      <a:r>
                        <a:rPr sz="1000" b="0">
                          <a:solidFill>
                            <a:srgbClr val="4B4B4B"/>
                          </a:solidFill>
                          <a:latin typeface="Arial"/>
                        </a:rPr>
                        <a:t>R: iorta TechNXT test lead; A: Program Manager; C: data owners</a:t>
                      </a:r>
                    </a:p>
                  </a:txBody>
                  <a:tcPr marL="73152" marR="73152" marT="36576" marB="36576">
                    <a:solidFill>
                      <a:srgbClr val="E5F5FF"/>
                    </a:solidFill>
                  </a:tcPr>
                </a:tc>
                <a:tc>
                  <a:txBody>
                    <a:bodyPr/>
                    <a:lstStyle/>
                    <a:p>
                      <a:r>
                        <a:rPr sz="1000" b="0">
                          <a:solidFill>
                            <a:srgbClr val="4B4B4B"/>
                          </a:solidFill>
                          <a:latin typeface="Arial"/>
                        </a:rPr>
                        <a:t>Signed handbook, workbook and test plan</a:t>
                      </a:r>
                    </a:p>
                  </a:txBody>
                  <a:tcPr marL="73152" marR="73152" marT="36576" marB="36576">
                    <a:solidFill>
                      <a:srgbClr val="E5F5FF"/>
                    </a:solidFill>
                  </a:tcPr>
                </a:tc>
                <a:tc>
                  <a:txBody>
                    <a:bodyPr/>
                    <a:lstStyle/>
                    <a:p>
                      <a:r>
                        <a:rPr sz="1000" b="0">
                          <a:solidFill>
                            <a:srgbClr val="4B4B4B"/>
                          </a:solidFill>
                          <a:latin typeface="Arial"/>
                        </a:rPr>
                        <a:t>Trial migrations 1 to 4 and the dress rehearsal run and signed against the set; results against each row</a:t>
                      </a:r>
                    </a:p>
                  </a:txBody>
                  <a:tcPr marL="73152" marR="73152" marT="36576" marB="36576">
                    <a:solidFill>
                      <a:srgbClr val="E5F5FF"/>
                    </a:solidFill>
                  </a:tcPr>
                </a:tc>
                <a:tc>
                  <a:txBody>
                    <a:bodyPr/>
                    <a:lstStyle/>
                    <a:p>
                      <a:r>
                        <a:rPr sz="1000" b="0">
                          <a:solidFill>
                            <a:srgbClr val="4B4B4B"/>
                          </a:solidFill>
                          <a:latin typeface="Arial"/>
                        </a:rPr>
                        <a:t>Trial migrations Apr - Oct 2027; dress rehearsal Nov 2027; cut-over Jan 2028</a:t>
                      </a:r>
                    </a:p>
                  </a:txBody>
                  <a:tcPr marL="73152" marR="73152" marT="36576" marB="36576">
                    <a:solidFill>
                      <a:srgbClr val="E5F5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Who signs what: parts of the set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a:t>
            </a:r>
          </a:p>
        </p:txBody>
      </p:sp>
      <p:graphicFrame>
        <p:nvGraphicFramePr>
          <p:cNvPr id="9" name="Table 8"/>
          <p:cNvGraphicFramePr>
            <a:graphicFrameLocks noGrp="1"/>
          </p:cNvGraphicFramePr>
          <p:nvPr/>
        </p:nvGraphicFramePr>
        <p:xfrm>
          <a:off x="548640" y="1371600"/>
          <a:ext cx="11094412" cy="2194560"/>
        </p:xfrm>
        <a:graphic>
          <a:graphicData uri="http://schemas.openxmlformats.org/drawingml/2006/table">
            <a:tbl>
              <a:tblPr firstRow="1" bandRow="1">
                <a:tableStyleId>{5C22544A-7EE6-4342-B048-85BDC9FD1C3A}</a:tableStyleId>
              </a:tblPr>
              <a:tblGrid>
                <a:gridCol w="3522036"/>
                <a:gridCol w="1496865"/>
                <a:gridCol w="2025170"/>
                <a:gridCol w="1937120"/>
                <a:gridCol w="2113221"/>
              </a:tblGrid>
              <a:tr h="365760">
                <a:tc>
                  <a:txBody>
                    <a:bodyPr/>
                    <a:lstStyle/>
                    <a:p>
                      <a:r>
                        <a:rPr sz="900" b="1">
                          <a:solidFill>
                            <a:srgbClr val="FFFFFF"/>
                          </a:solidFill>
                          <a:latin typeface="Arial"/>
                        </a:rPr>
                        <a:t>Part of the set</a:t>
                      </a:r>
                    </a:p>
                  </a:txBody>
                  <a:tcPr marL="73152" marR="73152" marT="36576" marB="36576">
                    <a:solidFill>
                      <a:srgbClr val="004EA8"/>
                    </a:solidFill>
                  </a:tcPr>
                </a:tc>
                <a:tc>
                  <a:txBody>
                    <a:bodyPr/>
                    <a:lstStyle/>
                    <a:p>
                      <a:r>
                        <a:rPr sz="900" b="1">
                          <a:solidFill>
                            <a:srgbClr val="FFFFFF"/>
                          </a:solidFill>
                          <a:latin typeface="Arial"/>
                        </a:rPr>
                        <a:t>Prepares</a:t>
                      </a:r>
                    </a:p>
                  </a:txBody>
                  <a:tcPr marL="73152" marR="73152" marT="36576" marB="36576">
                    <a:solidFill>
                      <a:srgbClr val="004EA8"/>
                    </a:solidFill>
                  </a:tcPr>
                </a:tc>
                <a:tc>
                  <a:txBody>
                    <a:bodyPr/>
                    <a:lstStyle/>
                    <a:p>
                      <a:r>
                        <a:rPr sz="900" b="1">
                          <a:solidFill>
                            <a:srgbClr val="FFFFFF"/>
                          </a:solidFill>
                          <a:latin typeface="Arial"/>
                        </a:rPr>
                        <a:t>Provides input</a:t>
                      </a:r>
                    </a:p>
                  </a:txBody>
                  <a:tcPr marL="73152" marR="73152" marT="36576" marB="36576">
                    <a:solidFill>
                      <a:srgbClr val="004EA8"/>
                    </a:solidFill>
                  </a:tcPr>
                </a:tc>
                <a:tc>
                  <a:txBody>
                    <a:bodyPr/>
                    <a:lstStyle/>
                    <a:p>
                      <a:r>
                        <a:rPr sz="900" b="1">
                          <a:solidFill>
                            <a:srgbClr val="FFFFFF"/>
                          </a:solidFill>
                          <a:latin typeface="Arial"/>
                        </a:rPr>
                        <a:t>Reviews</a:t>
                      </a:r>
                    </a:p>
                  </a:txBody>
                  <a:tcPr marL="73152" marR="73152" marT="36576" marB="36576">
                    <a:solidFill>
                      <a:srgbClr val="004EA8"/>
                    </a:solidFill>
                  </a:tcPr>
                </a:tc>
                <a:tc>
                  <a:txBody>
                    <a:bodyPr/>
                    <a:lstStyle/>
                    <a:p>
                      <a:r>
                        <a:rPr sz="900" b="1">
                          <a:solidFill>
                            <a:srgbClr val="FFFFFF"/>
                          </a:solidFill>
                          <a:latin typeface="Arial"/>
                        </a:rPr>
                        <a:t>Approves</a:t>
                      </a:r>
                    </a:p>
                  </a:txBody>
                  <a:tcPr marL="73152" marR="73152" marT="36576" marB="36576">
                    <a:solidFill>
                      <a:srgbClr val="004EA8"/>
                    </a:solidFill>
                  </a:tcPr>
                </a:tc>
              </a:tr>
              <a:tr h="365760">
                <a:tc>
                  <a:txBody>
                    <a:bodyPr/>
                    <a:lstStyle/>
                    <a:p>
                      <a:r>
                        <a:rPr sz="900" b="0">
                          <a:solidFill>
                            <a:srgbClr val="4B4B4B"/>
                          </a:solidFill>
                          <a:latin typeface="Arial"/>
                        </a:rPr>
                        <a:t>Migration objects, decisions and extract planning (Handbook Part A; workbook Objects, Extract planning)</a:t>
                      </a:r>
                    </a:p>
                  </a:txBody>
                  <a:tcPr marL="73152" marR="73152" marT="36576" marB="36576">
                    <a:solidFill>
                      <a:srgbClr val="FFFFFF"/>
                    </a:solidFill>
                  </a:tcPr>
                </a:tc>
                <a:tc>
                  <a:txBody>
                    <a:bodyPr/>
                    <a:lstStyle/>
                    <a:p>
                      <a:r>
                        <a:rPr sz="900" b="0">
                          <a:solidFill>
                            <a:srgbClr val="4B4B4B"/>
                          </a:solidFill>
                          <a:latin typeface="Arial"/>
                        </a:rPr>
                        <a:t>iorta TechNXT</a:t>
                      </a:r>
                    </a:p>
                  </a:txBody>
                  <a:tcPr marL="73152" marR="73152" marT="36576" marB="36576">
                    <a:solidFill>
                      <a:srgbClr val="FFFFFF"/>
                    </a:solidFill>
                  </a:tcPr>
                </a:tc>
                <a:tc>
                  <a:txBody>
                    <a:bodyPr/>
                    <a:lstStyle/>
                    <a:p>
                      <a:r>
                        <a:rPr sz="900" b="0">
                          <a:solidFill>
                            <a:srgbClr val="4B4B4B"/>
                          </a:solidFill>
                          <a:latin typeface="Arial"/>
                        </a:rPr>
                        <a:t>Data Migration Lead, Data owners</a:t>
                      </a:r>
                    </a:p>
                  </a:txBody>
                  <a:tcPr marL="73152" marR="73152" marT="36576" marB="36576">
                    <a:solidFill>
                      <a:srgbClr val="FFFFFF"/>
                    </a:solidFill>
                  </a:tcPr>
                </a:tc>
                <a:tc>
                  <a:txBody>
                    <a:bodyPr/>
                    <a:lstStyle/>
                    <a:p>
                      <a:r>
                        <a:rPr sz="900" b="0">
                          <a:solidFill>
                            <a:srgbClr val="4B4B4B"/>
                          </a:solidFill>
                          <a:latin typeface="Arial"/>
                        </a:rPr>
                        <a:t>Program Manager (BPS), MBS</a:t>
                      </a:r>
                    </a:p>
                  </a:txBody>
                  <a:tcPr marL="73152" marR="73152" marT="36576" marB="36576">
                    <a:solidFill>
                      <a:srgbClr val="FFFFFF"/>
                    </a:solidFill>
                  </a:tcPr>
                </a:tc>
                <a:tc>
                  <a:txBody>
                    <a:bodyPr/>
                    <a:lstStyle/>
                    <a:p>
                      <a:r>
                        <a:rPr sz="900" b="0">
                          <a:solidFill>
                            <a:srgbClr val="4B4B4B"/>
                          </a:solidFill>
                          <a:latin typeface="Arial"/>
                        </a:rPr>
                        <a:t>Product Owner (MBS), PO Disbursement, PO FRBS and ACSL, Operations, Head Operations, UH Analytics and Risk Management, UH Claims and TU, UH Combank and Corbank, Head Comptrollership, Head Retail Marketing, Head Corporate and Retail Marketing</a:t>
                      </a:r>
                    </a:p>
                  </a:txBody>
                  <a:tcPr marL="73152" marR="73152" marT="36576" marB="36576">
                    <a:solidFill>
                      <a:srgbClr val="FFFFFF"/>
                    </a:solidFill>
                  </a:tcPr>
                </a:tc>
              </a:tr>
              <a:tr h="365760">
                <a:tc>
                  <a:txBody>
                    <a:bodyPr/>
                    <a:lstStyle/>
                    <a:p>
                      <a:r>
                        <a:rPr sz="900" b="0">
                          <a:solidFill>
                            <a:srgbClr val="4B4B4B"/>
                          </a:solidFill>
                          <a:latin typeface="Arial"/>
                        </a:rPr>
                        <a:t>Load templates, code maps and data-quality rules (the columns BDOI fills in)</a:t>
                      </a:r>
                    </a:p>
                  </a:txBody>
                  <a:tcPr marL="73152" marR="73152" marT="36576" marB="36576">
                    <a:solidFill>
                      <a:srgbClr val="E5F5FF"/>
                    </a:solidFill>
                  </a:tcPr>
                </a:tc>
                <a:tc>
                  <a:txBody>
                    <a:bodyPr/>
                    <a:lstStyle/>
                    <a:p>
                      <a:r>
                        <a:rPr sz="900" b="0">
                          <a:solidFill>
                            <a:srgbClr val="4B4B4B"/>
                          </a:solidFill>
                          <a:latin typeface="Arial"/>
                        </a:rPr>
                        <a:t>iorta TechNXT</a:t>
                      </a:r>
                    </a:p>
                  </a:txBody>
                  <a:tcPr marL="73152" marR="73152" marT="36576" marB="36576">
                    <a:solidFill>
                      <a:srgbClr val="E5F5FF"/>
                    </a:solidFill>
                  </a:tcPr>
                </a:tc>
                <a:tc>
                  <a:txBody>
                    <a:bodyPr/>
                    <a:lstStyle/>
                    <a:p>
                      <a:r>
                        <a:rPr sz="900" b="0">
                          <a:solidFill>
                            <a:srgbClr val="4B4B4B"/>
                          </a:solidFill>
                          <a:latin typeface="Arial"/>
                        </a:rPr>
                        <a:t>Data owners, BDOI IT</a:t>
                      </a:r>
                    </a:p>
                  </a:txBody>
                  <a:tcPr marL="73152" marR="73152" marT="36576" marB="36576">
                    <a:solidFill>
                      <a:srgbClr val="E5F5FF"/>
                    </a:solidFill>
                  </a:tcPr>
                </a:tc>
                <a:tc>
                  <a:txBody>
                    <a:bodyPr/>
                    <a:lstStyle/>
                    <a:p>
                      <a:r>
                        <a:rPr sz="900" b="0">
                          <a:solidFill>
                            <a:srgbClr val="4B4B4B"/>
                          </a:solidFill>
                          <a:latin typeface="Arial"/>
                        </a:rPr>
                        <a:t>MBS, Program Manager (BPS)</a:t>
                      </a:r>
                    </a:p>
                  </a:txBody>
                  <a:tcPr marL="73152" marR="73152" marT="36576" marB="36576">
                    <a:solidFill>
                      <a:srgbClr val="E5F5FF"/>
                    </a:solidFill>
                  </a:tcPr>
                </a:tc>
                <a:tc>
                  <a:txBody>
                    <a:bodyPr/>
                    <a:lstStyle/>
                    <a:p>
                      <a:r>
                        <a:rPr sz="900" b="0">
                          <a:solidFill>
                            <a:srgbClr val="4B4B4B"/>
                          </a:solidFill>
                          <a:latin typeface="Arial"/>
                        </a:rPr>
                        <a:t>Product Owner (MBS), Head Comptrollership, Head Operations</a:t>
                      </a:r>
                    </a:p>
                  </a:txBody>
                  <a:tcPr marL="73152" marR="73152" marT="36576" marB="36576">
                    <a:solidFill>
                      <a:srgbClr val="E5F5FF"/>
                    </a:solidFill>
                  </a:tcPr>
                </a:tc>
              </a:tr>
              <a:tr h="365760">
                <a:tc>
                  <a:txBody>
                    <a:bodyPr/>
                    <a:lstStyle/>
                    <a:p>
                      <a:r>
                        <a:rPr sz="900" b="0">
                          <a:solidFill>
                            <a:srgbClr val="4B4B4B"/>
                          </a:solidFill>
                          <a:latin typeface="Arial"/>
                        </a:rPr>
                        <a:t>Screens and fields of the Migration Console and Legacy Inquiry (Handbook Part B)</a:t>
                      </a:r>
                    </a:p>
                  </a:txBody>
                  <a:tcPr marL="73152" marR="73152" marT="36576" marB="36576">
                    <a:solidFill>
                      <a:srgbClr val="FFFFFF"/>
                    </a:solidFill>
                  </a:tcPr>
                </a:tc>
                <a:tc>
                  <a:txBody>
                    <a:bodyPr/>
                    <a:lstStyle/>
                    <a:p>
                      <a:r>
                        <a:rPr sz="900" b="0">
                          <a:solidFill>
                            <a:srgbClr val="4B4B4B"/>
                          </a:solidFill>
                          <a:latin typeface="Arial"/>
                        </a:rPr>
                        <a:t>iorta TechNXT</a:t>
                      </a:r>
                    </a:p>
                  </a:txBody>
                  <a:tcPr marL="73152" marR="73152" marT="36576" marB="36576">
                    <a:solidFill>
                      <a:srgbClr val="FFFFFF"/>
                    </a:solidFill>
                  </a:tcPr>
                </a:tc>
                <a:tc>
                  <a:txBody>
                    <a:bodyPr/>
                    <a:lstStyle/>
                    <a:p>
                      <a:r>
                        <a:rPr sz="900" b="0">
                          <a:solidFill>
                            <a:srgbClr val="4B4B4B"/>
                          </a:solidFill>
                          <a:latin typeface="Arial"/>
                        </a:rPr>
                        <a:t>Data Migration Lead</a:t>
                      </a:r>
                    </a:p>
                  </a:txBody>
                  <a:tcPr marL="73152" marR="73152" marT="36576" marB="36576">
                    <a:solidFill>
                      <a:srgbClr val="FFFFFF"/>
                    </a:solidFill>
                  </a:tcPr>
                </a:tc>
                <a:tc>
                  <a:txBody>
                    <a:bodyPr/>
                    <a:lstStyle/>
                    <a:p>
                      <a:r>
                        <a:rPr sz="900" b="0">
                          <a:solidFill>
                            <a:srgbClr val="4B4B4B"/>
                          </a:solidFill>
                          <a:latin typeface="Arial"/>
                        </a:rPr>
                        <a:t>Program Manager (BPS)</a:t>
                      </a:r>
                    </a:p>
                  </a:txBody>
                  <a:tcPr marL="73152" marR="73152" marT="36576" marB="36576">
                    <a:solidFill>
                      <a:srgbClr val="FFFFFF"/>
                    </a:solidFill>
                  </a:tcPr>
                </a:tc>
                <a:tc>
                  <a:txBody>
                    <a:bodyPr/>
                    <a:lstStyle/>
                    <a:p>
                      <a:r>
                        <a:rPr sz="900" b="0">
                          <a:solidFill>
                            <a:srgbClr val="4B4B4B"/>
                          </a:solidFill>
                          <a:latin typeface="Arial"/>
                        </a:rPr>
                        <a:t>Product Owner (MBS)</a:t>
                      </a:r>
                    </a:p>
                  </a:txBody>
                  <a:tcPr marL="73152" marR="73152" marT="36576" marB="36576">
                    <a:solidFill>
                      <a:srgbClr val="FFFFFF"/>
                    </a:solidFill>
                  </a:tcPr>
                </a:tc>
              </a:tr>
              <a:tr h="365760">
                <a:tc>
                  <a:txBody>
                    <a:bodyPr/>
                    <a:lstStyle/>
                    <a:p>
                      <a:r>
                        <a:rPr sz="900" b="0">
                          <a:solidFill>
                            <a:srgbClr val="4B4B4B"/>
                          </a:solidFill>
                          <a:latin typeface="Arial"/>
                        </a:rPr>
                        <a:t>Business rules, validations, messages and notifications</a:t>
                      </a:r>
                    </a:p>
                  </a:txBody>
                  <a:tcPr marL="73152" marR="73152" marT="36576" marB="36576">
                    <a:solidFill>
                      <a:srgbClr val="E5F5FF"/>
                    </a:solidFill>
                  </a:tcPr>
                </a:tc>
                <a:tc>
                  <a:txBody>
                    <a:bodyPr/>
                    <a:lstStyle/>
                    <a:p>
                      <a:r>
                        <a:rPr sz="900" b="0">
                          <a:solidFill>
                            <a:srgbClr val="4B4B4B"/>
                          </a:solidFill>
                          <a:latin typeface="Arial"/>
                        </a:rPr>
                        <a:t>iorta TechNXT</a:t>
                      </a:r>
                    </a:p>
                  </a:txBody>
                  <a:tcPr marL="73152" marR="73152" marT="36576" marB="36576">
                    <a:solidFill>
                      <a:srgbClr val="E5F5FF"/>
                    </a:solidFill>
                  </a:tcPr>
                </a:tc>
                <a:tc>
                  <a:txBody>
                    <a:bodyPr/>
                    <a:lstStyle/>
                    <a:p>
                      <a:r>
                        <a:rPr sz="900" b="0">
                          <a:solidFill>
                            <a:srgbClr val="4B4B4B"/>
                          </a:solidFill>
                          <a:latin typeface="Arial"/>
                        </a:rPr>
                        <a:t>Data Migration Lead, Data owners</a:t>
                      </a:r>
                    </a:p>
                  </a:txBody>
                  <a:tcPr marL="73152" marR="73152" marT="36576" marB="36576">
                    <a:solidFill>
                      <a:srgbClr val="E5F5FF"/>
                    </a:solidFill>
                  </a:tcPr>
                </a:tc>
                <a:tc>
                  <a:txBody>
                    <a:bodyPr/>
                    <a:lstStyle/>
                    <a:p>
                      <a:r>
                        <a:rPr sz="900" b="0">
                          <a:solidFill>
                            <a:srgbClr val="4B4B4B"/>
                          </a:solidFill>
                          <a:latin typeface="Arial"/>
                        </a:rPr>
                        <a:t>Program Manager (BPS)</a:t>
                      </a:r>
                    </a:p>
                  </a:txBody>
                  <a:tcPr marL="73152" marR="73152" marT="36576" marB="36576">
                    <a:solidFill>
                      <a:srgbClr val="E5F5FF"/>
                    </a:solidFill>
                  </a:tcPr>
                </a:tc>
                <a:tc>
                  <a:txBody>
                    <a:bodyPr/>
                    <a:lstStyle/>
                    <a:p>
                      <a:r>
                        <a:rPr sz="900" b="0">
                          <a:solidFill>
                            <a:srgbClr val="4B4B4B"/>
                          </a:solidFill>
                          <a:latin typeface="Arial"/>
                        </a:rPr>
                        <a:t>Product Owner (MBS)</a:t>
                      </a:r>
                    </a:p>
                  </a:txBody>
                  <a:tcPr marL="73152" marR="73152" marT="36576" marB="36576">
                    <a:solidFill>
                      <a:srgbClr val="E5F5FF"/>
                    </a:solidFill>
                  </a:tcPr>
                </a:tc>
              </a:tr>
              <a:tr h="365760">
                <a:tc>
                  <a:txBody>
                    <a:bodyPr/>
                    <a:lstStyle/>
                    <a:p>
                      <a:r>
                        <a:rPr sz="900" b="0">
                          <a:solidFill>
                            <a:srgbClr val="4B4B4B"/>
                          </a:solidFill>
                          <a:latin typeface="Arial"/>
                        </a:rPr>
                        <a:t>Reconciliation and migration reports</a:t>
                      </a:r>
                    </a:p>
                  </a:txBody>
                  <a:tcPr marL="73152" marR="73152" marT="36576" marB="36576">
                    <a:solidFill>
                      <a:srgbClr val="FFFFFF"/>
                    </a:solidFill>
                  </a:tcPr>
                </a:tc>
                <a:tc>
                  <a:txBody>
                    <a:bodyPr/>
                    <a:lstStyle/>
                    <a:p>
                      <a:r>
                        <a:rPr sz="900" b="0">
                          <a:solidFill>
                            <a:srgbClr val="4B4B4B"/>
                          </a:solidFill>
                          <a:latin typeface="Arial"/>
                        </a:rPr>
                        <a:t>iorta TechNXT</a:t>
                      </a:r>
                    </a:p>
                  </a:txBody>
                  <a:tcPr marL="73152" marR="73152" marT="36576" marB="36576">
                    <a:solidFill>
                      <a:srgbClr val="FFFFFF"/>
                    </a:solidFill>
                  </a:tcPr>
                </a:tc>
                <a:tc>
                  <a:txBody>
                    <a:bodyPr/>
                    <a:lstStyle/>
                    <a:p>
                      <a:r>
                        <a:rPr sz="900" b="0">
                          <a:solidFill>
                            <a:srgbClr val="4B4B4B"/>
                          </a:solidFill>
                          <a:latin typeface="Arial"/>
                        </a:rPr>
                        <a:t>Data owners</a:t>
                      </a:r>
                    </a:p>
                  </a:txBody>
                  <a:tcPr marL="73152" marR="73152" marT="36576" marB="36576">
                    <a:solidFill>
                      <a:srgbClr val="FFFFFF"/>
                    </a:solidFill>
                  </a:tcPr>
                </a:tc>
                <a:tc>
                  <a:txBody>
                    <a:bodyPr/>
                    <a:lstStyle/>
                    <a:p>
                      <a:r>
                        <a:rPr sz="900" b="0">
                          <a:solidFill>
                            <a:srgbClr val="4B4B4B"/>
                          </a:solidFill>
                          <a:latin typeface="Arial"/>
                        </a:rPr>
                        <a:t>Program Manager (BPS)</a:t>
                      </a:r>
                    </a:p>
                  </a:txBody>
                  <a:tcPr marL="73152" marR="73152" marT="36576" marB="36576">
                    <a:solidFill>
                      <a:srgbClr val="FFFFFF"/>
                    </a:solidFill>
                  </a:tcPr>
                </a:tc>
                <a:tc>
                  <a:txBody>
                    <a:bodyPr/>
                    <a:lstStyle/>
                    <a:p>
                      <a:r>
                        <a:rPr sz="900" b="0">
                          <a:solidFill>
                            <a:srgbClr val="4B4B4B"/>
                          </a:solidFill>
                          <a:latin typeface="Arial"/>
                        </a:rPr>
                        <a:t>Product Owner (MBS), Head Comptrollership, PO FRBS and ACSL</a:t>
                      </a:r>
                    </a:p>
                  </a:txBody>
                  <a:tcPr marL="73152" marR="73152" marT="36576" marB="36576">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Who signs what: parts of the set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a:t>
            </a:r>
          </a:p>
        </p:txBody>
      </p:sp>
      <p:graphicFrame>
        <p:nvGraphicFramePr>
          <p:cNvPr id="9" name="Table 8"/>
          <p:cNvGraphicFramePr>
            <a:graphicFrameLocks noGrp="1"/>
          </p:cNvGraphicFramePr>
          <p:nvPr/>
        </p:nvGraphicFramePr>
        <p:xfrm>
          <a:off x="548640" y="1371600"/>
          <a:ext cx="11094412" cy="1828800"/>
        </p:xfrm>
        <a:graphic>
          <a:graphicData uri="http://schemas.openxmlformats.org/drawingml/2006/table">
            <a:tbl>
              <a:tblPr firstRow="1" bandRow="1">
                <a:tableStyleId>{5C22544A-7EE6-4342-B048-85BDC9FD1C3A}</a:tableStyleId>
              </a:tblPr>
              <a:tblGrid>
                <a:gridCol w="3522036"/>
                <a:gridCol w="1496865"/>
                <a:gridCol w="2025170"/>
                <a:gridCol w="1937120"/>
                <a:gridCol w="2113221"/>
              </a:tblGrid>
              <a:tr h="365760">
                <a:tc>
                  <a:txBody>
                    <a:bodyPr/>
                    <a:lstStyle/>
                    <a:p>
                      <a:r>
                        <a:rPr sz="900" b="1">
                          <a:solidFill>
                            <a:srgbClr val="FFFFFF"/>
                          </a:solidFill>
                          <a:latin typeface="Arial"/>
                        </a:rPr>
                        <a:t>Part of the set</a:t>
                      </a:r>
                    </a:p>
                  </a:txBody>
                  <a:tcPr marL="73152" marR="73152" marT="36576" marB="36576">
                    <a:solidFill>
                      <a:srgbClr val="004EA8"/>
                    </a:solidFill>
                  </a:tcPr>
                </a:tc>
                <a:tc>
                  <a:txBody>
                    <a:bodyPr/>
                    <a:lstStyle/>
                    <a:p>
                      <a:r>
                        <a:rPr sz="900" b="1">
                          <a:solidFill>
                            <a:srgbClr val="FFFFFF"/>
                          </a:solidFill>
                          <a:latin typeface="Arial"/>
                        </a:rPr>
                        <a:t>Prepares</a:t>
                      </a:r>
                    </a:p>
                  </a:txBody>
                  <a:tcPr marL="73152" marR="73152" marT="36576" marB="36576">
                    <a:solidFill>
                      <a:srgbClr val="004EA8"/>
                    </a:solidFill>
                  </a:tcPr>
                </a:tc>
                <a:tc>
                  <a:txBody>
                    <a:bodyPr/>
                    <a:lstStyle/>
                    <a:p>
                      <a:r>
                        <a:rPr sz="900" b="1">
                          <a:solidFill>
                            <a:srgbClr val="FFFFFF"/>
                          </a:solidFill>
                          <a:latin typeface="Arial"/>
                        </a:rPr>
                        <a:t>Provides input</a:t>
                      </a:r>
                    </a:p>
                  </a:txBody>
                  <a:tcPr marL="73152" marR="73152" marT="36576" marB="36576">
                    <a:solidFill>
                      <a:srgbClr val="004EA8"/>
                    </a:solidFill>
                  </a:tcPr>
                </a:tc>
                <a:tc>
                  <a:txBody>
                    <a:bodyPr/>
                    <a:lstStyle/>
                    <a:p>
                      <a:r>
                        <a:rPr sz="900" b="1">
                          <a:solidFill>
                            <a:srgbClr val="FFFFFF"/>
                          </a:solidFill>
                          <a:latin typeface="Arial"/>
                        </a:rPr>
                        <a:t>Reviews</a:t>
                      </a:r>
                    </a:p>
                  </a:txBody>
                  <a:tcPr marL="73152" marR="73152" marT="36576" marB="36576">
                    <a:solidFill>
                      <a:srgbClr val="004EA8"/>
                    </a:solidFill>
                  </a:tcPr>
                </a:tc>
                <a:tc>
                  <a:txBody>
                    <a:bodyPr/>
                    <a:lstStyle/>
                    <a:p>
                      <a:r>
                        <a:rPr sz="900" b="1">
                          <a:solidFill>
                            <a:srgbClr val="FFFFFF"/>
                          </a:solidFill>
                          <a:latin typeface="Arial"/>
                        </a:rPr>
                        <a:t>Approves</a:t>
                      </a:r>
                    </a:p>
                  </a:txBody>
                  <a:tcPr marL="73152" marR="73152" marT="36576" marB="36576">
                    <a:solidFill>
                      <a:srgbClr val="004EA8"/>
                    </a:solidFill>
                  </a:tcPr>
                </a:tc>
              </a:tr>
              <a:tr h="365760">
                <a:tc>
                  <a:txBody>
                    <a:bodyPr/>
                    <a:lstStyle/>
                    <a:p>
                      <a:r>
                        <a:rPr sz="900" b="0">
                          <a:solidFill>
                            <a:srgbClr val="4B4B4B"/>
                          </a:solidFill>
                          <a:latin typeface="Arial"/>
                        </a:rPr>
                        <a:t>Cut-over plan, go / no-go and rollback</a:t>
                      </a:r>
                    </a:p>
                  </a:txBody>
                  <a:tcPr marL="73152" marR="73152" marT="36576" marB="36576">
                    <a:solidFill>
                      <a:srgbClr val="FFFFFF"/>
                    </a:solidFill>
                  </a:tcPr>
                </a:tc>
                <a:tc>
                  <a:txBody>
                    <a:bodyPr/>
                    <a:lstStyle/>
                    <a:p>
                      <a:r>
                        <a:rPr sz="900" b="0">
                          <a:solidFill>
                            <a:srgbClr val="4B4B4B"/>
                          </a:solidFill>
                          <a:latin typeface="Arial"/>
                        </a:rPr>
                        <a:t>iorta TechNXT</a:t>
                      </a:r>
                    </a:p>
                  </a:txBody>
                  <a:tcPr marL="73152" marR="73152" marT="36576" marB="36576">
                    <a:solidFill>
                      <a:srgbClr val="FFFFFF"/>
                    </a:solidFill>
                  </a:tcPr>
                </a:tc>
                <a:tc>
                  <a:txBody>
                    <a:bodyPr/>
                    <a:lstStyle/>
                    <a:p>
                      <a:r>
                        <a:rPr sz="900" b="0">
                          <a:solidFill>
                            <a:srgbClr val="4B4B4B"/>
                          </a:solidFill>
                          <a:latin typeface="Arial"/>
                        </a:rPr>
                        <a:t>Data Migration Lead, BDOI IT</a:t>
                      </a:r>
                    </a:p>
                  </a:txBody>
                  <a:tcPr marL="73152" marR="73152" marT="36576" marB="36576">
                    <a:solidFill>
                      <a:srgbClr val="FFFFFF"/>
                    </a:solidFill>
                  </a:tcPr>
                </a:tc>
                <a:tc>
                  <a:txBody>
                    <a:bodyPr/>
                    <a:lstStyle/>
                    <a:p>
                      <a:r>
                        <a:rPr sz="900" b="0">
                          <a:solidFill>
                            <a:srgbClr val="4B4B4B"/>
                          </a:solidFill>
                          <a:latin typeface="Arial"/>
                        </a:rPr>
                        <a:t>Program Manager (BPS), BDOI IT</a:t>
                      </a:r>
                    </a:p>
                  </a:txBody>
                  <a:tcPr marL="73152" marR="73152" marT="36576" marB="36576">
                    <a:solidFill>
                      <a:srgbClr val="FFFFFF"/>
                    </a:solidFill>
                  </a:tcPr>
                </a:tc>
                <a:tc>
                  <a:txBody>
                    <a:bodyPr/>
                    <a:lstStyle/>
                    <a:p>
                      <a:r>
                        <a:rPr sz="900" b="0">
                          <a:solidFill>
                            <a:srgbClr val="4B4B4B"/>
                          </a:solidFill>
                          <a:latin typeface="Arial"/>
                        </a:rPr>
                        <a:t>Product Owner (MBS), Head Comptrollership, Head Operations</a:t>
                      </a:r>
                    </a:p>
                  </a:txBody>
                  <a:tcPr marL="73152" marR="73152" marT="36576" marB="36576">
                    <a:solidFill>
                      <a:srgbClr val="FFFFFF"/>
                    </a:solidFill>
                  </a:tcPr>
                </a:tc>
              </a:tr>
              <a:tr h="365760">
                <a:tc>
                  <a:txBody>
                    <a:bodyPr/>
                    <a:lstStyle/>
                    <a:p>
                      <a:r>
                        <a:rPr sz="900" b="0">
                          <a:solidFill>
                            <a:srgbClr val="4B4B4B"/>
                          </a:solidFill>
                          <a:latin typeface="Arial"/>
                        </a:rPr>
                        <a:t>Proposed business rules and clarifications for confirmation; open decisions</a:t>
                      </a:r>
                    </a:p>
                  </a:txBody>
                  <a:tcPr marL="73152" marR="73152" marT="36576" marB="36576">
                    <a:solidFill>
                      <a:srgbClr val="E5F5FF"/>
                    </a:solidFill>
                  </a:tcPr>
                </a:tc>
                <a:tc>
                  <a:txBody>
                    <a:bodyPr/>
                    <a:lstStyle/>
                    <a:p>
                      <a:r>
                        <a:rPr sz="900" b="0">
                          <a:solidFill>
                            <a:srgbClr val="4B4B4B"/>
                          </a:solidFill>
                          <a:latin typeface="Arial"/>
                        </a:rPr>
                        <a:t>iorta TechNXT</a:t>
                      </a:r>
                    </a:p>
                  </a:txBody>
                  <a:tcPr marL="73152" marR="73152" marT="36576" marB="36576">
                    <a:solidFill>
                      <a:srgbClr val="E5F5FF"/>
                    </a:solidFill>
                  </a:tcPr>
                </a:tc>
                <a:tc>
                  <a:txBody>
                    <a:bodyPr/>
                    <a:lstStyle/>
                    <a:p>
                      <a:r>
                        <a:rPr sz="900" b="0">
                          <a:solidFill>
                            <a:srgbClr val="4B4B4B"/>
                          </a:solidFill>
                          <a:latin typeface="Arial"/>
                        </a:rPr>
                        <a:t>Program Manager (BPS), Data Migration Lead</a:t>
                      </a:r>
                    </a:p>
                  </a:txBody>
                  <a:tcPr marL="73152" marR="73152" marT="36576" marB="36576">
                    <a:solidFill>
                      <a:srgbClr val="E5F5FF"/>
                    </a:solidFill>
                  </a:tcPr>
                </a:tc>
                <a:tc>
                  <a:txBody>
                    <a:bodyPr/>
                    <a:lstStyle/>
                    <a:p>
                      <a:r>
                        <a:rPr sz="900" b="0">
                          <a:solidFill>
                            <a:srgbClr val="4B4B4B"/>
                          </a:solidFill>
                          <a:latin typeface="Arial"/>
                        </a:rPr>
                        <a:t>Program Manager (BPS)</a:t>
                      </a:r>
                    </a:p>
                  </a:txBody>
                  <a:tcPr marL="73152" marR="73152" marT="36576" marB="36576">
                    <a:solidFill>
                      <a:srgbClr val="E5F5FF"/>
                    </a:solidFill>
                  </a:tcPr>
                </a:tc>
                <a:tc>
                  <a:txBody>
                    <a:bodyPr/>
                    <a:lstStyle/>
                    <a:p>
                      <a:r>
                        <a:rPr sz="900" b="0">
                          <a:solidFill>
                            <a:srgbClr val="4B4B4B"/>
                          </a:solidFill>
                          <a:latin typeface="Arial"/>
                        </a:rPr>
                        <a:t>Product Owner (MBS)</a:t>
                      </a:r>
                    </a:p>
                  </a:txBody>
                  <a:tcPr marL="73152" marR="73152" marT="36576" marB="36576">
                    <a:solidFill>
                      <a:srgbClr val="E5F5FF"/>
                    </a:solidFill>
                  </a:tcPr>
                </a:tc>
              </a:tr>
              <a:tr h="365760">
                <a:tc>
                  <a:txBody>
                    <a:bodyPr/>
                    <a:lstStyle/>
                    <a:p>
                      <a:r>
                        <a:rPr sz="900" b="0">
                          <a:solidFill>
                            <a:srgbClr val="4B4B4B"/>
                          </a:solidFill>
                          <a:latin typeface="Arial"/>
                        </a:rPr>
                        <a:t>Test plan (04 workbook, 05 summary)</a:t>
                      </a:r>
                    </a:p>
                  </a:txBody>
                  <a:tcPr marL="73152" marR="73152" marT="36576" marB="36576">
                    <a:solidFill>
                      <a:srgbClr val="FFFFFF"/>
                    </a:solidFill>
                  </a:tcPr>
                </a:tc>
                <a:tc>
                  <a:txBody>
                    <a:bodyPr/>
                    <a:lstStyle/>
                    <a:p>
                      <a:r>
                        <a:rPr sz="900" b="0">
                          <a:solidFill>
                            <a:srgbClr val="4B4B4B"/>
                          </a:solidFill>
                          <a:latin typeface="Arial"/>
                        </a:rPr>
                        <a:t>iorta TechNXT</a:t>
                      </a:r>
                    </a:p>
                  </a:txBody>
                  <a:tcPr marL="73152" marR="73152" marT="36576" marB="36576">
                    <a:solidFill>
                      <a:srgbClr val="FFFFFF"/>
                    </a:solidFill>
                  </a:tcPr>
                </a:tc>
                <a:tc>
                  <a:txBody>
                    <a:bodyPr/>
                    <a:lstStyle/>
                    <a:p>
                      <a:r>
                        <a:rPr sz="900" b="0">
                          <a:solidFill>
                            <a:srgbClr val="4B4B4B"/>
                          </a:solidFill>
                          <a:latin typeface="Arial"/>
                        </a:rPr>
                        <a:t>Data Migration Lead, Data owners</a:t>
                      </a:r>
                    </a:p>
                  </a:txBody>
                  <a:tcPr marL="73152" marR="73152" marT="36576" marB="36576">
                    <a:solidFill>
                      <a:srgbClr val="FFFFFF"/>
                    </a:solidFill>
                  </a:tcPr>
                </a:tc>
                <a:tc>
                  <a:txBody>
                    <a:bodyPr/>
                    <a:lstStyle/>
                    <a:p>
                      <a:r>
                        <a:rPr sz="900" b="0">
                          <a:solidFill>
                            <a:srgbClr val="4B4B4B"/>
                          </a:solidFill>
                          <a:latin typeface="Arial"/>
                        </a:rPr>
                        <a:t>Program Manager (BPS), BDOI IT</a:t>
                      </a:r>
                    </a:p>
                  </a:txBody>
                  <a:tcPr marL="73152" marR="73152" marT="36576" marB="36576">
                    <a:solidFill>
                      <a:srgbClr val="FFFFFF"/>
                    </a:solidFill>
                  </a:tcPr>
                </a:tc>
                <a:tc>
                  <a:txBody>
                    <a:bodyPr/>
                    <a:lstStyle/>
                    <a:p>
                      <a:r>
                        <a:rPr sz="900" b="0">
                          <a:solidFill>
                            <a:srgbClr val="4B4B4B"/>
                          </a:solidFill>
                          <a:latin typeface="Arial"/>
                        </a:rPr>
                        <a:t>Product Owner (MBS)</a:t>
                      </a:r>
                    </a:p>
                  </a:txBody>
                  <a:tcPr marL="73152" marR="73152" marT="36576" marB="36576">
                    <a:solidFill>
                      <a:srgbClr val="FFFFFF"/>
                    </a:solidFill>
                  </a:tcPr>
                </a:tc>
              </a:tr>
              <a:tr h="365760">
                <a:tc>
                  <a:txBody>
                    <a:bodyPr/>
                    <a:lstStyle/>
                    <a:p>
                      <a:r>
                        <a:rPr sz="900" b="0">
                          <a:solidFill>
                            <a:srgbClr val="4B4B4B"/>
                          </a:solidFill>
                          <a:latin typeface="Arial"/>
                        </a:rPr>
                        <a:t>Technical Specification (separate document: extract transfer, environments, backup and restore)</a:t>
                      </a:r>
                    </a:p>
                  </a:txBody>
                  <a:tcPr marL="73152" marR="73152" marT="36576" marB="36576">
                    <a:solidFill>
                      <a:srgbClr val="E5F5FF"/>
                    </a:solidFill>
                  </a:tcPr>
                </a:tc>
                <a:tc>
                  <a:txBody>
                    <a:bodyPr/>
                    <a:lstStyle/>
                    <a:p>
                      <a:r>
                        <a:rPr sz="900" b="0">
                          <a:solidFill>
                            <a:srgbClr val="4B4B4B"/>
                          </a:solidFill>
                          <a:latin typeface="Arial"/>
                        </a:rPr>
                        <a:t>iorta TechNXT</a:t>
                      </a:r>
                    </a:p>
                  </a:txBody>
                  <a:tcPr marL="73152" marR="73152" marT="36576" marB="36576">
                    <a:solidFill>
                      <a:srgbClr val="E5F5FF"/>
                    </a:solidFill>
                  </a:tcPr>
                </a:tc>
                <a:tc>
                  <a:txBody>
                    <a:bodyPr/>
                    <a:lstStyle/>
                    <a:p>
                      <a:r>
                        <a:rPr sz="900" b="0">
                          <a:solidFill>
                            <a:srgbClr val="4B4B4B"/>
                          </a:solidFill>
                          <a:latin typeface="Arial"/>
                        </a:rPr>
                        <a:t>BDOI IT</a:t>
                      </a:r>
                    </a:p>
                  </a:txBody>
                  <a:tcPr marL="73152" marR="73152" marT="36576" marB="36576">
                    <a:solidFill>
                      <a:srgbClr val="E5F5FF"/>
                    </a:solidFill>
                  </a:tcPr>
                </a:tc>
                <a:tc>
                  <a:txBody>
                    <a:bodyPr/>
                    <a:lstStyle/>
                    <a:p>
                      <a:r>
                        <a:rPr sz="900" b="0">
                          <a:solidFill>
                            <a:srgbClr val="4B4B4B"/>
                          </a:solidFill>
                          <a:latin typeface="Arial"/>
                        </a:rPr>
                        <a:t>BDOI IT</a:t>
                      </a:r>
                    </a:p>
                  </a:txBody>
                  <a:tcPr marL="73152" marR="73152" marT="36576" marB="36576">
                    <a:solidFill>
                      <a:srgbClr val="E5F5FF"/>
                    </a:solidFill>
                  </a:tcPr>
                </a:tc>
                <a:tc>
                  <a:txBody>
                    <a:bodyPr/>
                    <a:lstStyle/>
                    <a:p>
                      <a:r>
                        <a:rPr sz="900" b="0">
                          <a:solidFill>
                            <a:srgbClr val="4B4B4B"/>
                          </a:solidFill>
                          <a:latin typeface="Arial"/>
                        </a:rPr>
                        <a:t>BDOI IT</a:t>
                      </a:r>
                    </a:p>
                  </a:txBody>
                  <a:tcPr marL="73152" marR="73152" marT="36576" marB="36576">
                    <a:solidFill>
                      <a:srgbClr val="E5F5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Who signs what: signatories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a:t>
            </a:r>
          </a:p>
        </p:txBody>
      </p:sp>
      <p:graphicFrame>
        <p:nvGraphicFramePr>
          <p:cNvPr id="9" name="Table 8"/>
          <p:cNvGraphicFramePr>
            <a:graphicFrameLocks noGrp="1"/>
          </p:cNvGraphicFramePr>
          <p:nvPr/>
        </p:nvGraphicFramePr>
        <p:xfrm>
          <a:off x="548640" y="1371600"/>
          <a:ext cx="11094413" cy="3657600"/>
        </p:xfrm>
        <a:graphic>
          <a:graphicData uri="http://schemas.openxmlformats.org/drawingml/2006/table">
            <a:tbl>
              <a:tblPr firstRow="1" bandRow="1">
                <a:tableStyleId>{5C22544A-7EE6-4342-B048-85BDC9FD1C3A}</a:tableStyleId>
              </a:tblPr>
              <a:tblGrid>
                <a:gridCol w="1672967"/>
                <a:gridCol w="4050341"/>
                <a:gridCol w="5371105"/>
              </a:tblGrid>
              <a:tr h="365760">
                <a:tc>
                  <a:txBody>
                    <a:bodyPr/>
                    <a:lstStyle/>
                    <a:p>
                      <a:r>
                        <a:rPr sz="900" b="1">
                          <a:solidFill>
                            <a:srgbClr val="FFFFFF"/>
                          </a:solidFill>
                          <a:latin typeface="Arial"/>
                        </a:rPr>
                        <a:t>Capacity</a:t>
                      </a:r>
                    </a:p>
                  </a:txBody>
                  <a:tcPr marL="73152" marR="73152" marT="36576" marB="36576">
                    <a:solidFill>
                      <a:srgbClr val="004EA8"/>
                    </a:solidFill>
                  </a:tcPr>
                </a:tc>
                <a:tc>
                  <a:txBody>
                    <a:bodyPr/>
                    <a:lstStyle/>
                    <a:p>
                      <a:r>
                        <a:rPr sz="900" b="1">
                          <a:solidFill>
                            <a:srgbClr val="FFFFFF"/>
                          </a:solidFill>
                          <a:latin typeface="Arial"/>
                        </a:rPr>
                        <a:t>Role</a:t>
                      </a:r>
                    </a:p>
                  </a:txBody>
                  <a:tcPr marL="73152" marR="73152" marT="36576" marB="36576">
                    <a:solidFill>
                      <a:srgbClr val="004EA8"/>
                    </a:solidFill>
                  </a:tcPr>
                </a:tc>
                <a:tc>
                  <a:txBody>
                    <a:bodyPr/>
                    <a:lstStyle/>
                    <a:p>
                      <a:r>
                        <a:rPr sz="900" b="1">
                          <a:solidFill>
                            <a:srgbClr val="FFFFFF"/>
                          </a:solidFill>
                          <a:latin typeface="Arial"/>
                        </a:rPr>
                        <a:t>Confirms by signing</a:t>
                      </a:r>
                    </a:p>
                  </a:txBody>
                  <a:tcPr marL="73152" marR="73152" marT="36576" marB="36576">
                    <a:solidFill>
                      <a:srgbClr val="004EA8"/>
                    </a:solidFill>
                  </a:tcPr>
                </a:tc>
              </a:tr>
              <a:tr h="365760">
                <a:tc>
                  <a:txBody>
                    <a:bodyPr/>
                    <a:lstStyle/>
                    <a:p>
                      <a:r>
                        <a:rPr sz="900" b="0">
                          <a:solidFill>
                            <a:srgbClr val="4B4B4B"/>
                          </a:solidFill>
                          <a:latin typeface="Arial"/>
                        </a:rPr>
                        <a:t>Prepared by</a:t>
                      </a:r>
                    </a:p>
                  </a:txBody>
                  <a:tcPr marL="73152" marR="73152" marT="36576" marB="36576">
                    <a:solidFill>
                      <a:srgbClr val="FFFFFF"/>
                    </a:solidFill>
                  </a:tcPr>
                </a:tc>
                <a:tc>
                  <a:txBody>
                    <a:bodyPr/>
                    <a:lstStyle/>
                    <a:p>
                      <a:r>
                        <a:rPr sz="900" b="0">
                          <a:solidFill>
                            <a:srgbClr val="4B4B4B"/>
                          </a:solidFill>
                          <a:latin typeface="Arial"/>
                        </a:rPr>
                        <a:t>iorta TechNXT project team: Project Manager, Business Analysis, Migration Lead, test lead (iorta TechNXT)</a:t>
                      </a:r>
                    </a:p>
                  </a:txBody>
                  <a:tcPr marL="73152" marR="73152" marT="36576" marB="36576">
                    <a:solidFill>
                      <a:srgbClr val="FFFFFF"/>
                    </a:solidFill>
                  </a:tcPr>
                </a:tc>
                <a:tc>
                  <a:txBody>
                    <a:bodyPr/>
                    <a:lstStyle/>
                    <a:p>
                      <a:r>
                        <a:rPr sz="900" b="0">
                          <a:solidFill>
                            <a:srgbClr val="4B4B4B"/>
                          </a:solidFill>
                          <a:latin typeface="Arial"/>
                        </a:rPr>
                        <a:t>The set is complete and consistent as issued, traced to the BRD and to the Migration Console; every comment is answered in the comments log</a:t>
                      </a:r>
                    </a:p>
                  </a:txBody>
                  <a:tcPr marL="73152" marR="73152" marT="36576" marB="36576">
                    <a:solidFill>
                      <a:srgbClr val="FFFFFF"/>
                    </a:solidFill>
                  </a:tcPr>
                </a:tc>
              </a:tr>
              <a:tr h="365760">
                <a:tc>
                  <a:txBody>
                    <a:bodyPr/>
                    <a:lstStyle/>
                    <a:p>
                      <a:r>
                        <a:rPr sz="900" b="0">
                          <a:solidFill>
                            <a:srgbClr val="4B4B4B"/>
                          </a:solidFill>
                          <a:latin typeface="Arial"/>
                        </a:rPr>
                        <a:t>Prepared by</a:t>
                      </a:r>
                    </a:p>
                  </a:txBody>
                  <a:tcPr marL="73152" marR="73152" marT="36576" marB="36576">
                    <a:solidFill>
                      <a:srgbClr val="E5F5FF"/>
                    </a:solidFill>
                  </a:tcPr>
                </a:tc>
                <a:tc>
                  <a:txBody>
                    <a:bodyPr/>
                    <a:lstStyle/>
                    <a:p>
                      <a:r>
                        <a:rPr sz="900" b="0">
                          <a:solidFill>
                            <a:srgbClr val="4B4B4B"/>
                          </a:solidFill>
                          <a:latin typeface="Arial"/>
                        </a:rPr>
                        <a:t>Program Manager, Enterprise Services Group - Business Project Services (BPS) (BDO Unibank ESG)</a:t>
                      </a:r>
                    </a:p>
                  </a:txBody>
                  <a:tcPr marL="73152" marR="73152" marT="36576" marB="36576">
                    <a:solidFill>
                      <a:srgbClr val="E5F5FF"/>
                    </a:solidFill>
                  </a:tcPr>
                </a:tc>
                <a:tc>
                  <a:txBody>
                    <a:bodyPr/>
                    <a:lstStyle/>
                    <a:p>
                      <a:r>
                        <a:rPr sz="900" b="0">
                          <a:solidFill>
                            <a:srgbClr val="4B4B4B"/>
                          </a:solidFill>
                          <a:latin typeface="Arial"/>
                        </a:rPr>
                        <a:t>The set states the BRD requirements as written (author of the BRD); traceability of every BRD requirement and completeness of the set; chairs the go / no-go board</a:t>
                      </a:r>
                    </a:p>
                  </a:txBody>
                  <a:tcPr marL="73152" marR="73152" marT="36576" marB="36576">
                    <a:solidFill>
                      <a:srgbClr val="E5F5FF"/>
                    </a:solidFill>
                  </a:tcPr>
                </a:tc>
              </a:tr>
              <a:tr h="365760">
                <a:tc>
                  <a:txBody>
                    <a:bodyPr/>
                    <a:lstStyle/>
                    <a:p>
                      <a:r>
                        <a:rPr sz="900" b="0">
                          <a:solidFill>
                            <a:srgbClr val="4B4B4B"/>
                          </a:solidFill>
                          <a:latin typeface="Arial"/>
                        </a:rPr>
                        <a:t>Input provided by</a:t>
                      </a:r>
                    </a:p>
                  </a:txBody>
                  <a:tcPr marL="73152" marR="73152" marT="36576" marB="36576">
                    <a:solidFill>
                      <a:srgbClr val="FFFFFF"/>
                    </a:solidFill>
                  </a:tcPr>
                </a:tc>
                <a:tc>
                  <a:txBody>
                    <a:bodyPr/>
                    <a:lstStyle/>
                    <a:p>
                      <a:r>
                        <a:rPr sz="900" b="0">
                          <a:solidFill>
                            <a:srgbClr val="4B4B4B"/>
                          </a:solidFill>
                          <a:latin typeface="Arial"/>
                        </a:rPr>
                        <a:t>Data Migration Lead (BDOI)</a:t>
                      </a:r>
                    </a:p>
                  </a:txBody>
                  <a:tcPr marL="73152" marR="73152" marT="36576" marB="36576">
                    <a:solidFill>
                      <a:srgbClr val="FFFFFF"/>
                    </a:solidFill>
                  </a:tcPr>
                </a:tc>
                <a:tc>
                  <a:txBody>
                    <a:bodyPr/>
                    <a:lstStyle/>
                    <a:p>
                      <a:r>
                        <a:rPr sz="900" b="0">
                          <a:solidFill>
                            <a:srgbClr val="4B4B4B"/>
                          </a:solidFill>
                          <a:latin typeface="Arial"/>
                        </a:rPr>
                        <a:t>The object decisions, the trial migrations, the gates and the cut-over plan match the business input</a:t>
                      </a:r>
                    </a:p>
                  </a:txBody>
                  <a:tcPr marL="73152" marR="73152" marT="36576" marB="36576">
                    <a:solidFill>
                      <a:srgbClr val="FFFFFF"/>
                    </a:solidFill>
                  </a:tcPr>
                </a:tc>
              </a:tr>
              <a:tr h="365760">
                <a:tc>
                  <a:txBody>
                    <a:bodyPr/>
                    <a:lstStyle/>
                    <a:p>
                      <a:r>
                        <a:rPr sz="900" b="0">
                          <a:solidFill>
                            <a:srgbClr val="4B4B4B"/>
                          </a:solidFill>
                          <a:latin typeface="Arial"/>
                        </a:rPr>
                        <a:t>Input provided by</a:t>
                      </a:r>
                    </a:p>
                  </a:txBody>
                  <a:tcPr marL="73152" marR="73152" marT="36576" marB="36576">
                    <a:solidFill>
                      <a:srgbClr val="E5F5FF"/>
                    </a:solidFill>
                  </a:tcPr>
                </a:tc>
                <a:tc>
                  <a:txBody>
                    <a:bodyPr/>
                    <a:lstStyle/>
                    <a:p>
                      <a:r>
                        <a:rPr sz="900" b="0">
                          <a:solidFill>
                            <a:srgbClr val="4B4B4B"/>
                          </a:solidFill>
                          <a:latin typeface="Arial"/>
                        </a:rPr>
                        <a:t>Data owners of the objects (department representatives named per object) (BDOI)</a:t>
                      </a:r>
                    </a:p>
                  </a:txBody>
                  <a:tcPr marL="73152" marR="73152" marT="36576" marB="36576">
                    <a:solidFill>
                      <a:srgbClr val="E5F5FF"/>
                    </a:solidFill>
                  </a:tcPr>
                </a:tc>
                <a:tc>
                  <a:txBody>
                    <a:bodyPr/>
                    <a:lstStyle/>
                    <a:p>
                      <a:r>
                        <a:rPr sz="900" b="0">
                          <a:solidFill>
                            <a:srgbClr val="4B4B4B"/>
                          </a:solidFill>
                          <a:latin typeface="Arial"/>
                        </a:rPr>
                        <a:t>Their objects, load templates, code maps and reconciliation</a:t>
                      </a:r>
                    </a:p>
                  </a:txBody>
                  <a:tcPr marL="73152" marR="73152" marT="36576" marB="36576">
                    <a:solidFill>
                      <a:srgbClr val="E5F5FF"/>
                    </a:solidFill>
                  </a:tcPr>
                </a:tc>
              </a:tr>
              <a:tr h="365760">
                <a:tc>
                  <a:txBody>
                    <a:bodyPr/>
                    <a:lstStyle/>
                    <a:p>
                      <a:r>
                        <a:rPr sz="900" b="0">
                          <a:solidFill>
                            <a:srgbClr val="4B4B4B"/>
                          </a:solidFill>
                          <a:latin typeface="Arial"/>
                        </a:rPr>
                        <a:t>Reviewed by</a:t>
                      </a:r>
                    </a:p>
                  </a:txBody>
                  <a:tcPr marL="73152" marR="73152" marT="36576" marB="36576">
                    <a:solidFill>
                      <a:srgbClr val="FFFFFF"/>
                    </a:solidFill>
                  </a:tcPr>
                </a:tc>
                <a:tc>
                  <a:txBody>
                    <a:bodyPr/>
                    <a:lstStyle/>
                    <a:p>
                      <a:r>
                        <a:rPr sz="900" b="0">
                          <a:solidFill>
                            <a:srgbClr val="4B4B4B"/>
                          </a:solidFill>
                          <a:latin typeface="Arial"/>
                        </a:rPr>
                        <a:t>Marketing Business System (MBS) (BDOI)</a:t>
                      </a:r>
                    </a:p>
                  </a:txBody>
                  <a:tcPr marL="73152" marR="73152" marT="36576" marB="36576">
                    <a:solidFill>
                      <a:srgbClr val="FFFFFF"/>
                    </a:solidFill>
                  </a:tcPr>
                </a:tc>
                <a:tc>
                  <a:txBody>
                    <a:bodyPr/>
                    <a:lstStyle/>
                    <a:p>
                      <a:r>
                        <a:rPr sz="900" b="0">
                          <a:solidFill>
                            <a:srgbClr val="4B4B4B"/>
                          </a:solidFill>
                          <a:latin typeface="Arial"/>
                        </a:rPr>
                        <a:t>The lists of values, products, packages, clients and payout accounts and their code maps</a:t>
                      </a:r>
                    </a:p>
                  </a:txBody>
                  <a:tcPr marL="73152" marR="73152" marT="36576" marB="36576">
                    <a:solidFill>
                      <a:srgbClr val="FFFFFF"/>
                    </a:solidFill>
                  </a:tcPr>
                </a:tc>
              </a:tr>
              <a:tr h="365760">
                <a:tc>
                  <a:txBody>
                    <a:bodyPr/>
                    <a:lstStyle/>
                    <a:p>
                      <a:r>
                        <a:rPr sz="900" b="0">
                          <a:solidFill>
                            <a:srgbClr val="4B4B4B"/>
                          </a:solidFill>
                          <a:latin typeface="Arial"/>
                        </a:rPr>
                        <a:t>Reviewed by</a:t>
                      </a:r>
                    </a:p>
                  </a:txBody>
                  <a:tcPr marL="73152" marR="73152" marT="36576" marB="36576">
                    <a:solidFill>
                      <a:srgbClr val="E5F5FF"/>
                    </a:solidFill>
                  </a:tcPr>
                </a:tc>
                <a:tc>
                  <a:txBody>
                    <a:bodyPr/>
                    <a:lstStyle/>
                    <a:p>
                      <a:r>
                        <a:rPr sz="900" b="0">
                          <a:solidFill>
                            <a:srgbClr val="4B4B4B"/>
                          </a:solidFill>
                          <a:latin typeface="Arial"/>
                        </a:rPr>
                        <a:t>BDOI Information Technology Group (BDOI IT) (BDOI)</a:t>
                      </a:r>
                    </a:p>
                  </a:txBody>
                  <a:tcPr marL="73152" marR="73152" marT="36576" marB="36576">
                    <a:solidFill>
                      <a:srgbClr val="E5F5FF"/>
                    </a:solidFill>
                  </a:tcPr>
                </a:tc>
                <a:tc>
                  <a:txBody>
                    <a:bodyPr/>
                    <a:lstStyle/>
                    <a:p>
                      <a:r>
                        <a:rPr sz="900" b="0">
                          <a:solidFill>
                            <a:srgbClr val="4B4B4B"/>
                          </a:solidFill>
                          <a:latin typeface="Arial"/>
                        </a:rPr>
                        <a:t>Extracts and their transfer, the legacy freeze and read-only access, decommissioning, and the Technical Specification (a separate document); not the business content</a:t>
                      </a:r>
                    </a:p>
                  </a:txBody>
                  <a:tcPr marL="73152" marR="73152" marT="36576" marB="36576">
                    <a:solidFill>
                      <a:srgbClr val="E5F5FF"/>
                    </a:solidFill>
                  </a:tcPr>
                </a:tc>
              </a:tr>
              <a:tr h="365760">
                <a:tc>
                  <a:txBody>
                    <a:bodyPr/>
                    <a:lstStyle/>
                    <a:p>
                      <a:r>
                        <a:rPr sz="900" b="0">
                          <a:solidFill>
                            <a:srgbClr val="4B4B4B"/>
                          </a:solidFill>
                          <a:latin typeface="Arial"/>
                        </a:rPr>
                        <a:t>Approved by</a:t>
                      </a:r>
                    </a:p>
                  </a:txBody>
                  <a:tcPr marL="73152" marR="73152" marT="36576" marB="36576">
                    <a:solidFill>
                      <a:srgbClr val="FFFFFF"/>
                    </a:solidFill>
                  </a:tcPr>
                </a:tc>
                <a:tc>
                  <a:txBody>
                    <a:bodyPr/>
                    <a:lstStyle/>
                    <a:p>
                      <a:r>
                        <a:rPr sz="900" b="0">
                          <a:solidFill>
                            <a:srgbClr val="4B4B4B"/>
                          </a:solidFill>
                          <a:latin typeface="Arial"/>
                        </a:rPr>
                        <a:t>Product Owner, Marketing Business System (BDOI)</a:t>
                      </a:r>
                    </a:p>
                  </a:txBody>
                  <a:tcPr marL="73152" marR="73152" marT="36576" marB="36576">
                    <a:solidFill>
                      <a:srgbClr val="FFFFFF"/>
                    </a:solidFill>
                  </a:tcPr>
                </a:tc>
                <a:tc>
                  <a:txBody>
                    <a:bodyPr/>
                    <a:lstStyle/>
                    <a:p>
                      <a:r>
                        <a:rPr sz="900" b="0">
                          <a:solidFill>
                            <a:srgbClr val="4B4B4B"/>
                          </a:solidFill>
                          <a:latin typeface="Arial"/>
                        </a:rPr>
                        <a:t>Owns the set and approves all of its contents</a:t>
                      </a:r>
                    </a:p>
                  </a:txBody>
                  <a:tcPr marL="73152" marR="73152" marT="36576" marB="36576">
                    <a:solidFill>
                      <a:srgbClr val="FFFFFF"/>
                    </a:solidFill>
                  </a:tcPr>
                </a:tc>
              </a:tr>
              <a:tr h="365760">
                <a:tc>
                  <a:txBody>
                    <a:bodyPr/>
                    <a:lstStyle/>
                    <a:p>
                      <a:r>
                        <a:rPr sz="900" b="0">
                          <a:solidFill>
                            <a:srgbClr val="4B4B4B"/>
                          </a:solidFill>
                          <a:latin typeface="Arial"/>
                        </a:rPr>
                        <a:t>Approved by</a:t>
                      </a:r>
                    </a:p>
                  </a:txBody>
                  <a:tcPr marL="73152" marR="73152" marT="36576" marB="36576">
                    <a:solidFill>
                      <a:srgbClr val="E5F5FF"/>
                    </a:solidFill>
                  </a:tcPr>
                </a:tc>
                <a:tc>
                  <a:txBody>
                    <a:bodyPr/>
                    <a:lstStyle/>
                    <a:p>
                      <a:r>
                        <a:rPr sz="900" b="0">
                          <a:solidFill>
                            <a:srgbClr val="4B4B4B"/>
                          </a:solidFill>
                          <a:latin typeface="Arial"/>
                        </a:rPr>
                        <a:t>Product Owner - Comptrollership - Disbursement (BDOI)</a:t>
                      </a:r>
                    </a:p>
                  </a:txBody>
                  <a:tcPr marL="73152" marR="73152" marT="36576" marB="36576">
                    <a:solidFill>
                      <a:srgbClr val="E5F5FF"/>
                    </a:solidFill>
                  </a:tcPr>
                </a:tc>
                <a:tc>
                  <a:txBody>
                    <a:bodyPr/>
                    <a:lstStyle/>
                    <a:p>
                      <a:r>
                        <a:rPr sz="900" b="0">
                          <a:solidFill>
                            <a:srgbClr val="4B4B4B"/>
                          </a:solidFill>
                          <a:latin typeface="Arial"/>
                        </a:rPr>
                        <a:t>Payees and open disbursements</a:t>
                      </a:r>
                    </a:p>
                  </a:txBody>
                  <a:tcPr marL="73152" marR="73152" marT="36576" marB="36576">
                    <a:solidFill>
                      <a:srgbClr val="E5F5FF"/>
                    </a:solidFill>
                  </a:tcPr>
                </a:tc>
              </a:tr>
              <a:tr h="365760">
                <a:tc>
                  <a:txBody>
                    <a:bodyPr/>
                    <a:lstStyle/>
                    <a:p>
                      <a:r>
                        <a:rPr sz="900" b="0">
                          <a:solidFill>
                            <a:srgbClr val="4B4B4B"/>
                          </a:solidFill>
                          <a:latin typeface="Arial"/>
                        </a:rPr>
                        <a:t>Approved by</a:t>
                      </a:r>
                    </a:p>
                  </a:txBody>
                  <a:tcPr marL="73152" marR="73152" marT="36576" marB="36576">
                    <a:solidFill>
                      <a:srgbClr val="FFFFFF"/>
                    </a:solidFill>
                  </a:tcPr>
                </a:tc>
                <a:tc>
                  <a:txBody>
                    <a:bodyPr/>
                    <a:lstStyle/>
                    <a:p>
                      <a:r>
                        <a:rPr sz="900" b="0">
                          <a:solidFill>
                            <a:srgbClr val="4B4B4B"/>
                          </a:solidFill>
                          <a:latin typeface="Arial"/>
                        </a:rPr>
                        <a:t>Product Owner - Comptrollership - FRBS and ACSL (BDOI)</a:t>
                      </a:r>
                    </a:p>
                  </a:txBody>
                  <a:tcPr marL="73152" marR="73152" marT="36576" marB="36576">
                    <a:solidFill>
                      <a:srgbClr val="FFFFFF"/>
                    </a:solidFill>
                  </a:tcPr>
                </a:tc>
                <a:tc>
                  <a:txBody>
                    <a:bodyPr/>
                    <a:lstStyle/>
                    <a:p>
                      <a:r>
                        <a:rPr sz="900" b="0">
                          <a:solidFill>
                            <a:srgbClr val="4B4B4B"/>
                          </a:solidFill>
                          <a:latin typeface="Arial"/>
                        </a:rPr>
                        <a:t>GL opening, legacy accounts and the subsidiary ledger</a:t>
                      </a:r>
                    </a:p>
                  </a:txBody>
                  <a:tcPr marL="73152" marR="73152" marT="36576" marB="36576">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Who signs what: signatories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a:t>
            </a:r>
          </a:p>
        </p:txBody>
      </p:sp>
      <p:graphicFrame>
        <p:nvGraphicFramePr>
          <p:cNvPr id="9" name="Table 8"/>
          <p:cNvGraphicFramePr>
            <a:graphicFrameLocks noGrp="1"/>
          </p:cNvGraphicFramePr>
          <p:nvPr/>
        </p:nvGraphicFramePr>
        <p:xfrm>
          <a:off x="548640" y="1371600"/>
          <a:ext cx="11094413" cy="3291840"/>
        </p:xfrm>
        <a:graphic>
          <a:graphicData uri="http://schemas.openxmlformats.org/drawingml/2006/table">
            <a:tbl>
              <a:tblPr firstRow="1" bandRow="1">
                <a:tableStyleId>{5C22544A-7EE6-4342-B048-85BDC9FD1C3A}</a:tableStyleId>
              </a:tblPr>
              <a:tblGrid>
                <a:gridCol w="1672967"/>
                <a:gridCol w="4050341"/>
                <a:gridCol w="5371105"/>
              </a:tblGrid>
              <a:tr h="365760">
                <a:tc>
                  <a:txBody>
                    <a:bodyPr/>
                    <a:lstStyle/>
                    <a:p>
                      <a:r>
                        <a:rPr sz="900" b="1">
                          <a:solidFill>
                            <a:srgbClr val="FFFFFF"/>
                          </a:solidFill>
                          <a:latin typeface="Arial"/>
                        </a:rPr>
                        <a:t>Capacity</a:t>
                      </a:r>
                    </a:p>
                  </a:txBody>
                  <a:tcPr marL="73152" marR="73152" marT="36576" marB="36576">
                    <a:solidFill>
                      <a:srgbClr val="004EA8"/>
                    </a:solidFill>
                  </a:tcPr>
                </a:tc>
                <a:tc>
                  <a:txBody>
                    <a:bodyPr/>
                    <a:lstStyle/>
                    <a:p>
                      <a:r>
                        <a:rPr sz="900" b="1">
                          <a:solidFill>
                            <a:srgbClr val="FFFFFF"/>
                          </a:solidFill>
                          <a:latin typeface="Arial"/>
                        </a:rPr>
                        <a:t>Role</a:t>
                      </a:r>
                    </a:p>
                  </a:txBody>
                  <a:tcPr marL="73152" marR="73152" marT="36576" marB="36576">
                    <a:solidFill>
                      <a:srgbClr val="004EA8"/>
                    </a:solidFill>
                  </a:tcPr>
                </a:tc>
                <a:tc>
                  <a:txBody>
                    <a:bodyPr/>
                    <a:lstStyle/>
                    <a:p>
                      <a:r>
                        <a:rPr sz="900" b="1">
                          <a:solidFill>
                            <a:srgbClr val="FFFFFF"/>
                          </a:solidFill>
                          <a:latin typeface="Arial"/>
                        </a:rPr>
                        <a:t>Confirms by signing</a:t>
                      </a:r>
                    </a:p>
                  </a:txBody>
                  <a:tcPr marL="73152" marR="73152" marT="36576" marB="36576">
                    <a:solidFill>
                      <a:srgbClr val="004EA8"/>
                    </a:solidFill>
                  </a:tcPr>
                </a:tc>
              </a:tr>
              <a:tr h="365760">
                <a:tc>
                  <a:txBody>
                    <a:bodyPr/>
                    <a:lstStyle/>
                    <a:p>
                      <a:r>
                        <a:rPr sz="900" b="0">
                          <a:solidFill>
                            <a:srgbClr val="4B4B4B"/>
                          </a:solidFill>
                          <a:latin typeface="Arial"/>
                        </a:rPr>
                        <a:t>Approved by</a:t>
                      </a:r>
                    </a:p>
                  </a:txBody>
                  <a:tcPr marL="73152" marR="73152" marT="36576" marB="36576">
                    <a:solidFill>
                      <a:srgbClr val="FFFFFF"/>
                    </a:solidFill>
                  </a:tcPr>
                </a:tc>
                <a:tc>
                  <a:txBody>
                    <a:bodyPr/>
                    <a:lstStyle/>
                    <a:p>
                      <a:r>
                        <a:rPr sz="900" b="0">
                          <a:solidFill>
                            <a:srgbClr val="4B4B4B"/>
                          </a:solidFill>
                          <a:latin typeface="Arial"/>
                        </a:rPr>
                        <a:t>Operations: Financial Transactions and Processing (BDOI)</a:t>
                      </a:r>
                    </a:p>
                  </a:txBody>
                  <a:tcPr marL="73152" marR="73152" marT="36576" marB="36576">
                    <a:solidFill>
                      <a:srgbClr val="FFFFFF"/>
                    </a:solidFill>
                  </a:tcPr>
                </a:tc>
                <a:tc>
                  <a:txBody>
                    <a:bodyPr/>
                    <a:lstStyle/>
                    <a:p>
                      <a:r>
                        <a:rPr sz="900" b="0">
                          <a:solidFill>
                            <a:srgbClr val="4B4B4B"/>
                          </a:solidFill>
                          <a:latin typeface="Arial"/>
                        </a:rPr>
                        <a:t>Open invoices, unapplied payments, collection state and remittance</a:t>
                      </a:r>
                    </a:p>
                  </a:txBody>
                  <a:tcPr marL="73152" marR="73152" marT="36576" marB="36576">
                    <a:solidFill>
                      <a:srgbClr val="FFFFFF"/>
                    </a:solidFill>
                  </a:tcPr>
                </a:tc>
              </a:tr>
              <a:tr h="365760">
                <a:tc>
                  <a:txBody>
                    <a:bodyPr/>
                    <a:lstStyle/>
                    <a:p>
                      <a:r>
                        <a:rPr sz="900" b="0">
                          <a:solidFill>
                            <a:srgbClr val="4B4B4B"/>
                          </a:solidFill>
                          <a:latin typeface="Arial"/>
                        </a:rPr>
                        <a:t>Approved by</a:t>
                      </a:r>
                    </a:p>
                  </a:txBody>
                  <a:tcPr marL="73152" marR="73152" marT="36576" marB="36576">
                    <a:solidFill>
                      <a:srgbClr val="E5F5FF"/>
                    </a:solidFill>
                  </a:tcPr>
                </a:tc>
                <a:tc>
                  <a:txBody>
                    <a:bodyPr/>
                    <a:lstStyle/>
                    <a:p>
                      <a:r>
                        <a:rPr sz="900" b="0">
                          <a:solidFill>
                            <a:srgbClr val="4B4B4B"/>
                          </a:solidFill>
                          <a:latin typeface="Arial"/>
                        </a:rPr>
                        <a:t>Head - Operations (BDOI)</a:t>
                      </a:r>
                    </a:p>
                  </a:txBody>
                  <a:tcPr marL="73152" marR="73152" marT="36576" marB="36576">
                    <a:solidFill>
                      <a:srgbClr val="E5F5FF"/>
                    </a:solidFill>
                  </a:tcPr>
                </a:tc>
                <a:tc>
                  <a:txBody>
                    <a:bodyPr/>
                    <a:lstStyle/>
                    <a:p>
                      <a:r>
                        <a:rPr sz="900" b="0">
                          <a:solidFill>
                            <a:srgbClr val="4B4B4B"/>
                          </a:solidFill>
                          <a:latin typeface="Arial"/>
                        </a:rPr>
                        <a:t>Insurers, commission rates and policy headers</a:t>
                      </a:r>
                    </a:p>
                  </a:txBody>
                  <a:tcPr marL="73152" marR="73152" marT="36576" marB="36576">
                    <a:solidFill>
                      <a:srgbClr val="E5F5FF"/>
                    </a:solidFill>
                  </a:tcPr>
                </a:tc>
              </a:tr>
              <a:tr h="365760">
                <a:tc>
                  <a:txBody>
                    <a:bodyPr/>
                    <a:lstStyle/>
                    <a:p>
                      <a:r>
                        <a:rPr sz="900" b="0">
                          <a:solidFill>
                            <a:srgbClr val="4B4B4B"/>
                          </a:solidFill>
                          <a:latin typeface="Arial"/>
                        </a:rPr>
                        <a:t>Approved by</a:t>
                      </a:r>
                    </a:p>
                  </a:txBody>
                  <a:tcPr marL="73152" marR="73152" marT="36576" marB="36576">
                    <a:solidFill>
                      <a:srgbClr val="FFFFFF"/>
                    </a:solidFill>
                  </a:tcPr>
                </a:tc>
                <a:tc>
                  <a:txBody>
                    <a:bodyPr/>
                    <a:lstStyle/>
                    <a:p>
                      <a:r>
                        <a:rPr sz="900" b="0">
                          <a:solidFill>
                            <a:srgbClr val="4B4B4B"/>
                          </a:solidFill>
                          <a:latin typeface="Arial"/>
                        </a:rPr>
                        <a:t>Unit Head - Analytics and Risk Management (BDOI)</a:t>
                      </a:r>
                    </a:p>
                  </a:txBody>
                  <a:tcPr marL="73152" marR="73152" marT="36576" marB="36576">
                    <a:solidFill>
                      <a:srgbClr val="FFFFFF"/>
                    </a:solidFill>
                  </a:tcPr>
                </a:tc>
                <a:tc>
                  <a:txBody>
                    <a:bodyPr/>
                    <a:lstStyle/>
                    <a:p>
                      <a:r>
                        <a:rPr sz="900" b="0">
                          <a:solidFill>
                            <a:srgbClr val="4B4B4B"/>
                          </a:solidFill>
                          <a:latin typeface="Arial"/>
                        </a:rPr>
                        <a:t>KYC documents, the archive, Legacy Inquiry and its access log</a:t>
                      </a:r>
                    </a:p>
                  </a:txBody>
                  <a:tcPr marL="73152" marR="73152" marT="36576" marB="36576">
                    <a:solidFill>
                      <a:srgbClr val="FFFFFF"/>
                    </a:solidFill>
                  </a:tcPr>
                </a:tc>
              </a:tr>
              <a:tr h="365760">
                <a:tc>
                  <a:txBody>
                    <a:bodyPr/>
                    <a:lstStyle/>
                    <a:p>
                      <a:r>
                        <a:rPr sz="900" b="0">
                          <a:solidFill>
                            <a:srgbClr val="4B4B4B"/>
                          </a:solidFill>
                          <a:latin typeface="Arial"/>
                        </a:rPr>
                        <a:t>Approved by</a:t>
                      </a:r>
                    </a:p>
                  </a:txBody>
                  <a:tcPr marL="73152" marR="73152" marT="36576" marB="36576">
                    <a:solidFill>
                      <a:srgbClr val="E5F5FF"/>
                    </a:solidFill>
                  </a:tcPr>
                </a:tc>
                <a:tc>
                  <a:txBody>
                    <a:bodyPr/>
                    <a:lstStyle/>
                    <a:p>
                      <a:r>
                        <a:rPr sz="900" b="0">
                          <a:solidFill>
                            <a:srgbClr val="4B4B4B"/>
                          </a:solidFill>
                          <a:latin typeface="Arial"/>
                        </a:rPr>
                        <a:t>Unit Head - Claims, Analytics, Risk Management, Reinsurance and Technical Underwriting (BDOI)</a:t>
                      </a:r>
                    </a:p>
                  </a:txBody>
                  <a:tcPr marL="73152" marR="73152" marT="36576" marB="36576">
                    <a:solidFill>
                      <a:srgbClr val="E5F5FF"/>
                    </a:solidFill>
                  </a:tcPr>
                </a:tc>
                <a:tc>
                  <a:txBody>
                    <a:bodyPr/>
                    <a:lstStyle/>
                    <a:p>
                      <a:r>
                        <a:rPr sz="900" b="0">
                          <a:solidFill>
                            <a:srgbClr val="4B4B4B"/>
                          </a:solidFill>
                          <a:latin typeface="Arial"/>
                        </a:rPr>
                        <a:t>The renewal advices already sent and the day-1 renewal queue</a:t>
                      </a:r>
                    </a:p>
                  </a:txBody>
                  <a:tcPr marL="73152" marR="73152" marT="36576" marB="36576">
                    <a:solidFill>
                      <a:srgbClr val="E5F5FF"/>
                    </a:solidFill>
                  </a:tcPr>
                </a:tc>
              </a:tr>
              <a:tr h="365760">
                <a:tc>
                  <a:txBody>
                    <a:bodyPr/>
                    <a:lstStyle/>
                    <a:p>
                      <a:r>
                        <a:rPr sz="900" b="0">
                          <a:solidFill>
                            <a:srgbClr val="4B4B4B"/>
                          </a:solidFill>
                          <a:latin typeface="Arial"/>
                        </a:rPr>
                        <a:t>Approved by</a:t>
                      </a:r>
                    </a:p>
                  </a:txBody>
                  <a:tcPr marL="73152" marR="73152" marT="36576" marB="36576">
                    <a:solidFill>
                      <a:srgbClr val="FFFFFF"/>
                    </a:solidFill>
                  </a:tcPr>
                </a:tc>
                <a:tc>
                  <a:txBody>
                    <a:bodyPr/>
                    <a:lstStyle/>
                    <a:p>
                      <a:r>
                        <a:rPr sz="900" b="0">
                          <a:solidFill>
                            <a:srgbClr val="4B4B4B"/>
                          </a:solidFill>
                          <a:latin typeface="Arial"/>
                        </a:rPr>
                        <a:t>Unit Head - Combank and Corbank (BDOI)</a:t>
                      </a:r>
                    </a:p>
                  </a:txBody>
                  <a:tcPr marL="73152" marR="73152" marT="36576" marB="36576">
                    <a:solidFill>
                      <a:srgbClr val="FFFFFF"/>
                    </a:solidFill>
                  </a:tcPr>
                </a:tc>
                <a:tc>
                  <a:txBody>
                    <a:bodyPr/>
                    <a:lstStyle/>
                    <a:p>
                      <a:r>
                        <a:rPr sz="900" b="0">
                          <a:solidFill>
                            <a:srgbClr val="4B4B4B"/>
                          </a:solidFill>
                          <a:latin typeface="Arial"/>
                        </a:rPr>
                        <a:t>Clients and the sales organisation of Combank and Corbank</a:t>
                      </a:r>
                    </a:p>
                  </a:txBody>
                  <a:tcPr marL="73152" marR="73152" marT="36576" marB="36576">
                    <a:solidFill>
                      <a:srgbClr val="FFFFFF"/>
                    </a:solidFill>
                  </a:tcPr>
                </a:tc>
              </a:tr>
              <a:tr h="365760">
                <a:tc>
                  <a:txBody>
                    <a:bodyPr/>
                    <a:lstStyle/>
                    <a:p>
                      <a:r>
                        <a:rPr sz="900" b="0">
                          <a:solidFill>
                            <a:srgbClr val="4B4B4B"/>
                          </a:solidFill>
                          <a:latin typeface="Arial"/>
                        </a:rPr>
                        <a:t>Approved by</a:t>
                      </a:r>
                    </a:p>
                  </a:txBody>
                  <a:tcPr marL="73152" marR="73152" marT="36576" marB="36576">
                    <a:solidFill>
                      <a:srgbClr val="E5F5FF"/>
                    </a:solidFill>
                  </a:tcPr>
                </a:tc>
                <a:tc>
                  <a:txBody>
                    <a:bodyPr/>
                    <a:lstStyle/>
                    <a:p>
                      <a:r>
                        <a:rPr sz="900" b="0">
                          <a:solidFill>
                            <a:srgbClr val="4B4B4B"/>
                          </a:solidFill>
                          <a:latin typeface="Arial"/>
                        </a:rPr>
                        <a:t>Head - Comptrollership (BDOI)</a:t>
                      </a:r>
                    </a:p>
                  </a:txBody>
                  <a:tcPr marL="73152" marR="73152" marT="36576" marB="36576">
                    <a:solidFill>
                      <a:srgbClr val="E5F5FF"/>
                    </a:solidFill>
                  </a:tcPr>
                </a:tc>
                <a:tc>
                  <a:txBody>
                    <a:bodyPr/>
                    <a:lstStyle/>
                    <a:p>
                      <a:r>
                        <a:rPr sz="900" b="0">
                          <a:solidFill>
                            <a:srgbClr val="4B4B4B"/>
                          </a:solidFill>
                          <a:latin typeface="Arial"/>
                        </a:rPr>
                        <a:t>Open items, GL opening, reconciliation and the opening-balance adjustments</a:t>
                      </a:r>
                    </a:p>
                  </a:txBody>
                  <a:tcPr marL="73152" marR="73152" marT="36576" marB="36576">
                    <a:solidFill>
                      <a:srgbClr val="E5F5FF"/>
                    </a:solidFill>
                  </a:tcPr>
                </a:tc>
              </a:tr>
              <a:tr h="365760">
                <a:tc>
                  <a:txBody>
                    <a:bodyPr/>
                    <a:lstStyle/>
                    <a:p>
                      <a:r>
                        <a:rPr sz="900" b="0">
                          <a:solidFill>
                            <a:srgbClr val="4B4B4B"/>
                          </a:solidFill>
                          <a:latin typeface="Arial"/>
                        </a:rPr>
                        <a:t>Approved by</a:t>
                      </a:r>
                    </a:p>
                  </a:txBody>
                  <a:tcPr marL="73152" marR="73152" marT="36576" marB="36576">
                    <a:solidFill>
                      <a:srgbClr val="FFFFFF"/>
                    </a:solidFill>
                  </a:tcPr>
                </a:tc>
                <a:tc>
                  <a:txBody>
                    <a:bodyPr/>
                    <a:lstStyle/>
                    <a:p>
                      <a:r>
                        <a:rPr sz="900" b="0">
                          <a:solidFill>
                            <a:srgbClr val="4B4B4B"/>
                          </a:solidFill>
                          <a:latin typeface="Arial"/>
                        </a:rPr>
                        <a:t>Head - Retail Marketing (BDOI)</a:t>
                      </a:r>
                    </a:p>
                  </a:txBody>
                  <a:tcPr marL="73152" marR="73152" marT="36576" marB="36576">
                    <a:solidFill>
                      <a:srgbClr val="FFFFFF"/>
                    </a:solidFill>
                  </a:tcPr>
                </a:tc>
                <a:tc>
                  <a:txBody>
                    <a:bodyPr/>
                    <a:lstStyle/>
                    <a:p>
                      <a:r>
                        <a:rPr sz="900" b="0">
                          <a:solidFill>
                            <a:srgbClr val="4B4B4B"/>
                          </a:solidFill>
                          <a:latin typeface="Arial"/>
                        </a:rPr>
                        <a:t>Clients and the sales organisation of Retail Marketing</a:t>
                      </a:r>
                    </a:p>
                  </a:txBody>
                  <a:tcPr marL="73152" marR="73152" marT="36576" marB="36576">
                    <a:solidFill>
                      <a:srgbClr val="FFFFFF"/>
                    </a:solidFill>
                  </a:tcPr>
                </a:tc>
              </a:tr>
              <a:tr h="365760">
                <a:tc>
                  <a:txBody>
                    <a:bodyPr/>
                    <a:lstStyle/>
                    <a:p>
                      <a:r>
                        <a:rPr sz="900" b="0">
                          <a:solidFill>
                            <a:srgbClr val="4B4B4B"/>
                          </a:solidFill>
                          <a:latin typeface="Arial"/>
                        </a:rPr>
                        <a:t>Approved by</a:t>
                      </a:r>
                    </a:p>
                  </a:txBody>
                  <a:tcPr marL="73152" marR="73152" marT="36576" marB="36576">
                    <a:solidFill>
                      <a:srgbClr val="E5F5FF"/>
                    </a:solidFill>
                  </a:tcPr>
                </a:tc>
                <a:tc>
                  <a:txBody>
                    <a:bodyPr/>
                    <a:lstStyle/>
                    <a:p>
                      <a:r>
                        <a:rPr sz="900" b="0">
                          <a:solidFill>
                            <a:srgbClr val="4B4B4B"/>
                          </a:solidFill>
                          <a:latin typeface="Arial"/>
                        </a:rPr>
                        <a:t>Head - Corporate and Retail Marketing (BDOI)</a:t>
                      </a:r>
                    </a:p>
                  </a:txBody>
                  <a:tcPr marL="73152" marR="73152" marT="36576" marB="36576">
                    <a:solidFill>
                      <a:srgbClr val="E5F5FF"/>
                    </a:solidFill>
                  </a:tcPr>
                </a:tc>
                <a:tc>
                  <a:txBody>
                    <a:bodyPr/>
                    <a:lstStyle/>
                    <a:p>
                      <a:r>
                        <a:rPr sz="900" b="0">
                          <a:solidFill>
                            <a:srgbClr val="4B4B4B"/>
                          </a:solidFill>
                          <a:latin typeface="Arial"/>
                        </a:rPr>
                        <a:t>Clients and the sales organisation of Corporate Marketing</a:t>
                      </a:r>
                    </a:p>
                  </a:txBody>
                  <a:tcPr marL="73152" marR="73152" marT="36576" marB="36576">
                    <a:solidFill>
                      <a:srgbClr val="E5F5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How to fill in the sign-off workbook</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a:t>
            </a:r>
          </a:p>
        </p:txBody>
      </p:sp>
      <p:pic>
        <p:nvPicPr>
          <p:cNvPr id="9" name="Picture 8" descr="signoff-workbook-object-catalogue.png"/>
          <p:cNvPicPr>
            <a:picLocks noChangeAspect="1"/>
          </p:cNvPicPr>
          <p:nvPr/>
        </p:nvPicPr>
        <p:blipFill>
          <a:blip r:embed="rId3"/>
          <a:stretch>
            <a:fillRect/>
          </a:stretch>
        </p:blipFill>
        <p:spPr>
          <a:xfrm>
            <a:off x="548640" y="1325880"/>
            <a:ext cx="7498079" cy="2607741"/>
          </a:xfrm>
          <a:prstGeom prst="rect">
            <a:avLst/>
          </a:prstGeom>
          <a:ln w="9525">
            <a:solidFill>
              <a:srgbClr val="C2C2C1"/>
            </a:solidFill>
          </a:ln>
        </p:spPr>
      </p:pic>
      <p:sp>
        <p:nvSpPr>
          <p:cNvPr id="10" name="TextBox 9"/>
          <p:cNvSpPr txBox="1"/>
          <p:nvPr/>
        </p:nvSpPr>
        <p:spPr>
          <a:xfrm>
            <a:off x="548640" y="5852160"/>
            <a:ext cx="7498079" cy="320040"/>
          </a:xfrm>
          <a:prstGeom prst="rect">
            <a:avLst/>
          </a:prstGeom>
          <a:noFill/>
        </p:spPr>
        <p:txBody>
          <a:bodyPr wrap="square" anchor="t" lIns="45720" rIns="45720">
            <a:spAutoFit/>
          </a:bodyPr>
          <a:lstStyle/>
          <a:p>
            <a:pPr algn="ctr"/>
            <a:r>
              <a:rPr sz="1100" b="0" i="1">
                <a:solidFill>
                  <a:srgbClr val="656565"/>
                </a:solidFill>
                <a:latin typeface="Arial"/>
              </a:rPr>
              <a:t>Object catalogue sheet of the Migration Workbook</a:t>
            </a:r>
          </a:p>
        </p:txBody>
      </p:sp>
      <p:sp>
        <p:nvSpPr>
          <p:cNvPr id="11" name="Rectangle 10"/>
          <p:cNvSpPr/>
          <p:nvPr/>
        </p:nvSpPr>
        <p:spPr>
          <a:xfrm>
            <a:off x="8321039" y="1325880"/>
            <a:ext cx="3322016" cy="48463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321039" y="1325880"/>
            <a:ext cx="50800" cy="48463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58199" y="1417320"/>
            <a:ext cx="3093416" cy="4480560"/>
          </a:xfrm>
          <a:prstGeom prst="rect">
            <a:avLst/>
          </a:prstGeom>
          <a:noFill/>
        </p:spPr>
        <p:txBody>
          <a:bodyPr wrap="square">
            <a:spAutoFit/>
          </a:bodyPr>
          <a:lstStyle/>
          <a:p>
            <a:pPr>
              <a:spcAft>
                <a:spcPts val="600"/>
              </a:spcAft>
            </a:pPr>
            <a:r>
              <a:rPr sz="1300">
                <a:solidFill>
                  <a:srgbClr val="004EA8"/>
                </a:solidFill>
                <a:latin typeface="Arial"/>
              </a:rPr>
              <a:t>•  </a:t>
            </a:r>
            <a:r>
              <a:rPr sz="1300">
                <a:solidFill>
                  <a:srgbClr val="4B4B4B"/>
                </a:solidFill>
                <a:latin typeface="Arial"/>
              </a:rPr>
              <a:t>Review the rows of your objects: Object catalogue, Data owners, Code maps, Validation rules, Cut-over tasks, Reconciliation sign-off</a:t>
            </a:r>
          </a:p>
          <a:p>
            <a:pPr>
              <a:spcAft>
                <a:spcPts val="600"/>
              </a:spcAft>
            </a:pPr>
            <a:r>
              <a:rPr sz="1300">
                <a:solidFill>
                  <a:srgbClr val="004EA8"/>
                </a:solidFill>
                <a:latin typeface="Arial"/>
              </a:rPr>
              <a:t>•  </a:t>
            </a:r>
            <a:r>
              <a:rPr sz="1300">
                <a:solidFill>
                  <a:srgbClr val="4B4B4B"/>
                </a:solidFill>
                <a:latin typeface="Arial"/>
              </a:rPr>
              <a:t>Load templates: in load order; on each template sheet the BU review rows sit above the columns</a:t>
            </a:r>
          </a:p>
          <a:p>
            <a:pPr>
              <a:spcAft>
                <a:spcPts val="600"/>
              </a:spcAft>
            </a:pPr>
            <a:r>
              <a:rPr sz="1300">
                <a:solidFill>
                  <a:srgbClr val="004EA8"/>
                </a:solidFill>
                <a:latin typeface="Arial"/>
              </a:rPr>
              <a:t>•  </a:t>
            </a:r>
            <a:r>
              <a:rPr sz="1300">
                <a:solidFill>
                  <a:srgbClr val="4B4B4B"/>
                </a:solidFill>
                <a:latin typeface="Arial"/>
              </a:rPr>
              <a:t>BU review: Accept, Change requested or Comment</a:t>
            </a:r>
          </a:p>
          <a:p>
            <a:pPr>
              <a:spcAft>
                <a:spcPts val="600"/>
              </a:spcAft>
            </a:pPr>
            <a:r>
              <a:rPr sz="1300">
                <a:solidFill>
                  <a:srgbClr val="004EA8"/>
                </a:solidFill>
                <a:latin typeface="Arial"/>
              </a:rPr>
              <a:t>•  </a:t>
            </a:r>
            <a:r>
              <a:rPr sz="1300">
                <a:solidFill>
                  <a:srgbClr val="4B4B4B"/>
                </a:solidFill>
                <a:latin typeface="Arial"/>
              </a:rPr>
              <a:t>BU comment: the change asked for</a:t>
            </a:r>
          </a:p>
          <a:p>
            <a:pPr>
              <a:spcAft>
                <a:spcPts val="600"/>
              </a:spcAft>
            </a:pPr>
            <a:r>
              <a:rPr sz="1300">
                <a:solidFill>
                  <a:srgbClr val="004EA8"/>
                </a:solidFill>
                <a:latin typeface="Arial"/>
              </a:rPr>
              <a:t>•  </a:t>
            </a:r>
            <a:r>
              <a:rPr sz="1300">
                <a:solidFill>
                  <a:srgbClr val="4B4B4B"/>
                </a:solidFill>
                <a:latin typeface="Arial"/>
              </a:rPr>
              <a:t>Proposed rules: the BDOI decision on each rule</a:t>
            </a:r>
          </a:p>
          <a:p>
            <a:pPr>
              <a:spcAft>
                <a:spcPts val="600"/>
              </a:spcAft>
            </a:pPr>
            <a:r>
              <a:rPr sz="1300">
                <a:solidFill>
                  <a:srgbClr val="004EA8"/>
                </a:solidFill>
                <a:latin typeface="Arial"/>
              </a:rPr>
              <a:t>•  </a:t>
            </a:r>
            <a:r>
              <a:rPr sz="1300">
                <a:solidFill>
                  <a:srgbClr val="4B4B4B"/>
                </a:solidFill>
                <a:latin typeface="Arial"/>
              </a:rPr>
              <a:t>Questions go to the Comments log</a:t>
            </a:r>
          </a:p>
          <a:p>
            <a:pPr>
              <a:spcAft>
                <a:spcPts val="600"/>
              </a:spcAft>
            </a:pPr>
            <a:r>
              <a:rPr sz="1300">
                <a:solidFill>
                  <a:srgbClr val="004EA8"/>
                </a:solidFill>
                <a:latin typeface="Arial"/>
              </a:rPr>
              <a:t>•  </a:t>
            </a:r>
            <a:r>
              <a:rPr sz="1300">
                <a:solidFill>
                  <a:srgbClr val="4B4B4B"/>
                </a:solidFill>
                <a:latin typeface="Arial"/>
              </a:rPr>
              <a:t>Leave the other columns unchanged; one workbook per unit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Data Migration at a glance: process flow</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a:t>
            </a:r>
          </a:p>
        </p:txBody>
      </p:sp>
      <p:pic>
        <p:nvPicPr>
          <p:cNvPr id="9" name="Picture 8" descr="brd13_process_flow.png"/>
          <p:cNvPicPr>
            <a:picLocks noChangeAspect="1"/>
          </p:cNvPicPr>
          <p:nvPr/>
        </p:nvPicPr>
        <p:blipFill>
          <a:blip r:embed="rId3"/>
          <a:stretch>
            <a:fillRect/>
          </a:stretch>
        </p:blipFill>
        <p:spPr>
          <a:xfrm>
            <a:off x="2239541" y="1325880"/>
            <a:ext cx="7712612" cy="4480560"/>
          </a:xfrm>
          <a:prstGeom prst="rect">
            <a:avLst/>
          </a:prstGeom>
          <a:ln w="9525">
            <a:solidFill>
              <a:srgbClr val="C2C2C1"/>
            </a:solidFill>
          </a:ln>
        </p:spPr>
      </p:pic>
      <p:sp>
        <p:nvSpPr>
          <p:cNvPr id="10" name="TextBox 9"/>
          <p:cNvSpPr txBox="1"/>
          <p:nvPr/>
        </p:nvSpPr>
        <p:spPr>
          <a:xfrm>
            <a:off x="548640" y="5852160"/>
            <a:ext cx="11094415" cy="320040"/>
          </a:xfrm>
          <a:prstGeom prst="rect">
            <a:avLst/>
          </a:prstGeom>
          <a:noFill/>
        </p:spPr>
        <p:txBody>
          <a:bodyPr wrap="square" anchor="t" lIns="45720" rIns="45720">
            <a:spAutoFit/>
          </a:bodyPr>
          <a:lstStyle/>
          <a:p>
            <a:pPr algn="ctr"/>
            <a:r>
              <a:rPr sz="1100" b="0" i="1">
                <a:solidFill>
                  <a:srgbClr val="656565"/>
                </a:solidFill>
                <a:latin typeface="Arial"/>
              </a:rPr>
              <a:t>The way of every data object: from its decision to its acceptance, with the gates G1 to G6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Data Migration at a glance: personas and menus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a:t>
            </a:r>
          </a:p>
        </p:txBody>
      </p:sp>
      <p:graphicFrame>
        <p:nvGraphicFramePr>
          <p:cNvPr id="9" name="Table 8"/>
          <p:cNvGraphicFramePr>
            <a:graphicFrameLocks noGrp="1"/>
          </p:cNvGraphicFramePr>
          <p:nvPr/>
        </p:nvGraphicFramePr>
        <p:xfrm>
          <a:off x="548640" y="1371600"/>
          <a:ext cx="11094413" cy="5852160"/>
        </p:xfrm>
        <a:graphic>
          <a:graphicData uri="http://schemas.openxmlformats.org/drawingml/2006/table">
            <a:tbl>
              <a:tblPr firstRow="1" bandRow="1">
                <a:tableStyleId>{5C22544A-7EE6-4342-B048-85BDC9FD1C3A}</a:tableStyleId>
              </a:tblPr>
              <a:tblGrid>
                <a:gridCol w="2641527"/>
                <a:gridCol w="1144661"/>
                <a:gridCol w="968560"/>
                <a:gridCol w="6339665"/>
              </a:tblGrid>
              <a:tr h="365760">
                <a:tc>
                  <a:txBody>
                    <a:bodyPr/>
                    <a:lstStyle/>
                    <a:p>
                      <a:r>
                        <a:rPr sz="1000" b="1">
                          <a:solidFill>
                            <a:srgbClr val="FFFFFF"/>
                          </a:solidFill>
                          <a:latin typeface="Arial"/>
                        </a:rPr>
                        <a:t>Persona</a:t>
                      </a:r>
                    </a:p>
                  </a:txBody>
                  <a:tcPr marL="73152" marR="73152" marT="36576" marB="36576">
                    <a:solidFill>
                      <a:srgbClr val="004EA8"/>
                    </a:solidFill>
                  </a:tcPr>
                </a:tc>
                <a:tc>
                  <a:txBody>
                    <a:bodyPr/>
                    <a:lstStyle/>
                    <a:p>
                      <a:r>
                        <a:rPr sz="1000" b="1">
                          <a:solidFill>
                            <a:srgbClr val="FFFFFF"/>
                          </a:solidFill>
                          <a:latin typeface="Arial"/>
                        </a:rPr>
                        <a:t>SIT user</a:t>
                      </a:r>
                    </a:p>
                  </a:txBody>
                  <a:tcPr marL="73152" marR="73152" marT="36576" marB="36576">
                    <a:solidFill>
                      <a:srgbClr val="004EA8"/>
                    </a:solidFill>
                  </a:tcPr>
                </a:tc>
                <a:tc>
                  <a:txBody>
                    <a:bodyPr/>
                    <a:lstStyle/>
                    <a:p>
                      <a:r>
                        <a:rPr sz="1000" b="1">
                          <a:solidFill>
                            <a:srgbClr val="FFFFFF"/>
                          </a:solidFill>
                          <a:latin typeface="Arial"/>
                        </a:rPr>
                        <a:t>Screens</a:t>
                      </a:r>
                    </a:p>
                  </a:txBody>
                  <a:tcPr marL="73152" marR="73152" marT="36576" marB="36576">
                    <a:solidFill>
                      <a:srgbClr val="004EA8"/>
                    </a:solidFill>
                  </a:tcPr>
                </a:tc>
                <a:tc>
                  <a:txBody>
                    <a:bodyPr/>
                    <a:lstStyle/>
                    <a:p>
                      <a:r>
                        <a:rPr sz="1000" b="1">
                          <a:solidFill>
                            <a:srgbClr val="FFFFFF"/>
                          </a:solidFill>
                          <a:latin typeface="Arial"/>
                        </a:rPr>
                        <a:t>Menu sections</a:t>
                      </a:r>
                    </a:p>
                  </a:txBody>
                  <a:tcPr marL="73152" marR="73152" marT="36576" marB="36576">
                    <a:solidFill>
                      <a:srgbClr val="004EA8"/>
                    </a:solidFill>
                  </a:tcPr>
                </a:tc>
              </a:tr>
              <a:tr h="365760">
                <a:tc>
                  <a:txBody>
                    <a:bodyPr/>
                    <a:lstStyle/>
                    <a:p>
                      <a:r>
                        <a:rPr sz="1000" b="0">
                          <a:solidFill>
                            <a:srgbClr val="4B4B4B"/>
                          </a:solidFill>
                          <a:latin typeface="Arial"/>
                        </a:rPr>
                        <a:t>Data Migration Lead</a:t>
                      </a:r>
                    </a:p>
                  </a:txBody>
                  <a:tcPr marL="73152" marR="73152" marT="36576" marB="36576">
                    <a:solidFill>
                      <a:srgbClr val="FFFFFF"/>
                    </a:solidFill>
                  </a:tcPr>
                </a:tc>
                <a:tc>
                  <a:txBody>
                    <a:bodyPr/>
                    <a:lstStyle/>
                    <a:p>
                      <a:r>
                        <a:rPr sz="1000" b="0">
                          <a:solidFill>
                            <a:srgbClr val="4B4B4B"/>
                          </a:solidFill>
                          <a:latin typeface="Arial"/>
                        </a:rPr>
                        <a:t>miglead</a:t>
                      </a:r>
                    </a:p>
                  </a:txBody>
                  <a:tcPr marL="73152" marR="73152" marT="36576" marB="36576">
                    <a:solidFill>
                      <a:srgbClr val="FFFFFF"/>
                    </a:solidFill>
                  </a:tcPr>
                </a:tc>
                <a:tc>
                  <a:txBody>
                    <a:bodyPr/>
                    <a:lstStyle/>
                    <a:p>
                      <a:r>
                        <a:rPr sz="1000" b="0">
                          <a:solidFill>
                            <a:srgbClr val="4B4B4B"/>
                          </a:solidFill>
                          <a:latin typeface="Arial"/>
                        </a:rPr>
                        <a:t>10</a:t>
                      </a:r>
                    </a:p>
                  </a:txBody>
                  <a:tcPr marL="73152" marR="73152" marT="36576" marB="36576">
                    <a:solidFill>
                      <a:srgbClr val="FFFFFF"/>
                    </a:solidFill>
                  </a:tcPr>
                </a:tc>
                <a:tc>
                  <a:txBody>
                    <a:bodyPr/>
                    <a:lstStyle/>
                    <a:p>
                      <a:r>
                        <a:rPr sz="1000" b="0">
                          <a:solidFill>
                            <a:srgbClr val="4B4B4B"/>
                          </a:solidFill>
                          <a:latin typeface="Arial"/>
                        </a:rPr>
                        <a:t>Data Migration</a:t>
                      </a:r>
                    </a:p>
                  </a:txBody>
                  <a:tcPr marL="73152" marR="73152" marT="36576" marB="36576">
                    <a:solidFill>
                      <a:srgbClr val="FFFFFF"/>
                    </a:solidFill>
                  </a:tcPr>
                </a:tc>
              </a:tr>
              <a:tr h="365760">
                <a:tc>
                  <a:txBody>
                    <a:bodyPr/>
                    <a:lstStyle/>
                    <a:p>
                      <a:r>
                        <a:rPr sz="1000" b="0">
                          <a:solidFill>
                            <a:srgbClr val="4B4B4B"/>
                          </a:solidFill>
                          <a:latin typeface="Arial"/>
                        </a:rPr>
                        <a:t>Data Steward</a:t>
                      </a:r>
                    </a:p>
                  </a:txBody>
                  <a:tcPr marL="73152" marR="73152" marT="36576" marB="36576">
                    <a:solidFill>
                      <a:srgbClr val="E5F5FF"/>
                    </a:solidFill>
                  </a:tcPr>
                </a:tc>
                <a:tc>
                  <a:txBody>
                    <a:bodyPr/>
                    <a:lstStyle/>
                    <a:p>
                      <a:r>
                        <a:rPr sz="1000" b="0">
                          <a:solidFill>
                            <a:srgbClr val="4B4B4B"/>
                          </a:solidFill>
                          <a:latin typeface="Arial"/>
                        </a:rPr>
                        <a:t>migsteward</a:t>
                      </a:r>
                    </a:p>
                  </a:txBody>
                  <a:tcPr marL="73152" marR="73152" marT="36576" marB="36576">
                    <a:solidFill>
                      <a:srgbClr val="E5F5FF"/>
                    </a:solidFill>
                  </a:tcPr>
                </a:tc>
                <a:tc>
                  <a:txBody>
                    <a:bodyPr/>
                    <a:lstStyle/>
                    <a:p>
                      <a:r>
                        <a:rPr sz="1000" b="0">
                          <a:solidFill>
                            <a:srgbClr val="4B4B4B"/>
                          </a:solidFill>
                          <a:latin typeface="Arial"/>
                        </a:rPr>
                        <a:t>11</a:t>
                      </a:r>
                    </a:p>
                  </a:txBody>
                  <a:tcPr marL="73152" marR="73152" marT="36576" marB="36576">
                    <a:solidFill>
                      <a:srgbClr val="E5F5FF"/>
                    </a:solidFill>
                  </a:tcPr>
                </a:tc>
                <a:tc>
                  <a:txBody>
                    <a:bodyPr/>
                    <a:lstStyle/>
                    <a:p>
                      <a:r>
                        <a:rPr sz="1000" b="0">
                          <a:solidFill>
                            <a:srgbClr val="4B4B4B"/>
                          </a:solidFill>
                          <a:latin typeface="Arial"/>
                        </a:rPr>
                        <a:t>Data Migration</a:t>
                      </a:r>
                    </a:p>
                  </a:txBody>
                  <a:tcPr marL="73152" marR="73152" marT="36576" marB="36576">
                    <a:solidFill>
                      <a:srgbClr val="E5F5FF"/>
                    </a:solidFill>
                  </a:tcPr>
                </a:tc>
              </a:tr>
              <a:tr h="365760">
                <a:tc>
                  <a:txBody>
                    <a:bodyPr/>
                    <a:lstStyle/>
                    <a:p>
                      <a:r>
                        <a:rPr sz="1000" b="0">
                          <a:solidFill>
                            <a:srgbClr val="4B4B4B"/>
                          </a:solidFill>
                          <a:latin typeface="Arial"/>
                        </a:rPr>
                        <a:t>Data owner (business owner of an object)</a:t>
                      </a:r>
                    </a:p>
                  </a:txBody>
                  <a:tcPr marL="73152" marR="73152" marT="36576" marB="36576">
                    <a:solidFill>
                      <a:srgbClr val="FFFFFF"/>
                    </a:solidFill>
                  </a:tcPr>
                </a:tc>
                <a:tc>
                  <a:txBody>
                    <a:bodyPr/>
                    <a:lstStyle/>
                    <a:p>
                      <a:r>
                        <a:rPr sz="1000" b="0">
                          <a:solidFill>
                            <a:srgbClr val="4B4B4B"/>
                          </a:solidFill>
                          <a:latin typeface="Arial"/>
                        </a:rPr>
                        <a:t>migowner</a:t>
                      </a:r>
                    </a:p>
                  </a:txBody>
                  <a:tcPr marL="73152" marR="73152" marT="36576" marB="36576">
                    <a:solidFill>
                      <a:srgbClr val="FFFFFF"/>
                    </a:solidFill>
                  </a:tcPr>
                </a:tc>
                <a:tc>
                  <a:txBody>
                    <a:bodyPr/>
                    <a:lstStyle/>
                    <a:p>
                      <a:r>
                        <a:rPr sz="1000" b="0">
                          <a:solidFill>
                            <a:srgbClr val="4B4B4B"/>
                          </a:solidFill>
                          <a:latin typeface="Arial"/>
                        </a:rPr>
                        <a:t>10</a:t>
                      </a:r>
                    </a:p>
                  </a:txBody>
                  <a:tcPr marL="73152" marR="73152" marT="36576" marB="36576">
                    <a:solidFill>
                      <a:srgbClr val="FFFFFF"/>
                    </a:solidFill>
                  </a:tcPr>
                </a:tc>
                <a:tc>
                  <a:txBody>
                    <a:bodyPr/>
                    <a:lstStyle/>
                    <a:p>
                      <a:r>
                        <a:rPr sz="1000" b="0">
                          <a:solidFill>
                            <a:srgbClr val="4B4B4B"/>
                          </a:solidFill>
                          <a:latin typeface="Arial"/>
                        </a:rPr>
                        <a:t>Data Migration</a:t>
                      </a:r>
                    </a:p>
                  </a:txBody>
                  <a:tcPr marL="73152" marR="73152" marT="36576" marB="36576">
                    <a:solidFill>
                      <a:srgbClr val="FFFFFF"/>
                    </a:solidFill>
                  </a:tcPr>
                </a:tc>
              </a:tr>
              <a:tr h="365760">
                <a:tc>
                  <a:txBody>
                    <a:bodyPr/>
                    <a:lstStyle/>
                    <a:p>
                      <a:r>
                        <a:rPr sz="1000" b="0">
                          <a:solidFill>
                            <a:srgbClr val="4B4B4B"/>
                          </a:solidFill>
                          <a:latin typeface="Arial"/>
                        </a:rPr>
                        <a:t>Migration Operator</a:t>
                      </a:r>
                    </a:p>
                  </a:txBody>
                  <a:tcPr marL="73152" marR="73152" marT="36576" marB="36576">
                    <a:solidFill>
                      <a:srgbClr val="E5F5FF"/>
                    </a:solidFill>
                  </a:tcPr>
                </a:tc>
                <a:tc>
                  <a:txBody>
                    <a:bodyPr/>
                    <a:lstStyle/>
                    <a:p>
                      <a:r>
                        <a:rPr sz="1000" b="0">
                          <a:solidFill>
                            <a:srgbClr val="4B4B4B"/>
                          </a:solidFill>
                          <a:latin typeface="Arial"/>
                        </a:rPr>
                        <a:t>migops</a:t>
                      </a:r>
                    </a:p>
                  </a:txBody>
                  <a:tcPr marL="73152" marR="73152" marT="36576" marB="36576">
                    <a:solidFill>
                      <a:srgbClr val="E5F5FF"/>
                    </a:solidFill>
                  </a:tcPr>
                </a:tc>
                <a:tc>
                  <a:txBody>
                    <a:bodyPr/>
                    <a:lstStyle/>
                    <a:p>
                      <a:r>
                        <a:rPr sz="1000" b="0">
                          <a:solidFill>
                            <a:srgbClr val="4B4B4B"/>
                          </a:solidFill>
                          <a:latin typeface="Arial"/>
                        </a:rPr>
                        <a:t>11</a:t>
                      </a:r>
                    </a:p>
                  </a:txBody>
                  <a:tcPr marL="73152" marR="73152" marT="36576" marB="36576">
                    <a:solidFill>
                      <a:srgbClr val="E5F5FF"/>
                    </a:solidFill>
                  </a:tcPr>
                </a:tc>
                <a:tc>
                  <a:txBody>
                    <a:bodyPr/>
                    <a:lstStyle/>
                    <a:p>
                      <a:r>
                        <a:rPr sz="1000" b="0">
                          <a:solidFill>
                            <a:srgbClr val="4B4B4B"/>
                          </a:solidFill>
                          <a:latin typeface="Arial"/>
                        </a:rPr>
                        <a:t>Data Migration</a:t>
                      </a:r>
                    </a:p>
                  </a:txBody>
                  <a:tcPr marL="73152" marR="73152" marT="36576" marB="36576">
                    <a:solidFill>
                      <a:srgbClr val="E5F5FF"/>
                    </a:solidFill>
                  </a:tcPr>
                </a:tc>
              </a:tr>
              <a:tr h="365760">
                <a:tc>
                  <a:txBody>
                    <a:bodyPr/>
                    <a:lstStyle/>
                    <a:p>
                      <a:r>
                        <a:rPr sz="1000" b="0">
                          <a:solidFill>
                            <a:srgbClr val="4B4B4B"/>
                          </a:solidFill>
                          <a:latin typeface="Arial"/>
                        </a:rPr>
                        <a:t>Reconciliation approver (Head of Comptrollership)</a:t>
                      </a:r>
                    </a:p>
                  </a:txBody>
                  <a:tcPr marL="73152" marR="73152" marT="36576" marB="36576">
                    <a:solidFill>
                      <a:srgbClr val="FFFFFF"/>
                    </a:solidFill>
                  </a:tcPr>
                </a:tc>
                <a:tc>
                  <a:txBody>
                    <a:bodyPr/>
                    <a:lstStyle/>
                    <a:p>
                      <a:r>
                        <a:rPr sz="1000" b="0">
                          <a:solidFill>
                            <a:srgbClr val="4B4B4B"/>
                          </a:solidFill>
                          <a:latin typeface="Arial"/>
                        </a:rPr>
                        <a:t>migrecon</a:t>
                      </a:r>
                    </a:p>
                  </a:txBody>
                  <a:tcPr marL="73152" marR="73152" marT="36576" marB="36576">
                    <a:solidFill>
                      <a:srgbClr val="FFFFFF"/>
                    </a:solidFill>
                  </a:tcPr>
                </a:tc>
                <a:tc>
                  <a:txBody>
                    <a:bodyPr/>
                    <a:lstStyle/>
                    <a:p>
                      <a:r>
                        <a:rPr sz="1000" b="0">
                          <a:solidFill>
                            <a:srgbClr val="4B4B4B"/>
                          </a:solidFill>
                          <a:latin typeface="Arial"/>
                        </a:rPr>
                        <a:t>10</a:t>
                      </a:r>
                    </a:p>
                  </a:txBody>
                  <a:tcPr marL="73152" marR="73152" marT="36576" marB="36576">
                    <a:solidFill>
                      <a:srgbClr val="FFFFFF"/>
                    </a:solidFill>
                  </a:tcPr>
                </a:tc>
                <a:tc>
                  <a:txBody>
                    <a:bodyPr/>
                    <a:lstStyle/>
                    <a:p>
                      <a:r>
                        <a:rPr sz="1000" b="0">
                          <a:solidFill>
                            <a:srgbClr val="4B4B4B"/>
                          </a:solidFill>
                          <a:latin typeface="Arial"/>
                        </a:rPr>
                        <a:t>Data Migration</a:t>
                      </a:r>
                    </a:p>
                  </a:txBody>
                  <a:tcPr marL="73152" marR="73152" marT="36576" marB="36576">
                    <a:solidFill>
                      <a:srgbClr val="FFFFFF"/>
                    </a:solidFill>
                  </a:tcPr>
                </a:tc>
              </a:tr>
              <a:tr h="365760">
                <a:tc>
                  <a:txBody>
                    <a:bodyPr/>
                    <a:lstStyle/>
                    <a:p>
                      <a:r>
                        <a:rPr sz="1000" b="0">
                          <a:solidFill>
                            <a:srgbClr val="4B4B4B"/>
                          </a:solidFill>
                          <a:latin typeface="Arial"/>
                        </a:rPr>
                        <a:t>Go / no-go board</a:t>
                      </a:r>
                    </a:p>
                  </a:txBody>
                  <a:tcPr marL="73152" marR="73152" marT="36576" marB="36576">
                    <a:solidFill>
                      <a:srgbClr val="E5F5FF"/>
                    </a:solidFill>
                  </a:tcPr>
                </a:tc>
                <a:tc>
                  <a:txBody>
                    <a:bodyPr/>
                    <a:lstStyle/>
                    <a:p>
                      <a:r>
                        <a:rPr sz="1000" b="0">
                          <a:solidFill>
                            <a:srgbClr val="4B4B4B"/>
                          </a:solidFill>
                          <a:latin typeface="Arial"/>
                        </a:rPr>
                        <a:t>miggonogo</a:t>
                      </a:r>
                    </a:p>
                  </a:txBody>
                  <a:tcPr marL="73152" marR="73152" marT="36576" marB="36576">
                    <a:solidFill>
                      <a:srgbClr val="E5F5FF"/>
                    </a:solidFill>
                  </a:tcPr>
                </a:tc>
                <a:tc>
                  <a:txBody>
                    <a:bodyPr/>
                    <a:lstStyle/>
                    <a:p>
                      <a:r>
                        <a:rPr sz="1000" b="0">
                          <a:solidFill>
                            <a:srgbClr val="4B4B4B"/>
                          </a:solidFill>
                          <a:latin typeface="Arial"/>
                        </a:rPr>
                        <a:t>10</a:t>
                      </a:r>
                    </a:p>
                  </a:txBody>
                  <a:tcPr marL="73152" marR="73152" marT="36576" marB="36576">
                    <a:solidFill>
                      <a:srgbClr val="E5F5FF"/>
                    </a:solidFill>
                  </a:tcPr>
                </a:tc>
                <a:tc>
                  <a:txBody>
                    <a:bodyPr/>
                    <a:lstStyle/>
                    <a:p>
                      <a:r>
                        <a:rPr sz="1000" b="0">
                          <a:solidFill>
                            <a:srgbClr val="4B4B4B"/>
                          </a:solidFill>
                          <a:latin typeface="Arial"/>
                        </a:rPr>
                        <a:t>Data Migration</a:t>
                      </a:r>
                    </a:p>
                  </a:txBody>
                  <a:tcPr marL="73152" marR="73152" marT="36576" marB="36576">
                    <a:solidFill>
                      <a:srgbClr val="E5F5FF"/>
                    </a:solidFill>
                  </a:tcPr>
                </a:tc>
              </a:tr>
              <a:tr h="365760">
                <a:tc>
                  <a:txBody>
                    <a:bodyPr/>
                    <a:lstStyle/>
                    <a:p>
                      <a:r>
                        <a:rPr sz="1000" b="0">
                          <a:solidFill>
                            <a:srgbClr val="4B4B4B"/>
                          </a:solidFill>
                          <a:latin typeface="Arial"/>
                        </a:rPr>
                        <a:t>Comptrollership GL lead</a:t>
                      </a:r>
                    </a:p>
                  </a:txBody>
                  <a:tcPr marL="73152" marR="73152" marT="36576" marB="36576">
                    <a:solidFill>
                      <a:srgbClr val="FFFFFF"/>
                    </a:solidFill>
                  </a:tcPr>
                </a:tc>
                <a:tc>
                  <a:txBody>
                    <a:bodyPr/>
                    <a:lstStyle/>
                    <a:p>
                      <a:r>
                        <a:rPr sz="1000" b="0">
                          <a:solidFill>
                            <a:srgbClr val="4B4B4B"/>
                          </a:solidFill>
                          <a:latin typeface="Arial"/>
                        </a:rPr>
                        <a:t>comptrol</a:t>
                      </a:r>
                    </a:p>
                  </a:txBody>
                  <a:tcPr marL="73152" marR="73152" marT="36576" marB="36576">
                    <a:solidFill>
                      <a:srgbClr val="FFFFFF"/>
                    </a:solidFill>
                  </a:tcPr>
                </a:tc>
                <a:tc>
                  <a:txBody>
                    <a:bodyPr/>
                    <a:lstStyle/>
                    <a:p>
                      <a:r>
                        <a:rPr sz="1000" b="0">
                          <a:solidFill>
                            <a:srgbClr val="4B4B4B"/>
                          </a:solidFill>
                          <a:latin typeface="Arial"/>
                        </a:rPr>
                        <a:t>10</a:t>
                      </a:r>
                    </a:p>
                  </a:txBody>
                  <a:tcPr marL="73152" marR="73152" marT="36576" marB="36576">
                    <a:solidFill>
                      <a:srgbClr val="FFFFFF"/>
                    </a:solidFill>
                  </a:tcPr>
                </a:tc>
                <a:tc>
                  <a:txBody>
                    <a:bodyPr/>
                    <a:lstStyle/>
                    <a:p>
                      <a:r>
                        <a:rPr sz="1000" b="0">
                          <a:solidFill>
                            <a:srgbClr val="4B4B4B"/>
                          </a:solidFill>
                          <a:latin typeface="Arial"/>
                        </a:rPr>
                        <a:t>Data Migration</a:t>
                      </a:r>
                    </a:p>
                  </a:txBody>
                  <a:tcPr marL="73152" marR="73152" marT="36576" marB="36576">
                    <a:solidFill>
                      <a:srgbClr val="FFFFFF"/>
                    </a:solidFill>
                  </a:tcPr>
                </a:tc>
              </a:tr>
              <a:tr h="365760">
                <a:tc>
                  <a:txBody>
                    <a:bodyPr/>
                    <a:lstStyle/>
                    <a:p>
                      <a:r>
                        <a:rPr sz="1000" b="0">
                          <a:solidFill>
                            <a:srgbClr val="4B4B4B"/>
                          </a:solidFill>
                          <a:latin typeface="Arial"/>
                        </a:rPr>
                        <a:t>Audit / Compliance user</a:t>
                      </a:r>
                    </a:p>
                  </a:txBody>
                  <a:tcPr marL="73152" marR="73152" marT="36576" marB="36576">
                    <a:solidFill>
                      <a:srgbClr val="E5F5FF"/>
                    </a:solidFill>
                  </a:tcPr>
                </a:tc>
                <a:tc>
                  <a:txBody>
                    <a:bodyPr/>
                    <a:lstStyle/>
                    <a:p>
                      <a:r>
                        <a:rPr sz="1000" b="0">
                          <a:solidFill>
                            <a:srgbClr val="4B4B4B"/>
                          </a:solidFill>
                          <a:latin typeface="Arial"/>
                        </a:rPr>
                        <a:t>legacyaudit</a:t>
                      </a:r>
                    </a:p>
                  </a:txBody>
                  <a:tcPr marL="73152" marR="73152" marT="36576" marB="36576">
                    <a:solidFill>
                      <a:srgbClr val="E5F5FF"/>
                    </a:solidFill>
                  </a:tcPr>
                </a:tc>
                <a:tc>
                  <a:txBody>
                    <a:bodyPr/>
                    <a:lstStyle/>
                    <a:p>
                      <a:r>
                        <a:rPr sz="1000" b="0">
                          <a:solidFill>
                            <a:srgbClr val="4B4B4B"/>
                          </a:solidFill>
                          <a:latin typeface="Arial"/>
                        </a:rPr>
                        <a:t>1</a:t>
                      </a:r>
                    </a:p>
                  </a:txBody>
                  <a:tcPr marL="73152" marR="73152" marT="36576" marB="36576">
                    <a:solidFill>
                      <a:srgbClr val="E5F5FF"/>
                    </a:solidFill>
                  </a:tcPr>
                </a:tc>
                <a:tc>
                  <a:txBody>
                    <a:bodyPr/>
                    <a:lstStyle/>
                    <a:p>
                      <a:r>
                        <a:rPr sz="1000" b="0">
                          <a:solidFill>
                            <a:srgbClr val="4B4B4B"/>
                          </a:solidFill>
                          <a:latin typeface="Arial"/>
                        </a:rPr>
                        <a:t>Legacy Inquiry</a:t>
                      </a:r>
                    </a:p>
                  </a:txBody>
                  <a:tcPr marL="73152" marR="73152" marT="36576" marB="36576">
                    <a:solidFill>
                      <a:srgbClr val="E5F5FF"/>
                    </a:solidFill>
                  </a:tcPr>
                </a:tc>
              </a:tr>
              <a:tr h="365760">
                <a:tc>
                  <a:txBody>
                    <a:bodyPr/>
                    <a:lstStyle/>
                    <a:p>
                      <a:r>
                        <a:rPr sz="1000" b="0">
                          <a:solidFill>
                            <a:srgbClr val="4B4B4B"/>
                          </a:solidFill>
                          <a:latin typeface="Arial"/>
                        </a:rPr>
                        <a:t>Compliance reviewer of the access log</a:t>
                      </a:r>
                    </a:p>
                  </a:txBody>
                  <a:tcPr marL="73152" marR="73152" marT="36576" marB="36576">
                    <a:solidFill>
                      <a:srgbClr val="FFFFFF"/>
                    </a:solidFill>
                  </a:tcPr>
                </a:tc>
                <a:tc>
                  <a:txBody>
                    <a:bodyPr/>
                    <a:lstStyle/>
                    <a:p>
                      <a:r>
                        <a:rPr sz="1000" b="0">
                          <a:solidFill>
                            <a:srgbClr val="4B4B4B"/>
                          </a:solidFill>
                          <a:latin typeface="Arial"/>
                        </a:rPr>
                        <a:t>legacyrev</a:t>
                      </a:r>
                    </a:p>
                  </a:txBody>
                  <a:tcPr marL="73152" marR="73152" marT="36576" marB="36576">
                    <a:solidFill>
                      <a:srgbClr val="FFFFFF"/>
                    </a:solidFill>
                  </a:tcPr>
                </a:tc>
                <a:tc>
                  <a:txBody>
                    <a:bodyPr/>
                    <a:lstStyle/>
                    <a:p>
                      <a:r>
                        <a:rPr sz="1000" b="0">
                          <a:solidFill>
                            <a:srgbClr val="4B4B4B"/>
                          </a:solidFill>
                          <a:latin typeface="Arial"/>
                        </a:rPr>
                        <a:t>1</a:t>
                      </a:r>
                    </a:p>
                  </a:txBody>
                  <a:tcPr marL="73152" marR="73152" marT="36576" marB="36576">
                    <a:solidFill>
                      <a:srgbClr val="FFFFFF"/>
                    </a:solidFill>
                  </a:tcPr>
                </a:tc>
                <a:tc>
                  <a:txBody>
                    <a:bodyPr/>
                    <a:lstStyle/>
                    <a:p>
                      <a:r>
                        <a:rPr sz="1000" b="0">
                          <a:solidFill>
                            <a:srgbClr val="4B4B4B"/>
                          </a:solidFill>
                          <a:latin typeface="Arial"/>
                        </a:rPr>
                        <a:t>Legacy Inquiry</a:t>
                      </a:r>
                    </a:p>
                  </a:txBody>
                  <a:tcPr marL="73152" marR="73152" marT="36576" marB="36576">
                    <a:solidFill>
                      <a:srgbClr val="FFFFFF"/>
                    </a:solidFill>
                  </a:tcPr>
                </a:tc>
              </a:tr>
              <a:tr h="365760">
                <a:tc>
                  <a:txBody>
                    <a:bodyPr/>
                    <a:lstStyle/>
                    <a:p>
                      <a:r>
                        <a:rPr sz="1000" b="0">
                          <a:solidFill>
                            <a:srgbClr val="4B4B4B"/>
                          </a:solidFill>
                          <a:latin typeface="Arial"/>
                        </a:rPr>
                        <a:t>Cashiering user</a:t>
                      </a:r>
                    </a:p>
                  </a:txBody>
                  <a:tcPr marL="73152" marR="73152" marT="36576" marB="36576">
                    <a:solidFill>
                      <a:srgbClr val="E5F5FF"/>
                    </a:solidFill>
                  </a:tcPr>
                </a:tc>
                <a:tc>
                  <a:txBody>
                    <a:bodyPr/>
                    <a:lstStyle/>
                    <a:p>
                      <a:r>
                        <a:rPr sz="1000" b="0">
                          <a:solidFill>
                            <a:srgbClr val="4B4B4B"/>
                          </a:solidFill>
                          <a:latin typeface="Arial"/>
                        </a:rPr>
                        <a:t>cashier</a:t>
                      </a:r>
                    </a:p>
                  </a:txBody>
                  <a:tcPr marL="73152" marR="73152" marT="36576" marB="36576">
                    <a:solidFill>
                      <a:srgbClr val="E5F5FF"/>
                    </a:solidFill>
                  </a:tcPr>
                </a:tc>
                <a:tc>
                  <a:txBody>
                    <a:bodyPr/>
                    <a:lstStyle/>
                    <a:p>
                      <a:r>
                        <a:rPr sz="1000" b="0">
                          <a:solidFill>
                            <a:srgbClr val="4B4B4B"/>
                          </a:solidFill>
                          <a:latin typeface="Arial"/>
                        </a:rPr>
                        <a:t>0</a:t>
                      </a:r>
                    </a:p>
                  </a:txBody>
                  <a:tcPr marL="73152" marR="73152" marT="36576" marB="36576">
                    <a:solidFill>
                      <a:srgbClr val="E5F5FF"/>
                    </a:solidFill>
                  </a:tcPr>
                </a:tc>
                <a:tc>
                  <a:txBody>
                    <a:bodyPr/>
                    <a:lstStyle/>
                    <a:p/>
                  </a:txBody>
                  <a:tcPr marL="73152" marR="73152" marT="36576" marB="36576">
                    <a:solidFill>
                      <a:srgbClr val="E5F5FF"/>
                    </a:solidFill>
                  </a:tcPr>
                </a:tc>
              </a:tr>
              <a:tr h="365760">
                <a:tc>
                  <a:txBody>
                    <a:bodyPr/>
                    <a:lstStyle/>
                    <a:p>
                      <a:r>
                        <a:rPr sz="1000" b="0">
                          <a:solidFill>
                            <a:srgbClr val="4B4B4B"/>
                          </a:solidFill>
                          <a:latin typeface="Arial"/>
                        </a:rPr>
                        <a:t>Cashiering team lead</a:t>
                      </a:r>
                    </a:p>
                  </a:txBody>
                  <a:tcPr marL="73152" marR="73152" marT="36576" marB="36576">
                    <a:solidFill>
                      <a:srgbClr val="FFFFFF"/>
                    </a:solidFill>
                  </a:tcPr>
                </a:tc>
                <a:tc>
                  <a:txBody>
                    <a:bodyPr/>
                    <a:lstStyle/>
                    <a:p>
                      <a:r>
                        <a:rPr sz="1000" b="0">
                          <a:solidFill>
                            <a:srgbClr val="4B4B4B"/>
                          </a:solidFill>
                          <a:latin typeface="Arial"/>
                        </a:rPr>
                        <a:t>cashtl</a:t>
                      </a:r>
                    </a:p>
                  </a:txBody>
                  <a:tcPr marL="73152" marR="73152" marT="36576" marB="36576">
                    <a:solidFill>
                      <a:srgbClr val="FFFFFF"/>
                    </a:solidFill>
                  </a:tcPr>
                </a:tc>
                <a:tc>
                  <a:txBody>
                    <a:bodyPr/>
                    <a:lstStyle/>
                    <a:p>
                      <a:r>
                        <a:rPr sz="1000" b="0">
                          <a:solidFill>
                            <a:srgbClr val="4B4B4B"/>
                          </a:solidFill>
                          <a:latin typeface="Arial"/>
                        </a:rPr>
                        <a:t>0</a:t>
                      </a:r>
                    </a:p>
                  </a:txBody>
                  <a:tcPr marL="73152" marR="73152" marT="36576" marB="36576">
                    <a:solidFill>
                      <a:srgbClr val="FFFFFF"/>
                    </a:solidFill>
                  </a:tcPr>
                </a:tc>
                <a:tc>
                  <a:txBody>
                    <a:bodyPr/>
                    <a:lstStyle/>
                    <a:p/>
                  </a:txBody>
                  <a:tcPr marL="73152" marR="73152" marT="36576" marB="36576">
                    <a:solidFill>
                      <a:srgbClr val="FFFFFF"/>
                    </a:solidFill>
                  </a:tcPr>
                </a:tc>
              </a:tr>
              <a:tr h="365760">
                <a:tc>
                  <a:txBody>
                    <a:bodyPr/>
                    <a:lstStyle/>
                    <a:p>
                      <a:r>
                        <a:rPr sz="1000" b="0">
                          <a:solidFill>
                            <a:srgbClr val="4B4B4B"/>
                          </a:solidFill>
                          <a:latin typeface="Arial"/>
                        </a:rPr>
                        <a:t>Top management approver</a:t>
                      </a:r>
                    </a:p>
                  </a:txBody>
                  <a:tcPr marL="73152" marR="73152" marT="36576" marB="36576">
                    <a:solidFill>
                      <a:srgbClr val="E5F5FF"/>
                    </a:solidFill>
                  </a:tcPr>
                </a:tc>
                <a:tc>
                  <a:txBody>
                    <a:bodyPr/>
                    <a:lstStyle/>
                    <a:p>
                      <a:r>
                        <a:rPr sz="1000" b="0">
                          <a:solidFill>
                            <a:srgbClr val="4B4B4B"/>
                          </a:solidFill>
                          <a:latin typeface="Arial"/>
                        </a:rPr>
                        <a:t>topmgmt</a:t>
                      </a:r>
                    </a:p>
                  </a:txBody>
                  <a:tcPr marL="73152" marR="73152" marT="36576" marB="36576">
                    <a:solidFill>
                      <a:srgbClr val="E5F5FF"/>
                    </a:solidFill>
                  </a:tcPr>
                </a:tc>
                <a:tc>
                  <a:txBody>
                    <a:bodyPr/>
                    <a:lstStyle/>
                    <a:p>
                      <a:r>
                        <a:rPr sz="1000" b="0">
                          <a:solidFill>
                            <a:srgbClr val="4B4B4B"/>
                          </a:solidFill>
                          <a:latin typeface="Arial"/>
                        </a:rPr>
                        <a:t>0</a:t>
                      </a:r>
                    </a:p>
                  </a:txBody>
                  <a:tcPr marL="73152" marR="73152" marT="36576" marB="36576">
                    <a:solidFill>
                      <a:srgbClr val="E5F5FF"/>
                    </a:solidFill>
                  </a:tcPr>
                </a:tc>
                <a:tc>
                  <a:txBody>
                    <a:bodyPr/>
                    <a:lstStyle/>
                    <a:p/>
                  </a:txBody>
                  <a:tcPr marL="73152" marR="73152" marT="36576" marB="36576">
                    <a:solidFill>
                      <a:srgbClr val="E5F5FF"/>
                    </a:solidFill>
                  </a:tcPr>
                </a:tc>
              </a:tr>
              <a:tr h="365760">
                <a:tc>
                  <a:txBody>
                    <a:bodyPr/>
                    <a:lstStyle/>
                    <a:p>
                      <a:r>
                        <a:rPr sz="1000" b="0">
                          <a:solidFill>
                            <a:srgbClr val="4B4B4B"/>
                          </a:solidFill>
                          <a:latin typeface="Arial"/>
                        </a:rPr>
                        <a:t>Commission user</a:t>
                      </a:r>
                    </a:p>
                  </a:txBody>
                  <a:tcPr marL="73152" marR="73152" marT="36576" marB="36576">
                    <a:solidFill>
                      <a:srgbClr val="FFFFFF"/>
                    </a:solidFill>
                  </a:tcPr>
                </a:tc>
                <a:tc>
                  <a:txBody>
                    <a:bodyPr/>
                    <a:lstStyle/>
                    <a:p>
                      <a:r>
                        <a:rPr sz="1000" b="0">
                          <a:solidFill>
                            <a:srgbClr val="4B4B4B"/>
                          </a:solidFill>
                          <a:latin typeface="Arial"/>
                        </a:rPr>
                        <a:t>commrec</a:t>
                      </a:r>
                    </a:p>
                  </a:txBody>
                  <a:tcPr marL="73152" marR="73152" marT="36576" marB="36576">
                    <a:solidFill>
                      <a:srgbClr val="FFFFFF"/>
                    </a:solidFill>
                  </a:tcPr>
                </a:tc>
                <a:tc>
                  <a:txBody>
                    <a:bodyPr/>
                    <a:lstStyle/>
                    <a:p>
                      <a:r>
                        <a:rPr sz="1000" b="0">
                          <a:solidFill>
                            <a:srgbClr val="4B4B4B"/>
                          </a:solidFill>
                          <a:latin typeface="Arial"/>
                        </a:rPr>
                        <a:t>0</a:t>
                      </a:r>
                    </a:p>
                  </a:txBody>
                  <a:tcPr marL="73152" marR="73152" marT="36576" marB="36576">
                    <a:solidFill>
                      <a:srgbClr val="FFFFFF"/>
                    </a:solidFill>
                  </a:tcPr>
                </a:tc>
                <a:tc>
                  <a:txBody>
                    <a:bodyPr/>
                    <a:lstStyle/>
                    <a:p/>
                  </a:txBody>
                  <a:tcPr marL="73152" marR="73152" marT="36576" marB="36576">
                    <a:solidFill>
                      <a:srgbClr val="FFFFFF"/>
                    </a:solidFill>
                  </a:tcPr>
                </a:tc>
              </a:tr>
              <a:tr h="365760">
                <a:tc>
                  <a:txBody>
                    <a:bodyPr/>
                    <a:lstStyle/>
                    <a:p>
                      <a:r>
                        <a:rPr sz="1000" b="0">
                          <a:solidFill>
                            <a:srgbClr val="4B4B4B"/>
                          </a:solidFill>
                          <a:latin typeface="Arial"/>
                        </a:rPr>
                        <a:t>Commission team lead</a:t>
                      </a:r>
                    </a:p>
                  </a:txBody>
                  <a:tcPr marL="73152" marR="73152" marT="36576" marB="36576">
                    <a:solidFill>
                      <a:srgbClr val="E5F5FF"/>
                    </a:solidFill>
                  </a:tcPr>
                </a:tc>
                <a:tc>
                  <a:txBody>
                    <a:bodyPr/>
                    <a:lstStyle/>
                    <a:p>
                      <a:r>
                        <a:rPr sz="1000" b="0">
                          <a:solidFill>
                            <a:srgbClr val="4B4B4B"/>
                          </a:solidFill>
                          <a:latin typeface="Arial"/>
                        </a:rPr>
                        <a:t>commtl</a:t>
                      </a:r>
                    </a:p>
                  </a:txBody>
                  <a:tcPr marL="73152" marR="73152" marT="36576" marB="36576">
                    <a:solidFill>
                      <a:srgbClr val="E5F5FF"/>
                    </a:solidFill>
                  </a:tcPr>
                </a:tc>
                <a:tc>
                  <a:txBody>
                    <a:bodyPr/>
                    <a:lstStyle/>
                    <a:p>
                      <a:r>
                        <a:rPr sz="1000" b="0">
                          <a:solidFill>
                            <a:srgbClr val="4B4B4B"/>
                          </a:solidFill>
                          <a:latin typeface="Arial"/>
                        </a:rPr>
                        <a:t>0</a:t>
                      </a:r>
                    </a:p>
                  </a:txBody>
                  <a:tcPr marL="73152" marR="73152" marT="36576" marB="36576">
                    <a:solidFill>
                      <a:srgbClr val="E5F5FF"/>
                    </a:solidFill>
                  </a:tcPr>
                </a:tc>
                <a:tc>
                  <a:txBody>
                    <a:bodyPr/>
                    <a:lstStyle/>
                    <a:p/>
                  </a:txBody>
                  <a:tcPr marL="73152" marR="73152" marT="36576" marB="36576">
                    <a:solidFill>
                      <a:srgbClr val="E5F5FF"/>
                    </a:solidFill>
                  </a:tcPr>
                </a:tc>
              </a:tr>
              <a:tr h="365760">
                <a:tc>
                  <a:txBody>
                    <a:bodyPr/>
                    <a:lstStyle/>
                    <a:p>
                      <a:r>
                        <a:rPr sz="1000" b="0">
                          <a:solidFill>
                            <a:srgbClr val="4B4B4B"/>
                          </a:solidFill>
                          <a:latin typeface="Arial"/>
                        </a:rPr>
                        <a:t>Marketing Account Officer</a:t>
                      </a:r>
                    </a:p>
                  </a:txBody>
                  <a:tcPr marL="73152" marR="73152" marT="36576" marB="36576">
                    <a:solidFill>
                      <a:srgbClr val="FFFFFF"/>
                    </a:solidFill>
                  </a:tcPr>
                </a:tc>
                <a:tc>
                  <a:txBody>
                    <a:bodyPr/>
                    <a:lstStyle/>
                    <a:p>
                      <a:r>
                        <a:rPr sz="1000" b="0">
                          <a:solidFill>
                            <a:srgbClr val="4B4B4B"/>
                          </a:solidFill>
                          <a:latin typeface="Arial"/>
                        </a:rPr>
                        <a:t>ao</a:t>
                      </a:r>
                    </a:p>
                  </a:txBody>
                  <a:tcPr marL="73152" marR="73152" marT="36576" marB="36576">
                    <a:solidFill>
                      <a:srgbClr val="FFFFFF"/>
                    </a:solidFill>
                  </a:tcPr>
                </a:tc>
                <a:tc>
                  <a:txBody>
                    <a:bodyPr/>
                    <a:lstStyle/>
                    <a:p>
                      <a:r>
                        <a:rPr sz="1000" b="0">
                          <a:solidFill>
                            <a:srgbClr val="4B4B4B"/>
                          </a:solidFill>
                          <a:latin typeface="Arial"/>
                        </a:rPr>
                        <a:t>0</a:t>
                      </a:r>
                    </a:p>
                  </a:txBody>
                  <a:tcPr marL="73152" marR="73152" marT="36576" marB="36576">
                    <a:solidFill>
                      <a:srgbClr val="FFFFFF"/>
                    </a:solidFill>
                  </a:tcPr>
                </a:tc>
                <a:tc>
                  <a:txBody>
                    <a:bodyPr/>
                    <a:lstStyle/>
                    <a:p/>
                  </a:txBody>
                  <a:tcPr marL="73152" marR="73152" marT="36576" marB="36576">
                    <a:solidFill>
                      <a:srgbClr val="FFFF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Data Migration at a glance: key screens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a:t>
            </a:r>
          </a:p>
        </p:txBody>
      </p:sp>
      <p:pic>
        <p:nvPicPr>
          <p:cNvPr id="9" name="Picture 8" descr="scr-dm-01-01-view.png"/>
          <p:cNvPicPr>
            <a:picLocks noChangeAspect="1"/>
          </p:cNvPicPr>
          <p:nvPr/>
        </p:nvPicPr>
        <p:blipFill>
          <a:blip r:embed="rId3"/>
          <a:stretch>
            <a:fillRect/>
          </a:stretch>
        </p:blipFill>
        <p:spPr>
          <a:xfrm>
            <a:off x="2299123" y="1325880"/>
            <a:ext cx="1909080" cy="1874520"/>
          </a:xfrm>
          <a:prstGeom prst="rect">
            <a:avLst/>
          </a:prstGeom>
          <a:ln w="9525">
            <a:solidFill>
              <a:srgbClr val="C2C2C1"/>
            </a:solidFill>
          </a:ln>
        </p:spPr>
      </p:pic>
      <p:sp>
        <p:nvSpPr>
          <p:cNvPr id="10" name="TextBox 9"/>
          <p:cNvSpPr txBox="1"/>
          <p:nvPr/>
        </p:nvSpPr>
        <p:spPr>
          <a:xfrm>
            <a:off x="548640" y="3200400"/>
            <a:ext cx="5410047" cy="274320"/>
          </a:xfrm>
          <a:prstGeom prst="rect">
            <a:avLst/>
          </a:prstGeom>
          <a:noFill/>
        </p:spPr>
        <p:txBody>
          <a:bodyPr wrap="square" anchor="t" lIns="45720" rIns="45720">
            <a:spAutoFit/>
          </a:bodyPr>
          <a:lstStyle/>
          <a:p>
            <a:pPr algn="ctr"/>
            <a:r>
              <a:rPr sz="1100" b="0" i="1">
                <a:solidFill>
                  <a:srgbClr val="656565"/>
                </a:solidFill>
                <a:latin typeface="Arial"/>
              </a:rPr>
              <a:t>Migration Home</a:t>
            </a:r>
          </a:p>
        </p:txBody>
      </p:sp>
      <p:pic>
        <p:nvPicPr>
          <p:cNvPr id="11" name="Picture 10" descr="scr-dm-07-01-validated.png"/>
          <p:cNvPicPr>
            <a:picLocks noChangeAspect="1"/>
          </p:cNvPicPr>
          <p:nvPr/>
        </p:nvPicPr>
        <p:blipFill>
          <a:blip r:embed="rId4"/>
          <a:stretch>
            <a:fillRect/>
          </a:stretch>
        </p:blipFill>
        <p:spPr>
          <a:xfrm>
            <a:off x="7976738" y="1325880"/>
            <a:ext cx="1922584" cy="1874520"/>
          </a:xfrm>
          <a:prstGeom prst="rect">
            <a:avLst/>
          </a:prstGeom>
          <a:ln w="9525">
            <a:solidFill>
              <a:srgbClr val="C2C2C1"/>
            </a:solidFill>
          </a:ln>
        </p:spPr>
      </p:pic>
      <p:sp>
        <p:nvSpPr>
          <p:cNvPr id="12" name="TextBox 11"/>
          <p:cNvSpPr txBox="1"/>
          <p:nvPr/>
        </p:nvSpPr>
        <p:spPr>
          <a:xfrm>
            <a:off x="6233007" y="3200400"/>
            <a:ext cx="5410047" cy="274320"/>
          </a:xfrm>
          <a:prstGeom prst="rect">
            <a:avLst/>
          </a:prstGeom>
          <a:noFill/>
        </p:spPr>
        <p:txBody>
          <a:bodyPr wrap="square" anchor="t" lIns="45720" rIns="45720">
            <a:spAutoFit/>
          </a:bodyPr>
          <a:lstStyle/>
          <a:p>
            <a:pPr algn="ctr"/>
            <a:r>
              <a:rPr sz="1100" b="0" i="1">
                <a:solidFill>
                  <a:srgbClr val="656565"/>
                </a:solidFill>
                <a:latin typeface="Arial"/>
              </a:rPr>
              <a:t>A batch from validation to acceptance</a:t>
            </a:r>
          </a:p>
        </p:txBody>
      </p:sp>
      <p:pic>
        <p:nvPicPr>
          <p:cNvPr id="13" name="Picture 12" descr="scr-dm-09-01-list.png"/>
          <p:cNvPicPr>
            <a:picLocks noChangeAspect="1"/>
          </p:cNvPicPr>
          <p:nvPr/>
        </p:nvPicPr>
        <p:blipFill>
          <a:blip r:embed="rId5"/>
          <a:stretch>
            <a:fillRect/>
          </a:stretch>
        </p:blipFill>
        <p:spPr>
          <a:xfrm>
            <a:off x="2489629" y="3566160"/>
            <a:ext cx="1528069" cy="1874520"/>
          </a:xfrm>
          <a:prstGeom prst="rect">
            <a:avLst/>
          </a:prstGeom>
          <a:ln w="9525">
            <a:solidFill>
              <a:srgbClr val="C2C2C1"/>
            </a:solidFill>
          </a:ln>
        </p:spPr>
      </p:pic>
      <p:sp>
        <p:nvSpPr>
          <p:cNvPr id="14" name="TextBox 13"/>
          <p:cNvSpPr txBox="1"/>
          <p:nvPr/>
        </p:nvSpPr>
        <p:spPr>
          <a:xfrm>
            <a:off x="548640" y="5440680"/>
            <a:ext cx="5410047" cy="274320"/>
          </a:xfrm>
          <a:prstGeom prst="rect">
            <a:avLst/>
          </a:prstGeom>
          <a:noFill/>
        </p:spPr>
        <p:txBody>
          <a:bodyPr wrap="square" anchor="t" lIns="45720" rIns="45720">
            <a:spAutoFit/>
          </a:bodyPr>
          <a:lstStyle/>
          <a:p>
            <a:pPr algn="ctr"/>
            <a:r>
              <a:rPr sz="1100" b="0" i="1">
                <a:solidFill>
                  <a:srgbClr val="656565"/>
                </a:solidFill>
                <a:latin typeface="Arial"/>
              </a:rPr>
              <a:t>Reconciliation by level</a:t>
            </a:r>
          </a:p>
        </p:txBody>
      </p:sp>
      <p:pic>
        <p:nvPicPr>
          <p:cNvPr id="15" name="Picture 14" descr="scr-dm-17-01-legacy.png"/>
          <p:cNvPicPr>
            <a:picLocks noChangeAspect="1"/>
          </p:cNvPicPr>
          <p:nvPr/>
        </p:nvPicPr>
        <p:blipFill>
          <a:blip r:embed="rId6"/>
          <a:stretch>
            <a:fillRect/>
          </a:stretch>
        </p:blipFill>
        <p:spPr>
          <a:xfrm>
            <a:off x="7982194" y="3566160"/>
            <a:ext cx="1911672" cy="1874520"/>
          </a:xfrm>
          <a:prstGeom prst="rect">
            <a:avLst/>
          </a:prstGeom>
          <a:ln w="9525">
            <a:solidFill>
              <a:srgbClr val="C2C2C1"/>
            </a:solidFill>
          </a:ln>
        </p:spPr>
      </p:pic>
      <p:sp>
        <p:nvSpPr>
          <p:cNvPr id="16" name="TextBox 15"/>
          <p:cNvSpPr txBox="1"/>
          <p:nvPr/>
        </p:nvSpPr>
        <p:spPr>
          <a:xfrm>
            <a:off x="6233007" y="5440680"/>
            <a:ext cx="5410047" cy="274320"/>
          </a:xfrm>
          <a:prstGeom prst="rect">
            <a:avLst/>
          </a:prstGeom>
          <a:noFill/>
        </p:spPr>
        <p:txBody>
          <a:bodyPr wrap="square" anchor="t" lIns="45720" rIns="45720">
            <a:spAutoFit/>
          </a:bodyPr>
          <a:lstStyle/>
          <a:p>
            <a:pPr algn="ctr"/>
            <a:r>
              <a:rPr sz="1100" b="0" i="1">
                <a:solidFill>
                  <a:srgbClr val="656565"/>
                </a:solidFill>
                <a:latin typeface="Arial"/>
              </a:rPr>
              <a:t>A legacy invoice on Invoice 360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The migration approach</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500">
                <a:solidFill>
                  <a:srgbClr val="004EA8"/>
                </a:solidFill>
                <a:latin typeface="Arial"/>
              </a:rPr>
              <a:t>•  </a:t>
            </a:r>
            <a:r>
              <a:rPr sz="1500">
                <a:solidFill>
                  <a:srgbClr val="4B4B4B"/>
                </a:solidFill>
                <a:latin typeface="Arial"/>
              </a:rPr>
              <a:t>Selective, not a conversion: each legacy object gets one decision</a:t>
            </a:r>
          </a:p>
          <a:p>
            <a:pPr lvl="1">
              <a:spcAft>
                <a:spcPts val="600"/>
              </a:spcAft>
            </a:pPr>
            <a:r>
              <a:rPr sz="1300">
                <a:solidFill>
                  <a:srgbClr val="656565"/>
                </a:solidFill>
                <a:latin typeface="Arial"/>
              </a:rPr>
              <a:t>–  </a:t>
            </a:r>
            <a:r>
              <a:rPr sz="1300">
                <a:solidFill>
                  <a:srgbClr val="4B4B4B"/>
                </a:solidFill>
                <a:latin typeface="Arial"/>
              </a:rPr>
              <a:t>Master and reference data are migrated; open items are carried forward; history stays in read-only legacy or the BIBS archive</a:t>
            </a:r>
          </a:p>
          <a:p>
            <a:pPr>
              <a:spcAft>
                <a:spcPts val="600"/>
              </a:spcAft>
            </a:pPr>
            <a:r>
              <a:rPr sz="1500">
                <a:solidFill>
                  <a:srgbClr val="004EA8"/>
                </a:solidFill>
                <a:latin typeface="Arial"/>
              </a:rPr>
              <a:t>•  </a:t>
            </a:r>
            <a:r>
              <a:rPr sz="1500">
                <a:solidFill>
                  <a:srgbClr val="4B4B4B"/>
                </a:solidFill>
                <a:latin typeface="Arial"/>
              </a:rPr>
              <a:t>Load through the BIBS services, so every BIBS rule, audit entry and accounting entry applies</a:t>
            </a:r>
          </a:p>
          <a:p>
            <a:pPr>
              <a:spcAft>
                <a:spcPts val="600"/>
              </a:spcAft>
            </a:pPr>
            <a:r>
              <a:rPr sz="1500">
                <a:solidFill>
                  <a:srgbClr val="004EA8"/>
                </a:solidFill>
                <a:latin typeface="Arial"/>
              </a:rPr>
              <a:t>•  </a:t>
            </a:r>
            <a:r>
              <a:rPr sz="1500">
                <a:solidFill>
                  <a:srgbClr val="4B4B4B"/>
                </a:solidFill>
                <a:latin typeface="Arial"/>
              </a:rPr>
              <a:t>Reconcile everything and keep the evidence: counts, amounts, hash totals, fields, GL</a:t>
            </a:r>
          </a:p>
          <a:p>
            <a:pPr>
              <a:spcAft>
                <a:spcPts val="600"/>
              </a:spcAft>
            </a:pPr>
            <a:r>
              <a:rPr sz="1500">
                <a:solidFill>
                  <a:srgbClr val="004EA8"/>
                </a:solidFill>
                <a:latin typeface="Arial"/>
              </a:rPr>
              <a:t>•  </a:t>
            </a:r>
            <a:r>
              <a:rPr sz="1500">
                <a:solidFill>
                  <a:srgbClr val="4B4B4B"/>
                </a:solidFill>
                <a:latin typeface="Arial"/>
              </a:rPr>
              <a:t>Rehearse before production: four trial migrations and a dress rehearsal on masked data</a:t>
            </a:r>
          </a:p>
          <a:p>
            <a:pPr>
              <a:spcAft>
                <a:spcPts val="600"/>
              </a:spcAft>
            </a:pPr>
            <a:r>
              <a:rPr sz="1500">
                <a:solidFill>
                  <a:srgbClr val="004EA8"/>
                </a:solidFill>
                <a:latin typeface="Arial"/>
              </a:rPr>
              <a:t>•  </a:t>
            </a:r>
            <a:r>
              <a:rPr sz="1500">
                <a:solidFill>
                  <a:srgbClr val="4B4B4B"/>
                </a:solidFill>
                <a:latin typeface="Arial"/>
              </a:rPr>
              <a:t>One processing system per item from the freeze; no parallel run</a:t>
            </a:r>
          </a:p>
          <a:p>
            <a:pPr>
              <a:spcAft>
                <a:spcPts val="600"/>
              </a:spcAft>
            </a:pPr>
            <a:r>
              <a:rPr sz="1500">
                <a:solidFill>
                  <a:srgbClr val="004EA8"/>
                </a:solidFill>
                <a:latin typeface="Arial"/>
              </a:rPr>
              <a:t>•  </a:t>
            </a:r>
            <a:r>
              <a:rPr sz="1500">
                <a:solidFill>
                  <a:srgbClr val="4B4B4B"/>
                </a:solidFill>
                <a:latin typeface="Arial"/>
              </a:rPr>
              <a:t>Go-live Monday 3 January 2028 at the year-end boundary (option A, for Comptrollership to confirm)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The data objects and their decisions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a:t>
            </a:r>
          </a:p>
        </p:txBody>
      </p:sp>
      <p:graphicFrame>
        <p:nvGraphicFramePr>
          <p:cNvPr id="9" name="Table 8"/>
          <p:cNvGraphicFramePr>
            <a:graphicFrameLocks noGrp="1"/>
          </p:cNvGraphicFramePr>
          <p:nvPr/>
        </p:nvGraphicFramePr>
        <p:xfrm>
          <a:off x="548640" y="1371600"/>
          <a:ext cx="11094414" cy="2194560"/>
        </p:xfrm>
        <a:graphic>
          <a:graphicData uri="http://schemas.openxmlformats.org/drawingml/2006/table">
            <a:tbl>
              <a:tblPr firstRow="1" bandRow="1">
                <a:tableStyleId>{5C22544A-7EE6-4342-B048-85BDC9FD1C3A}</a:tableStyleId>
              </a:tblPr>
              <a:tblGrid>
                <a:gridCol w="2289323"/>
                <a:gridCol w="8805091"/>
              </a:tblGrid>
              <a:tr h="365760">
                <a:tc>
                  <a:txBody>
                    <a:bodyPr/>
                    <a:lstStyle/>
                    <a:p>
                      <a:r>
                        <a:rPr sz="1200" b="1">
                          <a:solidFill>
                            <a:srgbClr val="FFFFFF"/>
                          </a:solidFill>
                          <a:latin typeface="Arial"/>
                        </a:rPr>
                        <a:t>Decision (proposed)</a:t>
                      </a:r>
                    </a:p>
                  </a:txBody>
                  <a:tcPr marL="73152" marR="73152" marT="36576" marB="36576">
                    <a:solidFill>
                      <a:srgbClr val="004EA8"/>
                    </a:solidFill>
                  </a:tcPr>
                </a:tc>
                <a:tc>
                  <a:txBody>
                    <a:bodyPr/>
                    <a:lstStyle/>
                    <a:p>
                      <a:r>
                        <a:rPr sz="1200" b="1">
                          <a:solidFill>
                            <a:srgbClr val="FFFFFF"/>
                          </a:solidFill>
                          <a:latin typeface="Arial"/>
                        </a:rPr>
                        <a:t>Objects</a:t>
                      </a:r>
                    </a:p>
                  </a:txBody>
                  <a:tcPr marL="73152" marR="73152" marT="36576" marB="36576">
                    <a:solidFill>
                      <a:srgbClr val="004EA8"/>
                    </a:solidFill>
                  </a:tcPr>
                </a:tc>
              </a:tr>
              <a:tr h="365760">
                <a:tc>
                  <a:txBody>
                    <a:bodyPr/>
                    <a:lstStyle/>
                    <a:p>
                      <a:r>
                        <a:rPr sz="1200" b="0">
                          <a:solidFill>
                            <a:srgbClr val="4B4B4B"/>
                          </a:solidFill>
                          <a:latin typeface="Arial"/>
                        </a:rPr>
                        <a:t>Migrate</a:t>
                      </a:r>
                    </a:p>
                  </a:txBody>
                  <a:tcPr marL="73152" marR="73152" marT="36576" marB="36576">
                    <a:solidFill>
                      <a:srgbClr val="FFFFFF"/>
                    </a:solidFill>
                  </a:tcPr>
                </a:tc>
                <a:tc>
                  <a:txBody>
                    <a:bodyPr/>
                    <a:lstStyle/>
                    <a:p>
                      <a:r>
                        <a:rPr sz="1200" b="0">
                          <a:solidFill>
                            <a:srgbClr val="4B4B4B"/>
                          </a:solidFill>
                          <a:latin typeface="Arial"/>
                        </a:rPr>
                        <a:t>R01 Lists of values and MIS values; R02 Branches and invoicing branches; R03 Sales organisation; R04 Insurers and insurer branches; R05 Product lines, cover types, products and risk codes; R06 Package code map; R07 Commission rates by insurer and product; R08 Chart of accounts mapping; C01 Client master; C03 Client payout accounts; P03 Renewal advices already sent before go-live; G01 GL trial balance per account, branch and currency; G03 FY2027 opening-balance true-ups</a:t>
                      </a:r>
                    </a:p>
                  </a:txBody>
                  <a:tcPr marL="73152" marR="73152" marT="36576" marB="36576">
                    <a:solidFill>
                      <a:srgbClr val="FFFFFF"/>
                    </a:solidFill>
                  </a:tcPr>
                </a:tc>
              </a:tr>
              <a:tr h="365760">
                <a:tc>
                  <a:txBody>
                    <a:bodyPr/>
                    <a:lstStyle/>
                    <a:p>
                      <a:r>
                        <a:rPr sz="1200" b="0">
                          <a:solidFill>
                            <a:srgbClr val="4B4B4B"/>
                          </a:solidFill>
                          <a:latin typeface="Arial"/>
                        </a:rPr>
                        <a:t>Conditional</a:t>
                      </a:r>
                    </a:p>
                  </a:txBody>
                  <a:tcPr marL="73152" marR="73152" marT="36576" marB="36576">
                    <a:solidFill>
                      <a:srgbClr val="E5F5FF"/>
                    </a:solidFill>
                  </a:tcPr>
                </a:tc>
                <a:tc>
                  <a:txBody>
                    <a:bodyPr/>
                    <a:lstStyle/>
                    <a:p>
                      <a:r>
                        <a:rPr sz="1200" b="0">
                          <a:solidFill>
                            <a:srgbClr val="4B4B4B"/>
                          </a:solidFill>
                          <a:latin typeface="Arial"/>
                        </a:rPr>
                        <a:t>R09 Payees; P01 In-force policy headers; P04 Submitted-policy masterlists; P05 Employee Benefits programmes; F04 Remittance in flight; F06 PDCs in the warehouse, check pick-ups and refunds in process; F07 Open claims</a:t>
                      </a:r>
                    </a:p>
                  </a:txBody>
                  <a:tcPr marL="73152" marR="73152" marT="36576" marB="36576">
                    <a:solidFill>
                      <a:srgbClr val="E5F5FF"/>
                    </a:solidFill>
                  </a:tcPr>
                </a:tc>
              </a:tr>
              <a:tr h="365760">
                <a:tc>
                  <a:txBody>
                    <a:bodyPr/>
                    <a:lstStyle/>
                    <a:p>
                      <a:r>
                        <a:rPr sz="1200" b="0">
                          <a:solidFill>
                            <a:srgbClr val="4B4B4B"/>
                          </a:solidFill>
                          <a:latin typeface="Arial"/>
                        </a:rPr>
                        <a:t>Excluded</a:t>
                      </a:r>
                    </a:p>
                  </a:txBody>
                  <a:tcPr marL="73152" marR="73152" marT="36576" marB="36576">
                    <a:solidFill>
                      <a:srgbClr val="FFFFFF"/>
                    </a:solidFill>
                  </a:tcPr>
                </a:tc>
                <a:tc>
                  <a:txBody>
                    <a:bodyPr/>
                    <a:lstStyle/>
                    <a:p>
                      <a:r>
                        <a:rPr sz="1200" b="0">
                          <a:solidFill>
                            <a:srgbClr val="4B4B4B"/>
                          </a:solidFill>
                          <a:latin typeface="Arial"/>
                        </a:rPr>
                        <a:t>R10 Users and roles; C05 Screening results and risk ratings</a:t>
                      </a:r>
                    </a:p>
                  </a:txBody>
                  <a:tcPr marL="73152" marR="73152" marT="36576" marB="36576">
                    <a:solidFill>
                      <a:srgbClr val="FFFFFF"/>
                    </a:solidFill>
                  </a:tcPr>
                </a:tc>
              </a:tr>
              <a:tr h="365760">
                <a:tc>
                  <a:txBody>
                    <a:bodyPr/>
                    <a:lstStyle/>
                    <a:p>
                      <a:r>
                        <a:rPr sz="1200" b="0">
                          <a:solidFill>
                            <a:srgbClr val="4B4B4B"/>
                          </a:solidFill>
                          <a:latin typeface="Arial"/>
                        </a:rPr>
                        <a:t>Carry forward</a:t>
                      </a:r>
                    </a:p>
                  </a:txBody>
                  <a:tcPr marL="73152" marR="73152" marT="36576" marB="36576">
                    <a:solidFill>
                      <a:srgbClr val="E5F5FF"/>
                    </a:solidFill>
                  </a:tcPr>
                </a:tc>
                <a:tc>
                  <a:txBody>
                    <a:bodyPr/>
                    <a:lstStyle/>
                    <a:p>
                      <a:r>
                        <a:rPr sz="1200" b="0">
                          <a:solidFill>
                            <a:srgbClr val="4B4B4B"/>
                          </a:solidFill>
                          <a:latin typeface="Arial"/>
                        </a:rPr>
                        <a:t>R11 Receipt series in use; F01 Open legacy invoices; F02 Unapplied premium payments; F03 Open collection state; F05 DP billing in process and DP commission receivable</a:t>
                      </a:r>
                    </a:p>
                  </a:txBody>
                  <a:tcPr marL="73152" marR="73152" marT="36576" marB="36576">
                    <a:solidFill>
                      <a:srgbClr val="E5F5FF"/>
                    </a:solidFill>
                  </a:tcPr>
                </a:tc>
              </a:tr>
              <a:tr h="365760">
                <a:tc>
                  <a:txBody>
                    <a:bodyPr/>
                    <a:lstStyle/>
                    <a:p>
                      <a:r>
                        <a:rPr sz="1200" b="0">
                          <a:solidFill>
                            <a:srgbClr val="4B4B4B"/>
                          </a:solidFill>
                          <a:latin typeface="Arial"/>
                        </a:rPr>
                        <a:t>Archive</a:t>
                      </a:r>
                    </a:p>
                  </a:txBody>
                  <a:tcPr marL="73152" marR="73152" marT="36576" marB="36576">
                    <a:solidFill>
                      <a:srgbClr val="FFFFFF"/>
                    </a:solidFill>
                  </a:tcPr>
                </a:tc>
                <a:tc>
                  <a:txBody>
                    <a:bodyPr/>
                    <a:lstStyle/>
                    <a:p>
                      <a:r>
                        <a:rPr sz="1200" b="0">
                          <a:solidFill>
                            <a:srgbClr val="4B4B4B"/>
                          </a:solidFill>
                          <a:latin typeface="Arial"/>
                        </a:rPr>
                        <a:t>C04 KYC documents and IDs; P02 Expired policies and policy history; G02 GL history; H01 Closed transactions; H02 Legacy documents</a:t>
                      </a:r>
                    </a:p>
                  </a:txBody>
                  <a:tcPr marL="73152" marR="73152" marT="36576" marB="36576">
                    <a:solidFill>
                      <a:srgbClr val="FFFFFF"/>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Roles and the named data owners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a:t>
            </a:r>
          </a:p>
        </p:txBody>
      </p:sp>
      <p:graphicFrame>
        <p:nvGraphicFramePr>
          <p:cNvPr id="9" name="Table 8"/>
          <p:cNvGraphicFramePr>
            <a:graphicFrameLocks noGrp="1"/>
          </p:cNvGraphicFramePr>
          <p:nvPr/>
        </p:nvGraphicFramePr>
        <p:xfrm>
          <a:off x="548640" y="1371600"/>
          <a:ext cx="11094414" cy="3291840"/>
        </p:xfrm>
        <a:graphic>
          <a:graphicData uri="http://schemas.openxmlformats.org/drawingml/2006/table">
            <a:tbl>
              <a:tblPr firstRow="1" bandRow="1">
                <a:tableStyleId>{5C22544A-7EE6-4342-B048-85BDC9FD1C3A}</a:tableStyleId>
              </a:tblPr>
              <a:tblGrid>
                <a:gridCol w="2641527"/>
                <a:gridCol w="3522036"/>
                <a:gridCol w="4930851"/>
              </a:tblGrid>
              <a:tr h="365760">
                <a:tc>
                  <a:txBody>
                    <a:bodyPr/>
                    <a:lstStyle/>
                    <a:p>
                      <a:r>
                        <a:rPr sz="1200" b="1">
                          <a:solidFill>
                            <a:srgbClr val="FFFFFF"/>
                          </a:solidFill>
                          <a:latin typeface="Arial"/>
                        </a:rPr>
                        <a:t>Role</a:t>
                      </a:r>
                    </a:p>
                  </a:txBody>
                  <a:tcPr marL="73152" marR="73152" marT="36576" marB="36576">
                    <a:solidFill>
                      <a:srgbClr val="004EA8"/>
                    </a:solidFill>
                  </a:tcPr>
                </a:tc>
                <a:tc>
                  <a:txBody>
                    <a:bodyPr/>
                    <a:lstStyle/>
                    <a:p>
                      <a:r>
                        <a:rPr sz="1200" b="1">
                          <a:solidFill>
                            <a:srgbClr val="FFFFFF"/>
                          </a:solidFill>
                          <a:latin typeface="Arial"/>
                        </a:rPr>
                        <a:t>Who</a:t>
                      </a:r>
                    </a:p>
                  </a:txBody>
                  <a:tcPr marL="73152" marR="73152" marT="36576" marB="36576">
                    <a:solidFill>
                      <a:srgbClr val="004EA8"/>
                    </a:solidFill>
                  </a:tcPr>
                </a:tc>
                <a:tc>
                  <a:txBody>
                    <a:bodyPr/>
                    <a:lstStyle/>
                    <a:p>
                      <a:r>
                        <a:rPr sz="1200" b="1">
                          <a:solidFill>
                            <a:srgbClr val="FFFFFF"/>
                          </a:solidFill>
                          <a:latin typeface="Arial"/>
                        </a:rPr>
                        <a:t>Does</a:t>
                      </a:r>
                    </a:p>
                  </a:txBody>
                  <a:tcPr marL="73152" marR="73152" marT="36576" marB="36576">
                    <a:solidFill>
                      <a:srgbClr val="004EA8"/>
                    </a:solidFill>
                  </a:tcPr>
                </a:tc>
              </a:tr>
              <a:tr h="365760">
                <a:tc>
                  <a:txBody>
                    <a:bodyPr/>
                    <a:lstStyle/>
                    <a:p>
                      <a:r>
                        <a:rPr sz="1200" b="0">
                          <a:solidFill>
                            <a:srgbClr val="4B4B4B"/>
                          </a:solidFill>
                          <a:latin typeface="Arial"/>
                        </a:rPr>
                        <a:t>Approver of the set</a:t>
                      </a:r>
                    </a:p>
                  </a:txBody>
                  <a:tcPr marL="73152" marR="73152" marT="36576" marB="36576">
                    <a:solidFill>
                      <a:srgbClr val="FFFFFF"/>
                    </a:solidFill>
                  </a:tcPr>
                </a:tc>
                <a:tc>
                  <a:txBody>
                    <a:bodyPr/>
                    <a:lstStyle/>
                    <a:p>
                      <a:r>
                        <a:rPr sz="1200" b="0">
                          <a:solidFill>
                            <a:srgbClr val="4B4B4B"/>
                          </a:solidFill>
                          <a:latin typeface="Arial"/>
                        </a:rPr>
                        <a:t>Product Owner, Marketing Business System</a:t>
                      </a:r>
                    </a:p>
                  </a:txBody>
                  <a:tcPr marL="73152" marR="73152" marT="36576" marB="36576">
                    <a:solidFill>
                      <a:srgbClr val="FFFFFF"/>
                    </a:solidFill>
                  </a:tcPr>
                </a:tc>
                <a:tc>
                  <a:txBody>
                    <a:bodyPr/>
                    <a:lstStyle/>
                    <a:p>
                      <a:r>
                        <a:rPr sz="1200" b="0">
                          <a:solidFill>
                            <a:srgbClr val="4B4B4B"/>
                          </a:solidFill>
                          <a:latin typeface="Arial"/>
                        </a:rPr>
                        <a:t>Owns the set and approves all of its contents, with the approvers of the BRD-13 approval pages</a:t>
                      </a:r>
                    </a:p>
                  </a:txBody>
                  <a:tcPr marL="73152" marR="73152" marT="36576" marB="36576">
                    <a:solidFill>
                      <a:srgbClr val="FFFFFF"/>
                    </a:solidFill>
                  </a:tcPr>
                </a:tc>
              </a:tr>
              <a:tr h="365760">
                <a:tc>
                  <a:txBody>
                    <a:bodyPr/>
                    <a:lstStyle/>
                    <a:p>
                      <a:r>
                        <a:rPr sz="1200" b="0">
                          <a:solidFill>
                            <a:srgbClr val="4B4B4B"/>
                          </a:solidFill>
                          <a:latin typeface="Arial"/>
                        </a:rPr>
                        <a:t>Author of the BRD; cut-over</a:t>
                      </a:r>
                    </a:p>
                  </a:txBody>
                  <a:tcPr marL="73152" marR="73152" marT="36576" marB="36576">
                    <a:solidFill>
                      <a:srgbClr val="E5F5FF"/>
                    </a:solidFill>
                  </a:tcPr>
                </a:tc>
                <a:tc>
                  <a:txBody>
                    <a:bodyPr/>
                    <a:lstStyle/>
                    <a:p>
                      <a:r>
                        <a:rPr sz="1200" b="0">
                          <a:solidFill>
                            <a:srgbClr val="4B4B4B"/>
                          </a:solidFill>
                          <a:latin typeface="Arial"/>
                        </a:rPr>
                        <a:t>Program Manager, Business Project Services</a:t>
                      </a:r>
                    </a:p>
                  </a:txBody>
                  <a:tcPr marL="73152" marR="73152" marT="36576" marB="36576">
                    <a:solidFill>
                      <a:srgbClr val="E5F5FF"/>
                    </a:solidFill>
                  </a:tcPr>
                </a:tc>
                <a:tc>
                  <a:txBody>
                    <a:bodyPr/>
                    <a:lstStyle/>
                    <a:p>
                      <a:r>
                        <a:rPr sz="1200" b="0">
                          <a:solidFill>
                            <a:srgbClr val="4B4B4B"/>
                          </a:solidFill>
                          <a:latin typeface="Arial"/>
                        </a:rPr>
                        <a:t>Reviews the traceability and the completeness; accountable for the cut-over; chairs the go / no-go board</a:t>
                      </a:r>
                    </a:p>
                  </a:txBody>
                  <a:tcPr marL="73152" marR="73152" marT="36576" marB="36576">
                    <a:solidFill>
                      <a:srgbClr val="E5F5FF"/>
                    </a:solidFill>
                  </a:tcPr>
                </a:tc>
              </a:tr>
              <a:tr h="365760">
                <a:tc>
                  <a:txBody>
                    <a:bodyPr/>
                    <a:lstStyle/>
                    <a:p>
                      <a:r>
                        <a:rPr sz="1200" b="0">
                          <a:solidFill>
                            <a:srgbClr val="4B4B4B"/>
                          </a:solidFill>
                          <a:latin typeface="Arial"/>
                        </a:rPr>
                        <a:t>Data Migration Lead</a:t>
                      </a:r>
                    </a:p>
                  </a:txBody>
                  <a:tcPr marL="73152" marR="73152" marT="36576" marB="36576">
                    <a:solidFill>
                      <a:srgbClr val="FFFFFF"/>
                    </a:solidFill>
                  </a:tcPr>
                </a:tc>
                <a:tc>
                  <a:txBody>
                    <a:bodyPr/>
                    <a:lstStyle/>
                    <a:p>
                      <a:r>
                        <a:rPr sz="1200" b="0">
                          <a:solidFill>
                            <a:srgbClr val="4B4B4B"/>
                          </a:solidFill>
                          <a:latin typeface="Arial"/>
                        </a:rPr>
                        <a:t>BDOI (to name)</a:t>
                      </a:r>
                    </a:p>
                  </a:txBody>
                  <a:tcPr marL="73152" marR="73152" marT="36576" marB="36576">
                    <a:solidFill>
                      <a:srgbClr val="FFFFFF"/>
                    </a:solidFill>
                  </a:tcPr>
                </a:tc>
                <a:tc>
                  <a:txBody>
                    <a:bodyPr/>
                    <a:lstStyle/>
                    <a:p>
                      <a:r>
                        <a:rPr sz="1200" b="0">
                          <a:solidFill>
                            <a:srgbClr val="4B4B4B"/>
                          </a:solidFill>
                          <a:latin typeface="Arial"/>
                        </a:rPr>
                        <a:t>Object register and decisions, load approvals (G4), acceptance with the owners (G6), cut-over plan</a:t>
                      </a:r>
                    </a:p>
                  </a:txBody>
                  <a:tcPr marL="73152" marR="73152" marT="36576" marB="36576">
                    <a:solidFill>
                      <a:srgbClr val="FFFFFF"/>
                    </a:solidFill>
                  </a:tcPr>
                </a:tc>
              </a:tr>
              <a:tr h="365760">
                <a:tc>
                  <a:txBody>
                    <a:bodyPr/>
                    <a:lstStyle/>
                    <a:p>
                      <a:r>
                        <a:rPr sz="1200" b="0">
                          <a:solidFill>
                            <a:srgbClr val="4B4B4B"/>
                          </a:solidFill>
                          <a:latin typeface="Arial"/>
                        </a:rPr>
                        <a:t>Data owners</a:t>
                      </a:r>
                    </a:p>
                  </a:txBody>
                  <a:tcPr marL="73152" marR="73152" marT="36576" marB="36576">
                    <a:solidFill>
                      <a:srgbClr val="E5F5FF"/>
                    </a:solidFill>
                  </a:tcPr>
                </a:tc>
                <a:tc>
                  <a:txBody>
                    <a:bodyPr/>
                    <a:lstStyle/>
                    <a:p>
                      <a:r>
                        <a:rPr sz="1200" b="0">
                          <a:solidFill>
                            <a:srgbClr val="4B4B4B"/>
                          </a:solidFill>
                          <a:latin typeface="Arial"/>
                        </a:rPr>
                        <a:t>Department heads per object (workbook sheet Data owners)</a:t>
                      </a:r>
                    </a:p>
                  </a:txBody>
                  <a:tcPr marL="73152" marR="73152" marT="36576" marB="36576">
                    <a:solidFill>
                      <a:srgbClr val="E5F5FF"/>
                    </a:solidFill>
                  </a:tcPr>
                </a:tc>
                <a:tc>
                  <a:txBody>
                    <a:bodyPr/>
                    <a:lstStyle/>
                    <a:p>
                      <a:r>
                        <a:rPr sz="1200" b="0">
                          <a:solidFill>
                            <a:srgbClr val="4B4B4B"/>
                          </a:solidFill>
                          <a:latin typeface="Arial"/>
                        </a:rPr>
                        <a:t>Decide the class (G1), approve the code maps (G2), waivers, accept the object (G6)</a:t>
                      </a:r>
                    </a:p>
                  </a:txBody>
                  <a:tcPr marL="73152" marR="73152" marT="36576" marB="36576">
                    <a:solidFill>
                      <a:srgbClr val="E5F5FF"/>
                    </a:solidFill>
                  </a:tcPr>
                </a:tc>
              </a:tr>
              <a:tr h="365760">
                <a:tc>
                  <a:txBody>
                    <a:bodyPr/>
                    <a:lstStyle/>
                    <a:p>
                      <a:r>
                        <a:rPr sz="1200" b="0">
                          <a:solidFill>
                            <a:srgbClr val="4B4B4B"/>
                          </a:solidFill>
                          <a:latin typeface="Arial"/>
                        </a:rPr>
                        <a:t>Data stewards</a:t>
                      </a:r>
                    </a:p>
                  </a:txBody>
                  <a:tcPr marL="73152" marR="73152" marT="36576" marB="36576">
                    <a:solidFill>
                      <a:srgbClr val="FFFFFF"/>
                    </a:solidFill>
                  </a:tcPr>
                </a:tc>
                <a:tc>
                  <a:txBody>
                    <a:bodyPr/>
                    <a:lstStyle/>
                    <a:p>
                      <a:r>
                        <a:rPr sz="1200" b="0">
                          <a:solidFill>
                            <a:srgbClr val="4B4B4B"/>
                          </a:solidFill>
                          <a:latin typeface="Arial"/>
                        </a:rPr>
                        <a:t>Named staff per object</a:t>
                      </a:r>
                    </a:p>
                  </a:txBody>
                  <a:tcPr marL="73152" marR="73152" marT="36576" marB="36576">
                    <a:solidFill>
                      <a:srgbClr val="FFFFFF"/>
                    </a:solidFill>
                  </a:tcPr>
                </a:tc>
                <a:tc>
                  <a:txBody>
                    <a:bodyPr/>
                    <a:lstStyle/>
                    <a:p>
                      <a:r>
                        <a:rPr sz="1200" b="0">
                          <a:solidFill>
                            <a:srgbClr val="4B4B4B"/>
                          </a:solidFill>
                          <a:latin typeface="Arial"/>
                        </a:rPr>
                        <a:t>Profiling review, cleansing at source, code maps, client match review</a:t>
                      </a:r>
                    </a:p>
                  </a:txBody>
                  <a:tcPr marL="73152" marR="73152" marT="36576" marB="36576">
                    <a:solidFill>
                      <a:srgbClr val="FFFFFF"/>
                    </a:solidFill>
                  </a:tcPr>
                </a:tc>
              </a:tr>
              <a:tr h="365760">
                <a:tc>
                  <a:txBody>
                    <a:bodyPr/>
                    <a:lstStyle/>
                    <a:p>
                      <a:r>
                        <a:rPr sz="1200" b="0">
                          <a:solidFill>
                            <a:srgbClr val="4B4B4B"/>
                          </a:solidFill>
                          <a:latin typeface="Arial"/>
                        </a:rPr>
                        <a:t>Reconciliation approver</a:t>
                      </a:r>
                    </a:p>
                  </a:txBody>
                  <a:tcPr marL="73152" marR="73152" marT="36576" marB="36576">
                    <a:solidFill>
                      <a:srgbClr val="E5F5FF"/>
                    </a:solidFill>
                  </a:tcPr>
                </a:tc>
                <a:tc>
                  <a:txBody>
                    <a:bodyPr/>
                    <a:lstStyle/>
                    <a:p>
                      <a:r>
                        <a:rPr sz="1200" b="0">
                          <a:solidFill>
                            <a:srgbClr val="4B4B4B"/>
                          </a:solidFill>
                          <a:latin typeface="Arial"/>
                        </a:rPr>
                        <a:t>Head, Comptrollership (financial objects)</a:t>
                      </a:r>
                    </a:p>
                  </a:txBody>
                  <a:tcPr marL="73152" marR="73152" marT="36576" marB="36576">
                    <a:solidFill>
                      <a:srgbClr val="E5F5FF"/>
                    </a:solidFill>
                  </a:tcPr>
                </a:tc>
                <a:tc>
                  <a:txBody>
                    <a:bodyPr/>
                    <a:lstStyle/>
                    <a:p>
                      <a:r>
                        <a:rPr sz="1200" b="0">
                          <a:solidFill>
                            <a:srgbClr val="4B4B4B"/>
                          </a:solidFill>
                          <a:latin typeface="Arial"/>
                        </a:rPr>
                        <a:t>Signs the reconciliation (G5); approves breaks, rollbacks and the opening-balance adjustments</a:t>
                      </a:r>
                    </a:p>
                  </a:txBody>
                  <a:tcPr marL="73152" marR="73152" marT="36576" marB="36576">
                    <a:solidFill>
                      <a:srgbClr val="E5F5FF"/>
                    </a:solidFill>
                  </a:tcPr>
                </a:tc>
              </a:tr>
              <a:tr h="365760">
                <a:tc>
                  <a:txBody>
                    <a:bodyPr/>
                    <a:lstStyle/>
                    <a:p>
                      <a:r>
                        <a:rPr sz="1200" b="0">
                          <a:solidFill>
                            <a:srgbClr val="4B4B4B"/>
                          </a:solidFill>
                          <a:latin typeface="Arial"/>
                        </a:rPr>
                        <a:t>BDOI IT</a:t>
                      </a:r>
                    </a:p>
                  </a:txBody>
                  <a:tcPr marL="73152" marR="73152" marT="36576" marB="36576">
                    <a:solidFill>
                      <a:srgbClr val="FFFFFF"/>
                    </a:solidFill>
                  </a:tcPr>
                </a:tc>
                <a:tc>
                  <a:txBody>
                    <a:bodyPr/>
                    <a:lstStyle/>
                    <a:p>
                      <a:r>
                        <a:rPr sz="1200" b="0">
                          <a:solidFill>
                            <a:srgbClr val="4B4B4B"/>
                          </a:solidFill>
                          <a:latin typeface="Arial"/>
                        </a:rPr>
                        <a:t>Legacy system owners</a:t>
                      </a:r>
                    </a:p>
                  </a:txBody>
                  <a:tcPr marL="73152" marR="73152" marT="36576" marB="36576">
                    <a:solidFill>
                      <a:srgbClr val="FFFFFF"/>
                    </a:solidFill>
                  </a:tcPr>
                </a:tc>
                <a:tc>
                  <a:txBody>
                    <a:bodyPr/>
                    <a:lstStyle/>
                    <a:p>
                      <a:r>
                        <a:rPr sz="1200" b="0">
                          <a:solidFill>
                            <a:srgbClr val="4B4B4B"/>
                          </a:solidFill>
                          <a:latin typeface="Arial"/>
                        </a:rPr>
                        <a:t>Extracts and control files, transfer, freeze and read-only mode, decommissioning</a:t>
                      </a:r>
                    </a:p>
                  </a:txBody>
                  <a:tcPr marL="73152" marR="73152" marT="36576" marB="36576">
                    <a:solidFill>
                      <a:srgbClr val="FFFFFF"/>
                    </a:solidFill>
                  </a:tcPr>
                </a:tc>
              </a:tr>
              <a:tr h="365760">
                <a:tc>
                  <a:txBody>
                    <a:bodyPr/>
                    <a:lstStyle/>
                    <a:p>
                      <a:r>
                        <a:rPr sz="1200" b="0">
                          <a:solidFill>
                            <a:srgbClr val="4B4B4B"/>
                          </a:solidFill>
                          <a:latin typeface="Arial"/>
                        </a:rPr>
                        <a:t>iorta TechNXT</a:t>
                      </a:r>
                    </a:p>
                  </a:txBody>
                  <a:tcPr marL="73152" marR="73152" marT="36576" marB="36576">
                    <a:solidFill>
                      <a:srgbClr val="E5F5FF"/>
                    </a:solidFill>
                  </a:tcPr>
                </a:tc>
                <a:tc>
                  <a:txBody>
                    <a:bodyPr/>
                    <a:lstStyle/>
                    <a:p>
                      <a:r>
                        <a:rPr sz="1200" b="0">
                          <a:solidFill>
                            <a:srgbClr val="4B4B4B"/>
                          </a:solidFill>
                          <a:latin typeface="Arial"/>
                        </a:rPr>
                        <a:t>Project Manager, Migration Lead, Migration Operator</a:t>
                      </a:r>
                    </a:p>
                  </a:txBody>
                  <a:tcPr marL="73152" marR="73152" marT="36576" marB="36576">
                    <a:solidFill>
                      <a:srgbClr val="E5F5FF"/>
                    </a:solidFill>
                  </a:tcPr>
                </a:tc>
                <a:tc>
                  <a:txBody>
                    <a:bodyPr/>
                    <a:lstStyle/>
                    <a:p>
                      <a:r>
                        <a:rPr sz="1200" b="0">
                          <a:solidFill>
                            <a:srgbClr val="4B4B4B"/>
                          </a:solidFill>
                          <a:latin typeface="Arial"/>
                        </a:rPr>
                        <a:t>Loads, reconciliation runs, profiling, the console, the rehearsals</a:t>
                      </a:r>
                    </a:p>
                  </a:txBody>
                  <a:tcPr marL="73152" marR="73152" marT="36576" marB="36576">
                    <a:solidFill>
                      <a:srgbClr val="E5F5FF"/>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Trial migrations and the dress rehearsal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a:t>
            </a:r>
          </a:p>
        </p:txBody>
      </p:sp>
      <p:graphicFrame>
        <p:nvGraphicFramePr>
          <p:cNvPr id="9" name="Table 8"/>
          <p:cNvGraphicFramePr>
            <a:graphicFrameLocks noGrp="1"/>
          </p:cNvGraphicFramePr>
          <p:nvPr/>
        </p:nvGraphicFramePr>
        <p:xfrm>
          <a:off x="548640" y="1371600"/>
          <a:ext cx="11094414" cy="2194560"/>
        </p:xfrm>
        <a:graphic>
          <a:graphicData uri="http://schemas.openxmlformats.org/drawingml/2006/table">
            <a:tbl>
              <a:tblPr firstRow="1" bandRow="1">
                <a:tableStyleId>{5C22544A-7EE6-4342-B048-85BDC9FD1C3A}</a:tableStyleId>
              </a:tblPr>
              <a:tblGrid>
                <a:gridCol w="2289323"/>
                <a:gridCol w="2993731"/>
                <a:gridCol w="5811360"/>
              </a:tblGrid>
              <a:tr h="365760">
                <a:tc>
                  <a:txBody>
                    <a:bodyPr/>
                    <a:lstStyle/>
                    <a:p>
                      <a:r>
                        <a:rPr sz="1200" b="1">
                          <a:solidFill>
                            <a:srgbClr val="FFFFFF"/>
                          </a:solidFill>
                          <a:latin typeface="Arial"/>
                        </a:rPr>
                        <a:t>Run</a:t>
                      </a:r>
                    </a:p>
                  </a:txBody>
                  <a:tcPr marL="73152" marR="73152" marT="36576" marB="36576">
                    <a:solidFill>
                      <a:srgbClr val="004EA8"/>
                    </a:solidFill>
                  </a:tcPr>
                </a:tc>
                <a:tc>
                  <a:txBody>
                    <a:bodyPr/>
                    <a:lstStyle/>
                    <a:p>
                      <a:r>
                        <a:rPr sz="1200" b="1">
                          <a:solidFill>
                            <a:srgbClr val="FFFFFF"/>
                          </a:solidFill>
                          <a:latin typeface="Arial"/>
                        </a:rPr>
                        <a:t>When and where</a:t>
                      </a:r>
                    </a:p>
                  </a:txBody>
                  <a:tcPr marL="73152" marR="73152" marT="36576" marB="36576">
                    <a:solidFill>
                      <a:srgbClr val="004EA8"/>
                    </a:solidFill>
                  </a:tcPr>
                </a:tc>
                <a:tc>
                  <a:txBody>
                    <a:bodyPr/>
                    <a:lstStyle/>
                    <a:p>
                      <a:r>
                        <a:rPr sz="1200" b="1">
                          <a:solidFill>
                            <a:srgbClr val="FFFFFF"/>
                          </a:solidFill>
                          <a:latin typeface="Arial"/>
                        </a:rPr>
                        <a:t>What it proves</a:t>
                      </a:r>
                    </a:p>
                  </a:txBody>
                  <a:tcPr marL="73152" marR="73152" marT="36576" marB="36576">
                    <a:solidFill>
                      <a:srgbClr val="004EA8"/>
                    </a:solidFill>
                  </a:tcPr>
                </a:tc>
              </a:tr>
              <a:tr h="365760">
                <a:tc>
                  <a:txBody>
                    <a:bodyPr/>
                    <a:lstStyle/>
                    <a:p>
                      <a:r>
                        <a:rPr sz="1200" b="0">
                          <a:solidFill>
                            <a:srgbClr val="4B4B4B"/>
                          </a:solidFill>
                          <a:latin typeface="Arial"/>
                        </a:rPr>
                        <a:t>Trial migration 1</a:t>
                      </a:r>
                    </a:p>
                  </a:txBody>
                  <a:tcPr marL="73152" marR="73152" marT="36576" marB="36576">
                    <a:solidFill>
                      <a:srgbClr val="FFFFFF"/>
                    </a:solidFill>
                  </a:tcPr>
                </a:tc>
                <a:tc>
                  <a:txBody>
                    <a:bodyPr/>
                    <a:lstStyle/>
                    <a:p>
                      <a:r>
                        <a:rPr sz="1200" b="0">
                          <a:solidFill>
                            <a:srgbClr val="4B4B4B"/>
                          </a:solidFill>
                          <a:latin typeface="Arial"/>
                        </a:rPr>
                        <a:t>19-30 Apr 2027, SIT</a:t>
                      </a:r>
                    </a:p>
                  </a:txBody>
                  <a:tcPr marL="73152" marR="73152" marT="36576" marB="36576">
                    <a:solidFill>
                      <a:srgbClr val="FFFFFF"/>
                    </a:solidFill>
                  </a:tcPr>
                </a:tc>
                <a:tc>
                  <a:txBody>
                    <a:bodyPr/>
                    <a:lstStyle/>
                    <a:p>
                      <a:r>
                        <a:rPr sz="1200" b="0">
                          <a:solidFill>
                            <a:srgbClr val="4B4B4B"/>
                          </a:solidFill>
                          <a:latin typeface="Arial"/>
                        </a:rPr>
                        <a:t>Reference data and clients first, then policy headers and the RA-sent file; timings; profiling report to the owners</a:t>
                      </a:r>
                    </a:p>
                  </a:txBody>
                  <a:tcPr marL="73152" marR="73152" marT="36576" marB="36576">
                    <a:solidFill>
                      <a:srgbClr val="FFFFFF"/>
                    </a:solidFill>
                  </a:tcPr>
                </a:tc>
              </a:tr>
              <a:tr h="365760">
                <a:tc>
                  <a:txBody>
                    <a:bodyPr/>
                    <a:lstStyle/>
                    <a:p>
                      <a:r>
                        <a:rPr sz="1200" b="0">
                          <a:solidFill>
                            <a:srgbClr val="4B4B4B"/>
                          </a:solidFill>
                          <a:latin typeface="Arial"/>
                        </a:rPr>
                        <a:t>Trial migration 2</a:t>
                      </a:r>
                    </a:p>
                  </a:txBody>
                  <a:tcPr marL="73152" marR="73152" marT="36576" marB="36576">
                    <a:solidFill>
                      <a:srgbClr val="E5F5FF"/>
                    </a:solidFill>
                  </a:tcPr>
                </a:tc>
                <a:tc>
                  <a:txBody>
                    <a:bodyPr/>
                    <a:lstStyle/>
                    <a:p>
                      <a:r>
                        <a:rPr sz="1200" b="0">
                          <a:solidFill>
                            <a:srgbClr val="4B4B4B"/>
                          </a:solidFill>
                          <a:latin typeface="Arial"/>
                        </a:rPr>
                        <a:t>5-16 Jul 2027, SIT</a:t>
                      </a:r>
                    </a:p>
                  </a:txBody>
                  <a:tcPr marL="73152" marR="73152" marT="36576" marB="36576">
                    <a:solidFill>
                      <a:srgbClr val="E5F5FF"/>
                    </a:solidFill>
                  </a:tcPr>
                </a:tc>
                <a:tc>
                  <a:txBody>
                    <a:bodyPr/>
                    <a:lstStyle/>
                    <a:p>
                      <a:r>
                        <a:rPr sz="1200" b="0">
                          <a:solidFill>
                            <a:srgbClr val="4B4B4B"/>
                          </a:solidFill>
                          <a:latin typeface="Arial"/>
                        </a:rPr>
                        <a:t>All objects end to end; L1-L5 reconciled; Migration Clearing 0.00</a:t>
                      </a:r>
                    </a:p>
                  </a:txBody>
                  <a:tcPr marL="73152" marR="73152" marT="36576" marB="36576">
                    <a:solidFill>
                      <a:srgbClr val="E5F5FF"/>
                    </a:solidFill>
                  </a:tcPr>
                </a:tc>
              </a:tr>
              <a:tr h="365760">
                <a:tc>
                  <a:txBody>
                    <a:bodyPr/>
                    <a:lstStyle/>
                    <a:p>
                      <a:r>
                        <a:rPr sz="1200" b="0">
                          <a:solidFill>
                            <a:srgbClr val="4B4B4B"/>
                          </a:solidFill>
                          <a:latin typeface="Arial"/>
                        </a:rPr>
                        <a:t>Trial migration 3</a:t>
                      </a:r>
                    </a:p>
                  </a:txBody>
                  <a:tcPr marL="73152" marR="73152" marT="36576" marB="36576">
                    <a:solidFill>
                      <a:srgbClr val="FFFFFF"/>
                    </a:solidFill>
                  </a:tcPr>
                </a:tc>
                <a:tc>
                  <a:txBody>
                    <a:bodyPr/>
                    <a:lstStyle/>
                    <a:p>
                      <a:r>
                        <a:rPr sz="1200" b="0">
                          <a:solidFill>
                            <a:srgbClr val="4B4B4B"/>
                          </a:solidFill>
                          <a:latin typeface="Arial"/>
                        </a:rPr>
                        <a:t>2-13 Aug 2027, UAT</a:t>
                      </a:r>
                    </a:p>
                  </a:txBody>
                  <a:tcPr marL="73152" marR="73152" marT="36576" marB="36576">
                    <a:solidFill>
                      <a:srgbClr val="FFFFFF"/>
                    </a:solidFill>
                  </a:tcPr>
                </a:tc>
                <a:tc>
                  <a:txBody>
                    <a:bodyPr/>
                    <a:lstStyle/>
                    <a:p>
                      <a:r>
                        <a:rPr sz="1200" b="0">
                          <a:solidFill>
                            <a:srgbClr val="4B4B4B"/>
                          </a:solidFill>
                          <a:latin typeface="Arial"/>
                        </a:rPr>
                        <a:t>Business verification on screen; the Drop 1 UAT runs on migrated data</a:t>
                      </a:r>
                    </a:p>
                  </a:txBody>
                  <a:tcPr marL="73152" marR="73152" marT="36576" marB="36576">
                    <a:solidFill>
                      <a:srgbClr val="FFFFFF"/>
                    </a:solidFill>
                  </a:tcPr>
                </a:tc>
              </a:tr>
              <a:tr h="365760">
                <a:tc>
                  <a:txBody>
                    <a:bodyPr/>
                    <a:lstStyle/>
                    <a:p>
                      <a:r>
                        <a:rPr sz="1200" b="0">
                          <a:solidFill>
                            <a:srgbClr val="4B4B4B"/>
                          </a:solidFill>
                          <a:latin typeface="Arial"/>
                        </a:rPr>
                        <a:t>Trial migration 4</a:t>
                      </a:r>
                    </a:p>
                  </a:txBody>
                  <a:tcPr marL="73152" marR="73152" marT="36576" marB="36576">
                    <a:solidFill>
                      <a:srgbClr val="E5F5FF"/>
                    </a:solidFill>
                  </a:tcPr>
                </a:tc>
                <a:tc>
                  <a:txBody>
                    <a:bodyPr/>
                    <a:lstStyle/>
                    <a:p>
                      <a:r>
                        <a:rPr sz="1200" b="0">
                          <a:solidFill>
                            <a:srgbClr val="4B4B4B"/>
                          </a:solidFill>
                          <a:latin typeface="Arial"/>
                        </a:rPr>
                        <a:t>4-15 Oct 2027, UAT</a:t>
                      </a:r>
                    </a:p>
                  </a:txBody>
                  <a:tcPr marL="73152" marR="73152" marT="36576" marB="36576">
                    <a:solidFill>
                      <a:srgbClr val="E5F5FF"/>
                    </a:solidFill>
                  </a:tcPr>
                </a:tc>
                <a:tc>
                  <a:txBody>
                    <a:bodyPr/>
                    <a:lstStyle/>
                    <a:p>
                      <a:r>
                        <a:rPr sz="1200" b="0">
                          <a:solidFill>
                            <a:srgbClr val="4B4B4B"/>
                          </a:solidFill>
                          <a:latin typeface="Arial"/>
                        </a:rPr>
                        <a:t>Timed as a cut-over; go-live renewal extraction; a test opening-balance adjustment</a:t>
                      </a:r>
                    </a:p>
                  </a:txBody>
                  <a:tcPr marL="73152" marR="73152" marT="36576" marB="36576">
                    <a:solidFill>
                      <a:srgbClr val="E5F5FF"/>
                    </a:solidFill>
                  </a:tcPr>
                </a:tc>
              </a:tr>
              <a:tr h="365760">
                <a:tc>
                  <a:txBody>
                    <a:bodyPr/>
                    <a:lstStyle/>
                    <a:p>
                      <a:r>
                        <a:rPr sz="1200" b="0">
                          <a:solidFill>
                            <a:srgbClr val="4B4B4B"/>
                          </a:solidFill>
                          <a:latin typeface="Arial"/>
                        </a:rPr>
                        <a:t>Dress rehearsal</a:t>
                      </a:r>
                    </a:p>
                  </a:txBody>
                  <a:tcPr marL="73152" marR="73152" marT="36576" marB="36576">
                    <a:solidFill>
                      <a:srgbClr val="FFFFFF"/>
                    </a:solidFill>
                  </a:tcPr>
                </a:tc>
                <a:tc>
                  <a:txBody>
                    <a:bodyPr/>
                    <a:lstStyle/>
                    <a:p>
                      <a:r>
                        <a:rPr sz="1200" b="0">
                          <a:solidFill>
                            <a:srgbClr val="4B4B4B"/>
                          </a:solidFill>
                          <a:latin typeface="Arial"/>
                        </a:rPr>
                        <a:t>15-26 Nov 2027, production-sized</a:t>
                      </a:r>
                    </a:p>
                  </a:txBody>
                  <a:tcPr marL="73152" marR="73152" marT="36576" marB="36576">
                    <a:solidFill>
                      <a:srgbClr val="FFFFFF"/>
                    </a:solidFill>
                  </a:tcPr>
                </a:tc>
                <a:tc>
                  <a:txBody>
                    <a:bodyPr/>
                    <a:lstStyle/>
                    <a:p>
                      <a:r>
                        <a:rPr sz="1200" b="0">
                          <a:solidFill>
                            <a:srgbClr val="4B4B4B"/>
                          </a:solidFill>
                          <a:latin typeface="Arial"/>
                        </a:rPr>
                        <a:t>Full volume within the window with 20 percent margin; rollback rehearsed</a:t>
                      </a:r>
                    </a:p>
                  </a:txBody>
                  <a:tcPr marL="73152" marR="73152" marT="36576" marB="36576">
                    <a:solidFill>
                      <a:srgbClr val="FFFFFF"/>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The sign-off gates of every object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a:t>
            </a:r>
          </a:p>
        </p:txBody>
      </p:sp>
      <p:graphicFrame>
        <p:nvGraphicFramePr>
          <p:cNvPr id="9" name="Table 8"/>
          <p:cNvGraphicFramePr>
            <a:graphicFrameLocks noGrp="1"/>
          </p:cNvGraphicFramePr>
          <p:nvPr/>
        </p:nvGraphicFramePr>
        <p:xfrm>
          <a:off x="548640" y="1371600"/>
          <a:ext cx="11094413" cy="2926080"/>
        </p:xfrm>
        <a:graphic>
          <a:graphicData uri="http://schemas.openxmlformats.org/drawingml/2006/table">
            <a:tbl>
              <a:tblPr firstRow="1" bandRow="1">
                <a:tableStyleId>{5C22544A-7EE6-4342-B048-85BDC9FD1C3A}</a:tableStyleId>
              </a:tblPr>
              <a:tblGrid>
                <a:gridCol w="2113221"/>
                <a:gridCol w="5811360"/>
                <a:gridCol w="3169832"/>
              </a:tblGrid>
              <a:tr h="365760">
                <a:tc>
                  <a:txBody>
                    <a:bodyPr/>
                    <a:lstStyle/>
                    <a:p>
                      <a:r>
                        <a:rPr sz="1200" b="1">
                          <a:solidFill>
                            <a:srgbClr val="FFFFFF"/>
                          </a:solidFill>
                          <a:latin typeface="Arial"/>
                        </a:rPr>
                        <a:t>Gate</a:t>
                      </a:r>
                    </a:p>
                  </a:txBody>
                  <a:tcPr marL="73152" marR="73152" marT="36576" marB="36576">
                    <a:solidFill>
                      <a:srgbClr val="004EA8"/>
                    </a:solidFill>
                  </a:tcPr>
                </a:tc>
                <a:tc>
                  <a:txBody>
                    <a:bodyPr/>
                    <a:lstStyle/>
                    <a:p>
                      <a:r>
                        <a:rPr sz="1200" b="1">
                          <a:solidFill>
                            <a:srgbClr val="FFFFFF"/>
                          </a:solidFill>
                          <a:latin typeface="Arial"/>
                        </a:rPr>
                        <a:t>What is signed</a:t>
                      </a:r>
                    </a:p>
                  </a:txBody>
                  <a:tcPr marL="73152" marR="73152" marT="36576" marB="36576">
                    <a:solidFill>
                      <a:srgbClr val="004EA8"/>
                    </a:solidFill>
                  </a:tcPr>
                </a:tc>
                <a:tc>
                  <a:txBody>
                    <a:bodyPr/>
                    <a:lstStyle/>
                    <a:p>
                      <a:r>
                        <a:rPr sz="1200" b="1">
                          <a:solidFill>
                            <a:srgbClr val="FFFFFF"/>
                          </a:solidFill>
                          <a:latin typeface="Arial"/>
                        </a:rPr>
                        <a:t>By</a:t>
                      </a:r>
                    </a:p>
                  </a:txBody>
                  <a:tcPr marL="73152" marR="73152" marT="36576" marB="36576">
                    <a:solidFill>
                      <a:srgbClr val="004EA8"/>
                    </a:solidFill>
                  </a:tcPr>
                </a:tc>
              </a:tr>
              <a:tr h="365760">
                <a:tc>
                  <a:txBody>
                    <a:bodyPr/>
                    <a:lstStyle/>
                    <a:p>
                      <a:r>
                        <a:rPr sz="1200" b="0">
                          <a:solidFill>
                            <a:srgbClr val="4B4B4B"/>
                          </a:solidFill>
                          <a:latin typeface="Arial"/>
                        </a:rPr>
                        <a:t>G1 Decision</a:t>
                      </a:r>
                    </a:p>
                  </a:txBody>
                  <a:tcPr marL="73152" marR="73152" marT="36576" marB="36576">
                    <a:solidFill>
                      <a:srgbClr val="FFFFFF"/>
                    </a:solidFill>
                  </a:tcPr>
                </a:tc>
                <a:tc>
                  <a:txBody>
                    <a:bodyPr/>
                    <a:lstStyle/>
                    <a:p>
                      <a:r>
                        <a:rPr sz="1200" b="0">
                          <a:solidFill>
                            <a:srgbClr val="4B4B4B"/>
                          </a:solidFill>
                          <a:latin typeface="Arial"/>
                        </a:rPr>
                        <a:t>The class of the object with the four criteria</a:t>
                      </a:r>
                    </a:p>
                  </a:txBody>
                  <a:tcPr marL="73152" marR="73152" marT="36576" marB="36576">
                    <a:solidFill>
                      <a:srgbClr val="FFFFFF"/>
                    </a:solidFill>
                  </a:tcPr>
                </a:tc>
                <a:tc>
                  <a:txBody>
                    <a:bodyPr/>
                    <a:lstStyle/>
                    <a:p>
                      <a:r>
                        <a:rPr sz="1200" b="0">
                          <a:solidFill>
                            <a:srgbClr val="4B4B4B"/>
                          </a:solidFill>
                          <a:latin typeface="Arial"/>
                        </a:rPr>
                        <a:t>Business owner</a:t>
                      </a:r>
                    </a:p>
                  </a:txBody>
                  <a:tcPr marL="73152" marR="73152" marT="36576" marB="36576">
                    <a:solidFill>
                      <a:srgbClr val="FFFFFF"/>
                    </a:solidFill>
                  </a:tcPr>
                </a:tc>
              </a:tr>
              <a:tr h="365760">
                <a:tc>
                  <a:txBody>
                    <a:bodyPr/>
                    <a:lstStyle/>
                    <a:p>
                      <a:r>
                        <a:rPr sz="1200" b="0">
                          <a:solidFill>
                            <a:srgbClr val="4B4B4B"/>
                          </a:solidFill>
                          <a:latin typeface="Arial"/>
                        </a:rPr>
                        <a:t>G2 Mapping</a:t>
                      </a:r>
                    </a:p>
                  </a:txBody>
                  <a:tcPr marL="73152" marR="73152" marT="36576" marB="36576">
                    <a:solidFill>
                      <a:srgbClr val="E5F5FF"/>
                    </a:solidFill>
                  </a:tcPr>
                </a:tc>
                <a:tc>
                  <a:txBody>
                    <a:bodyPr/>
                    <a:lstStyle/>
                    <a:p>
                      <a:r>
                        <a:rPr sz="1200" b="0">
                          <a:solidFill>
                            <a:srgbClr val="4B4B4B"/>
                          </a:solidFill>
                          <a:latin typeface="Arial"/>
                        </a:rPr>
                        <a:t>Layouts frozen; the code maps used approved</a:t>
                      </a:r>
                    </a:p>
                  </a:txBody>
                  <a:tcPr marL="73152" marR="73152" marT="36576" marB="36576">
                    <a:solidFill>
                      <a:srgbClr val="E5F5FF"/>
                    </a:solidFill>
                  </a:tcPr>
                </a:tc>
                <a:tc>
                  <a:txBody>
                    <a:bodyPr/>
                    <a:lstStyle/>
                    <a:p>
                      <a:r>
                        <a:rPr sz="1200" b="0">
                          <a:solidFill>
                            <a:srgbClr val="4B4B4B"/>
                          </a:solidFill>
                          <a:latin typeface="Arial"/>
                        </a:rPr>
                        <a:t>Business owner</a:t>
                      </a:r>
                    </a:p>
                  </a:txBody>
                  <a:tcPr marL="73152" marR="73152" marT="36576" marB="36576">
                    <a:solidFill>
                      <a:srgbClr val="E5F5FF"/>
                    </a:solidFill>
                  </a:tcPr>
                </a:tc>
              </a:tr>
              <a:tr h="365760">
                <a:tc>
                  <a:txBody>
                    <a:bodyPr/>
                    <a:lstStyle/>
                    <a:p>
                      <a:r>
                        <a:rPr sz="1200" b="0">
                          <a:solidFill>
                            <a:srgbClr val="4B4B4B"/>
                          </a:solidFill>
                          <a:latin typeface="Arial"/>
                        </a:rPr>
                        <a:t>G3 Validation</a:t>
                      </a:r>
                    </a:p>
                  </a:txBody>
                  <a:tcPr marL="73152" marR="73152" marT="36576" marB="36576">
                    <a:solidFill>
                      <a:srgbClr val="FFFFFF"/>
                    </a:solidFill>
                  </a:tcPr>
                </a:tc>
                <a:tc>
                  <a:txBody>
                    <a:bodyPr/>
                    <a:lstStyle/>
                    <a:p>
                      <a:r>
                        <a:rPr sz="1200" b="0">
                          <a:solidFill>
                            <a:srgbClr val="4B4B4B"/>
                          </a:solidFill>
                          <a:latin typeface="Arial"/>
                        </a:rPr>
                        <a:t>Error rate within the limit; waivers approved; no pair to review</a:t>
                      </a:r>
                    </a:p>
                  </a:txBody>
                  <a:tcPr marL="73152" marR="73152" marT="36576" marB="36576">
                    <a:solidFill>
                      <a:srgbClr val="FFFFFF"/>
                    </a:solidFill>
                  </a:tcPr>
                </a:tc>
                <a:tc>
                  <a:txBody>
                    <a:bodyPr/>
                    <a:lstStyle/>
                    <a:p>
                      <a:r>
                        <a:rPr sz="1200" b="0">
                          <a:solidFill>
                            <a:srgbClr val="4B4B4B"/>
                          </a:solidFill>
                          <a:latin typeface="Arial"/>
                        </a:rPr>
                        <a:t>Data Steward (waivers by the owner)</a:t>
                      </a:r>
                    </a:p>
                  </a:txBody>
                  <a:tcPr marL="73152" marR="73152" marT="36576" marB="36576">
                    <a:solidFill>
                      <a:srgbClr val="FFFFFF"/>
                    </a:solidFill>
                  </a:tcPr>
                </a:tc>
              </a:tr>
              <a:tr h="365760">
                <a:tc>
                  <a:txBody>
                    <a:bodyPr/>
                    <a:lstStyle/>
                    <a:p>
                      <a:r>
                        <a:rPr sz="1200" b="0">
                          <a:solidFill>
                            <a:srgbClr val="4B4B4B"/>
                          </a:solidFill>
                          <a:latin typeface="Arial"/>
                        </a:rPr>
                        <a:t>G4 Load approval</a:t>
                      </a:r>
                    </a:p>
                  </a:txBody>
                  <a:tcPr marL="73152" marR="73152" marT="36576" marB="36576">
                    <a:solidFill>
                      <a:srgbClr val="E5F5FF"/>
                    </a:solidFill>
                  </a:tcPr>
                </a:tc>
                <a:tc>
                  <a:txBody>
                    <a:bodyPr/>
                    <a:lstStyle/>
                    <a:p>
                      <a:r>
                        <a:rPr sz="1200" b="0">
                          <a:solidFill>
                            <a:srgbClr val="4B4B4B"/>
                          </a:solidFill>
                          <a:latin typeface="Arial"/>
                        </a:rPr>
                        <a:t>The batch may be loaded</a:t>
                      </a:r>
                    </a:p>
                  </a:txBody>
                  <a:tcPr marL="73152" marR="73152" marT="36576" marB="36576">
                    <a:solidFill>
                      <a:srgbClr val="E5F5FF"/>
                    </a:solidFill>
                  </a:tcPr>
                </a:tc>
                <a:tc>
                  <a:txBody>
                    <a:bodyPr/>
                    <a:lstStyle/>
                    <a:p>
                      <a:r>
                        <a:rPr sz="1200" b="0">
                          <a:solidFill>
                            <a:srgbClr val="4B4B4B"/>
                          </a:solidFill>
                          <a:latin typeface="Arial"/>
                        </a:rPr>
                        <a:t>Data Migration Lead; Head of Comptrollership for an adjustment</a:t>
                      </a:r>
                    </a:p>
                  </a:txBody>
                  <a:tcPr marL="73152" marR="73152" marT="36576" marB="36576">
                    <a:solidFill>
                      <a:srgbClr val="E5F5FF"/>
                    </a:solidFill>
                  </a:tcPr>
                </a:tc>
              </a:tr>
              <a:tr h="365760">
                <a:tc>
                  <a:txBody>
                    <a:bodyPr/>
                    <a:lstStyle/>
                    <a:p>
                      <a:r>
                        <a:rPr sz="1200" b="0">
                          <a:solidFill>
                            <a:srgbClr val="4B4B4B"/>
                          </a:solidFill>
                          <a:latin typeface="Arial"/>
                        </a:rPr>
                        <a:t>G5 Reconciliation</a:t>
                      </a:r>
                    </a:p>
                  </a:txBody>
                  <a:tcPr marL="73152" marR="73152" marT="36576" marB="36576">
                    <a:solidFill>
                      <a:srgbClr val="FFFFFF"/>
                    </a:solidFill>
                  </a:tcPr>
                </a:tc>
                <a:tc>
                  <a:txBody>
                    <a:bodyPr/>
                    <a:lstStyle/>
                    <a:p>
                      <a:r>
                        <a:rPr sz="1200" b="0">
                          <a:solidFill>
                            <a:srgbClr val="4B4B4B"/>
                          </a:solidFill>
                          <a:latin typeface="Arial"/>
                        </a:rPr>
                        <a:t>L1-L5 matched or explained</a:t>
                      </a:r>
                    </a:p>
                  </a:txBody>
                  <a:tcPr marL="73152" marR="73152" marT="36576" marB="36576">
                    <a:solidFill>
                      <a:srgbClr val="FFFFFF"/>
                    </a:solidFill>
                  </a:tcPr>
                </a:tc>
                <a:tc>
                  <a:txBody>
                    <a:bodyPr/>
                    <a:lstStyle/>
                    <a:p>
                      <a:r>
                        <a:rPr sz="1200" b="0">
                          <a:solidFill>
                            <a:srgbClr val="4B4B4B"/>
                          </a:solidFill>
                          <a:latin typeface="Arial"/>
                        </a:rPr>
                        <a:t>Reconciliation approver</a:t>
                      </a:r>
                    </a:p>
                  </a:txBody>
                  <a:tcPr marL="73152" marR="73152" marT="36576" marB="36576">
                    <a:solidFill>
                      <a:srgbClr val="FFFFFF"/>
                    </a:solidFill>
                  </a:tcPr>
                </a:tc>
              </a:tr>
              <a:tr h="365760">
                <a:tc>
                  <a:txBody>
                    <a:bodyPr/>
                    <a:lstStyle/>
                    <a:p>
                      <a:r>
                        <a:rPr sz="1200" b="0">
                          <a:solidFill>
                            <a:srgbClr val="4B4B4B"/>
                          </a:solidFill>
                          <a:latin typeface="Arial"/>
                        </a:rPr>
                        <a:t>G6 Acceptance</a:t>
                      </a:r>
                    </a:p>
                  </a:txBody>
                  <a:tcPr marL="73152" marR="73152" marT="36576" marB="36576">
                    <a:solidFill>
                      <a:srgbClr val="E5F5FF"/>
                    </a:solidFill>
                  </a:tcPr>
                </a:tc>
                <a:tc>
                  <a:txBody>
                    <a:bodyPr/>
                    <a:lstStyle/>
                    <a:p>
                      <a:r>
                        <a:rPr sz="1200" b="0">
                          <a:solidFill>
                            <a:srgbClr val="4B4B4B"/>
                          </a:solidFill>
                          <a:latin typeface="Arial"/>
                        </a:rPr>
                        <a:t>Samples verified on the BIBS screens</a:t>
                      </a:r>
                    </a:p>
                  </a:txBody>
                  <a:tcPr marL="73152" marR="73152" marT="36576" marB="36576">
                    <a:solidFill>
                      <a:srgbClr val="E5F5FF"/>
                    </a:solidFill>
                  </a:tcPr>
                </a:tc>
                <a:tc>
                  <a:txBody>
                    <a:bodyPr/>
                    <a:lstStyle/>
                    <a:p>
                      <a:r>
                        <a:rPr sz="1200" b="0">
                          <a:solidFill>
                            <a:srgbClr val="4B4B4B"/>
                          </a:solidFill>
                          <a:latin typeface="Arial"/>
                        </a:rPr>
                        <a:t>Business owner and Data Migration Lead</a:t>
                      </a:r>
                    </a:p>
                  </a:txBody>
                  <a:tcPr marL="73152" marR="73152" marT="36576" marB="36576">
                    <a:solidFill>
                      <a:srgbClr val="E5F5FF"/>
                    </a:solidFill>
                  </a:tcPr>
                </a:tc>
              </a:tr>
              <a:tr h="365760">
                <a:tc>
                  <a:txBody>
                    <a:bodyPr/>
                    <a:lstStyle/>
                    <a:p>
                      <a:r>
                        <a:rPr sz="1200" b="0">
                          <a:solidFill>
                            <a:srgbClr val="4B4B4B"/>
                          </a:solidFill>
                          <a:latin typeface="Arial"/>
                        </a:rPr>
                        <a:t>G7 Go-live</a:t>
                      </a:r>
                    </a:p>
                  </a:txBody>
                  <a:tcPr marL="73152" marR="73152" marT="36576" marB="36576">
                    <a:solidFill>
                      <a:srgbClr val="FFFFFF"/>
                    </a:solidFill>
                  </a:tcPr>
                </a:tc>
                <a:tc>
                  <a:txBody>
                    <a:bodyPr/>
                    <a:lstStyle/>
                    <a:p>
                      <a:r>
                        <a:rPr sz="1200" b="0">
                          <a:solidFill>
                            <a:srgbClr val="4B4B4B"/>
                          </a:solidFill>
                          <a:latin typeface="Arial"/>
                        </a:rPr>
                        <a:t>Day-1 objects accepted; the twelve criteria met</a:t>
                      </a:r>
                    </a:p>
                  </a:txBody>
                  <a:tcPr marL="73152" marR="73152" marT="36576" marB="36576">
                    <a:solidFill>
                      <a:srgbClr val="FFFFFF"/>
                    </a:solidFill>
                  </a:tcPr>
                </a:tc>
                <a:tc>
                  <a:txBody>
                    <a:bodyPr/>
                    <a:lstStyle/>
                    <a:p>
                      <a:r>
                        <a:rPr sz="1200" b="0">
                          <a:solidFill>
                            <a:srgbClr val="4B4B4B"/>
                          </a:solidFill>
                          <a:latin typeface="Arial"/>
                        </a:rPr>
                        <a:t>Go / no-go board</a:t>
                      </a:r>
                    </a:p>
                  </a:txBody>
                  <a:tcPr marL="73152" marR="73152" marT="36576" marB="36576">
                    <a:solidFill>
                      <a:srgbClr val="FFFFFF"/>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Cut-over and go / no-go</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a:t>
            </a:r>
          </a:p>
        </p:txBody>
      </p:sp>
      <p:sp>
        <p:nvSpPr>
          <p:cNvPr id="9" name="Rectangle 8"/>
          <p:cNvSpPr/>
          <p:nvPr/>
        </p:nvSpPr>
        <p:spPr>
          <a:xfrm>
            <a:off x="548640" y="1325880"/>
            <a:ext cx="3515258"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325880"/>
            <a:ext cx="3515258" cy="457200"/>
          </a:xfrm>
          <a:prstGeom prst="rect">
            <a:avLst/>
          </a:prstGeom>
          <a:noFill/>
        </p:spPr>
        <p:txBody>
          <a:bodyPr wrap="square" anchor="ctr" lIns="45720" rIns="45720">
            <a:spAutoFit/>
          </a:bodyPr>
          <a:lstStyle/>
          <a:p>
            <a:r>
              <a:rPr sz="1500" b="1" i="0">
                <a:solidFill>
                  <a:srgbClr val="FFFFFF"/>
                </a:solidFill>
                <a:latin typeface="Arial"/>
              </a:rPr>
              <a:t>Before the freeze</a:t>
            </a:r>
          </a:p>
        </p:txBody>
      </p:sp>
      <p:sp>
        <p:nvSpPr>
          <p:cNvPr id="11" name="Rectangle 10"/>
          <p:cNvSpPr/>
          <p:nvPr/>
        </p:nvSpPr>
        <p:spPr>
          <a:xfrm>
            <a:off x="548640" y="1783080"/>
            <a:ext cx="3515258" cy="43434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920240"/>
            <a:ext cx="3332378" cy="4160520"/>
          </a:xfrm>
          <a:prstGeom prst="rect">
            <a:avLst/>
          </a:prstGeom>
          <a:noFill/>
        </p:spPr>
        <p:txBody>
          <a:bodyPr wrap="square">
            <a:spAutoFit/>
          </a:bodyPr>
          <a:lstStyle/>
          <a:p>
            <a:pPr>
              <a:spcAft>
                <a:spcPts val="600"/>
              </a:spcAft>
            </a:pPr>
            <a:r>
              <a:rPr sz="1200">
                <a:solidFill>
                  <a:srgbClr val="004EA8"/>
                </a:solidFill>
                <a:latin typeface="Arial"/>
              </a:rPr>
              <a:t>•  </a:t>
            </a:r>
            <a:r>
              <a:rPr sz="1200">
                <a:solidFill>
                  <a:srgbClr val="4B4B4B"/>
                </a:solidFill>
                <a:latin typeface="Arial"/>
              </a:rPr>
              <a:t>Pre-load of reference data and clients from 20 Dec 2027</a:t>
            </a:r>
          </a:p>
          <a:p>
            <a:pPr>
              <a:spcAft>
                <a:spcPts val="600"/>
              </a:spcAft>
            </a:pPr>
            <a:r>
              <a:rPr sz="1200">
                <a:solidFill>
                  <a:srgbClr val="004EA8"/>
                </a:solidFill>
                <a:latin typeface="Arial"/>
              </a:rPr>
              <a:t>•  </a:t>
            </a:r>
            <a:r>
              <a:rPr sz="1200">
                <a:solidFill>
                  <a:srgbClr val="4B4B4B"/>
                </a:solidFill>
                <a:latin typeface="Arial"/>
              </a:rPr>
              <a:t>Daily client deltas</a:t>
            </a:r>
          </a:p>
          <a:p>
            <a:pPr>
              <a:spcAft>
                <a:spcPts val="600"/>
              </a:spcAft>
            </a:pPr>
            <a:r>
              <a:rPr sz="1200">
                <a:solidFill>
                  <a:srgbClr val="004EA8"/>
                </a:solidFill>
                <a:latin typeface="Arial"/>
              </a:rPr>
              <a:t>•  </a:t>
            </a:r>
            <a:r>
              <a:rPr sz="1200">
                <a:solidFill>
                  <a:srgbClr val="4B4B4B"/>
                </a:solidFill>
                <a:latin typeface="Arial"/>
              </a:rPr>
              <a:t>Code map freeze 27 Dec</a:t>
            </a:r>
          </a:p>
          <a:p>
            <a:pPr>
              <a:spcAft>
                <a:spcPts val="600"/>
              </a:spcAft>
            </a:pPr>
            <a:r>
              <a:rPr sz="1200">
                <a:solidFill>
                  <a:srgbClr val="004EA8"/>
                </a:solidFill>
                <a:latin typeface="Arial"/>
              </a:rPr>
              <a:t>•  </a:t>
            </a:r>
            <a:r>
              <a:rPr sz="1200">
                <a:solidFill>
                  <a:srgbClr val="4B4B4B"/>
                </a:solidFill>
                <a:latin typeface="Arial"/>
              </a:rPr>
              <a:t>December soft close by 20 Dec</a:t>
            </a:r>
          </a:p>
        </p:txBody>
      </p:sp>
      <p:sp>
        <p:nvSpPr>
          <p:cNvPr id="13" name="Rectangle 12"/>
          <p:cNvSpPr/>
          <p:nvPr/>
        </p:nvSpPr>
        <p:spPr>
          <a:xfrm>
            <a:off x="4338218" y="1325880"/>
            <a:ext cx="3515258"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29658" y="1325880"/>
            <a:ext cx="3515258" cy="457200"/>
          </a:xfrm>
          <a:prstGeom prst="rect">
            <a:avLst/>
          </a:prstGeom>
          <a:noFill/>
        </p:spPr>
        <p:txBody>
          <a:bodyPr wrap="square" anchor="ctr" lIns="45720" rIns="45720">
            <a:spAutoFit/>
          </a:bodyPr>
          <a:lstStyle/>
          <a:p>
            <a:r>
              <a:rPr sz="1500" b="1" i="0">
                <a:solidFill>
                  <a:srgbClr val="FFFFFF"/>
                </a:solidFill>
                <a:latin typeface="Arial"/>
              </a:rPr>
              <a:t>Cut-over weekend</a:t>
            </a:r>
          </a:p>
        </p:txBody>
      </p:sp>
      <p:sp>
        <p:nvSpPr>
          <p:cNvPr id="15" name="Rectangle 14"/>
          <p:cNvSpPr/>
          <p:nvPr/>
        </p:nvSpPr>
        <p:spPr>
          <a:xfrm>
            <a:off x="4338218" y="1783080"/>
            <a:ext cx="3515258" cy="43434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9658" y="1920240"/>
            <a:ext cx="3332378" cy="4160520"/>
          </a:xfrm>
          <a:prstGeom prst="rect">
            <a:avLst/>
          </a:prstGeom>
          <a:noFill/>
        </p:spPr>
        <p:txBody>
          <a:bodyPr wrap="square">
            <a:spAutoFit/>
          </a:bodyPr>
          <a:lstStyle/>
          <a:p>
            <a:pPr>
              <a:spcAft>
                <a:spcPts val="600"/>
              </a:spcAft>
            </a:pPr>
            <a:r>
              <a:rPr sz="1200">
                <a:solidFill>
                  <a:srgbClr val="004EA8"/>
                </a:solidFill>
                <a:latin typeface="Arial"/>
              </a:rPr>
              <a:t>•  </a:t>
            </a:r>
            <a:r>
              <a:rPr sz="1200">
                <a:solidFill>
                  <a:srgbClr val="4B4B4B"/>
                </a:solidFill>
                <a:latin typeface="Arial"/>
              </a:rPr>
              <a:t>Legacy freeze Fri 31 Dec 22:00</a:t>
            </a:r>
          </a:p>
          <a:p>
            <a:pPr>
              <a:spcAft>
                <a:spcPts val="600"/>
              </a:spcAft>
            </a:pPr>
            <a:r>
              <a:rPr sz="1200">
                <a:solidFill>
                  <a:srgbClr val="004EA8"/>
                </a:solidFill>
                <a:latin typeface="Arial"/>
              </a:rPr>
              <a:t>•  </a:t>
            </a:r>
            <a:r>
              <a:rPr sz="1200">
                <a:solidFill>
                  <a:srgbClr val="4B4B4B"/>
                </a:solidFill>
                <a:latin typeface="Arial"/>
              </a:rPr>
              <a:t>Final extracts and loads Sat 1 Jan</a:t>
            </a:r>
          </a:p>
          <a:p>
            <a:pPr>
              <a:spcAft>
                <a:spcPts val="600"/>
              </a:spcAft>
            </a:pPr>
            <a:r>
              <a:rPr sz="1200">
                <a:solidFill>
                  <a:srgbClr val="004EA8"/>
                </a:solidFill>
                <a:latin typeface="Arial"/>
              </a:rPr>
              <a:t>•  </a:t>
            </a:r>
            <a:r>
              <a:rPr sz="1200">
                <a:solidFill>
                  <a:srgbClr val="4B4B4B"/>
                </a:solidFill>
                <a:latin typeface="Arial"/>
              </a:rPr>
              <a:t>Reconciliation, samples, smoke test Sun 2 Jan</a:t>
            </a:r>
          </a:p>
          <a:p>
            <a:pPr>
              <a:spcAft>
                <a:spcPts val="600"/>
              </a:spcAft>
            </a:pPr>
            <a:r>
              <a:rPr sz="1200">
                <a:solidFill>
                  <a:srgbClr val="004EA8"/>
                </a:solidFill>
                <a:latin typeface="Arial"/>
              </a:rPr>
              <a:t>•  </a:t>
            </a:r>
            <a:r>
              <a:rPr sz="1200">
                <a:solidFill>
                  <a:srgbClr val="4B4B4B"/>
                </a:solidFill>
                <a:latin typeface="Arial"/>
              </a:rPr>
              <a:t>Go / no-go Sun 2 Jan 18:00</a:t>
            </a:r>
          </a:p>
        </p:txBody>
      </p:sp>
      <p:sp>
        <p:nvSpPr>
          <p:cNvPr id="17" name="Rectangle 16"/>
          <p:cNvSpPr/>
          <p:nvPr/>
        </p:nvSpPr>
        <p:spPr>
          <a:xfrm>
            <a:off x="8127796" y="1325880"/>
            <a:ext cx="3515258"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19236" y="1325880"/>
            <a:ext cx="3515258" cy="457200"/>
          </a:xfrm>
          <a:prstGeom prst="rect">
            <a:avLst/>
          </a:prstGeom>
          <a:noFill/>
        </p:spPr>
        <p:txBody>
          <a:bodyPr wrap="square" anchor="ctr" lIns="45720" rIns="45720">
            <a:spAutoFit/>
          </a:bodyPr>
          <a:lstStyle/>
          <a:p>
            <a:r>
              <a:rPr sz="1500" b="1" i="0">
                <a:solidFill>
                  <a:srgbClr val="FFFFFF"/>
                </a:solidFill>
                <a:latin typeface="Arial"/>
              </a:rPr>
              <a:t>Go-live</a:t>
            </a:r>
          </a:p>
        </p:txBody>
      </p:sp>
      <p:sp>
        <p:nvSpPr>
          <p:cNvPr id="19" name="Rectangle 18"/>
          <p:cNvSpPr/>
          <p:nvPr/>
        </p:nvSpPr>
        <p:spPr>
          <a:xfrm>
            <a:off x="8127796" y="1783080"/>
            <a:ext cx="3515258" cy="43434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19236" y="1920240"/>
            <a:ext cx="3332378" cy="4160520"/>
          </a:xfrm>
          <a:prstGeom prst="rect">
            <a:avLst/>
          </a:prstGeom>
          <a:noFill/>
        </p:spPr>
        <p:txBody>
          <a:bodyPr wrap="square">
            <a:spAutoFit/>
          </a:bodyPr>
          <a:lstStyle/>
          <a:p>
            <a:pPr>
              <a:spcAft>
                <a:spcPts val="600"/>
              </a:spcAft>
            </a:pPr>
            <a:r>
              <a:rPr sz="1200">
                <a:solidFill>
                  <a:srgbClr val="004EA8"/>
                </a:solidFill>
                <a:latin typeface="Arial"/>
              </a:rPr>
              <a:t>•  </a:t>
            </a:r>
            <a:r>
              <a:rPr sz="1200">
                <a:solidFill>
                  <a:srgbClr val="4B4B4B"/>
                </a:solidFill>
                <a:latin typeface="Arial"/>
              </a:rPr>
              <a:t>Renewal extraction Mon 3 Jan 04:00</a:t>
            </a:r>
          </a:p>
          <a:p>
            <a:pPr>
              <a:spcAft>
                <a:spcPts val="600"/>
              </a:spcAft>
            </a:pPr>
            <a:r>
              <a:rPr sz="1200">
                <a:solidFill>
                  <a:srgbClr val="004EA8"/>
                </a:solidFill>
                <a:latin typeface="Arial"/>
              </a:rPr>
              <a:t>•  </a:t>
            </a:r>
            <a:r>
              <a:rPr sz="1200">
                <a:solidFill>
                  <a:srgbClr val="4B4B4B"/>
                </a:solidFill>
                <a:latin typeface="Arial"/>
              </a:rPr>
              <a:t>BIBS open 08:00</a:t>
            </a:r>
          </a:p>
          <a:p>
            <a:pPr>
              <a:spcAft>
                <a:spcPts val="600"/>
              </a:spcAft>
            </a:pPr>
            <a:r>
              <a:rPr sz="1200">
                <a:solidFill>
                  <a:srgbClr val="004EA8"/>
                </a:solidFill>
                <a:latin typeface="Arial"/>
              </a:rPr>
              <a:t>•  </a:t>
            </a:r>
            <a:r>
              <a:rPr sz="1200">
                <a:solidFill>
                  <a:srgbClr val="4B4B4B"/>
                </a:solidFill>
                <a:latin typeface="Arial"/>
              </a:rPr>
              <a:t>Point of no return 18:00</a:t>
            </a:r>
          </a:p>
          <a:p>
            <a:pPr>
              <a:spcAft>
                <a:spcPts val="600"/>
              </a:spcAft>
            </a:pPr>
            <a:r>
              <a:rPr sz="1200">
                <a:solidFill>
                  <a:srgbClr val="004EA8"/>
                </a:solidFill>
                <a:latin typeface="Arial"/>
              </a:rPr>
              <a:t>•  </a:t>
            </a:r>
            <a:r>
              <a:rPr sz="1200">
                <a:solidFill>
                  <a:srgbClr val="4B4B4B"/>
                </a:solidFill>
                <a:latin typeface="Arial"/>
              </a:rPr>
              <a:t>Hypercare to the January close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How migrated and new data are told apart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500">
                <a:solidFill>
                  <a:srgbClr val="004EA8"/>
                </a:solidFill>
                <a:latin typeface="Arial"/>
              </a:rPr>
              <a:t>•  </a:t>
            </a:r>
            <a:r>
              <a:rPr sz="1500">
                <a:solidFill>
                  <a:srgbClr val="4B4B4B"/>
                </a:solidFill>
                <a:latin typeface="Arial"/>
              </a:rPr>
              <a:t>LEGACY badge next to the number on the lists and records, with the source system, legacy reference and batch in its tooltip</a:t>
            </a:r>
          </a:p>
          <a:p>
            <a:pPr>
              <a:spcAft>
                <a:spcPts val="600"/>
              </a:spcAft>
            </a:pPr>
            <a:r>
              <a:rPr sz="1500">
                <a:solidFill>
                  <a:srgbClr val="004EA8"/>
                </a:solidFill>
                <a:latin typeface="Arial"/>
              </a:rPr>
              <a:t>•  </a:t>
            </a:r>
            <a:r>
              <a:rPr sz="1500">
                <a:solidFill>
                  <a:srgbClr val="4B4B4B"/>
                </a:solidFill>
                <a:latin typeface="Arial"/>
              </a:rPr>
              <a:t>Origin filter on the lists that hold migrated records: All origins, BIBS, Migrated</a:t>
            </a:r>
          </a:p>
          <a:p>
            <a:pPr>
              <a:spcAft>
                <a:spcPts val="600"/>
              </a:spcAft>
            </a:pPr>
            <a:r>
              <a:rPr sz="1500">
                <a:solidFill>
                  <a:srgbClr val="004EA8"/>
                </a:solidFill>
                <a:latin typeface="Arial"/>
              </a:rPr>
              <a:t>•  </a:t>
            </a:r>
            <a:r>
              <a:rPr sz="1500">
                <a:solidFill>
                  <a:srgbClr val="4B4B4B"/>
                </a:solidFill>
                <a:latin typeface="Arial"/>
              </a:rPr>
              <a:t>Legacy numbers stay searchable: clients, policies and invoices are found by their legacy numbers</a:t>
            </a:r>
          </a:p>
          <a:p>
            <a:pPr>
              <a:spcAft>
                <a:spcPts val="600"/>
              </a:spcAft>
            </a:pPr>
            <a:r>
              <a:rPr sz="1500">
                <a:solidFill>
                  <a:srgbClr val="004EA8"/>
                </a:solidFill>
                <a:latin typeface="Arial"/>
              </a:rPr>
              <a:t>•  </a:t>
            </a:r>
            <a:r>
              <a:rPr sz="1500">
                <a:solidFill>
                  <a:srgbClr val="4B4B4B"/>
                </a:solidFill>
                <a:latin typeface="Arial"/>
              </a:rPr>
              <a:t>Invoice 360 of a legacy invoice shows the values at cut-over, never changed after the load</a:t>
            </a:r>
          </a:p>
          <a:p>
            <a:pPr>
              <a:spcAft>
                <a:spcPts val="600"/>
              </a:spcAft>
            </a:pPr>
            <a:r>
              <a:rPr sz="1500">
                <a:solidFill>
                  <a:srgbClr val="004EA8"/>
                </a:solidFill>
                <a:latin typeface="Arial"/>
              </a:rPr>
              <a:t>•  </a:t>
            </a:r>
            <a:r>
              <a:rPr sz="1500">
                <a:solidFill>
                  <a:srgbClr val="4B4B4B"/>
                </a:solidFill>
                <a:latin typeface="Arial"/>
              </a:rPr>
              <a:t>Legacy invoices and unapplied payments post to the legacy accounts until they are settled</a:t>
            </a:r>
          </a:p>
          <a:p>
            <a:pPr>
              <a:spcAft>
                <a:spcPts val="600"/>
              </a:spcAft>
            </a:pPr>
            <a:r>
              <a:rPr sz="1500">
                <a:solidFill>
                  <a:srgbClr val="004EA8"/>
                </a:solidFill>
                <a:latin typeface="Arial"/>
              </a:rPr>
              <a:t>•  </a:t>
            </a:r>
            <a:r>
              <a:rPr sz="1500">
                <a:solidFill>
                  <a:srgbClr val="4B4B4B"/>
                </a:solidFill>
                <a:latin typeface="Arial"/>
              </a:rPr>
              <a:t>Migrated records raise no notification to clients or insurers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Key business rules and validations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400">
                <a:solidFill>
                  <a:srgbClr val="004EA8"/>
                </a:solidFill>
                <a:latin typeface="Arial"/>
              </a:rPr>
              <a:t>•  </a:t>
            </a:r>
            <a:r>
              <a:rPr sz="1400">
                <a:solidFill>
                  <a:srgbClr val="4B4B4B"/>
                </a:solidFill>
                <a:latin typeface="Arial"/>
              </a:rPr>
              <a:t>Every object has one decision (migrate, carry forward, conditional, archive, excluded) approved by its business owner (G1).</a:t>
            </a:r>
          </a:p>
          <a:p>
            <a:pPr>
              <a:spcAft>
                <a:spcPts val="600"/>
              </a:spcAft>
            </a:pPr>
            <a:r>
              <a:rPr sz="1400">
                <a:solidFill>
                  <a:srgbClr val="004EA8"/>
                </a:solidFill>
                <a:latin typeface="Arial"/>
              </a:rPr>
              <a:t>•  </a:t>
            </a:r>
            <a:r>
              <a:rPr sz="1400">
                <a:solidFill>
                  <a:srgbClr val="4B4B4B"/>
                </a:solidFill>
                <a:latin typeface="Arial"/>
              </a:rPr>
              <a:t>Only approved code map versions are used; a batch with an unmapped code in a mandatory column is not loaded.</a:t>
            </a:r>
          </a:p>
          <a:p>
            <a:pPr>
              <a:spcAft>
                <a:spcPts val="600"/>
              </a:spcAft>
            </a:pPr>
            <a:r>
              <a:rPr sz="1400">
                <a:solidFill>
                  <a:srgbClr val="004EA8"/>
                </a:solidFill>
                <a:latin typeface="Arial"/>
              </a:rPr>
              <a:t>•  </a:t>
            </a:r>
            <a:r>
              <a:rPr sz="1400">
                <a:solidFill>
                  <a:srgbClr val="4B4B4B"/>
                </a:solidFill>
                <a:latin typeface="Arial"/>
              </a:rPr>
              <a:t>Master data loads with at most 0.5 percent of rows failing or waived; open items and the trial balance with none.</a:t>
            </a:r>
          </a:p>
          <a:p>
            <a:pPr>
              <a:spcAft>
                <a:spcPts val="600"/>
              </a:spcAft>
            </a:pPr>
            <a:r>
              <a:rPr sz="1400">
                <a:solidFill>
                  <a:srgbClr val="004EA8"/>
                </a:solidFill>
                <a:latin typeface="Arial"/>
              </a:rPr>
              <a:t>•  </a:t>
            </a:r>
            <a:r>
              <a:rPr sz="1400">
                <a:solidFill>
                  <a:srgbClr val="4B4B4B"/>
                </a:solidFill>
                <a:latin typeface="Arial"/>
              </a:rPr>
              <a:t>Records are created through the BIBS services, never written directly; migrated records carry the origin Migrated and raise no notification.</a:t>
            </a:r>
          </a:p>
          <a:p>
            <a:pPr>
              <a:spcAft>
                <a:spcPts val="600"/>
              </a:spcAft>
            </a:pPr>
            <a:r>
              <a:rPr sz="1400">
                <a:solidFill>
                  <a:srgbClr val="004EA8"/>
                </a:solidFill>
                <a:latin typeface="Arial"/>
              </a:rPr>
              <a:t>•  </a:t>
            </a:r>
            <a:r>
              <a:rPr sz="1400">
                <a:solidFill>
                  <a:srgbClr val="4B4B4B"/>
                </a:solidFill>
                <a:latin typeface="Arial"/>
              </a:rPr>
              <a:t>Every object is reconciled at up to five levels; a break is explained and approved before the reconciliation is signed (G5).</a:t>
            </a:r>
          </a:p>
          <a:p>
            <a:pPr>
              <a:spcAft>
                <a:spcPts val="600"/>
              </a:spcAft>
            </a:pPr>
            <a:r>
              <a:rPr sz="1400">
                <a:solidFill>
                  <a:srgbClr val="004EA8"/>
                </a:solidFill>
                <a:latin typeface="Arial"/>
              </a:rPr>
              <a:t>•  </a:t>
            </a:r>
            <a:r>
              <a:rPr sz="1400">
                <a:solidFill>
                  <a:srgbClr val="4B4B4B"/>
                </a:solidFill>
                <a:latin typeface="Arial"/>
              </a:rPr>
              <a:t>The maker never approves: decisions, code maps, loads, rollbacks, adjustments, resubmissions and legacy batches.</a:t>
            </a:r>
          </a:p>
          <a:p>
            <a:pPr>
              <a:spcAft>
                <a:spcPts val="600"/>
              </a:spcAft>
            </a:pPr>
            <a:r>
              <a:rPr sz="1400">
                <a:solidFill>
                  <a:srgbClr val="004EA8"/>
                </a:solidFill>
                <a:latin typeface="Arial"/>
              </a:rPr>
              <a:t>•  </a:t>
            </a:r>
            <a:r>
              <a:rPr sz="1400">
                <a:solidFill>
                  <a:srgbClr val="4B4B4B"/>
                </a:solidFill>
                <a:latin typeface="Arial"/>
              </a:rPr>
              <a:t>Migration Clearing is 0.00 per branch and currency at go-live; the go-live decision is taken on twelve measured criteria.</a:t>
            </a:r>
          </a:p>
          <a:p>
            <a:pPr>
              <a:spcAft>
                <a:spcPts val="600"/>
              </a:spcAft>
            </a:pPr>
            <a:r>
              <a:rPr sz="1400">
                <a:solidFill>
                  <a:srgbClr val="004EA8"/>
                </a:solidFill>
                <a:latin typeface="Arial"/>
              </a:rPr>
              <a:t>•  </a:t>
            </a:r>
            <a:r>
              <a:rPr sz="1400">
                <a:solidFill>
                  <a:srgbClr val="4B4B4B"/>
                </a:solidFill>
                <a:latin typeface="Arial"/>
              </a:rPr>
              <a:t>A legacy invoice keeps its number, is processed with the BIBS screens and posts to the legacy accounts until it is settled.</a:t>
            </a:r>
          </a:p>
          <a:p>
            <a:pPr lvl="1">
              <a:spcAft>
                <a:spcPts val="600"/>
              </a:spcAft>
            </a:pPr>
            <a:r>
              <a:rPr sz="1200">
                <a:solidFill>
                  <a:srgbClr val="656565"/>
                </a:solidFill>
                <a:latin typeface="Arial"/>
              </a:rPr>
              <a:t>–  </a:t>
            </a:r>
            <a:r>
              <a:rPr sz="1200">
                <a:solidFill>
                  <a:srgbClr val="4B4B4B"/>
                </a:solidFill>
                <a:latin typeface="Arial"/>
              </a:rPr>
              <a:t>Full list: Handbook Part B, chapter 19 per screen, 67 rules on the Business rules sheet and 216 messages in Handbook Part B, chapter 21 and on the Messages sheet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Cross-module dependencies and impacts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a:t>
            </a:r>
          </a:p>
        </p:txBody>
      </p:sp>
      <p:pic>
        <p:nvPicPr>
          <p:cNvPr id="9" name="Picture 8" descr="brd13_contract_map.png"/>
          <p:cNvPicPr>
            <a:picLocks noChangeAspect="1"/>
          </p:cNvPicPr>
          <p:nvPr/>
        </p:nvPicPr>
        <p:blipFill>
          <a:blip r:embed="rId3"/>
          <a:stretch>
            <a:fillRect/>
          </a:stretch>
        </p:blipFill>
        <p:spPr>
          <a:xfrm>
            <a:off x="2058551" y="1325880"/>
            <a:ext cx="8074592" cy="4480560"/>
          </a:xfrm>
          <a:prstGeom prst="rect">
            <a:avLst/>
          </a:prstGeom>
          <a:ln w="9525">
            <a:solidFill>
              <a:srgbClr val="C2C2C1"/>
            </a:solidFill>
          </a:ln>
        </p:spPr>
      </p:pic>
      <p:sp>
        <p:nvSpPr>
          <p:cNvPr id="10" name="TextBox 9"/>
          <p:cNvSpPr txBox="1"/>
          <p:nvPr/>
        </p:nvSpPr>
        <p:spPr>
          <a:xfrm>
            <a:off x="548640" y="5852160"/>
            <a:ext cx="11094415" cy="320040"/>
          </a:xfrm>
          <a:prstGeom prst="rect">
            <a:avLst/>
          </a:prstGeom>
          <a:noFill/>
        </p:spPr>
        <p:txBody>
          <a:bodyPr wrap="square" anchor="t" lIns="45720" rIns="45720">
            <a:spAutoFit/>
          </a:bodyPr>
          <a:lstStyle/>
          <a:p>
            <a:pPr algn="ctr"/>
            <a:r>
              <a:rPr sz="1100" b="0" i="1">
                <a:solidFill>
                  <a:srgbClr val="656565"/>
                </a:solidFill>
                <a:latin typeface="Arial"/>
              </a:rPr>
              <a:t>What Data Migration takes from and hands to the other BRDs and systems (Handbook Part B, chapter 28)</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Caveats and possibilities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a:t>
            </a:r>
          </a:p>
        </p:txBody>
      </p:sp>
      <p:graphicFrame>
        <p:nvGraphicFramePr>
          <p:cNvPr id="9" name="Table 8"/>
          <p:cNvGraphicFramePr>
            <a:graphicFrameLocks noGrp="1"/>
          </p:cNvGraphicFramePr>
          <p:nvPr/>
        </p:nvGraphicFramePr>
        <p:xfrm>
          <a:off x="548640" y="1371600"/>
          <a:ext cx="11094414" cy="2194560"/>
        </p:xfrm>
        <a:graphic>
          <a:graphicData uri="http://schemas.openxmlformats.org/drawingml/2006/table">
            <a:tbl>
              <a:tblPr firstRow="1" bandRow="1">
                <a:tableStyleId>{5C22544A-7EE6-4342-B048-85BDC9FD1C3A}</a:tableStyleId>
              </a:tblPr>
              <a:tblGrid>
                <a:gridCol w="1937120"/>
                <a:gridCol w="4578647"/>
                <a:gridCol w="4578647"/>
              </a:tblGrid>
              <a:tr h="365760">
                <a:tc>
                  <a:txBody>
                    <a:bodyPr/>
                    <a:lstStyle/>
                    <a:p>
                      <a:r>
                        <a:rPr sz="1000" b="1">
                          <a:solidFill>
                            <a:srgbClr val="FFFFFF"/>
                          </a:solidFill>
                          <a:latin typeface="Arial"/>
                        </a:rPr>
                        <a:t>Topic</a:t>
                      </a:r>
                    </a:p>
                  </a:txBody>
                  <a:tcPr marL="73152" marR="73152" marT="36576" marB="36576">
                    <a:solidFill>
                      <a:srgbClr val="004EA8"/>
                    </a:solidFill>
                  </a:tcPr>
                </a:tc>
                <a:tc>
                  <a:txBody>
                    <a:bodyPr/>
                    <a:lstStyle/>
                    <a:p>
                      <a:r>
                        <a:rPr sz="1000" b="1">
                          <a:solidFill>
                            <a:srgbClr val="FFFFFF"/>
                          </a:solidFill>
                          <a:latin typeface="Arial"/>
                        </a:rPr>
                        <a:t>What can happen</a:t>
                      </a:r>
                    </a:p>
                  </a:txBody>
                  <a:tcPr marL="73152" marR="73152" marT="36576" marB="36576">
                    <a:solidFill>
                      <a:srgbClr val="004EA8"/>
                    </a:solidFill>
                  </a:tcPr>
                </a:tc>
                <a:tc>
                  <a:txBody>
                    <a:bodyPr/>
                    <a:lstStyle/>
                    <a:p>
                      <a:r>
                        <a:rPr sz="1000" b="1">
                          <a:solidFill>
                            <a:srgbClr val="FFFFFF"/>
                          </a:solidFill>
                          <a:latin typeface="Arial"/>
                        </a:rPr>
                        <a:t>How it is handled</a:t>
                      </a:r>
                    </a:p>
                  </a:txBody>
                  <a:tcPr marL="73152" marR="73152" marT="36576" marB="36576">
                    <a:solidFill>
                      <a:srgbClr val="004EA8"/>
                    </a:solidFill>
                  </a:tcPr>
                </a:tc>
              </a:tr>
              <a:tr h="365760">
                <a:tc>
                  <a:txBody>
                    <a:bodyPr/>
                    <a:lstStyle/>
                    <a:p>
                      <a:r>
                        <a:rPr sz="1000" b="0">
                          <a:solidFill>
                            <a:srgbClr val="4B4B4B"/>
                          </a:solidFill>
                          <a:latin typeface="Arial"/>
                        </a:rPr>
                        <a:t>Additional requirements</a:t>
                      </a:r>
                    </a:p>
                  </a:txBody>
                  <a:tcPr marL="73152" marR="73152" marT="36576" marB="36576">
                    <a:solidFill>
                      <a:srgbClr val="FFFFFF"/>
                    </a:solidFill>
                  </a:tcPr>
                </a:tc>
                <a:tc>
                  <a:txBody>
                    <a:bodyPr/>
                    <a:lstStyle/>
                    <a:p>
                      <a:r>
                        <a:rPr sz="1000" b="0">
                          <a:solidFill>
                            <a:srgbClr val="4B4B4B"/>
                          </a:solidFill>
                          <a:latin typeface="Arial"/>
                        </a:rPr>
                        <a:t>New needs can surface during the review, the trial migrations or UAT.</a:t>
                      </a:r>
                    </a:p>
                  </a:txBody>
                  <a:tcPr marL="73152" marR="73152" marT="36576" marB="36576">
                    <a:solidFill>
                      <a:srgbClr val="FFFFFF"/>
                    </a:solidFill>
                  </a:tcPr>
                </a:tc>
                <a:tc>
                  <a:txBody>
                    <a:bodyPr/>
                    <a:lstStyle/>
                    <a:p>
                      <a:r>
                        <a:rPr sz="1000" b="0">
                          <a:solidFill>
                            <a:srgbClr val="4B4B4B"/>
                          </a:solidFill>
                          <a:latin typeface="Arial"/>
                        </a:rPr>
                        <a:t>In-scope clarification when the signed text already covers it; otherwise a change request with mandays.</a:t>
                      </a:r>
                    </a:p>
                  </a:txBody>
                  <a:tcPr marL="73152" marR="73152" marT="36576" marB="36576">
                    <a:solidFill>
                      <a:srgbClr val="FFFFFF"/>
                    </a:solidFill>
                  </a:tcPr>
                </a:tc>
              </a:tr>
              <a:tr h="365760">
                <a:tc>
                  <a:txBody>
                    <a:bodyPr/>
                    <a:lstStyle/>
                    <a:p>
                      <a:r>
                        <a:rPr sz="1000" b="0">
                          <a:solidFill>
                            <a:srgbClr val="4B4B4B"/>
                          </a:solidFill>
                          <a:latin typeface="Arial"/>
                        </a:rPr>
                        <a:t>Decisions still open</a:t>
                      </a:r>
                    </a:p>
                  </a:txBody>
                  <a:tcPr marL="73152" marR="73152" marT="36576" marB="36576">
                    <a:solidFill>
                      <a:srgbClr val="E5F5FF"/>
                    </a:solidFill>
                  </a:tcPr>
                </a:tc>
                <a:tc>
                  <a:txBody>
                    <a:bodyPr/>
                    <a:lstStyle/>
                    <a:p>
                      <a:r>
                        <a:rPr sz="1000" b="0">
                          <a:solidFill>
                            <a:srgbClr val="4B4B4B"/>
                          </a:solidFill>
                          <a:latin typeface="Arial"/>
                        </a:rPr>
                        <a:t>The year-end option, the codes of the legacy accounts, the conditional objects and the approvers of the legacy batches wait for BDOI.</a:t>
                      </a:r>
                    </a:p>
                  </a:txBody>
                  <a:tcPr marL="73152" marR="73152" marT="36576" marB="36576">
                    <a:solidFill>
                      <a:srgbClr val="E5F5FF"/>
                    </a:solidFill>
                  </a:tcPr>
                </a:tc>
                <a:tc>
                  <a:txBody>
                    <a:bodyPr/>
                    <a:lstStyle/>
                    <a:p>
                      <a:r>
                        <a:rPr sz="1000" b="0">
                          <a:solidFill>
                            <a:srgbClr val="4B4B4B"/>
                          </a:solidFill>
                          <a:latin typeface="Arial"/>
                        </a:rPr>
                        <a:t>Each is a proposed rule with its decision date; the proposal stands until BDOI decides, and most answers are configuration.</a:t>
                      </a:r>
                    </a:p>
                  </a:txBody>
                  <a:tcPr marL="73152" marR="73152" marT="36576" marB="36576">
                    <a:solidFill>
                      <a:srgbClr val="E5F5FF"/>
                    </a:solidFill>
                  </a:tcPr>
                </a:tc>
              </a:tr>
              <a:tr h="365760">
                <a:tc>
                  <a:txBody>
                    <a:bodyPr/>
                    <a:lstStyle/>
                    <a:p>
                      <a:r>
                        <a:rPr sz="1000" b="0">
                          <a:solidFill>
                            <a:srgbClr val="4B4B4B"/>
                          </a:solidFill>
                          <a:latin typeface="Arial"/>
                        </a:rPr>
                        <a:t>Legacy data quality</a:t>
                      </a:r>
                    </a:p>
                  </a:txBody>
                  <a:tcPr marL="73152" marR="73152" marT="36576" marB="36576">
                    <a:solidFill>
                      <a:srgbClr val="FFFFFF"/>
                    </a:solidFill>
                  </a:tcPr>
                </a:tc>
                <a:tc>
                  <a:txBody>
                    <a:bodyPr/>
                    <a:lstStyle/>
                    <a:p>
                      <a:r>
                        <a:rPr sz="1000" b="0">
                          <a:solidFill>
                            <a:srgbClr val="4B4B4B"/>
                          </a:solidFill>
                          <a:latin typeface="Arial"/>
                        </a:rPr>
                        <a:t>Profiling of the first full extracts may show fewer components, shares or references than expected.</a:t>
                      </a:r>
                    </a:p>
                  </a:txBody>
                  <a:tcPr marL="73152" marR="73152" marT="36576" marB="36576">
                    <a:solidFill>
                      <a:srgbClr val="FFFFFF"/>
                    </a:solidFill>
                  </a:tcPr>
                </a:tc>
                <a:tc>
                  <a:txBody>
                    <a:bodyPr/>
                    <a:lstStyle/>
                    <a:p>
                      <a:r>
                        <a:rPr sz="1000" b="0">
                          <a:solidFill>
                            <a:srgbClr val="4B4B4B"/>
                          </a:solidFill>
                          <a:latin typeface="Arial"/>
                        </a:rPr>
                        <a:t>Cleansing at source by the stewards; code maps; waivers within the thresholds; open-balance mode for invoices without their original amounts.</a:t>
                      </a:r>
                    </a:p>
                  </a:txBody>
                  <a:tcPr marL="73152" marR="73152" marT="36576" marB="36576">
                    <a:solidFill>
                      <a:srgbClr val="FFFFFF"/>
                    </a:solidFill>
                  </a:tcPr>
                </a:tc>
              </a:tr>
              <a:tr h="365760">
                <a:tc>
                  <a:txBody>
                    <a:bodyPr/>
                    <a:lstStyle/>
                    <a:p>
                      <a:r>
                        <a:rPr sz="1000" b="0">
                          <a:solidFill>
                            <a:srgbClr val="4B4B4B"/>
                          </a:solidFill>
                          <a:latin typeface="Arial"/>
                        </a:rPr>
                        <a:t>Other BRDs change the migrated objects</a:t>
                      </a:r>
                    </a:p>
                  </a:txBody>
                  <a:tcPr marL="73152" marR="73152" marT="36576" marB="36576">
                    <a:solidFill>
                      <a:srgbClr val="E5F5FF"/>
                    </a:solidFill>
                  </a:tcPr>
                </a:tc>
                <a:tc>
                  <a:txBody>
                    <a:bodyPr/>
                    <a:lstStyle/>
                    <a:p>
                      <a:r>
                        <a:rPr sz="1000" b="0">
                          <a:solidFill>
                            <a:srgbClr val="4B4B4B"/>
                          </a:solidFill>
                          <a:latin typeface="Arial"/>
                        </a:rPr>
                        <a:t>Operations, Collections, Accounting, Renewal and Product Maintenance own the records the migration creates.</a:t>
                      </a:r>
                    </a:p>
                  </a:txBody>
                  <a:tcPr marL="73152" marR="73152" marT="36576" marB="36576">
                    <a:solidFill>
                      <a:srgbClr val="E5F5FF"/>
                    </a:solidFill>
                  </a:tcPr>
                </a:tc>
                <a:tc>
                  <a:txBody>
                    <a:bodyPr/>
                    <a:lstStyle/>
                    <a:p>
                      <a:r>
                        <a:rPr sz="1000" b="0">
                          <a:solidFill>
                            <a:srgbClr val="4B4B4B"/>
                          </a:solidFill>
                          <a:latin typeface="Arial"/>
                        </a:rPr>
                        <a:t>The change is raised against the other BRD and assessed against the cross-BRD contract of this set; a delta sign-off of the affected layouts.</a:t>
                      </a:r>
                    </a:p>
                  </a:txBody>
                  <a:tcPr marL="73152" marR="73152" marT="36576" marB="36576">
                    <a:solidFill>
                      <a:srgbClr val="E5F5FF"/>
                    </a:solidFill>
                  </a:tcPr>
                </a:tc>
              </a:tr>
              <a:tr h="365760">
                <a:tc>
                  <a:txBody>
                    <a:bodyPr/>
                    <a:lstStyle/>
                    <a:p>
                      <a:r>
                        <a:rPr sz="1000" b="0">
                          <a:solidFill>
                            <a:srgbClr val="4B4B4B"/>
                          </a:solidFill>
                          <a:latin typeface="Arial"/>
                        </a:rPr>
                        <a:t>Items that depend on BDOI IT</a:t>
                      </a:r>
                    </a:p>
                  </a:txBody>
                  <a:tcPr marL="73152" marR="73152" marT="36576" marB="36576">
                    <a:solidFill>
                      <a:srgbClr val="FFFFFF"/>
                    </a:solidFill>
                  </a:tcPr>
                </a:tc>
                <a:tc>
                  <a:txBody>
                    <a:bodyPr/>
                    <a:lstStyle/>
                    <a:p>
                      <a:r>
                        <a:rPr sz="1000" b="0">
                          <a:solidFill>
                            <a:srgbClr val="4B4B4B"/>
                          </a:solidFill>
                          <a:latin typeface="Arial"/>
                        </a:rPr>
                        <a:t>The secure file drop, the legacy document folder and the read-only links wait for BDOI IT.</a:t>
                      </a:r>
                    </a:p>
                  </a:txBody>
                  <a:tcPr marL="73152" marR="73152" marT="36576" marB="36576">
                    <a:solidFill>
                      <a:srgbClr val="FFFFFF"/>
                    </a:solidFill>
                  </a:tcPr>
                </a:tc>
                <a:tc>
                  <a:txBody>
                    <a:bodyPr/>
                    <a:lstStyle/>
                    <a:p>
                      <a:r>
                        <a:rPr sz="1000" b="0">
                          <a:solidFill>
                            <a:srgbClr val="4B4B4B"/>
                          </a:solidFill>
                          <a:latin typeface="Arial"/>
                        </a:rPr>
                        <a:t>Until named, files are uploaded on the Extracts screen and documents are loaded with their index; nothing else changes.</a:t>
                      </a:r>
                    </a:p>
                  </a:txBody>
                  <a:tcPr marL="73152" marR="73152" marT="36576" marB="36576">
                    <a:solidFill>
                      <a:srgbClr val="FFFFFF"/>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Caveats: worked examples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a:t>
            </a:r>
          </a:p>
        </p:txBody>
      </p:sp>
      <p:graphicFrame>
        <p:nvGraphicFramePr>
          <p:cNvPr id="9" name="Table 8"/>
          <p:cNvGraphicFramePr>
            <a:graphicFrameLocks noGrp="1"/>
          </p:cNvGraphicFramePr>
          <p:nvPr/>
        </p:nvGraphicFramePr>
        <p:xfrm>
          <a:off x="548640" y="1371600"/>
          <a:ext cx="11094414" cy="2194560"/>
        </p:xfrm>
        <a:graphic>
          <a:graphicData uri="http://schemas.openxmlformats.org/drawingml/2006/table">
            <a:tbl>
              <a:tblPr firstRow="1" bandRow="1">
                <a:tableStyleId>{5C22544A-7EE6-4342-B048-85BDC9FD1C3A}</a:tableStyleId>
              </a:tblPr>
              <a:tblGrid>
                <a:gridCol w="2113221"/>
                <a:gridCol w="8981193"/>
              </a:tblGrid>
              <a:tr h="365760">
                <a:tc>
                  <a:txBody>
                    <a:bodyPr/>
                    <a:lstStyle/>
                    <a:p>
                      <a:r>
                        <a:rPr sz="1100" b="1">
                          <a:solidFill>
                            <a:srgbClr val="FFFFFF"/>
                          </a:solidFill>
                          <a:latin typeface="Arial"/>
                        </a:rPr>
                        <a:t>Topic</a:t>
                      </a:r>
                    </a:p>
                  </a:txBody>
                  <a:tcPr marL="73152" marR="73152" marT="36576" marB="36576">
                    <a:solidFill>
                      <a:srgbClr val="004EA8"/>
                    </a:solidFill>
                  </a:tcPr>
                </a:tc>
                <a:tc>
                  <a:txBody>
                    <a:bodyPr/>
                    <a:lstStyle/>
                    <a:p>
                      <a:r>
                        <a:rPr sz="1100" b="1">
                          <a:solidFill>
                            <a:srgbClr val="FFFFFF"/>
                          </a:solidFill>
                          <a:latin typeface="Arial"/>
                        </a:rPr>
                        <a:t>Example and how it is handled</a:t>
                      </a:r>
                    </a:p>
                  </a:txBody>
                  <a:tcPr marL="73152" marR="73152" marT="36576" marB="36576">
                    <a:solidFill>
                      <a:srgbClr val="004EA8"/>
                    </a:solidFill>
                  </a:tcPr>
                </a:tc>
              </a:tr>
              <a:tr h="365760">
                <a:tc>
                  <a:txBody>
                    <a:bodyPr/>
                    <a:lstStyle/>
                    <a:p>
                      <a:r>
                        <a:rPr sz="1100" b="0">
                          <a:solidFill>
                            <a:srgbClr val="4B4B4B"/>
                          </a:solidFill>
                          <a:latin typeface="Arial"/>
                        </a:rPr>
                        <a:t>Additional requirements</a:t>
                      </a:r>
                    </a:p>
                  </a:txBody>
                  <a:tcPr marL="73152" marR="73152" marT="36576" marB="36576">
                    <a:solidFill>
                      <a:srgbClr val="FFFFFF"/>
                    </a:solidFill>
                  </a:tcPr>
                </a:tc>
                <a:tc>
                  <a:txBody>
                    <a:bodyPr/>
                    <a:lstStyle/>
                    <a:p>
                      <a:r>
                        <a:rPr sz="1100" b="0">
                          <a:solidFill>
                            <a:srgbClr val="4B4B4B"/>
                          </a:solidFill>
                          <a:latin typeface="Arial"/>
                        </a:rPr>
                        <a:t>A data owner asks for an extra column in the client template: a new layout version, so a change request; asking which rule rejects a row is a clarification.</a:t>
                      </a:r>
                    </a:p>
                  </a:txBody>
                  <a:tcPr marL="73152" marR="73152" marT="36576" marB="36576">
                    <a:solidFill>
                      <a:srgbClr val="FFFFFF"/>
                    </a:solidFill>
                  </a:tcPr>
                </a:tc>
              </a:tr>
              <a:tr h="365760">
                <a:tc>
                  <a:txBody>
                    <a:bodyPr/>
                    <a:lstStyle/>
                    <a:p>
                      <a:r>
                        <a:rPr sz="1100" b="0">
                          <a:solidFill>
                            <a:srgbClr val="4B4B4B"/>
                          </a:solidFill>
                          <a:latin typeface="Arial"/>
                        </a:rPr>
                        <a:t>Decisions still open</a:t>
                      </a:r>
                    </a:p>
                  </a:txBody>
                  <a:tcPr marL="73152" marR="73152" marT="36576" marB="36576">
                    <a:solidFill>
                      <a:srgbClr val="E5F5FF"/>
                    </a:solidFill>
                  </a:tcPr>
                </a:tc>
                <a:tc>
                  <a:txBody>
                    <a:bodyPr/>
                    <a:lstStyle/>
                    <a:p>
                      <a:r>
                        <a:rPr sz="1100" b="0">
                          <a:solidFill>
                            <a:srgbClr val="4B4B4B"/>
                          </a:solidFill>
                          <a:latin typeface="Arial"/>
                        </a:rPr>
                        <a:t>If Comptrollership chooses option B, go-live moves to April 2028 and the opening loads the year-to-date P&amp;L: a change request with its mandays.</a:t>
                      </a:r>
                    </a:p>
                  </a:txBody>
                  <a:tcPr marL="73152" marR="73152" marT="36576" marB="36576">
                    <a:solidFill>
                      <a:srgbClr val="E5F5FF"/>
                    </a:solidFill>
                  </a:tcPr>
                </a:tc>
              </a:tr>
              <a:tr h="365760">
                <a:tc>
                  <a:txBody>
                    <a:bodyPr/>
                    <a:lstStyle/>
                    <a:p>
                      <a:r>
                        <a:rPr sz="1100" b="0">
                          <a:solidFill>
                            <a:srgbClr val="4B4B4B"/>
                          </a:solidFill>
                          <a:latin typeface="Arial"/>
                        </a:rPr>
                        <a:t>Legacy data quality</a:t>
                      </a:r>
                    </a:p>
                  </a:txBody>
                  <a:tcPr marL="73152" marR="73152" marT="36576" marB="36576">
                    <a:solidFill>
                      <a:srgbClr val="FFFFFF"/>
                    </a:solidFill>
                  </a:tcPr>
                </a:tc>
                <a:tc>
                  <a:txBody>
                    <a:bodyPr/>
                    <a:lstStyle/>
                    <a:p>
                      <a:r>
                        <a:rPr sz="1100" b="0">
                          <a:solidFill>
                            <a:srgbClr val="4B4B4B"/>
                          </a:solidFill>
                          <a:latin typeface="Arial"/>
                        </a:rPr>
                        <a:t>Legacy cannot give paid and remitted per component: invoices load with their open balance and the Legacy Invoice card says so.</a:t>
                      </a:r>
                    </a:p>
                  </a:txBody>
                  <a:tcPr marL="73152" marR="73152" marT="36576" marB="36576">
                    <a:solidFill>
                      <a:srgbClr val="FFFFFF"/>
                    </a:solidFill>
                  </a:tcPr>
                </a:tc>
              </a:tr>
              <a:tr h="365760">
                <a:tc>
                  <a:txBody>
                    <a:bodyPr/>
                    <a:lstStyle/>
                    <a:p>
                      <a:r>
                        <a:rPr sz="1100" b="0">
                          <a:solidFill>
                            <a:srgbClr val="4B4B4B"/>
                          </a:solidFill>
                          <a:latin typeface="Arial"/>
                        </a:rPr>
                        <a:t>Other BRDs change the migrated objects</a:t>
                      </a:r>
                    </a:p>
                  </a:txBody>
                  <a:tcPr marL="73152" marR="73152" marT="36576" marB="36576">
                    <a:solidFill>
                      <a:srgbClr val="E5F5FF"/>
                    </a:solidFill>
                  </a:tcPr>
                </a:tc>
                <a:tc>
                  <a:txBody>
                    <a:bodyPr/>
                    <a:lstStyle/>
                    <a:p>
                      <a:r>
                        <a:rPr sz="1100" b="0">
                          <a:solidFill>
                            <a:srgbClr val="4B4B4B"/>
                          </a:solidFill>
                          <a:latin typeface="Arial"/>
                        </a:rPr>
                        <a:t>Renewal adds a mandatory field to the policy header: the P01 layout gets a new version, signed as a delta.</a:t>
                      </a:r>
                    </a:p>
                  </a:txBody>
                  <a:tcPr marL="73152" marR="73152" marT="36576" marB="36576">
                    <a:solidFill>
                      <a:srgbClr val="E5F5FF"/>
                    </a:solidFill>
                  </a:tcPr>
                </a:tc>
              </a:tr>
              <a:tr h="365760">
                <a:tc>
                  <a:txBody>
                    <a:bodyPr/>
                    <a:lstStyle/>
                    <a:p>
                      <a:r>
                        <a:rPr sz="1100" b="0">
                          <a:solidFill>
                            <a:srgbClr val="4B4B4B"/>
                          </a:solidFill>
                          <a:latin typeface="Arial"/>
                        </a:rPr>
                        <a:t>Items that depend on BDOI IT</a:t>
                      </a:r>
                    </a:p>
                  </a:txBody>
                  <a:tcPr marL="73152" marR="73152" marT="36576" marB="36576">
                    <a:solidFill>
                      <a:srgbClr val="FFFFFF"/>
                    </a:solidFill>
                  </a:tcPr>
                </a:tc>
                <a:tc>
                  <a:txBody>
                    <a:bodyPr/>
                    <a:lstStyle/>
                    <a:p>
                      <a:r>
                        <a:rPr sz="1100" b="0">
                          <a:solidFill>
                            <a:srgbClr val="4B4B4B"/>
                          </a:solidFill>
                          <a:latin typeface="Arial"/>
                        </a:rPr>
                        <a:t>When BDOI IT names the secure file drop, extracts arrive there instead of the upload; the checks and templates stay the same.</a:t>
                      </a:r>
                    </a:p>
                  </a:txBody>
                  <a:tcPr marL="73152" marR="73152" marT="36576" marB="36576">
                    <a:solidFill>
                      <a:srgbClr val="FFFFFF"/>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Entry and exit criteria, definition of done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a:t>
            </a:r>
          </a:p>
        </p:txBody>
      </p:sp>
      <p:sp>
        <p:nvSpPr>
          <p:cNvPr id="9" name="Rectangle 8"/>
          <p:cNvSpPr/>
          <p:nvPr/>
        </p:nvSpPr>
        <p:spPr>
          <a:xfrm>
            <a:off x="548640" y="1325880"/>
            <a:ext cx="3515258"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325880"/>
            <a:ext cx="3515258" cy="457200"/>
          </a:xfrm>
          <a:prstGeom prst="rect">
            <a:avLst/>
          </a:prstGeom>
          <a:noFill/>
        </p:spPr>
        <p:txBody>
          <a:bodyPr wrap="square" anchor="ctr" lIns="45720" rIns="45720">
            <a:spAutoFit/>
          </a:bodyPr>
          <a:lstStyle/>
          <a:p>
            <a:r>
              <a:rPr sz="1500" b="1" i="0">
                <a:solidFill>
                  <a:srgbClr val="FFFFFF"/>
                </a:solidFill>
                <a:latin typeface="Arial"/>
              </a:rPr>
              <a:t>Entry</a:t>
            </a:r>
          </a:p>
        </p:txBody>
      </p:sp>
      <p:sp>
        <p:nvSpPr>
          <p:cNvPr id="11" name="Rectangle 10"/>
          <p:cNvSpPr/>
          <p:nvPr/>
        </p:nvSpPr>
        <p:spPr>
          <a:xfrm>
            <a:off x="548640" y="1783080"/>
            <a:ext cx="3515258" cy="43434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920240"/>
            <a:ext cx="3332378" cy="4160520"/>
          </a:xfrm>
          <a:prstGeom prst="rect">
            <a:avLst/>
          </a:prstGeom>
          <a:noFill/>
        </p:spPr>
        <p:txBody>
          <a:bodyPr wrap="square">
            <a:spAutoFit/>
          </a:bodyPr>
          <a:lstStyle/>
          <a:p>
            <a:pPr>
              <a:spcAft>
                <a:spcPts val="600"/>
              </a:spcAft>
            </a:pPr>
            <a:r>
              <a:rPr sz="1200">
                <a:solidFill>
                  <a:srgbClr val="004EA8"/>
                </a:solidFill>
                <a:latin typeface="Arial"/>
              </a:rPr>
              <a:t>•  </a:t>
            </a:r>
            <a:r>
              <a:rPr sz="1200">
                <a:solidFill>
                  <a:srgbClr val="4B4B4B"/>
                </a:solidFill>
                <a:latin typeface="Arial"/>
              </a:rPr>
              <a:t>The set is issued with the screenshots of the Migration Console taken on the SIT environment with seed data.</a:t>
            </a:r>
          </a:p>
          <a:p>
            <a:pPr>
              <a:spcAft>
                <a:spcPts val="600"/>
              </a:spcAft>
            </a:pPr>
            <a:r>
              <a:rPr sz="1200">
                <a:solidFill>
                  <a:srgbClr val="004EA8"/>
                </a:solidFill>
                <a:latin typeface="Arial"/>
              </a:rPr>
              <a:t>•  </a:t>
            </a:r>
            <a:r>
              <a:rPr sz="1200">
                <a:solidFill>
                  <a:srgbClr val="4B4B4B"/>
                </a:solidFill>
                <a:latin typeface="Arial"/>
              </a:rPr>
              <a:t>Reviewers have their SIT users and the walkthrough sessions are held.</a:t>
            </a:r>
          </a:p>
          <a:p>
            <a:pPr>
              <a:spcAft>
                <a:spcPts val="600"/>
              </a:spcAft>
            </a:pPr>
            <a:r>
              <a:rPr sz="1200">
                <a:solidFill>
                  <a:srgbClr val="004EA8"/>
                </a:solidFill>
                <a:latin typeface="Arial"/>
              </a:rPr>
              <a:t>•  </a:t>
            </a:r>
            <a:r>
              <a:rPr sz="1200">
                <a:solidFill>
                  <a:srgbClr val="4B4B4B"/>
                </a:solidFill>
                <a:latin typeface="Arial"/>
              </a:rPr>
              <a:t>The test plan is traced to the handbook and to the screens.</a:t>
            </a:r>
          </a:p>
        </p:txBody>
      </p:sp>
      <p:sp>
        <p:nvSpPr>
          <p:cNvPr id="13" name="Rectangle 12"/>
          <p:cNvSpPr/>
          <p:nvPr/>
        </p:nvSpPr>
        <p:spPr>
          <a:xfrm>
            <a:off x="4338218" y="1325880"/>
            <a:ext cx="3515258"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29658" y="1325880"/>
            <a:ext cx="3515258" cy="457200"/>
          </a:xfrm>
          <a:prstGeom prst="rect">
            <a:avLst/>
          </a:prstGeom>
          <a:noFill/>
        </p:spPr>
        <p:txBody>
          <a:bodyPr wrap="square" anchor="ctr" lIns="45720" rIns="45720">
            <a:spAutoFit/>
          </a:bodyPr>
          <a:lstStyle/>
          <a:p>
            <a:r>
              <a:rPr sz="1500" b="1" i="0">
                <a:solidFill>
                  <a:srgbClr val="FFFFFF"/>
                </a:solidFill>
                <a:latin typeface="Arial"/>
              </a:rPr>
              <a:t>Exit</a:t>
            </a:r>
          </a:p>
        </p:txBody>
      </p:sp>
      <p:sp>
        <p:nvSpPr>
          <p:cNvPr id="15" name="Rectangle 14"/>
          <p:cNvSpPr/>
          <p:nvPr/>
        </p:nvSpPr>
        <p:spPr>
          <a:xfrm>
            <a:off x="4338218" y="1783080"/>
            <a:ext cx="3515258" cy="43434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9658" y="1920240"/>
            <a:ext cx="3332378" cy="4160520"/>
          </a:xfrm>
          <a:prstGeom prst="rect">
            <a:avLst/>
          </a:prstGeom>
          <a:noFill/>
        </p:spPr>
        <p:txBody>
          <a:bodyPr wrap="square">
            <a:spAutoFit/>
          </a:bodyPr>
          <a:lstStyle/>
          <a:p>
            <a:pPr>
              <a:spcAft>
                <a:spcPts val="600"/>
              </a:spcAft>
            </a:pPr>
            <a:r>
              <a:rPr sz="1200">
                <a:solidFill>
                  <a:srgbClr val="004EA8"/>
                </a:solidFill>
                <a:latin typeface="Arial"/>
              </a:rPr>
              <a:t>•  </a:t>
            </a:r>
            <a:r>
              <a:rPr sz="1200">
                <a:solidFill>
                  <a:srgbClr val="4B4B4B"/>
                </a:solidFill>
                <a:latin typeface="Arial"/>
              </a:rPr>
              <a:t>Every row of the workbook reviewed by its unit (Accept, Change requested or Comment).</a:t>
            </a:r>
          </a:p>
          <a:p>
            <a:pPr>
              <a:spcAft>
                <a:spcPts val="600"/>
              </a:spcAft>
            </a:pPr>
            <a:r>
              <a:rPr sz="1200">
                <a:solidFill>
                  <a:srgbClr val="004EA8"/>
                </a:solidFill>
                <a:latin typeface="Arial"/>
              </a:rPr>
              <a:t>•  </a:t>
            </a:r>
            <a:r>
              <a:rPr sz="1200">
                <a:solidFill>
                  <a:srgbClr val="4B4B4B"/>
                </a:solidFill>
                <a:latin typeface="Arial"/>
              </a:rPr>
              <a:t>Every proposed rule decided, or accepted as the working assumption with its decision date.</a:t>
            </a:r>
          </a:p>
          <a:p>
            <a:pPr>
              <a:spcAft>
                <a:spcPts val="600"/>
              </a:spcAft>
            </a:pPr>
            <a:r>
              <a:rPr sz="1200">
                <a:solidFill>
                  <a:srgbClr val="004EA8"/>
                </a:solidFill>
                <a:latin typeface="Arial"/>
              </a:rPr>
              <a:t>•  </a:t>
            </a:r>
            <a:r>
              <a:rPr sz="1200">
                <a:solidFill>
                  <a:srgbClr val="4B4B4B"/>
                </a:solidFill>
                <a:latin typeface="Arial"/>
              </a:rPr>
              <a:t>Every comments log item closed: answered, corrected in v2.1, or raised as a change request.</a:t>
            </a:r>
          </a:p>
          <a:p>
            <a:pPr>
              <a:spcAft>
                <a:spcPts val="600"/>
              </a:spcAft>
            </a:pPr>
            <a:r>
              <a:rPr sz="1200">
                <a:solidFill>
                  <a:srgbClr val="004EA8"/>
                </a:solidFill>
                <a:latin typeface="Arial"/>
              </a:rPr>
              <a:t>•  </a:t>
            </a:r>
            <a:r>
              <a:rPr sz="1200">
                <a:solidFill>
                  <a:srgbClr val="4B4B4B"/>
                </a:solidFill>
                <a:latin typeface="Arial"/>
              </a:rPr>
              <a:t>The sign-off certificate signed as on the BRD-13 approval pages: prepared by iorta TechNXT and the Program Manager, input from the Data Migration Lead and the data owners, reviewed by MBS and BDOI IT, approved by the Product Owner and the approvers.</a:t>
            </a:r>
          </a:p>
        </p:txBody>
      </p:sp>
      <p:sp>
        <p:nvSpPr>
          <p:cNvPr id="17" name="Rectangle 16"/>
          <p:cNvSpPr/>
          <p:nvPr/>
        </p:nvSpPr>
        <p:spPr>
          <a:xfrm>
            <a:off x="8127796" y="1325880"/>
            <a:ext cx="3515258"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19236" y="1325880"/>
            <a:ext cx="3515258" cy="457200"/>
          </a:xfrm>
          <a:prstGeom prst="rect">
            <a:avLst/>
          </a:prstGeom>
          <a:noFill/>
        </p:spPr>
        <p:txBody>
          <a:bodyPr wrap="square" anchor="ctr" lIns="45720" rIns="45720">
            <a:spAutoFit/>
          </a:bodyPr>
          <a:lstStyle/>
          <a:p>
            <a:r>
              <a:rPr sz="1500" b="1" i="0">
                <a:solidFill>
                  <a:srgbClr val="FFFFFF"/>
                </a:solidFill>
                <a:latin typeface="Arial"/>
              </a:rPr>
              <a:t>Done</a:t>
            </a:r>
          </a:p>
        </p:txBody>
      </p:sp>
      <p:sp>
        <p:nvSpPr>
          <p:cNvPr id="19" name="Rectangle 18"/>
          <p:cNvSpPr/>
          <p:nvPr/>
        </p:nvSpPr>
        <p:spPr>
          <a:xfrm>
            <a:off x="8127796" y="1783080"/>
            <a:ext cx="3515258" cy="43434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19236" y="1920240"/>
            <a:ext cx="3332378" cy="4160520"/>
          </a:xfrm>
          <a:prstGeom prst="rect">
            <a:avLst/>
          </a:prstGeom>
          <a:noFill/>
        </p:spPr>
        <p:txBody>
          <a:bodyPr wrap="square">
            <a:spAutoFit/>
          </a:bodyPr>
          <a:lstStyle/>
          <a:p>
            <a:pPr>
              <a:spcAft>
                <a:spcPts val="600"/>
              </a:spcAft>
            </a:pPr>
            <a:r>
              <a:rPr sz="1200">
                <a:solidFill>
                  <a:srgbClr val="004EA8"/>
                </a:solidFill>
                <a:latin typeface="Arial"/>
              </a:rPr>
              <a:t>•  </a:t>
            </a:r>
            <a:r>
              <a:rPr sz="1200">
                <a:solidFill>
                  <a:srgbClr val="4B4B4B"/>
                </a:solidFill>
                <a:latin typeface="Arial"/>
              </a:rPr>
              <a:t>Signed certificate filed with the set; version history updated.</a:t>
            </a:r>
          </a:p>
          <a:p>
            <a:pPr>
              <a:spcAft>
                <a:spcPts val="600"/>
              </a:spcAft>
            </a:pPr>
            <a:r>
              <a:rPr sz="1200">
                <a:solidFill>
                  <a:srgbClr val="004EA8"/>
                </a:solidFill>
                <a:latin typeface="Arial"/>
              </a:rPr>
              <a:t>•  </a:t>
            </a:r>
            <a:r>
              <a:rPr sz="1200">
                <a:solidFill>
                  <a:srgbClr val="4B4B4B"/>
                </a:solidFill>
                <a:latin typeface="Arial"/>
              </a:rPr>
              <a:t>Objects decided (G1) and layouts frozen, version 1, in the Migration Console (M2).</a:t>
            </a:r>
          </a:p>
          <a:p>
            <a:pPr>
              <a:spcAft>
                <a:spcPts val="600"/>
              </a:spcAft>
            </a:pPr>
            <a:r>
              <a:rPr sz="1200">
                <a:solidFill>
                  <a:srgbClr val="004EA8"/>
                </a:solidFill>
                <a:latin typeface="Arial"/>
              </a:rPr>
              <a:t>•  </a:t>
            </a:r>
            <a:r>
              <a:rPr sz="1200">
                <a:solidFill>
                  <a:srgbClr val="4B4B4B"/>
                </a:solidFill>
                <a:latin typeface="Arial"/>
              </a:rPr>
              <a:t>Owners and stewards named per object; deltas listed in the Change Management Register with mandays.</a:t>
            </a:r>
          </a:p>
          <a:p>
            <a:pPr>
              <a:spcAft>
                <a:spcPts val="600"/>
              </a:spcAft>
            </a:pPr>
            <a:r>
              <a:rPr sz="1200">
                <a:solidFill>
                  <a:srgbClr val="004EA8"/>
                </a:solidFill>
                <a:latin typeface="Arial"/>
              </a:rPr>
              <a:t>•  </a:t>
            </a:r>
            <a:r>
              <a:rPr sz="1200">
                <a:solidFill>
                  <a:srgbClr val="4B4B4B"/>
                </a:solidFill>
                <a:latin typeface="Arial"/>
              </a:rPr>
              <a:t>Test plan agreed for the trial migrations, SIT and UAT.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After sign-off: readiness checklist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600">
                <a:solidFill>
                  <a:srgbClr val="004EA8"/>
                </a:solidFill>
                <a:latin typeface="Arial"/>
              </a:rPr>
              <a:t>•  </a:t>
            </a:r>
            <a:r>
              <a:rPr sz="1600">
                <a:solidFill>
                  <a:srgbClr val="4B4B4B"/>
                </a:solidFill>
                <a:latin typeface="Arial"/>
              </a:rPr>
              <a:t>☐  Signed handbook, Migration Workbook and screens</a:t>
            </a:r>
          </a:p>
          <a:p>
            <a:pPr>
              <a:spcAft>
                <a:spcPts val="600"/>
              </a:spcAft>
            </a:pPr>
            <a:r>
              <a:rPr sz="1600">
                <a:solidFill>
                  <a:srgbClr val="004EA8"/>
                </a:solidFill>
                <a:latin typeface="Arial"/>
              </a:rPr>
              <a:t>•  </a:t>
            </a:r>
            <a:r>
              <a:rPr sz="1600">
                <a:solidFill>
                  <a:srgbClr val="4B4B4B"/>
                </a:solidFill>
                <a:latin typeface="Arial"/>
              </a:rPr>
              <a:t>☐  Decisions of the objects entered in the Migration Console (G1)</a:t>
            </a:r>
          </a:p>
          <a:p>
            <a:pPr>
              <a:spcAft>
                <a:spcPts val="600"/>
              </a:spcAft>
            </a:pPr>
            <a:r>
              <a:rPr sz="1600">
                <a:solidFill>
                  <a:srgbClr val="004EA8"/>
                </a:solidFill>
                <a:latin typeface="Arial"/>
              </a:rPr>
              <a:t>•  </a:t>
            </a:r>
            <a:r>
              <a:rPr sz="1600">
                <a:solidFill>
                  <a:srgbClr val="4B4B4B"/>
                </a:solidFill>
                <a:latin typeface="Arial"/>
              </a:rPr>
              <a:t>☐  Layouts frozen, version 1; templates issued to BDOI IT</a:t>
            </a:r>
          </a:p>
          <a:p>
            <a:pPr>
              <a:spcAft>
                <a:spcPts val="600"/>
              </a:spcAft>
            </a:pPr>
            <a:r>
              <a:rPr sz="1600">
                <a:solidFill>
                  <a:srgbClr val="004EA8"/>
                </a:solidFill>
                <a:latin typeface="Arial"/>
              </a:rPr>
              <a:t>•  </a:t>
            </a:r>
            <a:r>
              <a:rPr sz="1600">
                <a:solidFill>
                  <a:srgbClr val="4B4B4B"/>
                </a:solidFill>
                <a:latin typeface="Arial"/>
              </a:rPr>
              <a:t>☐  Owners and stewards named per object</a:t>
            </a:r>
          </a:p>
          <a:p>
            <a:pPr>
              <a:spcAft>
                <a:spcPts val="600"/>
              </a:spcAft>
            </a:pPr>
            <a:r>
              <a:rPr sz="1600">
                <a:solidFill>
                  <a:srgbClr val="004EA8"/>
                </a:solidFill>
                <a:latin typeface="Arial"/>
              </a:rPr>
              <a:t>•  </a:t>
            </a:r>
            <a:r>
              <a:rPr sz="1600">
                <a:solidFill>
                  <a:srgbClr val="4B4B4B"/>
                </a:solidFill>
                <a:latin typeface="Arial"/>
              </a:rPr>
              <a:t>☐  Proposed rules decided or accepted as assumptions</a:t>
            </a:r>
          </a:p>
          <a:p>
            <a:pPr>
              <a:spcAft>
                <a:spcPts val="600"/>
              </a:spcAft>
            </a:pPr>
            <a:r>
              <a:rPr sz="1600">
                <a:solidFill>
                  <a:srgbClr val="004EA8"/>
                </a:solidFill>
                <a:latin typeface="Arial"/>
              </a:rPr>
              <a:t>•  </a:t>
            </a:r>
            <a:r>
              <a:rPr sz="1600">
                <a:solidFill>
                  <a:srgbClr val="4B4B4B"/>
                </a:solidFill>
                <a:latin typeface="Arial"/>
              </a:rPr>
              <a:t>☐  Agreed test plan and trial migration calendar</a:t>
            </a:r>
          </a:p>
          <a:p>
            <a:pPr lvl="1">
              <a:spcAft>
                <a:spcPts val="600"/>
              </a:spcAft>
            </a:pPr>
            <a:r>
              <a:rPr sz="1400">
                <a:solidFill>
                  <a:srgbClr val="656565"/>
                </a:solidFill>
                <a:latin typeface="Arial"/>
              </a:rPr>
              <a:t>–  </a:t>
            </a:r>
            <a:r>
              <a:rPr sz="1400">
                <a:solidFill>
                  <a:srgbClr val="4B4B4B"/>
                </a:solidFill>
                <a:latin typeface="Arial"/>
              </a:rPr>
              <a:t>Handover means the objects are decided, the layouts are frozen and the first full extracts are prepared for 29 January 2027.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Change control after sign-off</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800">
                <a:solidFill>
                  <a:srgbClr val="004EA8"/>
                </a:solidFill>
                <a:latin typeface="Arial"/>
              </a:rPr>
              <a:t>•  </a:t>
            </a:r>
            <a:r>
              <a:rPr sz="1800">
                <a:solidFill>
                  <a:srgbClr val="4B4B4B"/>
                </a:solidFill>
                <a:latin typeface="Arial"/>
              </a:rPr>
              <a:t>A change to anything frozen is raised in the Change Management Register</a:t>
            </a:r>
          </a:p>
          <a:p>
            <a:pPr lvl="1">
              <a:spcAft>
                <a:spcPts val="600"/>
              </a:spcAft>
            </a:pPr>
            <a:r>
              <a:rPr sz="1600">
                <a:solidFill>
                  <a:srgbClr val="656565"/>
                </a:solidFill>
                <a:latin typeface="Arial"/>
              </a:rPr>
              <a:t>–  </a:t>
            </a:r>
            <a:r>
              <a:rPr sz="1600">
                <a:solidFill>
                  <a:srgbClr val="4B4B4B"/>
                </a:solidFill>
                <a:latin typeface="Arial"/>
              </a:rPr>
              <a:t>The screen, field, rule or message concerned, the reason and the priority</a:t>
            </a:r>
          </a:p>
          <a:p>
            <a:pPr>
              <a:spcAft>
                <a:spcPts val="600"/>
              </a:spcAft>
            </a:pPr>
            <a:r>
              <a:rPr sz="1800">
                <a:solidFill>
                  <a:srgbClr val="004EA8"/>
                </a:solidFill>
                <a:latin typeface="Arial"/>
              </a:rPr>
              <a:t>•  </a:t>
            </a:r>
            <a:r>
              <a:rPr sz="1800">
                <a:solidFill>
                  <a:srgbClr val="4B4B4B"/>
                </a:solidFill>
                <a:latin typeface="Arial"/>
              </a:rPr>
              <a:t>The project team assesses the mandays and the effect on the other BRDs through the cross-BRD contract</a:t>
            </a:r>
          </a:p>
          <a:p>
            <a:pPr>
              <a:spcAft>
                <a:spcPts val="600"/>
              </a:spcAft>
            </a:pPr>
            <a:r>
              <a:rPr sz="1800">
                <a:solidFill>
                  <a:srgbClr val="004EA8"/>
                </a:solidFill>
                <a:latin typeface="Arial"/>
              </a:rPr>
              <a:t>•  </a:t>
            </a:r>
            <a:r>
              <a:rPr sz="1800">
                <a:solidFill>
                  <a:srgbClr val="4B4B4B"/>
                </a:solidFill>
                <a:latin typeface="Arial"/>
              </a:rPr>
              <a:t>The owners of every BRD concerned approve it</a:t>
            </a:r>
          </a:p>
          <a:p>
            <a:pPr>
              <a:spcAft>
                <a:spcPts val="600"/>
              </a:spcAft>
            </a:pPr>
            <a:r>
              <a:rPr sz="1800">
                <a:solidFill>
                  <a:srgbClr val="004EA8"/>
                </a:solidFill>
                <a:latin typeface="Arial"/>
              </a:rPr>
              <a:t>•  </a:t>
            </a:r>
            <a:r>
              <a:rPr sz="1800">
                <a:solidFill>
                  <a:srgbClr val="4B4B4B"/>
                </a:solidFill>
                <a:latin typeface="Arial"/>
              </a:rPr>
              <a:t>Delivered as a new version of the set (v2.1, v2.2...) with the changed pages signed again (delta sign-off)</a:t>
            </a:r>
          </a:p>
          <a:p>
            <a:pPr>
              <a:spcAft>
                <a:spcPts val="600"/>
              </a:spcAft>
            </a:pPr>
            <a:r>
              <a:rPr sz="1800">
                <a:solidFill>
                  <a:srgbClr val="004EA8"/>
                </a:solidFill>
                <a:latin typeface="Arial"/>
              </a:rPr>
              <a:t>•  </a:t>
            </a:r>
            <a:r>
              <a:rPr sz="1800">
                <a:solidFill>
                  <a:srgbClr val="4B4B4B"/>
                </a:solidFill>
                <a:latin typeface="Arial"/>
              </a:rPr>
              <a:t>Configuration values marked default change in BIBS without a change request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Governance, contacts and next steps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a:t>
            </a:r>
          </a:p>
        </p:txBody>
      </p:sp>
      <p:graphicFrame>
        <p:nvGraphicFramePr>
          <p:cNvPr id="9" name="Table 8"/>
          <p:cNvGraphicFramePr>
            <a:graphicFrameLocks noGrp="1"/>
          </p:cNvGraphicFramePr>
          <p:nvPr/>
        </p:nvGraphicFramePr>
        <p:xfrm>
          <a:off x="548640" y="1371600"/>
          <a:ext cx="11094414" cy="2926080"/>
        </p:xfrm>
        <a:graphic>
          <a:graphicData uri="http://schemas.openxmlformats.org/drawingml/2006/table">
            <a:tbl>
              <a:tblPr firstRow="1" bandRow="1">
                <a:tableStyleId>{5C22544A-7EE6-4342-B048-85BDC9FD1C3A}</a:tableStyleId>
              </a:tblPr>
              <a:tblGrid>
                <a:gridCol w="2641527"/>
                <a:gridCol w="3698138"/>
                <a:gridCol w="4754749"/>
              </a:tblGrid>
              <a:tr h="365760">
                <a:tc>
                  <a:txBody>
                    <a:bodyPr/>
                    <a:lstStyle/>
                    <a:p>
                      <a:r>
                        <a:rPr sz="1000" b="1">
                          <a:solidFill>
                            <a:srgbClr val="FFFFFF"/>
                          </a:solidFill>
                          <a:latin typeface="Arial"/>
                        </a:rPr>
                        <a:t>Role</a:t>
                      </a:r>
                    </a:p>
                  </a:txBody>
                  <a:tcPr marL="73152" marR="73152" marT="36576" marB="36576">
                    <a:solidFill>
                      <a:srgbClr val="004EA8"/>
                    </a:solidFill>
                  </a:tcPr>
                </a:tc>
                <a:tc>
                  <a:txBody>
                    <a:bodyPr/>
                    <a:lstStyle/>
                    <a:p>
                      <a:r>
                        <a:rPr sz="1000" b="1">
                          <a:solidFill>
                            <a:srgbClr val="FFFFFF"/>
                          </a:solidFill>
                          <a:latin typeface="Arial"/>
                        </a:rPr>
                        <a:t>Who</a:t>
                      </a:r>
                    </a:p>
                  </a:txBody>
                  <a:tcPr marL="73152" marR="73152" marT="36576" marB="36576">
                    <a:solidFill>
                      <a:srgbClr val="004EA8"/>
                    </a:solidFill>
                  </a:tcPr>
                </a:tc>
                <a:tc>
                  <a:txBody>
                    <a:bodyPr/>
                    <a:lstStyle/>
                    <a:p>
                      <a:r>
                        <a:rPr sz="1000" b="1">
                          <a:solidFill>
                            <a:srgbClr val="FFFFFF"/>
                          </a:solidFill>
                          <a:latin typeface="Arial"/>
                        </a:rPr>
                        <a:t>Does</a:t>
                      </a:r>
                    </a:p>
                  </a:txBody>
                  <a:tcPr marL="73152" marR="73152" marT="36576" marB="36576">
                    <a:solidFill>
                      <a:srgbClr val="004EA8"/>
                    </a:solidFill>
                  </a:tcPr>
                </a:tc>
              </a:tr>
              <a:tr h="365760">
                <a:tc>
                  <a:txBody>
                    <a:bodyPr/>
                    <a:lstStyle/>
                    <a:p>
                      <a:r>
                        <a:rPr sz="1000" b="0">
                          <a:solidFill>
                            <a:srgbClr val="4B4B4B"/>
                          </a:solidFill>
                          <a:latin typeface="Arial"/>
                        </a:rPr>
                        <a:t>Approver</a:t>
                      </a:r>
                    </a:p>
                  </a:txBody>
                  <a:tcPr marL="73152" marR="73152" marT="36576" marB="36576">
                    <a:solidFill>
                      <a:srgbClr val="FFFFFF"/>
                    </a:solidFill>
                  </a:tcPr>
                </a:tc>
                <a:tc>
                  <a:txBody>
                    <a:bodyPr/>
                    <a:lstStyle/>
                    <a:p>
                      <a:r>
                        <a:rPr sz="1000" b="0">
                          <a:solidFill>
                            <a:srgbClr val="4B4B4B"/>
                          </a:solidFill>
                          <a:latin typeface="Arial"/>
                        </a:rPr>
                        <a:t>Product Owner, Marketing Business System, with the approvers of the BRD-13 approval pages</a:t>
                      </a:r>
                    </a:p>
                  </a:txBody>
                  <a:tcPr marL="73152" marR="73152" marT="36576" marB="36576">
                    <a:solidFill>
                      <a:srgbClr val="FFFFFF"/>
                    </a:solidFill>
                  </a:tcPr>
                </a:tc>
                <a:tc>
                  <a:txBody>
                    <a:bodyPr/>
                    <a:lstStyle/>
                    <a:p>
                      <a:r>
                        <a:rPr sz="1000" b="0">
                          <a:solidFill>
                            <a:srgbClr val="4B4B4B"/>
                          </a:solidFill>
                          <a:latin typeface="Arial"/>
                        </a:rPr>
                        <a:t>Owns the set and approves all of its contents; chairs the sign-off meeting</a:t>
                      </a:r>
                    </a:p>
                  </a:txBody>
                  <a:tcPr marL="73152" marR="73152" marT="36576" marB="36576">
                    <a:solidFill>
                      <a:srgbClr val="FFFFFF"/>
                    </a:solidFill>
                  </a:tcPr>
                </a:tc>
              </a:tr>
              <a:tr h="365760">
                <a:tc>
                  <a:txBody>
                    <a:bodyPr/>
                    <a:lstStyle/>
                    <a:p>
                      <a:r>
                        <a:rPr sz="1000" b="0">
                          <a:solidFill>
                            <a:srgbClr val="4B4B4B"/>
                          </a:solidFill>
                          <a:latin typeface="Arial"/>
                        </a:rPr>
                        <a:t>BRD author and cut-over owner</a:t>
                      </a:r>
                    </a:p>
                  </a:txBody>
                  <a:tcPr marL="73152" marR="73152" marT="36576" marB="36576">
                    <a:solidFill>
                      <a:srgbClr val="E5F5FF"/>
                    </a:solidFill>
                  </a:tcPr>
                </a:tc>
                <a:tc>
                  <a:txBody>
                    <a:bodyPr/>
                    <a:lstStyle/>
                    <a:p>
                      <a:r>
                        <a:rPr sz="1000" b="0">
                          <a:solidFill>
                            <a:srgbClr val="4B4B4B"/>
                          </a:solidFill>
                          <a:latin typeface="Arial"/>
                        </a:rPr>
                        <a:t>Program Manager, Business Project Services</a:t>
                      </a:r>
                    </a:p>
                  </a:txBody>
                  <a:tcPr marL="73152" marR="73152" marT="36576" marB="36576">
                    <a:solidFill>
                      <a:srgbClr val="E5F5FF"/>
                    </a:solidFill>
                  </a:tcPr>
                </a:tc>
                <a:tc>
                  <a:txBody>
                    <a:bodyPr/>
                    <a:lstStyle/>
                    <a:p>
                      <a:r>
                        <a:rPr sz="1000" b="0">
                          <a:solidFill>
                            <a:srgbClr val="4B4B4B"/>
                          </a:solidFill>
                          <a:latin typeface="Arial"/>
                        </a:rPr>
                        <a:t>Reviews the traceability and the completeness; accountable for the cut-over; chairs the go / no-go board</a:t>
                      </a:r>
                    </a:p>
                  </a:txBody>
                  <a:tcPr marL="73152" marR="73152" marT="36576" marB="36576">
                    <a:solidFill>
                      <a:srgbClr val="E5F5FF"/>
                    </a:solidFill>
                  </a:tcPr>
                </a:tc>
              </a:tr>
              <a:tr h="365760">
                <a:tc>
                  <a:txBody>
                    <a:bodyPr/>
                    <a:lstStyle/>
                    <a:p>
                      <a:r>
                        <a:rPr sz="1000" b="0">
                          <a:solidFill>
                            <a:srgbClr val="4B4B4B"/>
                          </a:solidFill>
                          <a:latin typeface="Arial"/>
                        </a:rPr>
                        <a:t>Data owners</a:t>
                      </a:r>
                    </a:p>
                  </a:txBody>
                  <a:tcPr marL="73152" marR="73152" marT="36576" marB="36576">
                    <a:solidFill>
                      <a:srgbClr val="FFFFFF"/>
                    </a:solidFill>
                  </a:tcPr>
                </a:tc>
                <a:tc>
                  <a:txBody>
                    <a:bodyPr/>
                    <a:lstStyle/>
                    <a:p>
                      <a:r>
                        <a:rPr sz="1000" b="0">
                          <a:solidFill>
                            <a:srgbClr val="4B4B4B"/>
                          </a:solidFill>
                          <a:latin typeface="Arial"/>
                        </a:rPr>
                        <a:t>Department heads per object</a:t>
                      </a:r>
                    </a:p>
                  </a:txBody>
                  <a:tcPr marL="73152" marR="73152" marT="36576" marB="36576">
                    <a:solidFill>
                      <a:srgbClr val="FFFFFF"/>
                    </a:solidFill>
                  </a:tcPr>
                </a:tc>
                <a:tc>
                  <a:txBody>
                    <a:bodyPr/>
                    <a:lstStyle/>
                    <a:p>
                      <a:r>
                        <a:rPr sz="1000" b="0">
                          <a:solidFill>
                            <a:srgbClr val="4B4B4B"/>
                          </a:solidFill>
                          <a:latin typeface="Arial"/>
                        </a:rPr>
                        <a:t>Review and sign their objects, templates, code maps and reconciliation</a:t>
                      </a:r>
                    </a:p>
                  </a:txBody>
                  <a:tcPr marL="73152" marR="73152" marT="36576" marB="36576">
                    <a:solidFill>
                      <a:srgbClr val="FFFFFF"/>
                    </a:solidFill>
                  </a:tcPr>
                </a:tc>
              </a:tr>
              <a:tr h="365760">
                <a:tc>
                  <a:txBody>
                    <a:bodyPr/>
                    <a:lstStyle/>
                    <a:p>
                      <a:r>
                        <a:rPr sz="1000" b="0">
                          <a:solidFill>
                            <a:srgbClr val="4B4B4B"/>
                          </a:solidFill>
                          <a:latin typeface="Arial"/>
                        </a:rPr>
                        <a:t>Comptrollership</a:t>
                      </a:r>
                    </a:p>
                  </a:txBody>
                  <a:tcPr marL="73152" marR="73152" marT="36576" marB="36576">
                    <a:solidFill>
                      <a:srgbClr val="E5F5FF"/>
                    </a:solidFill>
                  </a:tcPr>
                </a:tc>
                <a:tc>
                  <a:txBody>
                    <a:bodyPr/>
                    <a:lstStyle/>
                    <a:p>
                      <a:r>
                        <a:rPr sz="1000" b="0">
                          <a:solidFill>
                            <a:srgbClr val="4B4B4B"/>
                          </a:solidFill>
                          <a:latin typeface="Arial"/>
                        </a:rPr>
                        <a:t>Head, Comptrollership</a:t>
                      </a:r>
                    </a:p>
                  </a:txBody>
                  <a:tcPr marL="73152" marR="73152" marT="36576" marB="36576">
                    <a:solidFill>
                      <a:srgbClr val="E5F5FF"/>
                    </a:solidFill>
                  </a:tcPr>
                </a:tc>
                <a:tc>
                  <a:txBody>
                    <a:bodyPr/>
                    <a:lstStyle/>
                    <a:p>
                      <a:r>
                        <a:rPr sz="1000" b="0">
                          <a:solidFill>
                            <a:srgbClr val="4B4B4B"/>
                          </a:solidFill>
                          <a:latin typeface="Arial"/>
                        </a:rPr>
                        <a:t>Legacy accounts, GL opening, reconciliation approver, opening-balance adjustments</a:t>
                      </a:r>
                    </a:p>
                  </a:txBody>
                  <a:tcPr marL="73152" marR="73152" marT="36576" marB="36576">
                    <a:solidFill>
                      <a:srgbClr val="E5F5FF"/>
                    </a:solidFill>
                  </a:tcPr>
                </a:tc>
              </a:tr>
              <a:tr h="365760">
                <a:tc>
                  <a:txBody>
                    <a:bodyPr/>
                    <a:lstStyle/>
                    <a:p>
                      <a:r>
                        <a:rPr sz="1000" b="0">
                          <a:solidFill>
                            <a:srgbClr val="4B4B4B"/>
                          </a:solidFill>
                          <a:latin typeface="Arial"/>
                        </a:rPr>
                        <a:t>BDOI IT</a:t>
                      </a:r>
                    </a:p>
                  </a:txBody>
                  <a:tcPr marL="73152" marR="73152" marT="36576" marB="36576">
                    <a:solidFill>
                      <a:srgbClr val="FFFFFF"/>
                    </a:solidFill>
                  </a:tcPr>
                </a:tc>
                <a:tc>
                  <a:txBody>
                    <a:bodyPr/>
                    <a:lstStyle/>
                    <a:p>
                      <a:r>
                        <a:rPr sz="1000" b="0">
                          <a:solidFill>
                            <a:srgbClr val="4B4B4B"/>
                          </a:solidFill>
                          <a:latin typeface="Arial"/>
                        </a:rPr>
                        <a:t>Head, BDOI IT</a:t>
                      </a:r>
                    </a:p>
                  </a:txBody>
                  <a:tcPr marL="73152" marR="73152" marT="36576" marB="36576">
                    <a:solidFill>
                      <a:srgbClr val="FFFFFF"/>
                    </a:solidFill>
                  </a:tcPr>
                </a:tc>
                <a:tc>
                  <a:txBody>
                    <a:bodyPr/>
                    <a:lstStyle/>
                    <a:p>
                      <a:r>
                        <a:rPr sz="1000" b="0">
                          <a:solidFill>
                            <a:srgbClr val="4B4B4B"/>
                          </a:solidFill>
                          <a:latin typeface="Arial"/>
                        </a:rPr>
                        <a:t>Extracts, transfer, freeze, read-only access, decommissioning</a:t>
                      </a:r>
                    </a:p>
                  </a:txBody>
                  <a:tcPr marL="73152" marR="73152" marT="36576" marB="36576">
                    <a:solidFill>
                      <a:srgbClr val="FFFFFF"/>
                    </a:solidFill>
                  </a:tcPr>
                </a:tc>
              </a:tr>
              <a:tr h="365760">
                <a:tc>
                  <a:txBody>
                    <a:bodyPr/>
                    <a:lstStyle/>
                    <a:p>
                      <a:r>
                        <a:rPr sz="1000" b="0">
                          <a:solidFill>
                            <a:srgbClr val="4B4B4B"/>
                          </a:solidFill>
                          <a:latin typeface="Arial"/>
                        </a:rPr>
                        <a:t>Compliance</a:t>
                      </a:r>
                    </a:p>
                  </a:txBody>
                  <a:tcPr marL="73152" marR="73152" marT="36576" marB="36576">
                    <a:solidFill>
                      <a:srgbClr val="E5F5FF"/>
                    </a:solidFill>
                  </a:tcPr>
                </a:tc>
                <a:tc>
                  <a:txBody>
                    <a:bodyPr/>
                    <a:lstStyle/>
                    <a:p>
                      <a:r>
                        <a:rPr sz="1000" b="0">
                          <a:solidFill>
                            <a:srgbClr val="4B4B4B"/>
                          </a:solidFill>
                          <a:latin typeface="Arial"/>
                        </a:rPr>
                        <a:t>Compliance; Analytics and Risk Management</a:t>
                      </a:r>
                    </a:p>
                  </a:txBody>
                  <a:tcPr marL="73152" marR="73152" marT="36576" marB="36576">
                    <a:solidFill>
                      <a:srgbClr val="E5F5FF"/>
                    </a:solidFill>
                  </a:tcPr>
                </a:tc>
                <a:tc>
                  <a:txBody>
                    <a:bodyPr/>
                    <a:lstStyle/>
                    <a:p>
                      <a:r>
                        <a:rPr sz="1000" b="0">
                          <a:solidFill>
                            <a:srgbClr val="4B4B4B"/>
                          </a:solidFill>
                          <a:latin typeface="Arial"/>
                        </a:rPr>
                        <a:t>Masking, archive, Legacy Inquiry and its access log</a:t>
                      </a:r>
                    </a:p>
                  </a:txBody>
                  <a:tcPr marL="73152" marR="73152" marT="36576" marB="36576">
                    <a:solidFill>
                      <a:srgbClr val="E5F5FF"/>
                    </a:solidFill>
                  </a:tcPr>
                </a:tc>
              </a:tr>
              <a:tr h="365760">
                <a:tc>
                  <a:txBody>
                    <a:bodyPr/>
                    <a:lstStyle/>
                    <a:p>
                      <a:r>
                        <a:rPr sz="1000" b="0">
                          <a:solidFill>
                            <a:srgbClr val="4B4B4B"/>
                          </a:solidFill>
                          <a:latin typeface="Arial"/>
                        </a:rPr>
                        <a:t>Delivery</a:t>
                      </a:r>
                    </a:p>
                  </a:txBody>
                  <a:tcPr marL="73152" marR="73152" marT="36576" marB="36576">
                    <a:solidFill>
                      <a:srgbClr val="FFFFFF"/>
                    </a:solidFill>
                  </a:tcPr>
                </a:tc>
                <a:tc>
                  <a:txBody>
                    <a:bodyPr/>
                    <a:lstStyle/>
                    <a:p>
                      <a:r>
                        <a:rPr sz="1000" b="0">
                          <a:solidFill>
                            <a:srgbClr val="4B4B4B"/>
                          </a:solidFill>
                          <a:latin typeface="Arial"/>
                        </a:rPr>
                        <a:t>iorta TechNXT Project Manager, Business Analysis, Migration Lead, test lead</a:t>
                      </a:r>
                    </a:p>
                  </a:txBody>
                  <a:tcPr marL="73152" marR="73152" marT="36576" marB="36576">
                    <a:solidFill>
                      <a:srgbClr val="FFFFFF"/>
                    </a:solidFill>
                  </a:tcPr>
                </a:tc>
                <a:tc>
                  <a:txBody>
                    <a:bodyPr/>
                    <a:lstStyle/>
                    <a:p>
                      <a:r>
                        <a:rPr sz="1000" b="0">
                          <a:solidFill>
                            <a:srgbClr val="4B4B4B"/>
                          </a:solidFill>
                          <a:latin typeface="Arial"/>
                        </a:rPr>
                        <a:t>Sessions, answers, comments log, revisions, change requests, the migration runs</a:t>
                      </a:r>
                    </a:p>
                  </a:txBody>
                  <a:tcPr marL="73152" marR="73152" marT="36576" marB="36576">
                    <a:solidFill>
                      <a:srgbClr val="FFFFFF"/>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Next steps and the release order of the other BRD sets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600">
                <a:solidFill>
                  <a:srgbClr val="004EA8"/>
                </a:solidFill>
                <a:latin typeface="Arial"/>
              </a:rPr>
              <a:t>•  </a:t>
            </a:r>
            <a:r>
              <a:rPr sz="1600">
                <a:solidFill>
                  <a:srgbClr val="4B4B4B"/>
                </a:solidFill>
                <a:latin typeface="Arial"/>
              </a:rPr>
              <a:t>Kick-off and first console walkthrough on Wed 7-Oct-2026</a:t>
            </a:r>
          </a:p>
          <a:p>
            <a:pPr>
              <a:spcAft>
                <a:spcPts val="600"/>
              </a:spcAft>
            </a:pPr>
            <a:r>
              <a:rPr sz="1600">
                <a:solidFill>
                  <a:srgbClr val="004EA8"/>
                </a:solidFill>
                <a:latin typeface="Arial"/>
              </a:rPr>
              <a:t>•  </a:t>
            </a:r>
            <a:r>
              <a:rPr sz="1600">
                <a:solidFill>
                  <a:srgbClr val="4B4B4B"/>
                </a:solidFill>
                <a:latin typeface="Arial"/>
              </a:rPr>
              <a:t>Decisions on the M1 rules by Fri 16-Oct-2026; workbooks returned by Wed 21-Oct-2026</a:t>
            </a:r>
          </a:p>
          <a:p>
            <a:pPr>
              <a:spcAft>
                <a:spcPts val="600"/>
              </a:spcAft>
            </a:pPr>
            <a:r>
              <a:rPr sz="1600">
                <a:solidFill>
                  <a:srgbClr val="004EA8"/>
                </a:solidFill>
                <a:latin typeface="Arial"/>
              </a:rPr>
              <a:t>•  </a:t>
            </a:r>
            <a:r>
              <a:rPr sz="1600">
                <a:solidFill>
                  <a:srgbClr val="4B4B4B"/>
                </a:solidFill>
                <a:latin typeface="Arial"/>
              </a:rPr>
              <a:t>Q&amp;A on Mon 26-Oct-2026; sign-off on Fri 30-Oct-2026 (M2)</a:t>
            </a:r>
          </a:p>
          <a:p>
            <a:pPr>
              <a:spcAft>
                <a:spcPts val="600"/>
              </a:spcAft>
            </a:pPr>
            <a:r>
              <a:rPr sz="1600">
                <a:solidFill>
                  <a:srgbClr val="004EA8"/>
                </a:solidFill>
                <a:latin typeface="Arial"/>
              </a:rPr>
              <a:t>•  </a:t>
            </a:r>
            <a:r>
              <a:rPr sz="1600">
                <a:solidFill>
                  <a:srgbClr val="4B4B4B"/>
                </a:solidFill>
                <a:latin typeface="Arial"/>
              </a:rPr>
              <a:t>First full extracts in the templates by Fri 29-Jan-2027 (M3); Trial migration 1 from 19-Apr-2027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Sign-off Pack Guide BRD-13 Data Migration</dc:title>
  <dc:subject>BIBS – BDOI Broker System</dc:subject>
  <dc:creator>iorta TechNXT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