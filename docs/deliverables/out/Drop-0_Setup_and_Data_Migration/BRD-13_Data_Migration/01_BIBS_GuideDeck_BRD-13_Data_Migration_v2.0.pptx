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Migration Lead, test lead: Added for this set (author of the Handbook and the Migration Workbook).</a:t>
            </a:r>
          </a:p>
          <a:p>
            <a:r>
              <a:t>Program Manager, Enterprise Services Group - Business Project Services (BPS): Prepared by (p.15).</a:t>
            </a:r>
          </a:p>
          <a:p>
            <a:r>
              <a:t>Data Migration Lead: Added for this set.</a:t>
            </a:r>
          </a:p>
          <a:p>
            <a:r>
              <a:t>Data owners of the objects (department representatives named per object): Added for this set (named per object in the Migration Workbook).</a:t>
            </a:r>
          </a:p>
          <a:p>
            <a:r>
              <a:t>Marketing Business System (MBS): Reviewed by (p.15).</a:t>
            </a:r>
          </a:p>
          <a:p>
            <a:r>
              <a:t>BDOI Information Technology Group (BDOI IT): Added for this set.</a:t>
            </a:r>
          </a:p>
          <a:p>
            <a:r>
              <a:t>Product Owner, Marketing Business System: Approved by (p.15).</a:t>
            </a:r>
          </a:p>
          <a:p>
            <a:r>
              <a:t>Product Owner - Comptrollership - Disbursement: Approved by (p.15).</a:t>
            </a:r>
          </a:p>
          <a:p>
            <a:r>
              <a:t>Product Owner - Comptrollership - FRBS and ACSL: Approved by (p.15).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Operations: Financial Transactions and Processing: Approved by (p.15).</a:t>
            </a:r>
          </a:p>
          <a:p>
            <a:r>
              <a:t>Head - Operations: Approved by (p.15).</a:t>
            </a:r>
          </a:p>
          <a:p>
            <a:r>
              <a:t>Unit Head - Analytics and Risk Management: Approved by (p.15).</a:t>
            </a:r>
          </a:p>
          <a:p>
            <a:r>
              <a:t>Unit Head - Claims, Analytics, Risk Management, Reinsurance and Technical Underwriting: Approved by (p.16).</a:t>
            </a:r>
          </a:p>
          <a:p>
            <a:r>
              <a:t>Unit Head - Combank and Corbank: Approved by (p.16).</a:t>
            </a:r>
          </a:p>
          <a:p>
            <a:r>
              <a:t>Head - Comptrollership: Approved by (p.16).</a:t>
            </a:r>
          </a:p>
          <a:p>
            <a:r>
              <a:t>Head - Retail Marketing: Approved by (p.16).</a:t>
            </a:r>
          </a:p>
          <a:p>
            <a:r>
              <a:t>Head - Corporate and Retail Marketing: Approved by (p.16).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189 fields, 67 business rules, 216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182880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07_BIBS_UXDeck_BRD-13_Data_Migration_v2.0.pptx</a:t>
                      </a:r>
                    </a:p>
                  </a:txBody>
                  <a:tcPr marL="73152" marR="73152" marT="36576" marB="36576">
                    <a:solidFill>
                      <a:srgbClr val="E5F5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E5F5FF"/>
                    </a:solidFill>
                  </a:tcPr>
                </a:tc>
              </a:tr>
              <a:tr h="365760">
                <a:tc>
                  <a:txBody>
                    <a:bodyPr/>
                    <a:lstStyle/>
                    <a:p>
                      <a:r>
                        <a:rPr sz="1000" b="0">
                          <a:solidFill>
                            <a:srgbClr val="4B4B4B"/>
                          </a:solidFill>
                          <a:latin typeface="Arial"/>
                        </a:rPr>
                        <a:t>08_BIBS_UXScreens_BRD-13_Data_Migration_v2.0.xlsx</a:t>
                      </a:r>
                    </a:p>
                  </a:txBody>
                  <a:tcPr marL="73152" marR="73152" marT="36576" marB="36576">
                    <a:solidFill>
                      <a:srgbClr val="FFFF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FFFFFF"/>
                    </a:solidFill>
                  </a:tcPr>
                </a:tc>
              </a:tr>
              <a:tr h="365760">
                <a:tc>
                  <a:txBody>
                    <a:bodyPr/>
                    <a:lstStyle/>
                    <a:p>
                      <a:r>
                        <a:rPr sz="1000" b="0">
                          <a:solidFill>
                            <a:srgbClr val="4B4B4B"/>
                          </a:solidFill>
                          <a:latin typeface="Arial"/>
                        </a:rPr>
                        <a:t>09_BIBS_UXScreens_BRD-13_Data_Migration_v2.0.zip</a:t>
                      </a:r>
                    </a:p>
                  </a:txBody>
                  <a:tcPr marL="73152" marR="73152" marT="36576" marB="36576">
                    <a:solidFill>
                      <a:srgbClr val="E5F5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Imported into the design tool at each issue</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Approver (Product Owner, Marketing Business System) and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Product Owner, Marketing Business System; C: Program Manager, data owners, Comptrollership,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Migration objects, decisions and extract planning (Handbook Part A; workbook Objects, Extract planning)</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 MBS</a:t>
                      </a:r>
                    </a:p>
                  </a:txBody>
                  <a:tcPr marL="73152" marR="73152" marT="36576" marB="36576">
                    <a:solidFill>
                      <a:srgbClr val="FFFFFF"/>
                    </a:solidFill>
                  </a:tcPr>
                </a:tc>
                <a:tc>
                  <a:txBody>
                    <a:bodyPr/>
                    <a:lstStyle/>
                    <a:p>
                      <a:r>
                        <a:rPr sz="900" b="0">
                          <a:solidFill>
                            <a:srgbClr val="4B4B4B"/>
                          </a:solidFill>
                          <a:latin typeface="Arial"/>
                        </a:rPr>
                        <a:t>Product Owner (MBS), PO Disbursement, PO FRBS and ACSL, Operations, Head Operations, UH Analytics and Risk Management, UH Claims and TU, UH Combank and Corbank, Head Comptrollership,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Load templates, code maps and data-quality rules (the columns BDOI fills in)</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owners, BDOI IT</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Screens and fields of the Migration Console and Legacy Inquiry (Handbook Part B)</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Business rules, validations, 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Reconciliation and migration reports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 Head Comptrollership, PO FRBS and ACSL</a:t>
                      </a:r>
                    </a:p>
                  </a:txBody>
                  <a:tcPr marL="73152" marR="73152" marT="36576" marB="36576">
                    <a:solidFill>
                      <a:srgbClr val="FFFFFF"/>
                    </a:solidFill>
                  </a:tcPr>
                </a:tc>
              </a:tr>
              <a:tr h="365760">
                <a:tc>
                  <a:txBody>
                    <a:bodyPr/>
                    <a:lstStyle/>
                    <a:p>
                      <a:r>
                        <a:rPr sz="900" b="0">
                          <a:solidFill>
                            <a:srgbClr val="4B4B4B"/>
                          </a:solidFill>
                          <a:latin typeface="Arial"/>
                        </a:rPr>
                        <a:t>Cut-over plan, go / no-go and rollback</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BDOI IT</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Proposed business rules and clarifications for confirmation; open decisions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Program Manager (BPS), 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Data owners</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extract transfer, environments, backup and restore)</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365760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Migration Lead,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Data Migration Lead (BDOI)</a:t>
                      </a:r>
                    </a:p>
                  </a:txBody>
                  <a:tcPr marL="73152" marR="73152" marT="36576" marB="36576">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Data owners of the objects (department representatives named per object) (BDOI)</a:t>
                      </a:r>
                    </a:p>
                  </a:txBody>
                  <a:tcPr marL="73152" marR="73152" marT="36576" marB="36576">
                    <a:solidFill>
                      <a:srgbClr val="E5F5FF"/>
                    </a:solidFill>
                  </a:tcPr>
                </a:tc>
                <a:tc>
                  <a:txBody>
                    <a:bodyPr/>
                    <a:lstStyle/>
                    <a:p>
                      <a:r>
                        <a:rPr sz="900" b="0">
                          <a:solidFill>
                            <a:srgbClr val="4B4B4B"/>
                          </a:solidFill>
                          <a:latin typeface="Arial"/>
                        </a:rPr>
                        <a:t>Their objects, load templates, code maps and reconciliation</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Marketing Business System (MBS) (BDOI)</a:t>
                      </a:r>
                    </a:p>
                  </a:txBody>
                  <a:tcPr marL="73152" marR="73152" marT="36576" marB="36576">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Product Owner - Comptrollership - Disbursement (BDOI)</a:t>
                      </a:r>
                    </a:p>
                  </a:txBody>
                  <a:tcPr marL="73152" marR="73152" marT="36576" marB="36576">
                    <a:solidFill>
                      <a:srgbClr val="E5F5FF"/>
                    </a:solidFill>
                  </a:tcPr>
                </a:tc>
                <a:tc>
                  <a:txBody>
                    <a:bodyPr/>
                    <a:lstStyle/>
                    <a:p>
                      <a:r>
                        <a:rPr sz="900" b="0">
                          <a:solidFill>
                            <a:srgbClr val="4B4B4B"/>
                          </a:solidFill>
                          <a:latin typeface="Arial"/>
                        </a:rPr>
                        <a:t>Payees and open disbursements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 Comptrollership - FRBS and ACSL (BDOI)</a:t>
                      </a:r>
                    </a:p>
                  </a:txBody>
                  <a:tcPr marL="73152" marR="73152" marT="36576" marB="36576">
                    <a:solidFill>
                      <a:srgbClr val="FFFFFF"/>
                    </a:solidFill>
                  </a:tcPr>
                </a:tc>
                <a:tc>
                  <a:txBody>
                    <a:bodyPr/>
                    <a:lstStyle/>
                    <a:p>
                      <a:r>
                        <a:rPr sz="900" b="0">
                          <a:solidFill>
                            <a:srgbClr val="4B4B4B"/>
                          </a:solidFill>
                          <a:latin typeface="Arial"/>
                        </a:rPr>
                        <a:t>GL opening, legacy accounts and the subsidiary ledger</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Operations: Financial Transactions and Processing (BDOI)</a:t>
                      </a:r>
                    </a:p>
                  </a:txBody>
                  <a:tcPr marL="73152" marR="73152" marT="36576" marB="36576">
                    <a:solidFill>
                      <a:srgbClr val="FFFFFF"/>
                    </a:solidFill>
                  </a:tcPr>
                </a:tc>
                <a:tc>
                  <a:txBody>
                    <a:bodyPr/>
                    <a:lstStyle/>
                    <a:p>
                      <a:r>
                        <a:rPr sz="900" b="0">
                          <a:solidFill>
                            <a:srgbClr val="4B4B4B"/>
                          </a:solidFill>
                          <a:latin typeface="Arial"/>
                        </a:rPr>
                        <a:t>Open invoices, unapplied payments, collection state and remittance</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Operations (BDOI)</a:t>
                      </a:r>
                    </a:p>
                  </a:txBody>
                  <a:tcPr marL="73152" marR="73152" marT="36576" marB="36576">
                    <a:solidFill>
                      <a:srgbClr val="E5F5FF"/>
                    </a:solidFill>
                  </a:tcPr>
                </a:tc>
                <a:tc>
                  <a:txBody>
                    <a:bodyPr/>
                    <a:lstStyle/>
                    <a:p>
                      <a:r>
                        <a:rPr sz="900" b="0">
                          <a:solidFill>
                            <a:srgbClr val="4B4B4B"/>
                          </a:solidFill>
                          <a:latin typeface="Arial"/>
                        </a:rPr>
                        <a:t>Insurers, commission rates and policy headers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Analytics and Risk Management (BDOI)</a:t>
                      </a:r>
                    </a:p>
                  </a:txBody>
                  <a:tcPr marL="73152" marR="73152" marT="36576" marB="36576">
                    <a:solidFill>
                      <a:srgbClr val="FFFFFF"/>
                    </a:solidFill>
                  </a:tcPr>
                </a:tc>
                <a:tc>
                  <a:txBody>
                    <a:bodyPr/>
                    <a:lstStyle/>
                    <a:p>
                      <a:r>
                        <a:rPr sz="900" b="0">
                          <a:solidFill>
                            <a:srgbClr val="4B4B4B"/>
                          </a:solidFill>
                          <a:latin typeface="Arial"/>
                        </a:rPr>
                        <a:t>KYC documents, the archive, Legacy Inquiry and its access log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renewal advices already sent and the day-1 renewal queue</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Clients and the sales organisation of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Open items, GL opening, reconciliation and the opening-balance adjustments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Clients and the sales organisation of Retail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Clients and the sales organisation of Corporate Marketing</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object-catalogue.png"/>
          <p:cNvPicPr>
            <a:picLocks noChangeAspect="1"/>
          </p:cNvPicPr>
          <p:nvPr/>
        </p:nvPicPr>
        <p:blipFill>
          <a:blip r:embed="rId3"/>
          <a:stretch>
            <a:fillRect/>
          </a:stretch>
        </p:blipFill>
        <p:spPr>
          <a:xfrm>
            <a:off x="548640" y="1325880"/>
            <a:ext cx="7498079" cy="2607741"/>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Object catalogue sheet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Load templates: in load order; on each template sheet the BU review rows sit above the columns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dm-01-01-view.png"/>
          <p:cNvPicPr>
            <a:picLocks noChangeAspect="1"/>
          </p:cNvPicPr>
          <p:nvPr/>
        </p:nvPicPr>
        <p:blipFill>
          <a:blip r:embed="rId3"/>
          <a:stretch>
            <a:fillRect/>
          </a:stretch>
        </p:blipFill>
        <p:spPr>
          <a:xfrm>
            <a:off x="2299123" y="1325880"/>
            <a:ext cx="1909080"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76738" y="1325880"/>
            <a:ext cx="1922584"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514560" y="3566160"/>
            <a:ext cx="1478207" cy="1874519"/>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82194" y="3566160"/>
            <a:ext cx="191167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Approver of the set</a:t>
                      </a:r>
                    </a:p>
                  </a:txBody>
                  <a:tcPr marL="73152" marR="73152" marT="36576" marB="36576">
                    <a:solidFill>
                      <a:srgbClr val="FFFFFF"/>
                    </a:solidFill>
                  </a:tcPr>
                </a:tc>
                <a:tc>
                  <a:txBody>
                    <a:bodyPr/>
                    <a:lstStyle/>
                    <a:p>
                      <a:r>
                        <a:rPr sz="1200" b="0">
                          <a:solidFill>
                            <a:srgbClr val="4B4B4B"/>
                          </a:solidFill>
                          <a:latin typeface="Arial"/>
                        </a:rPr>
                        <a:t>Product Owner, Marketing Business System</a:t>
                      </a:r>
                    </a:p>
                  </a:txBody>
                  <a:tcPr marL="73152" marR="73152" marT="36576" marB="36576">
                    <a:solidFill>
                      <a:srgbClr val="FFFFFF"/>
                    </a:solidFill>
                  </a:tcPr>
                </a:tc>
                <a:tc>
                  <a:txBody>
                    <a:bodyPr/>
                    <a:lstStyle/>
                    <a:p>
                      <a:r>
                        <a:rPr sz="1200" b="0">
                          <a:solidFill>
                            <a:srgbClr val="4B4B4B"/>
                          </a:solidFill>
                          <a:latin typeface="Arial"/>
                        </a:rPr>
                        <a:t>Owns the set and approves all of its contents, with the approvers of the BRD-13 approval pages</a:t>
                      </a:r>
                    </a:p>
                  </a:txBody>
                  <a:tcPr marL="73152" marR="73152" marT="36576" marB="36576">
                    <a:solidFill>
                      <a:srgbClr val="FFFFFF"/>
                    </a:solidFill>
                  </a:tcPr>
                </a:tc>
              </a:tr>
              <a:tr h="365760">
                <a:tc>
                  <a:txBody>
                    <a:bodyPr/>
                    <a:lstStyle/>
                    <a:p>
                      <a:r>
                        <a:rPr sz="1200" b="0">
                          <a:solidFill>
                            <a:srgbClr val="4B4B4B"/>
                          </a:solidFill>
                          <a:latin typeface="Arial"/>
                        </a:rPr>
                        <a:t>Author of the BRD; cut-over</a:t>
                      </a:r>
                    </a:p>
                  </a:txBody>
                  <a:tcPr marL="73152" marR="73152" marT="36576" marB="36576">
                    <a:solidFill>
                      <a:srgbClr val="E5F5FF"/>
                    </a:solidFill>
                  </a:tcPr>
                </a:tc>
                <a:tc>
                  <a:txBody>
                    <a:bodyPr/>
                    <a:lstStyle/>
                    <a:p>
                      <a:r>
                        <a:rPr sz="1200" b="0">
                          <a:solidFill>
                            <a:srgbClr val="4B4B4B"/>
                          </a:solidFill>
                          <a:latin typeface="Arial"/>
                        </a:rPr>
                        <a:t>Program Manager, Business Project Services</a:t>
                      </a:r>
                    </a:p>
                  </a:txBody>
                  <a:tcPr marL="73152" marR="73152" marT="36576" marB="36576">
                    <a:solidFill>
                      <a:srgbClr val="E5F5FF"/>
                    </a:solidFill>
                  </a:tcPr>
                </a:tc>
                <a:tc>
                  <a:txBody>
                    <a:bodyPr/>
                    <a:lstStyle/>
                    <a:p>
                      <a:r>
                        <a:rPr sz="12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200" b="0">
                          <a:solidFill>
                            <a:srgbClr val="4B4B4B"/>
                          </a:solidFill>
                          <a:latin typeface="Arial"/>
                        </a:rPr>
                        <a:t>Data Migration Lead</a:t>
                      </a:r>
                    </a:p>
                  </a:txBody>
                  <a:tcPr marL="73152" marR="73152" marT="36576" marB="36576">
                    <a:solidFill>
                      <a:srgbClr val="FFFFFF"/>
                    </a:solidFill>
                  </a:tcPr>
                </a:tc>
                <a:tc>
                  <a:txBody>
                    <a:bodyPr/>
                    <a:lstStyle/>
                    <a:p>
                      <a:r>
                        <a:rPr sz="1200" b="0">
                          <a:solidFill>
                            <a:srgbClr val="4B4B4B"/>
                          </a:solidFill>
                          <a:latin typeface="Arial"/>
                        </a:rPr>
                        <a:t>BDOI (to name)</a:t>
                      </a:r>
                    </a:p>
                  </a:txBody>
                  <a:tcPr marL="73152" marR="73152" marT="36576" marB="36576">
                    <a:solidFill>
                      <a:srgbClr val="FFFF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FFFFFF"/>
                    </a:solidFill>
                  </a:tcPr>
                </a:tc>
              </a:tr>
              <a:tr h="365760">
                <a:tc>
                  <a:txBody>
                    <a:bodyPr/>
                    <a:lstStyle/>
                    <a:p>
                      <a:r>
                        <a:rPr sz="1200" b="0">
                          <a:solidFill>
                            <a:srgbClr val="4B4B4B"/>
                          </a:solidFill>
                          <a:latin typeface="Arial"/>
                        </a:rPr>
                        <a:t>Data owners</a:t>
                      </a:r>
                    </a:p>
                  </a:txBody>
                  <a:tcPr marL="73152" marR="73152" marT="36576" marB="36576">
                    <a:solidFill>
                      <a:srgbClr val="E5F5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E5F5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E5F5FF"/>
                    </a:solidFill>
                  </a:tcPr>
                </a:tc>
              </a:tr>
              <a:tr h="365760">
                <a:tc>
                  <a:txBody>
                    <a:bodyPr/>
                    <a:lstStyle/>
                    <a:p>
                      <a:r>
                        <a:rPr sz="1200" b="0">
                          <a:solidFill>
                            <a:srgbClr val="4B4B4B"/>
                          </a:solidFill>
                          <a:latin typeface="Arial"/>
                        </a:rPr>
                        <a:t>Data stewards</a:t>
                      </a:r>
                    </a:p>
                  </a:txBody>
                  <a:tcPr marL="73152" marR="73152" marT="36576" marB="36576">
                    <a:solidFill>
                      <a:srgbClr val="FFFFFF"/>
                    </a:solidFill>
                  </a:tcPr>
                </a:tc>
                <a:tc>
                  <a:txBody>
                    <a:bodyPr/>
                    <a:lstStyle/>
                    <a:p>
                      <a:r>
                        <a:rPr sz="1200" b="0">
                          <a:solidFill>
                            <a:srgbClr val="4B4B4B"/>
                          </a:solidFill>
                          <a:latin typeface="Arial"/>
                        </a:rPr>
                        <a:t>Named staff per object</a:t>
                      </a:r>
                    </a:p>
                  </a:txBody>
                  <a:tcPr marL="73152" marR="73152" marT="36576" marB="36576">
                    <a:solidFill>
                      <a:srgbClr val="FFFF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FFFFFF"/>
                    </a:solidFill>
                  </a:tcPr>
                </a:tc>
              </a:tr>
              <a:tr h="365760">
                <a:tc>
                  <a:txBody>
                    <a:bodyPr/>
                    <a:lstStyle/>
                    <a:p>
                      <a:r>
                        <a:rPr sz="1200" b="0">
                          <a:solidFill>
                            <a:srgbClr val="4B4B4B"/>
                          </a:solidFill>
                          <a:latin typeface="Arial"/>
                        </a:rPr>
                        <a:t>Reconciliation approver</a:t>
                      </a:r>
                    </a:p>
                  </a:txBody>
                  <a:tcPr marL="73152" marR="73152" marT="36576" marB="36576">
                    <a:solidFill>
                      <a:srgbClr val="E5F5FF"/>
                    </a:solidFill>
                  </a:tcPr>
                </a:tc>
                <a:tc>
                  <a:txBody>
                    <a:bodyPr/>
                    <a:lstStyle/>
                    <a:p>
                      <a:r>
                        <a:rPr sz="1200" b="0">
                          <a:solidFill>
                            <a:srgbClr val="4B4B4B"/>
                          </a:solidFill>
                          <a:latin typeface="Arial"/>
                        </a:rPr>
                        <a:t>Head, Comptrollership (financial objects)</a:t>
                      </a:r>
                    </a:p>
                  </a:txBody>
                  <a:tcPr marL="73152" marR="73152" marT="36576" marB="36576">
                    <a:solidFill>
                      <a:srgbClr val="E5F5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E5F5FF"/>
                    </a:solidFill>
                  </a:tcPr>
                </a:tc>
              </a:tr>
              <a:tr h="365760">
                <a:tc>
                  <a:txBody>
                    <a:bodyPr/>
                    <a:lstStyle/>
                    <a:p>
                      <a:r>
                        <a:rPr sz="1200" b="0">
                          <a:solidFill>
                            <a:srgbClr val="4B4B4B"/>
                          </a:solidFill>
                          <a:latin typeface="Arial"/>
                        </a:rPr>
                        <a:t>BDOI IT</a:t>
                      </a:r>
                    </a:p>
                  </a:txBody>
                  <a:tcPr marL="73152" marR="73152" marT="36576" marB="36576">
                    <a:solidFill>
                      <a:srgbClr val="FFFFFF"/>
                    </a:solidFill>
                  </a:tcPr>
                </a:tc>
                <a:tc>
                  <a:txBody>
                    <a:bodyPr/>
                    <a:lstStyle/>
                    <a:p>
                      <a:r>
                        <a:rPr sz="1200" b="0">
                          <a:solidFill>
                            <a:srgbClr val="4B4B4B"/>
                          </a:solidFill>
                          <a:latin typeface="Arial"/>
                        </a:rPr>
                        <a:t>Legacy system owners</a:t>
                      </a:r>
                    </a:p>
                  </a:txBody>
                  <a:tcPr marL="73152" marR="73152" marT="36576" marB="36576">
                    <a:solidFill>
                      <a:srgbClr val="FFFF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FFFFFF"/>
                    </a:solidFill>
                  </a:tcPr>
                </a:tc>
              </a:tr>
              <a:tr h="365760">
                <a:tc>
                  <a:txBody>
                    <a:bodyPr/>
                    <a:lstStyle/>
                    <a:p>
                      <a:r>
                        <a:rPr sz="1200" b="0">
                          <a:solidFill>
                            <a:srgbClr val="4B4B4B"/>
                          </a:solidFill>
                          <a:latin typeface="Arial"/>
                        </a:rPr>
                        <a:t>iorta TechNXT</a:t>
                      </a:r>
                    </a:p>
                  </a:txBody>
                  <a:tcPr marL="73152" marR="73152" marT="36576" marB="36576">
                    <a:solidFill>
                      <a:srgbClr val="E5F5FF"/>
                    </a:solidFill>
                  </a:tcPr>
                </a:tc>
                <a:tc>
                  <a:txBody>
                    <a:bodyPr/>
                    <a:lstStyle/>
                    <a:p>
                      <a:r>
                        <a:rPr sz="1200" b="0">
                          <a:solidFill>
                            <a:srgbClr val="4B4B4B"/>
                          </a:solidFill>
                          <a:latin typeface="Arial"/>
                        </a:rPr>
                        <a:t>Project Manager, Migration Lead, Migration Operator</a:t>
                      </a:r>
                    </a:p>
                  </a:txBody>
                  <a:tcPr marL="73152" marR="73152" marT="36576" marB="36576">
                    <a:solidFill>
                      <a:srgbClr val="E5F5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67 rules on the Business rules sheet and 216 messages in Handbook Part B, chapter 21 and on the Messages sheet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as on the BRD-13 approval pages: prepared by iorta TechNXT and the Program Manager, input from the Data Migration Lead and the data owners, reviewed by MBS and BDOI IT, approved by the Product Owner and the approvers.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 with the approvers of the BRD-13 approval pages</a:t>
                      </a:r>
                    </a:p>
                  </a:txBody>
                  <a:tcPr marL="73152" marR="73152" marT="36576" marB="36576">
                    <a:solidFill>
                      <a:srgbClr val="FFFFFF"/>
                    </a:solidFill>
                  </a:tcPr>
                </a:tc>
                <a:tc>
                  <a:txBody>
                    <a:bodyPr/>
                    <a:lstStyle/>
                    <a:p>
                      <a:r>
                        <a:rPr sz="1000" b="0">
                          <a:solidFill>
                            <a:srgbClr val="4B4B4B"/>
                          </a:solidFill>
                          <a:latin typeface="Arial"/>
                        </a:rPr>
                        <a:t>Owns the set and approves all of its contents; chairs the sign-off meeting</a:t>
                      </a:r>
                    </a:p>
                  </a:txBody>
                  <a:tcPr marL="73152" marR="73152" marT="36576" marB="36576">
                    <a:solidFill>
                      <a:srgbClr val="FFFFFF"/>
                    </a:solidFill>
                  </a:tcPr>
                </a:tc>
              </a:tr>
              <a:tr h="365760">
                <a:tc>
                  <a:txBody>
                    <a:bodyPr/>
                    <a:lstStyle/>
                    <a:p>
                      <a:r>
                        <a:rPr sz="1000" b="0">
                          <a:solidFill>
                            <a:srgbClr val="4B4B4B"/>
                          </a:solidFill>
                          <a:latin typeface="Arial"/>
                        </a:rPr>
                        <a:t>BRD author and cut-over owner</a:t>
                      </a:r>
                    </a:p>
                  </a:txBody>
                  <a:tcPr marL="73152" marR="73152" marT="36576" marB="36576">
                    <a:solidFill>
                      <a:srgbClr val="E5F5FF"/>
                    </a:solidFill>
                  </a:tcPr>
                </a:tc>
                <a:tc>
                  <a:txBody>
                    <a:bodyPr/>
                    <a:lstStyle/>
                    <a:p>
                      <a:r>
                        <a:rPr sz="1000" b="0">
                          <a:solidFill>
                            <a:srgbClr val="4B4B4B"/>
                          </a:solidFill>
                          <a:latin typeface="Arial"/>
                        </a:rPr>
                        <a:t>Program Manager, Business Project Services</a:t>
                      </a:r>
                    </a:p>
                  </a:txBody>
                  <a:tcPr marL="73152" marR="73152" marT="36576" marB="36576">
                    <a:solidFill>
                      <a:srgbClr val="E5F5FF"/>
                    </a:solidFill>
                  </a:tcPr>
                </a:tc>
                <a:tc>
                  <a:txBody>
                    <a:bodyPr/>
                    <a:lstStyle/>
                    <a:p>
                      <a:r>
                        <a:rPr sz="10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000" b="0">
                          <a:solidFill>
                            <a:srgbClr val="4B4B4B"/>
                          </a:solidFill>
                          <a:latin typeface="Arial"/>
                        </a:rPr>
                        <a:t>Data owners</a:t>
                      </a:r>
                    </a:p>
                  </a:txBody>
                  <a:tcPr marL="73152" marR="73152" marT="36576" marB="36576">
                    <a:solidFill>
                      <a:srgbClr val="FFFFFF"/>
                    </a:solidFill>
                  </a:tcPr>
                </a:tc>
                <a:tc>
                  <a:txBody>
                    <a:bodyPr/>
                    <a:lstStyle/>
                    <a:p>
                      <a:r>
                        <a:rPr sz="1000" b="0">
                          <a:solidFill>
                            <a:srgbClr val="4B4B4B"/>
                          </a:solidFill>
                          <a:latin typeface="Arial"/>
                        </a:rPr>
                        <a:t>Department heads per object</a:t>
                      </a:r>
                    </a:p>
                  </a:txBody>
                  <a:tcPr marL="73152" marR="73152" marT="36576" marB="36576">
                    <a:solidFill>
                      <a:srgbClr val="FFFF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FFFFFF"/>
                    </a:solidFill>
                  </a:tcPr>
                </a:tc>
              </a:tr>
              <a:tr h="365760">
                <a:tc>
                  <a:txBody>
                    <a:bodyPr/>
                    <a:lstStyle/>
                    <a:p>
                      <a:r>
                        <a:rPr sz="1000" b="0">
                          <a:solidFill>
                            <a:srgbClr val="4B4B4B"/>
                          </a:solidFill>
                          <a:latin typeface="Arial"/>
                        </a:rPr>
                        <a:t>Comptrollership</a:t>
                      </a:r>
                    </a:p>
                  </a:txBody>
                  <a:tcPr marL="73152" marR="73152" marT="36576" marB="36576">
                    <a:solidFill>
                      <a:srgbClr val="E5F5FF"/>
                    </a:solidFill>
                  </a:tcPr>
                </a:tc>
                <a:tc>
                  <a:txBody>
                    <a:bodyPr/>
                    <a:lstStyle/>
                    <a:p>
                      <a:r>
                        <a:rPr sz="1000" b="0">
                          <a:solidFill>
                            <a:srgbClr val="4B4B4B"/>
                          </a:solidFill>
                          <a:latin typeface="Arial"/>
                        </a:rPr>
                        <a:t>Head, Comptrollership</a:t>
                      </a:r>
                    </a:p>
                  </a:txBody>
                  <a:tcPr marL="73152" marR="73152" marT="36576" marB="36576">
                    <a:solidFill>
                      <a:srgbClr val="E5F5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E5F5FF"/>
                    </a:solidFill>
                  </a:tcPr>
                </a:tc>
              </a:tr>
              <a:tr h="365760">
                <a:tc>
                  <a:txBody>
                    <a:bodyPr/>
                    <a:lstStyle/>
                    <a:p>
                      <a:r>
                        <a:rPr sz="1000" b="0">
                          <a:solidFill>
                            <a:srgbClr val="4B4B4B"/>
                          </a:solidFill>
                          <a:latin typeface="Arial"/>
                        </a:rPr>
                        <a:t>BDOI IT</a:t>
                      </a:r>
                    </a:p>
                  </a:txBody>
                  <a:tcPr marL="73152" marR="73152" marT="36576" marB="36576">
                    <a:solidFill>
                      <a:srgbClr val="FFFFFF"/>
                    </a:solidFill>
                  </a:tcPr>
                </a:tc>
                <a:tc>
                  <a:txBody>
                    <a:bodyPr/>
                    <a:lstStyle/>
                    <a:p>
                      <a:r>
                        <a:rPr sz="1000" b="0">
                          <a:solidFill>
                            <a:srgbClr val="4B4B4B"/>
                          </a:solidFill>
                          <a:latin typeface="Arial"/>
                        </a:rPr>
                        <a:t>Head, BDOI IT</a:t>
                      </a:r>
                    </a:p>
                  </a:txBody>
                  <a:tcPr marL="73152" marR="73152" marT="36576" marB="36576">
                    <a:solidFill>
                      <a:srgbClr val="FFFF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FFFFFF"/>
                    </a:solidFill>
                  </a:tcPr>
                </a:tc>
              </a:tr>
              <a:tr h="365760">
                <a:tc>
                  <a:txBody>
                    <a:bodyPr/>
                    <a:lstStyle/>
                    <a:p>
                      <a:r>
                        <a:rPr sz="1000" b="0">
                          <a:solidFill>
                            <a:srgbClr val="4B4B4B"/>
                          </a:solidFill>
                          <a:latin typeface="Arial"/>
                        </a:rPr>
                        <a:t>Compliance</a:t>
                      </a:r>
                    </a:p>
                  </a:txBody>
                  <a:tcPr marL="73152" marR="73152" marT="36576" marB="36576">
                    <a:solidFill>
                      <a:srgbClr val="E5F5FF"/>
                    </a:solidFill>
                  </a:tcPr>
                </a:tc>
                <a:tc>
                  <a:txBody>
                    <a:bodyPr/>
                    <a:lstStyle/>
                    <a:p>
                      <a:r>
                        <a:rPr sz="1000" b="0">
                          <a:solidFill>
                            <a:srgbClr val="4B4B4B"/>
                          </a:solidFill>
                          <a:latin typeface="Arial"/>
                        </a:rPr>
                        <a:t>Compliance; Analytics and Risk Management</a:t>
                      </a:r>
                    </a:p>
                  </a:txBody>
                  <a:tcPr marL="73152" marR="73152" marT="36576" marB="36576">
                    <a:solidFill>
                      <a:srgbClr val="E5F5FF"/>
                    </a:solidFill>
                  </a:tcPr>
                </a:tc>
                <a:tc>
                  <a:txBody>
                    <a:bodyPr/>
                    <a:lstStyle/>
                    <a:p>
                      <a:r>
                        <a:rPr sz="1000" b="0">
                          <a:solidFill>
                            <a:srgbClr val="4B4B4B"/>
                          </a:solidFill>
                          <a:latin typeface="Arial"/>
                        </a:rPr>
                        <a:t>Masking, archive, Legacy Inquiry and its access log</a:t>
                      </a:r>
                    </a:p>
                  </a:txBody>
                  <a:tcPr marL="73152" marR="73152" marT="36576" marB="36576">
                    <a:solidFill>
                      <a:srgbClr val="E5F5FF"/>
                    </a:solidFill>
                  </a:tcPr>
                </a:tc>
              </a:tr>
              <a:tr h="365760">
                <a:tc>
                  <a:txBody>
                    <a:bodyPr/>
                    <a:lstStyle/>
                    <a:p>
                      <a:r>
                        <a:rPr sz="1000" b="0">
                          <a:solidFill>
                            <a:srgbClr val="4B4B4B"/>
                          </a:solidFill>
                          <a:latin typeface="Arial"/>
                        </a:rPr>
                        <a:t>Delivery</a:t>
                      </a:r>
                    </a:p>
                  </a:txBody>
                  <a:tcPr marL="73152" marR="73152" marT="36576" marB="36576">
                    <a:solidFill>
                      <a:srgbClr val="FFFF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FFFF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