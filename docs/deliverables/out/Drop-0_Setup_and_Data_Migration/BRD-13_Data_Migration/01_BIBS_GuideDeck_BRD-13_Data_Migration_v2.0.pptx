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BRD-13 Data Migration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Data Migration Handbook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Data Migration Handbook. Each role starts with its chapters and its sheets of the workbook; the trial migrations of Handbook Part A, chapter 10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Set issued: Day 0 (Mon 5-Oct-2026).</a:t>
            </a:r>
          </a:p>
          <a:p>
            <a:r>
              <a:t>2. Kick-off and walkthrough of the Migration Console on SIT: 3 sessions, 7 to 9-Oct-2026.</a:t>
            </a:r>
          </a:p>
          <a:p>
            <a:r>
              <a:t>3. Review with the workbook; decisions on the proposed rules: Until Wed 21-Oct-2026 (M1 rules by Fri 16-Oct-2026).</a:t>
            </a:r>
          </a:p>
          <a:p>
            <a:r>
              <a:t>4. Comments consolidated and a Q&amp;A session: 3 working days, Q&amp;A on Mon 26-Oct-2026.</a:t>
            </a:r>
          </a:p>
          <a:p>
            <a:r>
              <a:t>5. One revision cycle (v2.1): v2.1 on Wed 28-Oct-2026; check by the reviewers until Thu 29-Oct-2026.</a:t>
            </a:r>
          </a:p>
          <a:p>
            <a:r>
              <a:t>6. Sign-off meeting and signature: Fri 30-Oct-2026 (M2).</a:t>
            </a:r>
          </a:p>
          <a:p>
            <a:r>
              <a:t>7. Handover to the migration runs: From Mon 2-Nov-2026.</a:t>
            </a:r>
          </a:p>
          <a:p>
            <a:r>
              <a:t>8. Traceability into the trial migrations, SIT and UAT: Trial migrations Apr - Oct 2027; dress rehearsal Nov 2027; cut-over Jan 2028.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Data Migration Handbook,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object goes through the same steps in every trial migration, the dress rehearsal and the production cut-over. The gates are signed in the Migration Console; a break sends the batch back to validation with a fix at source, a new code map version or a waiver. Gate G7 is the go / no-go of the whole cut-over.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Handbook Part B, chapter 17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Handbook Part B, chapter 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follows the BRD: a stable Day-1 with clean master data and the open positions carried forward. History is not converted into BIBS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decisions are proposals that each business owner confirms at gate G1 in the Migration Console. Conditional objects wait for BDOI's decision (proposed rule PR-DM-05).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names the owners and stewards by 30 October 2026 (M2). The workbook sheet Data owners has the columns for the names.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 uses fresh masked extracts, so every fix is proven with new data. The production cut-over repeats the rehearsed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maker of a batch cannot sign its reconciliation or acceptance, and one person cannot sign two gates of one batch.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the go / no-go decision the rollback restores the snapshot taken before the production load and legacy reopens. After the point of no return issues are fixed forward in BIBS.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work migrated and new records on the same screens. The report Changes to Legacy Invoices shows every change made in BIBS to a legacy invoice.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Data Migration loads every object through the module that owns it and hands the open items to Operations, Collections, Cashiering, Commission, Remittance, Accounting and Renewal, which process them after go-live. A later change in any of those BRDs that touches a line of this contract (a new mandatory field of a client, account or invoice, another accounting rule for the legacy items, another renewal lead time) is raised as a change request against this signed set in the Change Management Register, assessed for its effect on the layouts, the code maps, the reconciliation and the cut-over plan, and approved by the owners of both BRDs; the affected pages and layouts of this set are then re-issued and signed as a delta.</a:t>
            </a:r>
          </a:p>
          <a:p>
            <a:r>
              <a:t>IC-01 BRD-1 New Business (Out): Migrated clients (C01) with their identity, contacts, addresses, segment, AO and KYC status; payout accounts (C03); one BIBS client per matched cluster, found by any legacy client number</a:t>
            </a:r>
          </a:p>
          <a:p>
            <a:r>
              <a:t>IC-02 BRD-1 New Business; BRD-2 Operations (Out): In-force policy headers (P01, P01S) as booked accounts of origin Migrated with the legacy package as given; the legacy invoices link to them</a:t>
            </a:r>
          </a:p>
          <a:p>
            <a:r>
              <a:t>IC-03 BRD-2 Operations (Out): Open legacy invoices (F01, F01S, F01C) in the Operations ledger with their components, insurer shares and values at cut-over; endorsements of legacy invoices booked in the legacy context</a:t>
            </a:r>
          </a:p>
          <a:p>
            <a:r>
              <a:t>IC-04 BRD-2 Operations (Cashiering) (Out): Legacy unapplied payments (F02) with the legacy AR, references and disposition in progress; the Unapplied to Income and Legacy PR 2307 Reversal batches</a:t>
            </a:r>
          </a:p>
          <a:p>
            <a:r>
              <a:t>IC-05 BRD-4 Collections (Out): Open collection state (F03) - dispositions, promises to pay, instalment plans and collector assignments of the open legacy invoices, carried as the legacy follow-up of the worklist item; tags "DP PR for reversal"</a:t>
            </a:r>
          </a:p>
          <a:p>
            <a:r>
              <a:t>IC-06 BRD-2 Operations (Commission); BRD-4 (Out): The DP PR Legacy Reversal of legacy invoices paid directly to the insurer</a:t>
            </a:r>
          </a:p>
          <a:p>
            <a:r>
              <a:t>IC-07 BRD-5 Accounting (FRBS, ACSL) (In and Out): In: the chart of accounts, the legacy control accounts and Migration Clearing, and the accounting rules of the legacy components (set up by Comptrollership). Out: the provisional GL opening (G01), the opening entries of the invoices and unapplied payments, the opening-balance adjustments (G03); the legacy context of the GL to sub-ledger reconciliation</a:t>
            </a:r>
          </a:p>
          <a:p>
            <a:r>
              <a:t>IC-08 BRD-6 Renewal (Out): The migrated policy headers expiring from go-live to 31 May 2028 and the renewal advices already sent (P03) for the go-live renewal extraction; the package code map (R06) for the package check at sanitation; the migrated headers for the daily extraction from 1 June 2028</a:t>
            </a:r>
          </a:p>
          <a:p>
            <a:r>
              <a:t>IC-09 BRD-3 Product Maintenance (In): Products, package versions, insurers and commission rates of BIBS, which the code maps target; values created from the migration (CREATE entries) are authorised in their masters</a:t>
            </a:r>
          </a:p>
          <a:p>
            <a:r>
              <a:t>IC-10 BRD-10 Sanction Screening (Out): Migrated clients for one full screening run after the client load (no screening per client during the load)</a:t>
            </a:r>
          </a:p>
          <a:p>
            <a:r>
              <a:t>IC-11 BRD-11 User Access Maintenance (In): The users of the migration roles and of every persona, created through User Access requests; legacy user IDs are only mapped (user code map)</a:t>
            </a:r>
          </a:p>
          <a:p>
            <a:r>
              <a:t>IC-12 BDOI IT (legacy EBIX, QPS, ISYS, CMS) (In): Extracts in the load templates with their control files; the legacy freeze and read-only mode; the document transfer folder; the read-only addresses of the legacy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Handover means the objects are decided, the layouts are frozen and the first full extracts are prepared for 29 January 2027.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console walkthrough on Wed 7-Oct-2026</a:t>
            </a:r>
          </a:p>
          <a:p>
            <a:r>
              <a:t>Decisions on the M1 rules by Fri 16-Oct-2026; workbooks returned by Wed 21-Oct-2026</a:t>
            </a:r>
          </a:p>
          <a:p>
            <a:r>
              <a:t>Q&amp;A on Mon 26-Oct-2026; sign-off on Fri 30-Oct-2026 (M2)</a:t>
            </a:r>
          </a:p>
          <a:p>
            <a:r>
              <a:t>First full extracts in the templates by Fri 29-Jan-2027 (M3); Trial migration 1 from 19-Apr-2027</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Data Migration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20 screens, 189 fields, 67 business rules, 216 messages</a:t>
            </a:r>
          </a:p>
          <a:p>
            <a:pPr lvl="1">
              <a:spcAft>
                <a:spcPts val="600"/>
              </a:spcAft>
            </a:pPr>
            <a:r>
              <a:rPr sz="1600">
                <a:solidFill>
                  <a:srgbClr val="656565"/>
                </a:solidFill>
                <a:latin typeface="Arial"/>
              </a:rPr>
              <a:t>–  </a:t>
            </a:r>
            <a:r>
              <a:rPr sz="1600">
                <a:solidFill>
                  <a:srgbClr val="4B4B4B"/>
                </a:solidFill>
                <a:latin typeface="Arial"/>
              </a:rPr>
              <a:t>Every screen of the Migration Console with numbered fields, the migration catalogue (objects, load templates, code maps, rules, owners), the cut-over plan and the reconciliation sign-off</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00_BIBS_StartHere_BRD-13_Data_Migration_v2.0.docx</a:t>
                      </a:r>
                    </a:p>
                  </a:txBody>
                  <a:tcPr marL="73152" marR="73152" marT="36576" marB="36576">
                    <a:solidFill>
                      <a:srgbClr val="FFFFFF"/>
                    </a:solidFill>
                  </a:tcPr>
                </a:tc>
                <a:tc>
                  <a:txBody>
                    <a:bodyPr/>
                    <a:lstStyle/>
                    <a:p>
                      <a:r>
                        <a:rPr sz="1000" b="0">
                          <a:solidFill>
                            <a:srgbClr val="4B4B4B"/>
                          </a:solidFill>
                          <a:latin typeface="Arial"/>
                        </a:rPr>
                        <a:t>Start Here: the map of the set, who reads what, the steps up to sign-off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01_BIBS_GuideDeck_BRD-13_Data_Migration_v2.0.pptx</a:t>
                      </a:r>
                    </a:p>
                  </a:txBody>
                  <a:tcPr marL="73152" marR="73152" marT="36576" marB="36576">
                    <a:solidFill>
                      <a:srgbClr val="E5F5FF"/>
                    </a:solidFill>
                  </a:tcPr>
                </a:tc>
                <a:tc>
                  <a:txBody>
                    <a:bodyPr/>
                    <a:lstStyle/>
                    <a:p>
                      <a:r>
                        <a:rPr sz="1000" b="0">
                          <a:solidFill>
                            <a:srgbClr val="4B4B4B"/>
                          </a:solidFill>
                          <a:latin typeface="Arial"/>
                        </a:rPr>
                        <a:t>Guide deck: the migration approach, the objects and decisions, roles and data owners, trial migrations and dress rehearsal, sign-off gates, cut-over and go / no-go, migrated and new data, caveats, entry and exit criteria, handover</a:t>
                      </a:r>
                    </a:p>
                  </a:txBody>
                  <a:tcPr marL="73152" marR="73152" marT="36576" marB="36576">
                    <a:solidFill>
                      <a:srgbClr val="E5F5FF"/>
                    </a:solidFill>
                  </a:tcPr>
                </a:tc>
                <a:tc>
                  <a:txBody>
                    <a:bodyPr/>
                    <a:lstStyle/>
                    <a:p>
                      <a:r>
                        <a:rPr sz="1000" b="0">
                          <a:solidFill>
                            <a:srgbClr val="4B4B4B"/>
                          </a:solidFill>
                          <a:latin typeface="Arial"/>
                        </a:rPr>
                        <a:t>Business owner, data owners, Comptrollership,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02_BIBS_Handbook_BRD-13_Data_Migration_v2.0.docx</a:t>
                      </a:r>
                    </a:p>
                  </a:txBody>
                  <a:tcPr marL="73152" marR="73152" marT="36576" marB="36576">
                    <a:solidFill>
                      <a:srgbClr val="FFFFFF"/>
                    </a:solidFill>
                  </a:tcPr>
                </a:tc>
                <a:tc>
                  <a:txBody>
                    <a:bodyPr/>
                    <a:lstStyle/>
                    <a:p>
                      <a:r>
                        <a:rPr sz="1000" b="0">
                          <a:solidFill>
                            <a:srgbClr val="4B4B4B"/>
                          </a:solidFill>
                          <a:latin typeface="Arial"/>
                        </a:rPr>
                        <a:t>Data Migration Handbook: A strategy and approach; B functional specification of the Migration Console with screenshots, fields, actions, rules and messages, the markers of migrated data and the legacy batches; C reconciliation and the sign-off gates per object; D the cut-over runbook, run-off and decommissioning; the proposed rules for confirmation</a:t>
                      </a:r>
                    </a:p>
                  </a:txBody>
                  <a:tcPr marL="73152" marR="73152" marT="36576" marB="36576">
                    <a:solidFill>
                      <a:srgbClr val="FFFFFF"/>
                    </a:solidFill>
                  </a:tcPr>
                </a:tc>
                <a:tc>
                  <a:txBody>
                    <a:bodyPr/>
                    <a:lstStyle/>
                    <a:p>
                      <a:r>
                        <a:rPr sz="1000" b="0">
                          <a:solidFill>
                            <a:srgbClr val="4B4B4B"/>
                          </a:solidFill>
                          <a:latin typeface="Arial"/>
                        </a:rPr>
                        <a:t>Data owners and Comptrollership for their objects and parts; BDOI IT; the Renewal processing team</a:t>
                      </a:r>
                    </a:p>
                  </a:txBody>
                  <a:tcPr marL="73152" marR="73152" marT="36576" marB="36576">
                    <a:solidFill>
                      <a:srgbClr val="FFFFFF"/>
                    </a:solidFill>
                  </a:tcPr>
                </a:tc>
                <a:tc>
                  <a:txBody>
                    <a:bodyPr/>
                    <a:lstStyle/>
                    <a:p>
                      <a:r>
                        <a:rPr sz="1000" b="0">
                          <a:solidFill>
                            <a:srgbClr val="4B4B4B"/>
                          </a:solidFill>
                          <a:latin typeface="Arial"/>
                        </a:rPr>
                        <a:t>During the review, with the console walkthroughs</a:t>
                      </a:r>
                    </a:p>
                  </a:txBody>
                  <a:tcPr marL="73152" marR="73152" marT="36576" marB="36576">
                    <a:solidFill>
                      <a:srgbClr val="FFFFFF"/>
                    </a:solidFill>
                  </a:tcPr>
                </a:tc>
              </a:tr>
              <a:tr h="365760">
                <a:tc>
                  <a:txBody>
                    <a:bodyPr/>
                    <a:lstStyle/>
                    <a:p>
                      <a:r>
                        <a:rPr sz="1000" b="0">
                          <a:solidFill>
                            <a:srgbClr val="4B4B4B"/>
                          </a:solidFill>
                          <a:latin typeface="Arial"/>
                        </a:rPr>
                        <a:t>03_BIBS_Workbook_BRD-13_Data_Migration_v2.0.xlsx</a:t>
                      </a:r>
                    </a:p>
                  </a:txBody>
                  <a:tcPr marL="73152" marR="73152" marT="36576" marB="36576">
                    <a:solidFill>
                      <a:srgbClr val="E5F5FF"/>
                    </a:solidFill>
                  </a:tcPr>
                </a:tc>
                <a:tc>
                  <a:txBody>
                    <a:bodyPr/>
                    <a:lstStyle/>
                    <a:p>
                      <a:r>
                        <a:rPr sz="1000" b="0">
                          <a:solidFill>
                            <a:srgbClr val="4B4B4B"/>
                          </a:solidFill>
                          <a:latin typeface="Arial"/>
                        </a:rPr>
                        <a:t>Migration Workbook: object catalogue and decisions, extract planning, the load templates (one sheet per layout), code maps, validation rules, data owners, cut-over task plan, reconciliation sign-off per object, proposed rules with the BDOI decision, the screens;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04_BIBS_TestPlan_BRD-13_Data_Migration_v2.0.xlsx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requirements and to the screens, with the trial migration, reconciliation, rollback, rerun and cut-over rehearsal scenarios</a:t>
                      </a:r>
                    </a:p>
                  </a:txBody>
                  <a:tcPr marL="73152" marR="73152" marT="36576" marB="36576">
                    <a:solidFill>
                      <a:srgbClr val="FFFFFF"/>
                    </a:solidFill>
                  </a:tcPr>
                </a:tc>
                <a:tc>
                  <a:txBody>
                    <a:bodyPr/>
                    <a:lstStyle/>
                    <a:p>
                      <a:r>
                        <a:rPr sz="1000" b="0">
                          <a:solidFill>
                            <a:srgbClr val="4B4B4B"/>
                          </a:solidFill>
                          <a:latin typeface="Arial"/>
                        </a:rPr>
                        <a:t>Data owners who verify the trial migrations; BDOI IT</a:t>
                      </a:r>
                    </a:p>
                  </a:txBody>
                  <a:tcPr marL="73152" marR="73152" marT="36576" marB="36576">
                    <a:solidFill>
                      <a:srgbClr val="FFFFFF"/>
                    </a:solidFill>
                  </a:tcPr>
                </a:tc>
                <a:tc>
                  <a:txBody>
                    <a:bodyPr/>
                    <a:lstStyle/>
                    <a:p>
                      <a:r>
                        <a:rPr sz="1000" b="0">
                          <a:solidFill>
                            <a:srgbClr val="4B4B4B"/>
                          </a:solidFill>
                          <a:latin typeface="Arial"/>
                        </a:rPr>
                        <a:t>After the handbook; used again in the trial migrations</a:t>
                      </a:r>
                    </a:p>
                  </a:txBody>
                  <a:tcPr marL="73152" marR="73152" marT="36576" marB="36576">
                    <a:solidFill>
                      <a:srgbClr val="FFFFFF"/>
                    </a:solidFill>
                  </a:tcPr>
                </a:tc>
              </a:tr>
              <a:tr h="365760">
                <a:tc>
                  <a:txBody>
                    <a:bodyPr/>
                    <a:lstStyle/>
                    <a:p>
                      <a:r>
                        <a:rPr sz="1000" b="0">
                          <a:solidFill>
                            <a:srgbClr val="4B4B4B"/>
                          </a:solidFill>
                          <a:latin typeface="Arial"/>
                        </a:rPr>
                        <a:t>05_BIBS_TestPlan_BRD-13_Data_Migration_Summary_v2.0.docx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(Program Manager, Business Project Services)</a:t>
                      </a:r>
                    </a:p>
                  </a:txBody>
                  <a:tcPr marL="73152" marR="73152" marT="36576" marB="36576">
                    <a:solidFill>
                      <a:srgbClr val="FFFFFF"/>
                    </a:solidFill>
                  </a:tcPr>
                </a:tc>
                <a:tc>
                  <a:txBody>
                    <a:bodyPr/>
                    <a:lstStyle/>
                    <a:p>
                      <a:r>
                        <a:rPr sz="1100" b="0">
                          <a:solidFill>
                            <a:srgbClr val="4B4B4B"/>
                          </a:solidFill>
                          <a:latin typeface="Arial"/>
                        </a:rPr>
                        <a:t>00 Start Here; 01 Guide deck; Handbook Part A (approach, objects and decisions, cycles, cut-over) and the chapter Proposed business rules and clarifications for confirmation; workbook sheets Object catalogue, Proposed rules and Sign-off certificate</a:t>
                      </a:r>
                    </a:p>
                  </a:txBody>
                  <a:tcPr marL="73152" marR="73152" marT="36576" marB="36576">
                    <a:solidFill>
                      <a:srgbClr val="FFFFFF"/>
                    </a:solidFill>
                  </a:tcPr>
                </a:tc>
              </a:tr>
              <a:tr h="365760">
                <a:tc>
                  <a:txBody>
                    <a:bodyPr/>
                    <a:lstStyle/>
                    <a:p>
                      <a:r>
                        <a:rPr sz="1100" b="0">
                          <a:solidFill>
                            <a:srgbClr val="4B4B4B"/>
                          </a:solidFill>
                          <a:latin typeface="Arial"/>
                        </a:rPr>
                        <a:t>Data owners per object: Marketing Business System (R01, R05, R06, C01, C03); Heads of Retail and Corporate Marketing (R03, C01); Operations (R04, R07, P01, F01-F04, F06); Comptrollership (R02, R08, F01, F02, G01, G03); Disbursement (R09, C03); Compliance and Analytics (C04, H01, H02); Renewal processing team (P03)</a:t>
                      </a:r>
                    </a:p>
                  </a:txBody>
                  <a:tcPr marL="73152" marR="73152" marT="36576" marB="36576">
                    <a:solidFill>
                      <a:srgbClr val="E5F5FF"/>
                    </a:solidFill>
                  </a:tcPr>
                </a:tc>
                <a:tc>
                  <a:txBody>
                    <a:bodyPr/>
                    <a:lstStyle/>
                    <a:p>
                      <a:r>
                        <a:rPr sz="1100" b="0">
                          <a:solidFill>
                            <a:srgbClr val="4B4B4B"/>
                          </a:solidFill>
                          <a:latin typeface="Arial"/>
                        </a:rPr>
                        <a:t>Handbook Part A chapter 3 (objects and decisions) and chapter 6 (templates and mapping); the load template sheets of your objects, Code maps and Validation rules; Part C chapters 32 and 34 for the reconciliation and the samples you verify; workbook sheets Object catalogue, Data owners, Extract planning, Reconciliation sign-off</a:t>
                      </a:r>
                    </a:p>
                  </a:txBody>
                  <a:tcPr marL="73152" marR="73152" marT="36576" marB="36576">
                    <a:solidFill>
                      <a:srgbClr val="E5F5FF"/>
                    </a:solidFill>
                  </a:tcPr>
                </a:tc>
              </a:tr>
              <a:tr h="365760">
                <a:tc>
                  <a:txBody>
                    <a:bodyPr/>
                    <a:lstStyle/>
                    <a:p>
                      <a:r>
                        <a:rPr sz="1100" b="0">
                          <a:solidFill>
                            <a:srgbClr val="4B4B4B"/>
                          </a:solidFill>
                          <a:latin typeface="Arial"/>
                        </a:rPr>
                        <a:t>Comptrollership</a:t>
                      </a:r>
                    </a:p>
                  </a:txBody>
                  <a:tcPr marL="73152" marR="73152" marT="36576" marB="36576">
                    <a:solidFill>
                      <a:srgbClr val="FFFFFF"/>
                    </a:solidFill>
                  </a:tcPr>
                </a:tc>
                <a:tc>
                  <a:txBody>
                    <a:bodyPr/>
                    <a:lstStyle/>
                    <a:p>
                      <a:r>
                        <a:rPr sz="1100" b="0">
                          <a:solidFill>
                            <a:srgbClr val="4B4B4B"/>
                          </a:solidFill>
                          <a:latin typeface="Arial"/>
                        </a:rPr>
                        <a:t>Handbook Part A chapter 7 (legacy invoices and sub-ledgers) and chapter 11 (cut-over strategy); Part D chapter 44 (year-end cut-over); Part B screens Reconciliation and Opening-Balance Adjustments; Part C chapter 33 (Migration Clearing and the adjustment reconciliation); the proposed rules PR-DM-01, 02, 06, 10 and 14; workbook sheets G01, G03, G03D, F01C and Reconciliation sign-off</a:t>
                      </a:r>
                    </a:p>
                  </a:txBody>
                  <a:tcPr marL="73152" marR="73152" marT="36576" marB="36576">
                    <a:solidFill>
                      <a:srgbClr val="FFFFFF"/>
                    </a:solidFill>
                  </a:tcPr>
                </a:tc>
              </a:tr>
              <a:tr h="365760">
                <a:tc>
                  <a:txBody>
                    <a:bodyPr/>
                    <a:lstStyle/>
                    <a:p>
                      <a:r>
                        <a:rPr sz="1100" b="0">
                          <a:solidFill>
                            <a:srgbClr val="4B4B4B"/>
                          </a:solidFill>
                          <a:latin typeface="Arial"/>
                        </a:rPr>
                        <a:t>Renewal processing team</a:t>
                      </a:r>
                    </a:p>
                  </a:txBody>
                  <a:tcPr marL="73152" marR="73152" marT="36576" marB="36576">
                    <a:solidFill>
                      <a:srgbClr val="E5F5FF"/>
                    </a:solidFill>
                  </a:tcPr>
                </a:tc>
                <a:tc>
                  <a:txBody>
                    <a:bodyPr/>
                    <a:lstStyle/>
                    <a:p>
                      <a:r>
                        <a:rPr sz="1100" b="0">
                          <a:solidFill>
                            <a:srgbClr val="4B4B4B"/>
                          </a:solidFill>
                          <a:latin typeface="Arial"/>
                        </a:rPr>
                        <a:t>Handbook Part A chapter 8 (renewal-driven transition); Part B Batches (resubmissions of the RA-sent file); Part D tasks of the go-live renewal extraction and the day-1 queue; workbook sheet P03 and the load template workbook of P03 exported by the console</a:t>
                      </a:r>
                    </a:p>
                  </a:txBody>
                  <a:tcPr marL="73152" marR="73152" marT="36576" marB="36576">
                    <a:solidFill>
                      <a:srgbClr val="E5F5FF"/>
                    </a:solidFill>
                  </a:tcPr>
                </a:tc>
              </a:tr>
              <a:tr h="365760">
                <a:tc>
                  <a:txBody>
                    <a:bodyPr/>
                    <a:lstStyle/>
                    <a:p>
                      <a:r>
                        <a:rPr sz="1100" b="0">
                          <a:solidFill>
                            <a:srgbClr val="4B4B4B"/>
                          </a:solidFill>
                          <a:latin typeface="Arial"/>
                        </a:rPr>
                        <a:t>BDOI IT</a:t>
                      </a:r>
                    </a:p>
                  </a:txBody>
                  <a:tcPr marL="73152" marR="73152" marT="36576" marB="36576">
                    <a:solidFill>
                      <a:srgbClr val="FFFFFF"/>
                    </a:solidFill>
                  </a:tcPr>
                </a:tc>
                <a:tc>
                  <a:txBody>
                    <a:bodyPr/>
                    <a:lstStyle/>
                    <a:p>
                      <a:r>
                        <a:rPr sz="1100" b="0">
                          <a:solidFill>
                            <a:srgbClr val="4B4B4B"/>
                          </a:solidFill>
                          <a:latin typeface="Arial"/>
                        </a:rPr>
                        <a:t>Handbook Part A chapter 6 (templates, secure transfer, masking) and chapter 12 (data security); Part B Extracts and Layouts and Rules; Part D (freeze, final extracts, rollback, decommissioning); proposed rules PR-DM-03 and PR-DM-04; workbook sheets File rules, Load templates, Control file, Cut-over tasks</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the trial migrations, SIT and UAT</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Set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5-Oct-2026)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walkthrough of the Migration Console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Console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7 to 9-Oct-2026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decisions on the proposed rules</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decisions on the rules needed by 16-Oct-2026 (M1); comments log entries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Until Wed 21-Oct-2026 (M1 rules by Fri 16-Oct-2026)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26-Oct-2026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and the decided rules applied;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28-Oct-2026; check by the reviewers until Thu 29-Oct-2026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objects decided (G1) and layouts frozen, version 1 (M2)</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Fri 30-Oct-2026 (M2)</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the migration runs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Decisions and owners entered in the Migration Console; first full extracts in the templates by 29-Jan-2027 (M3)</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Mon 2-Nov-2026</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the trial migrations,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Trial migrations 1 to 4 and the dress rehearsal run and signed against the set;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Trial migrations Apr - Oct 2027; dress rehearsal Nov 2027; cut-over Jan 2028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Set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Handbook, Migration Workbook, test plan, guide and deck</a:t>
                      </a:r>
                    </a:p>
                  </a:txBody>
                  <a:tcPr marL="73152" marR="73152" marT="36576" marB="36576">
                    <a:solidFill>
                      <a:srgbClr val="FFFFFF"/>
                    </a:solidFill>
                  </a:tcPr>
                </a:tc>
                <a:tc>
                  <a:txBody>
                    <a:bodyPr/>
                    <a:lstStyle/>
                    <a:p>
                      <a:r>
                        <a:rPr sz="1000" b="0">
                          <a:solidFill>
                            <a:srgbClr val="4B4B4B"/>
                          </a:solidFill>
                          <a:latin typeface="Arial"/>
                        </a:rPr>
                        <a:t>Release set v2.0 in the BRD-13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5-Oct-2026)</a:t>
                      </a:r>
                    </a:p>
                  </a:txBody>
                  <a:tcPr marL="73152" marR="73152" marT="36576" marB="36576">
                    <a:solidFill>
                      <a:srgbClr val="FFFFFF"/>
                    </a:solidFill>
                  </a:tcPr>
                </a:tc>
              </a:tr>
              <a:tr h="365760">
                <a:tc>
                  <a:txBody>
                    <a:bodyPr/>
                    <a:lstStyle/>
                    <a:p>
                      <a:r>
                        <a:rPr sz="1000" b="0">
                          <a:solidFill>
                            <a:srgbClr val="4B4B4B"/>
                          </a:solidFill>
                          <a:latin typeface="Arial"/>
                        </a:rPr>
                        <a:t>2. Kick-off and walkthrough of the Migration Console on SIT</a:t>
                      </a:r>
                    </a:p>
                  </a:txBody>
                  <a:tcPr marL="73152" marR="73152" marT="36576" marB="36576">
                    <a:solidFill>
                      <a:srgbClr val="E5F5FF"/>
                    </a:solidFill>
                  </a:tcPr>
                </a:tc>
                <a:tc>
                  <a:txBody>
                    <a:bodyPr/>
                    <a:lstStyle/>
                    <a:p>
                      <a:r>
                        <a:rPr sz="1000" b="0">
                          <a:solidFill>
                            <a:srgbClr val="4B4B4B"/>
                          </a:solidFill>
                          <a:latin typeface="Arial"/>
                        </a:rPr>
                        <a:t>R: iorta TechNXT Business Analysis; A: Program Manager; C: data owners, Comptrollership, BDOI IT, Renewal processing team</a:t>
                      </a:r>
                    </a:p>
                  </a:txBody>
                  <a:tcPr marL="73152" marR="73152" marT="36576" marB="36576">
                    <a:solidFill>
                      <a:srgbClr val="E5F5FF"/>
                    </a:solidFill>
                  </a:tcPr>
                </a:tc>
                <a:tc>
                  <a:txBody>
                    <a:bodyPr/>
                    <a:lstStyle/>
                    <a:p>
                      <a:r>
                        <a:rPr sz="1000" b="0">
                          <a:solidFill>
                            <a:srgbClr val="4B4B4B"/>
                          </a:solidFill>
                          <a:latin typeface="Arial"/>
                        </a:rPr>
                        <a:t>Guide deck; SIT users with seed data; one object from extract to acceptance</a:t>
                      </a:r>
                    </a:p>
                  </a:txBody>
                  <a:tcPr marL="73152" marR="73152" marT="36576" marB="36576">
                    <a:solidFill>
                      <a:srgbClr val="E5F5FF"/>
                    </a:solidFill>
                  </a:tcPr>
                </a:tc>
                <a:tc>
                  <a:txBody>
                    <a:bodyPr/>
                    <a:lstStyle/>
                    <a:p>
                      <a:r>
                        <a:rPr sz="1000" b="0">
                          <a:solidFill>
                            <a:srgbClr val="4B4B4B"/>
                          </a:solidFill>
                          <a:latin typeface="Arial"/>
                        </a:rPr>
                        <a:t>Console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7 to 9-Oct-2026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decisions on the proposed rules</a:t>
                      </a:r>
                    </a:p>
                  </a:txBody>
                  <a:tcPr marL="73152" marR="73152" marT="36576" marB="36576">
                    <a:solidFill>
                      <a:srgbClr val="FFFFFF"/>
                    </a:solidFill>
                  </a:tcPr>
                </a:tc>
                <a:tc>
                  <a:txBody>
                    <a:bodyPr/>
                    <a:lstStyle/>
                    <a:p>
                      <a:r>
                        <a:rPr sz="1000" b="0">
                          <a:solidFill>
                            <a:srgbClr val="4B4B4B"/>
                          </a:solidFill>
                          <a:latin typeface="Arial"/>
                        </a:rPr>
                        <a:t>R: data owners and their stewards, Comptrollership, BDOI IT; A: Program Manager; C: iorta TechNXT (questions)</a:t>
                      </a:r>
                    </a:p>
                  </a:txBody>
                  <a:tcPr marL="73152" marR="73152" marT="36576" marB="36576">
                    <a:solidFill>
                      <a:srgbClr val="FFFFFF"/>
                    </a:solidFill>
                  </a:tcPr>
                </a:tc>
                <a:tc>
                  <a:txBody>
                    <a:bodyPr/>
                    <a:lstStyle/>
                    <a:p>
                      <a:r>
                        <a:rPr sz="1000" b="0">
                          <a:solidFill>
                            <a:srgbClr val="4B4B4B"/>
                          </a:solidFill>
                          <a:latin typeface="Arial"/>
                        </a:rPr>
                        <a:t>Handbook parts of each role; workbook sheets with the BU review columns; the proposed rules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decisions on the rules needed by 16-Oct-2026 (M1); comments log entries</a:t>
                      </a:r>
                    </a:p>
                  </a:txBody>
                  <a:tcPr marL="73152" marR="73152" marT="36576" marB="36576">
                    <a:solidFill>
                      <a:srgbClr val="FFFFFF"/>
                    </a:solidFill>
                  </a:tcPr>
                </a:tc>
                <a:tc>
                  <a:txBody>
                    <a:bodyPr/>
                    <a:lstStyle/>
                    <a:p>
                      <a:r>
                        <a:rPr sz="1000" b="0">
                          <a:solidFill>
                            <a:srgbClr val="4B4B4B"/>
                          </a:solidFill>
                          <a:latin typeface="Arial"/>
                        </a:rPr>
                        <a:t>Until Wed 21-Oct-2026 (M1 rules by Fri 16-Oct-2026)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Program Manager;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26-Oct-2026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 decisions on the proposed rules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and the decided rules applied;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28-Oct-2026; check by the reviewers until Thu 29-Oct-2026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Program Manager; C: data owners, Comptrollership, Compliance,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decisions with their date</a:t>
                      </a:r>
                    </a:p>
                  </a:txBody>
                  <a:tcPr marL="73152" marR="73152" marT="36576" marB="36576">
                    <a:solidFill>
                      <a:srgbClr val="E5F5FF"/>
                    </a:solidFill>
                  </a:tcPr>
                </a:tc>
                <a:tc>
                  <a:txBody>
                    <a:bodyPr/>
                    <a:lstStyle/>
                    <a:p>
                      <a:r>
                        <a:rPr sz="1000" b="0">
                          <a:solidFill>
                            <a:srgbClr val="4B4B4B"/>
                          </a:solidFill>
                          <a:latin typeface="Arial"/>
                        </a:rPr>
                        <a:t>Signed sign-off certificate; minutes; objects decided (G1) and layouts frozen, version 1 (M2)</a:t>
                      </a:r>
                    </a:p>
                  </a:txBody>
                  <a:tcPr marL="73152" marR="73152" marT="36576" marB="36576">
                    <a:solidFill>
                      <a:srgbClr val="E5F5FF"/>
                    </a:solidFill>
                  </a:tcPr>
                </a:tc>
                <a:tc>
                  <a:txBody>
                    <a:bodyPr/>
                    <a:lstStyle/>
                    <a:p>
                      <a:r>
                        <a:rPr sz="1000" b="0">
                          <a:solidFill>
                            <a:srgbClr val="4B4B4B"/>
                          </a:solidFill>
                          <a:latin typeface="Arial"/>
                        </a:rPr>
                        <a:t>Fri 30-Oct-2026 (M2)</a:t>
                      </a:r>
                    </a:p>
                  </a:txBody>
                  <a:tcPr marL="73152" marR="73152" marT="36576" marB="36576">
                    <a:solidFill>
                      <a:srgbClr val="E5F5FF"/>
                    </a:solidFill>
                  </a:tcPr>
                </a:tc>
              </a:tr>
              <a:tr h="365760">
                <a:tc>
                  <a:txBody>
                    <a:bodyPr/>
                    <a:lstStyle/>
                    <a:p>
                      <a:r>
                        <a:rPr sz="1000" b="0">
                          <a:solidFill>
                            <a:srgbClr val="4B4B4B"/>
                          </a:solidFill>
                          <a:latin typeface="Arial"/>
                        </a:rPr>
                        <a:t>7. Handover to the migration runs</a:t>
                      </a:r>
                    </a:p>
                  </a:txBody>
                  <a:tcPr marL="73152" marR="73152" marT="36576" marB="36576">
                    <a:solidFill>
                      <a:srgbClr val="FFFFFF"/>
                    </a:solidFill>
                  </a:tcPr>
                </a:tc>
                <a:tc>
                  <a:txBody>
                    <a:bodyPr/>
                    <a:lstStyle/>
                    <a:p>
                      <a:r>
                        <a:rPr sz="1000" b="0">
                          <a:solidFill>
                            <a:srgbClr val="4B4B4B"/>
                          </a:solidFill>
                          <a:latin typeface="Arial"/>
                        </a:rPr>
                        <a:t>R: iorta TechNXT delivery lead; A: Program Manager; I: BDOI IT, other BRD owners</a:t>
                      </a:r>
                    </a:p>
                  </a:txBody>
                  <a:tcPr marL="73152" marR="73152" marT="36576" marB="36576">
                    <a:solidFill>
                      <a:srgbClr val="FFFFFF"/>
                    </a:solidFill>
                  </a:tcPr>
                </a:tc>
                <a:tc>
                  <a:txBody>
                    <a:bodyPr/>
                    <a:lstStyle/>
                    <a:p>
                      <a:r>
                        <a:rPr sz="1000" b="0">
                          <a:solidFill>
                            <a:srgbClr val="4B4B4B"/>
                          </a:solidFill>
                          <a:latin typeface="Arial"/>
                        </a:rPr>
                        <a:t>Signed set; decided objects; frozen layouts; named owners and stewards</a:t>
                      </a:r>
                    </a:p>
                  </a:txBody>
                  <a:tcPr marL="73152" marR="73152" marT="36576" marB="36576">
                    <a:solidFill>
                      <a:srgbClr val="FFFFFF"/>
                    </a:solidFill>
                  </a:tcPr>
                </a:tc>
                <a:tc>
                  <a:txBody>
                    <a:bodyPr/>
                    <a:lstStyle/>
                    <a:p>
                      <a:r>
                        <a:rPr sz="1000" b="0">
                          <a:solidFill>
                            <a:srgbClr val="4B4B4B"/>
                          </a:solidFill>
                          <a:latin typeface="Arial"/>
                        </a:rPr>
                        <a:t>Decisions and owners entered in the Migration Console; first full extracts in the templates by 29-Jan-2027 (M3)</a:t>
                      </a:r>
                    </a:p>
                  </a:txBody>
                  <a:tcPr marL="73152" marR="73152" marT="36576" marB="36576">
                    <a:solidFill>
                      <a:srgbClr val="FFFFFF"/>
                    </a:solidFill>
                  </a:tcPr>
                </a:tc>
                <a:tc>
                  <a:txBody>
                    <a:bodyPr/>
                    <a:lstStyle/>
                    <a:p>
                      <a:r>
                        <a:rPr sz="1000" b="0">
                          <a:solidFill>
                            <a:srgbClr val="4B4B4B"/>
                          </a:solidFill>
                          <a:latin typeface="Arial"/>
                        </a:rPr>
                        <a:t>From Mon 2-Nov-2026</a:t>
                      </a:r>
                    </a:p>
                  </a:txBody>
                  <a:tcPr marL="73152" marR="73152" marT="36576" marB="36576">
                    <a:solidFill>
                      <a:srgbClr val="FFFFFF"/>
                    </a:solidFill>
                  </a:tcPr>
                </a:tc>
              </a:tr>
              <a:tr h="365760">
                <a:tc>
                  <a:txBody>
                    <a:bodyPr/>
                    <a:lstStyle/>
                    <a:p>
                      <a:r>
                        <a:rPr sz="1000" b="0">
                          <a:solidFill>
                            <a:srgbClr val="4B4B4B"/>
                          </a:solidFill>
                          <a:latin typeface="Arial"/>
                        </a:rPr>
                        <a:t>8. Traceability into the trial migrations, SIT and UAT</a:t>
                      </a:r>
                    </a:p>
                  </a:txBody>
                  <a:tcPr marL="73152" marR="73152" marT="36576" marB="36576">
                    <a:solidFill>
                      <a:srgbClr val="E5F5FF"/>
                    </a:solidFill>
                  </a:tcPr>
                </a:tc>
                <a:tc>
                  <a:txBody>
                    <a:bodyPr/>
                    <a:lstStyle/>
                    <a:p>
                      <a:r>
                        <a:rPr sz="1000" b="0">
                          <a:solidFill>
                            <a:srgbClr val="4B4B4B"/>
                          </a:solidFill>
                          <a:latin typeface="Arial"/>
                        </a:rPr>
                        <a:t>R: iorta TechNXT test lead; A: Program Manager; C: data owners</a:t>
                      </a:r>
                    </a:p>
                  </a:txBody>
                  <a:tcPr marL="73152" marR="73152" marT="36576" marB="36576">
                    <a:solidFill>
                      <a:srgbClr val="E5F5FF"/>
                    </a:solidFill>
                  </a:tcPr>
                </a:tc>
                <a:tc>
                  <a:txBody>
                    <a:bodyPr/>
                    <a:lstStyle/>
                    <a:p>
                      <a:r>
                        <a:rPr sz="1000" b="0">
                          <a:solidFill>
                            <a:srgbClr val="4B4B4B"/>
                          </a:solidFill>
                          <a:latin typeface="Arial"/>
                        </a:rPr>
                        <a:t>Signed handbook, workbook and test plan</a:t>
                      </a:r>
                    </a:p>
                  </a:txBody>
                  <a:tcPr marL="73152" marR="73152" marT="36576" marB="36576">
                    <a:solidFill>
                      <a:srgbClr val="E5F5FF"/>
                    </a:solidFill>
                  </a:tcPr>
                </a:tc>
                <a:tc>
                  <a:txBody>
                    <a:bodyPr/>
                    <a:lstStyle/>
                    <a:p>
                      <a:r>
                        <a:rPr sz="1000" b="0">
                          <a:solidFill>
                            <a:srgbClr val="4B4B4B"/>
                          </a:solidFill>
                          <a:latin typeface="Arial"/>
                        </a:rPr>
                        <a:t>Trial migrations 1 to 4 and the dress rehearsal run and signed against the set; results against each row</a:t>
                      </a:r>
                    </a:p>
                  </a:txBody>
                  <a:tcPr marL="73152" marR="73152" marT="36576" marB="36576">
                    <a:solidFill>
                      <a:srgbClr val="E5F5FF"/>
                    </a:solidFill>
                  </a:tcPr>
                </a:tc>
                <a:tc>
                  <a:txBody>
                    <a:bodyPr/>
                    <a:lstStyle/>
                    <a:p>
                      <a:r>
                        <a:rPr sz="1000" b="0">
                          <a:solidFill>
                            <a:srgbClr val="4B4B4B"/>
                          </a:solidFill>
                          <a:latin typeface="Arial"/>
                        </a:rPr>
                        <a:t>Trial migrations Apr - Oct 2027; dress rehearsal Nov 2027; cut-over Jan 2028</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pic>
        <p:nvPicPr>
          <p:cNvPr id="9" name="Picture 8" descr="signoff-workbook-object-catalogue.png"/>
          <p:cNvPicPr>
            <a:picLocks noChangeAspect="1"/>
          </p:cNvPicPr>
          <p:nvPr/>
        </p:nvPicPr>
        <p:blipFill>
          <a:blip r:embed="rId3"/>
          <a:stretch>
            <a:fillRect/>
          </a:stretch>
        </p:blipFill>
        <p:spPr>
          <a:xfrm>
            <a:off x="548640" y="1325880"/>
            <a:ext cx="7498079" cy="2607741"/>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Object catalogue sheet of the Migration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objects: Object catalogue, Data owners, Code maps, Validation rules, Cut-over tasks, Reconciliation sign-off</a:t>
            </a:r>
          </a:p>
          <a:p>
            <a:pPr>
              <a:spcAft>
                <a:spcPts val="600"/>
              </a:spcAft>
            </a:pPr>
            <a:r>
              <a:rPr sz="1300">
                <a:solidFill>
                  <a:srgbClr val="004EA8"/>
                </a:solidFill>
                <a:latin typeface="Arial"/>
              </a:rPr>
              <a:t>•  </a:t>
            </a:r>
            <a:r>
              <a:rPr sz="1300">
                <a:solidFill>
                  <a:srgbClr val="4B4B4B"/>
                </a:solidFill>
                <a:latin typeface="Arial"/>
              </a:rPr>
              <a:t>Load templates: in load order; on each template sheet the BU review rows sit above the columns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Proposed rules: the BDOI decision on each rule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pic>
        <p:nvPicPr>
          <p:cNvPr id="9" name="Picture 8" descr="brd13_process_flow.png"/>
          <p:cNvPicPr>
            <a:picLocks noChangeAspect="1"/>
          </p:cNvPicPr>
          <p:nvPr/>
        </p:nvPicPr>
        <p:blipFill>
          <a:blip r:embed="rId3"/>
          <a:stretch>
            <a:fillRect/>
          </a:stretch>
        </p:blipFill>
        <p:spPr>
          <a:xfrm>
            <a:off x="2239541" y="1325880"/>
            <a:ext cx="771261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The way of every data object: from its decision to its acceptance, with the gates G1 to G6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585216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Data Migration Lead</a:t>
                      </a:r>
                    </a:p>
                  </a:txBody>
                  <a:tcPr marL="73152" marR="73152" marT="36576" marB="36576">
                    <a:solidFill>
                      <a:srgbClr val="FFFFFF"/>
                    </a:solidFill>
                  </a:tcPr>
                </a:tc>
                <a:tc>
                  <a:txBody>
                    <a:bodyPr/>
                    <a:lstStyle/>
                    <a:p>
                      <a:r>
                        <a:rPr sz="1000" b="0">
                          <a:solidFill>
                            <a:srgbClr val="4B4B4B"/>
                          </a:solidFill>
                          <a:latin typeface="Arial"/>
                        </a:rPr>
                        <a:t>miglead</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Data Steward</a:t>
                      </a:r>
                    </a:p>
                  </a:txBody>
                  <a:tcPr marL="73152" marR="73152" marT="36576" marB="36576">
                    <a:solidFill>
                      <a:srgbClr val="E5F5FF"/>
                    </a:solidFill>
                  </a:tcPr>
                </a:tc>
                <a:tc>
                  <a:txBody>
                    <a:bodyPr/>
                    <a:lstStyle/>
                    <a:p>
                      <a:r>
                        <a:rPr sz="1000" b="0">
                          <a:solidFill>
                            <a:srgbClr val="4B4B4B"/>
                          </a:solidFill>
                          <a:latin typeface="Arial"/>
                        </a:rPr>
                        <a:t>migsteward</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Data owner (business owner of an object)</a:t>
                      </a:r>
                    </a:p>
                  </a:txBody>
                  <a:tcPr marL="73152" marR="73152" marT="36576" marB="36576">
                    <a:solidFill>
                      <a:srgbClr val="FFFFFF"/>
                    </a:solidFill>
                  </a:tcPr>
                </a:tc>
                <a:tc>
                  <a:txBody>
                    <a:bodyPr/>
                    <a:lstStyle/>
                    <a:p>
                      <a:r>
                        <a:rPr sz="1000" b="0">
                          <a:solidFill>
                            <a:srgbClr val="4B4B4B"/>
                          </a:solidFill>
                          <a:latin typeface="Arial"/>
                        </a:rPr>
                        <a:t>migowner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Migration Operator</a:t>
                      </a:r>
                    </a:p>
                  </a:txBody>
                  <a:tcPr marL="73152" marR="73152" marT="36576" marB="36576">
                    <a:solidFill>
                      <a:srgbClr val="E5F5FF"/>
                    </a:solidFill>
                  </a:tcPr>
                </a:tc>
                <a:tc>
                  <a:txBody>
                    <a:bodyPr/>
                    <a:lstStyle/>
                    <a:p>
                      <a:r>
                        <a:rPr sz="1000" b="0">
                          <a:solidFill>
                            <a:srgbClr val="4B4B4B"/>
                          </a:solidFill>
                          <a:latin typeface="Arial"/>
                        </a:rPr>
                        <a:t>migops</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Reconciliation approver (Head of Comptrollership)</a:t>
                      </a:r>
                    </a:p>
                  </a:txBody>
                  <a:tcPr marL="73152" marR="73152" marT="36576" marB="36576">
                    <a:solidFill>
                      <a:srgbClr val="FFFFFF"/>
                    </a:solidFill>
                  </a:tcPr>
                </a:tc>
                <a:tc>
                  <a:txBody>
                    <a:bodyPr/>
                    <a:lstStyle/>
                    <a:p>
                      <a:r>
                        <a:rPr sz="1000" b="0">
                          <a:solidFill>
                            <a:srgbClr val="4B4B4B"/>
                          </a:solidFill>
                          <a:latin typeface="Arial"/>
                        </a:rPr>
                        <a:t>migrecon</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Go / no-go board</a:t>
                      </a:r>
                    </a:p>
                  </a:txBody>
                  <a:tcPr marL="73152" marR="73152" marT="36576" marB="36576">
                    <a:solidFill>
                      <a:srgbClr val="E5F5FF"/>
                    </a:solidFill>
                  </a:tcPr>
                </a:tc>
                <a:tc>
                  <a:txBody>
                    <a:bodyPr/>
                    <a:lstStyle/>
                    <a:p>
                      <a:r>
                        <a:rPr sz="1000" b="0">
                          <a:solidFill>
                            <a:srgbClr val="4B4B4B"/>
                          </a:solidFill>
                          <a:latin typeface="Arial"/>
                        </a:rPr>
                        <a:t>miggonogo</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Comptrollership GL lead</a:t>
                      </a:r>
                    </a:p>
                  </a:txBody>
                  <a:tcPr marL="73152" marR="73152" marT="36576" marB="36576">
                    <a:solidFill>
                      <a:srgbClr val="FFFFFF"/>
                    </a:solidFill>
                  </a:tcPr>
                </a:tc>
                <a:tc>
                  <a:txBody>
                    <a:bodyPr/>
                    <a:lstStyle/>
                    <a:p>
                      <a:r>
                        <a:rPr sz="1000" b="0">
                          <a:solidFill>
                            <a:srgbClr val="4B4B4B"/>
                          </a:solidFill>
                          <a:latin typeface="Arial"/>
                        </a:rPr>
                        <a:t>comptrol</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Audit / Compliance user</a:t>
                      </a:r>
                    </a:p>
                  </a:txBody>
                  <a:tcPr marL="73152" marR="73152" marT="36576" marB="36576">
                    <a:solidFill>
                      <a:srgbClr val="E5F5FF"/>
                    </a:solidFill>
                  </a:tcPr>
                </a:tc>
                <a:tc>
                  <a:txBody>
                    <a:bodyPr/>
                    <a:lstStyle/>
                    <a:p>
                      <a:r>
                        <a:rPr sz="1000" b="0">
                          <a:solidFill>
                            <a:srgbClr val="4B4B4B"/>
                          </a:solidFill>
                          <a:latin typeface="Arial"/>
                        </a:rPr>
                        <a:t>legacyaudit</a:t>
                      </a:r>
                    </a:p>
                  </a:txBody>
                  <a:tcPr marL="73152" marR="73152" marT="36576" marB="36576">
                    <a:solidFill>
                      <a:srgbClr val="E5F5FF"/>
                    </a:solidFill>
                  </a:tcPr>
                </a:tc>
                <a:tc>
                  <a:txBody>
                    <a:bodyPr/>
                    <a:lstStyle/>
                    <a:p>
                      <a:r>
                        <a:rPr sz="1000" b="0">
                          <a:solidFill>
                            <a:srgbClr val="4B4B4B"/>
                          </a:solidFill>
                          <a:latin typeface="Arial"/>
                        </a:rPr>
                        <a:t>1</a:t>
                      </a:r>
                    </a:p>
                  </a:txBody>
                  <a:tcPr marL="73152" marR="73152" marT="36576" marB="36576">
                    <a:solidFill>
                      <a:srgbClr val="E5F5FF"/>
                    </a:solidFill>
                  </a:tcPr>
                </a:tc>
                <a:tc>
                  <a:txBody>
                    <a:bodyPr/>
                    <a:lstStyle/>
                    <a:p>
                      <a:r>
                        <a:rPr sz="1000" b="0">
                          <a:solidFill>
                            <a:srgbClr val="4B4B4B"/>
                          </a:solidFill>
                          <a:latin typeface="Arial"/>
                        </a:rPr>
                        <a:t>Legacy Inquiry</a:t>
                      </a:r>
                    </a:p>
                  </a:txBody>
                  <a:tcPr marL="73152" marR="73152" marT="36576" marB="36576">
                    <a:solidFill>
                      <a:srgbClr val="E5F5FF"/>
                    </a:solidFill>
                  </a:tcPr>
                </a:tc>
              </a:tr>
              <a:tr h="365760">
                <a:tc>
                  <a:txBody>
                    <a:bodyPr/>
                    <a:lstStyle/>
                    <a:p>
                      <a:r>
                        <a:rPr sz="1000" b="0">
                          <a:solidFill>
                            <a:srgbClr val="4B4B4B"/>
                          </a:solidFill>
                          <a:latin typeface="Arial"/>
                        </a:rPr>
                        <a:t>Compliance reviewer of the access log</a:t>
                      </a:r>
                    </a:p>
                  </a:txBody>
                  <a:tcPr marL="73152" marR="73152" marT="36576" marB="36576">
                    <a:solidFill>
                      <a:srgbClr val="FFFFFF"/>
                    </a:solidFill>
                  </a:tcPr>
                </a:tc>
                <a:tc>
                  <a:txBody>
                    <a:bodyPr/>
                    <a:lstStyle/>
                    <a:p>
                      <a:r>
                        <a:rPr sz="1000" b="0">
                          <a:solidFill>
                            <a:srgbClr val="4B4B4B"/>
                          </a:solidFill>
                          <a:latin typeface="Arial"/>
                        </a:rPr>
                        <a:t>legacyrev</a:t>
                      </a:r>
                    </a:p>
                  </a:txBody>
                  <a:tcPr marL="73152" marR="73152" marT="36576" marB="36576">
                    <a:solidFill>
                      <a:srgbClr val="FFFFFF"/>
                    </a:solidFill>
                  </a:tcPr>
                </a:tc>
                <a:tc>
                  <a:txBody>
                    <a:bodyPr/>
                    <a:lstStyle/>
                    <a:p>
                      <a:r>
                        <a:rPr sz="1000" b="0">
                          <a:solidFill>
                            <a:srgbClr val="4B4B4B"/>
                          </a:solidFill>
                          <a:latin typeface="Arial"/>
                        </a:rPr>
                        <a:t>1</a:t>
                      </a:r>
                    </a:p>
                  </a:txBody>
                  <a:tcPr marL="73152" marR="73152" marT="36576" marB="36576">
                    <a:solidFill>
                      <a:srgbClr val="FFFFFF"/>
                    </a:solidFill>
                  </a:tcPr>
                </a:tc>
                <a:tc>
                  <a:txBody>
                    <a:bodyPr/>
                    <a:lstStyle/>
                    <a:p>
                      <a:r>
                        <a:rPr sz="1000" b="0">
                          <a:solidFill>
                            <a:srgbClr val="4B4B4B"/>
                          </a:solidFill>
                          <a:latin typeface="Arial"/>
                        </a:rPr>
                        <a:t>Legacy Inquiry</a:t>
                      </a:r>
                    </a:p>
                  </a:txBody>
                  <a:tcPr marL="73152" marR="73152" marT="36576" marB="36576">
                    <a:solidFill>
                      <a:srgbClr val="FFFFFF"/>
                    </a:solidFill>
                  </a:tcPr>
                </a:tc>
              </a:tr>
              <a:tr h="365760">
                <a:tc>
                  <a:txBody>
                    <a:bodyPr/>
                    <a:lstStyle/>
                    <a:p>
                      <a:r>
                        <a:rPr sz="1000" b="0">
                          <a:solidFill>
                            <a:srgbClr val="4B4B4B"/>
                          </a:solidFill>
                          <a:latin typeface="Arial"/>
                        </a:rPr>
                        <a:t>Cashiering user</a:t>
                      </a:r>
                    </a:p>
                  </a:txBody>
                  <a:tcPr marL="73152" marR="73152" marT="36576" marB="36576">
                    <a:solidFill>
                      <a:srgbClr val="E5F5FF"/>
                    </a:solidFill>
                  </a:tcPr>
                </a:tc>
                <a:tc>
                  <a:txBody>
                    <a:bodyPr/>
                    <a:lstStyle/>
                    <a:p>
                      <a:r>
                        <a:rPr sz="1000" b="0">
                          <a:solidFill>
                            <a:srgbClr val="4B4B4B"/>
                          </a:solidFill>
                          <a:latin typeface="Arial"/>
                        </a:rPr>
                        <a:t>cashier</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Cashiering team lead</a:t>
                      </a:r>
                    </a:p>
                  </a:txBody>
                  <a:tcPr marL="73152" marR="73152" marT="36576" marB="36576">
                    <a:solidFill>
                      <a:srgbClr val="FFFFFF"/>
                    </a:solidFill>
                  </a:tcPr>
                </a:tc>
                <a:tc>
                  <a:txBody>
                    <a:bodyPr/>
                    <a:lstStyle/>
                    <a:p>
                      <a:r>
                        <a:rPr sz="1000" b="0">
                          <a:solidFill>
                            <a:srgbClr val="4B4B4B"/>
                          </a:solidFill>
                          <a:latin typeface="Arial"/>
                        </a:rPr>
                        <a:t>cashtl</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Top management approver</a:t>
                      </a:r>
                    </a:p>
                  </a:txBody>
                  <a:tcPr marL="73152" marR="73152" marT="36576" marB="36576">
                    <a:solidFill>
                      <a:srgbClr val="E5F5FF"/>
                    </a:solidFill>
                  </a:tcPr>
                </a:tc>
                <a:tc>
                  <a:txBody>
                    <a:bodyPr/>
                    <a:lstStyle/>
                    <a:p>
                      <a:r>
                        <a:rPr sz="1000" b="0">
                          <a:solidFill>
                            <a:srgbClr val="4B4B4B"/>
                          </a:solidFill>
                          <a:latin typeface="Arial"/>
                        </a:rPr>
                        <a:t>topmgmt</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Commission user</a:t>
                      </a:r>
                    </a:p>
                  </a:txBody>
                  <a:tcPr marL="73152" marR="73152" marT="36576" marB="36576">
                    <a:solidFill>
                      <a:srgbClr val="FFFFFF"/>
                    </a:solidFill>
                  </a:tcPr>
                </a:tc>
                <a:tc>
                  <a:txBody>
                    <a:bodyPr/>
                    <a:lstStyle/>
                    <a:p>
                      <a:r>
                        <a:rPr sz="1000" b="0">
                          <a:solidFill>
                            <a:srgbClr val="4B4B4B"/>
                          </a:solidFill>
                          <a:latin typeface="Arial"/>
                        </a:rPr>
                        <a:t>commrec</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Commission team lead</a:t>
                      </a:r>
                    </a:p>
                  </a:txBody>
                  <a:tcPr marL="73152" marR="73152" marT="36576" marB="36576">
                    <a:solidFill>
                      <a:srgbClr val="E5F5FF"/>
                    </a:solidFill>
                  </a:tcPr>
                </a:tc>
                <a:tc>
                  <a:txBody>
                    <a:bodyPr/>
                    <a:lstStyle/>
                    <a:p>
                      <a:r>
                        <a:rPr sz="1000" b="0">
                          <a:solidFill>
                            <a:srgbClr val="4B4B4B"/>
                          </a:solidFill>
                          <a:latin typeface="Arial"/>
                        </a:rPr>
                        <a:t>commtl</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pic>
        <p:nvPicPr>
          <p:cNvPr id="9" name="Picture 8" descr="scr-dm-01-01-view.png"/>
          <p:cNvPicPr>
            <a:picLocks noChangeAspect="1"/>
          </p:cNvPicPr>
          <p:nvPr/>
        </p:nvPicPr>
        <p:blipFill>
          <a:blip r:embed="rId3"/>
          <a:stretch>
            <a:fillRect/>
          </a:stretch>
        </p:blipFill>
        <p:spPr>
          <a:xfrm>
            <a:off x="2299123" y="1325880"/>
            <a:ext cx="1909080"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Migration Home</a:t>
            </a:r>
          </a:p>
        </p:txBody>
      </p:sp>
      <p:pic>
        <p:nvPicPr>
          <p:cNvPr id="11" name="Picture 10" descr="scr-dm-07-01-validated.png"/>
          <p:cNvPicPr>
            <a:picLocks noChangeAspect="1"/>
          </p:cNvPicPr>
          <p:nvPr/>
        </p:nvPicPr>
        <p:blipFill>
          <a:blip r:embed="rId4"/>
          <a:stretch>
            <a:fillRect/>
          </a:stretch>
        </p:blipFill>
        <p:spPr>
          <a:xfrm>
            <a:off x="7976738" y="1325880"/>
            <a:ext cx="1922584"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 batch from validation to acceptance</a:t>
            </a:r>
          </a:p>
        </p:txBody>
      </p:sp>
      <p:pic>
        <p:nvPicPr>
          <p:cNvPr id="13" name="Picture 12" descr="scr-dm-09-01-list.png"/>
          <p:cNvPicPr>
            <a:picLocks noChangeAspect="1"/>
          </p:cNvPicPr>
          <p:nvPr/>
        </p:nvPicPr>
        <p:blipFill>
          <a:blip r:embed="rId5"/>
          <a:stretch>
            <a:fillRect/>
          </a:stretch>
        </p:blipFill>
        <p:spPr>
          <a:xfrm>
            <a:off x="2489629" y="3566160"/>
            <a:ext cx="1528069"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Reconciliation by level</a:t>
            </a:r>
          </a:p>
        </p:txBody>
      </p:sp>
      <p:pic>
        <p:nvPicPr>
          <p:cNvPr id="15" name="Picture 14" descr="scr-dm-17-01-legacy.png"/>
          <p:cNvPicPr>
            <a:picLocks noChangeAspect="1"/>
          </p:cNvPicPr>
          <p:nvPr/>
        </p:nvPicPr>
        <p:blipFill>
          <a:blip r:embed="rId6"/>
          <a:stretch>
            <a:fillRect/>
          </a:stretch>
        </p:blipFill>
        <p:spPr>
          <a:xfrm>
            <a:off x="7982194" y="3566160"/>
            <a:ext cx="191167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A legacy invoice on Invoice 360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migration approach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Selective, not a conversion: each legacy object gets one decision</a:t>
            </a:r>
          </a:p>
          <a:p>
            <a:pPr lvl="1">
              <a:spcAft>
                <a:spcPts val="600"/>
              </a:spcAft>
            </a:pPr>
            <a:r>
              <a:rPr sz="1300">
                <a:solidFill>
                  <a:srgbClr val="656565"/>
                </a:solidFill>
                <a:latin typeface="Arial"/>
              </a:rPr>
              <a:t>–  </a:t>
            </a:r>
            <a:r>
              <a:rPr sz="1300">
                <a:solidFill>
                  <a:srgbClr val="4B4B4B"/>
                </a:solidFill>
                <a:latin typeface="Arial"/>
              </a:rPr>
              <a:t>Master and reference data are migrated; open items are carried forward; history stays in read-only legacy or the BIBS archive</a:t>
            </a:r>
          </a:p>
          <a:p>
            <a:pPr>
              <a:spcAft>
                <a:spcPts val="600"/>
              </a:spcAft>
            </a:pPr>
            <a:r>
              <a:rPr sz="1500">
                <a:solidFill>
                  <a:srgbClr val="004EA8"/>
                </a:solidFill>
                <a:latin typeface="Arial"/>
              </a:rPr>
              <a:t>•  </a:t>
            </a:r>
            <a:r>
              <a:rPr sz="1500">
                <a:solidFill>
                  <a:srgbClr val="4B4B4B"/>
                </a:solidFill>
                <a:latin typeface="Arial"/>
              </a:rPr>
              <a:t>Load through the BIBS services, so every BIBS rule, audit entry and accounting entry applies</a:t>
            </a:r>
          </a:p>
          <a:p>
            <a:pPr>
              <a:spcAft>
                <a:spcPts val="600"/>
              </a:spcAft>
            </a:pPr>
            <a:r>
              <a:rPr sz="1500">
                <a:solidFill>
                  <a:srgbClr val="004EA8"/>
                </a:solidFill>
                <a:latin typeface="Arial"/>
              </a:rPr>
              <a:t>•  </a:t>
            </a:r>
            <a:r>
              <a:rPr sz="1500">
                <a:solidFill>
                  <a:srgbClr val="4B4B4B"/>
                </a:solidFill>
                <a:latin typeface="Arial"/>
              </a:rPr>
              <a:t>Reconcile everything and keep the evidence: counts, amounts, hash totals, fields, GL</a:t>
            </a:r>
          </a:p>
          <a:p>
            <a:pPr>
              <a:spcAft>
                <a:spcPts val="600"/>
              </a:spcAft>
            </a:pPr>
            <a:r>
              <a:rPr sz="1500">
                <a:solidFill>
                  <a:srgbClr val="004EA8"/>
                </a:solidFill>
                <a:latin typeface="Arial"/>
              </a:rPr>
              <a:t>•  </a:t>
            </a:r>
            <a:r>
              <a:rPr sz="1500">
                <a:solidFill>
                  <a:srgbClr val="4B4B4B"/>
                </a:solidFill>
                <a:latin typeface="Arial"/>
              </a:rPr>
              <a:t>Rehearse before production: four trial migrations and a dress rehearsal on masked data</a:t>
            </a:r>
          </a:p>
          <a:p>
            <a:pPr>
              <a:spcAft>
                <a:spcPts val="600"/>
              </a:spcAft>
            </a:pPr>
            <a:r>
              <a:rPr sz="1500">
                <a:solidFill>
                  <a:srgbClr val="004EA8"/>
                </a:solidFill>
                <a:latin typeface="Arial"/>
              </a:rPr>
              <a:t>•  </a:t>
            </a:r>
            <a:r>
              <a:rPr sz="1500">
                <a:solidFill>
                  <a:srgbClr val="4B4B4B"/>
                </a:solidFill>
                <a:latin typeface="Arial"/>
              </a:rPr>
              <a:t>One processing system per item from the freeze; no parallel run</a:t>
            </a:r>
          </a:p>
          <a:p>
            <a:pPr>
              <a:spcAft>
                <a:spcPts val="600"/>
              </a:spcAft>
            </a:pPr>
            <a:r>
              <a:rPr sz="1500">
                <a:solidFill>
                  <a:srgbClr val="004EA8"/>
                </a:solidFill>
                <a:latin typeface="Arial"/>
              </a:rPr>
              <a:t>•  </a:t>
            </a:r>
            <a:r>
              <a:rPr sz="1500">
                <a:solidFill>
                  <a:srgbClr val="4B4B4B"/>
                </a:solidFill>
                <a:latin typeface="Arial"/>
              </a:rPr>
              <a:t>Go-live Monday 3 January 2028 at the year-end boundary (option A, for Comptrollership to confirm)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data objects and their decisions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8805091"/>
              </a:tblGrid>
              <a:tr h="365760">
                <a:tc>
                  <a:txBody>
                    <a:bodyPr/>
                    <a:lstStyle/>
                    <a:p>
                      <a:r>
                        <a:rPr sz="1200" b="1">
                          <a:solidFill>
                            <a:srgbClr val="FFFFFF"/>
                          </a:solidFill>
                          <a:latin typeface="Arial"/>
                        </a:rPr>
                        <a:t>Decision (proposed)</a:t>
                      </a:r>
                    </a:p>
                  </a:txBody>
                  <a:tcPr marL="73152" marR="73152" marT="36576" marB="36576">
                    <a:solidFill>
                      <a:srgbClr val="004EA8"/>
                    </a:solidFill>
                  </a:tcPr>
                </a:tc>
                <a:tc>
                  <a:txBody>
                    <a:bodyPr/>
                    <a:lstStyle/>
                    <a:p>
                      <a:r>
                        <a:rPr sz="1200" b="1">
                          <a:solidFill>
                            <a:srgbClr val="FFFFFF"/>
                          </a:solidFill>
                          <a:latin typeface="Arial"/>
                        </a:rPr>
                        <a:t>Objects</a:t>
                      </a:r>
                    </a:p>
                  </a:txBody>
                  <a:tcPr marL="73152" marR="73152" marT="36576" marB="36576">
                    <a:solidFill>
                      <a:srgbClr val="004EA8"/>
                    </a:solidFill>
                  </a:tcPr>
                </a:tc>
              </a:tr>
              <a:tr h="365760">
                <a:tc>
                  <a:txBody>
                    <a:bodyPr/>
                    <a:lstStyle/>
                    <a:p>
                      <a:r>
                        <a:rPr sz="1200" b="0">
                          <a:solidFill>
                            <a:srgbClr val="4B4B4B"/>
                          </a:solidFill>
                          <a:latin typeface="Arial"/>
                        </a:rPr>
                        <a:t>Migrate</a:t>
                      </a:r>
                    </a:p>
                  </a:txBody>
                  <a:tcPr marL="73152" marR="73152" marT="36576" marB="36576">
                    <a:solidFill>
                      <a:srgbClr val="FFFFFF"/>
                    </a:solidFill>
                  </a:tcPr>
                </a:tc>
                <a:tc>
                  <a:txBody>
                    <a:bodyPr/>
                    <a:lstStyle/>
                    <a:p>
                      <a:r>
                        <a:rPr sz="1200" b="0">
                          <a:solidFill>
                            <a:srgbClr val="4B4B4B"/>
                          </a:solidFill>
                          <a:latin typeface="Arial"/>
                        </a:rPr>
                        <a:t>R01 Lists of values and MIS values; R02 Branches and invoicing branches; R03 Sales organisation; R04 Insurers and insurer branches; R05 Product lines, cover types, products and risk codes; R06 Package code map; R07 Commission rates by insurer and product; R08 Chart of accounts mapping; C01 Client master; C03 Client payout accounts; P03 Renewal advices already sent before go-live; G01 GL trial balance per account, branch and currency; G03 FY2027 opening-balance true-ups</a:t>
                      </a:r>
                    </a:p>
                  </a:txBody>
                  <a:tcPr marL="73152" marR="73152" marT="36576" marB="36576">
                    <a:solidFill>
                      <a:srgbClr val="FFFFFF"/>
                    </a:solidFill>
                  </a:tcPr>
                </a:tc>
              </a:tr>
              <a:tr h="365760">
                <a:tc>
                  <a:txBody>
                    <a:bodyPr/>
                    <a:lstStyle/>
                    <a:p>
                      <a:r>
                        <a:rPr sz="1200" b="0">
                          <a:solidFill>
                            <a:srgbClr val="4B4B4B"/>
                          </a:solidFill>
                          <a:latin typeface="Arial"/>
                        </a:rPr>
                        <a:t>Conditional</a:t>
                      </a:r>
                    </a:p>
                  </a:txBody>
                  <a:tcPr marL="73152" marR="73152" marT="36576" marB="36576">
                    <a:solidFill>
                      <a:srgbClr val="E5F5FF"/>
                    </a:solidFill>
                  </a:tcPr>
                </a:tc>
                <a:tc>
                  <a:txBody>
                    <a:bodyPr/>
                    <a:lstStyle/>
                    <a:p>
                      <a:r>
                        <a:rPr sz="1200" b="0">
                          <a:solidFill>
                            <a:srgbClr val="4B4B4B"/>
                          </a:solidFill>
                          <a:latin typeface="Arial"/>
                        </a:rPr>
                        <a:t>R09 Payees; P01 In-force policy headers; P04 Submitted-policy masterlists; P05 Employee Benefits programmes; F04 Remittance in flight; F06 PDCs in the warehouse, check pick-ups and refunds in process; F07 Open claims</a:t>
                      </a:r>
                    </a:p>
                  </a:txBody>
                  <a:tcPr marL="73152" marR="73152" marT="36576" marB="36576">
                    <a:solidFill>
                      <a:srgbClr val="E5F5FF"/>
                    </a:solidFill>
                  </a:tcPr>
                </a:tc>
              </a:tr>
              <a:tr h="365760">
                <a:tc>
                  <a:txBody>
                    <a:bodyPr/>
                    <a:lstStyle/>
                    <a:p>
                      <a:r>
                        <a:rPr sz="1200" b="0">
                          <a:solidFill>
                            <a:srgbClr val="4B4B4B"/>
                          </a:solidFill>
                          <a:latin typeface="Arial"/>
                        </a:rPr>
                        <a:t>Excluded</a:t>
                      </a:r>
                    </a:p>
                  </a:txBody>
                  <a:tcPr marL="73152" marR="73152" marT="36576" marB="36576">
                    <a:solidFill>
                      <a:srgbClr val="FFFFFF"/>
                    </a:solidFill>
                  </a:tcPr>
                </a:tc>
                <a:tc>
                  <a:txBody>
                    <a:bodyPr/>
                    <a:lstStyle/>
                    <a:p>
                      <a:r>
                        <a:rPr sz="1200" b="0">
                          <a:solidFill>
                            <a:srgbClr val="4B4B4B"/>
                          </a:solidFill>
                          <a:latin typeface="Arial"/>
                        </a:rPr>
                        <a:t>R10 Users and roles; C05 Screening results and risk ratings</a:t>
                      </a:r>
                    </a:p>
                  </a:txBody>
                  <a:tcPr marL="73152" marR="73152" marT="36576" marB="36576">
                    <a:solidFill>
                      <a:srgbClr val="FFFFFF"/>
                    </a:solidFill>
                  </a:tcPr>
                </a:tc>
              </a:tr>
              <a:tr h="365760">
                <a:tc>
                  <a:txBody>
                    <a:bodyPr/>
                    <a:lstStyle/>
                    <a:p>
                      <a:r>
                        <a:rPr sz="1200" b="0">
                          <a:solidFill>
                            <a:srgbClr val="4B4B4B"/>
                          </a:solidFill>
                          <a:latin typeface="Arial"/>
                        </a:rPr>
                        <a:t>Carry forward</a:t>
                      </a:r>
                    </a:p>
                  </a:txBody>
                  <a:tcPr marL="73152" marR="73152" marT="36576" marB="36576">
                    <a:solidFill>
                      <a:srgbClr val="E5F5FF"/>
                    </a:solidFill>
                  </a:tcPr>
                </a:tc>
                <a:tc>
                  <a:txBody>
                    <a:bodyPr/>
                    <a:lstStyle/>
                    <a:p>
                      <a:r>
                        <a:rPr sz="1200" b="0">
                          <a:solidFill>
                            <a:srgbClr val="4B4B4B"/>
                          </a:solidFill>
                          <a:latin typeface="Arial"/>
                        </a:rPr>
                        <a:t>R11 Receipt series in use; F01 Open legacy invoices; F02 Unapplied premium payments; F03 Open collection state; F05 DP billing in process and DP commission receivable</a:t>
                      </a:r>
                    </a:p>
                  </a:txBody>
                  <a:tcPr marL="73152" marR="73152" marT="36576" marB="36576">
                    <a:solidFill>
                      <a:srgbClr val="E5F5FF"/>
                    </a:solidFill>
                  </a:tcPr>
                </a:tc>
              </a:tr>
              <a:tr h="365760">
                <a:tc>
                  <a:txBody>
                    <a:bodyPr/>
                    <a:lstStyle/>
                    <a:p>
                      <a:r>
                        <a:rPr sz="1200" b="0">
                          <a:solidFill>
                            <a:srgbClr val="4B4B4B"/>
                          </a:solidFill>
                          <a:latin typeface="Arial"/>
                        </a:rPr>
                        <a:t>Archive</a:t>
                      </a:r>
                    </a:p>
                  </a:txBody>
                  <a:tcPr marL="73152" marR="73152" marT="36576" marB="36576">
                    <a:solidFill>
                      <a:srgbClr val="FFFFFF"/>
                    </a:solidFill>
                  </a:tcPr>
                </a:tc>
                <a:tc>
                  <a:txBody>
                    <a:bodyPr/>
                    <a:lstStyle/>
                    <a:p>
                      <a:r>
                        <a:rPr sz="1200" b="0">
                          <a:solidFill>
                            <a:srgbClr val="4B4B4B"/>
                          </a:solidFill>
                          <a:latin typeface="Arial"/>
                        </a:rPr>
                        <a:t>C04 KYC documents and IDs; P02 Expired policies and policy history; G02 GL history; H01 Closed transactions; H02 Legacy documents</a:t>
                      </a:r>
                    </a:p>
                  </a:txBody>
                  <a:tcPr marL="73152" marR="73152" marT="36576" marB="36576">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Roles and the named data owners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641527"/>
                <a:gridCol w="3522036"/>
                <a:gridCol w="4930851"/>
              </a:tblGrid>
              <a:tr h="365760">
                <a:tc>
                  <a:txBody>
                    <a:bodyPr/>
                    <a:lstStyle/>
                    <a:p>
                      <a:r>
                        <a:rPr sz="1200" b="1">
                          <a:solidFill>
                            <a:srgbClr val="FFFFFF"/>
                          </a:solidFill>
                          <a:latin typeface="Arial"/>
                        </a:rPr>
                        <a:t>Role</a:t>
                      </a:r>
                    </a:p>
                  </a:txBody>
                  <a:tcPr marL="73152" marR="73152" marT="36576" marB="36576">
                    <a:solidFill>
                      <a:srgbClr val="004EA8"/>
                    </a:solidFill>
                  </a:tcPr>
                </a:tc>
                <a:tc>
                  <a:txBody>
                    <a:bodyPr/>
                    <a:lstStyle/>
                    <a:p>
                      <a:r>
                        <a:rPr sz="1200" b="1">
                          <a:solidFill>
                            <a:srgbClr val="FFFFFF"/>
                          </a:solidFill>
                          <a:latin typeface="Arial"/>
                        </a:rPr>
                        <a:t>Who</a:t>
                      </a:r>
                    </a:p>
                  </a:txBody>
                  <a:tcPr marL="73152" marR="73152" marT="36576" marB="36576">
                    <a:solidFill>
                      <a:srgbClr val="004EA8"/>
                    </a:solidFill>
                  </a:tcPr>
                </a:tc>
                <a:tc>
                  <a:txBody>
                    <a:bodyPr/>
                    <a:lstStyle/>
                    <a:p>
                      <a:r>
                        <a:rPr sz="1200" b="1">
                          <a:solidFill>
                            <a:srgbClr val="FFFFFF"/>
                          </a:solidFill>
                          <a:latin typeface="Arial"/>
                        </a:rPr>
                        <a:t>Does</a:t>
                      </a:r>
                    </a:p>
                  </a:txBody>
                  <a:tcPr marL="73152" marR="73152" marT="36576" marB="36576">
                    <a:solidFill>
                      <a:srgbClr val="004EA8"/>
                    </a:solidFill>
                  </a:tcPr>
                </a:tc>
              </a:tr>
              <a:tr h="365760">
                <a:tc>
                  <a:txBody>
                    <a:bodyPr/>
                    <a:lstStyle/>
                    <a:p>
                      <a:r>
                        <a:rPr sz="1200" b="0">
                          <a:solidFill>
                            <a:srgbClr val="4B4B4B"/>
                          </a:solidFill>
                          <a:latin typeface="Arial"/>
                        </a:rPr>
                        <a:t>Business owner of BRD-13</a:t>
                      </a:r>
                    </a:p>
                  </a:txBody>
                  <a:tcPr marL="73152" marR="73152" marT="36576" marB="36576">
                    <a:solidFill>
                      <a:srgbClr val="FFFFFF"/>
                    </a:solidFill>
                  </a:tcPr>
                </a:tc>
                <a:tc>
                  <a:txBody>
                    <a:bodyPr/>
                    <a:lstStyle/>
                    <a:p>
                      <a:r>
                        <a:rPr sz="1200" b="0">
                          <a:solidFill>
                            <a:srgbClr val="4B4B4B"/>
                          </a:solidFill>
                          <a:latin typeface="Arial"/>
                        </a:rPr>
                        <a:t>Program Manager, Business Project Services</a:t>
                      </a:r>
                    </a:p>
                  </a:txBody>
                  <a:tcPr marL="73152" marR="73152" marT="36576" marB="36576">
                    <a:solidFill>
                      <a:srgbClr val="FFFFFF"/>
                    </a:solidFill>
                  </a:tcPr>
                </a:tc>
                <a:tc>
                  <a:txBody>
                    <a:bodyPr/>
                    <a:lstStyle/>
                    <a:p>
                      <a:r>
                        <a:rPr sz="1200" b="0">
                          <a:solidFill>
                            <a:srgbClr val="4B4B4B"/>
                          </a:solidFill>
                          <a:latin typeface="Arial"/>
                        </a:rPr>
                        <a:t>Accountable for the set and the cut-over; chairs the go / no-go board</a:t>
                      </a:r>
                    </a:p>
                  </a:txBody>
                  <a:tcPr marL="73152" marR="73152" marT="36576" marB="36576">
                    <a:solidFill>
                      <a:srgbClr val="FFFFFF"/>
                    </a:solidFill>
                  </a:tcPr>
                </a:tc>
              </a:tr>
              <a:tr h="365760">
                <a:tc>
                  <a:txBody>
                    <a:bodyPr/>
                    <a:lstStyle/>
                    <a:p>
                      <a:r>
                        <a:rPr sz="1200" b="0">
                          <a:solidFill>
                            <a:srgbClr val="4B4B4B"/>
                          </a:solidFill>
                          <a:latin typeface="Arial"/>
                        </a:rPr>
                        <a:t>Data Migration Lead</a:t>
                      </a:r>
                    </a:p>
                  </a:txBody>
                  <a:tcPr marL="73152" marR="73152" marT="36576" marB="36576">
                    <a:solidFill>
                      <a:srgbClr val="E5F5FF"/>
                    </a:solidFill>
                  </a:tcPr>
                </a:tc>
                <a:tc>
                  <a:txBody>
                    <a:bodyPr/>
                    <a:lstStyle/>
                    <a:p>
                      <a:r>
                        <a:rPr sz="1200" b="0">
                          <a:solidFill>
                            <a:srgbClr val="4B4B4B"/>
                          </a:solidFill>
                          <a:latin typeface="Arial"/>
                        </a:rPr>
                        <a:t>BDOI (to name)</a:t>
                      </a:r>
                    </a:p>
                  </a:txBody>
                  <a:tcPr marL="73152" marR="73152" marT="36576" marB="36576">
                    <a:solidFill>
                      <a:srgbClr val="E5F5FF"/>
                    </a:solidFill>
                  </a:tcPr>
                </a:tc>
                <a:tc>
                  <a:txBody>
                    <a:bodyPr/>
                    <a:lstStyle/>
                    <a:p>
                      <a:r>
                        <a:rPr sz="1200" b="0">
                          <a:solidFill>
                            <a:srgbClr val="4B4B4B"/>
                          </a:solidFill>
                          <a:latin typeface="Arial"/>
                        </a:rPr>
                        <a:t>Object register and decisions, load approvals (G4), acceptance with the owners (G6), cut-over plan</a:t>
                      </a:r>
                    </a:p>
                  </a:txBody>
                  <a:tcPr marL="73152" marR="73152" marT="36576" marB="36576">
                    <a:solidFill>
                      <a:srgbClr val="E5F5FF"/>
                    </a:solidFill>
                  </a:tcPr>
                </a:tc>
              </a:tr>
              <a:tr h="365760">
                <a:tc>
                  <a:txBody>
                    <a:bodyPr/>
                    <a:lstStyle/>
                    <a:p>
                      <a:r>
                        <a:rPr sz="1200" b="0">
                          <a:solidFill>
                            <a:srgbClr val="4B4B4B"/>
                          </a:solidFill>
                          <a:latin typeface="Arial"/>
                        </a:rPr>
                        <a:t>Data owners</a:t>
                      </a:r>
                    </a:p>
                  </a:txBody>
                  <a:tcPr marL="73152" marR="73152" marT="36576" marB="36576">
                    <a:solidFill>
                      <a:srgbClr val="FFFFFF"/>
                    </a:solidFill>
                  </a:tcPr>
                </a:tc>
                <a:tc>
                  <a:txBody>
                    <a:bodyPr/>
                    <a:lstStyle/>
                    <a:p>
                      <a:r>
                        <a:rPr sz="1200" b="0">
                          <a:solidFill>
                            <a:srgbClr val="4B4B4B"/>
                          </a:solidFill>
                          <a:latin typeface="Arial"/>
                        </a:rPr>
                        <a:t>Department heads per object (workbook sheet Data owners)</a:t>
                      </a:r>
                    </a:p>
                  </a:txBody>
                  <a:tcPr marL="73152" marR="73152" marT="36576" marB="36576">
                    <a:solidFill>
                      <a:srgbClr val="FFFFFF"/>
                    </a:solidFill>
                  </a:tcPr>
                </a:tc>
                <a:tc>
                  <a:txBody>
                    <a:bodyPr/>
                    <a:lstStyle/>
                    <a:p>
                      <a:r>
                        <a:rPr sz="1200" b="0">
                          <a:solidFill>
                            <a:srgbClr val="4B4B4B"/>
                          </a:solidFill>
                          <a:latin typeface="Arial"/>
                        </a:rPr>
                        <a:t>Decide the class (G1), approve the code maps (G2), waivers, accept the object (G6)</a:t>
                      </a:r>
                    </a:p>
                  </a:txBody>
                  <a:tcPr marL="73152" marR="73152" marT="36576" marB="36576">
                    <a:solidFill>
                      <a:srgbClr val="FFFFFF"/>
                    </a:solidFill>
                  </a:tcPr>
                </a:tc>
              </a:tr>
              <a:tr h="365760">
                <a:tc>
                  <a:txBody>
                    <a:bodyPr/>
                    <a:lstStyle/>
                    <a:p>
                      <a:r>
                        <a:rPr sz="1200" b="0">
                          <a:solidFill>
                            <a:srgbClr val="4B4B4B"/>
                          </a:solidFill>
                          <a:latin typeface="Arial"/>
                        </a:rPr>
                        <a:t>Data stewards</a:t>
                      </a:r>
                    </a:p>
                  </a:txBody>
                  <a:tcPr marL="73152" marR="73152" marT="36576" marB="36576">
                    <a:solidFill>
                      <a:srgbClr val="E5F5FF"/>
                    </a:solidFill>
                  </a:tcPr>
                </a:tc>
                <a:tc>
                  <a:txBody>
                    <a:bodyPr/>
                    <a:lstStyle/>
                    <a:p>
                      <a:r>
                        <a:rPr sz="1200" b="0">
                          <a:solidFill>
                            <a:srgbClr val="4B4B4B"/>
                          </a:solidFill>
                          <a:latin typeface="Arial"/>
                        </a:rPr>
                        <a:t>Named staff per object</a:t>
                      </a:r>
                    </a:p>
                  </a:txBody>
                  <a:tcPr marL="73152" marR="73152" marT="36576" marB="36576">
                    <a:solidFill>
                      <a:srgbClr val="E5F5FF"/>
                    </a:solidFill>
                  </a:tcPr>
                </a:tc>
                <a:tc>
                  <a:txBody>
                    <a:bodyPr/>
                    <a:lstStyle/>
                    <a:p>
                      <a:r>
                        <a:rPr sz="1200" b="0">
                          <a:solidFill>
                            <a:srgbClr val="4B4B4B"/>
                          </a:solidFill>
                          <a:latin typeface="Arial"/>
                        </a:rPr>
                        <a:t>Profiling review, cleansing at source, code maps, client match review</a:t>
                      </a:r>
                    </a:p>
                  </a:txBody>
                  <a:tcPr marL="73152" marR="73152" marT="36576" marB="36576">
                    <a:solidFill>
                      <a:srgbClr val="E5F5FF"/>
                    </a:solidFill>
                  </a:tcPr>
                </a:tc>
              </a:tr>
              <a:tr h="365760">
                <a:tc>
                  <a:txBody>
                    <a:bodyPr/>
                    <a:lstStyle/>
                    <a:p>
                      <a:r>
                        <a:rPr sz="1200" b="0">
                          <a:solidFill>
                            <a:srgbClr val="4B4B4B"/>
                          </a:solidFill>
                          <a:latin typeface="Arial"/>
                        </a:rPr>
                        <a:t>Reconciliation approver</a:t>
                      </a:r>
                    </a:p>
                  </a:txBody>
                  <a:tcPr marL="73152" marR="73152" marT="36576" marB="36576">
                    <a:solidFill>
                      <a:srgbClr val="FFFFFF"/>
                    </a:solidFill>
                  </a:tcPr>
                </a:tc>
                <a:tc>
                  <a:txBody>
                    <a:bodyPr/>
                    <a:lstStyle/>
                    <a:p>
                      <a:r>
                        <a:rPr sz="1200" b="0">
                          <a:solidFill>
                            <a:srgbClr val="4B4B4B"/>
                          </a:solidFill>
                          <a:latin typeface="Arial"/>
                        </a:rPr>
                        <a:t>Head, Comptrollership (financial objects)</a:t>
                      </a:r>
                    </a:p>
                  </a:txBody>
                  <a:tcPr marL="73152" marR="73152" marT="36576" marB="36576">
                    <a:solidFill>
                      <a:srgbClr val="FFFFFF"/>
                    </a:solidFill>
                  </a:tcPr>
                </a:tc>
                <a:tc>
                  <a:txBody>
                    <a:bodyPr/>
                    <a:lstStyle/>
                    <a:p>
                      <a:r>
                        <a:rPr sz="1200" b="0">
                          <a:solidFill>
                            <a:srgbClr val="4B4B4B"/>
                          </a:solidFill>
                          <a:latin typeface="Arial"/>
                        </a:rPr>
                        <a:t>Signs the reconciliation (G5); approves breaks, rollbacks and the opening-balance adjustments</a:t>
                      </a:r>
                    </a:p>
                  </a:txBody>
                  <a:tcPr marL="73152" marR="73152" marT="36576" marB="36576">
                    <a:solidFill>
                      <a:srgbClr val="FFFFFF"/>
                    </a:solidFill>
                  </a:tcPr>
                </a:tc>
              </a:tr>
              <a:tr h="365760">
                <a:tc>
                  <a:txBody>
                    <a:bodyPr/>
                    <a:lstStyle/>
                    <a:p>
                      <a:r>
                        <a:rPr sz="1200" b="0">
                          <a:solidFill>
                            <a:srgbClr val="4B4B4B"/>
                          </a:solidFill>
                          <a:latin typeface="Arial"/>
                        </a:rPr>
                        <a:t>BDOI IT</a:t>
                      </a:r>
                    </a:p>
                  </a:txBody>
                  <a:tcPr marL="73152" marR="73152" marT="36576" marB="36576">
                    <a:solidFill>
                      <a:srgbClr val="E5F5FF"/>
                    </a:solidFill>
                  </a:tcPr>
                </a:tc>
                <a:tc>
                  <a:txBody>
                    <a:bodyPr/>
                    <a:lstStyle/>
                    <a:p>
                      <a:r>
                        <a:rPr sz="1200" b="0">
                          <a:solidFill>
                            <a:srgbClr val="4B4B4B"/>
                          </a:solidFill>
                          <a:latin typeface="Arial"/>
                        </a:rPr>
                        <a:t>Legacy system owners</a:t>
                      </a:r>
                    </a:p>
                  </a:txBody>
                  <a:tcPr marL="73152" marR="73152" marT="36576" marB="36576">
                    <a:solidFill>
                      <a:srgbClr val="E5F5FF"/>
                    </a:solidFill>
                  </a:tcPr>
                </a:tc>
                <a:tc>
                  <a:txBody>
                    <a:bodyPr/>
                    <a:lstStyle/>
                    <a:p>
                      <a:r>
                        <a:rPr sz="1200" b="0">
                          <a:solidFill>
                            <a:srgbClr val="4B4B4B"/>
                          </a:solidFill>
                          <a:latin typeface="Arial"/>
                        </a:rPr>
                        <a:t>Extracts and control files, transfer, freeze and read-only mode, decommissioning</a:t>
                      </a:r>
                    </a:p>
                  </a:txBody>
                  <a:tcPr marL="73152" marR="73152" marT="36576" marB="36576">
                    <a:solidFill>
                      <a:srgbClr val="E5F5FF"/>
                    </a:solidFill>
                  </a:tcPr>
                </a:tc>
              </a:tr>
              <a:tr h="365760">
                <a:tc>
                  <a:txBody>
                    <a:bodyPr/>
                    <a:lstStyle/>
                    <a:p>
                      <a:r>
                        <a:rPr sz="1200" b="0">
                          <a:solidFill>
                            <a:srgbClr val="4B4B4B"/>
                          </a:solidFill>
                          <a:latin typeface="Arial"/>
                        </a:rPr>
                        <a:t>iorta TechNXT</a:t>
                      </a:r>
                    </a:p>
                  </a:txBody>
                  <a:tcPr marL="73152" marR="73152" marT="36576" marB="36576">
                    <a:solidFill>
                      <a:srgbClr val="FFFFFF"/>
                    </a:solidFill>
                  </a:tcPr>
                </a:tc>
                <a:tc>
                  <a:txBody>
                    <a:bodyPr/>
                    <a:lstStyle/>
                    <a:p>
                      <a:r>
                        <a:rPr sz="1200" b="0">
                          <a:solidFill>
                            <a:srgbClr val="4B4B4B"/>
                          </a:solidFill>
                          <a:latin typeface="Arial"/>
                        </a:rPr>
                        <a:t>Project Manager, Migration Lead, Migration Operator</a:t>
                      </a:r>
                    </a:p>
                  </a:txBody>
                  <a:tcPr marL="73152" marR="73152" marT="36576" marB="36576">
                    <a:solidFill>
                      <a:srgbClr val="FFFFFF"/>
                    </a:solidFill>
                  </a:tcPr>
                </a:tc>
                <a:tc>
                  <a:txBody>
                    <a:bodyPr/>
                    <a:lstStyle/>
                    <a:p>
                      <a:r>
                        <a:rPr sz="1200" b="0">
                          <a:solidFill>
                            <a:srgbClr val="4B4B4B"/>
                          </a:solidFill>
                          <a:latin typeface="Arial"/>
                        </a:rPr>
                        <a:t>Loads, reconciliation runs, profiling, the console, the rehearsals</a:t>
                      </a:r>
                    </a:p>
                  </a:txBody>
                  <a:tcPr marL="73152" marR="73152" marT="36576" marB="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Trial migrations and the dress rehearsal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2993731"/>
                <a:gridCol w="5811360"/>
              </a:tblGrid>
              <a:tr h="365760">
                <a:tc>
                  <a:txBody>
                    <a:bodyPr/>
                    <a:lstStyle/>
                    <a:p>
                      <a:r>
                        <a:rPr sz="1200" b="1">
                          <a:solidFill>
                            <a:srgbClr val="FFFFFF"/>
                          </a:solidFill>
                          <a:latin typeface="Arial"/>
                        </a:rPr>
                        <a:t>Run</a:t>
                      </a:r>
                    </a:p>
                  </a:txBody>
                  <a:tcPr marL="73152" marR="73152" marT="36576" marB="36576">
                    <a:solidFill>
                      <a:srgbClr val="004EA8"/>
                    </a:solidFill>
                  </a:tcPr>
                </a:tc>
                <a:tc>
                  <a:txBody>
                    <a:bodyPr/>
                    <a:lstStyle/>
                    <a:p>
                      <a:r>
                        <a:rPr sz="1200" b="1">
                          <a:solidFill>
                            <a:srgbClr val="FFFFFF"/>
                          </a:solidFill>
                          <a:latin typeface="Arial"/>
                        </a:rPr>
                        <a:t>When and where</a:t>
                      </a:r>
                    </a:p>
                  </a:txBody>
                  <a:tcPr marL="73152" marR="73152" marT="36576" marB="36576">
                    <a:solidFill>
                      <a:srgbClr val="004EA8"/>
                    </a:solidFill>
                  </a:tcPr>
                </a:tc>
                <a:tc>
                  <a:txBody>
                    <a:bodyPr/>
                    <a:lstStyle/>
                    <a:p>
                      <a:r>
                        <a:rPr sz="1200" b="1">
                          <a:solidFill>
                            <a:srgbClr val="FFFFFF"/>
                          </a:solidFill>
                          <a:latin typeface="Arial"/>
                        </a:rPr>
                        <a:t>What it proves</a:t>
                      </a:r>
                    </a:p>
                  </a:txBody>
                  <a:tcPr marL="73152" marR="73152" marT="36576" marB="36576">
                    <a:solidFill>
                      <a:srgbClr val="004EA8"/>
                    </a:solidFill>
                  </a:tcPr>
                </a:tc>
              </a:tr>
              <a:tr h="365760">
                <a:tc>
                  <a:txBody>
                    <a:bodyPr/>
                    <a:lstStyle/>
                    <a:p>
                      <a:r>
                        <a:rPr sz="1200" b="0">
                          <a:solidFill>
                            <a:srgbClr val="4B4B4B"/>
                          </a:solidFill>
                          <a:latin typeface="Arial"/>
                        </a:rPr>
                        <a:t>Trial migration 1</a:t>
                      </a:r>
                    </a:p>
                  </a:txBody>
                  <a:tcPr marL="73152" marR="73152" marT="36576" marB="36576">
                    <a:solidFill>
                      <a:srgbClr val="FFFFFF"/>
                    </a:solidFill>
                  </a:tcPr>
                </a:tc>
                <a:tc>
                  <a:txBody>
                    <a:bodyPr/>
                    <a:lstStyle/>
                    <a:p>
                      <a:r>
                        <a:rPr sz="1200" b="0">
                          <a:solidFill>
                            <a:srgbClr val="4B4B4B"/>
                          </a:solidFill>
                          <a:latin typeface="Arial"/>
                        </a:rPr>
                        <a:t>19-30 Apr 2027, SIT</a:t>
                      </a:r>
                    </a:p>
                  </a:txBody>
                  <a:tcPr marL="73152" marR="73152" marT="36576" marB="36576">
                    <a:solidFill>
                      <a:srgbClr val="FFFFFF"/>
                    </a:solidFill>
                  </a:tcPr>
                </a:tc>
                <a:tc>
                  <a:txBody>
                    <a:bodyPr/>
                    <a:lstStyle/>
                    <a:p>
                      <a:r>
                        <a:rPr sz="1200" b="0">
                          <a:solidFill>
                            <a:srgbClr val="4B4B4B"/>
                          </a:solidFill>
                          <a:latin typeface="Arial"/>
                        </a:rPr>
                        <a:t>Reference data and clients first, then policy headers and the RA-sent file; timings; profiling report to the owners</a:t>
                      </a:r>
                    </a:p>
                  </a:txBody>
                  <a:tcPr marL="73152" marR="73152" marT="36576" marB="36576">
                    <a:solidFill>
                      <a:srgbClr val="FFFFFF"/>
                    </a:solidFill>
                  </a:tcPr>
                </a:tc>
              </a:tr>
              <a:tr h="365760">
                <a:tc>
                  <a:txBody>
                    <a:bodyPr/>
                    <a:lstStyle/>
                    <a:p>
                      <a:r>
                        <a:rPr sz="1200" b="0">
                          <a:solidFill>
                            <a:srgbClr val="4B4B4B"/>
                          </a:solidFill>
                          <a:latin typeface="Arial"/>
                        </a:rPr>
                        <a:t>Trial migration 2</a:t>
                      </a:r>
                    </a:p>
                  </a:txBody>
                  <a:tcPr marL="73152" marR="73152" marT="36576" marB="36576">
                    <a:solidFill>
                      <a:srgbClr val="E5F5FF"/>
                    </a:solidFill>
                  </a:tcPr>
                </a:tc>
                <a:tc>
                  <a:txBody>
                    <a:bodyPr/>
                    <a:lstStyle/>
                    <a:p>
                      <a:r>
                        <a:rPr sz="1200" b="0">
                          <a:solidFill>
                            <a:srgbClr val="4B4B4B"/>
                          </a:solidFill>
                          <a:latin typeface="Arial"/>
                        </a:rPr>
                        <a:t>5-16 Jul 2027, SIT</a:t>
                      </a:r>
                    </a:p>
                  </a:txBody>
                  <a:tcPr marL="73152" marR="73152" marT="36576" marB="36576">
                    <a:solidFill>
                      <a:srgbClr val="E5F5FF"/>
                    </a:solidFill>
                  </a:tcPr>
                </a:tc>
                <a:tc>
                  <a:txBody>
                    <a:bodyPr/>
                    <a:lstStyle/>
                    <a:p>
                      <a:r>
                        <a:rPr sz="1200" b="0">
                          <a:solidFill>
                            <a:srgbClr val="4B4B4B"/>
                          </a:solidFill>
                          <a:latin typeface="Arial"/>
                        </a:rPr>
                        <a:t>All objects end to end; L1-L5 reconciled; Migration Clearing 0.00</a:t>
                      </a:r>
                    </a:p>
                  </a:txBody>
                  <a:tcPr marL="73152" marR="73152" marT="36576" marB="36576">
                    <a:solidFill>
                      <a:srgbClr val="E5F5FF"/>
                    </a:solidFill>
                  </a:tcPr>
                </a:tc>
              </a:tr>
              <a:tr h="365760">
                <a:tc>
                  <a:txBody>
                    <a:bodyPr/>
                    <a:lstStyle/>
                    <a:p>
                      <a:r>
                        <a:rPr sz="1200" b="0">
                          <a:solidFill>
                            <a:srgbClr val="4B4B4B"/>
                          </a:solidFill>
                          <a:latin typeface="Arial"/>
                        </a:rPr>
                        <a:t>Trial migration 3</a:t>
                      </a:r>
                    </a:p>
                  </a:txBody>
                  <a:tcPr marL="73152" marR="73152" marT="36576" marB="36576">
                    <a:solidFill>
                      <a:srgbClr val="FFFFFF"/>
                    </a:solidFill>
                  </a:tcPr>
                </a:tc>
                <a:tc>
                  <a:txBody>
                    <a:bodyPr/>
                    <a:lstStyle/>
                    <a:p>
                      <a:r>
                        <a:rPr sz="1200" b="0">
                          <a:solidFill>
                            <a:srgbClr val="4B4B4B"/>
                          </a:solidFill>
                          <a:latin typeface="Arial"/>
                        </a:rPr>
                        <a:t>2-13 Aug 2027, UAT</a:t>
                      </a:r>
                    </a:p>
                  </a:txBody>
                  <a:tcPr marL="73152" marR="73152" marT="36576" marB="36576">
                    <a:solidFill>
                      <a:srgbClr val="FFFFFF"/>
                    </a:solidFill>
                  </a:tcPr>
                </a:tc>
                <a:tc>
                  <a:txBody>
                    <a:bodyPr/>
                    <a:lstStyle/>
                    <a:p>
                      <a:r>
                        <a:rPr sz="1200" b="0">
                          <a:solidFill>
                            <a:srgbClr val="4B4B4B"/>
                          </a:solidFill>
                          <a:latin typeface="Arial"/>
                        </a:rPr>
                        <a:t>Business verification on screen; the Drop 1 UAT runs on migrated data</a:t>
                      </a:r>
                    </a:p>
                  </a:txBody>
                  <a:tcPr marL="73152" marR="73152" marT="36576" marB="36576">
                    <a:solidFill>
                      <a:srgbClr val="FFFFFF"/>
                    </a:solidFill>
                  </a:tcPr>
                </a:tc>
              </a:tr>
              <a:tr h="365760">
                <a:tc>
                  <a:txBody>
                    <a:bodyPr/>
                    <a:lstStyle/>
                    <a:p>
                      <a:r>
                        <a:rPr sz="1200" b="0">
                          <a:solidFill>
                            <a:srgbClr val="4B4B4B"/>
                          </a:solidFill>
                          <a:latin typeface="Arial"/>
                        </a:rPr>
                        <a:t>Trial migration 4</a:t>
                      </a:r>
                    </a:p>
                  </a:txBody>
                  <a:tcPr marL="73152" marR="73152" marT="36576" marB="36576">
                    <a:solidFill>
                      <a:srgbClr val="E5F5FF"/>
                    </a:solidFill>
                  </a:tcPr>
                </a:tc>
                <a:tc>
                  <a:txBody>
                    <a:bodyPr/>
                    <a:lstStyle/>
                    <a:p>
                      <a:r>
                        <a:rPr sz="1200" b="0">
                          <a:solidFill>
                            <a:srgbClr val="4B4B4B"/>
                          </a:solidFill>
                          <a:latin typeface="Arial"/>
                        </a:rPr>
                        <a:t>4-15 Oct 2027, UAT</a:t>
                      </a:r>
                    </a:p>
                  </a:txBody>
                  <a:tcPr marL="73152" marR="73152" marT="36576" marB="36576">
                    <a:solidFill>
                      <a:srgbClr val="E5F5FF"/>
                    </a:solidFill>
                  </a:tcPr>
                </a:tc>
                <a:tc>
                  <a:txBody>
                    <a:bodyPr/>
                    <a:lstStyle/>
                    <a:p>
                      <a:r>
                        <a:rPr sz="1200" b="0">
                          <a:solidFill>
                            <a:srgbClr val="4B4B4B"/>
                          </a:solidFill>
                          <a:latin typeface="Arial"/>
                        </a:rPr>
                        <a:t>Timed as a cut-over; go-live renewal extraction; a test opening-balance adjustment</a:t>
                      </a:r>
                    </a:p>
                  </a:txBody>
                  <a:tcPr marL="73152" marR="73152" marT="36576" marB="36576">
                    <a:solidFill>
                      <a:srgbClr val="E5F5FF"/>
                    </a:solidFill>
                  </a:tcPr>
                </a:tc>
              </a:tr>
              <a:tr h="365760">
                <a:tc>
                  <a:txBody>
                    <a:bodyPr/>
                    <a:lstStyle/>
                    <a:p>
                      <a:r>
                        <a:rPr sz="1200" b="0">
                          <a:solidFill>
                            <a:srgbClr val="4B4B4B"/>
                          </a:solidFill>
                          <a:latin typeface="Arial"/>
                        </a:rPr>
                        <a:t>Dress rehearsal</a:t>
                      </a:r>
                    </a:p>
                  </a:txBody>
                  <a:tcPr marL="73152" marR="73152" marT="36576" marB="36576">
                    <a:solidFill>
                      <a:srgbClr val="FFFFFF"/>
                    </a:solidFill>
                  </a:tcPr>
                </a:tc>
                <a:tc>
                  <a:txBody>
                    <a:bodyPr/>
                    <a:lstStyle/>
                    <a:p>
                      <a:r>
                        <a:rPr sz="1200" b="0">
                          <a:solidFill>
                            <a:srgbClr val="4B4B4B"/>
                          </a:solidFill>
                          <a:latin typeface="Arial"/>
                        </a:rPr>
                        <a:t>15-26 Nov 2027, production-sized</a:t>
                      </a:r>
                    </a:p>
                  </a:txBody>
                  <a:tcPr marL="73152" marR="73152" marT="36576" marB="36576">
                    <a:solidFill>
                      <a:srgbClr val="FFFFFF"/>
                    </a:solidFill>
                  </a:tcPr>
                </a:tc>
                <a:tc>
                  <a:txBody>
                    <a:bodyPr/>
                    <a:lstStyle/>
                    <a:p>
                      <a:r>
                        <a:rPr sz="1200" b="0">
                          <a:solidFill>
                            <a:srgbClr val="4B4B4B"/>
                          </a:solidFill>
                          <a:latin typeface="Arial"/>
                        </a:rPr>
                        <a:t>Full volume within the window with 20 percent margin; rollback rehearsed</a:t>
                      </a:r>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sign-off gates of every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2113221"/>
                <a:gridCol w="5811360"/>
                <a:gridCol w="3169832"/>
              </a:tblGrid>
              <a:tr h="365760">
                <a:tc>
                  <a:txBody>
                    <a:bodyPr/>
                    <a:lstStyle/>
                    <a:p>
                      <a:r>
                        <a:rPr sz="1200" b="1">
                          <a:solidFill>
                            <a:srgbClr val="FFFFFF"/>
                          </a:solidFill>
                          <a:latin typeface="Arial"/>
                        </a:rPr>
                        <a:t>Gate</a:t>
                      </a:r>
                    </a:p>
                  </a:txBody>
                  <a:tcPr marL="73152" marR="73152" marT="36576" marB="36576">
                    <a:solidFill>
                      <a:srgbClr val="004EA8"/>
                    </a:solidFill>
                  </a:tcPr>
                </a:tc>
                <a:tc>
                  <a:txBody>
                    <a:bodyPr/>
                    <a:lstStyle/>
                    <a:p>
                      <a:r>
                        <a:rPr sz="1200" b="1">
                          <a:solidFill>
                            <a:srgbClr val="FFFFFF"/>
                          </a:solidFill>
                          <a:latin typeface="Arial"/>
                        </a:rPr>
                        <a:t>What is signed</a:t>
                      </a:r>
                    </a:p>
                  </a:txBody>
                  <a:tcPr marL="73152" marR="73152" marT="36576" marB="36576">
                    <a:solidFill>
                      <a:srgbClr val="004EA8"/>
                    </a:solidFill>
                  </a:tcPr>
                </a:tc>
                <a:tc>
                  <a:txBody>
                    <a:bodyPr/>
                    <a:lstStyle/>
                    <a:p>
                      <a:r>
                        <a:rPr sz="1200" b="1">
                          <a:solidFill>
                            <a:srgbClr val="FFFFFF"/>
                          </a:solidFill>
                          <a:latin typeface="Arial"/>
                        </a:rPr>
                        <a:t>By</a:t>
                      </a:r>
                    </a:p>
                  </a:txBody>
                  <a:tcPr marL="73152" marR="73152" marT="36576" marB="36576">
                    <a:solidFill>
                      <a:srgbClr val="004EA8"/>
                    </a:solidFill>
                  </a:tcPr>
                </a:tc>
              </a:tr>
              <a:tr h="365760">
                <a:tc>
                  <a:txBody>
                    <a:bodyPr/>
                    <a:lstStyle/>
                    <a:p>
                      <a:r>
                        <a:rPr sz="1200" b="0">
                          <a:solidFill>
                            <a:srgbClr val="4B4B4B"/>
                          </a:solidFill>
                          <a:latin typeface="Arial"/>
                        </a:rPr>
                        <a:t>G1 Decision</a:t>
                      </a:r>
                    </a:p>
                  </a:txBody>
                  <a:tcPr marL="73152" marR="73152" marT="36576" marB="36576">
                    <a:solidFill>
                      <a:srgbClr val="FFFFFF"/>
                    </a:solidFill>
                  </a:tcPr>
                </a:tc>
                <a:tc>
                  <a:txBody>
                    <a:bodyPr/>
                    <a:lstStyle/>
                    <a:p>
                      <a:r>
                        <a:rPr sz="1200" b="0">
                          <a:solidFill>
                            <a:srgbClr val="4B4B4B"/>
                          </a:solidFill>
                          <a:latin typeface="Arial"/>
                        </a:rPr>
                        <a:t>The class of the object with the four criteria</a:t>
                      </a:r>
                    </a:p>
                  </a:txBody>
                  <a:tcPr marL="73152" marR="73152" marT="36576" marB="36576">
                    <a:solidFill>
                      <a:srgbClr val="FFFFFF"/>
                    </a:solidFill>
                  </a:tcPr>
                </a:tc>
                <a:tc>
                  <a:txBody>
                    <a:bodyPr/>
                    <a:lstStyle/>
                    <a:p>
                      <a:r>
                        <a:rPr sz="1200" b="0">
                          <a:solidFill>
                            <a:srgbClr val="4B4B4B"/>
                          </a:solidFill>
                          <a:latin typeface="Arial"/>
                        </a:rPr>
                        <a:t>Business owner</a:t>
                      </a:r>
                    </a:p>
                  </a:txBody>
                  <a:tcPr marL="73152" marR="73152" marT="36576" marB="36576">
                    <a:solidFill>
                      <a:srgbClr val="FFFFFF"/>
                    </a:solidFill>
                  </a:tcPr>
                </a:tc>
              </a:tr>
              <a:tr h="365760">
                <a:tc>
                  <a:txBody>
                    <a:bodyPr/>
                    <a:lstStyle/>
                    <a:p>
                      <a:r>
                        <a:rPr sz="1200" b="0">
                          <a:solidFill>
                            <a:srgbClr val="4B4B4B"/>
                          </a:solidFill>
                          <a:latin typeface="Arial"/>
                        </a:rPr>
                        <a:t>G2 Mapping</a:t>
                      </a:r>
                    </a:p>
                  </a:txBody>
                  <a:tcPr marL="73152" marR="73152" marT="36576" marB="36576">
                    <a:solidFill>
                      <a:srgbClr val="E5F5FF"/>
                    </a:solidFill>
                  </a:tcPr>
                </a:tc>
                <a:tc>
                  <a:txBody>
                    <a:bodyPr/>
                    <a:lstStyle/>
                    <a:p>
                      <a:r>
                        <a:rPr sz="1200" b="0">
                          <a:solidFill>
                            <a:srgbClr val="4B4B4B"/>
                          </a:solidFill>
                          <a:latin typeface="Arial"/>
                        </a:rPr>
                        <a:t>Layouts frozen; the code maps used approved</a:t>
                      </a:r>
                    </a:p>
                  </a:txBody>
                  <a:tcPr marL="73152" marR="73152" marT="36576" marB="36576">
                    <a:solidFill>
                      <a:srgbClr val="E5F5FF"/>
                    </a:solidFill>
                  </a:tcPr>
                </a:tc>
                <a:tc>
                  <a:txBody>
                    <a:bodyPr/>
                    <a:lstStyle/>
                    <a:p>
                      <a:r>
                        <a:rPr sz="1200" b="0">
                          <a:solidFill>
                            <a:srgbClr val="4B4B4B"/>
                          </a:solidFill>
                          <a:latin typeface="Arial"/>
                        </a:rPr>
                        <a:t>Business owner</a:t>
                      </a:r>
                    </a:p>
                  </a:txBody>
                  <a:tcPr marL="73152" marR="73152" marT="36576" marB="36576">
                    <a:solidFill>
                      <a:srgbClr val="E5F5FF"/>
                    </a:solidFill>
                  </a:tcPr>
                </a:tc>
              </a:tr>
              <a:tr h="365760">
                <a:tc>
                  <a:txBody>
                    <a:bodyPr/>
                    <a:lstStyle/>
                    <a:p>
                      <a:r>
                        <a:rPr sz="1200" b="0">
                          <a:solidFill>
                            <a:srgbClr val="4B4B4B"/>
                          </a:solidFill>
                          <a:latin typeface="Arial"/>
                        </a:rPr>
                        <a:t>G3 Validation</a:t>
                      </a:r>
                    </a:p>
                  </a:txBody>
                  <a:tcPr marL="73152" marR="73152" marT="36576" marB="36576">
                    <a:solidFill>
                      <a:srgbClr val="FFFFFF"/>
                    </a:solidFill>
                  </a:tcPr>
                </a:tc>
                <a:tc>
                  <a:txBody>
                    <a:bodyPr/>
                    <a:lstStyle/>
                    <a:p>
                      <a:r>
                        <a:rPr sz="1200" b="0">
                          <a:solidFill>
                            <a:srgbClr val="4B4B4B"/>
                          </a:solidFill>
                          <a:latin typeface="Arial"/>
                        </a:rPr>
                        <a:t>Error rate within the limit; waivers approved; no pair to review</a:t>
                      </a:r>
                    </a:p>
                  </a:txBody>
                  <a:tcPr marL="73152" marR="73152" marT="36576" marB="36576">
                    <a:solidFill>
                      <a:srgbClr val="FFFFFF"/>
                    </a:solidFill>
                  </a:tcPr>
                </a:tc>
                <a:tc>
                  <a:txBody>
                    <a:bodyPr/>
                    <a:lstStyle/>
                    <a:p>
                      <a:r>
                        <a:rPr sz="1200" b="0">
                          <a:solidFill>
                            <a:srgbClr val="4B4B4B"/>
                          </a:solidFill>
                          <a:latin typeface="Arial"/>
                        </a:rPr>
                        <a:t>Data Steward (waivers by the owner)</a:t>
                      </a:r>
                    </a:p>
                  </a:txBody>
                  <a:tcPr marL="73152" marR="73152" marT="36576" marB="36576">
                    <a:solidFill>
                      <a:srgbClr val="FFFFFF"/>
                    </a:solidFill>
                  </a:tcPr>
                </a:tc>
              </a:tr>
              <a:tr h="365760">
                <a:tc>
                  <a:txBody>
                    <a:bodyPr/>
                    <a:lstStyle/>
                    <a:p>
                      <a:r>
                        <a:rPr sz="1200" b="0">
                          <a:solidFill>
                            <a:srgbClr val="4B4B4B"/>
                          </a:solidFill>
                          <a:latin typeface="Arial"/>
                        </a:rPr>
                        <a:t>G4 Load approval</a:t>
                      </a:r>
                    </a:p>
                  </a:txBody>
                  <a:tcPr marL="73152" marR="73152" marT="36576" marB="36576">
                    <a:solidFill>
                      <a:srgbClr val="E5F5FF"/>
                    </a:solidFill>
                  </a:tcPr>
                </a:tc>
                <a:tc>
                  <a:txBody>
                    <a:bodyPr/>
                    <a:lstStyle/>
                    <a:p>
                      <a:r>
                        <a:rPr sz="1200" b="0">
                          <a:solidFill>
                            <a:srgbClr val="4B4B4B"/>
                          </a:solidFill>
                          <a:latin typeface="Arial"/>
                        </a:rPr>
                        <a:t>The batch may be loaded</a:t>
                      </a:r>
                    </a:p>
                  </a:txBody>
                  <a:tcPr marL="73152" marR="73152" marT="36576" marB="36576">
                    <a:solidFill>
                      <a:srgbClr val="E5F5FF"/>
                    </a:solidFill>
                  </a:tcPr>
                </a:tc>
                <a:tc>
                  <a:txBody>
                    <a:bodyPr/>
                    <a:lstStyle/>
                    <a:p>
                      <a:r>
                        <a:rPr sz="1200" b="0">
                          <a:solidFill>
                            <a:srgbClr val="4B4B4B"/>
                          </a:solidFill>
                          <a:latin typeface="Arial"/>
                        </a:rPr>
                        <a:t>Data Migration Lead; Head of Comptrollership for an adjustment</a:t>
                      </a:r>
                    </a:p>
                  </a:txBody>
                  <a:tcPr marL="73152" marR="73152" marT="36576" marB="36576">
                    <a:solidFill>
                      <a:srgbClr val="E5F5FF"/>
                    </a:solidFill>
                  </a:tcPr>
                </a:tc>
              </a:tr>
              <a:tr h="365760">
                <a:tc>
                  <a:txBody>
                    <a:bodyPr/>
                    <a:lstStyle/>
                    <a:p>
                      <a:r>
                        <a:rPr sz="1200" b="0">
                          <a:solidFill>
                            <a:srgbClr val="4B4B4B"/>
                          </a:solidFill>
                          <a:latin typeface="Arial"/>
                        </a:rPr>
                        <a:t>G5 Reconciliation</a:t>
                      </a:r>
                    </a:p>
                  </a:txBody>
                  <a:tcPr marL="73152" marR="73152" marT="36576" marB="36576">
                    <a:solidFill>
                      <a:srgbClr val="FFFFFF"/>
                    </a:solidFill>
                  </a:tcPr>
                </a:tc>
                <a:tc>
                  <a:txBody>
                    <a:bodyPr/>
                    <a:lstStyle/>
                    <a:p>
                      <a:r>
                        <a:rPr sz="1200" b="0">
                          <a:solidFill>
                            <a:srgbClr val="4B4B4B"/>
                          </a:solidFill>
                          <a:latin typeface="Arial"/>
                        </a:rPr>
                        <a:t>L1-L5 matched or explained</a:t>
                      </a:r>
                    </a:p>
                  </a:txBody>
                  <a:tcPr marL="73152" marR="73152" marT="36576" marB="36576">
                    <a:solidFill>
                      <a:srgbClr val="FFFFFF"/>
                    </a:solidFill>
                  </a:tcPr>
                </a:tc>
                <a:tc>
                  <a:txBody>
                    <a:bodyPr/>
                    <a:lstStyle/>
                    <a:p>
                      <a:r>
                        <a:rPr sz="1200" b="0">
                          <a:solidFill>
                            <a:srgbClr val="4B4B4B"/>
                          </a:solidFill>
                          <a:latin typeface="Arial"/>
                        </a:rPr>
                        <a:t>Reconciliation approver</a:t>
                      </a:r>
                    </a:p>
                  </a:txBody>
                  <a:tcPr marL="73152" marR="73152" marT="36576" marB="36576">
                    <a:solidFill>
                      <a:srgbClr val="FFFFFF"/>
                    </a:solidFill>
                  </a:tcPr>
                </a:tc>
              </a:tr>
              <a:tr h="365760">
                <a:tc>
                  <a:txBody>
                    <a:bodyPr/>
                    <a:lstStyle/>
                    <a:p>
                      <a:r>
                        <a:rPr sz="1200" b="0">
                          <a:solidFill>
                            <a:srgbClr val="4B4B4B"/>
                          </a:solidFill>
                          <a:latin typeface="Arial"/>
                        </a:rPr>
                        <a:t>G6 Acceptance</a:t>
                      </a:r>
                    </a:p>
                  </a:txBody>
                  <a:tcPr marL="73152" marR="73152" marT="36576" marB="36576">
                    <a:solidFill>
                      <a:srgbClr val="E5F5FF"/>
                    </a:solidFill>
                  </a:tcPr>
                </a:tc>
                <a:tc>
                  <a:txBody>
                    <a:bodyPr/>
                    <a:lstStyle/>
                    <a:p>
                      <a:r>
                        <a:rPr sz="1200" b="0">
                          <a:solidFill>
                            <a:srgbClr val="4B4B4B"/>
                          </a:solidFill>
                          <a:latin typeface="Arial"/>
                        </a:rPr>
                        <a:t>Samples verified on the BIBS screens</a:t>
                      </a:r>
                    </a:p>
                  </a:txBody>
                  <a:tcPr marL="73152" marR="73152" marT="36576" marB="36576">
                    <a:solidFill>
                      <a:srgbClr val="E5F5FF"/>
                    </a:solidFill>
                  </a:tcPr>
                </a:tc>
                <a:tc>
                  <a:txBody>
                    <a:bodyPr/>
                    <a:lstStyle/>
                    <a:p>
                      <a:r>
                        <a:rPr sz="1200" b="0">
                          <a:solidFill>
                            <a:srgbClr val="4B4B4B"/>
                          </a:solidFill>
                          <a:latin typeface="Arial"/>
                        </a:rPr>
                        <a:t>Business owner and Data Migration Lead</a:t>
                      </a:r>
                    </a:p>
                  </a:txBody>
                  <a:tcPr marL="73152" marR="73152" marT="36576" marB="36576">
                    <a:solidFill>
                      <a:srgbClr val="E5F5FF"/>
                    </a:solidFill>
                  </a:tcPr>
                </a:tc>
              </a:tr>
              <a:tr h="365760">
                <a:tc>
                  <a:txBody>
                    <a:bodyPr/>
                    <a:lstStyle/>
                    <a:p>
                      <a:r>
                        <a:rPr sz="1200" b="0">
                          <a:solidFill>
                            <a:srgbClr val="4B4B4B"/>
                          </a:solidFill>
                          <a:latin typeface="Arial"/>
                        </a:rPr>
                        <a:t>G7 Go-live</a:t>
                      </a:r>
                    </a:p>
                  </a:txBody>
                  <a:tcPr marL="73152" marR="73152" marT="36576" marB="36576">
                    <a:solidFill>
                      <a:srgbClr val="FFFFFF"/>
                    </a:solidFill>
                  </a:tcPr>
                </a:tc>
                <a:tc>
                  <a:txBody>
                    <a:bodyPr/>
                    <a:lstStyle/>
                    <a:p>
                      <a:r>
                        <a:rPr sz="1200" b="0">
                          <a:solidFill>
                            <a:srgbClr val="4B4B4B"/>
                          </a:solidFill>
                          <a:latin typeface="Arial"/>
                        </a:rPr>
                        <a:t>Day-1 objects accepted; the twelve criteria met</a:t>
                      </a:r>
                    </a:p>
                  </a:txBody>
                  <a:tcPr marL="73152" marR="73152" marT="36576" marB="36576">
                    <a:solidFill>
                      <a:srgbClr val="FFFFFF"/>
                    </a:solidFill>
                  </a:tcPr>
                </a:tc>
                <a:tc>
                  <a:txBody>
                    <a:bodyPr/>
                    <a:lstStyle/>
                    <a:p>
                      <a:r>
                        <a:rPr sz="1200" b="0">
                          <a:solidFill>
                            <a:srgbClr val="4B4B4B"/>
                          </a:solidFill>
                          <a:latin typeface="Arial"/>
                        </a:rPr>
                        <a:t>Go / no-go board</a:t>
                      </a:r>
                    </a:p>
                  </a:txBody>
                  <a:tcPr marL="73152" marR="73152" marT="36576" marB="36576">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Cut-over and go / no-go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Before the freeze</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Pre-load of reference data and clients from 20 Dec 2027</a:t>
            </a:r>
          </a:p>
          <a:p>
            <a:pPr>
              <a:spcAft>
                <a:spcPts val="600"/>
              </a:spcAft>
            </a:pPr>
            <a:r>
              <a:rPr sz="1200">
                <a:solidFill>
                  <a:srgbClr val="004EA8"/>
                </a:solidFill>
                <a:latin typeface="Arial"/>
              </a:rPr>
              <a:t>•  </a:t>
            </a:r>
            <a:r>
              <a:rPr sz="1200">
                <a:solidFill>
                  <a:srgbClr val="4B4B4B"/>
                </a:solidFill>
                <a:latin typeface="Arial"/>
              </a:rPr>
              <a:t>Daily client deltas</a:t>
            </a:r>
          </a:p>
          <a:p>
            <a:pPr>
              <a:spcAft>
                <a:spcPts val="600"/>
              </a:spcAft>
            </a:pPr>
            <a:r>
              <a:rPr sz="1200">
                <a:solidFill>
                  <a:srgbClr val="004EA8"/>
                </a:solidFill>
                <a:latin typeface="Arial"/>
              </a:rPr>
              <a:t>•  </a:t>
            </a:r>
            <a:r>
              <a:rPr sz="1200">
                <a:solidFill>
                  <a:srgbClr val="4B4B4B"/>
                </a:solidFill>
                <a:latin typeface="Arial"/>
              </a:rPr>
              <a:t>Code map freeze 27 Dec</a:t>
            </a:r>
          </a:p>
          <a:p>
            <a:pPr>
              <a:spcAft>
                <a:spcPts val="600"/>
              </a:spcAft>
            </a:pPr>
            <a:r>
              <a:rPr sz="1200">
                <a:solidFill>
                  <a:srgbClr val="004EA8"/>
                </a:solidFill>
                <a:latin typeface="Arial"/>
              </a:rPr>
              <a:t>•  </a:t>
            </a:r>
            <a:r>
              <a:rPr sz="1200">
                <a:solidFill>
                  <a:srgbClr val="4B4B4B"/>
                </a:solidFill>
                <a:latin typeface="Arial"/>
              </a:rPr>
              <a:t>December soft close by 20 Dec</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Cut-over weekend</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Legacy freeze Fri 31 Dec 22:00</a:t>
            </a:r>
          </a:p>
          <a:p>
            <a:pPr>
              <a:spcAft>
                <a:spcPts val="600"/>
              </a:spcAft>
            </a:pPr>
            <a:r>
              <a:rPr sz="1200">
                <a:solidFill>
                  <a:srgbClr val="004EA8"/>
                </a:solidFill>
                <a:latin typeface="Arial"/>
              </a:rPr>
              <a:t>•  </a:t>
            </a:r>
            <a:r>
              <a:rPr sz="1200">
                <a:solidFill>
                  <a:srgbClr val="4B4B4B"/>
                </a:solidFill>
                <a:latin typeface="Arial"/>
              </a:rPr>
              <a:t>Final extracts and loads Sat 1 Jan</a:t>
            </a:r>
          </a:p>
          <a:p>
            <a:pPr>
              <a:spcAft>
                <a:spcPts val="600"/>
              </a:spcAft>
            </a:pPr>
            <a:r>
              <a:rPr sz="1200">
                <a:solidFill>
                  <a:srgbClr val="004EA8"/>
                </a:solidFill>
                <a:latin typeface="Arial"/>
              </a:rPr>
              <a:t>•  </a:t>
            </a:r>
            <a:r>
              <a:rPr sz="1200">
                <a:solidFill>
                  <a:srgbClr val="4B4B4B"/>
                </a:solidFill>
                <a:latin typeface="Arial"/>
              </a:rPr>
              <a:t>Reconciliation, samples, smoke test Sun 2 Jan</a:t>
            </a:r>
          </a:p>
          <a:p>
            <a:pPr>
              <a:spcAft>
                <a:spcPts val="600"/>
              </a:spcAft>
            </a:pPr>
            <a:r>
              <a:rPr sz="1200">
                <a:solidFill>
                  <a:srgbClr val="004EA8"/>
                </a:solidFill>
                <a:latin typeface="Arial"/>
              </a:rPr>
              <a:t>•  </a:t>
            </a:r>
            <a:r>
              <a:rPr sz="1200">
                <a:solidFill>
                  <a:srgbClr val="4B4B4B"/>
                </a:solidFill>
                <a:latin typeface="Arial"/>
              </a:rPr>
              <a:t>Go / no-go Sun 2 Jan 18:00</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Go-live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Renewal extraction Mon 3 Jan 04:00</a:t>
            </a:r>
          </a:p>
          <a:p>
            <a:pPr>
              <a:spcAft>
                <a:spcPts val="600"/>
              </a:spcAft>
            </a:pPr>
            <a:r>
              <a:rPr sz="1200">
                <a:solidFill>
                  <a:srgbClr val="004EA8"/>
                </a:solidFill>
                <a:latin typeface="Arial"/>
              </a:rPr>
              <a:t>•  </a:t>
            </a:r>
            <a:r>
              <a:rPr sz="1200">
                <a:solidFill>
                  <a:srgbClr val="4B4B4B"/>
                </a:solidFill>
                <a:latin typeface="Arial"/>
              </a:rPr>
              <a:t>BIBS open 08:00</a:t>
            </a:r>
          </a:p>
          <a:p>
            <a:pPr>
              <a:spcAft>
                <a:spcPts val="600"/>
              </a:spcAft>
            </a:pPr>
            <a:r>
              <a:rPr sz="1200">
                <a:solidFill>
                  <a:srgbClr val="004EA8"/>
                </a:solidFill>
                <a:latin typeface="Arial"/>
              </a:rPr>
              <a:t>•  </a:t>
            </a:r>
            <a:r>
              <a:rPr sz="1200">
                <a:solidFill>
                  <a:srgbClr val="4B4B4B"/>
                </a:solidFill>
                <a:latin typeface="Arial"/>
              </a:rPr>
              <a:t>Point of no return 18:00</a:t>
            </a:r>
          </a:p>
          <a:p>
            <a:pPr>
              <a:spcAft>
                <a:spcPts val="600"/>
              </a:spcAft>
            </a:pPr>
            <a:r>
              <a:rPr sz="1200">
                <a:solidFill>
                  <a:srgbClr val="004EA8"/>
                </a:solidFill>
                <a:latin typeface="Arial"/>
              </a:rPr>
              <a:t>•  </a:t>
            </a:r>
            <a:r>
              <a:rPr sz="1200">
                <a:solidFill>
                  <a:srgbClr val="4B4B4B"/>
                </a:solidFill>
                <a:latin typeface="Arial"/>
              </a:rPr>
              <a:t>Hypercare to the January close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migrated and new data are told apart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LEGACY badge next to the number on the lists and records, with the source system, legacy reference and batch in its tooltip</a:t>
            </a:r>
          </a:p>
          <a:p>
            <a:pPr>
              <a:spcAft>
                <a:spcPts val="600"/>
              </a:spcAft>
            </a:pPr>
            <a:r>
              <a:rPr sz="1500">
                <a:solidFill>
                  <a:srgbClr val="004EA8"/>
                </a:solidFill>
                <a:latin typeface="Arial"/>
              </a:rPr>
              <a:t>•  </a:t>
            </a:r>
            <a:r>
              <a:rPr sz="1500">
                <a:solidFill>
                  <a:srgbClr val="4B4B4B"/>
                </a:solidFill>
                <a:latin typeface="Arial"/>
              </a:rPr>
              <a:t>Origin filter on the lists that hold migrated records: All origins, BIBS, Migrated</a:t>
            </a:r>
          </a:p>
          <a:p>
            <a:pPr>
              <a:spcAft>
                <a:spcPts val="600"/>
              </a:spcAft>
            </a:pPr>
            <a:r>
              <a:rPr sz="1500">
                <a:solidFill>
                  <a:srgbClr val="004EA8"/>
                </a:solidFill>
                <a:latin typeface="Arial"/>
              </a:rPr>
              <a:t>•  </a:t>
            </a:r>
            <a:r>
              <a:rPr sz="1500">
                <a:solidFill>
                  <a:srgbClr val="4B4B4B"/>
                </a:solidFill>
                <a:latin typeface="Arial"/>
              </a:rPr>
              <a:t>Legacy numbers stay searchable: clients, policies and invoices are found by their legacy numbers</a:t>
            </a:r>
          </a:p>
          <a:p>
            <a:pPr>
              <a:spcAft>
                <a:spcPts val="600"/>
              </a:spcAft>
            </a:pPr>
            <a:r>
              <a:rPr sz="1500">
                <a:solidFill>
                  <a:srgbClr val="004EA8"/>
                </a:solidFill>
                <a:latin typeface="Arial"/>
              </a:rPr>
              <a:t>•  </a:t>
            </a:r>
            <a:r>
              <a:rPr sz="1500">
                <a:solidFill>
                  <a:srgbClr val="4B4B4B"/>
                </a:solidFill>
                <a:latin typeface="Arial"/>
              </a:rPr>
              <a:t>Invoice 360 of a legacy invoice shows the values at cut-over, never changed after the load</a:t>
            </a:r>
          </a:p>
          <a:p>
            <a:pPr>
              <a:spcAft>
                <a:spcPts val="600"/>
              </a:spcAft>
            </a:pPr>
            <a:r>
              <a:rPr sz="1500">
                <a:solidFill>
                  <a:srgbClr val="004EA8"/>
                </a:solidFill>
                <a:latin typeface="Arial"/>
              </a:rPr>
              <a:t>•  </a:t>
            </a:r>
            <a:r>
              <a:rPr sz="1500">
                <a:solidFill>
                  <a:srgbClr val="4B4B4B"/>
                </a:solidFill>
                <a:latin typeface="Arial"/>
              </a:rPr>
              <a:t>Legacy invoices and unapplied payments post to the legacy accounts until they are settled</a:t>
            </a:r>
          </a:p>
          <a:p>
            <a:pPr>
              <a:spcAft>
                <a:spcPts val="600"/>
              </a:spcAft>
            </a:pPr>
            <a:r>
              <a:rPr sz="1500">
                <a:solidFill>
                  <a:srgbClr val="004EA8"/>
                </a:solidFill>
                <a:latin typeface="Arial"/>
              </a:rPr>
              <a:t>•  </a:t>
            </a:r>
            <a:r>
              <a:rPr sz="1500">
                <a:solidFill>
                  <a:srgbClr val="4B4B4B"/>
                </a:solidFill>
                <a:latin typeface="Arial"/>
              </a:rPr>
              <a:t>Migrated records raise no notification to clients or insurers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Every object has one decision (migrate, carry forward, conditional, archive, excluded) approved by its business owner (G1).</a:t>
            </a:r>
          </a:p>
          <a:p>
            <a:pPr>
              <a:spcAft>
                <a:spcPts val="600"/>
              </a:spcAft>
            </a:pPr>
            <a:r>
              <a:rPr sz="1400">
                <a:solidFill>
                  <a:srgbClr val="004EA8"/>
                </a:solidFill>
                <a:latin typeface="Arial"/>
              </a:rPr>
              <a:t>•  </a:t>
            </a:r>
            <a:r>
              <a:rPr sz="1400">
                <a:solidFill>
                  <a:srgbClr val="4B4B4B"/>
                </a:solidFill>
                <a:latin typeface="Arial"/>
              </a:rPr>
              <a:t>Only approved code map versions are used; a batch with an unmapped code in a mandatory column is not loaded.</a:t>
            </a:r>
          </a:p>
          <a:p>
            <a:pPr>
              <a:spcAft>
                <a:spcPts val="600"/>
              </a:spcAft>
            </a:pPr>
            <a:r>
              <a:rPr sz="1400">
                <a:solidFill>
                  <a:srgbClr val="004EA8"/>
                </a:solidFill>
                <a:latin typeface="Arial"/>
              </a:rPr>
              <a:t>•  </a:t>
            </a:r>
            <a:r>
              <a:rPr sz="1400">
                <a:solidFill>
                  <a:srgbClr val="4B4B4B"/>
                </a:solidFill>
                <a:latin typeface="Arial"/>
              </a:rPr>
              <a:t>Master data loads with at most 0.5 percent of rows failing or waived; open items and the trial balance with none.</a:t>
            </a:r>
          </a:p>
          <a:p>
            <a:pPr>
              <a:spcAft>
                <a:spcPts val="600"/>
              </a:spcAft>
            </a:pPr>
            <a:r>
              <a:rPr sz="1400">
                <a:solidFill>
                  <a:srgbClr val="004EA8"/>
                </a:solidFill>
                <a:latin typeface="Arial"/>
              </a:rPr>
              <a:t>•  </a:t>
            </a:r>
            <a:r>
              <a:rPr sz="1400">
                <a:solidFill>
                  <a:srgbClr val="4B4B4B"/>
                </a:solidFill>
                <a:latin typeface="Arial"/>
              </a:rPr>
              <a:t>Records are created through the BIBS services, never written directly; migrated records carry the origin Migrated and raise no notification.</a:t>
            </a:r>
          </a:p>
          <a:p>
            <a:pPr>
              <a:spcAft>
                <a:spcPts val="600"/>
              </a:spcAft>
            </a:pPr>
            <a:r>
              <a:rPr sz="1400">
                <a:solidFill>
                  <a:srgbClr val="004EA8"/>
                </a:solidFill>
                <a:latin typeface="Arial"/>
              </a:rPr>
              <a:t>•  </a:t>
            </a:r>
            <a:r>
              <a:rPr sz="1400">
                <a:solidFill>
                  <a:srgbClr val="4B4B4B"/>
                </a:solidFill>
                <a:latin typeface="Arial"/>
              </a:rPr>
              <a:t>Every object is reconciled at up to five levels; a break is explained and approved before the reconciliation is signed (G5).</a:t>
            </a:r>
          </a:p>
          <a:p>
            <a:pPr>
              <a:spcAft>
                <a:spcPts val="600"/>
              </a:spcAft>
            </a:pPr>
            <a:r>
              <a:rPr sz="1400">
                <a:solidFill>
                  <a:srgbClr val="004EA8"/>
                </a:solidFill>
                <a:latin typeface="Arial"/>
              </a:rPr>
              <a:t>•  </a:t>
            </a:r>
            <a:r>
              <a:rPr sz="1400">
                <a:solidFill>
                  <a:srgbClr val="4B4B4B"/>
                </a:solidFill>
                <a:latin typeface="Arial"/>
              </a:rPr>
              <a:t>The maker never approves: decisions, code maps, loads, rollbacks, adjustments, resubmissions and legacy batches.</a:t>
            </a:r>
          </a:p>
          <a:p>
            <a:pPr>
              <a:spcAft>
                <a:spcPts val="600"/>
              </a:spcAft>
            </a:pPr>
            <a:r>
              <a:rPr sz="1400">
                <a:solidFill>
                  <a:srgbClr val="004EA8"/>
                </a:solidFill>
                <a:latin typeface="Arial"/>
              </a:rPr>
              <a:t>•  </a:t>
            </a:r>
            <a:r>
              <a:rPr sz="1400">
                <a:solidFill>
                  <a:srgbClr val="4B4B4B"/>
                </a:solidFill>
                <a:latin typeface="Arial"/>
              </a:rPr>
              <a:t>Migration Clearing is 0.00 per branch and currency at go-live; the go-live decision is taken on twelve measured criteria.</a:t>
            </a:r>
          </a:p>
          <a:p>
            <a:pPr>
              <a:spcAft>
                <a:spcPts val="600"/>
              </a:spcAft>
            </a:pPr>
            <a:r>
              <a:rPr sz="1400">
                <a:solidFill>
                  <a:srgbClr val="004EA8"/>
                </a:solidFill>
                <a:latin typeface="Arial"/>
              </a:rPr>
              <a:t>•  </a:t>
            </a:r>
            <a:r>
              <a:rPr sz="1400">
                <a:solidFill>
                  <a:srgbClr val="4B4B4B"/>
                </a:solidFill>
                <a:latin typeface="Arial"/>
              </a:rPr>
              <a:t>A legacy invoice keeps its number, is processed with the BIBS screens and posts to the legacy accounts until it is settled.</a:t>
            </a:r>
          </a:p>
          <a:p>
            <a:pPr lvl="1">
              <a:spcAft>
                <a:spcPts val="600"/>
              </a:spcAft>
            </a:pPr>
            <a:r>
              <a:rPr sz="1200">
                <a:solidFill>
                  <a:srgbClr val="656565"/>
                </a:solidFill>
                <a:latin typeface="Arial"/>
              </a:rPr>
              <a:t>–  </a:t>
            </a:r>
            <a:r>
              <a:rPr sz="1200">
                <a:solidFill>
                  <a:srgbClr val="4B4B4B"/>
                </a:solidFill>
                <a:latin typeface="Arial"/>
              </a:rPr>
              <a:t>Full list: Handbook Part B, chapter 19 per screen, 67 rules on the Business rules sheet and 216 messages in Handbook Part B, chapter 21 and on the Messages sheet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brd13_contract_map.png"/>
          <p:cNvPicPr>
            <a:picLocks noChangeAspect="1"/>
          </p:cNvPicPr>
          <p:nvPr/>
        </p:nvPicPr>
        <p:blipFill>
          <a:blip r:embed="rId3"/>
          <a:stretch>
            <a:fillRect/>
          </a:stretch>
        </p:blipFill>
        <p:spPr>
          <a:xfrm>
            <a:off x="2058551" y="1325880"/>
            <a:ext cx="807459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Data Migration takes from and hands to the other BRDs and systems (Handbook Part B, chapter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the trial migrations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Decisions still open</a:t>
                      </a:r>
                    </a:p>
                  </a:txBody>
                  <a:tcPr marL="73152" marR="73152" marT="36576" marB="36576">
                    <a:solidFill>
                      <a:srgbClr val="E5F5FF"/>
                    </a:solidFill>
                  </a:tcPr>
                </a:tc>
                <a:tc>
                  <a:txBody>
                    <a:bodyPr/>
                    <a:lstStyle/>
                    <a:p>
                      <a:r>
                        <a:rPr sz="1000" b="0">
                          <a:solidFill>
                            <a:srgbClr val="4B4B4B"/>
                          </a:solidFill>
                          <a:latin typeface="Arial"/>
                        </a:rPr>
                        <a:t>The year-end option, the codes of the legacy accounts, the conditional objects and the approvers of the legacy batches wait for BDOI.</a:t>
                      </a:r>
                    </a:p>
                  </a:txBody>
                  <a:tcPr marL="73152" marR="73152" marT="36576" marB="36576">
                    <a:solidFill>
                      <a:srgbClr val="E5F5FF"/>
                    </a:solidFill>
                  </a:tcPr>
                </a:tc>
                <a:tc>
                  <a:txBody>
                    <a:bodyPr/>
                    <a:lstStyle/>
                    <a:p>
                      <a:r>
                        <a:rPr sz="1000" b="0">
                          <a:solidFill>
                            <a:srgbClr val="4B4B4B"/>
                          </a:solidFill>
                          <a:latin typeface="Arial"/>
                        </a:rPr>
                        <a:t>Each is a proposed rule with its decision date; the proposal stands until BDOI decides, and most answers are configuration.</a:t>
                      </a:r>
                    </a:p>
                  </a:txBody>
                  <a:tcPr marL="73152" marR="73152" marT="36576" marB="36576">
                    <a:solidFill>
                      <a:srgbClr val="E5F5FF"/>
                    </a:solidFill>
                  </a:tcPr>
                </a:tc>
              </a:tr>
              <a:tr h="365760">
                <a:tc>
                  <a:txBody>
                    <a:bodyPr/>
                    <a:lstStyle/>
                    <a:p>
                      <a:r>
                        <a:rPr sz="1000" b="0">
                          <a:solidFill>
                            <a:srgbClr val="4B4B4B"/>
                          </a:solidFill>
                          <a:latin typeface="Arial"/>
                        </a:rPr>
                        <a:t>Legacy data quality</a:t>
                      </a:r>
                    </a:p>
                  </a:txBody>
                  <a:tcPr marL="73152" marR="73152" marT="36576" marB="36576">
                    <a:solidFill>
                      <a:srgbClr val="FFFFFF"/>
                    </a:solidFill>
                  </a:tcPr>
                </a:tc>
                <a:tc>
                  <a:txBody>
                    <a:bodyPr/>
                    <a:lstStyle/>
                    <a:p>
                      <a:r>
                        <a:rPr sz="1000" b="0">
                          <a:solidFill>
                            <a:srgbClr val="4B4B4B"/>
                          </a:solidFill>
                          <a:latin typeface="Arial"/>
                        </a:rPr>
                        <a:t>Profiling of the first full extracts may show fewer components, shares or references than expected.</a:t>
                      </a:r>
                    </a:p>
                  </a:txBody>
                  <a:tcPr marL="73152" marR="73152" marT="36576" marB="36576">
                    <a:solidFill>
                      <a:srgbClr val="FFFFFF"/>
                    </a:solidFill>
                  </a:tcPr>
                </a:tc>
                <a:tc>
                  <a:txBody>
                    <a:bodyPr/>
                    <a:lstStyle/>
                    <a:p>
                      <a:r>
                        <a:rPr sz="1000" b="0">
                          <a:solidFill>
                            <a:srgbClr val="4B4B4B"/>
                          </a:solidFill>
                          <a:latin typeface="Arial"/>
                        </a:rPr>
                        <a:t>Cleansing at source by the stewards; code maps; waivers within the thresholds; open-balance mode for invoices without their original amounts.</a:t>
                      </a:r>
                    </a:p>
                  </a:txBody>
                  <a:tcPr marL="73152" marR="73152" marT="36576" marB="36576">
                    <a:solidFill>
                      <a:srgbClr val="FFFFFF"/>
                    </a:solidFill>
                  </a:tcPr>
                </a:tc>
              </a:tr>
              <a:tr h="365760">
                <a:tc>
                  <a:txBody>
                    <a:bodyPr/>
                    <a:lstStyle/>
                    <a:p>
                      <a:r>
                        <a:rPr sz="1000" b="0">
                          <a:solidFill>
                            <a:srgbClr val="4B4B4B"/>
                          </a:solidFill>
                          <a:latin typeface="Arial"/>
                        </a:rPr>
                        <a:t>Other BRDs change the migrated objects</a:t>
                      </a:r>
                    </a:p>
                  </a:txBody>
                  <a:tcPr marL="73152" marR="73152" marT="36576" marB="36576">
                    <a:solidFill>
                      <a:srgbClr val="E5F5FF"/>
                    </a:solidFill>
                  </a:tcPr>
                </a:tc>
                <a:tc>
                  <a:txBody>
                    <a:bodyPr/>
                    <a:lstStyle/>
                    <a:p>
                      <a:r>
                        <a:rPr sz="1000" b="0">
                          <a:solidFill>
                            <a:srgbClr val="4B4B4B"/>
                          </a:solidFill>
                          <a:latin typeface="Arial"/>
                        </a:rPr>
                        <a:t>Operations, Collections, Accounting, Renewal and Product Maintenance own the records the migration creates.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of this set; a delta sign-off of the affected layouts.</a:t>
                      </a:r>
                    </a:p>
                  </a:txBody>
                  <a:tcPr marL="73152" marR="73152" marT="36576" marB="36576">
                    <a:solidFill>
                      <a:srgbClr val="E5F5FF"/>
                    </a:solidFill>
                  </a:tcPr>
                </a:tc>
              </a:tr>
              <a:tr h="365760">
                <a:tc>
                  <a:txBody>
                    <a:bodyPr/>
                    <a:lstStyle/>
                    <a:p>
                      <a:r>
                        <a:rPr sz="1000" b="0">
                          <a:solidFill>
                            <a:srgbClr val="4B4B4B"/>
                          </a:solidFill>
                          <a:latin typeface="Arial"/>
                        </a:rPr>
                        <a:t>Items that depend on BDOI IT</a:t>
                      </a:r>
                    </a:p>
                  </a:txBody>
                  <a:tcPr marL="73152" marR="73152" marT="36576" marB="36576">
                    <a:solidFill>
                      <a:srgbClr val="FFFFFF"/>
                    </a:solidFill>
                  </a:tcPr>
                </a:tc>
                <a:tc>
                  <a:txBody>
                    <a:bodyPr/>
                    <a:lstStyle/>
                    <a:p>
                      <a:r>
                        <a:rPr sz="1000" b="0">
                          <a:solidFill>
                            <a:srgbClr val="4B4B4B"/>
                          </a:solidFill>
                          <a:latin typeface="Arial"/>
                        </a:rPr>
                        <a:t>The secure file drop, the legacy document folder and the read-only links wait for BDOI IT.</a:t>
                      </a:r>
                    </a:p>
                  </a:txBody>
                  <a:tcPr marL="73152" marR="73152" marT="36576" marB="36576">
                    <a:solidFill>
                      <a:srgbClr val="FFFFFF"/>
                    </a:solidFill>
                  </a:tcPr>
                </a:tc>
                <a:tc>
                  <a:txBody>
                    <a:bodyPr/>
                    <a:lstStyle/>
                    <a:p>
                      <a:r>
                        <a:rPr sz="1000" b="0">
                          <a:solidFill>
                            <a:srgbClr val="4B4B4B"/>
                          </a:solidFill>
                          <a:latin typeface="Arial"/>
                        </a:rPr>
                        <a:t>Until named, files are uploaded on the Extracts screen and documents are loaded with their index; nothing else changes.</a:t>
                      </a:r>
                    </a:p>
                  </a:txBody>
                  <a:tcPr marL="73152" marR="73152" marT="36576" marB="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data owner asks for an extra column in the client template: a new layout version, so a change request; asking which rule rejects a row is a clarification.</a:t>
                      </a:r>
                    </a:p>
                  </a:txBody>
                  <a:tcPr marL="73152" marR="73152" marT="36576" marB="36576">
                    <a:solidFill>
                      <a:srgbClr val="FFFFFF"/>
                    </a:solidFill>
                  </a:tcPr>
                </a:tc>
              </a:tr>
              <a:tr h="365760">
                <a:tc>
                  <a:txBody>
                    <a:bodyPr/>
                    <a:lstStyle/>
                    <a:p>
                      <a:r>
                        <a:rPr sz="1100" b="0">
                          <a:solidFill>
                            <a:srgbClr val="4B4B4B"/>
                          </a:solidFill>
                          <a:latin typeface="Arial"/>
                        </a:rPr>
                        <a:t>Decisions still open</a:t>
                      </a:r>
                    </a:p>
                  </a:txBody>
                  <a:tcPr marL="73152" marR="73152" marT="36576" marB="36576">
                    <a:solidFill>
                      <a:srgbClr val="E5F5FF"/>
                    </a:solidFill>
                  </a:tcPr>
                </a:tc>
                <a:tc>
                  <a:txBody>
                    <a:bodyPr/>
                    <a:lstStyle/>
                    <a:p>
                      <a:r>
                        <a:rPr sz="1100" b="0">
                          <a:solidFill>
                            <a:srgbClr val="4B4B4B"/>
                          </a:solidFill>
                          <a:latin typeface="Arial"/>
                        </a:rPr>
                        <a:t>If Comptrollership chooses option B, go-live moves to April 2028 and the opening loads the year-to-date P&amp;L: a change request with its mandays.</a:t>
                      </a:r>
                    </a:p>
                  </a:txBody>
                  <a:tcPr marL="73152" marR="73152" marT="36576" marB="36576">
                    <a:solidFill>
                      <a:srgbClr val="E5F5FF"/>
                    </a:solidFill>
                  </a:tcPr>
                </a:tc>
              </a:tr>
              <a:tr h="365760">
                <a:tc>
                  <a:txBody>
                    <a:bodyPr/>
                    <a:lstStyle/>
                    <a:p>
                      <a:r>
                        <a:rPr sz="1100" b="0">
                          <a:solidFill>
                            <a:srgbClr val="4B4B4B"/>
                          </a:solidFill>
                          <a:latin typeface="Arial"/>
                        </a:rPr>
                        <a:t>Legacy data quality</a:t>
                      </a:r>
                    </a:p>
                  </a:txBody>
                  <a:tcPr marL="73152" marR="73152" marT="36576" marB="36576">
                    <a:solidFill>
                      <a:srgbClr val="FFFFFF"/>
                    </a:solidFill>
                  </a:tcPr>
                </a:tc>
                <a:tc>
                  <a:txBody>
                    <a:bodyPr/>
                    <a:lstStyle/>
                    <a:p>
                      <a:r>
                        <a:rPr sz="1100" b="0">
                          <a:solidFill>
                            <a:srgbClr val="4B4B4B"/>
                          </a:solidFill>
                          <a:latin typeface="Arial"/>
                        </a:rPr>
                        <a:t>Legacy cannot give paid and remitted per component: invoices load with their open balance and the Legacy Invoice card says so.</a:t>
                      </a:r>
                    </a:p>
                  </a:txBody>
                  <a:tcPr marL="73152" marR="73152" marT="36576" marB="36576">
                    <a:solidFill>
                      <a:srgbClr val="FFFFFF"/>
                    </a:solidFill>
                  </a:tcPr>
                </a:tc>
              </a:tr>
              <a:tr h="365760">
                <a:tc>
                  <a:txBody>
                    <a:bodyPr/>
                    <a:lstStyle/>
                    <a:p>
                      <a:r>
                        <a:rPr sz="1100" b="0">
                          <a:solidFill>
                            <a:srgbClr val="4B4B4B"/>
                          </a:solidFill>
                          <a:latin typeface="Arial"/>
                        </a:rPr>
                        <a:t>Other BRDs change the migrated objects</a:t>
                      </a:r>
                    </a:p>
                  </a:txBody>
                  <a:tcPr marL="73152" marR="73152" marT="36576" marB="36576">
                    <a:solidFill>
                      <a:srgbClr val="E5F5FF"/>
                    </a:solidFill>
                  </a:tcPr>
                </a:tc>
                <a:tc>
                  <a:txBody>
                    <a:bodyPr/>
                    <a:lstStyle/>
                    <a:p>
                      <a:r>
                        <a:rPr sz="1100" b="0">
                          <a:solidFill>
                            <a:srgbClr val="4B4B4B"/>
                          </a:solidFill>
                          <a:latin typeface="Arial"/>
                        </a:rPr>
                        <a:t>Renewal adds a mandatory field to the policy header: the P01 layout gets a new version, signed as a delta.</a:t>
                      </a:r>
                    </a:p>
                  </a:txBody>
                  <a:tcPr marL="73152" marR="73152" marT="36576" marB="36576">
                    <a:solidFill>
                      <a:srgbClr val="E5F5FF"/>
                    </a:solidFill>
                  </a:tcPr>
                </a:tc>
              </a:tr>
              <a:tr h="365760">
                <a:tc>
                  <a:txBody>
                    <a:bodyPr/>
                    <a:lstStyle/>
                    <a:p>
                      <a:r>
                        <a:rPr sz="1100" b="0">
                          <a:solidFill>
                            <a:srgbClr val="4B4B4B"/>
                          </a:solidFill>
                          <a:latin typeface="Arial"/>
                        </a:rPr>
                        <a:t>Items that depend on BDOI IT</a:t>
                      </a:r>
                    </a:p>
                  </a:txBody>
                  <a:tcPr marL="73152" marR="73152" marT="36576" marB="36576">
                    <a:solidFill>
                      <a:srgbClr val="FFFFFF"/>
                    </a:solidFill>
                  </a:tcPr>
                </a:tc>
                <a:tc>
                  <a:txBody>
                    <a:bodyPr/>
                    <a:lstStyle/>
                    <a:p>
                      <a:r>
                        <a:rPr sz="1100" b="0">
                          <a:solidFill>
                            <a:srgbClr val="4B4B4B"/>
                          </a:solidFill>
                          <a:latin typeface="Arial"/>
                        </a:rPr>
                        <a:t>When BDOI IT names the secure file drop, extracts arrive there instead of the upload; the checks and templates stay the same.</a:t>
                      </a:r>
                    </a:p>
                  </a:txBody>
                  <a:tcPr marL="73152" marR="73152" marT="36576" marB="36576">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issued with the screenshots of the Migration Console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handbook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proposed rule decided, or accepted as the working assumption with its decision date.</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The sign-off certificate signed by the business owner, the Data Migration Lead, Comptrollership, the data owners, BDOI IT and iorta TechNXT.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Objects decided (G1) and layouts frozen, version 1, in the Migration Console (M2).</a:t>
            </a:r>
          </a:p>
          <a:p>
            <a:pPr>
              <a:spcAft>
                <a:spcPts val="600"/>
              </a:spcAft>
            </a:pPr>
            <a:r>
              <a:rPr sz="1200">
                <a:solidFill>
                  <a:srgbClr val="004EA8"/>
                </a:solidFill>
                <a:latin typeface="Arial"/>
              </a:rPr>
              <a:t>•  </a:t>
            </a:r>
            <a:r>
              <a:rPr sz="1200">
                <a:solidFill>
                  <a:srgbClr val="4B4B4B"/>
                </a:solidFill>
                <a:latin typeface="Arial"/>
              </a:rPr>
              <a:t>Owners and stewards named per object;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Test plan agreed for the trial migrations, SIT and UAT.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handbook, Migration Workbook and screens</a:t>
            </a:r>
          </a:p>
          <a:p>
            <a:pPr>
              <a:spcAft>
                <a:spcPts val="600"/>
              </a:spcAft>
            </a:pPr>
            <a:r>
              <a:rPr sz="1600">
                <a:solidFill>
                  <a:srgbClr val="004EA8"/>
                </a:solidFill>
                <a:latin typeface="Arial"/>
              </a:rPr>
              <a:t>•  </a:t>
            </a:r>
            <a:r>
              <a:rPr sz="1600">
                <a:solidFill>
                  <a:srgbClr val="4B4B4B"/>
                </a:solidFill>
                <a:latin typeface="Arial"/>
              </a:rPr>
              <a:t>☐  Decisions of the objects entered in the Migration Console (G1)</a:t>
            </a:r>
          </a:p>
          <a:p>
            <a:pPr>
              <a:spcAft>
                <a:spcPts val="600"/>
              </a:spcAft>
            </a:pPr>
            <a:r>
              <a:rPr sz="1600">
                <a:solidFill>
                  <a:srgbClr val="004EA8"/>
                </a:solidFill>
                <a:latin typeface="Arial"/>
              </a:rPr>
              <a:t>•  </a:t>
            </a:r>
            <a:r>
              <a:rPr sz="1600">
                <a:solidFill>
                  <a:srgbClr val="4B4B4B"/>
                </a:solidFill>
                <a:latin typeface="Arial"/>
              </a:rPr>
              <a:t>☐  Layouts frozen, version 1; templates issued to BDOI IT</a:t>
            </a:r>
          </a:p>
          <a:p>
            <a:pPr>
              <a:spcAft>
                <a:spcPts val="600"/>
              </a:spcAft>
            </a:pPr>
            <a:r>
              <a:rPr sz="1600">
                <a:solidFill>
                  <a:srgbClr val="004EA8"/>
                </a:solidFill>
                <a:latin typeface="Arial"/>
              </a:rPr>
              <a:t>•  </a:t>
            </a:r>
            <a:r>
              <a:rPr sz="1600">
                <a:solidFill>
                  <a:srgbClr val="4B4B4B"/>
                </a:solidFill>
                <a:latin typeface="Arial"/>
              </a:rPr>
              <a:t>☐  Owners and stewards named per object</a:t>
            </a:r>
          </a:p>
          <a:p>
            <a:pPr>
              <a:spcAft>
                <a:spcPts val="600"/>
              </a:spcAft>
            </a:pPr>
            <a:r>
              <a:rPr sz="1600">
                <a:solidFill>
                  <a:srgbClr val="004EA8"/>
                </a:solidFill>
                <a:latin typeface="Arial"/>
              </a:rPr>
              <a:t>•  </a:t>
            </a:r>
            <a:r>
              <a:rPr sz="1600">
                <a:solidFill>
                  <a:srgbClr val="4B4B4B"/>
                </a:solidFill>
                <a:latin typeface="Arial"/>
              </a:rPr>
              <a:t>☐  Proposed rules decided or accepted as assumptions</a:t>
            </a:r>
          </a:p>
          <a:p>
            <a:pPr>
              <a:spcAft>
                <a:spcPts val="600"/>
              </a:spcAft>
            </a:pPr>
            <a:r>
              <a:rPr sz="1600">
                <a:solidFill>
                  <a:srgbClr val="004EA8"/>
                </a:solidFill>
                <a:latin typeface="Arial"/>
              </a:rPr>
              <a:t>•  </a:t>
            </a:r>
            <a:r>
              <a:rPr sz="1600">
                <a:solidFill>
                  <a:srgbClr val="4B4B4B"/>
                </a:solidFill>
                <a:latin typeface="Arial"/>
              </a:rPr>
              <a:t>☐  Agreed test plan and trial migration calendar</a:t>
            </a:r>
          </a:p>
          <a:p>
            <a:pPr lvl="1">
              <a:spcAft>
                <a:spcPts val="600"/>
              </a:spcAft>
            </a:pPr>
            <a:r>
              <a:rPr sz="1400">
                <a:solidFill>
                  <a:srgbClr val="656565"/>
                </a:solidFill>
                <a:latin typeface="Arial"/>
              </a:rPr>
              <a:t>–  </a:t>
            </a:r>
            <a:r>
              <a:rPr sz="1400">
                <a:solidFill>
                  <a:srgbClr val="4B4B4B"/>
                </a:solidFill>
                <a:latin typeface="Arial"/>
              </a:rPr>
              <a:t>Handover means the objects are decided, the layouts are frozen and the first full extracts are prepared for 29 January 2027.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Program Manager, Business Project Services</a:t>
                      </a:r>
                    </a:p>
                  </a:txBody>
                  <a:tcPr marL="73152" marR="73152" marT="36576" marB="36576">
                    <a:solidFill>
                      <a:srgbClr val="FFFFFF"/>
                    </a:solidFill>
                  </a:tcPr>
                </a:tc>
                <a:tc>
                  <a:txBody>
                    <a:bodyPr/>
                    <a:lstStyle/>
                    <a:p>
                      <a:r>
                        <a:rPr sz="1000" b="0">
                          <a:solidFill>
                            <a:srgbClr val="4B4B4B"/>
                          </a:solidFill>
                          <a:latin typeface="Arial"/>
                        </a:rPr>
                        <a:t>Accountable for the sign-off and the cut-over; chairs the sign-off meeting and the go / no-go board</a:t>
                      </a:r>
                    </a:p>
                  </a:txBody>
                  <a:tcPr marL="73152" marR="73152" marT="36576" marB="36576">
                    <a:solidFill>
                      <a:srgbClr val="FFFFFF"/>
                    </a:solidFill>
                  </a:tcPr>
                </a:tc>
              </a:tr>
              <a:tr h="365760">
                <a:tc>
                  <a:txBody>
                    <a:bodyPr/>
                    <a:lstStyle/>
                    <a:p>
                      <a:r>
                        <a:rPr sz="1000" b="0">
                          <a:solidFill>
                            <a:srgbClr val="4B4B4B"/>
                          </a:solidFill>
                          <a:latin typeface="Arial"/>
                        </a:rPr>
                        <a:t>Data owners</a:t>
                      </a:r>
                    </a:p>
                  </a:txBody>
                  <a:tcPr marL="73152" marR="73152" marT="36576" marB="36576">
                    <a:solidFill>
                      <a:srgbClr val="E5F5FF"/>
                    </a:solidFill>
                  </a:tcPr>
                </a:tc>
                <a:tc>
                  <a:txBody>
                    <a:bodyPr/>
                    <a:lstStyle/>
                    <a:p>
                      <a:r>
                        <a:rPr sz="1000" b="0">
                          <a:solidFill>
                            <a:srgbClr val="4B4B4B"/>
                          </a:solidFill>
                          <a:latin typeface="Arial"/>
                        </a:rPr>
                        <a:t>Department heads per object</a:t>
                      </a:r>
                    </a:p>
                  </a:txBody>
                  <a:tcPr marL="73152" marR="73152" marT="36576" marB="36576">
                    <a:solidFill>
                      <a:srgbClr val="E5F5FF"/>
                    </a:solidFill>
                  </a:tcPr>
                </a:tc>
                <a:tc>
                  <a:txBody>
                    <a:bodyPr/>
                    <a:lstStyle/>
                    <a:p>
                      <a:r>
                        <a:rPr sz="1000" b="0">
                          <a:solidFill>
                            <a:srgbClr val="4B4B4B"/>
                          </a:solidFill>
                          <a:latin typeface="Arial"/>
                        </a:rPr>
                        <a:t>Review and sign their objects, templates, code maps and reconciliation</a:t>
                      </a:r>
                    </a:p>
                  </a:txBody>
                  <a:tcPr marL="73152" marR="73152" marT="36576" marB="36576">
                    <a:solidFill>
                      <a:srgbClr val="E5F5FF"/>
                    </a:solidFill>
                  </a:tcPr>
                </a:tc>
              </a:tr>
              <a:tr h="365760">
                <a:tc>
                  <a:txBody>
                    <a:bodyPr/>
                    <a:lstStyle/>
                    <a:p>
                      <a:r>
                        <a:rPr sz="1000" b="0">
                          <a:solidFill>
                            <a:srgbClr val="4B4B4B"/>
                          </a:solidFill>
                          <a:latin typeface="Arial"/>
                        </a:rPr>
                        <a:t>Comptrollership</a:t>
                      </a:r>
                    </a:p>
                  </a:txBody>
                  <a:tcPr marL="73152" marR="73152" marT="36576" marB="36576">
                    <a:solidFill>
                      <a:srgbClr val="FFFFFF"/>
                    </a:solidFill>
                  </a:tcPr>
                </a:tc>
                <a:tc>
                  <a:txBody>
                    <a:bodyPr/>
                    <a:lstStyle/>
                    <a:p>
                      <a:r>
                        <a:rPr sz="1000" b="0">
                          <a:solidFill>
                            <a:srgbClr val="4B4B4B"/>
                          </a:solidFill>
                          <a:latin typeface="Arial"/>
                        </a:rPr>
                        <a:t>Head, Comptrollership</a:t>
                      </a:r>
                    </a:p>
                  </a:txBody>
                  <a:tcPr marL="73152" marR="73152" marT="36576" marB="36576">
                    <a:solidFill>
                      <a:srgbClr val="FFFFFF"/>
                    </a:solidFill>
                  </a:tcPr>
                </a:tc>
                <a:tc>
                  <a:txBody>
                    <a:bodyPr/>
                    <a:lstStyle/>
                    <a:p>
                      <a:r>
                        <a:rPr sz="1000" b="0">
                          <a:solidFill>
                            <a:srgbClr val="4B4B4B"/>
                          </a:solidFill>
                          <a:latin typeface="Arial"/>
                        </a:rPr>
                        <a:t>Legacy accounts, GL opening, reconciliation approver, opening-balance adjustments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Head, BDOI IT</a:t>
                      </a:r>
                    </a:p>
                  </a:txBody>
                  <a:tcPr marL="73152" marR="73152" marT="36576" marB="36576">
                    <a:solidFill>
                      <a:srgbClr val="E5F5FF"/>
                    </a:solidFill>
                  </a:tcPr>
                </a:tc>
                <a:tc>
                  <a:txBody>
                    <a:bodyPr/>
                    <a:lstStyle/>
                    <a:p>
                      <a:r>
                        <a:rPr sz="1000" b="0">
                          <a:solidFill>
                            <a:srgbClr val="4B4B4B"/>
                          </a:solidFill>
                          <a:latin typeface="Arial"/>
                        </a:rPr>
                        <a:t>Extracts, transfer, freeze, read-only access, decommissioning</a:t>
                      </a:r>
                    </a:p>
                  </a:txBody>
                  <a:tcPr marL="73152" marR="73152" marT="36576" marB="36576">
                    <a:solidFill>
                      <a:srgbClr val="E5F5FF"/>
                    </a:solidFill>
                  </a:tcPr>
                </a:tc>
              </a:tr>
              <a:tr h="365760">
                <a:tc>
                  <a:txBody>
                    <a:bodyPr/>
                    <a:lstStyle/>
                    <a:p>
                      <a:r>
                        <a:rPr sz="1000" b="0">
                          <a:solidFill>
                            <a:srgbClr val="4B4B4B"/>
                          </a:solidFill>
                          <a:latin typeface="Arial"/>
                        </a:rPr>
                        <a:t>Compliance</a:t>
                      </a:r>
                    </a:p>
                  </a:txBody>
                  <a:tcPr marL="73152" marR="73152" marT="36576" marB="36576">
                    <a:solidFill>
                      <a:srgbClr val="FFFFFF"/>
                    </a:solidFill>
                  </a:tcPr>
                </a:tc>
                <a:tc>
                  <a:txBody>
                    <a:bodyPr/>
                    <a:lstStyle/>
                    <a:p>
                      <a:r>
                        <a:rPr sz="1000" b="0">
                          <a:solidFill>
                            <a:srgbClr val="4B4B4B"/>
                          </a:solidFill>
                          <a:latin typeface="Arial"/>
                        </a:rPr>
                        <a:t>Compliance; Analytics and Risk Management</a:t>
                      </a:r>
                    </a:p>
                  </a:txBody>
                  <a:tcPr marL="73152" marR="73152" marT="36576" marB="36576">
                    <a:solidFill>
                      <a:srgbClr val="FFFFFF"/>
                    </a:solidFill>
                  </a:tcPr>
                </a:tc>
                <a:tc>
                  <a:txBody>
                    <a:bodyPr/>
                    <a:lstStyle/>
                    <a:p>
                      <a:r>
                        <a:rPr sz="1000" b="0">
                          <a:solidFill>
                            <a:srgbClr val="4B4B4B"/>
                          </a:solidFill>
                          <a:latin typeface="Arial"/>
                        </a:rPr>
                        <a:t>Masking, archive, Legacy Inquiry and its access log</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Migration Lead,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 the migration runs</a:t>
                      </a:r>
                    </a:p>
                  </a:txBody>
                  <a:tcPr marL="73152" marR="73152" marT="36576" marB="36576">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console walkthrough on Wed 7-Oct-2026</a:t>
            </a:r>
          </a:p>
          <a:p>
            <a:pPr>
              <a:spcAft>
                <a:spcPts val="600"/>
              </a:spcAft>
            </a:pPr>
            <a:r>
              <a:rPr sz="1600">
                <a:solidFill>
                  <a:srgbClr val="004EA8"/>
                </a:solidFill>
                <a:latin typeface="Arial"/>
              </a:rPr>
              <a:t>•  </a:t>
            </a:r>
            <a:r>
              <a:rPr sz="1600">
                <a:solidFill>
                  <a:srgbClr val="4B4B4B"/>
                </a:solidFill>
                <a:latin typeface="Arial"/>
              </a:rPr>
              <a:t>Decisions on the M1 rules by Fri 16-Oct-2026; workbooks returned by Wed 21-Oct-2026</a:t>
            </a:r>
          </a:p>
          <a:p>
            <a:pPr>
              <a:spcAft>
                <a:spcPts val="600"/>
              </a:spcAft>
            </a:pPr>
            <a:r>
              <a:rPr sz="1600">
                <a:solidFill>
                  <a:srgbClr val="004EA8"/>
                </a:solidFill>
                <a:latin typeface="Arial"/>
              </a:rPr>
              <a:t>•  </a:t>
            </a:r>
            <a:r>
              <a:rPr sz="1600">
                <a:solidFill>
                  <a:srgbClr val="4B4B4B"/>
                </a:solidFill>
                <a:latin typeface="Arial"/>
              </a:rPr>
              <a:t>Q&amp;A on Mon 26-Oct-2026; sign-off on Fri 30-Oct-2026 (M2)</a:t>
            </a:r>
          </a:p>
          <a:p>
            <a:pPr>
              <a:spcAft>
                <a:spcPts val="600"/>
              </a:spcAft>
            </a:pPr>
            <a:r>
              <a:rPr sz="1600">
                <a:solidFill>
                  <a:srgbClr val="004EA8"/>
                </a:solidFill>
                <a:latin typeface="Arial"/>
              </a:rPr>
              <a:t>•  </a:t>
            </a:r>
            <a:r>
              <a:rPr sz="1600">
                <a:solidFill>
                  <a:srgbClr val="4B4B4B"/>
                </a:solidFill>
                <a:latin typeface="Arial"/>
              </a:rPr>
              <a:t>First full extracts in the templates by Fri 29-Jan-2027 (M3); Trial migration 1 from 19-Apr-2027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