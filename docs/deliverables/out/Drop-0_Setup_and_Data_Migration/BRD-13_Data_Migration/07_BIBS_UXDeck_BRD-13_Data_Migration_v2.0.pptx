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00.xml" ContentType="application/vnd.openxmlformats-officedocument.presentationml.notesSlide+xml"/>
  <Override PartName="/ppt/notesSlides/notesSlide101.xml" ContentType="application/vnd.openxmlformats-officedocument.presentationml.notesSlide+xml"/>
  <Override PartName="/ppt/notesSlides/notesSlide102.xml" ContentType="application/vnd.openxmlformats-officedocument.presentationml.notesSlide+xml"/>
  <Override PartName="/ppt/notesSlides/notesSlide103.xml" ContentType="application/vnd.openxmlformats-officedocument.presentationml.notesSlide+xml"/>
  <Override PartName="/ppt/notesSlides/notesSlide104.xml" ContentType="application/vnd.openxmlformats-officedocument.presentationml.notesSlide+xml"/>
  <Override PartName="/ppt/notesSlides/notesSlide105.xml" ContentType="application/vnd.openxmlformats-officedocument.presentationml.notesSlide+xml"/>
  <Override PartName="/ppt/notesSlides/notesSlide106.xml" ContentType="application/vnd.openxmlformats-officedocument.presentationml.notesSlide+xml"/>
  <Override PartName="/ppt/notesSlides/notesSlide107.xml" ContentType="application/vnd.openxmlformats-officedocument.presentationml.notesSlide+xml"/>
  <Override PartName="/ppt/notesSlides/notesSlide108.xml" ContentType="application/vnd.openxmlformats-officedocument.presentationml.notesSlide+xml"/>
  <Override PartName="/ppt/notesSlides/notesSlide109.xml" ContentType="application/vnd.openxmlformats-officedocument.presentationml.notesSlide+xml"/>
  <Override PartName="/ppt/notesSlides/notesSlide11.xml" ContentType="application/vnd.openxmlformats-officedocument.presentationml.notesSlide+xml"/>
  <Override PartName="/ppt/notesSlides/notesSlide110.xml" ContentType="application/vnd.openxmlformats-officedocument.presentationml.notesSlide+xml"/>
  <Override PartName="/ppt/notesSlides/notesSlide111.xml" ContentType="application/vnd.openxmlformats-officedocument.presentationml.notesSlide+xml"/>
  <Override PartName="/ppt/notesSlides/notesSlide112.xml" ContentType="application/vnd.openxmlformats-officedocument.presentationml.notesSlide+xml"/>
  <Override PartName="/ppt/notesSlides/notesSlide113.xml" ContentType="application/vnd.openxmlformats-officedocument.presentationml.notesSlide+xml"/>
  <Override PartName="/ppt/notesSlides/notesSlide114.xml" ContentType="application/vnd.openxmlformats-officedocument.presentationml.notesSlide+xml"/>
  <Override PartName="/ppt/notesSlides/notesSlide115.xml" ContentType="application/vnd.openxmlformats-officedocument.presentationml.notesSlide+xml"/>
  <Override PartName="/ppt/notesSlides/notesSlide116.xml" ContentType="application/vnd.openxmlformats-officedocument.presentationml.notesSlide+xml"/>
  <Override PartName="/ppt/notesSlides/notesSlide117.xml" ContentType="application/vnd.openxmlformats-officedocument.presentationml.notesSlide+xml"/>
  <Override PartName="/ppt/notesSlides/notesSlide118.xml" ContentType="application/vnd.openxmlformats-officedocument.presentationml.notesSlide+xml"/>
  <Override PartName="/ppt/notesSlides/notesSlide119.xml" ContentType="application/vnd.openxmlformats-officedocument.presentationml.notesSlide+xml"/>
  <Override PartName="/ppt/notesSlides/notesSlide12.xml" ContentType="application/vnd.openxmlformats-officedocument.presentationml.notesSlide+xml"/>
  <Override PartName="/ppt/notesSlides/notesSlide120.xml" ContentType="application/vnd.openxmlformats-officedocument.presentationml.notesSlide+xml"/>
  <Override PartName="/ppt/notesSlides/notesSlide121.xml" ContentType="application/vnd.openxmlformats-officedocument.presentationml.notesSlide+xml"/>
  <Override PartName="/ppt/notesSlides/notesSlide122.xml" ContentType="application/vnd.openxmlformats-officedocument.presentationml.notesSlide+xml"/>
  <Override PartName="/ppt/notesSlides/notesSlide123.xml" ContentType="application/vnd.openxmlformats-officedocument.presentationml.notesSlide+xml"/>
  <Override PartName="/ppt/notesSlides/notesSlide124.xml" ContentType="application/vnd.openxmlformats-officedocument.presentationml.notesSlide+xml"/>
  <Override PartName="/ppt/notesSlides/notesSlide125.xml" ContentType="application/vnd.openxmlformats-officedocument.presentationml.notesSlide+xml"/>
  <Override PartName="/ppt/notesSlides/notesSlide126.xml" ContentType="application/vnd.openxmlformats-officedocument.presentationml.notesSlide+xml"/>
  <Override PartName="/ppt/notesSlides/notesSlide127.xml" ContentType="application/vnd.openxmlformats-officedocument.presentationml.notesSlide+xml"/>
  <Override PartName="/ppt/notesSlides/notesSlide128.xml" ContentType="application/vnd.openxmlformats-officedocument.presentationml.notesSlide+xml"/>
  <Override PartName="/ppt/notesSlides/notesSlide129.xml" ContentType="application/vnd.openxmlformats-officedocument.presentationml.notesSlide+xml"/>
  <Override PartName="/ppt/notesSlides/notesSlide13.xml" ContentType="application/vnd.openxmlformats-officedocument.presentationml.notesSlide+xml"/>
  <Override PartName="/ppt/notesSlides/notesSlide130.xml" ContentType="application/vnd.openxmlformats-officedocument.presentationml.notesSlide+xml"/>
  <Override PartName="/ppt/notesSlides/notesSlide131.xml" ContentType="application/vnd.openxmlformats-officedocument.presentationml.notesSlide+xml"/>
  <Override PartName="/ppt/notesSlides/notesSlide132.xml" ContentType="application/vnd.openxmlformats-officedocument.presentationml.notesSlide+xml"/>
  <Override PartName="/ppt/notesSlides/notesSlide133.xml" ContentType="application/vnd.openxmlformats-officedocument.presentationml.notesSlide+xml"/>
  <Override PartName="/ppt/notesSlides/notesSlide134.xml" ContentType="application/vnd.openxmlformats-officedocument.presentationml.notesSlide+xml"/>
  <Override PartName="/ppt/notesSlides/notesSlide135.xml" ContentType="application/vnd.openxmlformats-officedocument.presentationml.notesSlide+xml"/>
  <Override PartName="/ppt/notesSlides/notesSlide136.xml" ContentType="application/vnd.openxmlformats-officedocument.presentationml.notesSlide+xml"/>
  <Override PartName="/ppt/notesSlides/notesSlide137.xml" ContentType="application/vnd.openxmlformats-officedocument.presentationml.notesSlide+xml"/>
  <Override PartName="/ppt/notesSlides/notesSlide138.xml" ContentType="application/vnd.openxmlformats-officedocument.presentationml.notesSlide+xml"/>
  <Override PartName="/ppt/notesSlides/notesSlide139.xml" ContentType="application/vnd.openxmlformats-officedocument.presentationml.notesSlide+xml"/>
  <Override PartName="/ppt/notesSlides/notesSlide14.xml" ContentType="application/vnd.openxmlformats-officedocument.presentationml.notesSlide+xml"/>
  <Override PartName="/ppt/notesSlides/notesSlide140.xml" ContentType="application/vnd.openxmlformats-officedocument.presentationml.notesSlide+xml"/>
  <Override PartName="/ppt/notesSlides/notesSlide141.xml" ContentType="application/vnd.openxmlformats-officedocument.presentationml.notesSlide+xml"/>
  <Override PartName="/ppt/notesSlides/notesSlide142.xml" ContentType="application/vnd.openxmlformats-officedocument.presentationml.notesSlide+xml"/>
  <Override PartName="/ppt/notesSlides/notesSlide143.xml" ContentType="application/vnd.openxmlformats-officedocument.presentationml.notesSlide+xml"/>
  <Override PartName="/ppt/notesSlides/notesSlide144.xml" ContentType="application/vnd.openxmlformats-officedocument.presentationml.notesSlide+xml"/>
  <Override PartName="/ppt/notesSlides/notesSlide145.xml" ContentType="application/vnd.openxmlformats-officedocument.presentationml.notesSlide+xml"/>
  <Override PartName="/ppt/notesSlides/notesSlide146.xml" ContentType="application/vnd.openxmlformats-officedocument.presentationml.notesSlide+xml"/>
  <Override PartName="/ppt/notesSlides/notesSlide147.xml" ContentType="application/vnd.openxmlformats-officedocument.presentationml.notesSlide+xml"/>
  <Override PartName="/ppt/notesSlides/notesSlide148.xml" ContentType="application/vnd.openxmlformats-officedocument.presentationml.notesSlide+xml"/>
  <Override PartName="/ppt/notesSlides/notesSlide149.xml" ContentType="application/vnd.openxmlformats-officedocument.presentationml.notesSlide+xml"/>
  <Override PartName="/ppt/notesSlides/notesSlide15.xml" ContentType="application/vnd.openxmlformats-officedocument.presentationml.notesSlide+xml"/>
  <Override PartName="/ppt/notesSlides/notesSlide150.xml" ContentType="application/vnd.openxmlformats-officedocument.presentationml.notesSlide+xml"/>
  <Override PartName="/ppt/notesSlides/notesSlide151.xml" ContentType="application/vnd.openxmlformats-officedocument.presentationml.notesSlide+xml"/>
  <Override PartName="/ppt/notesSlides/notesSlide152.xml" ContentType="application/vnd.openxmlformats-officedocument.presentationml.notesSlide+xml"/>
  <Override PartName="/ppt/notesSlides/notesSlide153.xml" ContentType="application/vnd.openxmlformats-officedocument.presentationml.notesSlide+xml"/>
  <Override PartName="/ppt/notesSlides/notesSlide154.xml" ContentType="application/vnd.openxmlformats-officedocument.presentationml.notesSlide+xml"/>
  <Override PartName="/ppt/notesSlides/notesSlide155.xml" ContentType="application/vnd.openxmlformats-officedocument.presentationml.notesSlide+xml"/>
  <Override PartName="/ppt/notesSlides/notesSlide156.xml" ContentType="application/vnd.openxmlformats-officedocument.presentationml.notesSlide+xml"/>
  <Override PartName="/ppt/notesSlides/notesSlide157.xml" ContentType="application/vnd.openxmlformats-officedocument.presentationml.notesSlide+xml"/>
  <Override PartName="/ppt/notesSlides/notesSlide158.xml" ContentType="application/vnd.openxmlformats-officedocument.presentationml.notesSlide+xml"/>
  <Override PartName="/ppt/notesSlides/notesSlide159.xml" ContentType="application/vnd.openxmlformats-officedocument.presentationml.notesSlide+xml"/>
  <Override PartName="/ppt/notesSlides/notesSlide16.xml" ContentType="application/vnd.openxmlformats-officedocument.presentationml.notesSlide+xml"/>
  <Override PartName="/ppt/notesSlides/notesSlide160.xml" ContentType="application/vnd.openxmlformats-officedocument.presentationml.notesSlide+xml"/>
  <Override PartName="/ppt/notesSlides/notesSlide161.xml" ContentType="application/vnd.openxmlformats-officedocument.presentationml.notesSlide+xml"/>
  <Override PartName="/ppt/notesSlides/notesSlide162.xml" ContentType="application/vnd.openxmlformats-officedocument.presentationml.notesSlide+xml"/>
  <Override PartName="/ppt/notesSlides/notesSlide163.xml" ContentType="application/vnd.openxmlformats-officedocument.presentationml.notesSlide+xml"/>
  <Override PartName="/ppt/notesSlides/notesSlide164.xml" ContentType="application/vnd.openxmlformats-officedocument.presentationml.notesSlide+xml"/>
  <Override PartName="/ppt/notesSlides/notesSlide165.xml" ContentType="application/vnd.openxmlformats-officedocument.presentationml.notesSlide+xml"/>
  <Override PartName="/ppt/notesSlides/notesSlide166.xml" ContentType="application/vnd.openxmlformats-officedocument.presentationml.notesSlide+xml"/>
  <Override PartName="/ppt/notesSlides/notesSlide167.xml" ContentType="application/vnd.openxmlformats-officedocument.presentationml.notesSlide+xml"/>
  <Override PartName="/ppt/notesSlides/notesSlide168.xml" ContentType="application/vnd.openxmlformats-officedocument.presentationml.notesSlide+xml"/>
  <Override PartName="/ppt/notesSlides/notesSlide169.xml" ContentType="application/vnd.openxmlformats-officedocument.presentationml.notesSlide+xml"/>
  <Override PartName="/ppt/notesSlides/notesSlide17.xml" ContentType="application/vnd.openxmlformats-officedocument.presentationml.notesSlide+xml"/>
  <Override PartName="/ppt/notesSlides/notesSlide170.xml" ContentType="application/vnd.openxmlformats-officedocument.presentationml.notesSlide+xml"/>
  <Override PartName="/ppt/notesSlides/notesSlide171.xml" ContentType="application/vnd.openxmlformats-officedocument.presentationml.notesSlide+xml"/>
  <Override PartName="/ppt/notesSlides/notesSlide172.xml" ContentType="application/vnd.openxmlformats-officedocument.presentationml.notesSlide+xml"/>
  <Override PartName="/ppt/notesSlides/notesSlide173.xml" ContentType="application/vnd.openxmlformats-officedocument.presentationml.notesSlide+xml"/>
  <Override PartName="/ppt/notesSlides/notesSlide174.xml" ContentType="application/vnd.openxmlformats-officedocument.presentationml.notesSlide+xml"/>
  <Override PartName="/ppt/notesSlides/notesSlide175.xml" ContentType="application/vnd.openxmlformats-officedocument.presentationml.notesSlide+xml"/>
  <Override PartName="/ppt/notesSlides/notesSlide176.xml" ContentType="application/vnd.openxmlformats-officedocument.presentationml.notesSlide+xml"/>
  <Override PartName="/ppt/notesSlides/notesSlide177.xml" ContentType="application/vnd.openxmlformats-officedocument.presentationml.notesSlide+xml"/>
  <Override PartName="/ppt/notesSlides/notesSlide178.xml" ContentType="application/vnd.openxmlformats-officedocument.presentationml.notesSlide+xml"/>
  <Override PartName="/ppt/notesSlides/notesSlide179.xml" ContentType="application/vnd.openxmlformats-officedocument.presentationml.notesSlide+xml"/>
  <Override PartName="/ppt/notesSlides/notesSlide18.xml" ContentType="application/vnd.openxmlformats-officedocument.presentationml.notesSlide+xml"/>
  <Override PartName="/ppt/notesSlides/notesSlide180.xml" ContentType="application/vnd.openxmlformats-officedocument.presentationml.notesSlide+xml"/>
  <Override PartName="/ppt/notesSlides/notesSlide181.xml" ContentType="application/vnd.openxmlformats-officedocument.presentationml.notesSlide+xml"/>
  <Override PartName="/ppt/notesSlides/notesSlide182.xml" ContentType="application/vnd.openxmlformats-officedocument.presentationml.notesSlide+xml"/>
  <Override PartName="/ppt/notesSlides/notesSlide183.xml" ContentType="application/vnd.openxmlformats-officedocument.presentationml.notesSlide+xml"/>
  <Override PartName="/ppt/notesSlides/notesSlide184.xml" ContentType="application/vnd.openxmlformats-officedocument.presentationml.notesSlide+xml"/>
  <Override PartName="/ppt/notesSlides/notesSlide185.xml" ContentType="application/vnd.openxmlformats-officedocument.presentationml.notesSlide+xml"/>
  <Override PartName="/ppt/notesSlides/notesSlide186.xml" ContentType="application/vnd.openxmlformats-officedocument.presentationml.notesSlide+xml"/>
  <Override PartName="/ppt/notesSlides/notesSlide187.xml" ContentType="application/vnd.openxmlformats-officedocument.presentationml.notesSlide+xml"/>
  <Override PartName="/ppt/notesSlides/notesSlide188.xml" ContentType="application/vnd.openxmlformats-officedocument.presentationml.notesSlide+xml"/>
  <Override PartName="/ppt/notesSlides/notesSlide189.xml" ContentType="application/vnd.openxmlformats-officedocument.presentationml.notesSlide+xml"/>
  <Override PartName="/ppt/notesSlides/notesSlide19.xml" ContentType="application/vnd.openxmlformats-officedocument.presentationml.notesSlide+xml"/>
  <Override PartName="/ppt/notesSlides/notesSlide190.xml" ContentType="application/vnd.openxmlformats-officedocument.presentationml.notesSlide+xml"/>
  <Override PartName="/ppt/notesSlides/notesSlide191.xml" ContentType="application/vnd.openxmlformats-officedocument.presentationml.notesSlide+xml"/>
  <Override PartName="/ppt/notesSlides/notesSlide192.xml" ContentType="application/vnd.openxmlformats-officedocument.presentationml.notesSlide+xml"/>
  <Override PartName="/ppt/notesSlides/notesSlide193.xml" ContentType="application/vnd.openxmlformats-officedocument.presentationml.notesSlide+xml"/>
  <Override PartName="/ppt/notesSlides/notesSlide194.xml" ContentType="application/vnd.openxmlformats-officedocument.presentationml.notesSlide+xml"/>
  <Override PartName="/ppt/notesSlides/notesSlide195.xml" ContentType="application/vnd.openxmlformats-officedocument.presentationml.notesSlide+xml"/>
  <Override PartName="/ppt/notesSlides/notesSlide196.xml" ContentType="application/vnd.openxmlformats-officedocument.presentationml.notesSlide+xml"/>
  <Override PartName="/ppt/notesSlides/notesSlide197.xml" ContentType="application/vnd.openxmlformats-officedocument.presentationml.notesSlide+xml"/>
  <Override PartName="/ppt/notesSlides/notesSlide198.xml" ContentType="application/vnd.openxmlformats-officedocument.presentationml.notesSlide+xml"/>
  <Override PartName="/ppt/notesSlides/notesSlide19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00.xml" ContentType="application/vnd.openxmlformats-officedocument.presentationml.notesSlide+xml"/>
  <Override PartName="/ppt/notesSlides/notesSlide201.xml" ContentType="application/vnd.openxmlformats-officedocument.presentationml.notesSlide+xml"/>
  <Override PartName="/ppt/notesSlides/notesSlide202.xml" ContentType="application/vnd.openxmlformats-officedocument.presentationml.notesSlide+xml"/>
  <Override PartName="/ppt/notesSlides/notesSlide203.xml" ContentType="application/vnd.openxmlformats-officedocument.presentationml.notesSlide+xml"/>
  <Override PartName="/ppt/notesSlides/notesSlide204.xml" ContentType="application/vnd.openxmlformats-officedocument.presentationml.notesSlide+xml"/>
  <Override PartName="/ppt/notesSlides/notesSlide205.xml" ContentType="application/vnd.openxmlformats-officedocument.presentationml.notesSlide+xml"/>
  <Override PartName="/ppt/notesSlides/notesSlide206.xml" ContentType="application/vnd.openxmlformats-officedocument.presentationml.notesSlide+xml"/>
  <Override PartName="/ppt/notesSlides/notesSlide207.xml" ContentType="application/vnd.openxmlformats-officedocument.presentationml.notesSlide+xml"/>
  <Override PartName="/ppt/notesSlides/notesSlide208.xml" ContentType="application/vnd.openxmlformats-officedocument.presentationml.notesSlide+xml"/>
  <Override PartName="/ppt/notesSlides/notesSlide209.xml" ContentType="application/vnd.openxmlformats-officedocument.presentationml.notesSlide+xml"/>
  <Override PartName="/ppt/notesSlides/notesSlide21.xml" ContentType="application/vnd.openxmlformats-officedocument.presentationml.notesSlide+xml"/>
  <Override PartName="/ppt/notesSlides/notesSlide210.xml" ContentType="application/vnd.openxmlformats-officedocument.presentationml.notesSlide+xml"/>
  <Override PartName="/ppt/notesSlides/notesSlide211.xml" ContentType="application/vnd.openxmlformats-officedocument.presentationml.notesSlide+xml"/>
  <Override PartName="/ppt/notesSlides/notesSlide212.xml" ContentType="application/vnd.openxmlformats-officedocument.presentationml.notesSlide+xml"/>
  <Override PartName="/ppt/notesSlides/notesSlide213.xml" ContentType="application/vnd.openxmlformats-officedocument.presentationml.notesSlide+xml"/>
  <Override PartName="/ppt/notesSlides/notesSlide214.xml" ContentType="application/vnd.openxmlformats-officedocument.presentationml.notesSlide+xml"/>
  <Override PartName="/ppt/notesSlides/notesSlide215.xml" ContentType="application/vnd.openxmlformats-officedocument.presentationml.notesSlide+xml"/>
  <Override PartName="/ppt/notesSlides/notesSlide216.xml" ContentType="application/vnd.openxmlformats-officedocument.presentationml.notesSlide+xml"/>
  <Override PartName="/ppt/notesSlides/notesSlide217.xml" ContentType="application/vnd.openxmlformats-officedocument.presentationml.notesSlide+xml"/>
  <Override PartName="/ppt/notesSlides/notesSlide218.xml" ContentType="application/vnd.openxmlformats-officedocument.presentationml.notesSlide+xml"/>
  <Override PartName="/ppt/notesSlides/notesSlide219.xml" ContentType="application/vnd.openxmlformats-officedocument.presentationml.notesSlide+xml"/>
  <Override PartName="/ppt/notesSlides/notesSlide22.xml" ContentType="application/vnd.openxmlformats-officedocument.presentationml.notesSlide+xml"/>
  <Override PartName="/ppt/notesSlides/notesSlide220.xml" ContentType="application/vnd.openxmlformats-officedocument.presentationml.notesSlide+xml"/>
  <Override PartName="/ppt/notesSlides/notesSlide221.xml" ContentType="application/vnd.openxmlformats-officedocument.presentationml.notesSlide+xml"/>
  <Override PartName="/ppt/notesSlides/notesSlide222.xml" ContentType="application/vnd.openxmlformats-officedocument.presentationml.notesSlide+xml"/>
  <Override PartName="/ppt/notesSlides/notesSlide223.xml" ContentType="application/vnd.openxmlformats-officedocument.presentationml.notesSlide+xml"/>
  <Override PartName="/ppt/notesSlides/notesSlide224.xml" ContentType="application/vnd.openxmlformats-officedocument.presentationml.notesSlide+xml"/>
  <Override PartName="/ppt/notesSlides/notesSlide225.xml" ContentType="application/vnd.openxmlformats-officedocument.presentationml.notesSlide+xml"/>
  <Override PartName="/ppt/notesSlides/notesSlide226.xml" ContentType="application/vnd.openxmlformats-officedocument.presentationml.notesSlide+xml"/>
  <Override PartName="/ppt/notesSlides/notesSlide227.xml" ContentType="application/vnd.openxmlformats-officedocument.presentationml.notesSlide+xml"/>
  <Override PartName="/ppt/notesSlides/notesSlide228.xml" ContentType="application/vnd.openxmlformats-officedocument.presentationml.notesSlide+xml"/>
  <Override PartName="/ppt/notesSlides/notesSlide229.xml" ContentType="application/vnd.openxmlformats-officedocument.presentationml.notesSlide+xml"/>
  <Override PartName="/ppt/notesSlides/notesSlide23.xml" ContentType="application/vnd.openxmlformats-officedocument.presentationml.notesSlide+xml"/>
  <Override PartName="/ppt/notesSlides/notesSlide230.xml" ContentType="application/vnd.openxmlformats-officedocument.presentationml.notesSlide+xml"/>
  <Override PartName="/ppt/notesSlides/notesSlide231.xml" ContentType="application/vnd.openxmlformats-officedocument.presentationml.notesSlide+xml"/>
  <Override PartName="/ppt/notesSlides/notesSlide232.xml" ContentType="application/vnd.openxmlformats-officedocument.presentationml.notesSlide+xml"/>
  <Override PartName="/ppt/notesSlides/notesSlide233.xml" ContentType="application/vnd.openxmlformats-officedocument.presentationml.notesSlide+xml"/>
  <Override PartName="/ppt/notesSlides/notesSlide234.xml" ContentType="application/vnd.openxmlformats-officedocument.presentationml.notesSlide+xml"/>
  <Override PartName="/ppt/notesSlides/notesSlide235.xml" ContentType="application/vnd.openxmlformats-officedocument.presentationml.notesSlide+xml"/>
  <Override PartName="/ppt/notesSlides/notesSlide236.xml" ContentType="application/vnd.openxmlformats-officedocument.presentationml.notesSlide+xml"/>
  <Override PartName="/ppt/notesSlides/notesSlide237.xml" ContentType="application/vnd.openxmlformats-officedocument.presentationml.notesSlide+xml"/>
  <Override PartName="/ppt/notesSlides/notesSlide238.xml" ContentType="application/vnd.openxmlformats-officedocument.presentationml.notesSlide+xml"/>
  <Override PartName="/ppt/notesSlides/notesSlide239.xml" ContentType="application/vnd.openxmlformats-officedocument.presentationml.notesSlide+xml"/>
  <Override PartName="/ppt/notesSlides/notesSlide24.xml" ContentType="application/vnd.openxmlformats-officedocument.presentationml.notesSlide+xml"/>
  <Override PartName="/ppt/notesSlides/notesSlide240.xml" ContentType="application/vnd.openxmlformats-officedocument.presentationml.notesSlide+xml"/>
  <Override PartName="/ppt/notesSlides/notesSlide241.xml" ContentType="application/vnd.openxmlformats-officedocument.presentationml.notesSlide+xml"/>
  <Override PartName="/ppt/notesSlides/notesSlide242.xml" ContentType="application/vnd.openxmlformats-officedocument.presentationml.notesSlide+xml"/>
  <Override PartName="/ppt/notesSlides/notesSlide243.xml" ContentType="application/vnd.openxmlformats-officedocument.presentationml.notesSlide+xml"/>
  <Override PartName="/ppt/notesSlides/notesSlide244.xml" ContentType="application/vnd.openxmlformats-officedocument.presentationml.notesSlide+xml"/>
  <Override PartName="/ppt/notesSlides/notesSlide245.xml" ContentType="application/vnd.openxmlformats-officedocument.presentationml.notesSlide+xml"/>
  <Override PartName="/ppt/notesSlides/notesSlide246.xml" ContentType="application/vnd.openxmlformats-officedocument.presentationml.notesSlide+xml"/>
  <Override PartName="/ppt/notesSlides/notesSlide247.xml" ContentType="application/vnd.openxmlformats-officedocument.presentationml.notesSlide+xml"/>
  <Override PartName="/ppt/notesSlides/notesSlide248.xml" ContentType="application/vnd.openxmlformats-officedocument.presentationml.notesSlide+xml"/>
  <Override PartName="/ppt/notesSlides/notesSlide249.xml" ContentType="application/vnd.openxmlformats-officedocument.presentationml.notesSlide+xml"/>
  <Override PartName="/ppt/notesSlides/notesSlide25.xml" ContentType="application/vnd.openxmlformats-officedocument.presentationml.notesSlide+xml"/>
  <Override PartName="/ppt/notesSlides/notesSlide250.xml" ContentType="application/vnd.openxmlformats-officedocument.presentationml.notesSlide+xml"/>
  <Override PartName="/ppt/notesSlides/notesSlide251.xml" ContentType="application/vnd.openxmlformats-officedocument.presentationml.notesSlide+xml"/>
  <Override PartName="/ppt/notesSlides/notesSlide252.xml" ContentType="application/vnd.openxmlformats-officedocument.presentationml.notesSlide+xml"/>
  <Override PartName="/ppt/notesSlides/notesSlide253.xml" ContentType="application/vnd.openxmlformats-officedocument.presentationml.notesSlide+xml"/>
  <Override PartName="/ppt/notesSlides/notesSlide254.xml" ContentType="application/vnd.openxmlformats-officedocument.presentationml.notesSlide+xml"/>
  <Override PartName="/ppt/notesSlides/notesSlide255.xml" ContentType="application/vnd.openxmlformats-officedocument.presentationml.notesSlide+xml"/>
  <Override PartName="/ppt/notesSlides/notesSlide256.xml" ContentType="application/vnd.openxmlformats-officedocument.presentationml.notesSlide+xml"/>
  <Override PartName="/ppt/notesSlides/notesSlide257.xml" ContentType="application/vnd.openxmlformats-officedocument.presentationml.notesSlide+xml"/>
  <Override PartName="/ppt/notesSlides/notesSlide258.xml" ContentType="application/vnd.openxmlformats-officedocument.presentationml.notesSlide+xml"/>
  <Override PartName="/ppt/notesSlides/notesSlide259.xml" ContentType="application/vnd.openxmlformats-officedocument.presentationml.notesSlide+xml"/>
  <Override PartName="/ppt/notesSlides/notesSlide26.xml" ContentType="application/vnd.openxmlformats-officedocument.presentationml.notesSlide+xml"/>
  <Override PartName="/ppt/notesSlides/notesSlide260.xml" ContentType="application/vnd.openxmlformats-officedocument.presentationml.notesSlide+xml"/>
  <Override PartName="/ppt/notesSlides/notesSlide261.xml" ContentType="application/vnd.openxmlformats-officedocument.presentationml.notesSlide+xml"/>
  <Override PartName="/ppt/notesSlides/notesSlide262.xml" ContentType="application/vnd.openxmlformats-officedocument.presentationml.notesSlide+xml"/>
  <Override PartName="/ppt/notesSlides/notesSlide263.xml" ContentType="application/vnd.openxmlformats-officedocument.presentationml.notesSlide+xml"/>
  <Override PartName="/ppt/notesSlides/notesSlide264.xml" ContentType="application/vnd.openxmlformats-officedocument.presentationml.notesSlide+xml"/>
  <Override PartName="/ppt/notesSlides/notesSlide265.xml" ContentType="application/vnd.openxmlformats-officedocument.presentationml.notesSlide+xml"/>
  <Override PartName="/ppt/notesSlides/notesSlide266.xml" ContentType="application/vnd.openxmlformats-officedocument.presentationml.notesSlide+xml"/>
  <Override PartName="/ppt/notesSlides/notesSlide267.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notesSlides/notesSlide5.xml" ContentType="application/vnd.openxmlformats-officedocument.presentationml.notesSlide+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notesSlides/notesSlide55.xml" ContentType="application/vnd.openxmlformats-officedocument.presentationml.notesSlide+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notesSlides/notesSlide59.xml" ContentType="application/vnd.openxmlformats-officedocument.presentationml.notesSlide+xml"/>
  <Override PartName="/ppt/notesSlides/notesSlide6.xml" ContentType="application/vnd.openxmlformats-officedocument.presentationml.notesSlide+xml"/>
  <Override PartName="/ppt/notesSlides/notesSlide60.xml" ContentType="application/vnd.openxmlformats-officedocument.presentationml.notesSlide+xml"/>
  <Override PartName="/ppt/notesSlides/notesSlide61.xml" ContentType="application/vnd.openxmlformats-officedocument.presentationml.notesSlide+xml"/>
  <Override PartName="/ppt/notesSlides/notesSlide62.xml" ContentType="application/vnd.openxmlformats-officedocument.presentationml.notesSlide+xml"/>
  <Override PartName="/ppt/notesSlides/notesSlide63.xml" ContentType="application/vnd.openxmlformats-officedocument.presentationml.notesSlide+xml"/>
  <Override PartName="/ppt/notesSlides/notesSlide64.xml" ContentType="application/vnd.openxmlformats-officedocument.presentationml.notesSlide+xml"/>
  <Override PartName="/ppt/notesSlides/notesSlide65.xml" ContentType="application/vnd.openxmlformats-officedocument.presentationml.notesSlide+xml"/>
  <Override PartName="/ppt/notesSlides/notesSlide66.xml" ContentType="application/vnd.openxmlformats-officedocument.presentationml.notesSlide+xml"/>
  <Override PartName="/ppt/notesSlides/notesSlide67.xml" ContentType="application/vnd.openxmlformats-officedocument.presentationml.notesSlide+xml"/>
  <Override PartName="/ppt/notesSlides/notesSlide68.xml" ContentType="application/vnd.openxmlformats-officedocument.presentationml.notesSlide+xml"/>
  <Override PartName="/ppt/notesSlides/notesSlide69.xml" ContentType="application/vnd.openxmlformats-officedocument.presentationml.notesSlide+xml"/>
  <Override PartName="/ppt/notesSlides/notesSlide7.xml" ContentType="application/vnd.openxmlformats-officedocument.presentationml.notesSlide+xml"/>
  <Override PartName="/ppt/notesSlides/notesSlide70.xml" ContentType="application/vnd.openxmlformats-officedocument.presentationml.notesSlide+xml"/>
  <Override PartName="/ppt/notesSlides/notesSlide71.xml" ContentType="application/vnd.openxmlformats-officedocument.presentationml.notesSlide+xml"/>
  <Override PartName="/ppt/notesSlides/notesSlide72.xml" ContentType="application/vnd.openxmlformats-officedocument.presentationml.notesSlide+xml"/>
  <Override PartName="/ppt/notesSlides/notesSlide73.xml" ContentType="application/vnd.openxmlformats-officedocument.presentationml.notesSlide+xml"/>
  <Override PartName="/ppt/notesSlides/notesSlide74.xml" ContentType="application/vnd.openxmlformats-officedocument.presentationml.notesSlide+xml"/>
  <Override PartName="/ppt/notesSlides/notesSlide75.xml" ContentType="application/vnd.openxmlformats-officedocument.presentationml.notesSlide+xml"/>
  <Override PartName="/ppt/notesSlides/notesSlide76.xml" ContentType="application/vnd.openxmlformats-officedocument.presentationml.notesSlide+xml"/>
  <Override PartName="/ppt/notesSlides/notesSlide77.xml" ContentType="application/vnd.openxmlformats-officedocument.presentationml.notesSlide+xml"/>
  <Override PartName="/ppt/notesSlides/notesSlide78.xml" ContentType="application/vnd.openxmlformats-officedocument.presentationml.notesSlide+xml"/>
  <Override PartName="/ppt/notesSlides/notesSlide79.xml" ContentType="application/vnd.openxmlformats-officedocument.presentationml.notesSlide+xml"/>
  <Override PartName="/ppt/notesSlides/notesSlide8.xml" ContentType="application/vnd.openxmlformats-officedocument.presentationml.notesSlide+xml"/>
  <Override PartName="/ppt/notesSlides/notesSlide80.xml" ContentType="application/vnd.openxmlformats-officedocument.presentationml.notesSlide+xml"/>
  <Override PartName="/ppt/notesSlides/notesSlide81.xml" ContentType="application/vnd.openxmlformats-officedocument.presentationml.notesSlide+xml"/>
  <Override PartName="/ppt/notesSlides/notesSlide82.xml" ContentType="application/vnd.openxmlformats-officedocument.presentationml.notesSlide+xml"/>
  <Override PartName="/ppt/notesSlides/notesSlide83.xml" ContentType="application/vnd.openxmlformats-officedocument.presentationml.notesSlide+xml"/>
  <Override PartName="/ppt/notesSlides/notesSlide84.xml" ContentType="application/vnd.openxmlformats-officedocument.presentationml.notesSlide+xml"/>
  <Override PartName="/ppt/notesSlides/notesSlide85.xml" ContentType="application/vnd.openxmlformats-officedocument.presentationml.notesSlide+xml"/>
  <Override PartName="/ppt/notesSlides/notesSlide86.xml" ContentType="application/vnd.openxmlformats-officedocument.presentationml.notesSlide+xml"/>
  <Override PartName="/ppt/notesSlides/notesSlide87.xml" ContentType="application/vnd.openxmlformats-officedocument.presentationml.notesSlide+xml"/>
  <Override PartName="/ppt/notesSlides/notesSlide88.xml" ContentType="application/vnd.openxmlformats-officedocument.presentationml.notesSlide+xml"/>
  <Override PartName="/ppt/notesSlides/notesSlide89.xml" ContentType="application/vnd.openxmlformats-officedocument.presentationml.notesSlide+xml"/>
  <Override PartName="/ppt/notesSlides/notesSlide9.xml" ContentType="application/vnd.openxmlformats-officedocument.presentationml.notesSlide+xml"/>
  <Override PartName="/ppt/notesSlides/notesSlide90.xml" ContentType="application/vnd.openxmlformats-officedocument.presentationml.notesSlide+xml"/>
  <Override PartName="/ppt/notesSlides/notesSlide91.xml" ContentType="application/vnd.openxmlformats-officedocument.presentationml.notesSlide+xml"/>
  <Override PartName="/ppt/notesSlides/notesSlide92.xml" ContentType="application/vnd.openxmlformats-officedocument.presentationml.notesSlide+xml"/>
  <Override PartName="/ppt/notesSlides/notesSlide93.xml" ContentType="application/vnd.openxmlformats-officedocument.presentationml.notesSlide+xml"/>
  <Override PartName="/ppt/notesSlides/notesSlide94.xml" ContentType="application/vnd.openxmlformats-officedocument.presentationml.notesSlide+xml"/>
  <Override PartName="/ppt/notesSlides/notesSlide95.xml" ContentType="application/vnd.openxmlformats-officedocument.presentationml.notesSlide+xml"/>
  <Override PartName="/ppt/notesSlides/notesSlide96.xml" ContentType="application/vnd.openxmlformats-officedocument.presentationml.notesSlide+xml"/>
  <Override PartName="/ppt/notesSlides/notesSlide97.xml" ContentType="application/vnd.openxmlformats-officedocument.presentationml.notesSlide+xml"/>
  <Override PartName="/ppt/notesSlides/notesSlide98.xml" ContentType="application/vnd.openxmlformats-officedocument.presentationml.notesSlide+xml"/>
  <Override PartName="/ppt/notesSlides/notesSlide9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slides/slide168.xml" ContentType="application/vnd.openxmlformats-officedocument.presentationml.slide+xml"/>
  <Override PartName="/ppt/slides/slide169.xml" ContentType="application/vnd.openxmlformats-officedocument.presentationml.slide+xml"/>
  <Override PartName="/ppt/slides/slide17.xml" ContentType="application/vnd.openxmlformats-officedocument.presentationml.slide+xml"/>
  <Override PartName="/ppt/slides/slide170.xml" ContentType="application/vnd.openxmlformats-officedocument.presentationml.slide+xml"/>
  <Override PartName="/ppt/slides/slide171.xml" ContentType="application/vnd.openxmlformats-officedocument.presentationml.slide+xml"/>
  <Override PartName="/ppt/slides/slide172.xml" ContentType="application/vnd.openxmlformats-officedocument.presentationml.slide+xml"/>
  <Override PartName="/ppt/slides/slide173.xml" ContentType="application/vnd.openxmlformats-officedocument.presentationml.slide+xml"/>
  <Override PartName="/ppt/slides/slide174.xml" ContentType="application/vnd.openxmlformats-officedocument.presentationml.slide+xml"/>
  <Override PartName="/ppt/slides/slide175.xml" ContentType="application/vnd.openxmlformats-officedocument.presentationml.slide+xml"/>
  <Override PartName="/ppt/slides/slide176.xml" ContentType="application/vnd.openxmlformats-officedocument.presentationml.slide+xml"/>
  <Override PartName="/ppt/slides/slide177.xml" ContentType="application/vnd.openxmlformats-officedocument.presentationml.slide+xml"/>
  <Override PartName="/ppt/slides/slide178.xml" ContentType="application/vnd.openxmlformats-officedocument.presentationml.slide+xml"/>
  <Override PartName="/ppt/slides/slide179.xml" ContentType="application/vnd.openxmlformats-officedocument.presentationml.slide+xml"/>
  <Override PartName="/ppt/slides/slide18.xml" ContentType="application/vnd.openxmlformats-officedocument.presentationml.slide+xml"/>
  <Override PartName="/ppt/slides/slide180.xml" ContentType="application/vnd.openxmlformats-officedocument.presentationml.slide+xml"/>
  <Override PartName="/ppt/slides/slide181.xml" ContentType="application/vnd.openxmlformats-officedocument.presentationml.slide+xml"/>
  <Override PartName="/ppt/slides/slide182.xml" ContentType="application/vnd.openxmlformats-officedocument.presentationml.slide+xml"/>
  <Override PartName="/ppt/slides/slide183.xml" ContentType="application/vnd.openxmlformats-officedocument.presentationml.slide+xml"/>
  <Override PartName="/ppt/slides/slide184.xml" ContentType="application/vnd.openxmlformats-officedocument.presentationml.slide+xml"/>
  <Override PartName="/ppt/slides/slide185.xml" ContentType="application/vnd.openxmlformats-officedocument.presentationml.slide+xml"/>
  <Override PartName="/ppt/slides/slide186.xml" ContentType="application/vnd.openxmlformats-officedocument.presentationml.slide+xml"/>
  <Override PartName="/ppt/slides/slide187.xml" ContentType="application/vnd.openxmlformats-officedocument.presentationml.slide+xml"/>
  <Override PartName="/ppt/slides/slide188.xml" ContentType="application/vnd.openxmlformats-officedocument.presentationml.slide+xml"/>
  <Override PartName="/ppt/slides/slide189.xml" ContentType="application/vnd.openxmlformats-officedocument.presentationml.slide+xml"/>
  <Override PartName="/ppt/slides/slide19.xml" ContentType="application/vnd.openxmlformats-officedocument.presentationml.slide+xml"/>
  <Override PartName="/ppt/slides/slide190.xml" ContentType="application/vnd.openxmlformats-officedocument.presentationml.slide+xml"/>
  <Override PartName="/ppt/slides/slide191.xml" ContentType="application/vnd.openxmlformats-officedocument.presentationml.slide+xml"/>
  <Override PartName="/ppt/slides/slide192.xml" ContentType="application/vnd.openxmlformats-officedocument.presentationml.slide+xml"/>
  <Override PartName="/ppt/slides/slide193.xml" ContentType="application/vnd.openxmlformats-officedocument.presentationml.slide+xml"/>
  <Override PartName="/ppt/slides/slide194.xml" ContentType="application/vnd.openxmlformats-officedocument.presentationml.slide+xml"/>
  <Override PartName="/ppt/slides/slide195.xml" ContentType="application/vnd.openxmlformats-officedocument.presentationml.slide+xml"/>
  <Override PartName="/ppt/slides/slide196.xml" ContentType="application/vnd.openxmlformats-officedocument.presentationml.slide+xml"/>
  <Override PartName="/ppt/slides/slide197.xml" ContentType="application/vnd.openxmlformats-officedocument.presentationml.slide+xml"/>
  <Override PartName="/ppt/slides/slide198.xml" ContentType="application/vnd.openxmlformats-officedocument.presentationml.slide+xml"/>
  <Override PartName="/ppt/slides/slide19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00.xml" ContentType="application/vnd.openxmlformats-officedocument.presentationml.slide+xml"/>
  <Override PartName="/ppt/slides/slide201.xml" ContentType="application/vnd.openxmlformats-officedocument.presentationml.slide+xml"/>
  <Override PartName="/ppt/slides/slide202.xml" ContentType="application/vnd.openxmlformats-officedocument.presentationml.slide+xml"/>
  <Override PartName="/ppt/slides/slide203.xml" ContentType="application/vnd.openxmlformats-officedocument.presentationml.slide+xml"/>
  <Override PartName="/ppt/slides/slide204.xml" ContentType="application/vnd.openxmlformats-officedocument.presentationml.slide+xml"/>
  <Override PartName="/ppt/slides/slide205.xml" ContentType="application/vnd.openxmlformats-officedocument.presentationml.slide+xml"/>
  <Override PartName="/ppt/slides/slide206.xml" ContentType="application/vnd.openxmlformats-officedocument.presentationml.slide+xml"/>
  <Override PartName="/ppt/slides/slide207.xml" ContentType="application/vnd.openxmlformats-officedocument.presentationml.slide+xml"/>
  <Override PartName="/ppt/slides/slide208.xml" ContentType="application/vnd.openxmlformats-officedocument.presentationml.slide+xml"/>
  <Override PartName="/ppt/slides/slide209.xml" ContentType="application/vnd.openxmlformats-officedocument.presentationml.slide+xml"/>
  <Override PartName="/ppt/slides/slide21.xml" ContentType="application/vnd.openxmlformats-officedocument.presentationml.slide+xml"/>
  <Override PartName="/ppt/slides/slide210.xml" ContentType="application/vnd.openxmlformats-officedocument.presentationml.slide+xml"/>
  <Override PartName="/ppt/slides/slide211.xml" ContentType="application/vnd.openxmlformats-officedocument.presentationml.slide+xml"/>
  <Override PartName="/ppt/slides/slide212.xml" ContentType="application/vnd.openxmlformats-officedocument.presentationml.slide+xml"/>
  <Override PartName="/ppt/slides/slide213.xml" ContentType="application/vnd.openxmlformats-officedocument.presentationml.slide+xml"/>
  <Override PartName="/ppt/slides/slide214.xml" ContentType="application/vnd.openxmlformats-officedocument.presentationml.slide+xml"/>
  <Override PartName="/ppt/slides/slide215.xml" ContentType="application/vnd.openxmlformats-officedocument.presentationml.slide+xml"/>
  <Override PartName="/ppt/slides/slide216.xml" ContentType="application/vnd.openxmlformats-officedocument.presentationml.slide+xml"/>
  <Override PartName="/ppt/slides/slide217.xml" ContentType="application/vnd.openxmlformats-officedocument.presentationml.slide+xml"/>
  <Override PartName="/ppt/slides/slide218.xml" ContentType="application/vnd.openxmlformats-officedocument.presentationml.slide+xml"/>
  <Override PartName="/ppt/slides/slide219.xml" ContentType="application/vnd.openxmlformats-officedocument.presentationml.slide+xml"/>
  <Override PartName="/ppt/slides/slide22.xml" ContentType="application/vnd.openxmlformats-officedocument.presentationml.slide+xml"/>
  <Override PartName="/ppt/slides/slide220.xml" ContentType="application/vnd.openxmlformats-officedocument.presentationml.slide+xml"/>
  <Override PartName="/ppt/slides/slide221.xml" ContentType="application/vnd.openxmlformats-officedocument.presentationml.slide+xml"/>
  <Override PartName="/ppt/slides/slide222.xml" ContentType="application/vnd.openxmlformats-officedocument.presentationml.slide+xml"/>
  <Override PartName="/ppt/slides/slide223.xml" ContentType="application/vnd.openxmlformats-officedocument.presentationml.slide+xml"/>
  <Override PartName="/ppt/slides/slide224.xml" ContentType="application/vnd.openxmlformats-officedocument.presentationml.slide+xml"/>
  <Override PartName="/ppt/slides/slide225.xml" ContentType="application/vnd.openxmlformats-officedocument.presentationml.slide+xml"/>
  <Override PartName="/ppt/slides/slide226.xml" ContentType="application/vnd.openxmlformats-officedocument.presentationml.slide+xml"/>
  <Override PartName="/ppt/slides/slide227.xml" ContentType="application/vnd.openxmlformats-officedocument.presentationml.slide+xml"/>
  <Override PartName="/ppt/slides/slide228.xml" ContentType="application/vnd.openxmlformats-officedocument.presentationml.slide+xml"/>
  <Override PartName="/ppt/slides/slide229.xml" ContentType="application/vnd.openxmlformats-officedocument.presentationml.slide+xml"/>
  <Override PartName="/ppt/slides/slide23.xml" ContentType="application/vnd.openxmlformats-officedocument.presentationml.slide+xml"/>
  <Override PartName="/ppt/slides/slide230.xml" ContentType="application/vnd.openxmlformats-officedocument.presentationml.slide+xml"/>
  <Override PartName="/ppt/slides/slide231.xml" ContentType="application/vnd.openxmlformats-officedocument.presentationml.slide+xml"/>
  <Override PartName="/ppt/slides/slide232.xml" ContentType="application/vnd.openxmlformats-officedocument.presentationml.slide+xml"/>
  <Override PartName="/ppt/slides/slide233.xml" ContentType="application/vnd.openxmlformats-officedocument.presentationml.slide+xml"/>
  <Override PartName="/ppt/slides/slide234.xml" ContentType="application/vnd.openxmlformats-officedocument.presentationml.slide+xml"/>
  <Override PartName="/ppt/slides/slide235.xml" ContentType="application/vnd.openxmlformats-officedocument.presentationml.slide+xml"/>
  <Override PartName="/ppt/slides/slide236.xml" ContentType="application/vnd.openxmlformats-officedocument.presentationml.slide+xml"/>
  <Override PartName="/ppt/slides/slide237.xml" ContentType="application/vnd.openxmlformats-officedocument.presentationml.slide+xml"/>
  <Override PartName="/ppt/slides/slide238.xml" ContentType="application/vnd.openxmlformats-officedocument.presentationml.slide+xml"/>
  <Override PartName="/ppt/slides/slide239.xml" ContentType="application/vnd.openxmlformats-officedocument.presentationml.slide+xml"/>
  <Override PartName="/ppt/slides/slide24.xml" ContentType="application/vnd.openxmlformats-officedocument.presentationml.slide+xml"/>
  <Override PartName="/ppt/slides/slide240.xml" ContentType="application/vnd.openxmlformats-officedocument.presentationml.slide+xml"/>
  <Override PartName="/ppt/slides/slide241.xml" ContentType="application/vnd.openxmlformats-officedocument.presentationml.slide+xml"/>
  <Override PartName="/ppt/slides/slide242.xml" ContentType="application/vnd.openxmlformats-officedocument.presentationml.slide+xml"/>
  <Override PartName="/ppt/slides/slide243.xml" ContentType="application/vnd.openxmlformats-officedocument.presentationml.slide+xml"/>
  <Override PartName="/ppt/slides/slide244.xml" ContentType="application/vnd.openxmlformats-officedocument.presentationml.slide+xml"/>
  <Override PartName="/ppt/slides/slide245.xml" ContentType="application/vnd.openxmlformats-officedocument.presentationml.slide+xml"/>
  <Override PartName="/ppt/slides/slide246.xml" ContentType="application/vnd.openxmlformats-officedocument.presentationml.slide+xml"/>
  <Override PartName="/ppt/slides/slide247.xml" ContentType="application/vnd.openxmlformats-officedocument.presentationml.slide+xml"/>
  <Override PartName="/ppt/slides/slide248.xml" ContentType="application/vnd.openxmlformats-officedocument.presentationml.slide+xml"/>
  <Override PartName="/ppt/slides/slide249.xml" ContentType="application/vnd.openxmlformats-officedocument.presentationml.slide+xml"/>
  <Override PartName="/ppt/slides/slide25.xml" ContentType="application/vnd.openxmlformats-officedocument.presentationml.slide+xml"/>
  <Override PartName="/ppt/slides/slide250.xml" ContentType="application/vnd.openxmlformats-officedocument.presentationml.slide+xml"/>
  <Override PartName="/ppt/slides/slide251.xml" ContentType="application/vnd.openxmlformats-officedocument.presentationml.slide+xml"/>
  <Override PartName="/ppt/slides/slide252.xml" ContentType="application/vnd.openxmlformats-officedocument.presentationml.slide+xml"/>
  <Override PartName="/ppt/slides/slide253.xml" ContentType="application/vnd.openxmlformats-officedocument.presentationml.slide+xml"/>
  <Override PartName="/ppt/slides/slide254.xml" ContentType="application/vnd.openxmlformats-officedocument.presentationml.slide+xml"/>
  <Override PartName="/ppt/slides/slide255.xml" ContentType="application/vnd.openxmlformats-officedocument.presentationml.slide+xml"/>
  <Override PartName="/ppt/slides/slide256.xml" ContentType="application/vnd.openxmlformats-officedocument.presentationml.slide+xml"/>
  <Override PartName="/ppt/slides/slide257.xml" ContentType="application/vnd.openxmlformats-officedocument.presentationml.slide+xml"/>
  <Override PartName="/ppt/slides/slide258.xml" ContentType="application/vnd.openxmlformats-officedocument.presentationml.slide+xml"/>
  <Override PartName="/ppt/slides/slide259.xml" ContentType="application/vnd.openxmlformats-officedocument.presentationml.slide+xml"/>
  <Override PartName="/ppt/slides/slide26.xml" ContentType="application/vnd.openxmlformats-officedocument.presentationml.slide+xml"/>
  <Override PartName="/ppt/slides/slide260.xml" ContentType="application/vnd.openxmlformats-officedocument.presentationml.slide+xml"/>
  <Override PartName="/ppt/slides/slide261.xml" ContentType="application/vnd.openxmlformats-officedocument.presentationml.slide+xml"/>
  <Override PartName="/ppt/slides/slide262.xml" ContentType="application/vnd.openxmlformats-officedocument.presentationml.slide+xml"/>
  <Override PartName="/ppt/slides/slide263.xml" ContentType="application/vnd.openxmlformats-officedocument.presentationml.slide+xml"/>
  <Override PartName="/ppt/slides/slide264.xml" ContentType="application/vnd.openxmlformats-officedocument.presentationml.slide+xml"/>
  <Override PartName="/ppt/slides/slide265.xml" ContentType="application/vnd.openxmlformats-officedocument.presentationml.slide+xml"/>
  <Override PartName="/ppt/slides/slide266.xml" ContentType="application/vnd.openxmlformats-officedocument.presentationml.slide+xml"/>
  <Override PartName="/ppt/slides/slide267.xml" ContentType="application/vnd.openxmlformats-officedocument.presentationml.slide+xml"/>
  <Override PartName="/ppt/slides/slide268.xml" ContentType="application/vnd.openxmlformats-officedocument.presentationml.slide+xml"/>
  <Override PartName="/ppt/slides/slide269.xml" ContentType="application/vnd.openxmlformats-officedocument.presentationml.slide+xml"/>
  <Override PartName="/ppt/slides/slide27.xml" ContentType="application/vnd.openxmlformats-officedocument.presentationml.slide+xml"/>
  <Override PartName="/ppt/slides/slide270.xml" ContentType="application/vnd.openxmlformats-officedocument.presentationml.slide+xml"/>
  <Override PartName="/ppt/slides/slide271.xml" ContentType="application/vnd.openxmlformats-officedocument.presentationml.slide+xml"/>
  <Override PartName="/ppt/slides/slide272.xml" ContentType="application/vnd.openxmlformats-officedocument.presentationml.slide+xml"/>
  <Override PartName="/ppt/slides/slide273.xml" ContentType="application/vnd.openxmlformats-officedocument.presentationml.slide+xml"/>
  <Override PartName="/ppt/slides/slide274.xml" ContentType="application/vnd.openxmlformats-officedocument.presentationml.slide+xml"/>
  <Override PartName="/ppt/slides/slide275.xml" ContentType="application/vnd.openxmlformats-officedocument.presentationml.slide+xml"/>
  <Override PartName="/ppt/slides/slide276.xml" ContentType="application/vnd.openxmlformats-officedocument.presentationml.slide+xml"/>
  <Override PartName="/ppt/slides/slide277.xml" ContentType="application/vnd.openxmlformats-officedocument.presentationml.slide+xml"/>
  <Override PartName="/ppt/slides/slide278.xml" ContentType="application/vnd.openxmlformats-officedocument.presentationml.slide+xml"/>
  <Override PartName="/ppt/slides/slide279.xml" ContentType="application/vnd.openxmlformats-officedocument.presentationml.slide+xml"/>
  <Override PartName="/ppt/slides/slide28.xml" ContentType="application/vnd.openxmlformats-officedocument.presentationml.slide+xml"/>
  <Override PartName="/ppt/slides/slide280.xml" ContentType="application/vnd.openxmlformats-officedocument.presentationml.slide+xml"/>
  <Override PartName="/ppt/slides/slide281.xml" ContentType="application/vnd.openxmlformats-officedocument.presentationml.slide+xml"/>
  <Override PartName="/ppt/slides/slide282.xml" ContentType="application/vnd.openxmlformats-officedocument.presentationml.slide+xml"/>
  <Override PartName="/ppt/slides/slide283.xml" ContentType="application/vnd.openxmlformats-officedocument.presentationml.slide+xml"/>
  <Override PartName="/ppt/slides/slide284.xml" ContentType="application/vnd.openxmlformats-officedocument.presentationml.slide+xml"/>
  <Override PartName="/ppt/slides/slide285.xml" ContentType="application/vnd.openxmlformats-officedocument.presentationml.slide+xml"/>
  <Override PartName="/ppt/slides/slide286.xml" ContentType="application/vnd.openxmlformats-officedocument.presentationml.slide+xml"/>
  <Override PartName="/ppt/slides/slide287.xml" ContentType="application/vnd.openxmlformats-officedocument.presentationml.slide+xml"/>
  <Override PartName="/ppt/slides/slide288.xml" ContentType="application/vnd.openxmlformats-officedocument.presentationml.slide+xml"/>
  <Override PartName="/ppt/slides/slide289.xml" ContentType="application/vnd.openxmlformats-officedocument.presentationml.slide+xml"/>
  <Override PartName="/ppt/slides/slide29.xml" ContentType="application/vnd.openxmlformats-officedocument.presentationml.slide+xml"/>
  <Override PartName="/ppt/slides/slide290.xml" ContentType="application/vnd.openxmlformats-officedocument.presentationml.slide+xml"/>
  <Override PartName="/ppt/slides/slide291.xml" ContentType="application/vnd.openxmlformats-officedocument.presentationml.slide+xml"/>
  <Override PartName="/ppt/slides/slide292.xml" ContentType="application/vnd.openxmlformats-officedocument.presentationml.slide+xml"/>
  <Override PartName="/ppt/slides/slide293.xml" ContentType="application/vnd.openxmlformats-officedocument.presentationml.slide+xml"/>
  <Override PartName="/ppt/slides/slide294.xml" ContentType="application/vnd.openxmlformats-officedocument.presentationml.slide+xml"/>
  <Override PartName="/ppt/slides/slide295.xml" ContentType="application/vnd.openxmlformats-officedocument.presentationml.slide+xml"/>
  <Override PartName="/ppt/slides/slide296.xml" ContentType="application/vnd.openxmlformats-officedocument.presentationml.slide+xml"/>
  <Override PartName="/ppt/slides/slide297.xml" ContentType="application/vnd.openxmlformats-officedocument.presentationml.slide+xml"/>
  <Override PartName="/ppt/slides/slide298.xml" ContentType="application/vnd.openxmlformats-officedocument.presentationml.slide+xml"/>
  <Override PartName="/ppt/slides/slide29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00.xml" ContentType="application/vnd.openxmlformats-officedocument.presentationml.slide+xml"/>
  <Override PartName="/ppt/slides/slide301.xml" ContentType="application/vnd.openxmlformats-officedocument.presentationml.slide+xml"/>
  <Override PartName="/ppt/slides/slide302.xml" ContentType="application/vnd.openxmlformats-officedocument.presentationml.slide+xml"/>
  <Override PartName="/ppt/slides/slide303.xml" ContentType="application/vnd.openxmlformats-officedocument.presentationml.slide+xml"/>
  <Override PartName="/ppt/slides/slide304.xml" ContentType="application/vnd.openxmlformats-officedocument.presentationml.slide+xml"/>
  <Override PartName="/ppt/slides/slide305.xml" ContentType="application/vnd.openxmlformats-officedocument.presentationml.slide+xml"/>
  <Override PartName="/ppt/slides/slide306.xml" ContentType="application/vnd.openxmlformats-officedocument.presentationml.slide+xml"/>
  <Override PartName="/ppt/slides/slide307.xml" ContentType="application/vnd.openxmlformats-officedocument.presentationml.slide+xml"/>
  <Override PartName="/ppt/slides/slide308.xml" ContentType="application/vnd.openxmlformats-officedocument.presentationml.slide+xml"/>
  <Override PartName="/ppt/slides/slide309.xml" ContentType="application/vnd.openxmlformats-officedocument.presentationml.slide+xml"/>
  <Override PartName="/ppt/slides/slide31.xml" ContentType="application/vnd.openxmlformats-officedocument.presentationml.slide+xml"/>
  <Override PartName="/ppt/slides/slide310.xml" ContentType="application/vnd.openxmlformats-officedocument.presentationml.slide+xml"/>
  <Override PartName="/ppt/slides/slide311.xml" ContentType="application/vnd.openxmlformats-officedocument.presentationml.slide+xml"/>
  <Override PartName="/ppt/slides/slide312.xml" ContentType="application/vnd.openxmlformats-officedocument.presentationml.slide+xml"/>
  <Override PartName="/ppt/slides/slide313.xml" ContentType="application/vnd.openxmlformats-officedocument.presentationml.slide+xml"/>
  <Override PartName="/ppt/slides/slide314.xml" ContentType="application/vnd.openxmlformats-officedocument.presentationml.slide+xml"/>
  <Override PartName="/ppt/slides/slide315.xml" ContentType="application/vnd.openxmlformats-officedocument.presentationml.slide+xml"/>
  <Override PartName="/ppt/slides/slide316.xml" ContentType="application/vnd.openxmlformats-officedocument.presentationml.slide+xml"/>
  <Override PartName="/ppt/slides/slide317.xml" ContentType="application/vnd.openxmlformats-officedocument.presentationml.slide+xml"/>
  <Override PartName="/ppt/slides/slide318.xml" ContentType="application/vnd.openxmlformats-officedocument.presentationml.slide+xml"/>
  <Override PartName="/ppt/slides/slide319.xml" ContentType="application/vnd.openxmlformats-officedocument.presentationml.slide+xml"/>
  <Override PartName="/ppt/slides/slide32.xml" ContentType="application/vnd.openxmlformats-officedocument.presentationml.slide+xml"/>
  <Override PartName="/ppt/slides/slide320.xml" ContentType="application/vnd.openxmlformats-officedocument.presentationml.slide+xml"/>
  <Override PartName="/ppt/slides/slide321.xml" ContentType="application/vnd.openxmlformats-officedocument.presentationml.slide+xml"/>
  <Override PartName="/ppt/slides/slide322.xml" ContentType="application/vnd.openxmlformats-officedocument.presentationml.slide+xml"/>
  <Override PartName="/ppt/slides/slide323.xml" ContentType="application/vnd.openxmlformats-officedocument.presentationml.slide+xml"/>
  <Override PartName="/ppt/slides/slide324.xml" ContentType="application/vnd.openxmlformats-officedocument.presentationml.slide+xml"/>
  <Override PartName="/ppt/slides/slide325.xml" ContentType="application/vnd.openxmlformats-officedocument.presentationml.slide+xml"/>
  <Override PartName="/ppt/slides/slide326.xml" ContentType="application/vnd.openxmlformats-officedocument.presentationml.slide+xml"/>
  <Override PartName="/ppt/slides/slide327.xml" ContentType="application/vnd.openxmlformats-officedocument.presentationml.slide+xml"/>
  <Override PartName="/ppt/slides/slide328.xml" ContentType="application/vnd.openxmlformats-officedocument.presentationml.slide+xml"/>
  <Override PartName="/ppt/slides/slide329.xml" ContentType="application/vnd.openxmlformats-officedocument.presentationml.slide+xml"/>
  <Override PartName="/ppt/slides/slide33.xml" ContentType="application/vnd.openxmlformats-officedocument.presentationml.slide+xml"/>
  <Override PartName="/ppt/slides/slide330.xml" ContentType="application/vnd.openxmlformats-officedocument.presentationml.slide+xml"/>
  <Override PartName="/ppt/slides/slide331.xml" ContentType="application/vnd.openxmlformats-officedocument.presentationml.slide+xml"/>
  <Override PartName="/ppt/slides/slide332.xml" ContentType="application/vnd.openxmlformats-officedocument.presentationml.slide+xml"/>
  <Override PartName="/ppt/slides/slide333.xml" ContentType="application/vnd.openxmlformats-officedocument.presentationml.slide+xml"/>
  <Override PartName="/ppt/slides/slide334.xml" ContentType="application/vnd.openxmlformats-officedocument.presentationml.slide+xml"/>
  <Override PartName="/ppt/slides/slide335.xml" ContentType="application/vnd.openxmlformats-officedocument.presentationml.slide+xml"/>
  <Override PartName="/ppt/slides/slide336.xml" ContentType="application/vnd.openxmlformats-officedocument.presentationml.slide+xml"/>
  <Override PartName="/ppt/slides/slide337.xml" ContentType="application/vnd.openxmlformats-officedocument.presentationml.slide+xml"/>
  <Override PartName="/ppt/slides/slide338.xml" ContentType="application/vnd.openxmlformats-officedocument.presentationml.slide+xml"/>
  <Override PartName="/ppt/slides/slide339.xml" ContentType="application/vnd.openxmlformats-officedocument.presentationml.slide+xml"/>
  <Override PartName="/ppt/slides/slide34.xml" ContentType="application/vnd.openxmlformats-officedocument.presentationml.slide+xml"/>
  <Override PartName="/ppt/slides/slide340.xml" ContentType="application/vnd.openxmlformats-officedocument.presentationml.slide+xml"/>
  <Override PartName="/ppt/slides/slide341.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 id="283" r:id="rId35"/>
    <p:sldId id="284" r:id="rId36"/>
    <p:sldId id="285" r:id="rId37"/>
    <p:sldId id="286" r:id="rId38"/>
    <p:sldId id="287" r:id="rId39"/>
    <p:sldId id="288" r:id="rId40"/>
    <p:sldId id="289" r:id="rId41"/>
    <p:sldId id="290" r:id="rId42"/>
    <p:sldId id="291" r:id="rId43"/>
    <p:sldId id="292" r:id="rId44"/>
    <p:sldId id="293" r:id="rId45"/>
    <p:sldId id="294" r:id="rId46"/>
    <p:sldId id="295" r:id="rId47"/>
    <p:sldId id="296" r:id="rId48"/>
    <p:sldId id="297" r:id="rId49"/>
    <p:sldId id="298" r:id="rId50"/>
    <p:sldId id="299" r:id="rId51"/>
    <p:sldId id="300" r:id="rId52"/>
    <p:sldId id="301" r:id="rId53"/>
    <p:sldId id="302" r:id="rId54"/>
    <p:sldId id="303" r:id="rId55"/>
    <p:sldId id="304" r:id="rId56"/>
    <p:sldId id="305" r:id="rId57"/>
    <p:sldId id="306" r:id="rId58"/>
    <p:sldId id="307" r:id="rId59"/>
    <p:sldId id="308" r:id="rId60"/>
    <p:sldId id="309" r:id="rId61"/>
    <p:sldId id="310" r:id="rId62"/>
    <p:sldId id="311" r:id="rId63"/>
    <p:sldId id="312" r:id="rId64"/>
    <p:sldId id="313" r:id="rId65"/>
    <p:sldId id="314" r:id="rId66"/>
    <p:sldId id="315" r:id="rId67"/>
    <p:sldId id="316" r:id="rId68"/>
    <p:sldId id="317" r:id="rId69"/>
    <p:sldId id="318" r:id="rId70"/>
    <p:sldId id="319" r:id="rId71"/>
    <p:sldId id="320" r:id="rId72"/>
    <p:sldId id="321" r:id="rId73"/>
    <p:sldId id="322" r:id="rId74"/>
    <p:sldId id="323" r:id="rId75"/>
    <p:sldId id="324" r:id="rId76"/>
    <p:sldId id="325" r:id="rId77"/>
    <p:sldId id="326" r:id="rId78"/>
    <p:sldId id="327" r:id="rId79"/>
    <p:sldId id="328" r:id="rId80"/>
    <p:sldId id="329" r:id="rId81"/>
    <p:sldId id="330" r:id="rId82"/>
    <p:sldId id="331" r:id="rId83"/>
    <p:sldId id="332" r:id="rId84"/>
    <p:sldId id="333" r:id="rId85"/>
    <p:sldId id="334" r:id="rId86"/>
    <p:sldId id="335" r:id="rId87"/>
    <p:sldId id="336" r:id="rId88"/>
    <p:sldId id="337" r:id="rId89"/>
    <p:sldId id="338" r:id="rId90"/>
    <p:sldId id="339" r:id="rId91"/>
    <p:sldId id="340" r:id="rId92"/>
    <p:sldId id="341" r:id="rId93"/>
    <p:sldId id="342" r:id="rId94"/>
    <p:sldId id="343" r:id="rId95"/>
    <p:sldId id="344" r:id="rId96"/>
    <p:sldId id="345" r:id="rId97"/>
    <p:sldId id="346" r:id="rId98"/>
    <p:sldId id="347" r:id="rId99"/>
    <p:sldId id="348" r:id="rId100"/>
    <p:sldId id="349" r:id="rId101"/>
    <p:sldId id="350" r:id="rId102"/>
    <p:sldId id="351" r:id="rId103"/>
    <p:sldId id="352" r:id="rId104"/>
    <p:sldId id="353" r:id="rId105"/>
    <p:sldId id="354" r:id="rId106"/>
    <p:sldId id="355" r:id="rId107"/>
    <p:sldId id="356" r:id="rId108"/>
    <p:sldId id="357" r:id="rId109"/>
    <p:sldId id="358" r:id="rId110"/>
    <p:sldId id="359" r:id="rId111"/>
    <p:sldId id="360" r:id="rId112"/>
    <p:sldId id="361" r:id="rId113"/>
    <p:sldId id="362" r:id="rId114"/>
    <p:sldId id="363" r:id="rId115"/>
    <p:sldId id="364" r:id="rId116"/>
    <p:sldId id="365" r:id="rId117"/>
    <p:sldId id="366" r:id="rId118"/>
    <p:sldId id="367" r:id="rId119"/>
    <p:sldId id="368" r:id="rId120"/>
    <p:sldId id="369" r:id="rId121"/>
    <p:sldId id="370" r:id="rId122"/>
    <p:sldId id="371" r:id="rId123"/>
    <p:sldId id="372" r:id="rId124"/>
    <p:sldId id="373" r:id="rId125"/>
    <p:sldId id="374" r:id="rId126"/>
    <p:sldId id="375" r:id="rId127"/>
    <p:sldId id="376" r:id="rId128"/>
    <p:sldId id="377" r:id="rId129"/>
    <p:sldId id="378" r:id="rId130"/>
    <p:sldId id="379" r:id="rId131"/>
    <p:sldId id="380" r:id="rId132"/>
    <p:sldId id="381" r:id="rId133"/>
    <p:sldId id="382" r:id="rId134"/>
    <p:sldId id="383" r:id="rId135"/>
    <p:sldId id="384" r:id="rId136"/>
    <p:sldId id="385" r:id="rId137"/>
    <p:sldId id="386" r:id="rId138"/>
    <p:sldId id="387" r:id="rId139"/>
    <p:sldId id="388" r:id="rId140"/>
    <p:sldId id="389" r:id="rId141"/>
    <p:sldId id="390" r:id="rId142"/>
    <p:sldId id="391" r:id="rId143"/>
    <p:sldId id="392" r:id="rId144"/>
    <p:sldId id="393" r:id="rId145"/>
    <p:sldId id="394" r:id="rId146"/>
    <p:sldId id="395" r:id="rId147"/>
    <p:sldId id="396" r:id="rId148"/>
    <p:sldId id="397" r:id="rId149"/>
    <p:sldId id="398" r:id="rId150"/>
    <p:sldId id="399" r:id="rId151"/>
    <p:sldId id="400" r:id="rId152"/>
    <p:sldId id="401" r:id="rId153"/>
    <p:sldId id="402" r:id="rId154"/>
    <p:sldId id="403" r:id="rId155"/>
    <p:sldId id="404" r:id="rId156"/>
    <p:sldId id="405" r:id="rId157"/>
    <p:sldId id="406" r:id="rId158"/>
    <p:sldId id="407" r:id="rId159"/>
    <p:sldId id="408" r:id="rId160"/>
    <p:sldId id="409" r:id="rId161"/>
    <p:sldId id="410" r:id="rId162"/>
    <p:sldId id="411" r:id="rId163"/>
    <p:sldId id="412" r:id="rId164"/>
    <p:sldId id="413" r:id="rId165"/>
    <p:sldId id="414" r:id="rId166"/>
    <p:sldId id="415" r:id="rId167"/>
    <p:sldId id="416" r:id="rId168"/>
    <p:sldId id="417" r:id="rId169"/>
    <p:sldId id="418" r:id="rId170"/>
    <p:sldId id="419" r:id="rId171"/>
    <p:sldId id="420" r:id="rId172"/>
    <p:sldId id="421" r:id="rId173"/>
    <p:sldId id="422" r:id="rId174"/>
    <p:sldId id="423" r:id="rId175"/>
    <p:sldId id="424" r:id="rId176"/>
    <p:sldId id="425" r:id="rId177"/>
    <p:sldId id="426" r:id="rId178"/>
    <p:sldId id="427" r:id="rId179"/>
    <p:sldId id="428" r:id="rId180"/>
    <p:sldId id="429" r:id="rId181"/>
    <p:sldId id="430" r:id="rId182"/>
    <p:sldId id="431" r:id="rId183"/>
    <p:sldId id="432" r:id="rId184"/>
    <p:sldId id="433" r:id="rId185"/>
    <p:sldId id="434" r:id="rId186"/>
    <p:sldId id="435" r:id="rId187"/>
    <p:sldId id="436" r:id="rId188"/>
    <p:sldId id="437" r:id="rId189"/>
    <p:sldId id="438" r:id="rId190"/>
    <p:sldId id="439" r:id="rId191"/>
    <p:sldId id="440" r:id="rId192"/>
    <p:sldId id="441" r:id="rId193"/>
    <p:sldId id="442" r:id="rId194"/>
    <p:sldId id="443" r:id="rId195"/>
    <p:sldId id="444" r:id="rId196"/>
    <p:sldId id="445" r:id="rId197"/>
    <p:sldId id="446" r:id="rId198"/>
    <p:sldId id="447" r:id="rId199"/>
    <p:sldId id="448" r:id="rId200"/>
    <p:sldId id="449" r:id="rId201"/>
    <p:sldId id="450" r:id="rId202"/>
    <p:sldId id="451" r:id="rId203"/>
    <p:sldId id="452" r:id="rId204"/>
    <p:sldId id="453" r:id="rId205"/>
    <p:sldId id="454" r:id="rId206"/>
    <p:sldId id="455" r:id="rId207"/>
    <p:sldId id="456" r:id="rId208"/>
    <p:sldId id="457" r:id="rId209"/>
    <p:sldId id="458" r:id="rId210"/>
    <p:sldId id="459" r:id="rId211"/>
    <p:sldId id="460" r:id="rId212"/>
    <p:sldId id="461" r:id="rId213"/>
    <p:sldId id="462" r:id="rId214"/>
    <p:sldId id="463" r:id="rId215"/>
    <p:sldId id="464" r:id="rId216"/>
    <p:sldId id="465" r:id="rId217"/>
    <p:sldId id="466" r:id="rId218"/>
    <p:sldId id="467" r:id="rId219"/>
    <p:sldId id="468" r:id="rId220"/>
    <p:sldId id="469" r:id="rId221"/>
    <p:sldId id="470" r:id="rId222"/>
    <p:sldId id="471" r:id="rId223"/>
    <p:sldId id="472" r:id="rId224"/>
    <p:sldId id="473" r:id="rId225"/>
    <p:sldId id="474" r:id="rId226"/>
    <p:sldId id="475" r:id="rId227"/>
    <p:sldId id="476" r:id="rId228"/>
    <p:sldId id="477" r:id="rId229"/>
    <p:sldId id="478" r:id="rId230"/>
    <p:sldId id="479" r:id="rId231"/>
    <p:sldId id="480" r:id="rId232"/>
    <p:sldId id="481" r:id="rId233"/>
    <p:sldId id="482" r:id="rId234"/>
    <p:sldId id="483" r:id="rId235"/>
    <p:sldId id="484" r:id="rId236"/>
    <p:sldId id="485" r:id="rId237"/>
    <p:sldId id="486" r:id="rId238"/>
    <p:sldId id="487" r:id="rId239"/>
    <p:sldId id="488" r:id="rId240"/>
    <p:sldId id="489" r:id="rId241"/>
    <p:sldId id="490" r:id="rId242"/>
    <p:sldId id="491" r:id="rId243"/>
    <p:sldId id="492" r:id="rId244"/>
    <p:sldId id="493" r:id="rId245"/>
    <p:sldId id="494" r:id="rId246"/>
    <p:sldId id="495" r:id="rId247"/>
    <p:sldId id="496" r:id="rId248"/>
    <p:sldId id="497" r:id="rId249"/>
    <p:sldId id="498" r:id="rId250"/>
    <p:sldId id="499" r:id="rId251"/>
    <p:sldId id="500" r:id="rId252"/>
    <p:sldId id="501" r:id="rId253"/>
    <p:sldId id="502" r:id="rId254"/>
    <p:sldId id="503" r:id="rId255"/>
    <p:sldId id="504" r:id="rId256"/>
    <p:sldId id="505" r:id="rId257"/>
    <p:sldId id="506" r:id="rId258"/>
    <p:sldId id="507" r:id="rId259"/>
    <p:sldId id="508" r:id="rId260"/>
    <p:sldId id="509" r:id="rId261"/>
    <p:sldId id="510" r:id="rId262"/>
    <p:sldId id="511" r:id="rId263"/>
    <p:sldId id="512" r:id="rId264"/>
    <p:sldId id="513" r:id="rId265"/>
    <p:sldId id="514" r:id="rId266"/>
    <p:sldId id="515" r:id="rId267"/>
    <p:sldId id="516" r:id="rId268"/>
    <p:sldId id="517" r:id="rId269"/>
    <p:sldId id="518" r:id="rId270"/>
    <p:sldId id="519" r:id="rId271"/>
    <p:sldId id="520" r:id="rId272"/>
    <p:sldId id="521" r:id="rId273"/>
    <p:sldId id="522" r:id="rId274"/>
    <p:sldId id="523" r:id="rId275"/>
    <p:sldId id="524" r:id="rId276"/>
    <p:sldId id="525" r:id="rId277"/>
    <p:sldId id="526" r:id="rId278"/>
    <p:sldId id="527" r:id="rId279"/>
    <p:sldId id="528" r:id="rId280"/>
    <p:sldId id="529" r:id="rId281"/>
    <p:sldId id="530" r:id="rId282"/>
    <p:sldId id="531" r:id="rId283"/>
    <p:sldId id="532" r:id="rId284"/>
    <p:sldId id="533" r:id="rId285"/>
    <p:sldId id="534" r:id="rId286"/>
    <p:sldId id="535" r:id="rId287"/>
    <p:sldId id="536" r:id="rId288"/>
    <p:sldId id="537" r:id="rId289"/>
    <p:sldId id="538" r:id="rId290"/>
    <p:sldId id="539" r:id="rId291"/>
    <p:sldId id="540" r:id="rId292"/>
    <p:sldId id="541" r:id="rId293"/>
    <p:sldId id="542" r:id="rId294"/>
    <p:sldId id="543" r:id="rId295"/>
    <p:sldId id="544" r:id="rId296"/>
    <p:sldId id="545" r:id="rId297"/>
    <p:sldId id="546" r:id="rId298"/>
    <p:sldId id="547" r:id="rId299"/>
    <p:sldId id="548" r:id="rId300"/>
    <p:sldId id="549" r:id="rId301"/>
    <p:sldId id="550" r:id="rId302"/>
    <p:sldId id="551" r:id="rId303"/>
    <p:sldId id="552" r:id="rId304"/>
    <p:sldId id="553" r:id="rId305"/>
    <p:sldId id="554" r:id="rId306"/>
    <p:sldId id="555" r:id="rId307"/>
    <p:sldId id="556" r:id="rId308"/>
    <p:sldId id="557" r:id="rId309"/>
    <p:sldId id="558" r:id="rId310"/>
    <p:sldId id="559" r:id="rId311"/>
    <p:sldId id="560" r:id="rId312"/>
    <p:sldId id="561" r:id="rId313"/>
    <p:sldId id="562" r:id="rId314"/>
    <p:sldId id="563" r:id="rId315"/>
    <p:sldId id="564" r:id="rId316"/>
    <p:sldId id="565" r:id="rId317"/>
    <p:sldId id="566" r:id="rId318"/>
    <p:sldId id="567" r:id="rId319"/>
    <p:sldId id="568" r:id="rId320"/>
    <p:sldId id="569" r:id="rId321"/>
    <p:sldId id="570" r:id="rId322"/>
    <p:sldId id="571" r:id="rId323"/>
    <p:sldId id="572" r:id="rId324"/>
    <p:sldId id="573" r:id="rId325"/>
    <p:sldId id="574" r:id="rId326"/>
    <p:sldId id="575" r:id="rId327"/>
    <p:sldId id="576" r:id="rId328"/>
    <p:sldId id="577" r:id="rId329"/>
    <p:sldId id="578" r:id="rId330"/>
    <p:sldId id="579" r:id="rId331"/>
    <p:sldId id="580" r:id="rId332"/>
    <p:sldId id="581" r:id="rId333"/>
    <p:sldId id="582" r:id="rId334"/>
    <p:sldId id="583" r:id="rId335"/>
    <p:sldId id="584" r:id="rId336"/>
    <p:sldId id="585" r:id="rId337"/>
    <p:sldId id="586" r:id="rId338"/>
    <p:sldId id="587" r:id="rId339"/>
    <p:sldId id="588" r:id="rId340"/>
    <p:sldId id="589" r:id="rId341"/>
    <p:sldId id="590" r:id="rId342"/>
    <p:sldId id="591" r:id="rId343"/>
    <p:sldId id="592" r:id="rId344"/>
    <p:sldId id="593" r:id="rId345"/>
    <p:sldId id="594" r:id="rId346"/>
    <p:sldId id="595" r:id="rId347"/>
    <p:sldId id="596" r:id="rId34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 Id="rId35" Type="http://schemas.openxmlformats.org/officeDocument/2006/relationships/slide" Target="slides/slide28.xml"/><Relationship Id="rId36" Type="http://schemas.openxmlformats.org/officeDocument/2006/relationships/slide" Target="slides/slide29.xml"/><Relationship Id="rId37" Type="http://schemas.openxmlformats.org/officeDocument/2006/relationships/slide" Target="slides/slide30.xml"/><Relationship Id="rId38" Type="http://schemas.openxmlformats.org/officeDocument/2006/relationships/slide" Target="slides/slide31.xml"/><Relationship Id="rId39" Type="http://schemas.openxmlformats.org/officeDocument/2006/relationships/slide" Target="slides/slide32.xml"/><Relationship Id="rId40" Type="http://schemas.openxmlformats.org/officeDocument/2006/relationships/slide" Target="slides/slide33.xml"/><Relationship Id="rId41" Type="http://schemas.openxmlformats.org/officeDocument/2006/relationships/slide" Target="slides/slide34.xml"/><Relationship Id="rId42" Type="http://schemas.openxmlformats.org/officeDocument/2006/relationships/slide" Target="slides/slide35.xml"/><Relationship Id="rId43" Type="http://schemas.openxmlformats.org/officeDocument/2006/relationships/slide" Target="slides/slide36.xml"/><Relationship Id="rId44" Type="http://schemas.openxmlformats.org/officeDocument/2006/relationships/slide" Target="slides/slide37.xml"/><Relationship Id="rId45" Type="http://schemas.openxmlformats.org/officeDocument/2006/relationships/slide" Target="slides/slide38.xml"/><Relationship Id="rId46" Type="http://schemas.openxmlformats.org/officeDocument/2006/relationships/slide" Target="slides/slide39.xml"/><Relationship Id="rId47" Type="http://schemas.openxmlformats.org/officeDocument/2006/relationships/slide" Target="slides/slide40.xml"/><Relationship Id="rId48" Type="http://schemas.openxmlformats.org/officeDocument/2006/relationships/slide" Target="slides/slide41.xml"/><Relationship Id="rId49" Type="http://schemas.openxmlformats.org/officeDocument/2006/relationships/slide" Target="slides/slide42.xml"/><Relationship Id="rId50" Type="http://schemas.openxmlformats.org/officeDocument/2006/relationships/slide" Target="slides/slide43.xml"/><Relationship Id="rId51" Type="http://schemas.openxmlformats.org/officeDocument/2006/relationships/slide" Target="slides/slide44.xml"/><Relationship Id="rId52" Type="http://schemas.openxmlformats.org/officeDocument/2006/relationships/slide" Target="slides/slide45.xml"/><Relationship Id="rId53" Type="http://schemas.openxmlformats.org/officeDocument/2006/relationships/slide" Target="slides/slide46.xml"/><Relationship Id="rId54" Type="http://schemas.openxmlformats.org/officeDocument/2006/relationships/slide" Target="slides/slide47.xml"/><Relationship Id="rId55" Type="http://schemas.openxmlformats.org/officeDocument/2006/relationships/slide" Target="slides/slide48.xml"/><Relationship Id="rId56" Type="http://schemas.openxmlformats.org/officeDocument/2006/relationships/slide" Target="slides/slide49.xml"/><Relationship Id="rId57" Type="http://schemas.openxmlformats.org/officeDocument/2006/relationships/slide" Target="slides/slide50.xml"/><Relationship Id="rId58" Type="http://schemas.openxmlformats.org/officeDocument/2006/relationships/slide" Target="slides/slide51.xml"/><Relationship Id="rId59" Type="http://schemas.openxmlformats.org/officeDocument/2006/relationships/slide" Target="slides/slide52.xml"/><Relationship Id="rId60" Type="http://schemas.openxmlformats.org/officeDocument/2006/relationships/slide" Target="slides/slide53.xml"/><Relationship Id="rId61" Type="http://schemas.openxmlformats.org/officeDocument/2006/relationships/slide" Target="slides/slide54.xml"/><Relationship Id="rId62" Type="http://schemas.openxmlformats.org/officeDocument/2006/relationships/slide" Target="slides/slide55.xml"/><Relationship Id="rId63" Type="http://schemas.openxmlformats.org/officeDocument/2006/relationships/slide" Target="slides/slide56.xml"/><Relationship Id="rId64" Type="http://schemas.openxmlformats.org/officeDocument/2006/relationships/slide" Target="slides/slide57.xml"/><Relationship Id="rId65" Type="http://schemas.openxmlformats.org/officeDocument/2006/relationships/slide" Target="slides/slide58.xml"/><Relationship Id="rId66" Type="http://schemas.openxmlformats.org/officeDocument/2006/relationships/slide" Target="slides/slide59.xml"/><Relationship Id="rId67" Type="http://schemas.openxmlformats.org/officeDocument/2006/relationships/slide" Target="slides/slide60.xml"/><Relationship Id="rId68" Type="http://schemas.openxmlformats.org/officeDocument/2006/relationships/slide" Target="slides/slide61.xml"/><Relationship Id="rId69" Type="http://schemas.openxmlformats.org/officeDocument/2006/relationships/slide" Target="slides/slide62.xml"/><Relationship Id="rId70" Type="http://schemas.openxmlformats.org/officeDocument/2006/relationships/slide" Target="slides/slide63.xml"/><Relationship Id="rId71" Type="http://schemas.openxmlformats.org/officeDocument/2006/relationships/slide" Target="slides/slide64.xml"/><Relationship Id="rId72" Type="http://schemas.openxmlformats.org/officeDocument/2006/relationships/slide" Target="slides/slide65.xml"/><Relationship Id="rId73" Type="http://schemas.openxmlformats.org/officeDocument/2006/relationships/slide" Target="slides/slide66.xml"/><Relationship Id="rId74" Type="http://schemas.openxmlformats.org/officeDocument/2006/relationships/slide" Target="slides/slide67.xml"/><Relationship Id="rId75" Type="http://schemas.openxmlformats.org/officeDocument/2006/relationships/slide" Target="slides/slide68.xml"/><Relationship Id="rId76" Type="http://schemas.openxmlformats.org/officeDocument/2006/relationships/slide" Target="slides/slide69.xml"/><Relationship Id="rId77" Type="http://schemas.openxmlformats.org/officeDocument/2006/relationships/slide" Target="slides/slide70.xml"/><Relationship Id="rId78" Type="http://schemas.openxmlformats.org/officeDocument/2006/relationships/slide" Target="slides/slide71.xml"/><Relationship Id="rId79" Type="http://schemas.openxmlformats.org/officeDocument/2006/relationships/slide" Target="slides/slide72.xml"/><Relationship Id="rId80" Type="http://schemas.openxmlformats.org/officeDocument/2006/relationships/slide" Target="slides/slide73.xml"/><Relationship Id="rId81" Type="http://schemas.openxmlformats.org/officeDocument/2006/relationships/slide" Target="slides/slide74.xml"/><Relationship Id="rId82" Type="http://schemas.openxmlformats.org/officeDocument/2006/relationships/slide" Target="slides/slide75.xml"/><Relationship Id="rId83" Type="http://schemas.openxmlformats.org/officeDocument/2006/relationships/slide" Target="slides/slide76.xml"/><Relationship Id="rId84" Type="http://schemas.openxmlformats.org/officeDocument/2006/relationships/slide" Target="slides/slide77.xml"/><Relationship Id="rId85" Type="http://schemas.openxmlformats.org/officeDocument/2006/relationships/slide" Target="slides/slide78.xml"/><Relationship Id="rId86" Type="http://schemas.openxmlformats.org/officeDocument/2006/relationships/slide" Target="slides/slide79.xml"/><Relationship Id="rId87" Type="http://schemas.openxmlformats.org/officeDocument/2006/relationships/slide" Target="slides/slide80.xml"/><Relationship Id="rId88" Type="http://schemas.openxmlformats.org/officeDocument/2006/relationships/slide" Target="slides/slide81.xml"/><Relationship Id="rId89" Type="http://schemas.openxmlformats.org/officeDocument/2006/relationships/slide" Target="slides/slide82.xml"/><Relationship Id="rId90" Type="http://schemas.openxmlformats.org/officeDocument/2006/relationships/slide" Target="slides/slide83.xml"/><Relationship Id="rId91" Type="http://schemas.openxmlformats.org/officeDocument/2006/relationships/slide" Target="slides/slide84.xml"/><Relationship Id="rId92" Type="http://schemas.openxmlformats.org/officeDocument/2006/relationships/slide" Target="slides/slide85.xml"/><Relationship Id="rId93" Type="http://schemas.openxmlformats.org/officeDocument/2006/relationships/slide" Target="slides/slide86.xml"/><Relationship Id="rId94" Type="http://schemas.openxmlformats.org/officeDocument/2006/relationships/slide" Target="slides/slide87.xml"/><Relationship Id="rId95" Type="http://schemas.openxmlformats.org/officeDocument/2006/relationships/slide" Target="slides/slide88.xml"/><Relationship Id="rId96" Type="http://schemas.openxmlformats.org/officeDocument/2006/relationships/slide" Target="slides/slide89.xml"/><Relationship Id="rId97" Type="http://schemas.openxmlformats.org/officeDocument/2006/relationships/slide" Target="slides/slide90.xml"/><Relationship Id="rId98" Type="http://schemas.openxmlformats.org/officeDocument/2006/relationships/slide" Target="slides/slide91.xml"/><Relationship Id="rId99" Type="http://schemas.openxmlformats.org/officeDocument/2006/relationships/slide" Target="slides/slide92.xml"/><Relationship Id="rId100" Type="http://schemas.openxmlformats.org/officeDocument/2006/relationships/slide" Target="slides/slide93.xml"/><Relationship Id="rId101" Type="http://schemas.openxmlformats.org/officeDocument/2006/relationships/slide" Target="slides/slide94.xml"/><Relationship Id="rId102" Type="http://schemas.openxmlformats.org/officeDocument/2006/relationships/slide" Target="slides/slide95.xml"/><Relationship Id="rId103" Type="http://schemas.openxmlformats.org/officeDocument/2006/relationships/slide" Target="slides/slide96.xml"/><Relationship Id="rId104" Type="http://schemas.openxmlformats.org/officeDocument/2006/relationships/slide" Target="slides/slide97.xml"/><Relationship Id="rId105" Type="http://schemas.openxmlformats.org/officeDocument/2006/relationships/slide" Target="slides/slide98.xml"/><Relationship Id="rId106" Type="http://schemas.openxmlformats.org/officeDocument/2006/relationships/slide" Target="slides/slide99.xml"/><Relationship Id="rId107" Type="http://schemas.openxmlformats.org/officeDocument/2006/relationships/slide" Target="slides/slide100.xml"/><Relationship Id="rId108" Type="http://schemas.openxmlformats.org/officeDocument/2006/relationships/slide" Target="slides/slide101.xml"/><Relationship Id="rId109" Type="http://schemas.openxmlformats.org/officeDocument/2006/relationships/slide" Target="slides/slide102.xml"/><Relationship Id="rId110" Type="http://schemas.openxmlformats.org/officeDocument/2006/relationships/slide" Target="slides/slide103.xml"/><Relationship Id="rId111" Type="http://schemas.openxmlformats.org/officeDocument/2006/relationships/slide" Target="slides/slide104.xml"/><Relationship Id="rId112" Type="http://schemas.openxmlformats.org/officeDocument/2006/relationships/slide" Target="slides/slide105.xml"/><Relationship Id="rId113" Type="http://schemas.openxmlformats.org/officeDocument/2006/relationships/slide" Target="slides/slide106.xml"/><Relationship Id="rId114" Type="http://schemas.openxmlformats.org/officeDocument/2006/relationships/slide" Target="slides/slide107.xml"/><Relationship Id="rId115" Type="http://schemas.openxmlformats.org/officeDocument/2006/relationships/slide" Target="slides/slide108.xml"/><Relationship Id="rId116" Type="http://schemas.openxmlformats.org/officeDocument/2006/relationships/slide" Target="slides/slide109.xml"/><Relationship Id="rId117" Type="http://schemas.openxmlformats.org/officeDocument/2006/relationships/slide" Target="slides/slide110.xml"/><Relationship Id="rId118" Type="http://schemas.openxmlformats.org/officeDocument/2006/relationships/slide" Target="slides/slide111.xml"/><Relationship Id="rId119" Type="http://schemas.openxmlformats.org/officeDocument/2006/relationships/slide" Target="slides/slide112.xml"/><Relationship Id="rId120" Type="http://schemas.openxmlformats.org/officeDocument/2006/relationships/slide" Target="slides/slide113.xml"/><Relationship Id="rId121" Type="http://schemas.openxmlformats.org/officeDocument/2006/relationships/slide" Target="slides/slide114.xml"/><Relationship Id="rId122" Type="http://schemas.openxmlformats.org/officeDocument/2006/relationships/slide" Target="slides/slide115.xml"/><Relationship Id="rId123" Type="http://schemas.openxmlformats.org/officeDocument/2006/relationships/slide" Target="slides/slide116.xml"/><Relationship Id="rId124" Type="http://schemas.openxmlformats.org/officeDocument/2006/relationships/slide" Target="slides/slide117.xml"/><Relationship Id="rId125" Type="http://schemas.openxmlformats.org/officeDocument/2006/relationships/slide" Target="slides/slide118.xml"/><Relationship Id="rId126" Type="http://schemas.openxmlformats.org/officeDocument/2006/relationships/slide" Target="slides/slide119.xml"/><Relationship Id="rId127" Type="http://schemas.openxmlformats.org/officeDocument/2006/relationships/slide" Target="slides/slide120.xml"/><Relationship Id="rId128" Type="http://schemas.openxmlformats.org/officeDocument/2006/relationships/slide" Target="slides/slide121.xml"/><Relationship Id="rId129" Type="http://schemas.openxmlformats.org/officeDocument/2006/relationships/slide" Target="slides/slide122.xml"/><Relationship Id="rId130" Type="http://schemas.openxmlformats.org/officeDocument/2006/relationships/slide" Target="slides/slide123.xml"/><Relationship Id="rId131" Type="http://schemas.openxmlformats.org/officeDocument/2006/relationships/slide" Target="slides/slide124.xml"/><Relationship Id="rId132" Type="http://schemas.openxmlformats.org/officeDocument/2006/relationships/slide" Target="slides/slide125.xml"/><Relationship Id="rId133" Type="http://schemas.openxmlformats.org/officeDocument/2006/relationships/slide" Target="slides/slide126.xml"/><Relationship Id="rId134" Type="http://schemas.openxmlformats.org/officeDocument/2006/relationships/slide" Target="slides/slide127.xml"/><Relationship Id="rId135" Type="http://schemas.openxmlformats.org/officeDocument/2006/relationships/slide" Target="slides/slide128.xml"/><Relationship Id="rId136" Type="http://schemas.openxmlformats.org/officeDocument/2006/relationships/slide" Target="slides/slide129.xml"/><Relationship Id="rId137" Type="http://schemas.openxmlformats.org/officeDocument/2006/relationships/slide" Target="slides/slide130.xml"/><Relationship Id="rId138" Type="http://schemas.openxmlformats.org/officeDocument/2006/relationships/slide" Target="slides/slide131.xml"/><Relationship Id="rId139" Type="http://schemas.openxmlformats.org/officeDocument/2006/relationships/slide" Target="slides/slide132.xml"/><Relationship Id="rId140" Type="http://schemas.openxmlformats.org/officeDocument/2006/relationships/slide" Target="slides/slide133.xml"/><Relationship Id="rId141" Type="http://schemas.openxmlformats.org/officeDocument/2006/relationships/slide" Target="slides/slide134.xml"/><Relationship Id="rId142" Type="http://schemas.openxmlformats.org/officeDocument/2006/relationships/slide" Target="slides/slide135.xml"/><Relationship Id="rId143" Type="http://schemas.openxmlformats.org/officeDocument/2006/relationships/slide" Target="slides/slide136.xml"/><Relationship Id="rId144" Type="http://schemas.openxmlformats.org/officeDocument/2006/relationships/slide" Target="slides/slide137.xml"/><Relationship Id="rId145" Type="http://schemas.openxmlformats.org/officeDocument/2006/relationships/slide" Target="slides/slide138.xml"/><Relationship Id="rId146" Type="http://schemas.openxmlformats.org/officeDocument/2006/relationships/slide" Target="slides/slide139.xml"/><Relationship Id="rId147" Type="http://schemas.openxmlformats.org/officeDocument/2006/relationships/slide" Target="slides/slide140.xml"/><Relationship Id="rId148" Type="http://schemas.openxmlformats.org/officeDocument/2006/relationships/slide" Target="slides/slide141.xml"/><Relationship Id="rId149" Type="http://schemas.openxmlformats.org/officeDocument/2006/relationships/slide" Target="slides/slide142.xml"/><Relationship Id="rId150" Type="http://schemas.openxmlformats.org/officeDocument/2006/relationships/slide" Target="slides/slide143.xml"/><Relationship Id="rId151" Type="http://schemas.openxmlformats.org/officeDocument/2006/relationships/slide" Target="slides/slide144.xml"/><Relationship Id="rId152" Type="http://schemas.openxmlformats.org/officeDocument/2006/relationships/slide" Target="slides/slide145.xml"/><Relationship Id="rId153" Type="http://schemas.openxmlformats.org/officeDocument/2006/relationships/slide" Target="slides/slide146.xml"/><Relationship Id="rId154" Type="http://schemas.openxmlformats.org/officeDocument/2006/relationships/slide" Target="slides/slide147.xml"/><Relationship Id="rId155" Type="http://schemas.openxmlformats.org/officeDocument/2006/relationships/slide" Target="slides/slide148.xml"/><Relationship Id="rId156" Type="http://schemas.openxmlformats.org/officeDocument/2006/relationships/slide" Target="slides/slide149.xml"/><Relationship Id="rId157" Type="http://schemas.openxmlformats.org/officeDocument/2006/relationships/slide" Target="slides/slide150.xml"/><Relationship Id="rId158" Type="http://schemas.openxmlformats.org/officeDocument/2006/relationships/slide" Target="slides/slide151.xml"/><Relationship Id="rId159" Type="http://schemas.openxmlformats.org/officeDocument/2006/relationships/slide" Target="slides/slide152.xml"/><Relationship Id="rId160" Type="http://schemas.openxmlformats.org/officeDocument/2006/relationships/slide" Target="slides/slide153.xml"/><Relationship Id="rId161" Type="http://schemas.openxmlformats.org/officeDocument/2006/relationships/slide" Target="slides/slide154.xml"/><Relationship Id="rId162" Type="http://schemas.openxmlformats.org/officeDocument/2006/relationships/slide" Target="slides/slide155.xml"/><Relationship Id="rId163" Type="http://schemas.openxmlformats.org/officeDocument/2006/relationships/slide" Target="slides/slide156.xml"/><Relationship Id="rId164" Type="http://schemas.openxmlformats.org/officeDocument/2006/relationships/slide" Target="slides/slide157.xml"/><Relationship Id="rId165" Type="http://schemas.openxmlformats.org/officeDocument/2006/relationships/slide" Target="slides/slide158.xml"/><Relationship Id="rId166" Type="http://schemas.openxmlformats.org/officeDocument/2006/relationships/slide" Target="slides/slide159.xml"/><Relationship Id="rId167" Type="http://schemas.openxmlformats.org/officeDocument/2006/relationships/slide" Target="slides/slide160.xml"/><Relationship Id="rId168" Type="http://schemas.openxmlformats.org/officeDocument/2006/relationships/slide" Target="slides/slide161.xml"/><Relationship Id="rId169" Type="http://schemas.openxmlformats.org/officeDocument/2006/relationships/slide" Target="slides/slide162.xml"/><Relationship Id="rId170" Type="http://schemas.openxmlformats.org/officeDocument/2006/relationships/slide" Target="slides/slide163.xml"/><Relationship Id="rId171" Type="http://schemas.openxmlformats.org/officeDocument/2006/relationships/slide" Target="slides/slide164.xml"/><Relationship Id="rId172" Type="http://schemas.openxmlformats.org/officeDocument/2006/relationships/slide" Target="slides/slide165.xml"/><Relationship Id="rId173" Type="http://schemas.openxmlformats.org/officeDocument/2006/relationships/slide" Target="slides/slide166.xml"/><Relationship Id="rId174" Type="http://schemas.openxmlformats.org/officeDocument/2006/relationships/slide" Target="slides/slide167.xml"/><Relationship Id="rId175" Type="http://schemas.openxmlformats.org/officeDocument/2006/relationships/slide" Target="slides/slide168.xml"/><Relationship Id="rId176" Type="http://schemas.openxmlformats.org/officeDocument/2006/relationships/slide" Target="slides/slide169.xml"/><Relationship Id="rId177" Type="http://schemas.openxmlformats.org/officeDocument/2006/relationships/slide" Target="slides/slide170.xml"/><Relationship Id="rId178" Type="http://schemas.openxmlformats.org/officeDocument/2006/relationships/slide" Target="slides/slide171.xml"/><Relationship Id="rId179" Type="http://schemas.openxmlformats.org/officeDocument/2006/relationships/slide" Target="slides/slide172.xml"/><Relationship Id="rId180" Type="http://schemas.openxmlformats.org/officeDocument/2006/relationships/slide" Target="slides/slide173.xml"/><Relationship Id="rId181" Type="http://schemas.openxmlformats.org/officeDocument/2006/relationships/slide" Target="slides/slide174.xml"/><Relationship Id="rId182" Type="http://schemas.openxmlformats.org/officeDocument/2006/relationships/slide" Target="slides/slide175.xml"/><Relationship Id="rId183" Type="http://schemas.openxmlformats.org/officeDocument/2006/relationships/slide" Target="slides/slide176.xml"/><Relationship Id="rId184" Type="http://schemas.openxmlformats.org/officeDocument/2006/relationships/slide" Target="slides/slide177.xml"/><Relationship Id="rId185" Type="http://schemas.openxmlformats.org/officeDocument/2006/relationships/slide" Target="slides/slide178.xml"/><Relationship Id="rId186" Type="http://schemas.openxmlformats.org/officeDocument/2006/relationships/slide" Target="slides/slide179.xml"/><Relationship Id="rId187" Type="http://schemas.openxmlformats.org/officeDocument/2006/relationships/slide" Target="slides/slide180.xml"/><Relationship Id="rId188" Type="http://schemas.openxmlformats.org/officeDocument/2006/relationships/slide" Target="slides/slide181.xml"/><Relationship Id="rId189" Type="http://schemas.openxmlformats.org/officeDocument/2006/relationships/slide" Target="slides/slide182.xml"/><Relationship Id="rId190" Type="http://schemas.openxmlformats.org/officeDocument/2006/relationships/slide" Target="slides/slide183.xml"/><Relationship Id="rId191" Type="http://schemas.openxmlformats.org/officeDocument/2006/relationships/slide" Target="slides/slide184.xml"/><Relationship Id="rId192" Type="http://schemas.openxmlformats.org/officeDocument/2006/relationships/slide" Target="slides/slide185.xml"/><Relationship Id="rId193" Type="http://schemas.openxmlformats.org/officeDocument/2006/relationships/slide" Target="slides/slide186.xml"/><Relationship Id="rId194" Type="http://schemas.openxmlformats.org/officeDocument/2006/relationships/slide" Target="slides/slide187.xml"/><Relationship Id="rId195" Type="http://schemas.openxmlformats.org/officeDocument/2006/relationships/slide" Target="slides/slide188.xml"/><Relationship Id="rId196" Type="http://schemas.openxmlformats.org/officeDocument/2006/relationships/slide" Target="slides/slide189.xml"/><Relationship Id="rId197" Type="http://schemas.openxmlformats.org/officeDocument/2006/relationships/slide" Target="slides/slide190.xml"/><Relationship Id="rId198" Type="http://schemas.openxmlformats.org/officeDocument/2006/relationships/slide" Target="slides/slide191.xml"/><Relationship Id="rId199" Type="http://schemas.openxmlformats.org/officeDocument/2006/relationships/slide" Target="slides/slide192.xml"/><Relationship Id="rId200" Type="http://schemas.openxmlformats.org/officeDocument/2006/relationships/slide" Target="slides/slide193.xml"/><Relationship Id="rId201" Type="http://schemas.openxmlformats.org/officeDocument/2006/relationships/slide" Target="slides/slide194.xml"/><Relationship Id="rId202" Type="http://schemas.openxmlformats.org/officeDocument/2006/relationships/slide" Target="slides/slide195.xml"/><Relationship Id="rId203" Type="http://schemas.openxmlformats.org/officeDocument/2006/relationships/slide" Target="slides/slide196.xml"/><Relationship Id="rId204" Type="http://schemas.openxmlformats.org/officeDocument/2006/relationships/slide" Target="slides/slide197.xml"/><Relationship Id="rId205" Type="http://schemas.openxmlformats.org/officeDocument/2006/relationships/slide" Target="slides/slide198.xml"/><Relationship Id="rId206" Type="http://schemas.openxmlformats.org/officeDocument/2006/relationships/slide" Target="slides/slide199.xml"/><Relationship Id="rId207" Type="http://schemas.openxmlformats.org/officeDocument/2006/relationships/slide" Target="slides/slide200.xml"/><Relationship Id="rId208" Type="http://schemas.openxmlformats.org/officeDocument/2006/relationships/slide" Target="slides/slide201.xml"/><Relationship Id="rId209" Type="http://schemas.openxmlformats.org/officeDocument/2006/relationships/slide" Target="slides/slide202.xml"/><Relationship Id="rId210" Type="http://schemas.openxmlformats.org/officeDocument/2006/relationships/slide" Target="slides/slide203.xml"/><Relationship Id="rId211" Type="http://schemas.openxmlformats.org/officeDocument/2006/relationships/slide" Target="slides/slide204.xml"/><Relationship Id="rId212" Type="http://schemas.openxmlformats.org/officeDocument/2006/relationships/slide" Target="slides/slide205.xml"/><Relationship Id="rId213" Type="http://schemas.openxmlformats.org/officeDocument/2006/relationships/slide" Target="slides/slide206.xml"/><Relationship Id="rId214" Type="http://schemas.openxmlformats.org/officeDocument/2006/relationships/slide" Target="slides/slide207.xml"/><Relationship Id="rId215" Type="http://schemas.openxmlformats.org/officeDocument/2006/relationships/slide" Target="slides/slide208.xml"/><Relationship Id="rId216" Type="http://schemas.openxmlformats.org/officeDocument/2006/relationships/slide" Target="slides/slide209.xml"/><Relationship Id="rId217" Type="http://schemas.openxmlformats.org/officeDocument/2006/relationships/slide" Target="slides/slide210.xml"/><Relationship Id="rId218" Type="http://schemas.openxmlformats.org/officeDocument/2006/relationships/slide" Target="slides/slide211.xml"/><Relationship Id="rId219" Type="http://schemas.openxmlformats.org/officeDocument/2006/relationships/slide" Target="slides/slide212.xml"/><Relationship Id="rId220" Type="http://schemas.openxmlformats.org/officeDocument/2006/relationships/slide" Target="slides/slide213.xml"/><Relationship Id="rId221" Type="http://schemas.openxmlformats.org/officeDocument/2006/relationships/slide" Target="slides/slide214.xml"/><Relationship Id="rId222" Type="http://schemas.openxmlformats.org/officeDocument/2006/relationships/slide" Target="slides/slide215.xml"/><Relationship Id="rId223" Type="http://schemas.openxmlformats.org/officeDocument/2006/relationships/slide" Target="slides/slide216.xml"/><Relationship Id="rId224" Type="http://schemas.openxmlformats.org/officeDocument/2006/relationships/slide" Target="slides/slide217.xml"/><Relationship Id="rId225" Type="http://schemas.openxmlformats.org/officeDocument/2006/relationships/slide" Target="slides/slide218.xml"/><Relationship Id="rId226" Type="http://schemas.openxmlformats.org/officeDocument/2006/relationships/slide" Target="slides/slide219.xml"/><Relationship Id="rId227" Type="http://schemas.openxmlformats.org/officeDocument/2006/relationships/slide" Target="slides/slide220.xml"/><Relationship Id="rId228" Type="http://schemas.openxmlformats.org/officeDocument/2006/relationships/slide" Target="slides/slide221.xml"/><Relationship Id="rId229" Type="http://schemas.openxmlformats.org/officeDocument/2006/relationships/slide" Target="slides/slide222.xml"/><Relationship Id="rId230" Type="http://schemas.openxmlformats.org/officeDocument/2006/relationships/slide" Target="slides/slide223.xml"/><Relationship Id="rId231" Type="http://schemas.openxmlformats.org/officeDocument/2006/relationships/slide" Target="slides/slide224.xml"/><Relationship Id="rId232" Type="http://schemas.openxmlformats.org/officeDocument/2006/relationships/slide" Target="slides/slide225.xml"/><Relationship Id="rId233" Type="http://schemas.openxmlformats.org/officeDocument/2006/relationships/slide" Target="slides/slide226.xml"/><Relationship Id="rId234" Type="http://schemas.openxmlformats.org/officeDocument/2006/relationships/slide" Target="slides/slide227.xml"/><Relationship Id="rId235" Type="http://schemas.openxmlformats.org/officeDocument/2006/relationships/slide" Target="slides/slide228.xml"/><Relationship Id="rId236" Type="http://schemas.openxmlformats.org/officeDocument/2006/relationships/slide" Target="slides/slide229.xml"/><Relationship Id="rId237" Type="http://schemas.openxmlformats.org/officeDocument/2006/relationships/slide" Target="slides/slide230.xml"/><Relationship Id="rId238" Type="http://schemas.openxmlformats.org/officeDocument/2006/relationships/slide" Target="slides/slide231.xml"/><Relationship Id="rId239" Type="http://schemas.openxmlformats.org/officeDocument/2006/relationships/slide" Target="slides/slide232.xml"/><Relationship Id="rId240" Type="http://schemas.openxmlformats.org/officeDocument/2006/relationships/slide" Target="slides/slide233.xml"/><Relationship Id="rId241" Type="http://schemas.openxmlformats.org/officeDocument/2006/relationships/slide" Target="slides/slide234.xml"/><Relationship Id="rId242" Type="http://schemas.openxmlformats.org/officeDocument/2006/relationships/slide" Target="slides/slide235.xml"/><Relationship Id="rId243" Type="http://schemas.openxmlformats.org/officeDocument/2006/relationships/slide" Target="slides/slide236.xml"/><Relationship Id="rId244" Type="http://schemas.openxmlformats.org/officeDocument/2006/relationships/slide" Target="slides/slide237.xml"/><Relationship Id="rId245" Type="http://schemas.openxmlformats.org/officeDocument/2006/relationships/slide" Target="slides/slide238.xml"/><Relationship Id="rId246" Type="http://schemas.openxmlformats.org/officeDocument/2006/relationships/slide" Target="slides/slide239.xml"/><Relationship Id="rId247" Type="http://schemas.openxmlformats.org/officeDocument/2006/relationships/slide" Target="slides/slide240.xml"/><Relationship Id="rId248" Type="http://schemas.openxmlformats.org/officeDocument/2006/relationships/slide" Target="slides/slide241.xml"/><Relationship Id="rId249" Type="http://schemas.openxmlformats.org/officeDocument/2006/relationships/slide" Target="slides/slide242.xml"/><Relationship Id="rId250" Type="http://schemas.openxmlformats.org/officeDocument/2006/relationships/slide" Target="slides/slide243.xml"/><Relationship Id="rId251" Type="http://schemas.openxmlformats.org/officeDocument/2006/relationships/slide" Target="slides/slide244.xml"/><Relationship Id="rId252" Type="http://schemas.openxmlformats.org/officeDocument/2006/relationships/slide" Target="slides/slide245.xml"/><Relationship Id="rId253" Type="http://schemas.openxmlformats.org/officeDocument/2006/relationships/slide" Target="slides/slide246.xml"/><Relationship Id="rId254" Type="http://schemas.openxmlformats.org/officeDocument/2006/relationships/slide" Target="slides/slide247.xml"/><Relationship Id="rId255" Type="http://schemas.openxmlformats.org/officeDocument/2006/relationships/slide" Target="slides/slide248.xml"/><Relationship Id="rId256" Type="http://schemas.openxmlformats.org/officeDocument/2006/relationships/slide" Target="slides/slide249.xml"/><Relationship Id="rId257" Type="http://schemas.openxmlformats.org/officeDocument/2006/relationships/slide" Target="slides/slide250.xml"/><Relationship Id="rId258" Type="http://schemas.openxmlformats.org/officeDocument/2006/relationships/slide" Target="slides/slide251.xml"/><Relationship Id="rId259" Type="http://schemas.openxmlformats.org/officeDocument/2006/relationships/slide" Target="slides/slide252.xml"/><Relationship Id="rId260" Type="http://schemas.openxmlformats.org/officeDocument/2006/relationships/slide" Target="slides/slide253.xml"/><Relationship Id="rId261" Type="http://schemas.openxmlformats.org/officeDocument/2006/relationships/slide" Target="slides/slide254.xml"/><Relationship Id="rId262" Type="http://schemas.openxmlformats.org/officeDocument/2006/relationships/slide" Target="slides/slide255.xml"/><Relationship Id="rId263" Type="http://schemas.openxmlformats.org/officeDocument/2006/relationships/slide" Target="slides/slide256.xml"/><Relationship Id="rId264" Type="http://schemas.openxmlformats.org/officeDocument/2006/relationships/slide" Target="slides/slide257.xml"/><Relationship Id="rId265" Type="http://schemas.openxmlformats.org/officeDocument/2006/relationships/slide" Target="slides/slide258.xml"/><Relationship Id="rId266" Type="http://schemas.openxmlformats.org/officeDocument/2006/relationships/slide" Target="slides/slide259.xml"/><Relationship Id="rId267" Type="http://schemas.openxmlformats.org/officeDocument/2006/relationships/slide" Target="slides/slide260.xml"/><Relationship Id="rId268" Type="http://schemas.openxmlformats.org/officeDocument/2006/relationships/slide" Target="slides/slide261.xml"/><Relationship Id="rId269" Type="http://schemas.openxmlformats.org/officeDocument/2006/relationships/slide" Target="slides/slide262.xml"/><Relationship Id="rId270" Type="http://schemas.openxmlformats.org/officeDocument/2006/relationships/slide" Target="slides/slide263.xml"/><Relationship Id="rId271" Type="http://schemas.openxmlformats.org/officeDocument/2006/relationships/slide" Target="slides/slide264.xml"/><Relationship Id="rId272" Type="http://schemas.openxmlformats.org/officeDocument/2006/relationships/slide" Target="slides/slide265.xml"/><Relationship Id="rId273" Type="http://schemas.openxmlformats.org/officeDocument/2006/relationships/slide" Target="slides/slide266.xml"/><Relationship Id="rId274" Type="http://schemas.openxmlformats.org/officeDocument/2006/relationships/slide" Target="slides/slide267.xml"/><Relationship Id="rId275" Type="http://schemas.openxmlformats.org/officeDocument/2006/relationships/slide" Target="slides/slide268.xml"/><Relationship Id="rId276" Type="http://schemas.openxmlformats.org/officeDocument/2006/relationships/slide" Target="slides/slide269.xml"/><Relationship Id="rId277" Type="http://schemas.openxmlformats.org/officeDocument/2006/relationships/slide" Target="slides/slide270.xml"/><Relationship Id="rId278" Type="http://schemas.openxmlformats.org/officeDocument/2006/relationships/slide" Target="slides/slide271.xml"/><Relationship Id="rId279" Type="http://schemas.openxmlformats.org/officeDocument/2006/relationships/slide" Target="slides/slide272.xml"/><Relationship Id="rId280" Type="http://schemas.openxmlformats.org/officeDocument/2006/relationships/slide" Target="slides/slide273.xml"/><Relationship Id="rId281" Type="http://schemas.openxmlformats.org/officeDocument/2006/relationships/slide" Target="slides/slide274.xml"/><Relationship Id="rId282" Type="http://schemas.openxmlformats.org/officeDocument/2006/relationships/slide" Target="slides/slide275.xml"/><Relationship Id="rId283" Type="http://schemas.openxmlformats.org/officeDocument/2006/relationships/slide" Target="slides/slide276.xml"/><Relationship Id="rId284" Type="http://schemas.openxmlformats.org/officeDocument/2006/relationships/slide" Target="slides/slide277.xml"/><Relationship Id="rId285" Type="http://schemas.openxmlformats.org/officeDocument/2006/relationships/slide" Target="slides/slide278.xml"/><Relationship Id="rId286" Type="http://schemas.openxmlformats.org/officeDocument/2006/relationships/slide" Target="slides/slide279.xml"/><Relationship Id="rId287" Type="http://schemas.openxmlformats.org/officeDocument/2006/relationships/slide" Target="slides/slide280.xml"/><Relationship Id="rId288" Type="http://schemas.openxmlformats.org/officeDocument/2006/relationships/slide" Target="slides/slide281.xml"/><Relationship Id="rId289" Type="http://schemas.openxmlformats.org/officeDocument/2006/relationships/slide" Target="slides/slide282.xml"/><Relationship Id="rId290" Type="http://schemas.openxmlformats.org/officeDocument/2006/relationships/slide" Target="slides/slide283.xml"/><Relationship Id="rId291" Type="http://schemas.openxmlformats.org/officeDocument/2006/relationships/slide" Target="slides/slide284.xml"/><Relationship Id="rId292" Type="http://schemas.openxmlformats.org/officeDocument/2006/relationships/slide" Target="slides/slide285.xml"/><Relationship Id="rId293" Type="http://schemas.openxmlformats.org/officeDocument/2006/relationships/slide" Target="slides/slide286.xml"/><Relationship Id="rId294" Type="http://schemas.openxmlformats.org/officeDocument/2006/relationships/slide" Target="slides/slide287.xml"/><Relationship Id="rId295" Type="http://schemas.openxmlformats.org/officeDocument/2006/relationships/slide" Target="slides/slide288.xml"/><Relationship Id="rId296" Type="http://schemas.openxmlformats.org/officeDocument/2006/relationships/slide" Target="slides/slide289.xml"/><Relationship Id="rId297" Type="http://schemas.openxmlformats.org/officeDocument/2006/relationships/slide" Target="slides/slide290.xml"/><Relationship Id="rId298" Type="http://schemas.openxmlformats.org/officeDocument/2006/relationships/slide" Target="slides/slide291.xml"/><Relationship Id="rId299" Type="http://schemas.openxmlformats.org/officeDocument/2006/relationships/slide" Target="slides/slide292.xml"/><Relationship Id="rId300" Type="http://schemas.openxmlformats.org/officeDocument/2006/relationships/slide" Target="slides/slide293.xml"/><Relationship Id="rId301" Type="http://schemas.openxmlformats.org/officeDocument/2006/relationships/slide" Target="slides/slide294.xml"/><Relationship Id="rId302" Type="http://schemas.openxmlformats.org/officeDocument/2006/relationships/slide" Target="slides/slide295.xml"/><Relationship Id="rId303" Type="http://schemas.openxmlformats.org/officeDocument/2006/relationships/slide" Target="slides/slide296.xml"/><Relationship Id="rId304" Type="http://schemas.openxmlformats.org/officeDocument/2006/relationships/slide" Target="slides/slide297.xml"/><Relationship Id="rId305" Type="http://schemas.openxmlformats.org/officeDocument/2006/relationships/slide" Target="slides/slide298.xml"/><Relationship Id="rId306" Type="http://schemas.openxmlformats.org/officeDocument/2006/relationships/slide" Target="slides/slide299.xml"/><Relationship Id="rId307" Type="http://schemas.openxmlformats.org/officeDocument/2006/relationships/slide" Target="slides/slide300.xml"/><Relationship Id="rId308" Type="http://schemas.openxmlformats.org/officeDocument/2006/relationships/slide" Target="slides/slide301.xml"/><Relationship Id="rId309" Type="http://schemas.openxmlformats.org/officeDocument/2006/relationships/slide" Target="slides/slide302.xml"/><Relationship Id="rId310" Type="http://schemas.openxmlformats.org/officeDocument/2006/relationships/slide" Target="slides/slide303.xml"/><Relationship Id="rId311" Type="http://schemas.openxmlformats.org/officeDocument/2006/relationships/slide" Target="slides/slide304.xml"/><Relationship Id="rId312" Type="http://schemas.openxmlformats.org/officeDocument/2006/relationships/slide" Target="slides/slide305.xml"/><Relationship Id="rId313" Type="http://schemas.openxmlformats.org/officeDocument/2006/relationships/slide" Target="slides/slide306.xml"/><Relationship Id="rId314" Type="http://schemas.openxmlformats.org/officeDocument/2006/relationships/slide" Target="slides/slide307.xml"/><Relationship Id="rId315" Type="http://schemas.openxmlformats.org/officeDocument/2006/relationships/slide" Target="slides/slide308.xml"/><Relationship Id="rId316" Type="http://schemas.openxmlformats.org/officeDocument/2006/relationships/slide" Target="slides/slide309.xml"/><Relationship Id="rId317" Type="http://schemas.openxmlformats.org/officeDocument/2006/relationships/slide" Target="slides/slide310.xml"/><Relationship Id="rId318" Type="http://schemas.openxmlformats.org/officeDocument/2006/relationships/slide" Target="slides/slide311.xml"/><Relationship Id="rId319" Type="http://schemas.openxmlformats.org/officeDocument/2006/relationships/slide" Target="slides/slide312.xml"/><Relationship Id="rId320" Type="http://schemas.openxmlformats.org/officeDocument/2006/relationships/slide" Target="slides/slide313.xml"/><Relationship Id="rId321" Type="http://schemas.openxmlformats.org/officeDocument/2006/relationships/slide" Target="slides/slide314.xml"/><Relationship Id="rId322" Type="http://schemas.openxmlformats.org/officeDocument/2006/relationships/slide" Target="slides/slide315.xml"/><Relationship Id="rId323" Type="http://schemas.openxmlformats.org/officeDocument/2006/relationships/slide" Target="slides/slide316.xml"/><Relationship Id="rId324" Type="http://schemas.openxmlformats.org/officeDocument/2006/relationships/slide" Target="slides/slide317.xml"/><Relationship Id="rId325" Type="http://schemas.openxmlformats.org/officeDocument/2006/relationships/slide" Target="slides/slide318.xml"/><Relationship Id="rId326" Type="http://schemas.openxmlformats.org/officeDocument/2006/relationships/slide" Target="slides/slide319.xml"/><Relationship Id="rId327" Type="http://schemas.openxmlformats.org/officeDocument/2006/relationships/slide" Target="slides/slide320.xml"/><Relationship Id="rId328" Type="http://schemas.openxmlformats.org/officeDocument/2006/relationships/slide" Target="slides/slide321.xml"/><Relationship Id="rId329" Type="http://schemas.openxmlformats.org/officeDocument/2006/relationships/slide" Target="slides/slide322.xml"/><Relationship Id="rId330" Type="http://schemas.openxmlformats.org/officeDocument/2006/relationships/slide" Target="slides/slide323.xml"/><Relationship Id="rId331" Type="http://schemas.openxmlformats.org/officeDocument/2006/relationships/slide" Target="slides/slide324.xml"/><Relationship Id="rId332" Type="http://schemas.openxmlformats.org/officeDocument/2006/relationships/slide" Target="slides/slide325.xml"/><Relationship Id="rId333" Type="http://schemas.openxmlformats.org/officeDocument/2006/relationships/slide" Target="slides/slide326.xml"/><Relationship Id="rId334" Type="http://schemas.openxmlformats.org/officeDocument/2006/relationships/slide" Target="slides/slide327.xml"/><Relationship Id="rId335" Type="http://schemas.openxmlformats.org/officeDocument/2006/relationships/slide" Target="slides/slide328.xml"/><Relationship Id="rId336" Type="http://schemas.openxmlformats.org/officeDocument/2006/relationships/slide" Target="slides/slide329.xml"/><Relationship Id="rId337" Type="http://schemas.openxmlformats.org/officeDocument/2006/relationships/slide" Target="slides/slide330.xml"/><Relationship Id="rId338" Type="http://schemas.openxmlformats.org/officeDocument/2006/relationships/slide" Target="slides/slide331.xml"/><Relationship Id="rId339" Type="http://schemas.openxmlformats.org/officeDocument/2006/relationships/slide" Target="slides/slide332.xml"/><Relationship Id="rId340" Type="http://schemas.openxmlformats.org/officeDocument/2006/relationships/slide" Target="slides/slide333.xml"/><Relationship Id="rId341" Type="http://schemas.openxmlformats.org/officeDocument/2006/relationships/slide" Target="slides/slide334.xml"/><Relationship Id="rId342" Type="http://schemas.openxmlformats.org/officeDocument/2006/relationships/slide" Target="slides/slide335.xml"/><Relationship Id="rId343" Type="http://schemas.openxmlformats.org/officeDocument/2006/relationships/slide" Target="slides/slide336.xml"/><Relationship Id="rId344" Type="http://schemas.openxmlformats.org/officeDocument/2006/relationships/slide" Target="slides/slide337.xml"/><Relationship Id="rId345" Type="http://schemas.openxmlformats.org/officeDocument/2006/relationships/slide" Target="slides/slide338.xml"/><Relationship Id="rId346" Type="http://schemas.openxmlformats.org/officeDocument/2006/relationships/slide" Target="slides/slide339.xml"/><Relationship Id="rId347" Type="http://schemas.openxmlformats.org/officeDocument/2006/relationships/slide" Target="slides/slide340.xml"/><Relationship Id="rId348" Type="http://schemas.openxmlformats.org/officeDocument/2006/relationships/slide" Target="slides/slide34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9.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0.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2.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3.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4.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5.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8.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9.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0.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2.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3.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4.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5.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6.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7.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8.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9.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0.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2.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3.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4.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5.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6.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7.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8.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9.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0.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3.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4.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5.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6.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7.xml"/></Relationships>
</file>

<file path=ppt/notesSlides/_rels/notesSlide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8.xml"/></Relationships>
</file>

<file path=ppt/notesSlides/_rels/notesSlide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9.xml"/></Relationships>
</file>

<file path=ppt/notesSlides/_rels/notesSlide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0.xml"/></Relationships>
</file>

<file path=ppt/notesSlides/_rels/notesSlide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1.xml"/></Relationships>
</file>

<file path=ppt/notesSlides/_rels/notesSlide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2.xml"/></Relationships>
</file>

<file path=ppt/notesSlides/_rels/notesSlide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3.xml"/></Relationships>
</file>

<file path=ppt/notesSlides/_rels/notesSlide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4.xml"/></Relationships>
</file>

<file path=ppt/notesSlides/_rels/notesSlide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5.xml"/></Relationships>
</file>

<file path=ppt/notesSlides/_rels/notesSlide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6.xml"/></Relationships>
</file>

<file path=ppt/notesSlides/_rels/notesSlide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7.xml"/></Relationships>
</file>

<file path=ppt/notesSlides/_rels/notesSlide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9.xml"/></Relationships>
</file>

<file path=ppt/notesSlides/_rels/notesSlide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0.xml"/></Relationships>
</file>

<file path=ppt/notesSlides/_rels/notesSlide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1.xml"/></Relationships>
</file>

<file path=ppt/notesSlides/_rels/notesSlide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2.xml"/></Relationships>
</file>

<file path=ppt/notesSlides/_rels/notesSlide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3.xml"/></Relationships>
</file>

<file path=ppt/notesSlides/_rels/notesSlide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4.xml"/></Relationships>
</file>

<file path=ppt/notesSlides/_rels/notesSlide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5.xml"/></Relationships>
</file>

<file path=ppt/notesSlides/_rels/notesSlide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6.xml"/></Relationships>
</file>

<file path=ppt/notesSlides/_rels/notesSlide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7.xml"/></Relationships>
</file>

<file path=ppt/notesSlides/_rels/notesSlide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8.xml"/></Relationships>
</file>

<file path=ppt/notesSlides/_rels/notesSlide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9.xml"/></Relationships>
</file>

<file path=ppt/notesSlides/_rels/notesSlide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0.xml"/></Relationships>
</file>

<file path=ppt/notesSlides/_rels/notesSlide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1.xml"/></Relationships>
</file>

<file path=ppt/notesSlides/_rels/notesSlide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2.xml"/></Relationships>
</file>

<file path=ppt/notesSlides/_rels/notesSlide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3.xml"/></Relationships>
</file>

<file path=ppt/notesSlides/_rels/notesSlide1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4.xml"/></Relationships>
</file>

<file path=ppt/notesSlides/_rels/notesSlide1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5.xml"/></Relationships>
</file>

<file path=ppt/notesSlides/_rels/notesSlide1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6.xml"/></Relationships>
</file>

<file path=ppt/notesSlides/_rels/notesSlide1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7.xml"/></Relationships>
</file>

<file path=ppt/notesSlides/_rels/notesSlide1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8.xml"/></Relationships>
</file>

<file path=ppt/notesSlides/_rels/notesSlide1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9.xml"/></Relationships>
</file>

<file path=ppt/notesSlides/_rels/notesSlide1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0.xml"/></Relationships>
</file>

<file path=ppt/notesSlides/_rels/notesSlide1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1.xml"/></Relationships>
</file>

<file path=ppt/notesSlides/_rels/notesSlide1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2.xml"/></Relationships>
</file>

<file path=ppt/notesSlides/_rels/notesSlide1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3.xml"/></Relationships>
</file>

<file path=ppt/notesSlides/_rels/notesSlide1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4.xml"/></Relationships>
</file>

<file path=ppt/notesSlides/_rels/notesSlide1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5.xml"/></Relationships>
</file>

<file path=ppt/notesSlides/_rels/notesSlide1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6.xml"/></Relationships>
</file>

<file path=ppt/notesSlides/_rels/notesSlide1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7.xml"/></Relationships>
</file>

<file path=ppt/notesSlides/_rels/notesSlide1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8.xml"/></Relationships>
</file>

<file path=ppt/notesSlides/_rels/notesSlide1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9.xml"/></Relationships>
</file>

<file path=ppt/notesSlides/_rels/notesSlide1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0.xml"/></Relationships>
</file>

<file path=ppt/notesSlides/_rels/notesSlide1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1.xml"/></Relationships>
</file>

<file path=ppt/notesSlides/_rels/notesSlide1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2.xml"/></Relationships>
</file>

<file path=ppt/notesSlides/_rels/notesSlide1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3.xml"/></Relationships>
</file>

<file path=ppt/notesSlides/_rels/notesSlide1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4.xml"/></Relationships>
</file>

<file path=ppt/notesSlides/_rels/notesSlide1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5.xml"/></Relationships>
</file>

<file path=ppt/notesSlides/_rels/notesSlide1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6.xml"/></Relationships>
</file>

<file path=ppt/notesSlides/_rels/notesSlide1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7.xml"/></Relationships>
</file>

<file path=ppt/notesSlides/_rels/notesSlide1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8.xml"/></Relationships>
</file>

<file path=ppt/notesSlides/_rels/notesSlide1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9.xml"/></Relationships>
</file>

<file path=ppt/notesSlides/_rels/notesSlide1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0.xml"/></Relationships>
</file>

<file path=ppt/notesSlides/_rels/notesSlide1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1.xml"/></Relationships>
</file>

<file path=ppt/notesSlides/_rels/notesSlide1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2.xml"/></Relationships>
</file>

<file path=ppt/notesSlides/_rels/notesSlide1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3.xml"/></Relationships>
</file>

<file path=ppt/notesSlides/_rels/notesSlide1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4.xml"/></Relationships>
</file>

<file path=ppt/notesSlides/_rels/notesSlide1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5.xml"/></Relationships>
</file>

<file path=ppt/notesSlides/_rels/notesSlide1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6.xml"/></Relationships>
</file>

<file path=ppt/notesSlides/_rels/notesSlide1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7.xml"/></Relationships>
</file>

<file path=ppt/notesSlides/_rels/notesSlide1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8.xml"/></Relationships>
</file>

<file path=ppt/notesSlides/_rels/notesSlide1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9.xml"/></Relationships>
</file>

<file path=ppt/notesSlides/_rels/notesSlide1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0.xml"/></Relationships>
</file>

<file path=ppt/notesSlides/_rels/notesSlide1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1.xml"/></Relationships>
</file>

<file path=ppt/notesSlides/_rels/notesSlide1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2.xml"/></Relationships>
</file>

<file path=ppt/notesSlides/_rels/notesSlide1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3.xml"/></Relationships>
</file>

<file path=ppt/notesSlides/_rels/notesSlide1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4.xml"/></Relationships>
</file>

<file path=ppt/notesSlides/_rels/notesSlide1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5.xml"/></Relationships>
</file>

<file path=ppt/notesSlides/_rels/notesSlide1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6.xml"/></Relationships>
</file>

<file path=ppt/notesSlides/_rels/notesSlide1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8.xml"/></Relationships>
</file>

<file path=ppt/notesSlides/_rels/notesSlide1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2.xml"/></Relationships>
</file>

<file path=ppt/notesSlides/_rels/notesSlide1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3.xml"/></Relationships>
</file>

<file path=ppt/notesSlides/_rels/notesSlide1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4.xml"/></Relationships>
</file>

<file path=ppt/notesSlides/_rels/notesSlide1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5.xml"/></Relationships>
</file>

<file path=ppt/notesSlides/_rels/notesSlide1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0.xml"/></Relationships>
</file>

<file path=ppt/notesSlides/_rels/notesSlide1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1.xml"/></Relationships>
</file>

<file path=ppt/notesSlides/_rels/notesSlide1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2.xml"/></Relationships>
</file>

<file path=ppt/notesSlides/_rels/notesSlide1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3.xml"/></Relationships>
</file>

<file path=ppt/notesSlides/_rels/notesSlide1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4.xml"/></Relationships>
</file>

<file path=ppt/notesSlides/_rels/notesSlide1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5.xml"/></Relationships>
</file>

<file path=ppt/notesSlides/_rels/notesSlide1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6.xml"/></Relationships>
</file>

<file path=ppt/notesSlides/_rels/notesSlide1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1.xml"/></Relationships>
</file>

<file path=ppt/notesSlides/_rels/notesSlide1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2.xml"/></Relationships>
</file>

<file path=ppt/notesSlides/_rels/notesSlide1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3.xml"/></Relationships>
</file>

<file path=ppt/notesSlides/_rels/notesSlide1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4.xml"/></Relationships>
</file>

<file path=ppt/notesSlides/_rels/notesSlide1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5.xml"/></Relationships>
</file>

<file path=ppt/notesSlides/_rels/notesSlide1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6.xml"/></Relationships>
</file>

<file path=ppt/notesSlides/_rels/notesSlide1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7.xml"/></Relationships>
</file>

<file path=ppt/notesSlides/_rels/notesSlide1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8.xml"/></Relationships>
</file>

<file path=ppt/notesSlides/_rels/notesSlide1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9.xml"/></Relationships>
</file>

<file path=ppt/notesSlides/_rels/notesSlide1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3.xml"/></Relationships>
</file>

<file path=ppt/notesSlides/_rels/notesSlide1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4.xml"/></Relationships>
</file>

<file path=ppt/notesSlides/_rels/notesSlide1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5.xml"/></Relationships>
</file>

<file path=ppt/notesSlides/_rels/notesSlide1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6.xml"/></Relationships>
</file>

<file path=ppt/notesSlides/_rels/notesSlide16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7.xml"/></Relationships>
</file>

<file path=ppt/notesSlides/_rels/notesSlide16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8.xml"/></Relationships>
</file>

<file path=ppt/notesSlides/_rels/notesSlide17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9.xml"/></Relationships>
</file>

<file path=ppt/notesSlides/_rels/notesSlide17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0.xml"/></Relationships>
</file>

<file path=ppt/notesSlides/_rels/notesSlide17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1.xml"/></Relationships>
</file>

<file path=ppt/notesSlides/_rels/notesSlide17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2.xml"/></Relationships>
</file>

<file path=ppt/notesSlides/_rels/notesSlide17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3.xml"/></Relationships>
</file>

<file path=ppt/notesSlides/_rels/notesSlide17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7.xml"/></Relationships>
</file>

<file path=ppt/notesSlides/_rels/notesSlide17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8.xml"/></Relationships>
</file>

<file path=ppt/notesSlides/_rels/notesSlide17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9.xml"/></Relationships>
</file>

<file path=ppt/notesSlides/_rels/notesSlide17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0.xml"/></Relationships>
</file>

<file path=ppt/notesSlides/_rels/notesSlide17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1.xml"/></Relationships>
</file>

<file path=ppt/notesSlides/_rels/notesSlide18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2.xml"/></Relationships>
</file>

<file path=ppt/notesSlides/_rels/notesSlide18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3.xml"/></Relationships>
</file>

<file path=ppt/notesSlides/_rels/notesSlide18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7.xml"/></Relationships>
</file>

<file path=ppt/notesSlides/_rels/notesSlide18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8.xml"/></Relationships>
</file>

<file path=ppt/notesSlides/_rels/notesSlide18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9.xml"/></Relationships>
</file>

<file path=ppt/notesSlides/_rels/notesSlide18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0.xml"/></Relationships>
</file>

<file path=ppt/notesSlides/_rels/notesSlide18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1.xml"/></Relationships>
</file>

<file path=ppt/notesSlides/_rels/notesSlide18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7.xml"/></Relationships>
</file>

<file path=ppt/notesSlides/_rels/notesSlide18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8.xml"/></Relationships>
</file>

<file path=ppt/notesSlides/_rels/notesSlide18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9.xml"/></Relationships>
</file>

<file path=ppt/notesSlides/_rels/notesSlide19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0.xml"/></Relationships>
</file>

<file path=ppt/notesSlides/_rels/notesSlide19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1.xml"/></Relationships>
</file>

<file path=ppt/notesSlides/_rels/notesSlide19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2.xml"/></Relationships>
</file>

<file path=ppt/notesSlides/_rels/notesSlide19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3.xml"/></Relationships>
</file>

<file path=ppt/notesSlides/_rels/notesSlide19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4.xml"/></Relationships>
</file>

<file path=ppt/notesSlides/_rels/notesSlide19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5.xml"/></Relationships>
</file>

<file path=ppt/notesSlides/_rels/notesSlide19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6.xml"/></Relationships>
</file>

<file path=ppt/notesSlides/_rels/notesSlide19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7.xml"/></Relationships>
</file>

<file path=ppt/notesSlides/_rels/notesSlide19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8.xml"/></Relationships>
</file>

<file path=ppt/notesSlides/_rels/notesSlide19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9.xml"/></Relationships>
</file>

<file path=ppt/notesSlides/_rels/notesSlide20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0.xml"/></Relationships>
</file>

<file path=ppt/notesSlides/_rels/notesSlide20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1.xml"/></Relationships>
</file>

<file path=ppt/notesSlides/_rels/notesSlide20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5.xml"/></Relationships>
</file>

<file path=ppt/notesSlides/_rels/notesSlide20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6.xml"/></Relationships>
</file>

<file path=ppt/notesSlides/_rels/notesSlide20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7.xml"/></Relationships>
</file>

<file path=ppt/notesSlides/_rels/notesSlide20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8.xml"/></Relationships>
</file>

<file path=ppt/notesSlides/_rels/notesSlide20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9.xml"/></Relationships>
</file>

<file path=ppt/notesSlides/_rels/notesSlide20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3.xml"/></Relationships>
</file>

<file path=ppt/notesSlides/_rels/notesSlide20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4.xml"/></Relationships>
</file>

<file path=ppt/notesSlides/_rels/notesSlide20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5.xml"/></Relationships>
</file>

<file path=ppt/notesSlides/_rels/notesSlide2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6.xml"/></Relationships>
</file>

<file path=ppt/notesSlides/_rels/notesSlide2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7.xml"/></Relationships>
</file>

<file path=ppt/notesSlides/_rels/notesSlide2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1.xml"/></Relationships>
</file>

<file path=ppt/notesSlides/_rels/notesSlide2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2.xml"/></Relationships>
</file>

<file path=ppt/notesSlides/_rels/notesSlide2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3.xml"/></Relationships>
</file>

<file path=ppt/notesSlides/_rels/notesSlide2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7.xml"/></Relationships>
</file>

<file path=ppt/notesSlides/_rels/notesSlide2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8.xml"/></Relationships>
</file>

<file path=ppt/notesSlides/_rels/notesSlide2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9.xml"/></Relationships>
</file>

<file path=ppt/notesSlides/_rels/notesSlide2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3.xml"/></Relationships>
</file>

<file path=ppt/notesSlides/_rels/notesSlide2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4.xml"/></Relationships>
</file>

<file path=ppt/notesSlides/_rels/notesSlide2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5.xml"/></Relationships>
</file>

<file path=ppt/notesSlides/_rels/notesSlide2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6.xml"/></Relationships>
</file>

<file path=ppt/notesSlides/_rels/notesSlide2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7.xml"/></Relationships>
</file>

<file path=ppt/notesSlides/_rels/notesSlide2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8.xml"/></Relationships>
</file>

<file path=ppt/notesSlides/_rels/notesSlide2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9.xml"/></Relationships>
</file>

<file path=ppt/notesSlides/_rels/notesSlide2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0.xml"/></Relationships>
</file>

<file path=ppt/notesSlides/_rels/notesSlide2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1.xml"/></Relationships>
</file>

<file path=ppt/notesSlides/_rels/notesSlide2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2.xml"/></Relationships>
</file>

<file path=ppt/notesSlides/_rels/notesSlide22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3.xml"/></Relationships>
</file>

<file path=ppt/notesSlides/_rels/notesSlide22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7.xml"/></Relationships>
</file>

<file path=ppt/notesSlides/_rels/notesSlide23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8.xml"/></Relationships>
</file>

<file path=ppt/notesSlides/_rels/notesSlide23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9.xml"/></Relationships>
</file>

<file path=ppt/notesSlides/_rels/notesSlide23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0.xml"/></Relationships>
</file>

<file path=ppt/notesSlides/_rels/notesSlide23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4.xml"/></Relationships>
</file>

<file path=ppt/notesSlides/_rels/notesSlide23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5.xml"/></Relationships>
</file>

<file path=ppt/notesSlides/_rels/notesSlide23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6.xml"/></Relationships>
</file>

<file path=ppt/notesSlides/_rels/notesSlide23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7.xml"/></Relationships>
</file>

<file path=ppt/notesSlides/_rels/notesSlide23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8.xml"/></Relationships>
</file>

<file path=ppt/notesSlides/_rels/notesSlide23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89.xml"/></Relationships>
</file>

<file path=ppt/notesSlides/_rels/notesSlide23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0.xml"/></Relationships>
</file>

<file path=ppt/notesSlides/_rels/notesSlide24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1.xml"/></Relationships>
</file>

<file path=ppt/notesSlides/_rels/notesSlide24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2.xml"/></Relationships>
</file>

<file path=ppt/notesSlides/_rels/notesSlide24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6.xml"/></Relationships>
</file>

<file path=ppt/notesSlides/_rels/notesSlide24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97.xml"/></Relationships>
</file>

<file path=ppt/notesSlides/_rels/notesSlide24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1.xml"/></Relationships>
</file>

<file path=ppt/notesSlides/_rels/notesSlide24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2.xml"/></Relationships>
</file>

<file path=ppt/notesSlides/_rels/notesSlide24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3.xml"/></Relationships>
</file>

<file path=ppt/notesSlides/_rels/notesSlide24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7.xml"/></Relationships>
</file>

<file path=ppt/notesSlides/_rels/notesSlide24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8.xml"/></Relationships>
</file>

<file path=ppt/notesSlides/_rels/notesSlide24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09.xml"/></Relationships>
</file>

<file path=ppt/notesSlides/_rels/notesSlide25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0.xml"/></Relationships>
</file>

<file path=ppt/notesSlides/_rels/notesSlide25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4.xml"/></Relationships>
</file>

<file path=ppt/notesSlides/_rels/notesSlide25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5.xml"/></Relationships>
</file>

<file path=ppt/notesSlides/_rels/notesSlide25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6.xml"/></Relationships>
</file>

<file path=ppt/notesSlides/_rels/notesSlide25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7.xml"/></Relationships>
</file>

<file path=ppt/notesSlides/_rels/notesSlide25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8.xml"/></Relationships>
</file>

<file path=ppt/notesSlides/_rels/notesSlide25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9.xml"/></Relationships>
</file>

<file path=ppt/notesSlides/_rels/notesSlide25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3.xml"/></Relationships>
</file>

<file path=ppt/notesSlides/_rels/notesSlide25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4.xml"/></Relationships>
</file>

<file path=ppt/notesSlides/_rels/notesSlide25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5.xml"/></Relationships>
</file>

<file path=ppt/notesSlides/_rels/notesSlide26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9.xml"/></Relationships>
</file>

<file path=ppt/notesSlides/_rels/notesSlide26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0.xml"/></Relationships>
</file>

<file path=ppt/notesSlides/_rels/notesSlide26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1.xml"/></Relationships>
</file>

<file path=ppt/notesSlides/_rels/notesSlide26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3.xml"/></Relationships>
</file>

<file path=ppt/notesSlides/_rels/notesSlide26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6.xml"/></Relationships>
</file>

<file path=ppt/notesSlides/_rels/notesSlide26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8.xml"/></Relationships>
</file>

<file path=ppt/notesSlides/_rels/notesSlide26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0.xml"/></Relationships>
</file>

<file path=ppt/notesSlides/_rels/notesSlide26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File 07 of the BRD-13 Data Migration sign-off set, release set v2.0, for the BDOI UX Design team. The screens are those of the proposed system on SIT with seed data; the names and numbers on them are fictitious.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deck does not replace the FRS: the FRS is signed by the business; the deck is the working material of the UX Design team and follows each issue of the FRS.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Start with the register when a new issue arrives: filter Changed in this issue = 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change never waits for the whole set: the delta issue carries the new images and the register with the changed rows flagged; the unchanged rows keep their UXD status and comments.</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These images carry the Changed badge in this deck and Changed in this issue = Y in the register.</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(BRD-13 approval pages p.15-16 (draft V0.01, not yet signed));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Roles as on the BRD approval sheet (BRD-13 approval pages p.15-16 (draft V0.01, not yet signed)); the names are in the sign-off certificate of the workbook.</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colour tokens of the screens (BDO Style Guide names in the comments). Blue is the dominant colour; yellow is an accent only, never a fill behind text; never pure black.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Nunito everywhere; Arial is the approved fallback. Display sizes (72 to 24) only for dashboards and landing panels.</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8 px baseline grid; desktop web uses a 12-column grid; cards have radius 12 on the Dirty White page.</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BDO outline icon master files replace the equivalents when BDO Marketing Communications supplies them.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stages of the record in their order, with one row of Current Stage, Since, Due and Assigned To and the actions of the stage on the right. Image: components/ux-scr-pm-04-cmp-stepper.png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standard for errors, warnings, information and success messages, and for the toasts. Image: components/ux-scr-ua-07-cmp-notice.png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list of records is a table in a titled card, with the status tabs and the toolbar above it. Image: components/ux-scr-pm-02-cmp-table.png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Hierarchies (regions, branches, teams and their members) in the table style. Image: components/ux-scr-pm-20-cmp-tree.png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actions of a row of a table, never as links inside the row. Image: components/scr-pm-20-02-actions.png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approve, authorise, post, release, cancel, void and deactivate is confirmed in a dialog. Image: components/scr-pm-04-03-return.png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One pill per record status, in its own column. Image: components/scr-ua-06-01-list.png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 period (period of cover, package term, statement period) in a list. Image: components/scr-pm-10-01-list.png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Labels above the fields, the error under each field and the summary at the top of a long form. Image: components/scr-ua-07-03-error.png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Every upload checks all rows before anything is saved. Image: components/scr-ua-09-02-validated.png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icon, label and value grid of the record header and of an outcome card. Image: components/scr-pm-13-06-released.png of the image package.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screen standards appendix of every FRS, in the same words: BDOI agrees the look of the screens once and checks every screenshot against it.</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NAV-DM-01_menu.png.</a:t>
            </a:r>
          </a:p>
        </p:txBody>
      </p:sp>
      <p:sp>
        <p:nvSpPr>
          <p:cNvPr id="4" name="Slide Number Placeholder 3"/>
          <p:cNvSpPr>
            <a:spLocks noGrp="1"/>
          </p:cNvSpPr>
          <p:nvPr>
            <p:ph type="sldNum" idx="5" sz="quarter"/>
          </p:nvPr>
        </p:nvSpPr>
        <p:spPr/>
      </p:sp>
    </p:spTree>
  </p:cSld>
  <p:clrMapOvr>
    <a:masterClrMapping/>
  </p:clrMapOvr>
</p:notes>
</file>

<file path=ppt/notesSlides/notesSlide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NAV-DM-02_menu.png.</a:t>
            </a:r>
          </a:p>
        </p:txBody>
      </p:sp>
      <p:sp>
        <p:nvSpPr>
          <p:cNvPr id="4" name="Slide Number Placeholder 3"/>
          <p:cNvSpPr>
            <a:spLocks noGrp="1"/>
          </p:cNvSpPr>
          <p:nvPr>
            <p:ph type="sldNum" idx="5" sz="quarter"/>
          </p:nvPr>
        </p:nvSpPr>
        <p:spPr/>
      </p:sp>
    </p:spTree>
  </p:cSld>
  <p:clrMapOvr>
    <a:masterClrMapping/>
  </p:clrMapOvr>
</p:notes>
</file>

<file path=ppt/notesSlides/notesSlide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NAV-DM-03_menu.png.</a:t>
            </a:r>
          </a:p>
        </p:txBody>
      </p:sp>
      <p:sp>
        <p:nvSpPr>
          <p:cNvPr id="4" name="Slide Number Placeholder 3"/>
          <p:cNvSpPr>
            <a:spLocks noGrp="1"/>
          </p:cNvSpPr>
          <p:nvPr>
            <p:ph type="sldNum" idx="5" sz="quarter"/>
          </p:nvPr>
        </p:nvSpPr>
        <p:spPr/>
      </p:sp>
    </p:spTree>
  </p:cSld>
  <p:clrMapOvr>
    <a:masterClrMapping/>
  </p:clrMapOvr>
</p:notes>
</file>

<file path=ppt/notesSlides/notesSlide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NAV-DM-04_menu.png.</a:t>
            </a:r>
          </a:p>
        </p:txBody>
      </p:sp>
      <p:sp>
        <p:nvSpPr>
          <p:cNvPr id="4" name="Slide Number Placeholder 3"/>
          <p:cNvSpPr>
            <a:spLocks noGrp="1"/>
          </p:cNvSpPr>
          <p:nvPr>
            <p:ph type="sldNum" idx="5" sz="quarter"/>
          </p:nvPr>
        </p:nvSpPr>
        <p:spPr/>
      </p:sp>
    </p:spTree>
  </p:cSld>
  <p:clrMapOvr>
    <a:masterClrMapping/>
  </p:clrMapOvr>
</p:notes>
</file>

<file path=ppt/notesSlides/notesSlide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16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NAV-DM-05_menu.png.</a:t>
            </a:r>
          </a:p>
        </p:txBody>
      </p:sp>
      <p:sp>
        <p:nvSpPr>
          <p:cNvPr id="4" name="Slide Number Placeholder 3"/>
          <p:cNvSpPr>
            <a:spLocks noGrp="1"/>
          </p:cNvSpPr>
          <p:nvPr>
            <p:ph type="sldNum" idx="5" sz="quarter"/>
          </p:nvPr>
        </p:nvSpPr>
        <p:spPr/>
      </p:sp>
    </p:spTree>
  </p:cSld>
  <p:clrMapOvr>
    <a:masterClrMapping/>
  </p:clrMapOvr>
</p:notes>
</file>

<file path=ppt/notesSlides/notesSlide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NAV-DM-06_landing.png.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NAV-DM-06_menu.png.</a:t>
            </a:r>
          </a:p>
        </p:txBody>
      </p:sp>
      <p:sp>
        <p:nvSpPr>
          <p:cNvPr id="4" name="Slide Number Placeholder 3"/>
          <p:cNvSpPr>
            <a:spLocks noGrp="1"/>
          </p:cNvSpPr>
          <p:nvPr>
            <p:ph type="sldNum" idx="5" sz="quarter"/>
          </p:nvPr>
        </p:nvSpPr>
        <p:spPr/>
      </p:sp>
    </p:spTree>
  </p:cSld>
  <p:clrMapOvr>
    <a:masterClrMapping/>
  </p:clrMapOvr>
</p:notes>
</file>

<file path=ppt/notesSlides/notesSlide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15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NAV-DM-07_landing.png.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NAV-DM-07_menu.png.</a:t>
            </a:r>
          </a:p>
        </p:txBody>
      </p:sp>
      <p:sp>
        <p:nvSpPr>
          <p:cNvPr id="4" name="Slide Number Placeholder 3"/>
          <p:cNvSpPr>
            <a:spLocks noGrp="1"/>
          </p:cNvSpPr>
          <p:nvPr>
            <p:ph type="sldNum" idx="5" sz="quarter"/>
          </p:nvPr>
        </p:nvSpPr>
        <p:spPr/>
      </p:sp>
    </p:spTree>
  </p:cSld>
  <p:clrMapOvr>
    <a:masterClrMapping/>
  </p:clrMapOvr>
</p:notes>
</file>

<file path=ppt/notesSlides/notesSlide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NAV-DM-07_menu.png.</a:t>
            </a:r>
          </a:p>
        </p:txBody>
      </p:sp>
      <p:sp>
        <p:nvSpPr>
          <p:cNvPr id="4" name="Slide Number Placeholder 3"/>
          <p:cNvSpPr>
            <a:spLocks noGrp="1"/>
          </p:cNvSpPr>
          <p:nvPr>
            <p:ph type="sldNum" idx="5" sz="quarter"/>
          </p:nvPr>
        </p:nvSpPr>
        <p:spPr/>
      </p:sp>
    </p:spTree>
  </p:cSld>
  <p:clrMapOvr>
    <a:masterClrMapping/>
  </p:clrMapOvr>
</p:notes>
</file>

<file path=ppt/notesSlides/notesSlide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71 menu entries in all; entries of the other BRDs: BRD-1: 12; BRD-2: 6; BRD-2 / BRD-4: 2; BRD-3: 1; BRD-4: 10; BRD-5: 26;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NAV-DM-08_landing.png.</a:t>
            </a:r>
          </a:p>
        </p:txBody>
      </p:sp>
      <p:sp>
        <p:nvSpPr>
          <p:cNvPr id="4" name="Slide Number Placeholder 3"/>
          <p:cNvSpPr>
            <a:spLocks noGrp="1"/>
          </p:cNvSpPr>
          <p:nvPr>
            <p:ph type="sldNum" idx="5" sz="quarter"/>
          </p:nvPr>
        </p:nvSpPr>
        <p:spPr/>
      </p:sp>
    </p:spTree>
  </p:cSld>
  <p:clrMapOvr>
    <a:masterClrMapping/>
  </p:clrMapOvr>
</p:notes>
</file>

<file path=ppt/notesSlides/notesSlide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NAV-DM-08_menu.png.</a:t>
            </a:r>
          </a:p>
        </p:txBody>
      </p:sp>
      <p:sp>
        <p:nvSpPr>
          <p:cNvPr id="4" name="Slide Number Placeholder 3"/>
          <p:cNvSpPr>
            <a:spLocks noGrp="1"/>
          </p:cNvSpPr>
          <p:nvPr>
            <p:ph type="sldNum" idx="5" sz="quarter"/>
          </p:nvPr>
        </p:nvSpPr>
        <p:spPr/>
      </p:sp>
    </p:spTree>
  </p:cSld>
  <p:clrMapOvr>
    <a:masterClrMapping/>
  </p:clrMapOvr>
</p:notes>
</file>

<file path=ppt/notesSlides/notesSlide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4 menu entries in all; entries of the other BRDs: Platform: 3.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NAV-DM-09_landing.png.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NAV-DM-09_menu.png.</a:t>
            </a:r>
          </a:p>
        </p:txBody>
      </p:sp>
      <p:sp>
        <p:nvSpPr>
          <p:cNvPr id="4" name="Slide Number Placeholder 3"/>
          <p:cNvSpPr>
            <a:spLocks noGrp="1"/>
          </p:cNvSpPr>
          <p:nvPr>
            <p:ph type="sldNum" idx="5" sz="quarter"/>
          </p:nvPr>
        </p:nvSpPr>
        <p:spPr/>
      </p:sp>
    </p:spTree>
  </p:cSld>
  <p:clrMapOvr>
    <a:masterClrMapping/>
  </p:clrMapOvr>
</p:notes>
</file>

<file path=ppt/notesSlides/notesSlide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6 menu entries in all; entries of the other BRDs: BRD-1: 1; Platform: 4. The full menu is in Data Migration Handbook section 17.4.</a:t>
            </a:r>
          </a:p>
        </p:txBody>
      </p:sp>
      <p:sp>
        <p:nvSpPr>
          <p:cNvPr id="4" name="Slide Number Placeholder 3"/>
          <p:cNvSpPr>
            <a:spLocks noGrp="1"/>
          </p:cNvSpPr>
          <p:nvPr>
            <p:ph type="sldNum" idx="5" sz="quarter"/>
          </p:nvPr>
        </p:nvSpPr>
        <p:spPr/>
      </p:sp>
    </p:spTree>
  </p:cSld>
  <p:clrMapOvr>
    <a:masterClrMapping/>
  </p:clrMapOvr>
</p:notes>
</file>

<file path=ppt/notesSlides/notesSlide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NAV-DM-10_landing.png.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NAV-DM-10_menu.png.</a:t>
            </a:r>
          </a:p>
        </p:txBody>
      </p:sp>
      <p:sp>
        <p:nvSpPr>
          <p:cNvPr id="4" name="Slide Number Placeholder 3"/>
          <p:cNvSpPr>
            <a:spLocks noGrp="1"/>
          </p:cNvSpPr>
          <p:nvPr>
            <p:ph type="sldNum" idx="5" sz="quarter"/>
          </p:nvPr>
        </p:nvSpPr>
        <p:spPr/>
      </p:sp>
    </p:spTree>
  </p:cSld>
  <p:clrMapOvr>
    <a:masterClrMapping/>
  </p:clrMapOvr>
</p:notes>
</file>

<file path=ppt/notesSlides/notesSlide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NAV-DM-10_menu.png.</a:t>
            </a:r>
          </a:p>
        </p:txBody>
      </p:sp>
      <p:sp>
        <p:nvSpPr>
          <p:cNvPr id="4" name="Slide Number Placeholder 3"/>
          <p:cNvSpPr>
            <a:spLocks noGrp="1"/>
          </p:cNvSpPr>
          <p:nvPr>
            <p:ph type="sldNum" idx="5" sz="quarter"/>
          </p:nvPr>
        </p:nvSpPr>
        <p:spPr/>
      </p:sp>
    </p:spTree>
  </p:cSld>
  <p:clrMapOvr>
    <a:masterClrMapping/>
  </p:clrMapOvr>
</p:notes>
</file>

<file path=ppt/notesSlides/notesSlide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NAV-DM-11_landing.png.</a:t>
            </a:r>
          </a:p>
        </p:txBody>
      </p:sp>
      <p:sp>
        <p:nvSpPr>
          <p:cNvPr id="4" name="Slide Number Placeholder 3"/>
          <p:cNvSpPr>
            <a:spLocks noGrp="1"/>
          </p:cNvSpPr>
          <p:nvPr>
            <p:ph type="sldNum" idx="5" sz="quarter"/>
          </p:nvPr>
        </p:nvSpPr>
        <p:spPr/>
      </p:sp>
    </p:spTree>
  </p:cSld>
  <p:clrMapOvr>
    <a:masterClrMapping/>
  </p:clrMapOvr>
</p:notes>
</file>

<file path=ppt/notesSlides/notesSlide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NAV-DM-11_menu.png.</a:t>
            </a:r>
          </a:p>
        </p:txBody>
      </p:sp>
      <p:sp>
        <p:nvSpPr>
          <p:cNvPr id="4" name="Slide Number Placeholder 3"/>
          <p:cNvSpPr>
            <a:spLocks noGrp="1"/>
          </p:cNvSpPr>
          <p:nvPr>
            <p:ph type="sldNum" idx="5" sz="quarter"/>
          </p:nvPr>
        </p:nvSpPr>
        <p:spPr/>
      </p:sp>
    </p:spTree>
  </p:cSld>
  <p:clrMapOvr>
    <a:masterClrMapping/>
  </p:clrMapOvr>
</p:notes>
</file>

<file path=ppt/notesSlides/notesSlide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NAV-DM-11_menu.png.</a:t>
            </a:r>
          </a:p>
        </p:txBody>
      </p:sp>
      <p:sp>
        <p:nvSpPr>
          <p:cNvPr id="4" name="Slide Number Placeholder 3"/>
          <p:cNvSpPr>
            <a:spLocks noGrp="1"/>
          </p:cNvSpPr>
          <p:nvPr>
            <p:ph type="sldNum" idx="5" sz="quarter"/>
          </p:nvPr>
        </p:nvSpPr>
        <p:spPr/>
      </p:sp>
    </p:spTree>
  </p:cSld>
  <p:clrMapOvr>
    <a:masterClrMapping/>
  </p:clrMapOvr>
</p:notes>
</file>

<file path=ppt/notesSlides/notesSlide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NAV-DM-12_landing.png.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NAV-DM-12_menu.png.</a:t>
            </a:r>
          </a:p>
        </p:txBody>
      </p:sp>
      <p:sp>
        <p:nvSpPr>
          <p:cNvPr id="4" name="Slide Number Placeholder 3"/>
          <p:cNvSpPr>
            <a:spLocks noGrp="1"/>
          </p:cNvSpPr>
          <p:nvPr>
            <p:ph type="sldNum" idx="5" sz="quarter"/>
          </p:nvPr>
        </p:nvSpPr>
        <p:spPr/>
      </p:sp>
    </p:spTree>
  </p:cSld>
  <p:clrMapOvr>
    <a:masterClrMapping/>
  </p:clrMapOvr>
</p:notes>
</file>

<file path=ppt/notesSlides/notesSlide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NAV-DM-13_landing.png.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NAV-DM-13_menu.png.</a:t>
            </a:r>
          </a:p>
        </p:txBody>
      </p:sp>
      <p:sp>
        <p:nvSpPr>
          <p:cNvPr id="4" name="Slide Number Placeholder 3"/>
          <p:cNvSpPr>
            <a:spLocks noGrp="1"/>
          </p:cNvSpPr>
          <p:nvPr>
            <p:ph type="sldNum" idx="5" sz="quarter"/>
          </p:nvPr>
        </p:nvSpPr>
        <p:spPr/>
      </p:sp>
    </p:spTree>
  </p:cSld>
  <p:clrMapOvr>
    <a:masterClrMapping/>
  </p:clrMapOvr>
</p:notes>
</file>

<file path=ppt/notesSlides/notesSlide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NAV-DM-14_landing.png.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NAV-DM-14_menu.png.</a:t>
            </a:r>
          </a:p>
        </p:txBody>
      </p:sp>
      <p:sp>
        <p:nvSpPr>
          <p:cNvPr id="4" name="Slide Number Placeholder 3"/>
          <p:cNvSpPr>
            <a:spLocks noGrp="1"/>
          </p:cNvSpPr>
          <p:nvPr>
            <p:ph type="sldNum" idx="5" sz="quarter"/>
          </p:nvPr>
        </p:nvSpPr>
        <p:spPr/>
      </p:sp>
    </p:spTree>
  </p:cSld>
  <p:clrMapOvr>
    <a:masterClrMapping/>
  </p:clrMapOvr>
</p:notes>
</file>

<file path=ppt/notesSlides/notesSlide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NAV-DM-14_menu.png.</a:t>
            </a:r>
          </a:p>
        </p:txBody>
      </p:sp>
      <p:sp>
        <p:nvSpPr>
          <p:cNvPr id="4" name="Slide Number Placeholder 3"/>
          <p:cNvSpPr>
            <a:spLocks noGrp="1"/>
          </p:cNvSpPr>
          <p:nvPr>
            <p:ph type="sldNum" idx="5" sz="quarter"/>
          </p:nvPr>
        </p:nvSpPr>
        <p:spPr/>
      </p:sp>
    </p:spTree>
  </p:cSld>
  <p:clrMapOvr>
    <a:masterClrMapping/>
  </p:clrMapOvr>
</p:notes>
</file>

<file path=ppt/notesSlides/notesSlide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NAV-DM-15_landing.png.</a:t>
            </a:r>
          </a:p>
        </p:txBody>
      </p:sp>
      <p:sp>
        <p:nvSpPr>
          <p:cNvPr id="4" name="Slide Number Placeholder 3"/>
          <p:cNvSpPr>
            <a:spLocks noGrp="1"/>
          </p:cNvSpPr>
          <p:nvPr>
            <p:ph type="sldNum" idx="5" sz="quarter"/>
          </p:nvPr>
        </p:nvSpPr>
        <p:spPr/>
      </p:sp>
    </p:spTree>
  </p:cSld>
  <p:clrMapOvr>
    <a:masterClrMapping/>
  </p:clrMapOvr>
</p:notes>
</file>

<file path=ppt/notesSlides/notesSlide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NAV-DM-15_menu.png.</a:t>
            </a:r>
          </a:p>
        </p:txBody>
      </p:sp>
      <p:sp>
        <p:nvSpPr>
          <p:cNvPr id="4" name="Slide Number Placeholder 3"/>
          <p:cNvSpPr>
            <a:spLocks noGrp="1"/>
          </p:cNvSpPr>
          <p:nvPr>
            <p:ph type="sldNum" idx="5" sz="quarter"/>
          </p:nvPr>
        </p:nvSpPr>
        <p:spPr/>
      </p:sp>
    </p:spTree>
  </p:cSld>
  <p:clrMapOvr>
    <a:masterClrMapping/>
  </p:clrMapOvr>
</p:notes>
</file>

<file path=ppt/notesSlides/notesSlide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NAV-DM-15_menu.png.</a:t>
            </a:r>
          </a:p>
        </p:txBody>
      </p:sp>
      <p:sp>
        <p:nvSpPr>
          <p:cNvPr id="4" name="Slide Number Placeholder 3"/>
          <p:cNvSpPr>
            <a:spLocks noGrp="1"/>
          </p:cNvSpPr>
          <p:nvPr>
            <p:ph type="sldNum" idx="5" sz="quarter"/>
          </p:nvPr>
        </p:nvSpPr>
        <p:spPr/>
      </p:sp>
    </p:spTree>
  </p:cSld>
  <p:clrMapOvr>
    <a:masterClrMapping/>
  </p:clrMapOvr>
</p:notes>
</file>

<file path=ppt/notesSlides/notesSlide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Migration Lead. Menu and landing page: NAV-DM-01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Steward. Menu and landing page: NAV-DM-02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Data owner (business owner of an object). Menu and landing page: NAV-DM-03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Migration Operator. Menu and landing page: NAV-DM-04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Reconciliation approver (Head of Comptrollership). Menu and landing page: NAV-DM-05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 / no-go board. Menu and landing page: NAV-DM-06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Comptrollership GL lead. Menu and landing page: NAV-DM-07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Audit / Compliance user. Menu and landing page: NAV-DM-08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Compliance reviewer of the access log. Menu and landing page: NAV-DM-09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Cashiering user. Menu and landing page: NAV-DM-10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Cashiering team lead. Menu and landing page: NAV-DM-11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Top management approver. Menu and landing page: NAV-DM-12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Commission user. Menu and landing page: NAV-DM-13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Commission team lead. Menu and landing page: NAV-DM-14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Marketing Account Officer. Menu and landing page: NAV-DM-15 in the navigation section.</a:t>
            </a:r>
          </a:p>
        </p:txBody>
      </p:sp>
      <p:sp>
        <p:nvSpPr>
          <p:cNvPr id="4" name="Slide Number Placeholder 3"/>
          <p:cNvSpPr>
            <a:spLocks noGrp="1"/>
          </p:cNvSpPr>
          <p:nvPr>
            <p:ph type="sldNum" idx="5" sz="quarter"/>
          </p:nvPr>
        </p:nvSpPr>
        <p:spPr/>
      </p:sp>
    </p:spTree>
  </p:cSld>
  <p:clrMapOvr>
    <a:masterClrMapping/>
  </p:clrMapOvr>
</p:notes>
</file>

<file path=ppt/notesSlides/notesSlide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Migration Lead proposes the class of an object and its business owner decides it; the Data Steward maps the legacy codes and the owner signs the mapping; the operator receives the extract, plans and validates a batch; the steward reviews the doubtful client pairs; the owner waives the rows that may load; the batch is loaded and reconciled, the breaks explained, and the owner and the lead accept the object.</a:t>
            </a:r>
          </a:p>
        </p:txBody>
      </p:sp>
      <p:sp>
        <p:nvSpPr>
          <p:cNvPr id="4" name="Slide Number Placeholder 3"/>
          <p:cNvSpPr>
            <a:spLocks noGrp="1"/>
          </p:cNvSpPr>
          <p:nvPr>
            <p:ph type="sldNum" idx="5" sz="quarter"/>
          </p:nvPr>
        </p:nvSpPr>
        <p:spPr/>
      </p:sp>
    </p:spTree>
  </p:cSld>
  <p:clrMapOvr>
    <a:masterClrMapping/>
  </p:clrMapOvr>
</p:notes>
</file>

<file path=ppt/notesSlides/notesSlide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Data Migration Lead: Opens Data Objects, finds the object and submits the proposed class for decision</a:t>
            </a:r>
          </a:p>
          <a:p>
            <a:r>
              <a:t>2. Data owner (business owner of an object): Opens the object, reads the four criteria and the rationale and clicks Approve</a:t>
            </a:r>
          </a:p>
          <a:p>
            <a:r>
              <a:t>3. Data Steward: Opens the code map, creates a draft version and adds the legacy codes with their BIBS values</a:t>
            </a:r>
          </a:p>
          <a:p>
            <a:r>
              <a:t>4. Data Steward: Opens Unmapped Codes to see the legacy codes of the extracts that have no entry yet</a:t>
            </a:r>
          </a:p>
          <a:p>
            <a:r>
              <a:t>5. Data owner (business owner of an object): Approves the code map version and signs the mapping of the object</a:t>
            </a:r>
          </a:p>
          <a:p>
            <a:r>
              <a:t>6. Migration Operator: Uploads the extract with its control file and clicks Upload and Check</a:t>
            </a:r>
          </a:p>
          <a:p>
            <a:r>
              <a:t>7. Migration Operator: Uploads a file whose control file announces more rows than the file holds</a:t>
            </a:r>
          </a:p>
          <a:p>
            <a:r>
              <a:t>8. Migration Operator: Clicks Plan Batch, chooses the object and the staged extracts</a:t>
            </a:r>
          </a:p>
        </p:txBody>
      </p:sp>
      <p:sp>
        <p:nvSpPr>
          <p:cNvPr id="4" name="Slide Number Placeholder 3"/>
          <p:cNvSpPr>
            <a:spLocks noGrp="1"/>
          </p:cNvSpPr>
          <p:nvPr>
            <p:ph type="sldNum" idx="5" sz="quarter"/>
          </p:nvPr>
        </p:nvSpPr>
        <p:spPr/>
      </p:sp>
    </p:spTree>
  </p:cSld>
  <p:clrMapOvr>
    <a:masterClrMapping/>
  </p:clrMapOvr>
</p:notes>
</file>

<file path=ppt/notesSlides/notesSlide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9. Migration Operator: Clicks Validate on the planned batch</a:t>
            </a:r>
          </a:p>
          <a:p>
            <a:r>
              <a:t>10. Data Steward: Opens the doubtful client pair and merges it or keeps the clients separate</a:t>
            </a:r>
          </a:p>
          <a:p>
            <a:r>
              <a:t>11. Data owner (business owner of an object): Selects failing rows on the Rows tab and clicks Waive Rows with the reason</a:t>
            </a:r>
          </a:p>
          <a:p>
            <a:r>
              <a:t>12. Reconciliation approver (Head of Comptrollership): After the load, opens the reconciliation of the batch by level</a:t>
            </a:r>
          </a:p>
          <a:p>
            <a:r>
              <a:t>13. Data Steward: Explains a break with its reason</a:t>
            </a:r>
          </a:p>
          <a:p>
            <a:r>
              <a:t>14. Data Migration Lead: After the reconciliation is signed, accepts the object as Migration Lead, after the owner</a:t>
            </a:r>
          </a:p>
        </p:txBody>
      </p:sp>
      <p:sp>
        <p:nvSpPr>
          <p:cNvPr id="4" name="Slide Number Placeholder 3"/>
          <p:cNvSpPr>
            <a:spLocks noGrp="1"/>
          </p:cNvSpPr>
          <p:nvPr>
            <p:ph type="sldNum" idx="5" sz="quarter"/>
          </p:nvPr>
        </p:nvSpPr>
        <p:spPr/>
      </p:sp>
    </p:spTree>
  </p:cSld>
  <p:clrMapOvr>
    <a:masterClrMapping/>
  </p:clrMapOvr>
</p:notes>
</file>

<file path=ppt/notesSlides/notesSlide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SCR-DM-02_list.png.</a:t>
            </a:r>
          </a:p>
          <a:p>
            <a:r>
              <a:t>Persona does: Opens Data Objects, finds the object and submits the proposed class for decision</a:t>
            </a:r>
          </a:p>
          <a:p>
            <a:r>
              <a:t>System does: Shows the decision as For decision and notifies the business owner</a:t>
            </a:r>
          </a:p>
          <a:p>
            <a:r>
              <a:t>Shown: The object in the register with its class and status</a:t>
            </a:r>
          </a:p>
        </p:txBody>
      </p:sp>
      <p:sp>
        <p:nvSpPr>
          <p:cNvPr id="4" name="Slide Number Placeholder 3"/>
          <p:cNvSpPr>
            <a:spLocks noGrp="1"/>
          </p:cNvSpPr>
          <p:nvPr>
            <p:ph type="sldNum" idx="5" sz="quarter"/>
          </p:nvPr>
        </p:nvSpPr>
        <p:spPr/>
      </p:sp>
    </p:spTree>
  </p:cSld>
  <p:clrMapOvr>
    <a:masterClrMapping/>
  </p:clrMapOvr>
</p:notes>
</file>

<file path=ppt/notesSlides/notesSlide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a:t>
            </a:r>
          </a:p>
          <a:p>
            <a:r>
              <a:t>Persona does: Opens the object, reads the four criteria and the rationale and clicks Approve</a:t>
            </a:r>
          </a:p>
          <a:p>
            <a:r>
              <a:t>System does: Decides the class (gate G1) and keeps the decision in the history</a:t>
            </a:r>
          </a:p>
          <a:p>
            <a:r>
              <a:t>Shown: Toast: the decision is approved; the history lists the decision with the name of the owner</a:t>
            </a:r>
          </a:p>
        </p:txBody>
      </p:sp>
      <p:sp>
        <p:nvSpPr>
          <p:cNvPr id="4" name="Slide Number Placeholder 3"/>
          <p:cNvSpPr>
            <a:spLocks noGrp="1"/>
          </p:cNvSpPr>
          <p:nvPr>
            <p:ph type="sldNum" idx="5" sz="quarter"/>
          </p:nvPr>
        </p:nvSpPr>
        <p:spPr/>
      </p:sp>
    </p:spTree>
  </p:cSld>
  <p:clrMapOvr>
    <a:masterClrMapping/>
  </p:clrMapOvr>
</p:notes>
</file>

<file path=ppt/notesSlides/notesSlide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a:t>
            </a:r>
          </a:p>
          <a:p>
            <a:r>
              <a:t>Persona does: Opens the object, reads the four criteria and the rationale and clicks Approve</a:t>
            </a:r>
          </a:p>
          <a:p>
            <a:r>
              <a:t>System does: Decides the class (gate G1) and keeps the decision in the history</a:t>
            </a:r>
          </a:p>
          <a:p>
            <a:r>
              <a:t>Shown: Toast: the decision is approved; the history lists the decision with the name of the owner</a:t>
            </a:r>
          </a:p>
        </p:txBody>
      </p:sp>
      <p:sp>
        <p:nvSpPr>
          <p:cNvPr id="4" name="Slide Number Placeholder 3"/>
          <p:cNvSpPr>
            <a:spLocks noGrp="1"/>
          </p:cNvSpPr>
          <p:nvPr>
            <p:ph type="sldNum" idx="5" sz="quarter"/>
          </p:nvPr>
        </p:nvSpPr>
        <p:spPr/>
      </p:sp>
    </p:spTree>
  </p:cSld>
  <p:clrMapOvr>
    <a:masterClrMapping/>
  </p:clrMapOvr>
</p:notes>
</file>

<file path=ppt/notesSlides/notesSlide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a:t>
            </a:r>
          </a:p>
          <a:p>
            <a:r>
              <a:t>Persona does: Opens the object, reads the four criteria and the rationale and clicks Approve</a:t>
            </a:r>
          </a:p>
          <a:p>
            <a:r>
              <a:t>System does: Decides the class (gate G1) and keeps the decision in the history</a:t>
            </a:r>
          </a:p>
          <a:p>
            <a:r>
              <a:t>Shown: Toast: the decision is approved; the history lists the decision with the name of the owner</a:t>
            </a:r>
          </a:p>
        </p:txBody>
      </p:sp>
      <p:sp>
        <p:nvSpPr>
          <p:cNvPr id="4" name="Slide Number Placeholder 3"/>
          <p:cNvSpPr>
            <a:spLocks noGrp="1"/>
          </p:cNvSpPr>
          <p:nvPr>
            <p:ph type="sldNum" idx="5" sz="quarter"/>
          </p:nvPr>
        </p:nvSpPr>
        <p:spPr/>
      </p:sp>
    </p:spTree>
  </p:cSld>
  <p:clrMapOvr>
    <a:masterClrMapping/>
  </p:clrMapOvr>
</p:notes>
</file>

<file path=ppt/notesSlides/notesSlide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SCR-DM-03_entry.png.</a:t>
            </a:r>
          </a:p>
          <a:p>
            <a:r>
              <a:t>Persona does: Opens the code map, creates a draft version and adds the legacy codes with their BIBS values</a:t>
            </a:r>
          </a:p>
          <a:p>
            <a:r>
              <a:t>System does: Keeps the draft; Submit sends it to the owner after a confirmation</a:t>
            </a:r>
          </a:p>
          <a:p>
            <a:r>
              <a:t>Shown: The Add Entry dialog with the legacy code, the action and the BIBS value</a:t>
            </a:r>
          </a:p>
        </p:txBody>
      </p:sp>
      <p:sp>
        <p:nvSpPr>
          <p:cNvPr id="4" name="Slide Number Placeholder 3"/>
          <p:cNvSpPr>
            <a:spLocks noGrp="1"/>
          </p:cNvSpPr>
          <p:nvPr>
            <p:ph type="sldNum" idx="5" sz="quarter"/>
          </p:nvPr>
        </p:nvSpPr>
        <p:spPr/>
      </p:sp>
    </p:spTree>
  </p:cSld>
  <p:clrMapOvr>
    <a:masterClrMapping/>
  </p:clrMapOvr>
</p:notes>
</file>

<file path=ppt/notesSlides/notesSlide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SCR-DM-03_unmapped.png.</a:t>
            </a:r>
          </a:p>
          <a:p>
            <a:r>
              <a:t>Persona does: Opens Unmapped Codes to see the legacy codes of the extracts that have no entry yet</a:t>
            </a:r>
          </a:p>
          <a:p>
            <a:r>
              <a:t>System does: Lists each unmapped code with the extract and the count of rows</a:t>
            </a:r>
          </a:p>
          <a:p>
            <a:r>
              <a:t>Shown: The unmapped codes to add before the validation</a:t>
            </a:r>
          </a:p>
        </p:txBody>
      </p:sp>
      <p:sp>
        <p:nvSpPr>
          <p:cNvPr id="4" name="Slide Number Placeholder 3"/>
          <p:cNvSpPr>
            <a:spLocks noGrp="1"/>
          </p:cNvSpPr>
          <p:nvPr>
            <p:ph type="sldNum" idx="5" sz="quarter"/>
          </p:nvPr>
        </p:nvSpPr>
        <p:spPr/>
      </p:sp>
    </p:spTree>
  </p:cSld>
  <p:clrMapOvr>
    <a:masterClrMapping/>
  </p:clrMapOvr>
</p:notes>
</file>

<file path=ppt/notesSlides/notesSlide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SCR-DM-10_matrix.png.</a:t>
            </a:r>
          </a:p>
          <a:p>
            <a:r>
              <a:t>Persona does: Approves the code map version and signs the mapping of the object</a:t>
            </a:r>
          </a:p>
          <a:p>
            <a:r>
              <a:t>System does: Signs gate G2: the layouts are frozen and every code map is approved</a:t>
            </a:r>
          </a:p>
          <a:p>
            <a:r>
              <a:t>Shown: The gate matrix with the signer and date of G1 and G2</a:t>
            </a:r>
          </a:p>
        </p:txBody>
      </p:sp>
      <p:sp>
        <p:nvSpPr>
          <p:cNvPr id="4" name="Slide Number Placeholder 3"/>
          <p:cNvSpPr>
            <a:spLocks noGrp="1"/>
          </p:cNvSpPr>
          <p:nvPr>
            <p:ph type="sldNum" idx="5" sz="quarter"/>
          </p:nvPr>
        </p:nvSpPr>
        <p:spPr/>
      </p:sp>
    </p:spTree>
  </p:cSld>
  <p:clrMapOvr>
    <a:masterClrMapping/>
  </p:clrMapOvr>
</p:notes>
</file>

<file path=ppt/notesSlides/notesSlide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SCR-DM-05_list.png.</a:t>
            </a:r>
          </a:p>
          <a:p>
            <a:r>
              <a:t>Persona does: Uploads the extract with its control file and clicks Upload and Check</a:t>
            </a:r>
          </a:p>
          <a:p>
            <a:r>
              <a:t>System does: Runs the intake checks (name, checksum, header, row count, totals) and stages the file</a:t>
            </a:r>
          </a:p>
          <a:p>
            <a:r>
              <a:t>Shown: The extract listed as Staged with its rows and the masking applied</a:t>
            </a:r>
          </a:p>
        </p:txBody>
      </p:sp>
      <p:sp>
        <p:nvSpPr>
          <p:cNvPr id="4" name="Slide Number Placeholder 3"/>
          <p:cNvSpPr>
            <a:spLocks noGrp="1"/>
          </p:cNvSpPr>
          <p:nvPr>
            <p:ph type="sldNum" idx="5" sz="quarter"/>
          </p:nvPr>
        </p:nvSpPr>
        <p:spPr/>
      </p:sp>
    </p:spTree>
  </p:cSld>
  <p:clrMapOvr>
    <a:masterClrMapping/>
  </p:clrMapOvr>
</p:notes>
</file>

<file path=ppt/notesSlides/notesSlide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SCR-DM-05_list.png.</a:t>
            </a:r>
          </a:p>
          <a:p>
            <a:r>
              <a:t>Persona does: Uploads the extract with its control file and clicks Upload and Check</a:t>
            </a:r>
          </a:p>
          <a:p>
            <a:r>
              <a:t>System does: Runs the intake checks (name, checksum, header, row count, totals) and stages the file</a:t>
            </a:r>
          </a:p>
          <a:p>
            <a:r>
              <a:t>Shown: The extract listed as Staged with its rows and the masking applied</a:t>
            </a:r>
          </a:p>
        </p:txBody>
      </p:sp>
      <p:sp>
        <p:nvSpPr>
          <p:cNvPr id="4" name="Slide Number Placeholder 3"/>
          <p:cNvSpPr>
            <a:spLocks noGrp="1"/>
          </p:cNvSpPr>
          <p:nvPr>
            <p:ph type="sldNum" idx="5" sz="quarter"/>
          </p:nvPr>
        </p:nvSpPr>
        <p:spPr/>
      </p:sp>
    </p:spTree>
  </p:cSld>
  <p:clrMapOvr>
    <a:masterClrMapping/>
  </p:clrMapOvr>
</p:notes>
</file>

<file path=ppt/notesSlides/notesSlide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a:t>
            </a:r>
          </a:p>
          <a:p>
            <a:r>
              <a:t>Persona does: Uploads a file whose control file announces more rows than the file holds</a:t>
            </a:r>
          </a:p>
          <a:p>
            <a:r>
              <a:t>System does: Rejects the file as a whole with the reason</a:t>
            </a:r>
          </a:p>
          <a:p>
            <a:r>
              <a:t>Shown: The error notice with the reason of the rejection; the extract listed as Rejected</a:t>
            </a:r>
          </a:p>
        </p:txBody>
      </p:sp>
      <p:sp>
        <p:nvSpPr>
          <p:cNvPr id="4" name="Slide Number Placeholder 3"/>
          <p:cNvSpPr>
            <a:spLocks noGrp="1"/>
          </p:cNvSpPr>
          <p:nvPr>
            <p:ph type="sldNum" idx="5" sz="quarter"/>
          </p:nvPr>
        </p:nvSpPr>
        <p:spPr/>
      </p:sp>
    </p:spTree>
  </p:cSld>
  <p:clrMapOvr>
    <a:masterClrMapping/>
  </p:clrMapOvr>
</p:notes>
</file>

<file path=ppt/notesSlides/notesSlide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a:t>
            </a:r>
          </a:p>
          <a:p>
            <a:r>
              <a:t>Persona does: Uploads a file whose control file announces more rows than the file holds</a:t>
            </a:r>
          </a:p>
          <a:p>
            <a:r>
              <a:t>System does: Rejects the file as a whole with the reason</a:t>
            </a:r>
          </a:p>
          <a:p>
            <a:r>
              <a:t>Shown: The error notice with the reason of the rejection; the extract listed as Rejected</a:t>
            </a:r>
          </a:p>
        </p:txBody>
      </p:sp>
      <p:sp>
        <p:nvSpPr>
          <p:cNvPr id="4" name="Slide Number Placeholder 3"/>
          <p:cNvSpPr>
            <a:spLocks noGrp="1"/>
          </p:cNvSpPr>
          <p:nvPr>
            <p:ph type="sldNum" idx="5" sz="quarter"/>
          </p:nvPr>
        </p:nvSpPr>
        <p:spPr/>
      </p:sp>
    </p:spTree>
  </p:cSld>
  <p:clrMapOvr>
    <a:masterClrMapping/>
  </p:clrMapOvr>
</p:notes>
</file>

<file path=ppt/notesSlides/notesSlide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a:t>
            </a:r>
          </a:p>
          <a:p>
            <a:r>
              <a:t>Persona does: Uploads a file whose control file announces more rows than the file holds</a:t>
            </a:r>
          </a:p>
          <a:p>
            <a:r>
              <a:t>System does: Rejects the file as a whole with the reason</a:t>
            </a:r>
          </a:p>
          <a:p>
            <a:r>
              <a:t>Shown: The error notice with the reason of the rejection; the extract listed as Rejected</a:t>
            </a:r>
          </a:p>
        </p:txBody>
      </p:sp>
      <p:sp>
        <p:nvSpPr>
          <p:cNvPr id="4" name="Slide Number Placeholder 3"/>
          <p:cNvSpPr>
            <a:spLocks noGrp="1"/>
          </p:cNvSpPr>
          <p:nvPr>
            <p:ph type="sldNum" idx="5" sz="quarter"/>
          </p:nvPr>
        </p:nvSpPr>
        <p:spPr/>
      </p:sp>
    </p:spTree>
  </p:cSld>
  <p:clrMapOvr>
    <a:masterClrMapping/>
  </p:clrMapOvr>
</p:notes>
</file>

<file path=ppt/notesSlides/notesSlide1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SCR-DM-06_plan.png.</a:t>
            </a:r>
          </a:p>
          <a:p>
            <a:r>
              <a:t>Persona does: Clicks Plan Batch, chooses the object and the staged extracts</a:t>
            </a:r>
          </a:p>
          <a:p>
            <a:r>
              <a:t>System does: Plans the batch and opens it</a:t>
            </a:r>
          </a:p>
          <a:p>
            <a:r>
              <a:t>Shown: The Plan Batch dialog with the staged extracts of the object</a:t>
            </a:r>
          </a:p>
        </p:txBody>
      </p:sp>
      <p:sp>
        <p:nvSpPr>
          <p:cNvPr id="4" name="Slide Number Placeholder 3"/>
          <p:cNvSpPr>
            <a:spLocks noGrp="1"/>
          </p:cNvSpPr>
          <p:nvPr>
            <p:ph type="sldNum" idx="5" sz="quarter"/>
          </p:nvPr>
        </p:nvSpPr>
        <p:spPr/>
      </p:sp>
    </p:spTree>
  </p:cSld>
  <p:clrMapOvr>
    <a:masterClrMapping/>
  </p:clrMapOvr>
</p:notes>
</file>

<file path=ppt/notesSlides/notesSlide1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SCR-DM-07_validated.png.</a:t>
            </a:r>
          </a:p>
          <a:p>
            <a:r>
              <a:t>Persona does: Clicks Validate on the planned batch</a:t>
            </a:r>
          </a:p>
          <a:p>
            <a:r>
              <a:t>System does: Maps the rows with the approved code maps and checks them against the data-quality rules</a:t>
            </a:r>
          </a:p>
          <a:p>
            <a:r>
              <a:t>Shown: The batch Validated with its counts, error rate and the Issues tab</a:t>
            </a:r>
          </a:p>
        </p:txBody>
      </p:sp>
      <p:sp>
        <p:nvSpPr>
          <p:cNvPr id="4" name="Slide Number Placeholder 3"/>
          <p:cNvSpPr>
            <a:spLocks noGrp="1"/>
          </p:cNvSpPr>
          <p:nvPr>
            <p:ph type="sldNum" idx="5" sz="quarter"/>
          </p:nvPr>
        </p:nvSpPr>
        <p:spPr/>
      </p:sp>
    </p:spTree>
  </p:cSld>
  <p:clrMapOvr>
    <a:masterClrMapping/>
  </p:clrMapOvr>
</p:notes>
</file>

<file path=ppt/notesSlides/notesSlide1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SCR-DM-07_validated.png.</a:t>
            </a:r>
          </a:p>
          <a:p>
            <a:r>
              <a:t>Persona does: Clicks Validate on the planned batch</a:t>
            </a:r>
          </a:p>
          <a:p>
            <a:r>
              <a:t>System does: Maps the rows with the approved code maps and checks them against the data-quality rules</a:t>
            </a:r>
          </a:p>
          <a:p>
            <a:r>
              <a:t>Shown: The batch Validated with its counts, error rate and the Issues tab</a:t>
            </a:r>
          </a:p>
        </p:txBody>
      </p:sp>
      <p:sp>
        <p:nvSpPr>
          <p:cNvPr id="4" name="Slide Number Placeholder 3"/>
          <p:cNvSpPr>
            <a:spLocks noGrp="1"/>
          </p:cNvSpPr>
          <p:nvPr>
            <p:ph type="sldNum" idx="5" sz="quarter"/>
          </p:nvPr>
        </p:nvSpPr>
        <p:spPr/>
      </p:sp>
    </p:spTree>
  </p:cSld>
  <p:clrMapOvr>
    <a:masterClrMapping/>
  </p:clrMapOvr>
</p:notes>
</file>

<file path=ppt/notesSlides/notesSlide1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SCR-DM-08_pair.png.</a:t>
            </a:r>
          </a:p>
          <a:p>
            <a:r>
              <a:t>Persona does: Opens the doubtful client pair and merges it or keeps the clients separate</a:t>
            </a:r>
          </a:p>
          <a:p>
            <a:r>
              <a:t>System does: Records the decision; the load waits until the queue is empty</a:t>
            </a:r>
          </a:p>
          <a:p>
            <a:r>
              <a:t>Shown: The two records side by side with the matched keys marked</a:t>
            </a:r>
          </a:p>
        </p:txBody>
      </p:sp>
      <p:sp>
        <p:nvSpPr>
          <p:cNvPr id="4" name="Slide Number Placeholder 3"/>
          <p:cNvSpPr>
            <a:spLocks noGrp="1"/>
          </p:cNvSpPr>
          <p:nvPr>
            <p:ph type="sldNum" idx="5" sz="quarter"/>
          </p:nvPr>
        </p:nvSpPr>
        <p:spPr/>
      </p:sp>
    </p:spTree>
  </p:cSld>
  <p:clrMapOvr>
    <a:masterClrMapping/>
  </p:clrMapOvr>
</p:notes>
</file>

<file path=ppt/notesSlides/notesSlide1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SCR-DM-08_pair.png.</a:t>
            </a:r>
          </a:p>
          <a:p>
            <a:r>
              <a:t>Persona does: Opens the doubtful client pair and merges it or keeps the clients separate</a:t>
            </a:r>
          </a:p>
          <a:p>
            <a:r>
              <a:t>System does: Records the decision; the load waits until the queue is empty</a:t>
            </a:r>
          </a:p>
          <a:p>
            <a:r>
              <a:t>Shown: The two records side by side with the matched keys marked</a:t>
            </a:r>
          </a:p>
        </p:txBody>
      </p:sp>
      <p:sp>
        <p:nvSpPr>
          <p:cNvPr id="4" name="Slide Number Placeholder 3"/>
          <p:cNvSpPr>
            <a:spLocks noGrp="1"/>
          </p:cNvSpPr>
          <p:nvPr>
            <p:ph type="sldNum" idx="5" sz="quarter"/>
          </p:nvPr>
        </p:nvSpPr>
        <p:spPr/>
      </p:sp>
    </p:spTree>
  </p:cSld>
  <p:clrMapOvr>
    <a:masterClrMapping/>
  </p:clrMapOvr>
</p:notes>
</file>

<file path=ppt/notesSlides/notesSlide1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SCR-DM-07_waive.png.</a:t>
            </a:r>
          </a:p>
          <a:p>
            <a:r>
              <a:t>Persona does: Selects failing rows on the Rows tab and clicks Waive Rows with the reason</a:t>
            </a:r>
          </a:p>
          <a:p>
            <a:r>
              <a:t>System does: Loads the rows despite their errors, with the waiver kept on the batch</a:t>
            </a:r>
          </a:p>
          <a:p>
            <a:r>
              <a:t>Shown: The Waive Rows dialog with the count of rows and the mandatory reason</a:t>
            </a:r>
          </a:p>
        </p:txBody>
      </p:sp>
      <p:sp>
        <p:nvSpPr>
          <p:cNvPr id="4" name="Slide Number Placeholder 3"/>
          <p:cNvSpPr>
            <a:spLocks noGrp="1"/>
          </p:cNvSpPr>
          <p:nvPr>
            <p:ph type="sldNum" idx="5" sz="quarter"/>
          </p:nvPr>
        </p:nvSpPr>
        <p:spPr/>
      </p:sp>
    </p:spTree>
  </p:cSld>
  <p:clrMapOvr>
    <a:masterClrMapping/>
  </p:clrMapOvr>
</p:notes>
</file>

<file path=ppt/notesSlides/notesSlide1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a:t>
            </a:r>
          </a:p>
          <a:p>
            <a:r>
              <a:t>Persona does: After the load, opens the reconciliation of the batch by level</a:t>
            </a:r>
          </a:p>
          <a:p>
            <a:r>
              <a:t>System does: Compares counts, amounts, hash totals, fields and the general ledger between the source and BIBS</a:t>
            </a:r>
          </a:p>
          <a:p>
            <a:r>
              <a:t>Shown: The lines by level with the breaks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a:t>
            </a:r>
          </a:p>
          <a:p>
            <a:r>
              <a:t>Persona does: After the load, opens the reconciliation of the batch by level</a:t>
            </a:r>
          </a:p>
          <a:p>
            <a:r>
              <a:t>System does: Compares counts, amounts, hash totals, fields and the general ledger between the source and BIBS</a:t>
            </a:r>
          </a:p>
          <a:p>
            <a:r>
              <a:t>Shown: The lines by level with the breaks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a:t>
            </a:r>
          </a:p>
          <a:p>
            <a:r>
              <a:t>Persona does: After the load, opens the reconciliation of the batch by level</a:t>
            </a:r>
          </a:p>
          <a:p>
            <a:r>
              <a:t>System does: Compares counts, amounts, hash totals, fields and the general ledger between the source and BIBS</a:t>
            </a:r>
          </a:p>
          <a:p>
            <a:r>
              <a:t>Shown: The lines by level with the breaks to explain</a:t>
            </a:r>
          </a:p>
        </p:txBody>
      </p:sp>
      <p:sp>
        <p:nvSpPr>
          <p:cNvPr id="4" name="Slide Number Placeholder 3"/>
          <p:cNvSpPr>
            <a:spLocks noGrp="1"/>
          </p:cNvSpPr>
          <p:nvPr>
            <p:ph type="sldNum" idx="5" sz="quarter"/>
          </p:nvPr>
        </p:nvSpPr>
        <p:spPr/>
      </p:sp>
    </p:spTree>
  </p:cSld>
  <p:clrMapOvr>
    <a:masterClrMapping/>
  </p:clrMapOvr>
</p:notes>
</file>

<file path=ppt/notesSlides/notesSlide1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SCR-DM-09_explain.png.</a:t>
            </a:r>
          </a:p>
          <a:p>
            <a:r>
              <a:t>Persona does: Explains a break with its reason</a:t>
            </a:r>
          </a:p>
          <a:p>
            <a:r>
              <a:t>System does: Marks the line Explained for the approver</a:t>
            </a:r>
          </a:p>
          <a:p>
            <a:r>
              <a:t>Shown: The Explain Break dialog with the reason and the explanation</a:t>
            </a:r>
          </a:p>
        </p:txBody>
      </p:sp>
      <p:sp>
        <p:nvSpPr>
          <p:cNvPr id="4" name="Slide Number Placeholder 3"/>
          <p:cNvSpPr>
            <a:spLocks noGrp="1"/>
          </p:cNvSpPr>
          <p:nvPr>
            <p:ph type="sldNum" idx="5" sz="quarter"/>
          </p:nvPr>
        </p:nvSpPr>
        <p:spPr/>
      </p:sp>
    </p:spTree>
  </p:cSld>
  <p:clrMapOvr>
    <a:masterClrMapping/>
  </p:clrMapOvr>
</p:notes>
</file>

<file path=ppt/notesSlides/notesSlide1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SCR-DM-07_signoffs.png.</a:t>
            </a:r>
          </a:p>
          <a:p>
            <a:r>
              <a:t>Persona does: After the reconciliation is signed, accepts the object as Migration Lead, after the owner</a:t>
            </a:r>
          </a:p>
          <a:p>
            <a:r>
              <a:t>System does: Signs gate G6; with both acceptances the object is accepted</a:t>
            </a:r>
          </a:p>
          <a:p>
            <a:r>
              <a:t>Shown: The Sign-offs tab with every gate, its signer and date</a:t>
            </a:r>
          </a:p>
        </p:txBody>
      </p:sp>
      <p:sp>
        <p:nvSpPr>
          <p:cNvPr id="4" name="Slide Number Placeholder 3"/>
          <p:cNvSpPr>
            <a:spLocks noGrp="1"/>
          </p:cNvSpPr>
          <p:nvPr>
            <p:ph type="sldNum" idx="5" sz="quarter"/>
          </p:nvPr>
        </p:nvSpPr>
        <p:spPr/>
      </p:sp>
    </p:spTree>
  </p:cSld>
  <p:clrMapOvr>
    <a:masterClrMapping/>
  </p:clrMapOvr>
</p:notes>
</file>

<file path=ppt/notesSlides/notesSlide1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SCR-DM-07_signoffs.png.</a:t>
            </a:r>
          </a:p>
          <a:p>
            <a:r>
              <a:t>Persona does: After the reconciliation is signed, accepts the object as Migration Lead, after the owner</a:t>
            </a:r>
          </a:p>
          <a:p>
            <a:r>
              <a:t>System does: Signs gate G6; with both acceptances the object is accepted</a:t>
            </a:r>
          </a:p>
          <a:p>
            <a:r>
              <a:t>Shown: The Sign-offs tab with every gate, its signer and date</a:t>
            </a:r>
          </a:p>
        </p:txBody>
      </p:sp>
      <p:sp>
        <p:nvSpPr>
          <p:cNvPr id="4" name="Slide Number Placeholder 3"/>
          <p:cNvSpPr>
            <a:spLocks noGrp="1"/>
          </p:cNvSpPr>
          <p:nvPr>
            <p:ph type="sldNum" idx="5" sz="quarter"/>
          </p:nvPr>
        </p:nvSpPr>
        <p:spPr/>
      </p:sp>
    </p:spTree>
  </p:cSld>
  <p:clrMapOvr>
    <a:masterClrMapping/>
  </p:clrMapOvr>
</p:notes>
</file>

<file path=ppt/notesSlides/notesSlide1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Data Migration Lead plans a mock run from the go-live date and follows its runbook; the go / no-go board measures the criteria and decides; after go-live Comptrollership brings the FY2027 closing adjustments as opening-balance adjustments, and the lead follows the run-off of the legacy policies and the decommissioning checklists.</a:t>
            </a:r>
          </a:p>
        </p:txBody>
      </p:sp>
      <p:sp>
        <p:nvSpPr>
          <p:cNvPr id="4" name="Slide Number Placeholder 3"/>
          <p:cNvSpPr>
            <a:spLocks noGrp="1"/>
          </p:cNvSpPr>
          <p:nvPr>
            <p:ph type="sldNum" idx="5" sz="quarter"/>
          </p:nvPr>
        </p:nvSpPr>
        <p:spPr/>
      </p:sp>
    </p:spTree>
  </p:cSld>
  <p:clrMapOvr>
    <a:masterClrMapping/>
  </p:clrMapOvr>
</p:notes>
</file>

<file path=ppt/notesSlides/notesSlide1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Data Migration Lead: Clicks New Plan, chooses the kind of run and the go-live date</a:t>
            </a:r>
          </a:p>
          <a:p>
            <a:r>
              <a:t>2. Data Migration Lead: Records the start and end of each runbook task, or blocks a task with its reason</a:t>
            </a:r>
          </a:p>
          <a:p>
            <a:r>
              <a:t>3. Go / no-go board: Clicks Measure Criteria, reads the criteria and records GO or NO-GO</a:t>
            </a:r>
          </a:p>
          <a:p>
            <a:r>
              <a:t>4. Comptrollership GL lead: After go-live, prepares an opening-balance adjustment on the validated adjustment batch</a:t>
            </a:r>
          </a:p>
          <a:p>
            <a:r>
              <a:t>5. Reconciliation approver (Head of Comptrollership): Approves the adjustment prepared by the GL lead, then signs it once reconciled</a:t>
            </a:r>
          </a:p>
          <a:p>
            <a:r>
              <a:t>6. Data Migration Lead: Opens Run-off and Decommissioning each month and records the checklist of a legacy system</a:t>
            </a:r>
          </a:p>
        </p:txBody>
      </p:sp>
      <p:sp>
        <p:nvSpPr>
          <p:cNvPr id="4" name="Slide Number Placeholder 3"/>
          <p:cNvSpPr>
            <a:spLocks noGrp="1"/>
          </p:cNvSpPr>
          <p:nvPr>
            <p:ph type="sldNum" idx="5" sz="quarter"/>
          </p:nvPr>
        </p:nvSpPr>
        <p:spPr/>
      </p:sp>
    </p:spTree>
  </p:cSld>
  <p:clrMapOvr>
    <a:masterClrMapping/>
  </p:clrMapOvr>
</p:notes>
</file>

<file path=ppt/notesSlides/notesSlide1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SCR-DM-12_new.png.</a:t>
            </a:r>
          </a:p>
          <a:p>
            <a:r>
              <a:t>Persona does: Clicks New Plan, chooses the kind of run and the go-live date</a:t>
            </a:r>
          </a:p>
          <a:p>
            <a:r>
              <a:t>System does: Creates the plan with its runbook tasks and the twelve criteria planned from the go-live date</a:t>
            </a:r>
          </a:p>
          <a:p>
            <a:r>
              <a:t>Shown: The New Cutover Plan dialog</a:t>
            </a:r>
          </a:p>
        </p:txBody>
      </p:sp>
      <p:sp>
        <p:nvSpPr>
          <p:cNvPr id="4" name="Slide Number Placeholder 3"/>
          <p:cNvSpPr>
            <a:spLocks noGrp="1"/>
          </p:cNvSpPr>
          <p:nvPr>
            <p:ph type="sldNum" idx="5" sz="quarter"/>
          </p:nvPr>
        </p:nvSpPr>
        <p:spPr/>
      </p:sp>
    </p:spTree>
  </p:cSld>
  <p:clrMapOvr>
    <a:masterClrMapping/>
  </p:clrMapOvr>
</p:notes>
</file>

<file path=ppt/notesSlides/notesSlide1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a:t>
            </a:r>
          </a:p>
          <a:p>
            <a:r>
              <a:t>Persona does: Records the start and end of each runbook task, or blocks a task with its reason</a:t>
            </a:r>
          </a:p>
          <a:p>
            <a:r>
              <a:t>System does: Keeps the actual times and the owner of each task</a:t>
            </a:r>
          </a:p>
          <a:p>
            <a:r>
              <a:t>Shown: The plans and the runbook of the mock run</a:t>
            </a:r>
          </a:p>
        </p:txBody>
      </p:sp>
      <p:sp>
        <p:nvSpPr>
          <p:cNvPr id="4" name="Slide Number Placeholder 3"/>
          <p:cNvSpPr>
            <a:spLocks noGrp="1"/>
          </p:cNvSpPr>
          <p:nvPr>
            <p:ph type="sldNum" idx="5" sz="quarter"/>
          </p:nvPr>
        </p:nvSpPr>
        <p:spPr/>
      </p:sp>
    </p:spTree>
  </p:cSld>
  <p:clrMapOvr>
    <a:masterClrMapping/>
  </p:clrMapOvr>
</p:notes>
</file>

<file path=ppt/notesSlides/notesSlide1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a:t>
            </a:r>
          </a:p>
          <a:p>
            <a:r>
              <a:t>Persona does: Records the start and end of each runbook task, or blocks a task with its reason</a:t>
            </a:r>
          </a:p>
          <a:p>
            <a:r>
              <a:t>System does: Keeps the actual times and the owner of each task</a:t>
            </a:r>
          </a:p>
          <a:p>
            <a:r>
              <a:t>Shown: The plans and the runbook of the mock run</a:t>
            </a:r>
          </a:p>
        </p:txBody>
      </p:sp>
      <p:sp>
        <p:nvSpPr>
          <p:cNvPr id="4" name="Slide Number Placeholder 3"/>
          <p:cNvSpPr>
            <a:spLocks noGrp="1"/>
          </p:cNvSpPr>
          <p:nvPr>
            <p:ph type="sldNum" idx="5" sz="quarter"/>
          </p:nvPr>
        </p:nvSpPr>
        <p:spPr/>
      </p:sp>
    </p:spTree>
  </p:cSld>
  <p:clrMapOvr>
    <a:masterClrMapping/>
  </p:clrMapOvr>
</p:notes>
</file>

<file path=ppt/notesSlides/notesSlide1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a:t>
            </a:r>
          </a:p>
          <a:p>
            <a:r>
              <a:t>Persona does: Records the start and end of each runbook task, or blocks a task with its reason</a:t>
            </a:r>
          </a:p>
          <a:p>
            <a:r>
              <a:t>System does: Keeps the actual times and the owner of each task</a:t>
            </a:r>
          </a:p>
          <a:p>
            <a:r>
              <a:t>Shown: The plans and the runbook of the mock run</a:t>
            </a:r>
          </a:p>
        </p:txBody>
      </p:sp>
      <p:sp>
        <p:nvSpPr>
          <p:cNvPr id="4" name="Slide Number Placeholder 3"/>
          <p:cNvSpPr>
            <a:spLocks noGrp="1"/>
          </p:cNvSpPr>
          <p:nvPr>
            <p:ph type="sldNum" idx="5" sz="quarter"/>
          </p:nvPr>
        </p:nvSpPr>
        <p:spPr/>
      </p:sp>
    </p:spTree>
  </p:cSld>
  <p:clrMapOvr>
    <a:masterClrMapping/>
  </p:clrMapOvr>
</p:notes>
</file>

<file path=ppt/notesSlides/notesSlide1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a:t>
            </a:r>
          </a:p>
          <a:p>
            <a:r>
              <a:t>Persona does: Clicks Measure Criteria, reads the criteria and records GO or NO-GO</a:t>
            </a:r>
          </a:p>
          <a:p>
            <a:r>
              <a:t>System does: Measures the criteria that BIBS measures; a GO with a criterion not met needs its justification</a:t>
            </a:r>
          </a:p>
          <a:p>
            <a:r>
              <a:t>Shown: The Go / No-Go Criteria and the Decisions of the plan</a:t>
            </a:r>
          </a:p>
        </p:txBody>
      </p:sp>
      <p:sp>
        <p:nvSpPr>
          <p:cNvPr id="4" name="Slide Number Placeholder 3"/>
          <p:cNvSpPr>
            <a:spLocks noGrp="1"/>
          </p:cNvSpPr>
          <p:nvPr>
            <p:ph type="sldNum" idx="5" sz="quarter"/>
          </p:nvPr>
        </p:nvSpPr>
        <p:spPr/>
      </p:sp>
    </p:spTree>
  </p:cSld>
  <p:clrMapOvr>
    <a:masterClrMapping/>
  </p:clrMapOvr>
</p:notes>
</file>

<file path=ppt/notesSlides/notesSlide1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a:t>
            </a:r>
          </a:p>
          <a:p>
            <a:r>
              <a:t>Persona does: Clicks Measure Criteria, reads the criteria and records GO or NO-GO</a:t>
            </a:r>
          </a:p>
          <a:p>
            <a:r>
              <a:t>System does: Measures the criteria that BIBS measures; a GO with a criterion not met needs its justification</a:t>
            </a:r>
          </a:p>
          <a:p>
            <a:r>
              <a:t>Shown: The Go / No-Go Criteria and the Decisions of the plan</a:t>
            </a:r>
          </a:p>
        </p:txBody>
      </p:sp>
      <p:sp>
        <p:nvSpPr>
          <p:cNvPr id="4" name="Slide Number Placeholder 3"/>
          <p:cNvSpPr>
            <a:spLocks noGrp="1"/>
          </p:cNvSpPr>
          <p:nvPr>
            <p:ph type="sldNum" idx="5" sz="quarter"/>
          </p:nvPr>
        </p:nvSpPr>
        <p:spPr/>
      </p:sp>
    </p:spTree>
  </p:cSld>
  <p:clrMapOvr>
    <a:masterClrMapping/>
  </p:clrMapOvr>
</p:notes>
</file>

<file path=ppt/notesSlides/notesSlide1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SCR-DM-11_prepare.png.</a:t>
            </a:r>
          </a:p>
          <a:p>
            <a:r>
              <a:t>Persona does: After go-live, prepares an opening-balance adjustment on the validated adjustment batch</a:t>
            </a:r>
          </a:p>
          <a:p>
            <a:r>
              <a:t>System does: Prepares the adjustment and sends it to the Head of Comptrollership on Submit</a:t>
            </a:r>
          </a:p>
          <a:p>
            <a:r>
              <a:t>Shown: The Prepare Adjustment dialog with the batches of the same version</a:t>
            </a:r>
          </a:p>
        </p:txBody>
      </p:sp>
      <p:sp>
        <p:nvSpPr>
          <p:cNvPr id="4" name="Slide Number Placeholder 3"/>
          <p:cNvSpPr>
            <a:spLocks noGrp="1"/>
          </p:cNvSpPr>
          <p:nvPr>
            <p:ph type="sldNum" idx="5" sz="quarter"/>
          </p:nvPr>
        </p:nvSpPr>
        <p:spPr/>
      </p:sp>
    </p:spTree>
  </p:cSld>
  <p:clrMapOvr>
    <a:masterClrMapping/>
  </p:clrMapOvr>
</p:notes>
</file>

<file path=ppt/notesSlides/notesSlide1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SCR-DM-11_list.png.</a:t>
            </a:r>
          </a:p>
          <a:p>
            <a:r>
              <a:t>Persona does: Approves the adjustment prepared by the GL lead, then signs it once reconciled</a:t>
            </a:r>
          </a:p>
          <a:p>
            <a:r>
              <a:t>System does: Allows the load of the adjustment journals into the opening balances</a:t>
            </a:r>
          </a:p>
          <a:p>
            <a:r>
              <a:t>Shown: The adjustments with their batches and status</a:t>
            </a:r>
          </a:p>
        </p:txBody>
      </p:sp>
      <p:sp>
        <p:nvSpPr>
          <p:cNvPr id="4" name="Slide Number Placeholder 3"/>
          <p:cNvSpPr>
            <a:spLocks noGrp="1"/>
          </p:cNvSpPr>
          <p:nvPr>
            <p:ph type="sldNum" idx="5" sz="quarter"/>
          </p:nvPr>
        </p:nvSpPr>
        <p:spPr/>
      </p:sp>
    </p:spTree>
  </p:cSld>
  <p:clrMapOvr>
    <a:masterClrMapping/>
  </p:clrMapOvr>
</p:notes>
</file>

<file path=ppt/notesSlides/notesSlide1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a:t>
            </a:r>
          </a:p>
          <a:p>
            <a:r>
              <a:t>Persona does: Opens Run-off and Decommissioning each month and records the checklist of a legacy system</a:t>
            </a:r>
          </a:p>
          <a:p>
            <a:r>
              <a:t>System does: Shows the run-off by expiry month and source system and keeps the signed criteria</a:t>
            </a:r>
          </a:p>
          <a:p>
            <a:r>
              <a:t>Shown: The run-off and the decommissioning checklists</a:t>
            </a:r>
          </a:p>
        </p:txBody>
      </p:sp>
      <p:sp>
        <p:nvSpPr>
          <p:cNvPr id="4" name="Slide Number Placeholder 3"/>
          <p:cNvSpPr>
            <a:spLocks noGrp="1"/>
          </p:cNvSpPr>
          <p:nvPr>
            <p:ph type="sldNum" idx="5" sz="quarter"/>
          </p:nvPr>
        </p:nvSpPr>
        <p:spPr/>
      </p:sp>
    </p:spTree>
  </p:cSld>
  <p:clrMapOvr>
    <a:masterClrMapping/>
  </p:clrMapOvr>
</p:notes>
</file>

<file path=ppt/notesSlides/notesSlide1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a:t>
            </a:r>
          </a:p>
          <a:p>
            <a:r>
              <a:t>Persona does: Opens Run-off and Decommissioning each month and records the checklist of a legacy system</a:t>
            </a:r>
          </a:p>
          <a:p>
            <a:r>
              <a:t>System does: Shows the run-off by expiry month and source system and keeps the signed criteria</a:t>
            </a:r>
          </a:p>
          <a:p>
            <a:r>
              <a:t>Shown: The run-off and the decommissioning checklists</a:t>
            </a:r>
          </a:p>
        </p:txBody>
      </p:sp>
      <p:sp>
        <p:nvSpPr>
          <p:cNvPr id="4" name="Slide Number Placeholder 3"/>
          <p:cNvSpPr>
            <a:spLocks noGrp="1"/>
          </p:cNvSpPr>
          <p:nvPr>
            <p:ph type="sldNum" idx="5" sz="quarter"/>
          </p:nvPr>
        </p:nvSpPr>
        <p:spPr/>
      </p:sp>
    </p:spTree>
  </p:cSld>
  <p:clrMapOvr>
    <a:masterClrMapping/>
  </p:clrMapOvr>
</p:notes>
</file>

<file path=ppt/notesSlides/notesSlide1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business users find the migrated records on their usual screens, marked LEGACY; Cashiering and Commission settle the legacy items through their batches, each approved by a second user.</a:t>
            </a:r>
          </a:p>
        </p:txBody>
      </p:sp>
      <p:sp>
        <p:nvSpPr>
          <p:cNvPr id="4" name="Slide Number Placeholder 3"/>
          <p:cNvSpPr>
            <a:spLocks noGrp="1"/>
          </p:cNvSpPr>
          <p:nvPr>
            <p:ph type="sldNum" idx="5" sz="quarter"/>
          </p:nvPr>
        </p:nvSpPr>
        <p:spPr/>
      </p:sp>
    </p:spTree>
  </p:cSld>
  <p:clrMapOvr>
    <a:masterClrMapping/>
  </p:clrMapOvr>
</p:notes>
</file>

<file path=ppt/notesSlides/notesSlide1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Marketing Account Officer: Searches the clients list for a migrated client</a:t>
            </a:r>
          </a:p>
          <a:p>
            <a:r>
              <a:t>2. Cashiering user: Sets the Origin filter of Unapplied Payments to Migrated</a:t>
            </a:r>
          </a:p>
          <a:p>
            <a:r>
              <a:t>3. Cashiering user: Opens a legacy invoice from Invoice Search</a:t>
            </a:r>
          </a:p>
          <a:p>
            <a:r>
              <a:t>4. Cashiering user: Opens a draft Unapplied to Income batch, adds old unapplied payments and clicks Submit</a:t>
            </a:r>
          </a:p>
          <a:p>
            <a:r>
              <a:t>5. Top management approver: After the team lead, approves the batch</a:t>
            </a:r>
          </a:p>
          <a:p>
            <a:r>
              <a:t>6. Cashiering user: Adds a legacy invoice with the PR 2307 amount to reverse and submits the batch</a:t>
            </a:r>
          </a:p>
          <a:p>
            <a:r>
              <a:t>7. Commission user: Adds the legacy invoices tagged DP PR for reversal and submits the batch</a:t>
            </a:r>
          </a:p>
        </p:txBody>
      </p:sp>
      <p:sp>
        <p:nvSpPr>
          <p:cNvPr id="4" name="Slide Number Placeholder 3"/>
          <p:cNvSpPr>
            <a:spLocks noGrp="1"/>
          </p:cNvSpPr>
          <p:nvPr>
            <p:ph type="sldNum" idx="5" sz="quarter"/>
          </p:nvPr>
        </p:nvSpPr>
        <p:spPr/>
      </p:sp>
    </p:spTree>
  </p:cSld>
  <p:clrMapOvr>
    <a:masterClrMapping/>
  </p:clrMapOvr>
</p:notes>
</file>

<file path=ppt/notesSlides/notesSlide1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SCR-DM-16_clients.png.</a:t>
            </a:r>
          </a:p>
          <a:p>
            <a:r>
              <a:t>Persona does: Searches the clients list for a migrated client</a:t>
            </a:r>
          </a:p>
          <a:p>
            <a:r>
              <a:t>System does: Lists the client with the LEGACY badge and the legacy reference in its tooltip</a:t>
            </a:r>
          </a:p>
          <a:p>
            <a:r>
              <a:t>Shown: The Clients list with the LEGACY badge</a:t>
            </a:r>
          </a:p>
        </p:txBody>
      </p:sp>
      <p:sp>
        <p:nvSpPr>
          <p:cNvPr id="4" name="Slide Number Placeholder 3"/>
          <p:cNvSpPr>
            <a:spLocks noGrp="1"/>
          </p:cNvSpPr>
          <p:nvPr>
            <p:ph type="sldNum" idx="5" sz="quarter"/>
          </p:nvPr>
        </p:nvSpPr>
        <p:spPr/>
      </p:sp>
    </p:spTree>
  </p:cSld>
  <p:clrMapOvr>
    <a:masterClrMapping/>
  </p:clrMapOvr>
</p:notes>
</file>

<file path=ppt/notesSlides/notesSlide1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SCR-DM-16_unapplied.png.</a:t>
            </a:r>
          </a:p>
          <a:p>
            <a:r>
              <a:t>Persona does: Sets the Origin filter of Unapplied Payments to Migrated</a:t>
            </a:r>
          </a:p>
          <a:p>
            <a:r>
              <a:t>System does: Lists only the migrated unapplied payments</a:t>
            </a:r>
          </a:p>
          <a:p>
            <a:r>
              <a:t>Shown: The Origin filter set to Migrated</a:t>
            </a:r>
          </a:p>
        </p:txBody>
      </p:sp>
      <p:sp>
        <p:nvSpPr>
          <p:cNvPr id="4" name="Slide Number Placeholder 3"/>
          <p:cNvSpPr>
            <a:spLocks noGrp="1"/>
          </p:cNvSpPr>
          <p:nvPr>
            <p:ph type="sldNum" idx="5" sz="quarter"/>
          </p:nvPr>
        </p:nvSpPr>
        <p:spPr/>
      </p:sp>
    </p:spTree>
  </p:cSld>
  <p:clrMapOvr>
    <a:masterClrMapping/>
  </p:clrMapOvr>
</p:notes>
</file>

<file path=ppt/notesSlides/notesSlide1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SCR-DM-17_legacy.png.</a:t>
            </a:r>
          </a:p>
          <a:p>
            <a:r>
              <a:t>Persona does: Opens a legacy invoice from Invoice Search</a:t>
            </a:r>
          </a:p>
          <a:p>
            <a:r>
              <a:t>System does: Shows Invoice 360 with the LEGACY badge and the Legacy Invoice card with the values at cut-over</a:t>
            </a:r>
          </a:p>
          <a:p>
            <a:r>
              <a:t>Shown: The Legacy Invoice card</a:t>
            </a:r>
          </a:p>
        </p:txBody>
      </p:sp>
      <p:sp>
        <p:nvSpPr>
          <p:cNvPr id="4" name="Slide Number Placeholder 3"/>
          <p:cNvSpPr>
            <a:spLocks noGrp="1"/>
          </p:cNvSpPr>
          <p:nvPr>
            <p:ph type="sldNum" idx="5" sz="quarter"/>
          </p:nvPr>
        </p:nvSpPr>
        <p:spPr/>
      </p:sp>
    </p:spTree>
  </p:cSld>
  <p:clrMapOvr>
    <a:masterClrMapping/>
  </p:clrMapOvr>
</p:notes>
</file>

<file path=ppt/notesSlides/notesSlide1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SCR-DM-17_legacy.png.</a:t>
            </a:r>
          </a:p>
          <a:p>
            <a:r>
              <a:t>Persona does: Opens a legacy invoice from Invoice Search</a:t>
            </a:r>
          </a:p>
          <a:p>
            <a:r>
              <a:t>System does: Shows Invoice 360 with the LEGACY badge and the Legacy Invoice card with the values at cut-over</a:t>
            </a:r>
          </a:p>
          <a:p>
            <a:r>
              <a:t>Shown: The Legacy Invoice card</a:t>
            </a:r>
          </a:p>
        </p:txBody>
      </p:sp>
      <p:sp>
        <p:nvSpPr>
          <p:cNvPr id="4" name="Slide Number Placeholder 3"/>
          <p:cNvSpPr>
            <a:spLocks noGrp="1"/>
          </p:cNvSpPr>
          <p:nvPr>
            <p:ph type="sldNum" idx="5" sz="quarter"/>
          </p:nvPr>
        </p:nvSpPr>
        <p:spPr/>
      </p:sp>
    </p:spTree>
  </p:cSld>
  <p:clrMapOvr>
    <a:masterClrMapping/>
  </p:clrMapOvr>
</p:notes>
</file>

<file path=ppt/notesSlides/notesSlide1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SCR-DM-18_draft.png.</a:t>
            </a:r>
          </a:p>
          <a:p>
            <a:r>
              <a:t>Persona does: Opens a draft Unapplied to Income batch, adds old unapplied payments and clicks Submit</a:t>
            </a:r>
          </a:p>
          <a:p>
            <a:r>
              <a:t>System does: Sends the batch to the Cashiering team lead</a:t>
            </a:r>
          </a:p>
          <a:p>
            <a:r>
              <a:t>Shown: The draft batch with its lines and the payments that may be added</a:t>
            </a:r>
          </a:p>
        </p:txBody>
      </p:sp>
      <p:sp>
        <p:nvSpPr>
          <p:cNvPr id="4" name="Slide Number Placeholder 3"/>
          <p:cNvSpPr>
            <a:spLocks noGrp="1"/>
          </p:cNvSpPr>
          <p:nvPr>
            <p:ph type="sldNum" idx="5" sz="quarter"/>
          </p:nvPr>
        </p:nvSpPr>
        <p:spPr/>
      </p:sp>
    </p:spTree>
  </p:cSld>
  <p:clrMapOvr>
    <a:masterClrMapping/>
  </p:clrMapOvr>
</p:notes>
</file>

<file path=ppt/notesSlides/notesSlide1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SCR-DM-18_draft.png.</a:t>
            </a:r>
          </a:p>
          <a:p>
            <a:r>
              <a:t>Persona does: Opens a draft Unapplied to Income batch, adds old unapplied payments and clicks Submit</a:t>
            </a:r>
          </a:p>
          <a:p>
            <a:r>
              <a:t>System does: Sends the batch to the Cashiering team lead</a:t>
            </a:r>
          </a:p>
          <a:p>
            <a:r>
              <a:t>Shown: The draft batch with its lines and the payments that may be added</a:t>
            </a:r>
          </a:p>
        </p:txBody>
      </p:sp>
      <p:sp>
        <p:nvSpPr>
          <p:cNvPr id="4" name="Slide Number Placeholder 3"/>
          <p:cNvSpPr>
            <a:spLocks noGrp="1"/>
          </p:cNvSpPr>
          <p:nvPr>
            <p:ph type="sldNum" idx="5" sz="quarter"/>
          </p:nvPr>
        </p:nvSpPr>
        <p:spPr/>
      </p:sp>
    </p:spTree>
  </p:cSld>
  <p:clrMapOvr>
    <a:masterClrMapping/>
  </p:clrMapOvr>
</p:notes>
</file>

<file path=ppt/notesSlides/notesSlide1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SCR-DM-18_approve.png.</a:t>
            </a:r>
          </a:p>
          <a:p>
            <a:r>
              <a:t>Persona does: After the team lead, approves the batch</a:t>
            </a:r>
          </a:p>
          <a:p>
            <a:r>
              <a:t>System does: Posts each line on its own and closes the payments</a:t>
            </a:r>
          </a:p>
          <a:p>
            <a:r>
              <a:t>Shown: The batch waiting for top management with Approve and Return</a:t>
            </a:r>
          </a:p>
        </p:txBody>
      </p:sp>
      <p:sp>
        <p:nvSpPr>
          <p:cNvPr id="4" name="Slide Number Placeholder 3"/>
          <p:cNvSpPr>
            <a:spLocks noGrp="1"/>
          </p:cNvSpPr>
          <p:nvPr>
            <p:ph type="sldNum" idx="5" sz="quarter"/>
          </p:nvPr>
        </p:nvSpPr>
        <p:spPr/>
      </p:sp>
    </p:spTree>
  </p:cSld>
  <p:clrMapOvr>
    <a:masterClrMapping/>
  </p:clrMapOvr>
</p:notes>
</file>

<file path=ppt/notesSlides/notesSlide1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SCR-DM-19_draft.png.</a:t>
            </a:r>
          </a:p>
          <a:p>
            <a:r>
              <a:t>Persona does: Adds a legacy invoice with the PR 2307 amount to reverse and submits the batch</a:t>
            </a:r>
          </a:p>
          <a:p>
            <a:r>
              <a:t>System does: Sends the batch to the team lead, who posts each line</a:t>
            </a:r>
          </a:p>
          <a:p>
            <a:r>
              <a:t>Shown: The draft PR 2307 reversal batch</a:t>
            </a:r>
          </a:p>
        </p:txBody>
      </p:sp>
      <p:sp>
        <p:nvSpPr>
          <p:cNvPr id="4" name="Slide Number Placeholder 3"/>
          <p:cNvSpPr>
            <a:spLocks noGrp="1"/>
          </p:cNvSpPr>
          <p:nvPr>
            <p:ph type="sldNum" idx="5" sz="quarter"/>
          </p:nvPr>
        </p:nvSpPr>
        <p:spPr/>
      </p:sp>
    </p:spTree>
  </p:cSld>
  <p:clrMapOvr>
    <a:masterClrMapping/>
  </p:clrMapOvr>
</p:notes>
</file>

<file path=ppt/notesSlides/notesSlide1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SCR-DM-20_draft.png.</a:t>
            </a:r>
          </a:p>
          <a:p>
            <a:r>
              <a:t>Persona does: Adds the legacy invoices tagged DP PR for reversal and submits the batch</a:t>
            </a:r>
          </a:p>
          <a:p>
            <a:r>
              <a:t>System does: Sends the batch to the Commission team lead, who posts each invoice</a:t>
            </a:r>
          </a:p>
          <a:p>
            <a:r>
              <a:t>Shown: The draft DP PR reversal batch</a:t>
            </a:r>
          </a:p>
        </p:txBody>
      </p:sp>
      <p:sp>
        <p:nvSpPr>
          <p:cNvPr id="4" name="Slide Number Placeholder 3"/>
          <p:cNvSpPr>
            <a:spLocks noGrp="1"/>
          </p:cNvSpPr>
          <p:nvPr>
            <p:ph type="sldNum" idx="5" sz="quarter"/>
          </p:nvPr>
        </p:nvSpPr>
        <p:spPr/>
      </p:sp>
    </p:spTree>
  </p:cSld>
  <p:clrMapOvr>
    <a:masterClrMapping/>
  </p:clrMapOvr>
</p:notes>
</file>

<file path=ppt/notesSlides/notesSlide1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SCR-DM-20_draft.png.</a:t>
            </a:r>
          </a:p>
          <a:p>
            <a:r>
              <a:t>Persona does: Adds the legacy invoices tagged DP PR for reversal and submits the batch</a:t>
            </a:r>
          </a:p>
          <a:p>
            <a:r>
              <a:t>System does: Sends the batch to the Commission team lead, who posts each invoice</a:t>
            </a:r>
          </a:p>
          <a:p>
            <a:r>
              <a:t>Shown: The draft DP PR reversal batch</a:t>
            </a:r>
          </a:p>
        </p:txBody>
      </p:sp>
      <p:sp>
        <p:nvSpPr>
          <p:cNvPr id="4" name="Slide Number Placeholder 3"/>
          <p:cNvSpPr>
            <a:spLocks noGrp="1"/>
          </p:cNvSpPr>
          <p:nvPr>
            <p:ph type="sldNum" idx="5" sz="quarter"/>
          </p:nvPr>
        </p:nvSpPr>
        <p:spPr/>
      </p:sp>
    </p:spTree>
  </p:cSld>
  <p:clrMapOvr>
    <a:masterClrMapping/>
  </p:clrMapOvr>
</p:notes>
</file>

<file path=ppt/notesSlides/notesSlide1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 Audit or Compliance user gives the reason of the inquiry once per session, searches and opens the closed legacy records read-only; every access is logged with the reason and reviewed by Compliance.</a:t>
            </a:r>
          </a:p>
        </p:txBody>
      </p:sp>
      <p:sp>
        <p:nvSpPr>
          <p:cNvPr id="4" name="Slide Number Placeholder 3"/>
          <p:cNvSpPr>
            <a:spLocks noGrp="1"/>
          </p:cNvSpPr>
          <p:nvPr>
            <p:ph type="sldNum" idx="5" sz="quarter"/>
          </p:nvPr>
        </p:nvSpPr>
        <p:spPr/>
      </p:sp>
    </p:spTree>
  </p:cSld>
  <p:clrMapOvr>
    <a:masterClrMapping/>
  </p:clrMapOvr>
</p:notes>
</file>

<file path=ppt/notesSlides/notesSlide1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Audit / Compliance user: Opens Legacy Inquiry and gives the reason of the inquiry</a:t>
            </a:r>
          </a:p>
          <a:p>
            <a:r>
              <a:t>2. Audit / Compliance user: Searches the closed invoices</a:t>
            </a:r>
          </a:p>
          <a:p>
            <a:r>
              <a:t>3. Audit / Compliance user: Opens a record and downloads a document</a:t>
            </a:r>
          </a:p>
          <a:p>
            <a:r>
              <a:t>4. Compliance reviewer of the access log: Opens the Access Log and filters it by user and date</a:t>
            </a:r>
          </a:p>
        </p:txBody>
      </p:sp>
      <p:sp>
        <p:nvSpPr>
          <p:cNvPr id="4" name="Slide Number Placeholder 3"/>
          <p:cNvSpPr>
            <a:spLocks noGrp="1"/>
          </p:cNvSpPr>
          <p:nvPr>
            <p:ph type="sldNum" idx="5" sz="quarter"/>
          </p:nvPr>
        </p:nvSpPr>
        <p:spPr/>
      </p:sp>
    </p:spTree>
  </p:cSld>
  <p:clrMapOvr>
    <a:masterClrMapping/>
  </p:clrMapOvr>
</p:notes>
</file>

<file path=ppt/notesSlides/notesSlide1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SCR-DM-14_reason.png.</a:t>
            </a:r>
          </a:p>
          <a:p>
            <a:r>
              <a:t>Persona does: Opens Legacy Inquiry and gives the reason of the inquiry</a:t>
            </a:r>
          </a:p>
          <a:p>
            <a:r>
              <a:t>System does: Keeps the reason for the session</a:t>
            </a:r>
          </a:p>
          <a:p>
            <a:r>
              <a:t>Shown: The Reason of the Inquiry card</a:t>
            </a:r>
          </a:p>
        </p:txBody>
      </p:sp>
      <p:sp>
        <p:nvSpPr>
          <p:cNvPr id="4" name="Slide Number Placeholder 3"/>
          <p:cNvSpPr>
            <a:spLocks noGrp="1"/>
          </p:cNvSpPr>
          <p:nvPr>
            <p:ph type="sldNum" idx="5" sz="quarter"/>
          </p:nvPr>
        </p:nvSpPr>
        <p:spPr/>
      </p:sp>
    </p:spTree>
  </p:cSld>
  <p:clrMapOvr>
    <a:masterClrMapping/>
  </p:clrMapOvr>
</p:notes>
</file>

<file path=ppt/notesSlides/notesSlide1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SCR-DM-14_results.png.</a:t>
            </a:r>
          </a:p>
          <a:p>
            <a:r>
              <a:t>Persona does: Searches the closed invoices</a:t>
            </a:r>
          </a:p>
          <a:p>
            <a:r>
              <a:t>System does: Lists the matching records and logs the search</a:t>
            </a:r>
          </a:p>
          <a:p>
            <a:r>
              <a:t>Shown: The search criteria and the records found</a:t>
            </a:r>
          </a:p>
        </p:txBody>
      </p:sp>
      <p:sp>
        <p:nvSpPr>
          <p:cNvPr id="4" name="Slide Number Placeholder 3"/>
          <p:cNvSpPr>
            <a:spLocks noGrp="1"/>
          </p:cNvSpPr>
          <p:nvPr>
            <p:ph type="sldNum" idx="5" sz="quarter"/>
          </p:nvPr>
        </p:nvSpPr>
        <p:spPr/>
      </p:sp>
    </p:spTree>
  </p:cSld>
  <p:clrMapOvr>
    <a:masterClrMapping/>
  </p:clrMapOvr>
</p:notes>
</file>

<file path=ppt/notesSlides/notesSlide1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SCR-DM-14_record.png.</a:t>
            </a:r>
          </a:p>
          <a:p>
            <a:r>
              <a:t>Persona does: Opens a record and downloads a document</a:t>
            </a:r>
          </a:p>
          <a:p>
            <a:r>
              <a:t>System does: Shows the record read-only and logs the view and the download</a:t>
            </a:r>
          </a:p>
          <a:p>
            <a:r>
              <a:t>Shown: The legacy record with its legacy details and documents</a:t>
            </a:r>
          </a:p>
        </p:txBody>
      </p:sp>
      <p:sp>
        <p:nvSpPr>
          <p:cNvPr id="4" name="Slide Number Placeholder 3"/>
          <p:cNvSpPr>
            <a:spLocks noGrp="1"/>
          </p:cNvSpPr>
          <p:nvPr>
            <p:ph type="sldNum" idx="5" sz="quarter"/>
          </p:nvPr>
        </p:nvSpPr>
        <p:spPr/>
      </p:sp>
    </p:spTree>
  </p:cSld>
  <p:clrMapOvr>
    <a:masterClrMapping/>
  </p:clrMapOvr>
</p:notes>
</file>

<file path=ppt/notesSlides/notesSlide1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SCR-DM-14_record.png.</a:t>
            </a:r>
          </a:p>
          <a:p>
            <a:r>
              <a:t>Persona does: Opens a record and downloads a document</a:t>
            </a:r>
          </a:p>
          <a:p>
            <a:r>
              <a:t>System does: Shows the record read-only and logs the view and the download</a:t>
            </a:r>
          </a:p>
          <a:p>
            <a:r>
              <a:t>Shown: The legacy record with its legacy details and documents</a:t>
            </a:r>
          </a:p>
        </p:txBody>
      </p:sp>
      <p:sp>
        <p:nvSpPr>
          <p:cNvPr id="4" name="Slide Number Placeholder 3"/>
          <p:cNvSpPr>
            <a:spLocks noGrp="1"/>
          </p:cNvSpPr>
          <p:nvPr>
            <p:ph type="sldNum" idx="5" sz="quarter"/>
          </p:nvPr>
        </p:nvSpPr>
        <p:spPr/>
      </p:sp>
    </p:spTree>
  </p:cSld>
  <p:clrMapOvr>
    <a:masterClrMapping/>
  </p:clrMapOvr>
</p:notes>
</file>

<file path=ppt/notesSlides/notesSlide1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SCR-DM-15_log.png.</a:t>
            </a:r>
          </a:p>
          <a:p>
            <a:r>
              <a:t>Persona does: Opens the Access Log and filters it by user and date</a:t>
            </a:r>
          </a:p>
          <a:p>
            <a:r>
              <a:t>System does: Shows every access with the user, time, action, criteria and reason</a:t>
            </a:r>
          </a:p>
          <a:p>
            <a:r>
              <a:t>Shown: The access log, which cannot be changed</a:t>
            </a:r>
          </a:p>
        </p:txBody>
      </p:sp>
      <p:sp>
        <p:nvSpPr>
          <p:cNvPr id="4" name="Slide Number Placeholder 3"/>
          <p:cNvSpPr>
            <a:spLocks noGrp="1"/>
          </p:cNvSpPr>
          <p:nvPr>
            <p:ph type="sldNum" idx="5" sz="quarter"/>
          </p:nvPr>
        </p:nvSpPr>
        <p:spPr/>
      </p:sp>
    </p:spTree>
  </p:cSld>
  <p:clrMapOvr>
    <a:masterClrMapping/>
  </p:clrMapOvr>
</p:notes>
</file>

<file path=ppt/notesSlides/notesSlide1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SCR-DM-01: SCR-DM-01_view.png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SCR-DM-01_view.png; Data Migration Handbook section 19.1.1.</a:t>
            </a:r>
          </a:p>
          <a:p>
            <a:r>
              <a:t>Personas: Data Migration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SCR-DM-01_view.png; Data Migration Handbook section 19.1.1.</a:t>
            </a:r>
          </a:p>
          <a:p>
            <a:r>
              <a:t>Personas: Data Migration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SCR-DM-01_view.png; Data Migration Handbook section 19.1.1.</a:t>
            </a:r>
          </a:p>
          <a:p>
            <a:r>
              <a:t>Personas: Data Migration Lead.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SCR-DM-02: SCR-DM-02_list.png, SCR-DM-02_object.png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SCR-DM-02_list.png; Data Migration Handbook section 19.1.2.</a:t>
            </a:r>
          </a:p>
          <a:p>
            <a:r>
              <a:t>Personas: Data Migration Lead. Flows: UF-A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SCR-DM-02_list.png; Data Migration Handbook section 19.1.2.</a:t>
            </a:r>
          </a:p>
          <a:p>
            <a:r>
              <a:t>Personas: Data Migration Lead. Flows: UF-A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 Data Migration Handbook section 19.1.2.</a:t>
            </a:r>
          </a:p>
          <a:p>
            <a:r>
              <a:t>Personas: Data owner (business owner of an object). Flows: UF-A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 Data Migration Handbook section 19.1.2.</a:t>
            </a:r>
          </a:p>
          <a:p>
            <a:r>
              <a:t>Personas: Data owner (business owner of an object). Flows: UF-A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 Data Migration Handbook section 19.1.2.</a:t>
            </a:r>
          </a:p>
          <a:p>
            <a:r>
              <a:t>Personas: Data owner (business owner of an object). Flows: UF-A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SCR-DM-02_object.png; Data Migration Handbook section 19.1.2.</a:t>
            </a:r>
          </a:p>
          <a:p>
            <a:r>
              <a:t>Personas: Data owner (business owner of an object). Flows: UF-A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SCR-DM-03: SCR-DM-03_list.png, SCR-DM-03_set.png, SCR-DM-03_entry.png, SCR-DM-03_unmapped.png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SCR-DM-03_set.png;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SCR-DM-03_set.png;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SCR-DM-03_set.png;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SCR-DM-03_set.png;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SCR-DM-03_unmapped.png; Data Migration Handbook section 19.1.3.</a:t>
            </a:r>
          </a:p>
          <a:p>
            <a:r>
              <a:t>Personas: Data Steward. Flows: UF-A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SCR-DM-03_entry.png; Data Migration Handbook section 19.1.3.</a:t>
            </a:r>
          </a:p>
          <a:p>
            <a:r>
              <a:t>Personas: Data Steward. Flows: UF-A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SCR-DM-03_list.png;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SCR-DM-03_list.png; Data Migration Handbook section 19.1.3.</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SCR-DM-04: SCR-DM-04_list.png, SCR-DM-04_columns.png, SCR-DM-04_rules.png, SCR-DM-04_masking.png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SCR-DM-04_list.png;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SCR-DM-04_list.png;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SCR-DM-04_columns.png;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SCR-DM-04_columns.png;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SCR-DM-04_columns.png;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6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SCR-DM-04_columns.png;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SCR-DM-04_rules.png;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SCR-DM-04_rules.png;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SCR-DM-04_masking.png;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SCR-DM-04_masking.png; Data Migration Handbook section 19.1.4.</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SCR-DM-05: SCR-DM-05_list.png, SCR-DM-05_rejected.png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7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SCR-DM-05_list.png; Data Migration Handbook section 19.1.5.</a:t>
            </a:r>
          </a:p>
          <a:p>
            <a:r>
              <a:t>Personas: Migration Operator. Flows: UF-A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SCR-DM-05_list.png; Data Migration Handbook section 19.1.5.</a:t>
            </a:r>
          </a:p>
          <a:p>
            <a:r>
              <a:t>Personas: Migration Operator. Flows: UF-A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SCR-DM-05_list.png; Data Migration Handbook section 19.1.5.</a:t>
            </a:r>
          </a:p>
          <a:p>
            <a:r>
              <a:t>Personas: Migration Operator. Flows: UF-A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 Data Migration Handbook section 19.1.5.</a:t>
            </a:r>
          </a:p>
          <a:p>
            <a:r>
              <a:t>Personas: Migration Operator. Flows: UF-A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7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 Data Migration Handbook section 19.1.5.</a:t>
            </a:r>
          </a:p>
          <a:p>
            <a:r>
              <a:t>Personas: Migration Operator. Flows: UF-A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SCR-DM-05_rejected.png; Data Migration Handbook section 19.1.5.</a:t>
            </a:r>
          </a:p>
          <a:p>
            <a:r>
              <a:t>Personas: Migration Operator. Flows: UF-A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SCR-DM-06: SCR-DM-06_list.png, SCR-DM-06_plan.png, SCR-DM-06_resubmissions.png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SCR-DM-06_list.png; Data Migration Handbook section 19.1.6.</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SCR-DM-06_list.png; Data Migration Handbook section 19.1.6.</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SCR-DM-06_plan.png; Data Migration Handbook section 19.1.6.</a:t>
            </a:r>
          </a:p>
          <a:p>
            <a:r>
              <a:t>Personas: Migration Operator. Flows: UF-A step 8.</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SCR-DM-06_resubmissions.png; Data Migration Handbook section 19.1.6.</a:t>
            </a:r>
          </a:p>
          <a:p>
            <a:r>
              <a:t>Personas: Data owner (business owner of an object).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SCR-DM-07: SCR-DM-07_validated.png, SCR-DM-07_rows.png, SCR-DM-07_waive.png, SCR-DM-07_signoffs.png, SCR-DM-07_log.png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18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SCR-DM-07_validated.png; Data Migration Handbook section 19.1.7.</a:t>
            </a:r>
          </a:p>
          <a:p>
            <a:r>
              <a:t>Personas: Data Migration Lead. Flows: UF-A step 9.</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SCR-DM-07_validated.png; Data Migration Handbook section 19.1.7.</a:t>
            </a:r>
          </a:p>
          <a:p>
            <a:r>
              <a:t>Personas: Data Migration Lead. Flows: UF-A step 9.</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8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SCR-DM-07_validated.png; Data Migration Handbook section 19.1.7.</a:t>
            </a:r>
          </a:p>
          <a:p>
            <a:r>
              <a:t>Personas: Data Migration Lead. Flows: UF-A step 9.</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SCR-DM-07_rows.png; Data Migration Handbook section 19.1.7.</a:t>
            </a:r>
          </a:p>
          <a:p>
            <a:r>
              <a:t>Personas: Data owner (business owner of an object).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SCR-DM-07_rows.png; Data Migration Handbook section 19.1.7.</a:t>
            </a:r>
          </a:p>
          <a:p>
            <a:r>
              <a:t>Personas: Data owner (business owner of an object).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SCR-DM-07_rows.png; Data Migration Handbook section 19.1.7.</a:t>
            </a:r>
          </a:p>
          <a:p>
            <a:r>
              <a:t>Personas: Data owner (business owner of an object).</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SCR-DM-07_waive.png; Data Migration Handbook section 19.1.7.</a:t>
            </a:r>
          </a:p>
          <a:p>
            <a:r>
              <a:t>Personas: Data owner (business owner of an object). Flows: UF-A step 11.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SCR-DM-07_signoffs.png; Data Migration Handbook section 19.1.7.</a:t>
            </a:r>
          </a:p>
          <a:p>
            <a:r>
              <a:t>Personas: Data Migration Lead. Flows: UF-A step 14.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SCR-DM-07_signoffs.png; Data Migration Handbook section 19.1.7.</a:t>
            </a:r>
          </a:p>
          <a:p>
            <a:r>
              <a:t>Personas: Data Migration Lead. Flows: UF-A step 14.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SCR-DM-07_signoffs.png; Data Migration Handbook section 19.1.7.</a:t>
            </a:r>
          </a:p>
          <a:p>
            <a:r>
              <a:t>Personas: Data Migration Lead. Flows: UF-A step 14.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SCR-DM-07_log.png; Data Migration Handbook section 19.1.7.</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SCR-DM-07_log.png; Data Migration Handbook section 19.1.7.</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19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SCR-DM-07_log.png; Data Migration Handbook section 19.1.7.</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SCR-DM-07_log.png; Data Migration Handbook section 19.1.7.</a:t>
            </a:r>
          </a:p>
          <a:p>
            <a:r>
              <a:t>Personas: Migration Operator.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SCR-DM-08: SCR-DM-08_queue.png, SCR-DM-08_pair.png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SCR-DM-08_pair.png; Data Migration Handbook section 19.1.8.</a:t>
            </a:r>
          </a:p>
          <a:p>
            <a:r>
              <a:t>Personas: Data Steward. Flows: UF-A step 10.</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SCR-DM-08_pair.png; Data Migration Handbook section 19.1.8.</a:t>
            </a:r>
          </a:p>
          <a:p>
            <a:r>
              <a:t>Personas: Data Steward. Flows: UF-A step 10.</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SCR-DM-08_pair.png; Data Migration Handbook section 19.1.8.</a:t>
            </a:r>
          </a:p>
          <a:p>
            <a:r>
              <a:t>Personas: Data Steward. Flows: UF-A step 10.</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SCR-DM-08_queue.png; Data Migration Handbook section 19.1.8.</a:t>
            </a:r>
          </a:p>
          <a:p>
            <a:r>
              <a:t>Personas: Data Steward.</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SCR-DM-09: SCR-DM-09_list.png, SCR-DM-09_explain.png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0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 Data Migration Handbook section 19.1.9.</a:t>
            </a:r>
          </a:p>
          <a:p>
            <a:r>
              <a:t>Personas: Reconciliation approver (Head of Comptrollership). Flows: UF-A step 12.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 Data Migration Handbook section 19.1.9.</a:t>
            </a:r>
          </a:p>
          <a:p>
            <a:r>
              <a:t>Personas: Reconciliation approver (Head of Comptrollership). Flows: UF-A step 12.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0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SCR-DM-09_list.png; Data Migration Handbook section 19.1.9.</a:t>
            </a:r>
          </a:p>
          <a:p>
            <a:r>
              <a:t>Personas: Reconciliation approver (Head of Comptrollership). Flows: UF-A step 12.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SCR-DM-09_explain.png; Data Migration Handbook section 19.1.9.</a:t>
            </a:r>
          </a:p>
          <a:p>
            <a:r>
              <a:t>Personas: Data Steward. Flows: UF-A step 13.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SCR-DM-10: SCR-DM-10_matrix.png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SCR-DM-10_matrix.png; Data Migration Handbook section 19.1.10.</a:t>
            </a:r>
          </a:p>
          <a:p>
            <a:r>
              <a:t>Personas: Data owner (business owner of an object). Flows: UF-A step 5.</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SCR-DM-10_matrix.png; Data Migration Handbook section 19.1.10.</a:t>
            </a:r>
          </a:p>
          <a:p>
            <a:r>
              <a:t>Personas: Data owner (business owner of an object). Flows: UF-A step 5.</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SCR-DM-11: SCR-DM-11_list.png, SCR-DM-11_prepare.png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SCR-DM-11_list.png; Data Migration Handbook section 19.2.1.</a:t>
            </a:r>
          </a:p>
          <a:p>
            <a:r>
              <a:t>Personas: Comptrollership GL lead. Flows: UF-B step 5.</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SCR-DM-11_prepare.png; Data Migration Handbook section 19.2.1.</a:t>
            </a:r>
          </a:p>
          <a:p>
            <a:r>
              <a:t>Personas: Comptrollership GL lead. Flows: UF-B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SCR-DM-12: SCR-DM-12_plans.png, SCR-DM-12_criteria.png, SCR-DM-12_new.png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 Data Migration Handbook section 19.2.2.</a:t>
            </a:r>
          </a:p>
          <a:p>
            <a:r>
              <a:t>Personas: Data Migration Lead. Flows: UF-B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 Data Migration Handbook section 19.2.2.</a:t>
            </a:r>
          </a:p>
          <a:p>
            <a:r>
              <a:t>Personas: Data Migration Lead. Flows: UF-B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 Data Migration Handbook section 19.2.2.</a:t>
            </a:r>
          </a:p>
          <a:p>
            <a:r>
              <a:t>Personas: Data Migration Lead. Flows: UF-B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 Data Migration Handbook section 19.2.2.</a:t>
            </a:r>
          </a:p>
          <a:p>
            <a:r>
              <a:t>Personas: Data Migration Lead. Flows: UF-B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SCR-DM-12_plans.png; Data Migration Handbook section 19.2.2.</a:t>
            </a:r>
          </a:p>
          <a:p>
            <a:r>
              <a:t>Personas: Data Migration Lead. Flows: UF-B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SCR-DM-12_new.png; Data Migration Handbook section 19.2.2.</a:t>
            </a:r>
          </a:p>
          <a:p>
            <a:r>
              <a:t>Personas: Data Migration Lead. Flows: UF-B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 Data Migration Handbook section 19.2.2.</a:t>
            </a:r>
          </a:p>
          <a:p>
            <a:r>
              <a:t>Personas: Go / no-go board. Flows: UF-B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 Data Migration Handbook section 19.2.2.</a:t>
            </a:r>
          </a:p>
          <a:p>
            <a:r>
              <a:t>Personas: Go / no-go board. Flows: UF-B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 Data Migration Handbook section 19.2.2.</a:t>
            </a:r>
          </a:p>
          <a:p>
            <a:r>
              <a:t>Personas: Go / no-go board. Flows: UF-B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SCR-DM-12_criteria.png; Data Migration Handbook section 19.2.2.</a:t>
            </a:r>
          </a:p>
          <a:p>
            <a:r>
              <a:t>Personas: Go / no-go board. Flows: UF-B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2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SCR-DM-13: SCR-DM-13_view.png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2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 Data Migration Handbook section 19.2.3.</a:t>
            </a:r>
          </a:p>
          <a:p>
            <a:r>
              <a:t>Personas: Data Migration Lead. Flows: UF-B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 Data Migration Handbook section 19.2.3.</a:t>
            </a:r>
          </a:p>
          <a:p>
            <a:r>
              <a:t>Personas: Data Migration Lead. Flows: UF-B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SCR-DM-13_view.png; Data Migration Handbook section 19.2.3.</a:t>
            </a:r>
          </a:p>
          <a:p>
            <a:r>
              <a:t>Personas: Data Migration Lead. Flows: UF-B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SCR-DM-14: SCR-DM-14_reason.png, SCR-DM-14_results.png, SCR-DM-14_record.png, SCR-DM-14_no-results.png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3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SCR-DM-14_reason.png; Data Migration Handbook section 19.3.1.</a:t>
            </a:r>
          </a:p>
          <a:p>
            <a:r>
              <a:t>Personas: Audit / Compliance user. Flows: UF-D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SCR-DM-14_results.png; Data Migration Handbook section 19.3.1.</a:t>
            </a:r>
          </a:p>
          <a:p>
            <a:r>
              <a:t>Personas: Audit / Compliance user. Flows: UF-D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SCR-DM-14_results.png; Data Migration Handbook section 19.3.1.</a:t>
            </a:r>
          </a:p>
          <a:p>
            <a:r>
              <a:t>Personas: Audit / Compliance user. Flows: UF-D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SCR-DM-14_no-results.png; Data Migration Handbook section 19.3.1.</a:t>
            </a:r>
          </a:p>
          <a:p>
            <a:r>
              <a:t>Personas: Audit / Compliance user.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SCR-DM-14_no-results.png; Data Migration Handbook section 19.3.1.</a:t>
            </a:r>
          </a:p>
          <a:p>
            <a:r>
              <a:t>Personas: Audit / Compliance user.</a:t>
            </a:r>
          </a:p>
          <a:p>
            <a:r>
              <a:t>Taken for this deck (not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SCR-DM-14_record.png; Data Migration Handbook section 19.3.1.</a:t>
            </a:r>
          </a:p>
          <a:p>
            <a:r>
              <a:t>Personas: Audit / Compliance user. Flows: UF-D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3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SCR-DM-14_record.png; Data Migration Handbook section 19.3.1.</a:t>
            </a:r>
          </a:p>
          <a:p>
            <a:r>
              <a:t>Personas: Audit / Compliance user. Flows: UF-D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SCR-DM-14_record.png; Data Migration Handbook section 19.3.1.</a:t>
            </a:r>
          </a:p>
          <a:p>
            <a:r>
              <a:t>Personas: Audit / Compliance user. Flows: UF-D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SCR-DM-15: SCR-DM-15_log.png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SCR-DM-15_log.png; Data Migration Handbook section 19.3.2.</a:t>
            </a:r>
          </a:p>
          <a:p>
            <a:r>
              <a:t>Personas: Compliance reviewer of the access log. Flows: UF-D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SCR-DM-16: SCR-DM-16_clients.png, SCR-DM-16_unapplied.png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SCR-DM-16_clients.png; Data Migration Handbook section 19.4.1.</a:t>
            </a:r>
          </a:p>
          <a:p>
            <a:r>
              <a:t>Personas: Marketing Account Officer. Flows: UF-C step 1.</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SCR-DM-16_unapplied.png; Data Migration Handbook section 19.4.1.</a:t>
            </a:r>
          </a:p>
          <a:p>
            <a:r>
              <a:t>Personas: Cashiering user. Flows: UF-C step 2.</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SCR-DM-17: SCR-DM-17_legacy.png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4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SCR-DM-17_legacy.png; Data Migration Handbook section 19.4.2.</a:t>
            </a:r>
          </a:p>
          <a:p>
            <a:r>
              <a:t>Personas: Cashiering user. Flows: UF-C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SCR-DM-17_legacy.png; Data Migration Handbook section 19.4.2.</a:t>
            </a:r>
          </a:p>
          <a:p>
            <a:r>
              <a:t>Personas: Cashiering user. Flows: UF-C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4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SCR-DM-17_legacy.png; Data Migration Handbook section 19.4.2.</a:t>
            </a:r>
          </a:p>
          <a:p>
            <a:r>
              <a:t>Personas: Cashiering user. Flows: UF-C step 3.</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SCR-DM-18: SCR-DM-18_list.png, SCR-DM-18_draft.png, SCR-DM-18_approve.png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SCR-DM-18_list.png; Data Migration Handbook section 19.5.1.</a:t>
            </a:r>
          </a:p>
          <a:p>
            <a:r>
              <a:t>Personas: Cashiering user.</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SCR-DM-18_draft.png; Data Migration Handbook section 19.5.1.</a:t>
            </a:r>
          </a:p>
          <a:p>
            <a:r>
              <a:t>Personas: Cashiering user. Flows: UF-C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SCR-DM-18_draft.png; Data Migration Handbook section 19.5.1.</a:t>
            </a:r>
          </a:p>
          <a:p>
            <a:r>
              <a:t>Personas: Cashiering user. Flows: UF-C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SCR-DM-18_draft.png; Data Migration Handbook section 19.5.1.</a:t>
            </a:r>
          </a:p>
          <a:p>
            <a:r>
              <a:t>Personas: Cashiering user. Flows: UF-C step 4.</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SCR-DM-18_approve.png; Data Migration Handbook section 19.5.1.</a:t>
            </a:r>
          </a:p>
          <a:p>
            <a:r>
              <a:t>Personas: Top management approver. Flows: UF-C step 5.</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SCR-DM-19: SCR-DM-19_draft.png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5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SCR-DM-19_draft.png; Data Migration Handbook section 19.5.2.</a:t>
            </a:r>
          </a:p>
          <a:p>
            <a:r>
              <a:t>Personas: Cashiering user. Flows: UF-C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SCR-DM-19_draft.png; Data Migration Handbook section 19.5.2.</a:t>
            </a:r>
          </a:p>
          <a:p>
            <a:r>
              <a:t>Personas: Cashiering user. Flows: UF-C step 6.</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5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Images of SCR-DM-20: SCR-DM-20_draft.png</a:t>
            </a:r>
          </a:p>
          <a:p>
            <a:r>
              <a:t>A dash: the state does not apply to this screen or is shown on another screen of the flow.</a:t>
            </a:r>
          </a:p>
        </p:txBody>
      </p:sp>
      <p:sp>
        <p:nvSpPr>
          <p:cNvPr id="4" name="Slide Number Placeholder 3"/>
          <p:cNvSpPr>
            <a:spLocks noGrp="1"/>
          </p:cNvSpPr>
          <p:nvPr>
            <p:ph type="sldNum" idx="5" sz="quarter"/>
          </p:nvPr>
        </p:nvSpPr>
        <p:spPr/>
      </p:sp>
    </p:spTree>
  </p:cSld>
  <p:clrMapOvr>
    <a:masterClrMapping/>
  </p:clrMapOvr>
</p:notes>
</file>

<file path=ppt/notesSlides/notesSlide26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SCR-DM-20_draft.png; Data Migration Handbook section 19.5.3.</a:t>
            </a:r>
          </a:p>
          <a:p>
            <a:r>
              <a:t>Personas: Commission user. Flows: UF-C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SCR-DM-20_draft.png; Data Migration Handbook section 19.5.3.</a:t>
            </a:r>
          </a:p>
          <a:p>
            <a:r>
              <a:t>Personas: Commission user. Flows: UF-C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Image SCR-DM-20_draft.png; Data Migration Handbook section 19.5.3.</a:t>
            </a:r>
          </a:p>
          <a:p>
            <a:r>
              <a:t>Personas: Commission user. Flows: UF-C step 7.</a:t>
            </a:r>
          </a:p>
          <a:p>
            <a:r>
              <a:t>Shown in the FRS.</a:t>
            </a:r>
          </a:p>
        </p:txBody>
      </p:sp>
      <p:sp>
        <p:nvSpPr>
          <p:cNvPr id="4" name="Slide Number Placeholder 3"/>
          <p:cNvSpPr>
            <a:spLocks noGrp="1"/>
          </p:cNvSpPr>
          <p:nvPr>
            <p:ph type="sldNum" idx="5" sz="quarter"/>
          </p:nvPr>
        </p:nvSpPr>
        <p:spPr/>
      </p:sp>
    </p:spTree>
  </p:cSld>
  <p:clrMapOvr>
    <a:masterClrMapping/>
  </p:clrMapOvr>
</p:notes>
</file>

<file path=ppt/notesSlides/notesSlide26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In-app notices appear under the bell and on the Notifications page; e-mails follow the protected e-mail rule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From the chapter Proposed business rules and clarifications for confirmation of the Data Migration Handbook (section 48).</a:t>
            </a:r>
          </a:p>
        </p:txBody>
      </p:sp>
      <p:sp>
        <p:nvSpPr>
          <p:cNvPr id="4" name="Slide Number Placeholder 3"/>
          <p:cNvSpPr>
            <a:spLocks noGrp="1"/>
          </p:cNvSpPr>
          <p:nvPr>
            <p:ph type="sldNum" idx="5" sz="quarter"/>
          </p:nvPr>
        </p:nvSpPr>
        <p:spPr/>
      </p:sp>
    </p:spTree>
  </p:cSld>
  <p:clrMapOvr>
    <a:masterClrMapping/>
  </p:clrMapOvr>
</p:notes>
</file>

<file path=ppt/notesSlides/notesSlide26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confirm with BDOI with the review of the set.</a:t>
            </a:r>
          </a:p>
        </p:txBody>
      </p:sp>
      <p:sp>
        <p:nvSpPr>
          <p:cNvPr id="4" name="Slide Number Placeholder 3"/>
          <p:cNvSpPr>
            <a:spLocks noGrp="1"/>
          </p:cNvSpPr>
          <p:nvPr>
            <p:ph type="sldNum" idx="5" sz="quarter"/>
          </p:nvPr>
        </p:nvSpPr>
        <p:spPr/>
      </p:sp>
    </p:spTree>
  </p:cSld>
  <p:clrMapOvr>
    <a:masterClrMapping/>
  </p:clrMapOvr>
</p:notes>
</file>

<file path=ppt/notesSlides/notesSlide26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notesSlides/notesSlide26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FRS section is the section of the screen specification in the issued FRS; a change reference that names a section names these screens.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png"/><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9.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png"/><Relationship Id="rId4" Type="http://schemas.openxmlformats.org/officeDocument/2006/relationships/notesSlide" Target="../notesSlides/notesSlide13.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png"/><Relationship Id="rId4" Type="http://schemas.openxmlformats.org/officeDocument/2006/relationships/notesSlide" Target="../notesSlides/notesSlide14.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png"/><Relationship Id="rId4" Type="http://schemas.openxmlformats.org/officeDocument/2006/relationships/notesSlide" Target="../notesSlides/notesSlide15.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png"/><Relationship Id="rId4" Type="http://schemas.openxmlformats.org/officeDocument/2006/relationships/notesSlide" Target="../notesSlides/notesSlide16.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png"/><Relationship Id="rId4" Type="http://schemas.openxmlformats.org/officeDocument/2006/relationships/notesSlide" Target="../notesSlides/notesSlide1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png"/><Relationship Id="rId4" Type="http://schemas.openxmlformats.org/officeDocument/2006/relationships/notesSlide" Target="../notesSlides/notesSlide18.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png"/><Relationship Id="rId4" Type="http://schemas.openxmlformats.org/officeDocument/2006/relationships/notesSlide" Target="../notesSlides/notesSlide19.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png"/><Relationship Id="rId4" Type="http://schemas.openxmlformats.org/officeDocument/2006/relationships/notesSlide" Target="../notesSlides/notesSlide20.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png"/><Relationship Id="rId4" Type="http://schemas.openxmlformats.org/officeDocument/2006/relationships/notesSlide" Target="../notesSlides/notesSlide21.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png"/><Relationship Id="rId4" Type="http://schemas.openxmlformats.org/officeDocument/2006/relationships/notesSlide" Target="../notesSlides/notesSlide2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png"/><Relationship Id="rId4" Type="http://schemas.openxmlformats.org/officeDocument/2006/relationships/notesSlide" Target="../notesSlides/notesSlide23.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png"/><Relationship Id="rId4" Type="http://schemas.openxmlformats.org/officeDocument/2006/relationships/notesSlide" Target="../notesSlides/notesSlide26.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2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8.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png"/><Relationship Id="rId4" Type="http://schemas.openxmlformats.org/officeDocument/2006/relationships/notesSlide" Target="../notesSlides/notesSlide29.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png"/><Relationship Id="rId4" Type="http://schemas.openxmlformats.org/officeDocument/2006/relationships/image" Target="../media/image19.png"/><Relationship Id="rId5" Type="http://schemas.openxmlformats.org/officeDocument/2006/relationships/notesSlide" Target="../notesSlides/notesSlide30.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png"/><Relationship Id="rId4" Type="http://schemas.openxmlformats.org/officeDocument/2006/relationships/notesSlide" Target="../notesSlides/notesSlide3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33.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4.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png"/><Relationship Id="rId4" Type="http://schemas.openxmlformats.org/officeDocument/2006/relationships/notesSlide" Target="../notesSlides/notesSlide35.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2.png"/><Relationship Id="rId4" Type="http://schemas.openxmlformats.org/officeDocument/2006/relationships/image" Target="../media/image23.png"/><Relationship Id="rId5" Type="http://schemas.openxmlformats.org/officeDocument/2006/relationships/notesSlide" Target="../notesSlides/notesSlide36.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3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4.png"/><Relationship Id="rId4" Type="http://schemas.openxmlformats.org/officeDocument/2006/relationships/notesSlide" Target="../notesSlides/notesSlide38.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39.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5.png"/><Relationship Id="rId4" Type="http://schemas.openxmlformats.org/officeDocument/2006/relationships/notesSlide" Target="../notesSlides/notesSlide41.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png"/><Relationship Id="rId4" Type="http://schemas.openxmlformats.org/officeDocument/2006/relationships/image" Target="../media/image16.png"/><Relationship Id="rId5" Type="http://schemas.openxmlformats.org/officeDocument/2006/relationships/notesSlide" Target="../notesSlides/notesSlide4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3.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6.png"/><Relationship Id="rId4" Type="http://schemas.openxmlformats.org/officeDocument/2006/relationships/notesSlide" Target="../notesSlides/notesSlide44.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7.png"/><Relationship Id="rId4" Type="http://schemas.openxmlformats.org/officeDocument/2006/relationships/image" Target="../media/image28.png"/><Relationship Id="rId5" Type="http://schemas.openxmlformats.org/officeDocument/2006/relationships/image" Target="../media/image29.png"/><Relationship Id="rId6" Type="http://schemas.openxmlformats.org/officeDocument/2006/relationships/image" Target="../media/image30.png"/><Relationship Id="rId7" Type="http://schemas.openxmlformats.org/officeDocument/2006/relationships/notesSlide" Target="../notesSlides/notesSlide45.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1.png"/><Relationship Id="rId4" Type="http://schemas.openxmlformats.org/officeDocument/2006/relationships/image" Target="../media/image32.png"/><Relationship Id="rId5" Type="http://schemas.openxmlformats.org/officeDocument/2006/relationships/image" Target="../media/image33.png"/><Relationship Id="rId6" Type="http://schemas.openxmlformats.org/officeDocument/2006/relationships/image" Target="../media/image34.png"/><Relationship Id="rId7" Type="http://schemas.openxmlformats.org/officeDocument/2006/relationships/notesSlide" Target="../notesSlides/notesSlide46.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4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5.png"/><Relationship Id="rId4" Type="http://schemas.openxmlformats.org/officeDocument/2006/relationships/notesSlide" Target="../notesSlides/notesSlide48.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6.png"/><Relationship Id="rId4" Type="http://schemas.openxmlformats.org/officeDocument/2006/relationships/image" Target="../media/image37.png"/><Relationship Id="rId5" Type="http://schemas.openxmlformats.org/officeDocument/2006/relationships/notesSlide" Target="../notesSlides/notesSlide49.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0.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8.png"/><Relationship Id="rId4" Type="http://schemas.openxmlformats.org/officeDocument/2006/relationships/notesSlide" Target="../notesSlides/notesSlide51.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39.png"/><Relationship Id="rId4" Type="http://schemas.openxmlformats.org/officeDocument/2006/relationships/image" Target="../media/image40.png"/><Relationship Id="rId5" Type="http://schemas.openxmlformats.org/officeDocument/2006/relationships/notesSlide" Target="../notesSlides/notesSlide5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53.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1.png"/><Relationship Id="rId4" Type="http://schemas.openxmlformats.org/officeDocument/2006/relationships/notesSlide" Target="../notesSlides/notesSlide54.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2.png"/><Relationship Id="rId4" Type="http://schemas.openxmlformats.org/officeDocument/2006/relationships/image" Target="../media/image43.png"/><Relationship Id="rId5" Type="http://schemas.openxmlformats.org/officeDocument/2006/relationships/image" Target="../media/image44.png"/><Relationship Id="rId6" Type="http://schemas.openxmlformats.org/officeDocument/2006/relationships/image" Target="../media/image45.png"/><Relationship Id="rId7" Type="http://schemas.openxmlformats.org/officeDocument/2006/relationships/notesSlide" Target="../notesSlides/notesSlide55.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notesSlide" Target="../notesSlides/notesSlide56.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8.png"/><Relationship Id="rId4" Type="http://schemas.openxmlformats.org/officeDocument/2006/relationships/notesSlide" Target="../notesSlides/notesSlide57.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49.png"/><Relationship Id="rId4" Type="http://schemas.openxmlformats.org/officeDocument/2006/relationships/image" Target="../media/image50.png"/><Relationship Id="rId5" Type="http://schemas.openxmlformats.org/officeDocument/2006/relationships/image" Target="../media/image51.png"/><Relationship Id="rId6" Type="http://schemas.openxmlformats.org/officeDocument/2006/relationships/image" Target="../media/image52.png"/><Relationship Id="rId7" Type="http://schemas.openxmlformats.org/officeDocument/2006/relationships/notesSlide" Target="../notesSlides/notesSlide58.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notesSlide" Target="../notesSlides/notesSlide59.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7.png"/><Relationship Id="rId4" Type="http://schemas.openxmlformats.org/officeDocument/2006/relationships/notesSlide" Target="../notesSlides/notesSlide60.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58.png"/><Relationship Id="rId4" Type="http://schemas.openxmlformats.org/officeDocument/2006/relationships/image" Target="../media/image59.png"/><Relationship Id="rId5" Type="http://schemas.openxmlformats.org/officeDocument/2006/relationships/notesSlide" Target="../notesSlides/notesSlide61.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0.png"/><Relationship Id="rId4" Type="http://schemas.openxmlformats.org/officeDocument/2006/relationships/notesSlide" Target="../notesSlides/notesSlide6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1.png"/><Relationship Id="rId4" Type="http://schemas.openxmlformats.org/officeDocument/2006/relationships/image" Target="../media/image62.png"/><Relationship Id="rId5" Type="http://schemas.openxmlformats.org/officeDocument/2006/relationships/image" Target="../media/image63.png"/><Relationship Id="rId6" Type="http://schemas.openxmlformats.org/officeDocument/2006/relationships/image" Target="../media/image64.png"/><Relationship Id="rId7" Type="http://schemas.openxmlformats.org/officeDocument/2006/relationships/notesSlide" Target="../notesSlides/notesSlide63.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5.png"/><Relationship Id="rId4" Type="http://schemas.openxmlformats.org/officeDocument/2006/relationships/notesSlide" Target="../notesSlides/notesSlide64.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66.png"/><Relationship Id="rId4" Type="http://schemas.openxmlformats.org/officeDocument/2006/relationships/image" Target="../media/image67.png"/><Relationship Id="rId5" Type="http://schemas.openxmlformats.org/officeDocument/2006/relationships/image" Target="../media/image68.png"/><Relationship Id="rId6" Type="http://schemas.openxmlformats.org/officeDocument/2006/relationships/image" Target="../media/image69.png"/><Relationship Id="rId7" Type="http://schemas.openxmlformats.org/officeDocument/2006/relationships/notesSlide" Target="../notesSlides/notesSlide65.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0.png"/><Relationship Id="rId4" Type="http://schemas.openxmlformats.org/officeDocument/2006/relationships/notesSlide" Target="../notesSlides/notesSlide66.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1.png"/><Relationship Id="rId4" Type="http://schemas.openxmlformats.org/officeDocument/2006/relationships/notesSlide" Target="../notesSlides/notesSlide67.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2.png"/><Relationship Id="rId4" Type="http://schemas.openxmlformats.org/officeDocument/2006/relationships/image" Target="../media/image73.png"/><Relationship Id="rId5" Type="http://schemas.openxmlformats.org/officeDocument/2006/relationships/image" Target="../media/image74.png"/><Relationship Id="rId6" Type="http://schemas.openxmlformats.org/officeDocument/2006/relationships/image" Target="../media/image75.png"/><Relationship Id="rId7" Type="http://schemas.openxmlformats.org/officeDocument/2006/relationships/notesSlide" Target="../notesSlides/notesSlide68.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6.png"/><Relationship Id="rId4" Type="http://schemas.openxmlformats.org/officeDocument/2006/relationships/image" Target="../media/image77.png"/><Relationship Id="rId5" Type="http://schemas.openxmlformats.org/officeDocument/2006/relationships/image" Target="../media/image78.png"/><Relationship Id="rId6" Type="http://schemas.openxmlformats.org/officeDocument/2006/relationships/notesSlide" Target="../notesSlides/notesSlide69.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0.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1.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3.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4.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5.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6.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7.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8.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79.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0.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1.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3.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4.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5.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6.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87.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79.png"/><Relationship Id="rId4" Type="http://schemas.openxmlformats.org/officeDocument/2006/relationships/notesSlide" Target="../notesSlides/notesSlide88.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0.png"/><Relationship Id="rId4" Type="http://schemas.openxmlformats.org/officeDocument/2006/relationships/notesSlide" Target="../notesSlides/notesSlide89.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1.png"/><Relationship Id="rId4" Type="http://schemas.openxmlformats.org/officeDocument/2006/relationships/notesSlide" Target="../notesSlides/notesSlide90.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2.png"/><Relationship Id="rId4" Type="http://schemas.openxmlformats.org/officeDocument/2006/relationships/notesSlide" Target="../notesSlides/notesSlide91.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3.png"/><Relationship Id="rId4" Type="http://schemas.openxmlformats.org/officeDocument/2006/relationships/notesSlide" Target="../notesSlides/notesSlide9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4.png"/><Relationship Id="rId4" Type="http://schemas.openxmlformats.org/officeDocument/2006/relationships/notesSlide" Target="../notesSlides/notesSlide93.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5.png"/><Relationship Id="rId4" Type="http://schemas.openxmlformats.org/officeDocument/2006/relationships/notesSlide" Target="../notesSlides/notesSlide94.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6.png"/><Relationship Id="rId4" Type="http://schemas.openxmlformats.org/officeDocument/2006/relationships/notesSlide" Target="../notesSlides/notesSlide95.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7.png"/><Relationship Id="rId4" Type="http://schemas.openxmlformats.org/officeDocument/2006/relationships/notesSlide" Target="../notesSlides/notesSlide96.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8.png"/><Relationship Id="rId4" Type="http://schemas.openxmlformats.org/officeDocument/2006/relationships/notesSlide" Target="../notesSlides/notesSlide97.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9.png"/><Relationship Id="rId4" Type="http://schemas.openxmlformats.org/officeDocument/2006/relationships/notesSlide" Target="../notesSlides/notesSlide98.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0.png"/><Relationship Id="rId4" Type="http://schemas.openxmlformats.org/officeDocument/2006/relationships/notesSlide" Target="../notesSlides/notesSlide99.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1.png"/><Relationship Id="rId4" Type="http://schemas.openxmlformats.org/officeDocument/2006/relationships/notesSlide" Target="../notesSlides/notesSlide100.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2.png"/><Relationship Id="rId4" Type="http://schemas.openxmlformats.org/officeDocument/2006/relationships/notesSlide" Target="../notesSlides/notesSlide101.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3.png"/><Relationship Id="rId4" Type="http://schemas.openxmlformats.org/officeDocument/2006/relationships/notesSlide" Target="../notesSlides/notesSlide10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4.png"/><Relationship Id="rId4" Type="http://schemas.openxmlformats.org/officeDocument/2006/relationships/notesSlide" Target="../notesSlides/notesSlide103.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5.png"/><Relationship Id="rId4" Type="http://schemas.openxmlformats.org/officeDocument/2006/relationships/notesSlide" Target="../notesSlides/notesSlide104.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6.png"/><Relationship Id="rId4" Type="http://schemas.openxmlformats.org/officeDocument/2006/relationships/notesSlide" Target="../notesSlides/notesSlide105.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7.png"/><Relationship Id="rId4" Type="http://schemas.openxmlformats.org/officeDocument/2006/relationships/notesSlide" Target="../notesSlides/notesSlide106.xml"/></Relationships>
</file>

<file path=ppt/slides/_rels/slide1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8.png"/><Relationship Id="rId4" Type="http://schemas.openxmlformats.org/officeDocument/2006/relationships/notesSlide" Target="../notesSlides/notesSlide107.xml"/></Relationships>
</file>

<file path=ppt/slides/_rels/slide1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9.png"/><Relationship Id="rId4" Type="http://schemas.openxmlformats.org/officeDocument/2006/relationships/notesSlide" Target="../notesSlides/notesSlide108.xml"/></Relationships>
</file>

<file path=ppt/slides/_rels/slide1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0.png"/><Relationship Id="rId4" Type="http://schemas.openxmlformats.org/officeDocument/2006/relationships/notesSlide" Target="../notesSlides/notesSlide109.xml"/></Relationships>
</file>

<file path=ppt/slides/_rels/slide1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1.png"/><Relationship Id="rId4" Type="http://schemas.openxmlformats.org/officeDocument/2006/relationships/notesSlide" Target="../notesSlides/notesSlide110.xml"/></Relationships>
</file>

<file path=ppt/slides/_rels/slide1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2.png"/><Relationship Id="rId4" Type="http://schemas.openxmlformats.org/officeDocument/2006/relationships/notesSlide" Target="../notesSlides/notesSlide111.xml"/></Relationships>
</file>

<file path=ppt/slides/_rels/slide1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2.xml"/></Relationships>
</file>

<file path=ppt/slides/_rels/slide1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13.xml"/></Relationships>
</file>

<file path=ppt/slides/_rels/slide1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114.xml"/></Relationships>
</file>

<file path=ppt/slides/_rels/slide1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4.png"/><Relationship Id="rId4" Type="http://schemas.openxmlformats.org/officeDocument/2006/relationships/notesSlide" Target="../notesSlides/notesSlide115.xml"/></Relationships>
</file>

<file path=ppt/slides/_rels/slide1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5.png"/><Relationship Id="rId4" Type="http://schemas.openxmlformats.org/officeDocument/2006/relationships/notesSlide" Target="../notesSlides/notesSlide116.xml"/></Relationships>
</file>

<file path=ppt/slides/_rels/slide1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6.png"/><Relationship Id="rId4" Type="http://schemas.openxmlformats.org/officeDocument/2006/relationships/notesSlide" Target="../notesSlides/notesSlide117.xml"/></Relationships>
</file>

<file path=ppt/slides/_rels/slide1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7.png"/><Relationship Id="rId4" Type="http://schemas.openxmlformats.org/officeDocument/2006/relationships/notesSlide" Target="../notesSlides/notesSlide118.xml"/></Relationships>
</file>

<file path=ppt/slides/_rels/slide1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8.png"/><Relationship Id="rId4" Type="http://schemas.openxmlformats.org/officeDocument/2006/relationships/notesSlide" Target="../notesSlides/notesSlide119.xml"/></Relationships>
</file>

<file path=ppt/slides/_rels/slide1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notesSlide" Target="../notesSlides/notesSlide120.xml"/></Relationships>
</file>

<file path=ppt/slides/_rels/slide1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121.xml"/></Relationships>
</file>

<file path=ppt/slides/_rels/slide1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1.png"/><Relationship Id="rId4" Type="http://schemas.openxmlformats.org/officeDocument/2006/relationships/notesSlide" Target="../notesSlides/notesSlide122.xml"/></Relationships>
</file>

<file path=ppt/slides/_rels/slide1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2.png"/><Relationship Id="rId4" Type="http://schemas.openxmlformats.org/officeDocument/2006/relationships/notesSlide" Target="../notesSlides/notesSlide123.xml"/></Relationships>
</file>

<file path=ppt/slides/_rels/slide1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4.xml"/></Relationships>
</file>

<file path=ppt/slides/_rels/slide1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25.xml"/></Relationships>
</file>

<file path=ppt/slides/_rels/slide1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126.xml"/></Relationships>
</file>

<file path=ppt/slides/_rels/slide1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127.xml"/></Relationships>
</file>

<file path=ppt/slides/_rels/slide1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5.png"/><Relationship Id="rId4" Type="http://schemas.openxmlformats.org/officeDocument/2006/relationships/notesSlide" Target="../notesSlides/notesSlide128.xml"/></Relationships>
</file>

<file path=ppt/slides/_rels/slide1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6.png"/><Relationship Id="rId4" Type="http://schemas.openxmlformats.org/officeDocument/2006/relationships/notesSlide" Target="../notesSlides/notesSlide129.xml"/></Relationships>
</file>

<file path=ppt/slides/_rels/slide1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7.png"/><Relationship Id="rId4" Type="http://schemas.openxmlformats.org/officeDocument/2006/relationships/notesSlide" Target="../notesSlides/notesSlide130.xml"/></Relationships>
</file>

<file path=ppt/slides/_rels/slide1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8.png"/><Relationship Id="rId4" Type="http://schemas.openxmlformats.org/officeDocument/2006/relationships/notesSlide" Target="../notesSlides/notesSlide131.xml"/></Relationships>
</file>

<file path=ppt/slides/_rels/slide1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132.xml"/></Relationships>
</file>

<file path=ppt/slides/_rels/slide1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0.png"/><Relationship Id="rId4" Type="http://schemas.openxmlformats.org/officeDocument/2006/relationships/notesSlide" Target="../notesSlides/notesSlide133.xml"/></Relationships>
</file>

<file path=ppt/slides/_rels/slide1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1.png"/><Relationship Id="rId4" Type="http://schemas.openxmlformats.org/officeDocument/2006/relationships/notesSlide" Target="../notesSlides/notesSlide134.xml"/></Relationships>
</file>

<file path=ppt/slides/_rels/slide1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2.png"/><Relationship Id="rId4" Type="http://schemas.openxmlformats.org/officeDocument/2006/relationships/notesSlide" Target="../notesSlides/notesSlide135.xml"/></Relationships>
</file>

<file path=ppt/slides/_rels/slide1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6.xml"/></Relationships>
</file>

<file path=ppt/slides/_rels/slide1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37.xml"/></Relationships>
</file>

<file path=ppt/slides/_rels/slide1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138.xml"/></Relationships>
</file>

<file path=ppt/slides/_rels/slide1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4.png"/><Relationship Id="rId4" Type="http://schemas.openxmlformats.org/officeDocument/2006/relationships/notesSlide" Target="../notesSlides/notesSlide139.xml"/></Relationships>
</file>

<file path=ppt/slides/_rels/slide1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5.png"/><Relationship Id="rId4" Type="http://schemas.openxmlformats.org/officeDocument/2006/relationships/notesSlide" Target="../notesSlides/notesSlide140.xml"/></Relationships>
</file>

<file path=ppt/slides/_rels/slide1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6.png"/><Relationship Id="rId4" Type="http://schemas.openxmlformats.org/officeDocument/2006/relationships/notesSlide" Target="../notesSlides/notesSlide141.xml"/></Relationships>
</file>

<file path=ppt/slides/_rels/slide1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142.xml"/></Relationships>
</file>

<file path=ppt/slides/_rels/slide14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3.xml"/></Relationships>
</file>

<file path=ppt/slides/_rels/slide1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8.png"/><Relationship Id="rId4" Type="http://schemas.openxmlformats.org/officeDocument/2006/relationships/notesSlide" Target="../notesSlides/notesSlide144.xml"/></Relationships>
</file>

<file path=ppt/slides/_rels/slide1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9.png"/><Relationship Id="rId4" Type="http://schemas.openxmlformats.org/officeDocument/2006/relationships/notesSlide" Target="../notesSlides/notesSlide145.xml"/></Relationships>
</file>

<file path=ppt/slides/_rels/slide1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0.png"/><Relationship Id="rId4" Type="http://schemas.openxmlformats.org/officeDocument/2006/relationships/notesSlide" Target="../notesSlides/notesSlide146.xml"/></Relationships>
</file>

<file path=ppt/slides/_rels/slide1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47.xml"/></Relationships>
</file>

<file path=ppt/slides/_rels/slide1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1.png"/><Relationship Id="rId4" Type="http://schemas.openxmlformats.org/officeDocument/2006/relationships/notesSlide" Target="../notesSlides/notesSlide148.xml"/></Relationships>
</file>

<file path=ppt/slides/_rels/slide1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2.png"/><Relationship Id="rId4" Type="http://schemas.openxmlformats.org/officeDocument/2006/relationships/notesSlide" Target="../notesSlides/notesSlide149.xml"/></Relationships>
</file>

<file path=ppt/slides/_rels/slide1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3.png"/><Relationship Id="rId4" Type="http://schemas.openxmlformats.org/officeDocument/2006/relationships/notesSlide" Target="../notesSlides/notesSlide150.xml"/></Relationships>
</file>

<file path=ppt/slides/_rels/slide1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4.png"/><Relationship Id="rId4" Type="http://schemas.openxmlformats.org/officeDocument/2006/relationships/notesSlide" Target="../notesSlides/notesSlide151.xml"/></Relationships>
</file>

<file path=ppt/slides/_rels/slide1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5.png"/><Relationship Id="rId4" Type="http://schemas.openxmlformats.org/officeDocument/2006/relationships/notesSlide" Target="../notesSlides/notesSlide152.xml"/></Relationships>
</file>

<file path=ppt/slides/_rels/slide1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6.png"/><Relationship Id="rId4" Type="http://schemas.openxmlformats.org/officeDocument/2006/relationships/notesSlide" Target="../notesSlides/notesSlide153.xml"/></Relationships>
</file>

<file path=ppt/slides/_rels/slide1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54.xml"/></Relationships>
</file>

<file path=ppt/slides/_rels/slide1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7.png"/><Relationship Id="rId4" Type="http://schemas.openxmlformats.org/officeDocument/2006/relationships/notesSlide" Target="../notesSlides/notesSlide155.xml"/></Relationships>
</file>

<file path=ppt/slides/_rels/slide1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8.png"/><Relationship Id="rId4" Type="http://schemas.openxmlformats.org/officeDocument/2006/relationships/notesSlide" Target="../notesSlides/notesSlide156.xml"/></Relationships>
</file>

<file path=ppt/slides/_rels/slide1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39.png"/><Relationship Id="rId4" Type="http://schemas.openxmlformats.org/officeDocument/2006/relationships/notesSlide" Target="../notesSlides/notesSlide157.xml"/></Relationships>
</file>

<file path=ppt/slides/_rels/slide1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0.png"/><Relationship Id="rId4" Type="http://schemas.openxmlformats.org/officeDocument/2006/relationships/notesSlide" Target="../notesSlides/notesSlide158.xml"/></Relationships>
</file>

<file path=ppt/slides/_rels/slide1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4.png"/><Relationship Id="rId4" Type="http://schemas.openxmlformats.org/officeDocument/2006/relationships/notesSlide" Target="../notesSlides/notesSlide159.xml"/></Relationships>
</file>

<file path=ppt/slides/_rels/slide1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83.png"/><Relationship Id="rId4" Type="http://schemas.openxmlformats.org/officeDocument/2006/relationships/notesSlide" Target="../notesSlides/notesSlide160.xml"/></Relationships>
</file>

<file path=ppt/slides/_rels/slide1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1.png"/><Relationship Id="rId4" Type="http://schemas.openxmlformats.org/officeDocument/2006/relationships/notesSlide" Target="../notesSlides/notesSlide161.xml"/></Relationships>
</file>

<file path=ppt/slides/_rels/slide1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2.png"/><Relationship Id="rId4" Type="http://schemas.openxmlformats.org/officeDocument/2006/relationships/notesSlide" Target="../notesSlides/notesSlide162.xml"/></Relationships>
</file>

<file path=ppt/slides/_rels/slide1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63.xml"/></Relationships>
</file>

<file path=ppt/slides/_rels/slide1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3.png"/><Relationship Id="rId4" Type="http://schemas.openxmlformats.org/officeDocument/2006/relationships/notesSlide" Target="../notesSlides/notesSlide164.xml"/></Relationships>
</file>

<file path=ppt/slides/_rels/slide1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4.png"/><Relationship Id="rId4" Type="http://schemas.openxmlformats.org/officeDocument/2006/relationships/notesSlide" Target="../notesSlides/notesSlide165.xml"/></Relationships>
</file>

<file path=ppt/slides/_rels/slide1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5.png"/><Relationship Id="rId4" Type="http://schemas.openxmlformats.org/officeDocument/2006/relationships/notesSlide" Target="../notesSlides/notesSlide166.xml"/></Relationships>
</file>

<file path=ppt/slides/_rels/slide1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6.png"/><Relationship Id="rId4" Type="http://schemas.openxmlformats.org/officeDocument/2006/relationships/notesSlide" Target="../notesSlides/notesSlide167.xml"/></Relationships>
</file>

<file path=ppt/slides/_rels/slide1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7.png"/><Relationship Id="rId4" Type="http://schemas.openxmlformats.org/officeDocument/2006/relationships/notesSlide" Target="../notesSlides/notesSlide168.xml"/></Relationships>
</file>

<file path=ppt/slides/_rels/slide1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8.png"/><Relationship Id="rId4" Type="http://schemas.openxmlformats.org/officeDocument/2006/relationships/notesSlide" Target="../notesSlides/notesSlide169.xml"/></Relationships>
</file>

<file path=ppt/slides/_rels/slide1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49.png"/><Relationship Id="rId4" Type="http://schemas.openxmlformats.org/officeDocument/2006/relationships/notesSlide" Target="../notesSlides/notesSlide170.xml"/></Relationships>
</file>

<file path=ppt/slides/_rels/slide1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0.png"/><Relationship Id="rId4" Type="http://schemas.openxmlformats.org/officeDocument/2006/relationships/notesSlide" Target="../notesSlides/notesSlide171.xml"/></Relationships>
</file>

<file path=ppt/slides/_rels/slide1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1.png"/><Relationship Id="rId4" Type="http://schemas.openxmlformats.org/officeDocument/2006/relationships/notesSlide" Target="../notesSlides/notesSlide172.xml"/></Relationships>
</file>

<file path=ppt/slides/_rels/slide1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2.png"/><Relationship Id="rId4" Type="http://schemas.openxmlformats.org/officeDocument/2006/relationships/notesSlide" Target="../notesSlides/notesSlide173.xml"/></Relationships>
</file>

<file path=ppt/slides/_rels/slide1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74.xml"/></Relationships>
</file>

<file path=ppt/slides/_rels/slide1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1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3.png"/><Relationship Id="rId4" Type="http://schemas.openxmlformats.org/officeDocument/2006/relationships/notesSlide" Target="../notesSlides/notesSlide175.xml"/></Relationships>
</file>

<file path=ppt/slides/_rels/slide1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4.png"/><Relationship Id="rId4" Type="http://schemas.openxmlformats.org/officeDocument/2006/relationships/notesSlide" Target="../notesSlides/notesSlide176.xml"/></Relationships>
</file>

<file path=ppt/slides/_rels/slide1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5.png"/><Relationship Id="rId4" Type="http://schemas.openxmlformats.org/officeDocument/2006/relationships/notesSlide" Target="../notesSlides/notesSlide177.xml"/></Relationships>
</file>

<file path=ppt/slides/_rels/slide2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6.png"/><Relationship Id="rId4" Type="http://schemas.openxmlformats.org/officeDocument/2006/relationships/notesSlide" Target="../notesSlides/notesSlide178.xml"/></Relationships>
</file>

<file path=ppt/slides/_rels/slide2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7.png"/><Relationship Id="rId4" Type="http://schemas.openxmlformats.org/officeDocument/2006/relationships/notesSlide" Target="../notesSlides/notesSlide179.xml"/></Relationships>
</file>

<file path=ppt/slides/_rels/slide2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8.png"/><Relationship Id="rId4" Type="http://schemas.openxmlformats.org/officeDocument/2006/relationships/notesSlide" Target="../notesSlides/notesSlide180.xml"/></Relationships>
</file>

<file path=ppt/slides/_rels/slide2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1.xml"/></Relationships>
</file>

<file path=ppt/slides/_rels/slide2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59.png"/><Relationship Id="rId4" Type="http://schemas.openxmlformats.org/officeDocument/2006/relationships/notesSlide" Target="../notesSlides/notesSlide182.xml"/></Relationships>
</file>

<file path=ppt/slides/_rels/slide2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0.png"/><Relationship Id="rId4" Type="http://schemas.openxmlformats.org/officeDocument/2006/relationships/notesSlide" Target="../notesSlides/notesSlide183.xml"/></Relationships>
</file>

<file path=ppt/slides/_rels/slide2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1.png"/><Relationship Id="rId4" Type="http://schemas.openxmlformats.org/officeDocument/2006/relationships/notesSlide" Target="../notesSlides/notesSlide184.xml"/></Relationships>
</file>

<file path=ppt/slides/_rels/slide2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1.png"/><Relationship Id="rId4" Type="http://schemas.openxmlformats.org/officeDocument/2006/relationships/notesSlide" Target="../notesSlides/notesSlide185.xml"/></Relationships>
</file>

<file path=ppt/slides/_rels/slide2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186.xml"/></Relationships>
</file>

<file path=ppt/slides/_rels/slide2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2.png"/><Relationship Id="rId4" Type="http://schemas.openxmlformats.org/officeDocument/2006/relationships/notesSlide" Target="../notesSlides/notesSlide187.xml"/></Relationships>
</file>

<file path=ppt/slides/_rels/slide2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3.png"/><Relationship Id="rId4" Type="http://schemas.openxmlformats.org/officeDocument/2006/relationships/notesSlide" Target="../notesSlides/notesSlide188.xml"/></Relationships>
</file>

<file path=ppt/slides/_rels/slide2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4.png"/><Relationship Id="rId4" Type="http://schemas.openxmlformats.org/officeDocument/2006/relationships/notesSlide" Target="../notesSlides/notesSlide189.xml"/></Relationships>
</file>

<file path=ppt/slides/_rels/slide2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5.png"/><Relationship Id="rId4" Type="http://schemas.openxmlformats.org/officeDocument/2006/relationships/notesSlide" Target="../notesSlides/notesSlide190.xml"/></Relationships>
</file>

<file path=ppt/slides/_rels/slide2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6.png"/><Relationship Id="rId4" Type="http://schemas.openxmlformats.org/officeDocument/2006/relationships/notesSlide" Target="../notesSlides/notesSlide191.xml"/></Relationships>
</file>

<file path=ppt/slides/_rels/slide2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7.png"/><Relationship Id="rId4" Type="http://schemas.openxmlformats.org/officeDocument/2006/relationships/notesSlide" Target="../notesSlides/notesSlide192.xml"/></Relationships>
</file>

<file path=ppt/slides/_rels/slide2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96.png"/><Relationship Id="rId4" Type="http://schemas.openxmlformats.org/officeDocument/2006/relationships/notesSlide" Target="../notesSlides/notesSlide193.xml"/></Relationships>
</file>

<file path=ppt/slides/_rels/slide2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8.png"/><Relationship Id="rId4" Type="http://schemas.openxmlformats.org/officeDocument/2006/relationships/notesSlide" Target="../notesSlides/notesSlide194.xml"/></Relationships>
</file>

<file path=ppt/slides/_rels/slide2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69.png"/><Relationship Id="rId4" Type="http://schemas.openxmlformats.org/officeDocument/2006/relationships/notesSlide" Target="../notesSlides/notesSlide195.xml"/></Relationships>
</file>

<file path=ppt/slides/_rels/slide2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0.png"/><Relationship Id="rId4" Type="http://schemas.openxmlformats.org/officeDocument/2006/relationships/notesSlide" Target="../notesSlides/notesSlide196.xml"/></Relationships>
</file>

<file path=ppt/slides/_rels/slide2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1.png"/><Relationship Id="rId4" Type="http://schemas.openxmlformats.org/officeDocument/2006/relationships/notesSlide" Target="../notesSlides/notesSlide197.xml"/></Relationships>
</file>

<file path=ppt/slides/_rels/slide2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2.png"/><Relationship Id="rId4" Type="http://schemas.openxmlformats.org/officeDocument/2006/relationships/notesSlide" Target="../notesSlides/notesSlide198.xml"/></Relationships>
</file>

<file path=ppt/slides/_rels/slide2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3.png"/><Relationship Id="rId4" Type="http://schemas.openxmlformats.org/officeDocument/2006/relationships/notesSlide" Target="../notesSlides/notesSlide199.xml"/></Relationships>
</file>

<file path=ppt/slides/_rels/slide2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4.png"/><Relationship Id="rId4" Type="http://schemas.openxmlformats.org/officeDocument/2006/relationships/notesSlide" Target="../notesSlides/notesSlide200.xml"/></Relationships>
</file>

<file path=ppt/slides/_rels/slide2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1.xml"/></Relationships>
</file>

<file path=ppt/slides/_rels/slide2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5.png"/><Relationship Id="rId4" Type="http://schemas.openxmlformats.org/officeDocument/2006/relationships/notesSlide" Target="../notesSlides/notesSlide202.xml"/></Relationships>
</file>

<file path=ppt/slides/_rels/slide2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6.png"/><Relationship Id="rId4" Type="http://schemas.openxmlformats.org/officeDocument/2006/relationships/notesSlide" Target="../notesSlides/notesSlide203.xml"/></Relationships>
</file>

<file path=ppt/slides/_rels/slide2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7.png"/><Relationship Id="rId4" Type="http://schemas.openxmlformats.org/officeDocument/2006/relationships/notesSlide" Target="../notesSlides/notesSlide204.xml"/></Relationships>
</file>

<file path=ppt/slides/_rels/slide2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8.png"/><Relationship Id="rId4" Type="http://schemas.openxmlformats.org/officeDocument/2006/relationships/notesSlide" Target="../notesSlides/notesSlide205.xml"/></Relationships>
</file>

<file path=ppt/slides/_rels/slide23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06.xml"/></Relationships>
</file>

<file path=ppt/slides/_rels/slide2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79.png"/><Relationship Id="rId4" Type="http://schemas.openxmlformats.org/officeDocument/2006/relationships/notesSlide" Target="../notesSlides/notesSlide207.xml"/></Relationships>
</file>

<file path=ppt/slides/_rels/slide24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0.png"/><Relationship Id="rId4" Type="http://schemas.openxmlformats.org/officeDocument/2006/relationships/notesSlide" Target="../notesSlides/notesSlide208.xml"/></Relationships>
</file>

<file path=ppt/slides/_rels/slide24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1.png"/><Relationship Id="rId4" Type="http://schemas.openxmlformats.org/officeDocument/2006/relationships/notesSlide" Target="../notesSlides/notesSlide209.xml"/></Relationships>
</file>

<file path=ppt/slides/_rels/slide24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0.png"/><Relationship Id="rId4" Type="http://schemas.openxmlformats.org/officeDocument/2006/relationships/notesSlide" Target="../notesSlides/notesSlide210.xml"/></Relationships>
</file>

<file path=ppt/slides/_rels/slide24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1.xml"/></Relationships>
</file>

<file path=ppt/slides/_rels/slide24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4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2.png"/><Relationship Id="rId4" Type="http://schemas.openxmlformats.org/officeDocument/2006/relationships/notesSlide" Target="../notesSlides/notesSlide212.xml"/></Relationships>
</file>

<file path=ppt/slides/_rels/slide25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3.png"/><Relationship Id="rId4" Type="http://schemas.openxmlformats.org/officeDocument/2006/relationships/notesSlide" Target="../notesSlides/notesSlide213.xml"/></Relationships>
</file>

<file path=ppt/slides/_rels/slide25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4.xml"/></Relationships>
</file>

<file path=ppt/slides/_rels/slide25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5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0.png"/><Relationship Id="rId4" Type="http://schemas.openxmlformats.org/officeDocument/2006/relationships/notesSlide" Target="../notesSlides/notesSlide215.xml"/></Relationships>
</file>

<file path=ppt/slides/_rels/slide25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9.png"/><Relationship Id="rId4" Type="http://schemas.openxmlformats.org/officeDocument/2006/relationships/notesSlide" Target="../notesSlides/notesSlide216.xml"/></Relationships>
</file>

<file path=ppt/slides/_rels/slide25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17.xml"/></Relationships>
</file>

<file path=ppt/slides/_rels/slide26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6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4.png"/><Relationship Id="rId4" Type="http://schemas.openxmlformats.org/officeDocument/2006/relationships/notesSlide" Target="../notesSlides/notesSlide218.xml"/></Relationships>
</file>

<file path=ppt/slides/_rels/slide26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5.png"/><Relationship Id="rId4" Type="http://schemas.openxmlformats.org/officeDocument/2006/relationships/notesSlide" Target="../notesSlides/notesSlide219.xml"/></Relationships>
</file>

<file path=ppt/slides/_rels/slide26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6.png"/><Relationship Id="rId4" Type="http://schemas.openxmlformats.org/officeDocument/2006/relationships/notesSlide" Target="../notesSlides/notesSlide220.xml"/></Relationships>
</file>

<file path=ppt/slides/_rels/slide26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7.png"/><Relationship Id="rId4" Type="http://schemas.openxmlformats.org/officeDocument/2006/relationships/notesSlide" Target="../notesSlides/notesSlide221.xml"/></Relationships>
</file>

<file path=ppt/slides/_rels/slide26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8.png"/><Relationship Id="rId4" Type="http://schemas.openxmlformats.org/officeDocument/2006/relationships/notesSlide" Target="../notesSlides/notesSlide222.xml"/></Relationships>
</file>

<file path=ppt/slides/_rels/slide26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03.png"/><Relationship Id="rId4" Type="http://schemas.openxmlformats.org/officeDocument/2006/relationships/notesSlide" Target="../notesSlides/notesSlide223.xml"/></Relationships>
</file>

<file path=ppt/slides/_rels/slide26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89.png"/><Relationship Id="rId4" Type="http://schemas.openxmlformats.org/officeDocument/2006/relationships/notesSlide" Target="../notesSlides/notesSlide224.xml"/></Relationships>
</file>

<file path=ppt/slides/_rels/slide27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0.png"/><Relationship Id="rId4" Type="http://schemas.openxmlformats.org/officeDocument/2006/relationships/notesSlide" Target="../notesSlides/notesSlide225.xml"/></Relationships>
</file>

<file path=ppt/slides/_rels/slide27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1.png"/><Relationship Id="rId4" Type="http://schemas.openxmlformats.org/officeDocument/2006/relationships/notesSlide" Target="../notesSlides/notesSlide226.xml"/></Relationships>
</file>

<file path=ppt/slides/_rels/slide27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2.png"/><Relationship Id="rId4" Type="http://schemas.openxmlformats.org/officeDocument/2006/relationships/notesSlide" Target="../notesSlides/notesSlide227.xml"/></Relationships>
</file>

<file path=ppt/slides/_rels/slide27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28.xml"/></Relationships>
</file>

<file path=ppt/slides/_rels/slide27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7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3.png"/><Relationship Id="rId4" Type="http://schemas.openxmlformats.org/officeDocument/2006/relationships/notesSlide" Target="../notesSlides/notesSlide229.xml"/></Relationships>
</file>

<file path=ppt/slides/_rels/slide27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4.png"/><Relationship Id="rId4" Type="http://schemas.openxmlformats.org/officeDocument/2006/relationships/notesSlide" Target="../notesSlides/notesSlide230.xml"/></Relationships>
</file>

<file path=ppt/slides/_rels/slide27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5.png"/><Relationship Id="rId4" Type="http://schemas.openxmlformats.org/officeDocument/2006/relationships/notesSlide" Target="../notesSlides/notesSlide231.xml"/></Relationships>
</file>

<file path=ppt/slides/_rels/slide28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32.xml"/></Relationships>
</file>

<file path=ppt/slides/_rels/slide28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8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3.png"/><Relationship Id="rId4" Type="http://schemas.openxmlformats.org/officeDocument/2006/relationships/notesSlide" Target="../notesSlides/notesSlide233.xml"/></Relationships>
</file>

<file path=ppt/slides/_rels/slide28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6.png"/><Relationship Id="rId4" Type="http://schemas.openxmlformats.org/officeDocument/2006/relationships/notesSlide" Target="../notesSlides/notesSlide234.xml"/></Relationships>
</file>

<file path=ppt/slides/_rels/slide28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7.png"/><Relationship Id="rId4" Type="http://schemas.openxmlformats.org/officeDocument/2006/relationships/notesSlide" Target="../notesSlides/notesSlide235.xml"/></Relationships>
</file>

<file path=ppt/slides/_rels/slide28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8.png"/><Relationship Id="rId4" Type="http://schemas.openxmlformats.org/officeDocument/2006/relationships/notesSlide" Target="../notesSlides/notesSlide236.xml"/></Relationships>
</file>

<file path=ppt/slides/_rels/slide28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99.png"/><Relationship Id="rId4" Type="http://schemas.openxmlformats.org/officeDocument/2006/relationships/notesSlide" Target="../notesSlides/notesSlide237.xml"/></Relationships>
</file>

<file path=ppt/slides/_rels/slide28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0.png"/><Relationship Id="rId4" Type="http://schemas.openxmlformats.org/officeDocument/2006/relationships/notesSlide" Target="../notesSlides/notesSlide238.xml"/></Relationships>
</file>

<file path=ppt/slides/_rels/slide29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1.png"/><Relationship Id="rId4" Type="http://schemas.openxmlformats.org/officeDocument/2006/relationships/notesSlide" Target="../notesSlides/notesSlide239.xml"/></Relationships>
</file>

<file path=ppt/slides/_rels/slide29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2.png"/><Relationship Id="rId4" Type="http://schemas.openxmlformats.org/officeDocument/2006/relationships/notesSlide" Target="../notesSlides/notesSlide240.xml"/></Relationships>
</file>

<file path=ppt/slides/_rels/slide29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1.xml"/></Relationships>
</file>

<file path=ppt/slides/_rels/slide29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27.png"/><Relationship Id="rId4" Type="http://schemas.openxmlformats.org/officeDocument/2006/relationships/notesSlide" Target="../notesSlides/notesSlide242.xml"/></Relationships>
</file>

<file path=ppt/slides/_rels/slide29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3.xml"/></Relationships>
</file>

<file path=ppt/slides/_rels/slide29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9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3.png"/><Relationship Id="rId4" Type="http://schemas.openxmlformats.org/officeDocument/2006/relationships/notesSlide" Target="../notesSlides/notesSlide244.xml"/></Relationships>
</file>

<file path=ppt/slides/_rels/slide30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4.png"/><Relationship Id="rId4" Type="http://schemas.openxmlformats.org/officeDocument/2006/relationships/notesSlide" Target="../notesSlides/notesSlide245.xml"/></Relationships>
</file>

<file path=ppt/slides/_rels/slide30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46.xml"/></Relationships>
</file>

<file path=ppt/slides/_rels/slide30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0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3.png"/><Relationship Id="rId4" Type="http://schemas.openxmlformats.org/officeDocument/2006/relationships/notesSlide" Target="../notesSlides/notesSlide247.xml"/></Relationships>
</file>

<file path=ppt/slides/_rels/slide30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4.png"/><Relationship Id="rId4" Type="http://schemas.openxmlformats.org/officeDocument/2006/relationships/notesSlide" Target="../notesSlides/notesSlide248.xml"/></Relationships>
</file>

<file path=ppt/slides/_rels/slide30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5.png"/><Relationship Id="rId4" Type="http://schemas.openxmlformats.org/officeDocument/2006/relationships/notesSlide" Target="../notesSlides/notesSlide249.xml"/></Relationships>
</file>

<file path=ppt/slides/_rels/slide3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0.xml"/></Relationships>
</file>

<file path=ppt/slides/_rels/slide3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6.png"/><Relationship Id="rId4" Type="http://schemas.openxmlformats.org/officeDocument/2006/relationships/notesSlide" Target="../notesSlides/notesSlide251.xml"/></Relationships>
</file>

<file path=ppt/slides/_rels/slide3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7.png"/><Relationship Id="rId4" Type="http://schemas.openxmlformats.org/officeDocument/2006/relationships/notesSlide" Target="../notesSlides/notesSlide252.xml"/></Relationships>
</file>

<file path=ppt/slides/_rels/slide3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8.png"/><Relationship Id="rId4" Type="http://schemas.openxmlformats.org/officeDocument/2006/relationships/notesSlide" Target="../notesSlides/notesSlide253.xml"/></Relationships>
</file>

<file path=ppt/slides/_rels/slide3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09.png"/><Relationship Id="rId4" Type="http://schemas.openxmlformats.org/officeDocument/2006/relationships/notesSlide" Target="../notesSlides/notesSlide254.xml"/></Relationships>
</file>

<file path=ppt/slides/_rels/slide3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119.png"/><Relationship Id="rId4" Type="http://schemas.openxmlformats.org/officeDocument/2006/relationships/notesSlide" Target="../notesSlides/notesSlide255.xml"/></Relationships>
</file>

<file path=ppt/slides/_rels/slide3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6.xml"/></Relationships>
</file>

<file path=ppt/slides/_rels/slide3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0.png"/><Relationship Id="rId4" Type="http://schemas.openxmlformats.org/officeDocument/2006/relationships/notesSlide" Target="../notesSlides/notesSlide257.xml"/></Relationships>
</file>

<file path=ppt/slides/_rels/slide3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1.png"/><Relationship Id="rId4" Type="http://schemas.openxmlformats.org/officeDocument/2006/relationships/notesSlide" Target="../notesSlides/notesSlide258.xml"/></Relationships>
</file>

<file path=ppt/slides/_rels/slide3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59.xml"/></Relationships>
</file>

<file path=ppt/slides/_rels/slide3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2.png"/><Relationship Id="rId4" Type="http://schemas.openxmlformats.org/officeDocument/2006/relationships/notesSlide" Target="../notesSlides/notesSlide260.xml"/></Relationships>
</file>

<file path=ppt/slides/_rels/slide33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3.png"/><Relationship Id="rId4" Type="http://schemas.openxmlformats.org/officeDocument/2006/relationships/notesSlide" Target="../notesSlides/notesSlide261.xml"/></Relationships>
</file>

<file path=ppt/slides/_rels/slide3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image" Target="../media/image214.png"/><Relationship Id="rId4" Type="http://schemas.openxmlformats.org/officeDocument/2006/relationships/notesSlide" Target="../notesSlides/notesSlide262.xml"/></Relationships>
</file>

<file path=ppt/slides/_rels/slide33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3.xml"/></Relationships>
</file>

<file path=ppt/slides/_rels/slide3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4.xml"/></Relationships>
</file>

<file path=ppt/slides/_rels/slide3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5.xml"/></Relationships>
</file>

<file path=ppt/slides/_rels/slide3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6.xml"/></Relationships>
</file>

<file path=ppt/slides/_rels/slide34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 Id="rId3" Type="http://schemas.openxmlformats.org/officeDocument/2006/relationships/notesSlide" Target="../notesSlides/notesSlide26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pic>
        <p:nvPicPr>
          <p:cNvPr id="2" name="Picture 1" descr="client-logo.png"/>
          <p:cNvPicPr>
            <a:picLocks noChangeAspect="1"/>
          </p:cNvPicPr>
          <p:nvPr/>
        </p:nvPicPr>
        <p:blipFill>
          <a:blip r:embed="rId2"/>
          <a:stretch>
            <a:fillRect/>
          </a:stretch>
        </p:blipFill>
        <p:spPr>
          <a:xfrm>
            <a:off x="548640" y="548640"/>
            <a:ext cx="2926080" cy="596053"/>
          </a:xfrm>
          <a:prstGeom prst="rect">
            <a:avLst/>
          </a:prstGeom>
        </p:spPr>
      </p:pic>
      <p:sp>
        <p:nvSpPr>
          <p:cNvPr id="3" name="TextBox 2"/>
          <p:cNvSpPr txBox="1"/>
          <p:nvPr/>
        </p:nvSpPr>
        <p:spPr>
          <a:xfrm>
            <a:off x="548640" y="2194560"/>
            <a:ext cx="10058400" cy="1280160"/>
          </a:xfrm>
          <a:prstGeom prst="rect">
            <a:avLst/>
          </a:prstGeom>
          <a:noFill/>
        </p:spPr>
        <p:txBody>
          <a:bodyPr wrap="square" anchor="b" lIns="45720" rIns="45720">
            <a:spAutoFit/>
          </a:bodyPr>
          <a:lstStyle/>
          <a:p>
            <a:r>
              <a:rPr sz="4000" b="1" i="0">
                <a:solidFill>
                  <a:srgbClr val="004EA8"/>
                </a:solidFill>
                <a:latin typeface="Arial"/>
              </a:rPr>
              <a:t>UX Screen Deck: BRD-13 Data Migration</a:t>
            </a:r>
          </a:p>
        </p:txBody>
      </p:sp>
      <p:sp>
        <p:nvSpPr>
          <p:cNvPr id="4" name="Rectangle 3"/>
          <p:cNvSpPr/>
          <p:nvPr/>
        </p:nvSpPr>
        <p:spPr>
          <a:xfrm>
            <a:off x="548640" y="3611880"/>
            <a:ext cx="201168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794760"/>
            <a:ext cx="10058400" cy="548640"/>
          </a:xfrm>
          <a:prstGeom prst="rect">
            <a:avLst/>
          </a:prstGeom>
          <a:noFill/>
        </p:spPr>
        <p:txBody>
          <a:bodyPr wrap="square" anchor="t" lIns="45720" rIns="45720">
            <a:spAutoFit/>
          </a:bodyPr>
          <a:lstStyle/>
          <a:p>
            <a:r>
              <a:rPr sz="2000" b="0" i="0">
                <a:solidFill>
                  <a:srgbClr val="2E2E2E"/>
                </a:solidFill>
                <a:latin typeface="Arial"/>
              </a:rPr>
              <a:t>BRD-13 Data Migration: every screen, persona by persona and flow by flow, for the BDOI UX Design team</a:t>
            </a:r>
          </a:p>
        </p:txBody>
      </p:sp>
      <p:sp>
        <p:nvSpPr>
          <p:cNvPr id="6" name="TextBox 5"/>
          <p:cNvSpPr txBox="1"/>
          <p:nvPr/>
        </p:nvSpPr>
        <p:spPr>
          <a:xfrm>
            <a:off x="548640" y="4343400"/>
            <a:ext cx="10058400" cy="457200"/>
          </a:xfrm>
          <a:prstGeom prst="rect">
            <a:avLst/>
          </a:prstGeom>
          <a:noFill/>
        </p:spPr>
        <p:txBody>
          <a:bodyPr wrap="square" anchor="t" lIns="45720" rIns="45720">
            <a:spAutoFit/>
          </a:bodyPr>
          <a:lstStyle/>
          <a:p>
            <a:r>
              <a:rPr sz="1600" b="0" i="0">
                <a:solidFill>
                  <a:srgbClr val="656565"/>
                </a:solidFill>
                <a:latin typeface="Arial"/>
              </a:rPr>
              <a:t>BIBS – BDOI Broker System</a:t>
            </a:r>
          </a:p>
        </p:txBody>
      </p:sp>
      <p:sp>
        <p:nvSpPr>
          <p:cNvPr id="7" name="TextBox 6"/>
          <p:cNvSpPr txBox="1"/>
          <p:nvPr/>
        </p:nvSpPr>
        <p:spPr>
          <a:xfrm>
            <a:off x="548640" y="5943600"/>
            <a:ext cx="8229600" cy="365760"/>
          </a:xfrm>
          <a:prstGeom prst="rect">
            <a:avLst/>
          </a:prstGeom>
          <a:noFill/>
        </p:spPr>
        <p:txBody>
          <a:bodyPr wrap="square" anchor="t" lIns="45720" rIns="45720">
            <a:spAutoFit/>
          </a:bodyPr>
          <a:lstStyle/>
          <a:p>
            <a:r>
              <a:rPr sz="1100" b="0" i="0">
                <a:solidFill>
                  <a:srgbClr val="656565"/>
                </a:solidFill>
                <a:latin typeface="Arial"/>
              </a:rPr>
              <a:t>BDO Insurance and Reinsurance Brokers, Inc. | Version 2.0 | 5 October 2026 | Confidential</a:t>
            </a:r>
          </a:p>
        </p:txBody>
      </p:sp>
      <p:sp>
        <p:nvSpPr>
          <p:cNvPr id="8" name="TextBox 7"/>
          <p:cNvSpPr txBox="1"/>
          <p:nvPr/>
        </p:nvSpPr>
        <p:spPr>
          <a:xfrm>
            <a:off x="8351215" y="5897880"/>
            <a:ext cx="1828800" cy="365760"/>
          </a:xfrm>
          <a:prstGeom prst="rect">
            <a:avLst/>
          </a:prstGeom>
          <a:noFill/>
        </p:spPr>
        <p:txBody>
          <a:bodyPr wrap="square" anchor="ctr" lIns="45720" rIns="45720">
            <a:spAutoFit/>
          </a:bodyPr>
          <a:lstStyle/>
          <a:p>
            <a:pPr algn="r"/>
            <a:r>
              <a:rPr sz="1000" b="0" i="0">
                <a:solidFill>
                  <a:srgbClr val="656565"/>
                </a:solidFill>
                <a:latin typeface="Arial"/>
              </a:rPr>
              <a:t>Prepared by</a:t>
            </a:r>
          </a:p>
        </p:txBody>
      </p:sp>
      <p:pic>
        <p:nvPicPr>
          <p:cNvPr id="9" name="Picture 8" descr="iorta-technxt.png"/>
          <p:cNvPicPr>
            <a:picLocks noChangeAspect="1"/>
          </p:cNvPicPr>
          <p:nvPr/>
        </p:nvPicPr>
        <p:blipFill>
          <a:blip r:embed="rId3"/>
          <a:stretch>
            <a:fillRect/>
          </a:stretch>
        </p:blipFill>
        <p:spPr>
          <a:xfrm>
            <a:off x="10271455" y="5806440"/>
            <a:ext cx="1371600" cy="404213"/>
          </a:xfrm>
          <a:prstGeom prst="rect">
            <a:avLst/>
          </a:prstGeom>
        </p:spPr>
      </p:pic>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Purpose of this deck for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Every screen of BRD-13 Data Migration as the Data Migration Handbook v2.0 specifies it, so that the UX Design team designs in parallel with the business review</a:t>
            </a:r>
          </a:p>
          <a:p>
            <a:pPr lvl="1">
              <a:spcAft>
                <a:spcPts val="600"/>
              </a:spcAft>
            </a:pPr>
            <a:r>
              <a:rPr sz="1400">
                <a:solidFill>
                  <a:srgbClr val="656565"/>
                </a:solidFill>
                <a:latin typeface="Arial"/>
              </a:rPr>
              <a:t>–  </a:t>
            </a:r>
            <a:r>
              <a:rPr sz="1400">
                <a:solidFill>
                  <a:srgbClr val="4B4B4B"/>
                </a:solidFill>
                <a:latin typeface="Arial"/>
              </a:rPr>
              <a:t>20 screens, 75 screen images, 34 screen states, 15 personas, 4 end-to-end flows</a:t>
            </a:r>
          </a:p>
          <a:p>
            <a:pPr>
              <a:spcAft>
                <a:spcPts val="600"/>
              </a:spcAft>
            </a:pPr>
            <a:r>
              <a:rPr sz="1600">
                <a:solidFill>
                  <a:srgbClr val="004EA8"/>
                </a:solidFill>
                <a:latin typeface="Arial"/>
              </a:rPr>
              <a:t>•  </a:t>
            </a:r>
            <a:r>
              <a:rPr sz="1600">
                <a:solidFill>
                  <a:srgbClr val="4B4B4B"/>
                </a:solidFill>
                <a:latin typeface="Arial"/>
              </a:rPr>
              <a:t>Persona by persona: who they are, their landing page and menu, the screens they open, the flows they take part in</a:t>
            </a:r>
          </a:p>
          <a:p>
            <a:pPr>
              <a:spcAft>
                <a:spcPts val="600"/>
              </a:spcAft>
            </a:pPr>
            <a:r>
              <a:rPr sz="1600">
                <a:solidFill>
                  <a:srgbClr val="004EA8"/>
                </a:solidFill>
                <a:latin typeface="Arial"/>
              </a:rPr>
              <a:t>•  </a:t>
            </a:r>
            <a:r>
              <a:rPr sz="1600">
                <a:solidFill>
                  <a:srgbClr val="4B4B4B"/>
                </a:solidFill>
                <a:latin typeface="Arial"/>
              </a:rPr>
              <a:t>Flow by flow: every end-to-end flow as a swimlane of the personas, then one slide per step with the screen, what the user does, what the system does, the next step and the messages shown</a:t>
            </a:r>
          </a:p>
          <a:p>
            <a:pPr>
              <a:spcAft>
                <a:spcPts val="600"/>
              </a:spcAft>
            </a:pPr>
            <a:r>
              <a:rPr sz="1600">
                <a:solidFill>
                  <a:srgbClr val="004EA8"/>
                </a:solidFill>
                <a:latin typeface="Arial"/>
              </a:rPr>
              <a:t>•  </a:t>
            </a:r>
            <a:r>
              <a:rPr sz="1600">
                <a:solidFill>
                  <a:srgbClr val="4B4B4B"/>
                </a:solidFill>
                <a:latin typeface="Arial"/>
              </a:rPr>
              <a:t>Screen by screen: the numbered callouts, fields, actions and every state of each screen</a:t>
            </a:r>
          </a:p>
          <a:p>
            <a:pPr>
              <a:spcAft>
                <a:spcPts val="600"/>
              </a:spcAft>
            </a:pPr>
            <a:r>
              <a:rPr sz="1600">
                <a:solidFill>
                  <a:srgbClr val="004EA8"/>
                </a:solidFill>
                <a:latin typeface="Arial"/>
              </a:rPr>
              <a:t>•  </a:t>
            </a:r>
            <a:r>
              <a:rPr sz="1600">
                <a:solidFill>
                  <a:srgbClr val="4B4B4B"/>
                </a:solidFill>
                <a:latin typeface="Arial"/>
              </a:rPr>
              <a:t>Business and design content only: the screens, the words on them, the rules the user meets and the points to confirm</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How to use the deck, the register and the image package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a:t>
            </a:r>
          </a:p>
        </p:txBody>
      </p:sp>
      <p:sp>
        <p:nvSpPr>
          <p:cNvPr id="9" name="Rectangle 8"/>
          <p:cNvSpPr/>
          <p:nvPr/>
        </p:nvSpPr>
        <p:spPr>
          <a:xfrm>
            <a:off x="548640"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325880"/>
            <a:ext cx="3515258" cy="457200"/>
          </a:xfrm>
          <a:prstGeom prst="rect">
            <a:avLst/>
          </a:prstGeom>
          <a:noFill/>
        </p:spPr>
        <p:txBody>
          <a:bodyPr wrap="square" anchor="ctr" lIns="45720" rIns="45720">
            <a:spAutoFit/>
          </a:bodyPr>
          <a:lstStyle/>
          <a:p>
            <a:r>
              <a:rPr sz="1500" b="1" i="0">
                <a:solidFill>
                  <a:srgbClr val="FFFFFF"/>
                </a:solidFill>
                <a:latin typeface="Arial"/>
              </a:rPr>
              <a:t>07 UX Screen Deck</a:t>
            </a:r>
          </a:p>
        </p:txBody>
      </p:sp>
      <p:sp>
        <p:nvSpPr>
          <p:cNvPr id="11" name="Rectangle 10"/>
          <p:cNvSpPr/>
          <p:nvPr/>
        </p:nvSpPr>
        <p:spPr>
          <a:xfrm>
            <a:off x="548640"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0080"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Read the design foundation and the navigation first</a:t>
            </a:r>
          </a:p>
          <a:p>
            <a:pPr>
              <a:spcAft>
                <a:spcPts val="600"/>
              </a:spcAft>
            </a:pPr>
            <a:r>
              <a:rPr sz="1200">
                <a:solidFill>
                  <a:srgbClr val="004EA8"/>
                </a:solidFill>
                <a:latin typeface="Arial"/>
              </a:rPr>
              <a:t>•  </a:t>
            </a:r>
            <a:r>
              <a:rPr sz="1200">
                <a:solidFill>
                  <a:srgbClr val="4B4B4B"/>
                </a:solidFill>
                <a:latin typeface="Arial"/>
              </a:rPr>
              <a:t>Then a persona, a flow or a screen: the screen ID (SCR-...) links the three parts</a:t>
            </a:r>
          </a:p>
          <a:p>
            <a:pPr>
              <a:spcAft>
                <a:spcPts val="600"/>
              </a:spcAft>
            </a:pPr>
            <a:r>
              <a:rPr sz="1200">
                <a:solidFill>
                  <a:srgbClr val="004EA8"/>
                </a:solidFill>
                <a:latin typeface="Arial"/>
              </a:rPr>
              <a:t>•  </a:t>
            </a:r>
            <a:r>
              <a:rPr sz="1200">
                <a:solidFill>
                  <a:srgbClr val="4B4B4B"/>
                </a:solidFill>
                <a:latin typeface="Arial"/>
              </a:rPr>
              <a:t>Each image slide names its state; tall screens continue on the next slide</a:t>
            </a:r>
          </a:p>
          <a:p>
            <a:pPr>
              <a:spcAft>
                <a:spcPts val="600"/>
              </a:spcAft>
            </a:pPr>
            <a:r>
              <a:rPr sz="1200">
                <a:solidFill>
                  <a:srgbClr val="004EA8"/>
                </a:solidFill>
                <a:latin typeface="Arial"/>
              </a:rPr>
              <a:t>•  </a:t>
            </a:r>
            <a:r>
              <a:rPr sz="1200">
                <a:solidFill>
                  <a:srgbClr val="4B4B4B"/>
                </a:solidFill>
                <a:latin typeface="Arial"/>
              </a:rPr>
              <a:t>Speaker notes give the image file and the FRS section</a:t>
            </a:r>
          </a:p>
        </p:txBody>
      </p:sp>
      <p:sp>
        <p:nvSpPr>
          <p:cNvPr id="13" name="Rectangle 12"/>
          <p:cNvSpPr/>
          <p:nvPr/>
        </p:nvSpPr>
        <p:spPr>
          <a:xfrm>
            <a:off x="4338218"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429658" y="1325880"/>
            <a:ext cx="3515258" cy="457200"/>
          </a:xfrm>
          <a:prstGeom prst="rect">
            <a:avLst/>
          </a:prstGeom>
          <a:noFill/>
        </p:spPr>
        <p:txBody>
          <a:bodyPr wrap="square" anchor="ctr" lIns="45720" rIns="45720">
            <a:spAutoFit/>
          </a:bodyPr>
          <a:lstStyle/>
          <a:p>
            <a:r>
              <a:rPr sz="1500" b="1" i="0">
                <a:solidFill>
                  <a:srgbClr val="FFFFFF"/>
                </a:solidFill>
                <a:latin typeface="Arial"/>
              </a:rPr>
              <a:t>08 UX screen register</a:t>
            </a:r>
          </a:p>
        </p:txBody>
      </p:sp>
      <p:sp>
        <p:nvSpPr>
          <p:cNvPr id="15" name="Rectangle 14"/>
          <p:cNvSpPr/>
          <p:nvPr/>
        </p:nvSpPr>
        <p:spPr>
          <a:xfrm>
            <a:off x="4338218"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429658"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One row per screen image, with the screen ID, personas, flow and step, state, FRS section and requirements</a:t>
            </a:r>
          </a:p>
          <a:p>
            <a:pPr>
              <a:spcAft>
                <a:spcPts val="600"/>
              </a:spcAft>
            </a:pPr>
            <a:r>
              <a:rPr sz="1200">
                <a:solidFill>
                  <a:srgbClr val="004EA8"/>
                </a:solidFill>
                <a:latin typeface="Arial"/>
              </a:rPr>
              <a:t>•  </a:t>
            </a:r>
            <a:r>
              <a:rPr sz="1200">
                <a:solidFill>
                  <a:srgbClr val="4B4B4B"/>
                </a:solidFill>
                <a:latin typeface="Arial"/>
              </a:rPr>
              <a:t>The UX Design team sets UXD status and UXD comments on each row</a:t>
            </a:r>
          </a:p>
          <a:p>
            <a:pPr>
              <a:spcAft>
                <a:spcPts val="600"/>
              </a:spcAft>
            </a:pPr>
            <a:r>
              <a:rPr sz="1200">
                <a:solidFill>
                  <a:srgbClr val="004EA8"/>
                </a:solidFill>
                <a:latin typeface="Arial"/>
              </a:rPr>
              <a:t>•  </a:t>
            </a:r>
            <a:r>
              <a:rPr sz="1200">
                <a:solidFill>
                  <a:srgbClr val="4B4B4B"/>
                </a:solidFill>
                <a:latin typeface="Arial"/>
              </a:rPr>
              <a:t>Changed in this issue marks the rows to revisit, with the change reference</a:t>
            </a:r>
          </a:p>
          <a:p>
            <a:pPr>
              <a:spcAft>
                <a:spcPts val="600"/>
              </a:spcAft>
            </a:pPr>
            <a:r>
              <a:rPr sz="1200">
                <a:solidFill>
                  <a:srgbClr val="004EA8"/>
                </a:solidFill>
                <a:latin typeface="Arial"/>
              </a:rPr>
              <a:t>•  </a:t>
            </a:r>
            <a:r>
              <a:rPr sz="1200">
                <a:solidFill>
                  <a:srgbClr val="4B4B4B"/>
                </a:solidFill>
                <a:latin typeface="Arial"/>
              </a:rPr>
              <a:t>Questions go to the Questions and comments sheet</a:t>
            </a:r>
          </a:p>
        </p:txBody>
      </p:sp>
      <p:sp>
        <p:nvSpPr>
          <p:cNvPr id="17" name="Rectangle 16"/>
          <p:cNvSpPr/>
          <p:nvPr/>
        </p:nvSpPr>
        <p:spPr>
          <a:xfrm>
            <a:off x="8127796" y="1325880"/>
            <a:ext cx="3515258" cy="457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219236" y="1325880"/>
            <a:ext cx="3515258" cy="457200"/>
          </a:xfrm>
          <a:prstGeom prst="rect">
            <a:avLst/>
          </a:prstGeom>
          <a:noFill/>
        </p:spPr>
        <p:txBody>
          <a:bodyPr wrap="square" anchor="ctr" lIns="45720" rIns="45720">
            <a:spAutoFit/>
          </a:bodyPr>
          <a:lstStyle/>
          <a:p>
            <a:r>
              <a:rPr sz="1500" b="1" i="0">
                <a:solidFill>
                  <a:srgbClr val="FFFFFF"/>
                </a:solidFill>
                <a:latin typeface="Arial"/>
              </a:rPr>
              <a:t>09 Image package</a:t>
            </a:r>
          </a:p>
        </p:txBody>
      </p:sp>
      <p:sp>
        <p:nvSpPr>
          <p:cNvPr id="19" name="Rectangle 18"/>
          <p:cNvSpPr/>
          <p:nvPr/>
        </p:nvSpPr>
        <p:spPr>
          <a:xfrm>
            <a:off x="8127796" y="1783080"/>
            <a:ext cx="3515258" cy="43434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8219236" y="1920240"/>
            <a:ext cx="3332378" cy="4160520"/>
          </a:xfrm>
          <a:prstGeom prst="rect">
            <a:avLst/>
          </a:prstGeom>
          <a:noFill/>
        </p:spPr>
        <p:txBody>
          <a:bodyPr wrap="square">
            <a:spAutoFit/>
          </a:bodyPr>
          <a:lstStyle/>
          <a:p>
            <a:pPr>
              <a:spcAft>
                <a:spcPts val="600"/>
              </a:spcAft>
            </a:pPr>
            <a:r>
              <a:rPr sz="1200">
                <a:solidFill>
                  <a:srgbClr val="004EA8"/>
                </a:solidFill>
                <a:latin typeface="Arial"/>
              </a:rPr>
              <a:t>•  </a:t>
            </a:r>
            <a:r>
              <a:rPr sz="1200">
                <a:solidFill>
                  <a:srgbClr val="4B4B4B"/>
                </a:solidFill>
                <a:latin typeface="Arial"/>
              </a:rPr>
              <a:t>Every screen image at twice the screen resolution (PNG), named &lt;Screen ID&gt;_&lt;state&gt;.png as in the register</a:t>
            </a:r>
          </a:p>
          <a:p>
            <a:pPr>
              <a:spcAft>
                <a:spcPts val="600"/>
              </a:spcAft>
            </a:pPr>
            <a:r>
              <a:rPr sz="1200">
                <a:solidFill>
                  <a:srgbClr val="004EA8"/>
                </a:solidFill>
                <a:latin typeface="Arial"/>
              </a:rPr>
              <a:t>•  </a:t>
            </a:r>
            <a:r>
              <a:rPr sz="1200">
                <a:solidFill>
                  <a:srgbClr val="4B4B4B"/>
                </a:solidFill>
                <a:latin typeface="Arial"/>
              </a:rPr>
              <a:t>The crops of the shared components in the folder components</a:t>
            </a:r>
          </a:p>
          <a:p>
            <a:pPr>
              <a:spcAft>
                <a:spcPts val="600"/>
              </a:spcAft>
            </a:pPr>
            <a:r>
              <a:rPr sz="1200">
                <a:solidFill>
                  <a:srgbClr val="004EA8"/>
                </a:solidFill>
                <a:latin typeface="Arial"/>
              </a:rPr>
              <a:t>•  </a:t>
            </a:r>
            <a:r>
              <a:rPr sz="1200">
                <a:solidFill>
                  <a:srgbClr val="4B4B4B"/>
                </a:solidFill>
                <a:latin typeface="Arial"/>
              </a:rPr>
              <a:t>The register as CSV, to import into the design tool</a:t>
            </a:r>
          </a:p>
          <a:p>
            <a:pPr>
              <a:spcAft>
                <a:spcPts val="600"/>
              </a:spcAft>
            </a:pPr>
            <a:r>
              <a:rPr sz="1200">
                <a:solidFill>
                  <a:srgbClr val="004EA8"/>
                </a:solidFill>
                <a:latin typeface="Arial"/>
              </a:rPr>
              <a:t>•  </a:t>
            </a:r>
            <a:r>
              <a:rPr sz="1200">
                <a:solidFill>
                  <a:srgbClr val="4B4B4B"/>
                </a:solidFill>
                <a:latin typeface="Arial"/>
              </a:rPr>
              <a:t>Replaced as a whole with each issue of the set</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How an FRS change reaches the UX Design team</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a:t>
            </a:r>
          </a:p>
        </p:txBody>
      </p:sp>
      <p:sp>
        <p:nvSpPr>
          <p:cNvPr id="9" name="Rounded Rectangle 8"/>
          <p:cNvSpPr/>
          <p:nvPr/>
        </p:nvSpPr>
        <p:spPr>
          <a:xfrm>
            <a:off x="548640"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Oval 9"/>
          <p:cNvSpPr/>
          <p:nvPr/>
        </p:nvSpPr>
        <p:spPr>
          <a:xfrm>
            <a:off x="658368"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1</a:t>
            </a:r>
          </a:p>
        </p:txBody>
      </p:sp>
      <p:sp>
        <p:nvSpPr>
          <p:cNvPr id="11" name="TextBox 10"/>
          <p:cNvSpPr txBox="1"/>
          <p:nvPr/>
        </p:nvSpPr>
        <p:spPr>
          <a:xfrm>
            <a:off x="1115568" y="1490472"/>
            <a:ext cx="1824913" cy="502920"/>
          </a:xfrm>
          <a:prstGeom prst="rect">
            <a:avLst/>
          </a:prstGeom>
          <a:noFill/>
        </p:spPr>
        <p:txBody>
          <a:bodyPr wrap="square" anchor="ctr" lIns="45720" rIns="45720">
            <a:spAutoFit/>
          </a:bodyPr>
          <a:lstStyle/>
          <a:p>
            <a:r>
              <a:rPr sz="1300" b="1" i="0">
                <a:solidFill>
                  <a:srgbClr val="004EA8"/>
                </a:solidFill>
                <a:latin typeface="Arial"/>
              </a:rPr>
              <a:t>Change raised</a:t>
            </a:r>
          </a:p>
        </p:txBody>
      </p:sp>
      <p:sp>
        <p:nvSpPr>
          <p:cNvPr id="12" name="TextBox 11"/>
          <p:cNvSpPr txBox="1"/>
          <p:nvPr/>
        </p:nvSpPr>
        <p:spPr>
          <a:xfrm>
            <a:off x="658368" y="2057400"/>
            <a:ext cx="2245537" cy="822960"/>
          </a:xfrm>
          <a:prstGeom prst="rect">
            <a:avLst/>
          </a:prstGeom>
          <a:noFill/>
        </p:spPr>
        <p:txBody>
          <a:bodyPr wrap="square" anchor="t" lIns="45720" rIns="45720">
            <a:spAutoFit/>
          </a:bodyPr>
          <a:lstStyle/>
          <a:p>
            <a:r>
              <a:rPr sz="1000" b="0" i="0">
                <a:solidFill>
                  <a:srgbClr val="4B4B4B"/>
                </a:solidFill>
                <a:latin typeface="Arial"/>
              </a:rPr>
              <a:t>A comment of the sign-off workbook or a change request of the Change Management Register gets its change reference</a:t>
            </a:r>
          </a:p>
        </p:txBody>
      </p:sp>
      <p:sp>
        <p:nvSpPr>
          <p:cNvPr id="13" name="TextBox 12"/>
          <p:cNvSpPr txBox="1"/>
          <p:nvPr/>
        </p:nvSpPr>
        <p:spPr>
          <a:xfrm>
            <a:off x="658368" y="2971800"/>
            <a:ext cx="2245537" cy="384048"/>
          </a:xfrm>
          <a:prstGeom prst="rect">
            <a:avLst/>
          </a:prstGeom>
          <a:noFill/>
        </p:spPr>
        <p:txBody>
          <a:bodyPr wrap="square" anchor="t" lIns="45720" rIns="45720">
            <a:spAutoFit/>
          </a:bodyPr>
          <a:lstStyle/>
          <a:p>
            <a:r>
              <a:rPr sz="1000" b="1" i="0">
                <a:solidFill>
                  <a:srgbClr val="2E2E2E"/>
                </a:solidFill>
                <a:latin typeface="Arial"/>
              </a:rPr>
              <a:t>Business and project team</a:t>
            </a:r>
          </a:p>
        </p:txBody>
      </p:sp>
      <p:sp>
        <p:nvSpPr>
          <p:cNvPr id="14" name="Right Arrow 13"/>
          <p:cNvSpPr/>
          <p:nvPr/>
        </p:nvSpPr>
        <p:spPr>
          <a:xfrm>
            <a:off x="3077641"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3425113"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Oval 15"/>
          <p:cNvSpPr/>
          <p:nvPr/>
        </p:nvSpPr>
        <p:spPr>
          <a:xfrm>
            <a:off x="3534841"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2</a:t>
            </a:r>
          </a:p>
        </p:txBody>
      </p:sp>
      <p:sp>
        <p:nvSpPr>
          <p:cNvPr id="17" name="TextBox 16"/>
          <p:cNvSpPr txBox="1"/>
          <p:nvPr/>
        </p:nvSpPr>
        <p:spPr>
          <a:xfrm>
            <a:off x="3992041" y="1490472"/>
            <a:ext cx="1824913" cy="502920"/>
          </a:xfrm>
          <a:prstGeom prst="rect">
            <a:avLst/>
          </a:prstGeom>
          <a:noFill/>
        </p:spPr>
        <p:txBody>
          <a:bodyPr wrap="square" anchor="ctr" lIns="45720" rIns="45720">
            <a:spAutoFit/>
          </a:bodyPr>
          <a:lstStyle/>
          <a:p>
            <a:r>
              <a:rPr sz="1300" b="1" i="0">
                <a:solidFill>
                  <a:srgbClr val="004EA8"/>
                </a:solidFill>
                <a:latin typeface="Arial"/>
              </a:rPr>
              <a:t>Screens named</a:t>
            </a:r>
          </a:p>
        </p:txBody>
      </p:sp>
      <p:sp>
        <p:nvSpPr>
          <p:cNvPr id="18" name="TextBox 17"/>
          <p:cNvSpPr txBox="1"/>
          <p:nvPr/>
        </p:nvSpPr>
        <p:spPr>
          <a:xfrm>
            <a:off x="3534841" y="2057400"/>
            <a:ext cx="2245537" cy="822960"/>
          </a:xfrm>
          <a:prstGeom prst="rect">
            <a:avLst/>
          </a:prstGeom>
          <a:noFill/>
        </p:spPr>
        <p:txBody>
          <a:bodyPr wrap="square" anchor="t" lIns="45720" rIns="45720">
            <a:spAutoFit/>
          </a:bodyPr>
          <a:lstStyle/>
          <a:p>
            <a:r>
              <a:rPr sz="1000" b="0" i="0">
                <a:solidFill>
                  <a:srgbClr val="4B4B4B"/>
                </a:solidFill>
                <a:latin typeface="Arial"/>
              </a:rPr>
              <a:t>The change names the FRS section; the map at the end of this deck turns the section into the screen IDs</a:t>
            </a:r>
          </a:p>
        </p:txBody>
      </p:sp>
      <p:sp>
        <p:nvSpPr>
          <p:cNvPr id="19" name="TextBox 18"/>
          <p:cNvSpPr txBox="1"/>
          <p:nvPr/>
        </p:nvSpPr>
        <p:spPr>
          <a:xfrm>
            <a:off x="3534841" y="2971800"/>
            <a:ext cx="2245537" cy="384048"/>
          </a:xfrm>
          <a:prstGeom prst="rect">
            <a:avLst/>
          </a:prstGeom>
          <a:noFill/>
        </p:spPr>
        <p:txBody>
          <a:bodyPr wrap="square" anchor="t" lIns="45720" rIns="45720">
            <a:spAutoFit/>
          </a:bodyPr>
          <a:lstStyle/>
          <a:p>
            <a:r>
              <a:rPr sz="1000" b="1" i="0">
                <a:solidFill>
                  <a:srgbClr val="2E2E2E"/>
                </a:solidFill>
                <a:latin typeface="Arial"/>
              </a:rPr>
              <a:t>Project team</a:t>
            </a:r>
          </a:p>
        </p:txBody>
      </p:sp>
      <p:sp>
        <p:nvSpPr>
          <p:cNvPr id="20" name="Right Arrow 19"/>
          <p:cNvSpPr/>
          <p:nvPr/>
        </p:nvSpPr>
        <p:spPr>
          <a:xfrm>
            <a:off x="5954115"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6301587"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Oval 21"/>
          <p:cNvSpPr/>
          <p:nvPr/>
        </p:nvSpPr>
        <p:spPr>
          <a:xfrm>
            <a:off x="6411315"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3</a:t>
            </a:r>
          </a:p>
        </p:txBody>
      </p:sp>
      <p:sp>
        <p:nvSpPr>
          <p:cNvPr id="23" name="TextBox 22"/>
          <p:cNvSpPr txBox="1"/>
          <p:nvPr/>
        </p:nvSpPr>
        <p:spPr>
          <a:xfrm>
            <a:off x="6868515" y="1490472"/>
            <a:ext cx="1824913" cy="502920"/>
          </a:xfrm>
          <a:prstGeom prst="rect">
            <a:avLst/>
          </a:prstGeom>
          <a:noFill/>
        </p:spPr>
        <p:txBody>
          <a:bodyPr wrap="square" anchor="ctr" lIns="45720" rIns="45720">
            <a:spAutoFit/>
          </a:bodyPr>
          <a:lstStyle/>
          <a:p>
            <a:r>
              <a:rPr sz="1300" b="1" i="0">
                <a:solidFill>
                  <a:srgbClr val="004EA8"/>
                </a:solidFill>
                <a:latin typeface="Arial"/>
              </a:rPr>
              <a:t>Delta re-issue</a:t>
            </a:r>
          </a:p>
        </p:txBody>
      </p:sp>
      <p:sp>
        <p:nvSpPr>
          <p:cNvPr id="24" name="TextBox 23"/>
          <p:cNvSpPr txBox="1"/>
          <p:nvPr/>
        </p:nvSpPr>
        <p:spPr>
          <a:xfrm>
            <a:off x="6411315" y="2057400"/>
            <a:ext cx="2245537" cy="822960"/>
          </a:xfrm>
          <a:prstGeom prst="rect">
            <a:avLst/>
          </a:prstGeom>
          <a:noFill/>
        </p:spPr>
        <p:txBody>
          <a:bodyPr wrap="square" anchor="t" lIns="45720" rIns="45720">
            <a:spAutoFit/>
          </a:bodyPr>
          <a:lstStyle/>
          <a:p>
            <a:r>
              <a:rPr sz="1000" b="0" i="0">
                <a:solidFill>
                  <a:srgbClr val="4B4B4B"/>
                </a:solidFill>
                <a:latin typeface="Arial"/>
              </a:rPr>
              <a:t>The affected screens are captured again; the register rows get Changed in this issue = Y with the change reference; the slides carry the Changed badge</a:t>
            </a:r>
          </a:p>
        </p:txBody>
      </p:sp>
      <p:sp>
        <p:nvSpPr>
          <p:cNvPr id="25" name="TextBox 24"/>
          <p:cNvSpPr txBox="1"/>
          <p:nvPr/>
        </p:nvSpPr>
        <p:spPr>
          <a:xfrm>
            <a:off x="6411315" y="2971800"/>
            <a:ext cx="2245537" cy="384048"/>
          </a:xfrm>
          <a:prstGeom prst="rect">
            <a:avLst/>
          </a:prstGeom>
          <a:noFill/>
        </p:spPr>
        <p:txBody>
          <a:bodyPr wrap="square" anchor="t" lIns="45720" rIns="45720">
            <a:spAutoFit/>
          </a:bodyPr>
          <a:lstStyle/>
          <a:p>
            <a:r>
              <a:rPr sz="1000" b="1" i="0">
                <a:solidFill>
                  <a:srgbClr val="2E2E2E"/>
                </a:solidFill>
                <a:latin typeface="Arial"/>
              </a:rPr>
              <a:t>Next version of the set</a:t>
            </a:r>
          </a:p>
        </p:txBody>
      </p:sp>
      <p:sp>
        <p:nvSpPr>
          <p:cNvPr id="26" name="Right Arrow 25"/>
          <p:cNvSpPr/>
          <p:nvPr/>
        </p:nvSpPr>
        <p:spPr>
          <a:xfrm>
            <a:off x="8830589" y="2295144"/>
            <a:ext cx="283464" cy="256032"/>
          </a:xfrm>
          <a:prstGeom prst="rightArrow">
            <a:avLst/>
          </a:prstGeom>
          <a:solidFill>
            <a:srgbClr val="004EA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ounded Rectangle 26"/>
          <p:cNvSpPr/>
          <p:nvPr/>
        </p:nvSpPr>
        <p:spPr>
          <a:xfrm>
            <a:off x="9178061" y="1417320"/>
            <a:ext cx="2464993" cy="2011680"/>
          </a:xfrm>
          <a:prstGeom prst="roundRect">
            <a:avLst/>
          </a:prstGeom>
          <a:solidFill>
            <a:srgbClr val="E5F5FF"/>
          </a:solidFill>
          <a:ln>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Oval 27"/>
          <p:cNvSpPr/>
          <p:nvPr/>
        </p:nvSpPr>
        <p:spPr>
          <a:xfrm>
            <a:off x="9287789" y="1527048"/>
            <a:ext cx="384048" cy="384048"/>
          </a:xfrm>
          <a:prstGeom prst="ellipse">
            <a:avLst/>
          </a:prstGeom>
          <a:solidFill>
            <a:srgbClr val="FDB913"/>
          </a:solidFill>
          <a:ln>
            <a:noFill/>
          </a:ln>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400" b="1">
                <a:solidFill>
                  <a:srgbClr val="2E2E2E"/>
                </a:solidFill>
                <a:latin typeface="Arial"/>
              </a:rPr>
              <a:t>4</a:t>
            </a:r>
          </a:p>
        </p:txBody>
      </p:sp>
      <p:sp>
        <p:nvSpPr>
          <p:cNvPr id="29" name="TextBox 28"/>
          <p:cNvSpPr txBox="1"/>
          <p:nvPr/>
        </p:nvSpPr>
        <p:spPr>
          <a:xfrm>
            <a:off x="9744989" y="1490472"/>
            <a:ext cx="1824913" cy="502920"/>
          </a:xfrm>
          <a:prstGeom prst="rect">
            <a:avLst/>
          </a:prstGeom>
          <a:noFill/>
        </p:spPr>
        <p:txBody>
          <a:bodyPr wrap="square" anchor="ctr" lIns="45720" rIns="45720">
            <a:spAutoFit/>
          </a:bodyPr>
          <a:lstStyle/>
          <a:p>
            <a:r>
              <a:rPr sz="1300" b="1" i="0">
                <a:solidFill>
                  <a:srgbClr val="004EA8"/>
                </a:solidFill>
                <a:latin typeface="Arial"/>
              </a:rPr>
              <a:t>UXD revises</a:t>
            </a:r>
          </a:p>
        </p:txBody>
      </p:sp>
      <p:sp>
        <p:nvSpPr>
          <p:cNvPr id="30" name="TextBox 29"/>
          <p:cNvSpPr txBox="1"/>
          <p:nvPr/>
        </p:nvSpPr>
        <p:spPr>
          <a:xfrm>
            <a:off x="9287789" y="2057400"/>
            <a:ext cx="2245537" cy="822960"/>
          </a:xfrm>
          <a:prstGeom prst="rect">
            <a:avLst/>
          </a:prstGeom>
          <a:noFill/>
        </p:spPr>
        <p:txBody>
          <a:bodyPr wrap="square" anchor="t" lIns="45720" rIns="45720">
            <a:spAutoFit/>
          </a:bodyPr>
          <a:lstStyle/>
          <a:p>
            <a:r>
              <a:rPr sz="1000" b="0" i="0">
                <a:solidFill>
                  <a:srgbClr val="4B4B4B"/>
                </a:solidFill>
                <a:latin typeface="Arial"/>
              </a:rPr>
              <a:t>The UX Design team revises only the changed screens and sets their UXD status; the other rows keep theirs</a:t>
            </a:r>
          </a:p>
        </p:txBody>
      </p:sp>
      <p:sp>
        <p:nvSpPr>
          <p:cNvPr id="31" name="TextBox 30"/>
          <p:cNvSpPr txBox="1"/>
          <p:nvPr/>
        </p:nvSpPr>
        <p:spPr>
          <a:xfrm>
            <a:off x="9287789" y="2971800"/>
            <a:ext cx="2245537" cy="384048"/>
          </a:xfrm>
          <a:prstGeom prst="rect">
            <a:avLst/>
          </a:prstGeom>
          <a:noFill/>
        </p:spPr>
        <p:txBody>
          <a:bodyPr wrap="square" anchor="t" lIns="45720" rIns="45720">
            <a:spAutoFit/>
          </a:bodyPr>
          <a:lstStyle/>
          <a:p>
            <a:r>
              <a:rPr sz="1000" b="1" i="0">
                <a:solidFill>
                  <a:srgbClr val="2E2E2E"/>
                </a:solidFill>
                <a:latin typeface="Arial"/>
              </a:rPr>
              <a:t>UX Design team</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Changes in this issue (v2.0, 29 September 2026)</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a:t>
            </a:r>
          </a:p>
        </p:txBody>
      </p:sp>
      <p:graphicFrame>
        <p:nvGraphicFramePr>
          <p:cNvPr id="9" name="Table 8"/>
          <p:cNvGraphicFramePr>
            <a:graphicFrameLocks noGrp="1"/>
          </p:cNvGraphicFramePr>
          <p:nvPr/>
        </p:nvGraphicFramePr>
        <p:xfrm>
          <a:off x="548640" y="1325880"/>
          <a:ext cx="11094413" cy="2225040"/>
        </p:xfrm>
        <a:graphic>
          <a:graphicData uri="http://schemas.openxmlformats.org/drawingml/2006/table">
            <a:tbl>
              <a:tblPr firstRow="1" bandRow="1">
                <a:tableStyleId>{5C22544A-7EE6-4342-B048-85BDC9FD1C3A}</a:tableStyleId>
              </a:tblPr>
              <a:tblGrid>
                <a:gridCol w="1849069"/>
                <a:gridCol w="6219596"/>
                <a:gridCol w="2185263"/>
                <a:gridCol w="840485"/>
              </a:tblGrid>
              <a:tr h="259080">
                <a:tc>
                  <a:txBody>
                    <a:bodyPr/>
                    <a:lstStyle/>
                    <a:p>
                      <a:r>
                        <a:rPr sz="1100" b="1">
                          <a:solidFill>
                            <a:srgbClr val="FFFFFF"/>
                          </a:solidFill>
                          <a:latin typeface="Arial"/>
                        </a:rPr>
                        <a:t>Change reference</a:t>
                      </a:r>
                    </a:p>
                  </a:txBody>
                  <a:tcPr marL="54864" marR="54864" marT="27432" marB="27432">
                    <a:solidFill>
                      <a:srgbClr val="004EA8"/>
                    </a:solidFill>
                  </a:tcPr>
                </a:tc>
                <a:tc>
                  <a:txBody>
                    <a:bodyPr/>
                    <a:lstStyle/>
                    <a:p>
                      <a:r>
                        <a:rPr sz="1100" b="1">
                          <a:solidFill>
                            <a:srgbClr val="FFFFFF"/>
                          </a:solidFill>
                          <a:latin typeface="Arial"/>
                        </a:rPr>
                        <a:t>What changed</a:t>
                      </a:r>
                    </a:p>
                  </a:txBody>
                  <a:tcPr marL="54864" marR="54864" marT="27432" marB="27432">
                    <a:solidFill>
                      <a:srgbClr val="004EA8"/>
                    </a:solidFill>
                  </a:tcPr>
                </a:tc>
                <a:tc>
                  <a:txBody>
                    <a:bodyPr/>
                    <a:lstStyle/>
                    <a:p>
                      <a:r>
                        <a:rPr sz="1100" b="1">
                          <a:solidFill>
                            <a:srgbClr val="FFFFFF"/>
                          </a:solidFill>
                          <a:latin typeface="Arial"/>
                        </a:rPr>
                        <a:t>Screens</a:t>
                      </a:r>
                    </a:p>
                  </a:txBody>
                  <a:tcPr marL="54864" marR="54864" marT="27432" marB="27432">
                    <a:solidFill>
                      <a:srgbClr val="004EA8"/>
                    </a:solidFill>
                  </a:tcPr>
                </a:tc>
                <a:tc>
                  <a:txBody>
                    <a:bodyPr/>
                    <a:lstStyle/>
                    <a:p>
                      <a:r>
                        <a:rPr sz="1100" b="1">
                          <a:solidFill>
                            <a:srgbClr val="FFFFFF"/>
                          </a:solidFill>
                          <a:latin typeface="Arial"/>
                        </a:rPr>
                        <a:t>Images</a:t>
                      </a:r>
                    </a:p>
                  </a:txBody>
                  <a:tcPr marL="54864" marR="54864" marT="27432" marB="27432">
                    <a:solidFill>
                      <a:srgbClr val="004EA8"/>
                    </a:solidFill>
                  </a:tcPr>
                </a:tc>
              </a:tr>
              <a:tr h="594360">
                <a:tc>
                  <a:txBody>
                    <a:bodyPr/>
                    <a:lstStyle/>
                    <a:p>
                      <a:r>
                        <a:rPr sz="1100" b="0">
                          <a:solidFill>
                            <a:srgbClr val="4B4B4B"/>
                          </a:solidFill>
                          <a:latin typeface="Arial"/>
                        </a:rPr>
                        <a:t>CHG-DM-2.1-01</a:t>
                      </a:r>
                    </a:p>
                  </a:txBody>
                  <a:tcPr marL="54864" marR="54864" marT="27432" marB="27432">
                    <a:solidFill>
                      <a:srgbClr val="FFFFFF"/>
                    </a:solidFill>
                  </a:tcPr>
                </a:tc>
                <a:tc>
                  <a:txBody>
                    <a:bodyPr/>
                    <a:lstStyle/>
                    <a:p>
                      <a:r>
                        <a:rPr sz="1100" b="0">
                          <a:solidFill>
                            <a:srgbClr val="4B4B4B"/>
                          </a:solidFill>
                          <a:latin typeface="Arial"/>
                        </a:rPr>
                        <a:t>The migration roles land on Migration Home after sign-in; My Approvals stays one click away in the header</a:t>
                      </a:r>
                    </a:p>
                  </a:txBody>
                  <a:tcPr marL="54864" marR="54864" marT="27432" marB="27432">
                    <a:solidFill>
                      <a:srgbClr val="FFFFFF"/>
                    </a:solidFill>
                  </a:tcPr>
                </a:tc>
                <a:tc>
                  <a:txBody>
                    <a:bodyPr/>
                    <a:lstStyle/>
                    <a:p>
                      <a:r>
                        <a:rPr sz="1100" b="0">
                          <a:solidFill>
                            <a:srgbClr val="4B4B4B"/>
                          </a:solidFill>
                          <a:latin typeface="Arial"/>
                        </a:rPr>
                        <a:t>NAV-DM-01, NAV-DM-02, NAV-DM-03, NAV-DM-04, NAV-DM-05, NAV-DM-06</a:t>
                      </a:r>
                    </a:p>
                  </a:txBody>
                  <a:tcPr marL="54864" marR="54864" marT="27432" marB="27432">
                    <a:solidFill>
                      <a:srgbClr val="FFFFFF"/>
                    </a:solidFill>
                  </a:tcPr>
                </a:tc>
                <a:tc>
                  <a:txBody>
                    <a:bodyPr/>
                    <a:lstStyle/>
                    <a:p>
                      <a:r>
                        <a:rPr sz="1100" b="0">
                          <a:solidFill>
                            <a:srgbClr val="4B4B4B"/>
                          </a:solidFill>
                          <a:latin typeface="Arial"/>
                        </a:rPr>
                        <a:t>12</a:t>
                      </a:r>
                    </a:p>
                  </a:txBody>
                  <a:tcPr marL="54864" marR="54864" marT="27432" marB="27432">
                    <a:solidFill>
                      <a:srgbClr val="FFFFFF"/>
                    </a:solidFill>
                  </a:tcPr>
                </a:tc>
              </a:tr>
              <a:tr h="426720">
                <a:tc>
                  <a:txBody>
                    <a:bodyPr/>
                    <a:lstStyle/>
                    <a:p>
                      <a:r>
                        <a:rPr sz="1100" b="0">
                          <a:solidFill>
                            <a:srgbClr val="4B4B4B"/>
                          </a:solidFill>
                          <a:latin typeface="Arial"/>
                        </a:rPr>
                        <a:t>CHG-DM-2.1-02</a:t>
                      </a:r>
                    </a:p>
                  </a:txBody>
                  <a:tcPr marL="54864" marR="54864" marT="27432" marB="27432">
                    <a:solidFill>
                      <a:srgbClr val="E5F5FF"/>
                    </a:solidFill>
                  </a:tcPr>
                </a:tc>
                <a:tc>
                  <a:txBody>
                    <a:bodyPr/>
                    <a:lstStyle/>
                    <a:p>
                      <a:r>
                        <a:rPr sz="1100" b="0">
                          <a:solidFill>
                            <a:srgbClr val="4B4B4B"/>
                          </a:solidFill>
                          <a:latin typeface="Arial"/>
                        </a:rPr>
                        <a:t>Upload and Check (Extracts) and Create (New Cutover Plan) say what is still needed while they are disabled</a:t>
                      </a:r>
                    </a:p>
                  </a:txBody>
                  <a:tcPr marL="54864" marR="54864" marT="27432" marB="27432">
                    <a:solidFill>
                      <a:srgbClr val="E5F5FF"/>
                    </a:solidFill>
                  </a:tcPr>
                </a:tc>
                <a:tc>
                  <a:txBody>
                    <a:bodyPr/>
                    <a:lstStyle/>
                    <a:p>
                      <a:r>
                        <a:rPr sz="1100" b="0">
                          <a:solidFill>
                            <a:srgbClr val="4B4B4B"/>
                          </a:solidFill>
                          <a:latin typeface="Arial"/>
                        </a:rPr>
                        <a:t>SCR-DM-05, SCR-DM-12</a:t>
                      </a:r>
                    </a:p>
                  </a:txBody>
                  <a:tcPr marL="54864" marR="54864" marT="27432" marB="27432">
                    <a:solidFill>
                      <a:srgbClr val="E5F5FF"/>
                    </a:solidFill>
                  </a:tcPr>
                </a:tc>
                <a:tc>
                  <a:txBody>
                    <a:bodyPr/>
                    <a:lstStyle/>
                    <a:p>
                      <a:r>
                        <a:rPr sz="1100" b="0">
                          <a:solidFill>
                            <a:srgbClr val="4B4B4B"/>
                          </a:solidFill>
                          <a:latin typeface="Arial"/>
                        </a:rPr>
                        <a:t>2</a:t>
                      </a:r>
                    </a:p>
                  </a:txBody>
                  <a:tcPr marL="54864" marR="54864" marT="27432" marB="27432">
                    <a:solidFill>
                      <a:srgbClr val="E5F5FF"/>
                    </a:solidFill>
                  </a:tcPr>
                </a:tc>
              </a:tr>
              <a:tr h="426720">
                <a:tc>
                  <a:txBody>
                    <a:bodyPr/>
                    <a:lstStyle/>
                    <a:p>
                      <a:r>
                        <a:rPr sz="1100" b="0">
                          <a:solidFill>
                            <a:srgbClr val="4B4B4B"/>
                          </a:solidFill>
                          <a:latin typeface="Arial"/>
                        </a:rPr>
                        <a:t>CHG-DM-2.1-03</a:t>
                      </a:r>
                    </a:p>
                  </a:txBody>
                  <a:tcPr marL="54864" marR="54864" marT="27432" marB="27432">
                    <a:solidFill>
                      <a:srgbClr val="FFFFFF"/>
                    </a:solidFill>
                  </a:tcPr>
                </a:tc>
                <a:tc>
                  <a:txBody>
                    <a:bodyPr/>
                    <a:lstStyle/>
                    <a:p>
                      <a:r>
                        <a:rPr sz="1100" b="0">
                          <a:solidFill>
                            <a:srgbClr val="4B4B4B"/>
                          </a:solidFill>
                          <a:latin typeface="Arial"/>
                        </a:rPr>
                        <a:t>A rejected extract lists every failed intake check with its own reason, in an error notice next to the upload card and in the Rejection Reason column</a:t>
                      </a:r>
                    </a:p>
                  </a:txBody>
                  <a:tcPr marL="54864" marR="54864" marT="27432" marB="27432">
                    <a:solidFill>
                      <a:srgbClr val="FFFFFF"/>
                    </a:solidFill>
                  </a:tcPr>
                </a:tc>
                <a:tc>
                  <a:txBody>
                    <a:bodyPr/>
                    <a:lstStyle/>
                    <a:p>
                      <a:r>
                        <a:rPr sz="1100" b="0">
                          <a:solidFill>
                            <a:srgbClr val="4B4B4B"/>
                          </a:solidFill>
                          <a:latin typeface="Arial"/>
                        </a:rPr>
                        <a:t>SCR-DM-05</a:t>
                      </a:r>
                    </a:p>
                  </a:txBody>
                  <a:tcPr marL="54864" marR="54864" marT="27432" marB="27432">
                    <a:solidFill>
                      <a:srgbClr val="FFFFFF"/>
                    </a:solidFill>
                  </a:tcPr>
                </a:tc>
                <a:tc>
                  <a:txBody>
                    <a:bodyPr/>
                    <a:lstStyle/>
                    <a:p>
                      <a:r>
                        <a:rPr sz="1100" b="0">
                          <a:solidFill>
                            <a:srgbClr val="4B4B4B"/>
                          </a:solidFill>
                          <a:latin typeface="Arial"/>
                        </a:rPr>
                        <a:t>2</a:t>
                      </a:r>
                    </a:p>
                  </a:txBody>
                  <a:tcPr marL="54864" marR="54864" marT="27432" marB="27432">
                    <a:solidFill>
                      <a:srgbClr val="FFFFFF"/>
                    </a:solidFill>
                  </a:tcPr>
                </a:tc>
              </a:tr>
              <a:tr h="259080">
                <a:tc>
                  <a:txBody>
                    <a:bodyPr/>
                    <a:lstStyle/>
                    <a:p>
                      <a:r>
                        <a:rPr sz="1100" b="0">
                          <a:solidFill>
                            <a:srgbClr val="4B4B4B"/>
                          </a:solidFill>
                          <a:latin typeface="Arial"/>
                        </a:rPr>
                        <a:t>CHG-DM-2.1-04</a:t>
                      </a:r>
                    </a:p>
                  </a:txBody>
                  <a:tcPr marL="54864" marR="54864" marT="27432" marB="27432">
                    <a:solidFill>
                      <a:srgbClr val="E5F5FF"/>
                    </a:solidFill>
                  </a:tcPr>
                </a:tc>
                <a:tc>
                  <a:txBody>
                    <a:bodyPr/>
                    <a:lstStyle/>
                    <a:p>
                      <a:r>
                        <a:rPr sz="1100" b="0">
                          <a:solidFill>
                            <a:srgbClr val="4B4B4B"/>
                          </a:solidFill>
                          <a:latin typeface="Arial"/>
                        </a:rPr>
                        <a:t>The Rows column of the extracts replaced by Rows Received and Rows Staged</a:t>
                      </a:r>
                    </a:p>
                  </a:txBody>
                  <a:tcPr marL="54864" marR="54864" marT="27432" marB="27432">
                    <a:solidFill>
                      <a:srgbClr val="E5F5FF"/>
                    </a:solidFill>
                  </a:tcPr>
                </a:tc>
                <a:tc>
                  <a:txBody>
                    <a:bodyPr/>
                    <a:lstStyle/>
                    <a:p>
                      <a:r>
                        <a:rPr sz="1100" b="0">
                          <a:solidFill>
                            <a:srgbClr val="4B4B4B"/>
                          </a:solidFill>
                          <a:latin typeface="Arial"/>
                        </a:rPr>
                        <a:t>SCR-DM-05</a:t>
                      </a:r>
                    </a:p>
                  </a:txBody>
                  <a:tcPr marL="54864" marR="54864" marT="27432" marB="27432">
                    <a:solidFill>
                      <a:srgbClr val="E5F5FF"/>
                    </a:solidFill>
                  </a:tcPr>
                </a:tc>
                <a:tc>
                  <a:txBody>
                    <a:bodyPr/>
                    <a:lstStyle/>
                    <a:p>
                      <a:r>
                        <a:rPr sz="1100" b="0">
                          <a:solidFill>
                            <a:srgbClr val="4B4B4B"/>
                          </a:solidFill>
                          <a:latin typeface="Arial"/>
                        </a:rPr>
                        <a:t>2</a:t>
                      </a:r>
                    </a:p>
                  </a:txBody>
                  <a:tcPr marL="54864" marR="54864" marT="27432" marB="27432">
                    <a:solidFill>
                      <a:srgbClr val="E5F5FF"/>
                    </a:solidFill>
                  </a:tcPr>
                </a:tc>
              </a:tr>
              <a:tr h="259080">
                <a:tc>
                  <a:txBody>
                    <a:bodyPr/>
                    <a:lstStyle/>
                    <a:p>
                      <a:r>
                        <a:rPr sz="1100" b="0">
                          <a:solidFill>
                            <a:srgbClr val="4B4B4B"/>
                          </a:solidFill>
                          <a:latin typeface="Arial"/>
                        </a:rPr>
                        <a:t>CHG-DM-2.1-05</a:t>
                      </a:r>
                    </a:p>
                  </a:txBody>
                  <a:tcPr marL="54864" marR="54864" marT="27432" marB="27432">
                    <a:solidFill>
                      <a:srgbClr val="FFFFFF"/>
                    </a:solidFill>
                  </a:tcPr>
                </a:tc>
                <a:tc>
                  <a:txBody>
                    <a:bodyPr/>
                    <a:lstStyle/>
                    <a:p>
                      <a:r>
                        <a:rPr sz="1100" b="0">
                          <a:solidFill>
                            <a:srgbClr val="4B4B4B"/>
                          </a:solidFill>
                          <a:latin typeface="Arial"/>
                        </a:rPr>
                        <a:t>Day counts in words on the tiles of My Approvals ("0 days", "1 day")</a:t>
                      </a:r>
                    </a:p>
                  </a:txBody>
                  <a:tcPr marL="54864" marR="54864" marT="27432" marB="27432">
                    <a:solidFill>
                      <a:srgbClr val="FFFFFF"/>
                    </a:solidFill>
                  </a:tcPr>
                </a:tc>
                <a:tc>
                  <a:txBody>
                    <a:bodyPr/>
                    <a:lstStyle/>
                    <a:p>
                      <a:r>
                        <a:rPr sz="1100" b="0">
                          <a:solidFill>
                            <a:srgbClr val="4B4B4B"/>
                          </a:solidFill>
                          <a:latin typeface="Arial"/>
                        </a:rPr>
                        <a:t>NAV-DM-01</a:t>
                      </a:r>
                    </a:p>
                  </a:txBody>
                  <a:tcPr marL="54864" marR="54864" marT="27432" marB="27432">
                    <a:solidFill>
                      <a:srgbClr val="FFFFFF"/>
                    </a:solidFill>
                  </a:tcPr>
                </a:tc>
                <a:tc>
                  <a:txBody>
                    <a:bodyPr/>
                    <a:lstStyle/>
                    <a:p>
                      <a:r>
                        <a:rPr sz="1100" b="0">
                          <a:solidFill>
                            <a:srgbClr val="4B4B4B"/>
                          </a:solidFill>
                          <a:latin typeface="Arial"/>
                        </a:rPr>
                        <a:t>2</a:t>
                      </a:r>
                    </a:p>
                  </a:txBody>
                  <a:tcPr marL="54864" marR="54864" marT="27432" marB="27432">
                    <a:solidFill>
                      <a:srgbClr val="FFFFFF"/>
                    </a:solidFill>
                  </a:tcPr>
                </a:tc>
              </a:tr>
            </a:tbl>
          </a:graphicData>
        </a:graphic>
      </p:graphicFrame>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a:t>
            </a:r>
          </a:p>
        </p:txBody>
      </p:sp>
      <p:graphicFrame>
        <p:nvGraphicFramePr>
          <p:cNvPr id="9" name="Table 8"/>
          <p:cNvGraphicFramePr>
            <a:graphicFrameLocks noGrp="1"/>
          </p:cNvGraphicFramePr>
          <p:nvPr/>
        </p:nvGraphicFramePr>
        <p:xfrm>
          <a:off x="548640" y="1325880"/>
          <a:ext cx="11094414" cy="475488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365760">
                <a:tc>
                  <a:txBody>
                    <a:bodyPr/>
                    <a:lstStyle/>
                    <a:p>
                      <a:r>
                        <a:rPr sz="900" b="0">
                          <a:solidFill>
                            <a:srgbClr val="4B4B4B"/>
                          </a:solidFill>
                          <a:latin typeface="Arial"/>
                        </a:rPr>
                        <a:t>Prepared by</a:t>
                      </a:r>
                    </a:p>
                  </a:txBody>
                  <a:tcPr marL="54864" marR="54864" marT="27432" marB="27432">
                    <a:solidFill>
                      <a:srgbClr val="FFFFFF"/>
                    </a:solidFill>
                  </a:tcPr>
                </a:tc>
                <a:tc>
                  <a:txBody>
                    <a:bodyPr/>
                    <a:lstStyle/>
                    <a:p>
                      <a:r>
                        <a:rPr sz="900" b="0">
                          <a:solidFill>
                            <a:srgbClr val="4B4B4B"/>
                          </a:solidFill>
                          <a:latin typeface="Arial"/>
                        </a:rPr>
                        <a:t>iorta TechNXT project team: Project Manager, Business Analysis, Migration Lead, test lead</a:t>
                      </a:r>
                    </a:p>
                  </a:txBody>
                  <a:tcPr marL="54864" marR="54864" marT="27432" marB="27432">
                    <a:solidFill>
                      <a:srgbClr val="FFFFFF"/>
                    </a:solidFill>
                  </a:tcPr>
                </a:tc>
                <a:tc>
                  <a:txBody>
                    <a:bodyPr/>
                    <a:lstStyle/>
                    <a:p>
                      <a:r>
                        <a:rPr sz="900" b="0">
                          <a:solidFill>
                            <a:srgbClr val="4B4B4B"/>
                          </a:solidFill>
                          <a:latin typeface="Arial"/>
                        </a:rPr>
                        <a:t>iorta TechNXT</a:t>
                      </a:r>
                    </a:p>
                  </a:txBody>
                  <a:tcPr marL="54864" marR="54864" marT="27432" marB="27432">
                    <a:solidFill>
                      <a:srgbClr val="FFFFFF"/>
                    </a:solidFill>
                  </a:tcPr>
                </a:tc>
                <a:tc>
                  <a:txBody>
                    <a:bodyPr/>
                    <a:lstStyle/>
                    <a:p>
                      <a:r>
                        <a:rPr sz="900" b="0">
                          <a:solidFill>
                            <a:srgbClr val="4B4B4B"/>
                          </a:solidFill>
                          <a:latin typeface="Arial"/>
                        </a:rPr>
                        <a:t>The set is complete and consistent as issued, traced to the BRD and to the Migration Console; every comment is answered in the comments log</a:t>
                      </a:r>
                    </a:p>
                  </a:txBody>
                  <a:tcPr marL="54864" marR="54864" marT="27432" marB="27432">
                    <a:solidFill>
                      <a:srgbClr val="FFFFFF"/>
                    </a:solidFill>
                  </a:tcPr>
                </a:tc>
              </a:tr>
              <a:tr h="365760">
                <a:tc>
                  <a:txBody>
                    <a:bodyPr/>
                    <a:lstStyle/>
                    <a:p>
                      <a:r>
                        <a:rPr sz="900" b="0">
                          <a:solidFill>
                            <a:srgbClr val="4B4B4B"/>
                          </a:solidFill>
                          <a:latin typeface="Arial"/>
                        </a:rPr>
                        <a:t>Prepared by</a:t>
                      </a:r>
                    </a:p>
                  </a:txBody>
                  <a:tcPr marL="54864" marR="54864" marT="27432" marB="27432">
                    <a:solidFill>
                      <a:srgbClr val="E5F5FF"/>
                    </a:solidFill>
                  </a:tcPr>
                </a:tc>
                <a:tc>
                  <a:txBody>
                    <a:bodyPr/>
                    <a:lstStyle/>
                    <a:p>
                      <a:r>
                        <a:rPr sz="900" b="0">
                          <a:solidFill>
                            <a:srgbClr val="4B4B4B"/>
                          </a:solidFill>
                          <a:latin typeface="Arial"/>
                        </a:rPr>
                        <a:t>Program Manager, Enterprise Services Group - Business Project Services (BPS)</a:t>
                      </a:r>
                    </a:p>
                  </a:txBody>
                  <a:tcPr marL="54864" marR="54864" marT="27432" marB="27432">
                    <a:solidFill>
                      <a:srgbClr val="E5F5FF"/>
                    </a:solidFill>
                  </a:tcPr>
                </a:tc>
                <a:tc>
                  <a:txBody>
                    <a:bodyPr/>
                    <a:lstStyle/>
                    <a:p>
                      <a:r>
                        <a:rPr sz="900" b="0">
                          <a:solidFill>
                            <a:srgbClr val="4B4B4B"/>
                          </a:solidFill>
                          <a:latin typeface="Arial"/>
                        </a:rPr>
                        <a:t>BDO Unibank ESG</a:t>
                      </a:r>
                    </a:p>
                  </a:txBody>
                  <a:tcPr marL="54864" marR="54864" marT="27432" marB="27432">
                    <a:solidFill>
                      <a:srgbClr val="E5F5FF"/>
                    </a:solidFill>
                  </a:tcPr>
                </a:tc>
                <a:tc>
                  <a:txBody>
                    <a:bodyPr/>
                    <a:lstStyle/>
                    <a:p>
                      <a:r>
                        <a:rPr sz="900" b="0">
                          <a:solidFill>
                            <a:srgbClr val="4B4B4B"/>
                          </a:solidFill>
                          <a:latin typeface="Arial"/>
                        </a:rPr>
                        <a:t>The set states the BRD requirements as written (author of the BRD); traceability of every BRD requirement and completeness of the set; chairs the go / no-go board</a:t>
                      </a:r>
                    </a:p>
                  </a:txBody>
                  <a:tcPr marL="54864" marR="54864" marT="27432" marB="27432">
                    <a:solidFill>
                      <a:srgbClr val="E5F5FF"/>
                    </a:solidFill>
                  </a:tcPr>
                </a:tc>
              </a:tr>
              <a:tr h="365760">
                <a:tc>
                  <a:txBody>
                    <a:bodyPr/>
                    <a:lstStyle/>
                    <a:p>
                      <a:r>
                        <a:rPr sz="900" b="0">
                          <a:solidFill>
                            <a:srgbClr val="4B4B4B"/>
                          </a:solidFill>
                          <a:latin typeface="Arial"/>
                        </a:rPr>
                        <a:t>Input provided by</a:t>
                      </a:r>
                    </a:p>
                  </a:txBody>
                  <a:tcPr marL="54864" marR="54864" marT="27432" marB="27432">
                    <a:solidFill>
                      <a:srgbClr val="FFFFFF"/>
                    </a:solidFill>
                  </a:tcPr>
                </a:tc>
                <a:tc>
                  <a:txBody>
                    <a:bodyPr/>
                    <a:lstStyle/>
                    <a:p>
                      <a:r>
                        <a:rPr sz="900" b="0">
                          <a:solidFill>
                            <a:srgbClr val="4B4B4B"/>
                          </a:solidFill>
                          <a:latin typeface="Arial"/>
                        </a:rPr>
                        <a:t>Data Migration Lead</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object decisions, the trial migrations, the gates and the cut-over plan match the business input</a:t>
                      </a:r>
                    </a:p>
                  </a:txBody>
                  <a:tcPr marL="54864" marR="54864" marT="27432" marB="27432">
                    <a:solidFill>
                      <a:srgbClr val="FFFFFF"/>
                    </a:solidFill>
                  </a:tcPr>
                </a:tc>
              </a:tr>
              <a:tr h="365760">
                <a:tc>
                  <a:txBody>
                    <a:bodyPr/>
                    <a:lstStyle/>
                    <a:p>
                      <a:r>
                        <a:rPr sz="900" b="0">
                          <a:solidFill>
                            <a:srgbClr val="4B4B4B"/>
                          </a:solidFill>
                          <a:latin typeface="Arial"/>
                        </a:rPr>
                        <a:t>Input provided by</a:t>
                      </a:r>
                    </a:p>
                  </a:txBody>
                  <a:tcPr marL="54864" marR="54864" marT="27432" marB="27432">
                    <a:solidFill>
                      <a:srgbClr val="E5F5FF"/>
                    </a:solidFill>
                  </a:tcPr>
                </a:tc>
                <a:tc>
                  <a:txBody>
                    <a:bodyPr/>
                    <a:lstStyle/>
                    <a:p>
                      <a:r>
                        <a:rPr sz="900" b="0">
                          <a:solidFill>
                            <a:srgbClr val="4B4B4B"/>
                          </a:solidFill>
                          <a:latin typeface="Arial"/>
                        </a:rPr>
                        <a:t>Data owners of the objects (department representatives named per object)</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Their objects, load templates, code maps and reconciliation</a:t>
                      </a:r>
                    </a:p>
                  </a:txBody>
                  <a:tcPr marL="54864" marR="54864" marT="27432" marB="27432">
                    <a:solidFill>
                      <a:srgbClr val="E5F5FF"/>
                    </a:solidFill>
                  </a:tcPr>
                </a:tc>
              </a:tr>
              <a:tr h="365760">
                <a:tc>
                  <a:txBody>
                    <a:bodyPr/>
                    <a:lstStyle/>
                    <a:p>
                      <a:r>
                        <a:rPr sz="900" b="0">
                          <a:solidFill>
                            <a:srgbClr val="4B4B4B"/>
                          </a:solidFill>
                          <a:latin typeface="Arial"/>
                        </a:rPr>
                        <a:t>Reviewed by</a:t>
                      </a:r>
                    </a:p>
                  </a:txBody>
                  <a:tcPr marL="54864" marR="54864" marT="27432" marB="27432">
                    <a:solidFill>
                      <a:srgbClr val="FFFFFF"/>
                    </a:solidFill>
                  </a:tcPr>
                </a:tc>
                <a:tc>
                  <a:txBody>
                    <a:bodyPr/>
                    <a:lstStyle/>
                    <a:p>
                      <a:r>
                        <a:rPr sz="900" b="0">
                          <a:solidFill>
                            <a:srgbClr val="4B4B4B"/>
                          </a:solidFill>
                          <a:latin typeface="Arial"/>
                        </a:rPr>
                        <a:t>Marketing Business System (MBS)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lists of values, products, packages, clients and payout accounts and their code maps</a:t>
                      </a:r>
                    </a:p>
                  </a:txBody>
                  <a:tcPr marL="54864" marR="54864" marT="27432" marB="27432">
                    <a:solidFill>
                      <a:srgbClr val="FFFFFF"/>
                    </a:solidFill>
                  </a:tcPr>
                </a:tc>
              </a:tr>
              <a:tr h="502920">
                <a:tc>
                  <a:txBody>
                    <a:bodyPr/>
                    <a:lstStyle/>
                    <a:p>
                      <a:r>
                        <a:rPr sz="900" b="0">
                          <a:solidFill>
                            <a:srgbClr val="4B4B4B"/>
                          </a:solidFill>
                          <a:latin typeface="Arial"/>
                        </a:rPr>
                        <a:t>Reviewed by</a:t>
                      </a:r>
                    </a:p>
                  </a:txBody>
                  <a:tcPr marL="54864" marR="54864" marT="27432" marB="27432">
                    <a:solidFill>
                      <a:srgbClr val="E5F5FF"/>
                    </a:solidFill>
                  </a:tcPr>
                </a:tc>
                <a:tc>
                  <a:txBody>
                    <a:bodyPr/>
                    <a:lstStyle/>
                    <a:p>
                      <a:r>
                        <a:rPr sz="900" b="0">
                          <a:solidFill>
                            <a:srgbClr val="4B4B4B"/>
                          </a:solidFill>
                          <a:latin typeface="Arial"/>
                        </a:rPr>
                        <a:t>BDOI Information Technology Group (BDOI IT)</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Extracts and their transfer, the legacy freeze and read-only access, decommissioning, and the Technical Specification (a separate document); not the business content</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Marketing Business System</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Owns the set and approves all of its contents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Product Owner - Comptrollership - Disbursement</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Payees and open disbursements</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Product Owner - Comptrollership - FRBS and ACSL</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GL opening, legacy accounts and the subsidiary ledger</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Operations: Financial Transactions and Processing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Open invoices, unapplied payments, collection state and remittance</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Operations</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Insurers, commission rates and policy headers</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Analytics and Risk Management</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KYC documents, the archive, Legacy Inquiry and its access log</a:t>
                      </a:r>
                    </a:p>
                  </a:txBody>
                  <a:tcPr marL="54864" marR="54864" marT="27432" marB="27432">
                    <a:solidFill>
                      <a:srgbClr val="E5F5FF"/>
                    </a:solidFill>
                  </a:tcPr>
                </a:tc>
              </a:tr>
              <a:tr h="36576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Unit Head - Claims, Analytics, Risk Management, Reinsurance and Technical Underwriting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The renewal advices already sent and the day-1 renewal queue</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Unit Head - Combank and Corbank</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Clients and the sales organisation of Combank and Corbank</a:t>
                      </a:r>
                    </a:p>
                  </a:txBody>
                  <a:tcPr marL="54864" marR="54864" marT="27432" marB="27432">
                    <a:solidFill>
                      <a:srgbClr val="E5F5FF"/>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Comptrollership</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Open items, GL opening, reconciliation and the opening-balance adjustments</a:t>
                      </a:r>
                    </a:p>
                  </a:txBody>
                  <a:tcPr marL="54864" marR="54864" marT="27432" marB="27432">
                    <a:solidFill>
                      <a:srgbClr val="FFFFFF"/>
                    </a:solidFill>
                  </a:tcPr>
                </a:tc>
              </a:tr>
            </a:tbl>
          </a:graphicData>
        </a:graphic>
      </p:graphicFrame>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Contacts and roles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a:t>
            </a:r>
          </a:p>
        </p:txBody>
      </p:sp>
      <p:graphicFrame>
        <p:nvGraphicFramePr>
          <p:cNvPr id="9" name="Table 8"/>
          <p:cNvGraphicFramePr>
            <a:graphicFrameLocks noGrp="1"/>
          </p:cNvGraphicFramePr>
          <p:nvPr/>
        </p:nvGraphicFramePr>
        <p:xfrm>
          <a:off x="548640" y="1325880"/>
          <a:ext cx="11094414" cy="1051560"/>
        </p:xfrm>
        <a:graphic>
          <a:graphicData uri="http://schemas.openxmlformats.org/drawingml/2006/table">
            <a:tbl>
              <a:tblPr firstRow="1" bandRow="1">
                <a:tableStyleId>{5C22544A-7EE6-4342-B048-85BDC9FD1C3A}</a:tableStyleId>
              </a:tblPr>
              <a:tblGrid>
                <a:gridCol w="1450808"/>
                <a:gridCol w="3669691"/>
                <a:gridCol w="1365466"/>
                <a:gridCol w="4608449"/>
              </a:tblGrid>
              <a:tr h="228600">
                <a:tc>
                  <a:txBody>
                    <a:bodyPr/>
                    <a:lstStyle/>
                    <a:p>
                      <a:r>
                        <a:rPr sz="900" b="1">
                          <a:solidFill>
                            <a:srgbClr val="FFFFFF"/>
                          </a:solidFill>
                          <a:latin typeface="Arial"/>
                        </a:rPr>
                        <a:t>Capacity</a:t>
                      </a:r>
                    </a:p>
                  </a:txBody>
                  <a:tcPr marL="54864" marR="54864" marT="27432" marB="27432">
                    <a:solidFill>
                      <a:srgbClr val="004EA8"/>
                    </a:solidFill>
                  </a:tcPr>
                </a:tc>
                <a:tc>
                  <a:txBody>
                    <a:bodyPr/>
                    <a:lstStyle/>
                    <a:p>
                      <a:r>
                        <a:rPr sz="900" b="1">
                          <a:solidFill>
                            <a:srgbClr val="FFFFFF"/>
                          </a:solidFill>
                          <a:latin typeface="Arial"/>
                        </a:rPr>
                        <a:t>Role</a:t>
                      </a:r>
                    </a:p>
                  </a:txBody>
                  <a:tcPr marL="54864" marR="54864" marT="27432" marB="27432">
                    <a:solidFill>
                      <a:srgbClr val="004EA8"/>
                    </a:solidFill>
                  </a:tcPr>
                </a:tc>
                <a:tc>
                  <a:txBody>
                    <a:bodyPr/>
                    <a:lstStyle/>
                    <a:p>
                      <a:r>
                        <a:rPr sz="900" b="1">
                          <a:solidFill>
                            <a:srgbClr val="FFFFFF"/>
                          </a:solidFill>
                          <a:latin typeface="Arial"/>
                        </a:rPr>
                        <a:t>Organisation</a:t>
                      </a:r>
                    </a:p>
                  </a:txBody>
                  <a:tcPr marL="54864" marR="54864" marT="27432" marB="27432">
                    <a:solidFill>
                      <a:srgbClr val="004EA8"/>
                    </a:solidFill>
                  </a:tcPr>
                </a:tc>
                <a:tc>
                  <a:txBody>
                    <a:bodyPr/>
                    <a:lstStyle/>
                    <a:p>
                      <a:r>
                        <a:rPr sz="900" b="1">
                          <a:solidFill>
                            <a:srgbClr val="FFFFFF"/>
                          </a:solidFill>
                          <a:latin typeface="Arial"/>
                        </a:rPr>
                        <a:t>Part in the set</a:t>
                      </a:r>
                    </a:p>
                  </a:txBody>
                  <a:tcPr marL="54864" marR="54864" marT="27432" marB="27432">
                    <a:solidFill>
                      <a:srgbClr val="004EA8"/>
                    </a:solidFill>
                  </a:tcPr>
                </a:tc>
              </a:tr>
              <a:tr h="228600">
                <a:tc>
                  <a:txBody>
                    <a:bodyPr/>
                    <a:lstStyle/>
                    <a:p>
                      <a:r>
                        <a:rPr sz="900" b="0">
                          <a:solidFill>
                            <a:srgbClr val="4B4B4B"/>
                          </a:solidFill>
                          <a:latin typeface="Arial"/>
                        </a:rPr>
                        <a:t>Approved by</a:t>
                      </a:r>
                    </a:p>
                  </a:txBody>
                  <a:tcPr marL="54864" marR="54864" marT="27432" marB="27432">
                    <a:solidFill>
                      <a:srgbClr val="FFFFFF"/>
                    </a:solidFill>
                  </a:tcPr>
                </a:tc>
                <a:tc>
                  <a:txBody>
                    <a:bodyPr/>
                    <a:lstStyle/>
                    <a:p>
                      <a:r>
                        <a:rPr sz="900" b="0">
                          <a:solidFill>
                            <a:srgbClr val="4B4B4B"/>
                          </a:solidFill>
                          <a:latin typeface="Arial"/>
                        </a:rPr>
                        <a:t>Head - Retail Marketing</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Clients and the sales organisation of Retail Marketing</a:t>
                      </a:r>
                    </a:p>
                  </a:txBody>
                  <a:tcPr marL="54864" marR="54864" marT="27432" marB="27432">
                    <a:solidFill>
                      <a:srgbClr val="FFFFFF"/>
                    </a:solidFill>
                  </a:tcPr>
                </a:tc>
              </a:tr>
              <a:tr h="228600">
                <a:tc>
                  <a:txBody>
                    <a:bodyPr/>
                    <a:lstStyle/>
                    <a:p>
                      <a:r>
                        <a:rPr sz="900" b="0">
                          <a:solidFill>
                            <a:srgbClr val="4B4B4B"/>
                          </a:solidFill>
                          <a:latin typeface="Arial"/>
                        </a:rPr>
                        <a:t>Approved by</a:t>
                      </a:r>
                    </a:p>
                  </a:txBody>
                  <a:tcPr marL="54864" marR="54864" marT="27432" marB="27432">
                    <a:solidFill>
                      <a:srgbClr val="E5F5FF"/>
                    </a:solidFill>
                  </a:tcPr>
                </a:tc>
                <a:tc>
                  <a:txBody>
                    <a:bodyPr/>
                    <a:lstStyle/>
                    <a:p>
                      <a:r>
                        <a:rPr sz="900" b="0">
                          <a:solidFill>
                            <a:srgbClr val="4B4B4B"/>
                          </a:solidFill>
                          <a:latin typeface="Arial"/>
                        </a:rPr>
                        <a:t>Head - Corporate and Retail Marketing</a:t>
                      </a:r>
                    </a:p>
                  </a:txBody>
                  <a:tcPr marL="54864" marR="54864" marT="27432" marB="27432">
                    <a:solidFill>
                      <a:srgbClr val="E5F5FF"/>
                    </a:solidFill>
                  </a:tcPr>
                </a:tc>
                <a:tc>
                  <a:txBody>
                    <a:bodyPr/>
                    <a:lstStyle/>
                    <a:p>
                      <a:r>
                        <a:rPr sz="900" b="0">
                          <a:solidFill>
                            <a:srgbClr val="4B4B4B"/>
                          </a:solidFill>
                          <a:latin typeface="Arial"/>
                        </a:rPr>
                        <a:t>BDOI</a:t>
                      </a:r>
                    </a:p>
                  </a:txBody>
                  <a:tcPr marL="54864" marR="54864" marT="27432" marB="27432">
                    <a:solidFill>
                      <a:srgbClr val="E5F5FF"/>
                    </a:solidFill>
                  </a:tcPr>
                </a:tc>
                <a:tc>
                  <a:txBody>
                    <a:bodyPr/>
                    <a:lstStyle/>
                    <a:p>
                      <a:r>
                        <a:rPr sz="900" b="0">
                          <a:solidFill>
                            <a:srgbClr val="4B4B4B"/>
                          </a:solidFill>
                          <a:latin typeface="Arial"/>
                        </a:rPr>
                        <a:t>Clients and the sales organisation of Corporate Marketing</a:t>
                      </a:r>
                    </a:p>
                  </a:txBody>
                  <a:tcPr marL="54864" marR="54864" marT="27432" marB="27432">
                    <a:solidFill>
                      <a:srgbClr val="E5F5FF"/>
                    </a:solidFill>
                  </a:tcPr>
                </a:tc>
              </a:tr>
              <a:tr h="365760">
                <a:tc>
                  <a:txBody>
                    <a:bodyPr/>
                    <a:lstStyle/>
                    <a:p>
                      <a:r>
                        <a:rPr sz="900" b="0">
                          <a:solidFill>
                            <a:srgbClr val="4B4B4B"/>
                          </a:solidFill>
                          <a:latin typeface="Arial"/>
                        </a:rPr>
                        <a:t>Receives 07 to 09</a:t>
                      </a:r>
                    </a:p>
                  </a:txBody>
                  <a:tcPr marL="54864" marR="54864" marT="27432" marB="27432">
                    <a:solidFill>
                      <a:srgbClr val="FFFFFF"/>
                    </a:solidFill>
                  </a:tcPr>
                </a:tc>
                <a:tc>
                  <a:txBody>
                    <a:bodyPr/>
                    <a:lstStyle/>
                    <a:p>
                      <a:r>
                        <a:rPr sz="900" b="0">
                          <a:solidFill>
                            <a:srgbClr val="4B4B4B"/>
                          </a:solidFill>
                          <a:latin typeface="Arial"/>
                        </a:rPr>
                        <a:t>BDOI UX Design team (UXD)</a:t>
                      </a:r>
                    </a:p>
                  </a:txBody>
                  <a:tcPr marL="54864" marR="54864" marT="27432" marB="27432">
                    <a:solidFill>
                      <a:srgbClr val="FFFFFF"/>
                    </a:solidFill>
                  </a:tcPr>
                </a:tc>
                <a:tc>
                  <a:txBody>
                    <a:bodyPr/>
                    <a:lstStyle/>
                    <a:p>
                      <a:r>
                        <a:rPr sz="900" b="0">
                          <a:solidFill>
                            <a:srgbClr val="4B4B4B"/>
                          </a:solidFill>
                          <a:latin typeface="Arial"/>
                        </a:rPr>
                        <a:t>BDOI</a:t>
                      </a:r>
                    </a:p>
                  </a:txBody>
                  <a:tcPr marL="54864" marR="54864" marT="27432" marB="27432">
                    <a:solidFill>
                      <a:srgbClr val="FFFFFF"/>
                    </a:solidFill>
                  </a:tcPr>
                </a:tc>
                <a:tc>
                  <a:txBody>
                    <a:bodyPr/>
                    <a:lstStyle/>
                    <a:p>
                      <a:r>
                        <a:rPr sz="900" b="0">
                          <a:solidFill>
                            <a:srgbClr val="4B4B4B"/>
                          </a:solidFill>
                          <a:latin typeface="Arial"/>
                        </a:rPr>
                        <a:t>Designs the screens from this deck; keeps the UXD status and comments of the register; raises questions on the Questions and comments sheet</a:t>
                      </a:r>
                    </a:p>
                  </a:txBody>
                  <a:tcPr marL="54864" marR="54864" marT="27432" marB="27432">
                    <a:solidFill>
                      <a:srgbClr val="FFFFFF"/>
                    </a:solidFill>
                  </a:tcPr>
                </a:tc>
              </a:tr>
            </a:tbl>
          </a:graphicData>
        </a:graphic>
      </p:graphicFrame>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Design foundation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Colours, type, spacing, icons, the shared components and the screen standards as the screens use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Colour tokens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a:t>
            </a:r>
          </a:p>
        </p:txBody>
      </p:sp>
      <p:sp>
        <p:nvSpPr>
          <p:cNvPr id="9" name="Rectangle 8"/>
          <p:cNvSpPr/>
          <p:nvPr/>
        </p:nvSpPr>
        <p:spPr>
          <a:xfrm>
            <a:off x="548640" y="1261872"/>
            <a:ext cx="1428162" cy="384048"/>
          </a:xfrm>
          <a:prstGeom prst="rect">
            <a:avLst/>
          </a:prstGeom>
          <a:solidFill>
            <a:srgbClr val="1F3A5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48640" y="1655064"/>
            <a:ext cx="1428162" cy="201168"/>
          </a:xfrm>
          <a:prstGeom prst="rect">
            <a:avLst/>
          </a:prstGeom>
          <a:noFill/>
        </p:spPr>
        <p:txBody>
          <a:bodyPr wrap="square" anchor="t" lIns="45720" rIns="45720">
            <a:spAutoFit/>
          </a:bodyPr>
          <a:lstStyle/>
          <a:p>
            <a:r>
              <a:rPr sz="800" b="1" i="0">
                <a:solidFill>
                  <a:srgbClr val="2E2E2E"/>
                </a:solidFill>
                <a:latin typeface="Arial"/>
              </a:rPr>
              <a:t>brand-navy</a:t>
            </a:r>
          </a:p>
        </p:txBody>
      </p:sp>
      <p:sp>
        <p:nvSpPr>
          <p:cNvPr id="11" name="TextBox 10"/>
          <p:cNvSpPr txBox="1"/>
          <p:nvPr/>
        </p:nvSpPr>
        <p:spPr>
          <a:xfrm>
            <a:off x="548640" y="1828800"/>
            <a:ext cx="1428162" cy="365760"/>
          </a:xfrm>
          <a:prstGeom prst="rect">
            <a:avLst/>
          </a:prstGeom>
          <a:noFill/>
        </p:spPr>
        <p:txBody>
          <a:bodyPr wrap="square" anchor="t" lIns="45720" rIns="45720">
            <a:spAutoFit/>
          </a:bodyPr>
          <a:lstStyle/>
          <a:p>
            <a:r>
              <a:rPr sz="700" b="0" i="0">
                <a:solidFill>
                  <a:srgbClr val="656565"/>
                </a:solidFill>
                <a:latin typeface="Arial"/>
              </a:rPr>
              <a:t>#1F3A5F headers, table heads, section bars</a:t>
            </a:r>
          </a:p>
        </p:txBody>
      </p:sp>
      <p:sp>
        <p:nvSpPr>
          <p:cNvPr id="12" name="Rectangle 11"/>
          <p:cNvSpPr/>
          <p:nvPr/>
        </p:nvSpPr>
        <p:spPr>
          <a:xfrm>
            <a:off x="2159682" y="1261872"/>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2159682" y="1655064"/>
            <a:ext cx="1428162" cy="201168"/>
          </a:xfrm>
          <a:prstGeom prst="rect">
            <a:avLst/>
          </a:prstGeom>
          <a:noFill/>
        </p:spPr>
        <p:txBody>
          <a:bodyPr wrap="square" anchor="t" lIns="45720" rIns="45720">
            <a:spAutoFit/>
          </a:bodyPr>
          <a:lstStyle/>
          <a:p>
            <a:r>
              <a:rPr sz="800" b="1" i="0">
                <a:solidFill>
                  <a:srgbClr val="2E2E2E"/>
                </a:solidFill>
                <a:latin typeface="Arial"/>
              </a:rPr>
              <a:t>brand-blue</a:t>
            </a:r>
          </a:p>
        </p:txBody>
      </p:sp>
      <p:sp>
        <p:nvSpPr>
          <p:cNvPr id="14" name="TextBox 13"/>
          <p:cNvSpPr txBox="1"/>
          <p:nvPr/>
        </p:nvSpPr>
        <p:spPr>
          <a:xfrm>
            <a:off x="2159682" y="1828800"/>
            <a:ext cx="1428162" cy="365760"/>
          </a:xfrm>
          <a:prstGeom prst="rect">
            <a:avLst/>
          </a:prstGeom>
          <a:noFill/>
        </p:spPr>
        <p:txBody>
          <a:bodyPr wrap="square" anchor="t" lIns="45720" rIns="45720">
            <a:spAutoFit/>
          </a:bodyPr>
          <a:lstStyle/>
          <a:p>
            <a:r>
              <a:rPr sz="700" b="0" i="0">
                <a:solidFill>
                  <a:srgbClr val="656565"/>
                </a:solidFill>
                <a:latin typeface="Arial"/>
              </a:rPr>
              <a:t>#2F6DB5 primary buttons, links, active items</a:t>
            </a:r>
          </a:p>
        </p:txBody>
      </p:sp>
      <p:sp>
        <p:nvSpPr>
          <p:cNvPr id="15" name="Rectangle 14"/>
          <p:cNvSpPr/>
          <p:nvPr/>
        </p:nvSpPr>
        <p:spPr>
          <a:xfrm>
            <a:off x="3770724" y="1261872"/>
            <a:ext cx="1428162" cy="384048"/>
          </a:xfrm>
          <a:prstGeom prst="rect">
            <a:avLst/>
          </a:prstGeom>
          <a:solidFill>
            <a:srgbClr val="255A9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770724" y="1655064"/>
            <a:ext cx="1428162" cy="201168"/>
          </a:xfrm>
          <a:prstGeom prst="rect">
            <a:avLst/>
          </a:prstGeom>
          <a:noFill/>
        </p:spPr>
        <p:txBody>
          <a:bodyPr wrap="square" anchor="t" lIns="45720" rIns="45720">
            <a:spAutoFit/>
          </a:bodyPr>
          <a:lstStyle/>
          <a:p>
            <a:r>
              <a:rPr sz="800" b="1" i="0">
                <a:solidFill>
                  <a:srgbClr val="2E2E2E"/>
                </a:solidFill>
                <a:latin typeface="Arial"/>
              </a:rPr>
              <a:t>brand-blue-600</a:t>
            </a:r>
          </a:p>
        </p:txBody>
      </p:sp>
      <p:sp>
        <p:nvSpPr>
          <p:cNvPr id="17" name="TextBox 16"/>
          <p:cNvSpPr txBox="1"/>
          <p:nvPr/>
        </p:nvSpPr>
        <p:spPr>
          <a:xfrm>
            <a:off x="3770724" y="1828800"/>
            <a:ext cx="1428162" cy="365760"/>
          </a:xfrm>
          <a:prstGeom prst="rect">
            <a:avLst/>
          </a:prstGeom>
          <a:noFill/>
        </p:spPr>
        <p:txBody>
          <a:bodyPr wrap="square" anchor="t" lIns="45720" rIns="45720">
            <a:spAutoFit/>
          </a:bodyPr>
          <a:lstStyle/>
          <a:p>
            <a:r>
              <a:rPr sz="700" b="0" i="0">
                <a:solidFill>
                  <a:srgbClr val="656565"/>
                </a:solidFill>
                <a:latin typeface="Arial"/>
              </a:rPr>
              <a:t>#255A96 hover / pressed</a:t>
            </a:r>
          </a:p>
        </p:txBody>
      </p:sp>
      <p:sp>
        <p:nvSpPr>
          <p:cNvPr id="18" name="Rectangle 17"/>
          <p:cNvSpPr/>
          <p:nvPr/>
        </p:nvSpPr>
        <p:spPr>
          <a:xfrm>
            <a:off x="5381766" y="1261872"/>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381766" y="1655064"/>
            <a:ext cx="1428162" cy="201168"/>
          </a:xfrm>
          <a:prstGeom prst="rect">
            <a:avLst/>
          </a:prstGeom>
          <a:noFill/>
        </p:spPr>
        <p:txBody>
          <a:bodyPr wrap="square" anchor="t" lIns="45720" rIns="45720">
            <a:spAutoFit/>
          </a:bodyPr>
          <a:lstStyle/>
          <a:p>
            <a:r>
              <a:rPr sz="800" b="1" i="0">
                <a:solidFill>
                  <a:srgbClr val="2E2E2E"/>
                </a:solidFill>
                <a:latin typeface="Arial"/>
              </a:rPr>
              <a:t>brand-blue-050</a:t>
            </a:r>
          </a:p>
        </p:txBody>
      </p:sp>
      <p:sp>
        <p:nvSpPr>
          <p:cNvPr id="20" name="TextBox 19"/>
          <p:cNvSpPr txBox="1"/>
          <p:nvPr/>
        </p:nvSpPr>
        <p:spPr>
          <a:xfrm>
            <a:off x="5381766" y="1828800"/>
            <a:ext cx="1428162" cy="365760"/>
          </a:xfrm>
          <a:prstGeom prst="rect">
            <a:avLst/>
          </a:prstGeom>
          <a:noFill/>
        </p:spPr>
        <p:txBody>
          <a:bodyPr wrap="square" anchor="t" lIns="45720" rIns="45720">
            <a:spAutoFit/>
          </a:bodyPr>
          <a:lstStyle/>
          <a:p>
            <a:r>
              <a:rPr sz="700" b="0" i="0">
                <a:solidFill>
                  <a:srgbClr val="656565"/>
                </a:solidFill>
                <a:latin typeface="Arial"/>
              </a:rPr>
              <a:t>#EEF3F9 highlights, alternate rows</a:t>
            </a:r>
          </a:p>
        </p:txBody>
      </p:sp>
      <p:sp>
        <p:nvSpPr>
          <p:cNvPr id="21" name="Rectangle 20"/>
          <p:cNvSpPr/>
          <p:nvPr/>
        </p:nvSpPr>
        <p:spPr>
          <a:xfrm>
            <a:off x="6992808" y="1261872"/>
            <a:ext cx="1428162" cy="384048"/>
          </a:xfrm>
          <a:prstGeom prst="rect">
            <a:avLst/>
          </a:prstGeom>
          <a:solidFill>
            <a:srgbClr val="A9BDD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992808" y="1655064"/>
            <a:ext cx="1428162" cy="201168"/>
          </a:xfrm>
          <a:prstGeom prst="rect">
            <a:avLst/>
          </a:prstGeom>
          <a:noFill/>
        </p:spPr>
        <p:txBody>
          <a:bodyPr wrap="square" anchor="t" lIns="45720" rIns="45720">
            <a:spAutoFit/>
          </a:bodyPr>
          <a:lstStyle/>
          <a:p>
            <a:r>
              <a:rPr sz="800" b="1" i="0">
                <a:solidFill>
                  <a:srgbClr val="2E2E2E"/>
                </a:solidFill>
                <a:latin typeface="Arial"/>
              </a:rPr>
              <a:t>brand-field-blue</a:t>
            </a:r>
          </a:p>
        </p:txBody>
      </p:sp>
      <p:sp>
        <p:nvSpPr>
          <p:cNvPr id="23" name="TextBox 22"/>
          <p:cNvSpPr txBox="1"/>
          <p:nvPr/>
        </p:nvSpPr>
        <p:spPr>
          <a:xfrm>
            <a:off x="6992808" y="1828800"/>
            <a:ext cx="1428162" cy="365760"/>
          </a:xfrm>
          <a:prstGeom prst="rect">
            <a:avLst/>
          </a:prstGeom>
          <a:noFill/>
        </p:spPr>
        <p:txBody>
          <a:bodyPr wrap="square" anchor="t" lIns="45720" rIns="45720">
            <a:spAutoFit/>
          </a:bodyPr>
          <a:lstStyle/>
          <a:p>
            <a:r>
              <a:rPr sz="700" b="0" i="0">
                <a:solidFill>
                  <a:srgbClr val="656565"/>
                </a:solidFill>
                <a:latin typeface="Arial"/>
              </a:rPr>
              <a:t>#A9BDD4 input borders</a:t>
            </a:r>
          </a:p>
        </p:txBody>
      </p:sp>
      <p:sp>
        <p:nvSpPr>
          <p:cNvPr id="24" name="Rectangle 23"/>
          <p:cNvSpPr/>
          <p:nvPr/>
        </p:nvSpPr>
        <p:spPr>
          <a:xfrm>
            <a:off x="8603850" y="1261872"/>
            <a:ext cx="1428162" cy="384048"/>
          </a:xfrm>
          <a:prstGeom prst="rect">
            <a:avLst/>
          </a:prstGeom>
          <a:solidFill>
            <a:srgbClr val="D9A44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03850" y="1655064"/>
            <a:ext cx="1428162" cy="201168"/>
          </a:xfrm>
          <a:prstGeom prst="rect">
            <a:avLst/>
          </a:prstGeom>
          <a:noFill/>
        </p:spPr>
        <p:txBody>
          <a:bodyPr wrap="square" anchor="t" lIns="45720" rIns="45720">
            <a:spAutoFit/>
          </a:bodyPr>
          <a:lstStyle/>
          <a:p>
            <a:r>
              <a:rPr sz="800" b="1" i="0">
                <a:solidFill>
                  <a:srgbClr val="2E2E2E"/>
                </a:solidFill>
                <a:latin typeface="Arial"/>
              </a:rPr>
              <a:t>brand-gold</a:t>
            </a:r>
          </a:p>
        </p:txBody>
      </p:sp>
      <p:sp>
        <p:nvSpPr>
          <p:cNvPr id="26" name="TextBox 25"/>
          <p:cNvSpPr txBox="1"/>
          <p:nvPr/>
        </p:nvSpPr>
        <p:spPr>
          <a:xfrm>
            <a:off x="8603850" y="1828800"/>
            <a:ext cx="1428162" cy="365760"/>
          </a:xfrm>
          <a:prstGeom prst="rect">
            <a:avLst/>
          </a:prstGeom>
          <a:noFill/>
        </p:spPr>
        <p:txBody>
          <a:bodyPr wrap="square" anchor="t" lIns="45720" rIns="45720">
            <a:spAutoFit/>
          </a:bodyPr>
          <a:lstStyle/>
          <a:p>
            <a:r>
              <a:rPr sz="700" b="0" i="0">
                <a:solidFill>
                  <a:srgbClr val="656565"/>
                </a:solidFill>
                <a:latin typeface="Arial"/>
              </a:rPr>
              <a:t>#D9A441 accents and breakers, used sparingly</a:t>
            </a:r>
          </a:p>
        </p:txBody>
      </p:sp>
      <p:sp>
        <p:nvSpPr>
          <p:cNvPr id="27" name="Rectangle 26"/>
          <p:cNvSpPr/>
          <p:nvPr/>
        </p:nvSpPr>
        <p:spPr>
          <a:xfrm>
            <a:off x="10214892" y="1261872"/>
            <a:ext cx="1428162" cy="384048"/>
          </a:xfrm>
          <a:prstGeom prst="rect">
            <a:avLst/>
          </a:prstGeom>
          <a:solidFill>
            <a:srgbClr val="B8862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10214892" y="1655064"/>
            <a:ext cx="1428162" cy="201168"/>
          </a:xfrm>
          <a:prstGeom prst="rect">
            <a:avLst/>
          </a:prstGeom>
          <a:noFill/>
        </p:spPr>
        <p:txBody>
          <a:bodyPr wrap="square" anchor="t" lIns="45720" rIns="45720">
            <a:spAutoFit/>
          </a:bodyPr>
          <a:lstStyle/>
          <a:p>
            <a:r>
              <a:rPr sz="800" b="1" i="0">
                <a:solidFill>
                  <a:srgbClr val="2E2E2E"/>
                </a:solidFill>
                <a:latin typeface="Arial"/>
              </a:rPr>
              <a:t>brand-gold-600</a:t>
            </a:r>
          </a:p>
        </p:txBody>
      </p:sp>
      <p:sp>
        <p:nvSpPr>
          <p:cNvPr id="29" name="TextBox 28"/>
          <p:cNvSpPr txBox="1"/>
          <p:nvPr/>
        </p:nvSpPr>
        <p:spPr>
          <a:xfrm>
            <a:off x="10214892" y="1828800"/>
            <a:ext cx="1428162" cy="365760"/>
          </a:xfrm>
          <a:prstGeom prst="rect">
            <a:avLst/>
          </a:prstGeom>
          <a:noFill/>
        </p:spPr>
        <p:txBody>
          <a:bodyPr wrap="square" anchor="t" lIns="45720" rIns="45720">
            <a:spAutoFit/>
          </a:bodyPr>
          <a:lstStyle/>
          <a:p>
            <a:r>
              <a:rPr sz="700" b="0" i="0">
                <a:solidFill>
                  <a:srgbClr val="656565"/>
                </a:solidFill>
                <a:latin typeface="Arial"/>
              </a:rPr>
              <a:t>#B8862C </a:t>
            </a:r>
          </a:p>
        </p:txBody>
      </p:sp>
      <p:sp>
        <p:nvSpPr>
          <p:cNvPr id="30" name="Rectangle 29"/>
          <p:cNvSpPr/>
          <p:nvPr/>
        </p:nvSpPr>
        <p:spPr>
          <a:xfrm>
            <a:off x="548640" y="2249424"/>
            <a:ext cx="1428162" cy="384048"/>
          </a:xfrm>
          <a:prstGeom prst="rect">
            <a:avLst/>
          </a:prstGeom>
          <a:solidFill>
            <a:srgbClr val="FBF3E2"/>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548640" y="2642616"/>
            <a:ext cx="1428162" cy="201168"/>
          </a:xfrm>
          <a:prstGeom prst="rect">
            <a:avLst/>
          </a:prstGeom>
          <a:noFill/>
        </p:spPr>
        <p:txBody>
          <a:bodyPr wrap="square" anchor="t" lIns="45720" rIns="45720">
            <a:spAutoFit/>
          </a:bodyPr>
          <a:lstStyle/>
          <a:p>
            <a:r>
              <a:rPr sz="800" b="1" i="0">
                <a:solidFill>
                  <a:srgbClr val="2E2E2E"/>
                </a:solidFill>
                <a:latin typeface="Arial"/>
              </a:rPr>
              <a:t>brand-gold-050</a:t>
            </a:r>
          </a:p>
        </p:txBody>
      </p:sp>
      <p:sp>
        <p:nvSpPr>
          <p:cNvPr id="32" name="TextBox 31"/>
          <p:cNvSpPr txBox="1"/>
          <p:nvPr/>
        </p:nvSpPr>
        <p:spPr>
          <a:xfrm>
            <a:off x="548640" y="2816352"/>
            <a:ext cx="1428162" cy="365760"/>
          </a:xfrm>
          <a:prstGeom prst="rect">
            <a:avLst/>
          </a:prstGeom>
          <a:noFill/>
        </p:spPr>
        <p:txBody>
          <a:bodyPr wrap="square" anchor="t" lIns="45720" rIns="45720">
            <a:spAutoFit/>
          </a:bodyPr>
          <a:lstStyle/>
          <a:p>
            <a:r>
              <a:rPr sz="700" b="0" i="0">
                <a:solidFill>
                  <a:srgbClr val="656565"/>
                </a:solidFill>
                <a:latin typeface="Arial"/>
              </a:rPr>
              <a:t>#FBF3E2 Neutrals (never pure black)</a:t>
            </a:r>
          </a:p>
        </p:txBody>
      </p:sp>
      <p:sp>
        <p:nvSpPr>
          <p:cNvPr id="33" name="Rectangle 32"/>
          <p:cNvSpPr/>
          <p:nvPr/>
        </p:nvSpPr>
        <p:spPr>
          <a:xfrm>
            <a:off x="2159682"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159682" y="2642616"/>
            <a:ext cx="1428162" cy="201168"/>
          </a:xfrm>
          <a:prstGeom prst="rect">
            <a:avLst/>
          </a:prstGeom>
          <a:noFill/>
        </p:spPr>
        <p:txBody>
          <a:bodyPr wrap="square" anchor="t" lIns="45720" rIns="45720">
            <a:spAutoFit/>
          </a:bodyPr>
          <a:lstStyle/>
          <a:p>
            <a:r>
              <a:rPr sz="800" b="1" i="0">
                <a:solidFill>
                  <a:srgbClr val="2E2E2E"/>
                </a:solidFill>
                <a:latin typeface="Arial"/>
              </a:rPr>
              <a:t>color-bg</a:t>
            </a:r>
          </a:p>
        </p:txBody>
      </p:sp>
      <p:sp>
        <p:nvSpPr>
          <p:cNvPr id="35" name="TextBox 34"/>
          <p:cNvSpPr txBox="1"/>
          <p:nvPr/>
        </p:nvSpPr>
        <p:spPr>
          <a:xfrm>
            <a:off x="2159682" y="2816352"/>
            <a:ext cx="1428162" cy="365760"/>
          </a:xfrm>
          <a:prstGeom prst="rect">
            <a:avLst/>
          </a:prstGeom>
          <a:noFill/>
        </p:spPr>
        <p:txBody>
          <a:bodyPr wrap="square" anchor="t" lIns="45720" rIns="45720">
            <a:spAutoFit/>
          </a:bodyPr>
          <a:lstStyle/>
          <a:p>
            <a:r>
              <a:rPr sz="700" b="0" i="0">
                <a:solidFill>
                  <a:srgbClr val="656565"/>
                </a:solidFill>
                <a:latin typeface="Arial"/>
              </a:rPr>
              <a:t>#F6F6F6 Dirty White</a:t>
            </a:r>
          </a:p>
        </p:txBody>
      </p:sp>
      <p:sp>
        <p:nvSpPr>
          <p:cNvPr id="36" name="Rectangle 35"/>
          <p:cNvSpPr/>
          <p:nvPr/>
        </p:nvSpPr>
        <p:spPr>
          <a:xfrm>
            <a:off x="3770724" y="2249424"/>
            <a:ext cx="1428162" cy="384048"/>
          </a:xfrm>
          <a:prstGeom prst="rect">
            <a:avLst/>
          </a:prstGeom>
          <a:solidFill>
            <a:srgbClr val="FFFFF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3770724" y="2642616"/>
            <a:ext cx="1428162" cy="201168"/>
          </a:xfrm>
          <a:prstGeom prst="rect">
            <a:avLst/>
          </a:prstGeom>
          <a:noFill/>
        </p:spPr>
        <p:txBody>
          <a:bodyPr wrap="square" anchor="t" lIns="45720" rIns="45720">
            <a:spAutoFit/>
          </a:bodyPr>
          <a:lstStyle/>
          <a:p>
            <a:r>
              <a:rPr sz="800" b="1" i="0">
                <a:solidFill>
                  <a:srgbClr val="2E2E2E"/>
                </a:solidFill>
                <a:latin typeface="Arial"/>
              </a:rPr>
              <a:t>color-surface</a:t>
            </a:r>
          </a:p>
        </p:txBody>
      </p:sp>
      <p:sp>
        <p:nvSpPr>
          <p:cNvPr id="38" name="TextBox 37"/>
          <p:cNvSpPr txBox="1"/>
          <p:nvPr/>
        </p:nvSpPr>
        <p:spPr>
          <a:xfrm>
            <a:off x="3770724" y="2816352"/>
            <a:ext cx="1428162" cy="365760"/>
          </a:xfrm>
          <a:prstGeom prst="rect">
            <a:avLst/>
          </a:prstGeom>
          <a:noFill/>
        </p:spPr>
        <p:txBody>
          <a:bodyPr wrap="square" anchor="t" lIns="45720" rIns="45720">
            <a:spAutoFit/>
          </a:bodyPr>
          <a:lstStyle/>
          <a:p>
            <a:r>
              <a:rPr sz="700" b="0" i="0">
                <a:solidFill>
                  <a:srgbClr val="656565"/>
                </a:solidFill>
                <a:latin typeface="Arial"/>
              </a:rPr>
              <a:t>#FFFFFF </a:t>
            </a:r>
          </a:p>
        </p:txBody>
      </p:sp>
      <p:sp>
        <p:nvSpPr>
          <p:cNvPr id="39" name="Rectangle 38"/>
          <p:cNvSpPr/>
          <p:nvPr/>
        </p:nvSpPr>
        <p:spPr>
          <a:xfrm>
            <a:off x="5381766" y="2249424"/>
            <a:ext cx="1428162" cy="384048"/>
          </a:xfrm>
          <a:prstGeom prst="rect">
            <a:avLst/>
          </a:prstGeom>
          <a:solidFill>
            <a:srgbClr val="F6F6F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381766" y="2642616"/>
            <a:ext cx="1428162" cy="201168"/>
          </a:xfrm>
          <a:prstGeom prst="rect">
            <a:avLst/>
          </a:prstGeom>
          <a:noFill/>
        </p:spPr>
        <p:txBody>
          <a:bodyPr wrap="square" anchor="t" lIns="45720" rIns="45720">
            <a:spAutoFit/>
          </a:bodyPr>
          <a:lstStyle/>
          <a:p>
            <a:r>
              <a:rPr sz="800" b="1" i="0">
                <a:solidFill>
                  <a:srgbClr val="2E2E2E"/>
                </a:solidFill>
                <a:latin typeface="Arial"/>
              </a:rPr>
              <a:t>color-surface-alt</a:t>
            </a:r>
          </a:p>
        </p:txBody>
      </p:sp>
      <p:sp>
        <p:nvSpPr>
          <p:cNvPr id="41" name="TextBox 40"/>
          <p:cNvSpPr txBox="1"/>
          <p:nvPr/>
        </p:nvSpPr>
        <p:spPr>
          <a:xfrm>
            <a:off x="5381766" y="2816352"/>
            <a:ext cx="1428162" cy="365760"/>
          </a:xfrm>
          <a:prstGeom prst="rect">
            <a:avLst/>
          </a:prstGeom>
          <a:noFill/>
        </p:spPr>
        <p:txBody>
          <a:bodyPr wrap="square" anchor="t" lIns="45720" rIns="45720">
            <a:spAutoFit/>
          </a:bodyPr>
          <a:lstStyle/>
          <a:p>
            <a:r>
              <a:rPr sz="700" b="0" i="0">
                <a:solidFill>
                  <a:srgbClr val="656565"/>
                </a:solidFill>
                <a:latin typeface="Arial"/>
              </a:rPr>
              <a:t>#F6F6F6 </a:t>
            </a:r>
          </a:p>
        </p:txBody>
      </p:sp>
      <p:sp>
        <p:nvSpPr>
          <p:cNvPr id="42" name="Rectangle 41"/>
          <p:cNvSpPr/>
          <p:nvPr/>
        </p:nvSpPr>
        <p:spPr>
          <a:xfrm>
            <a:off x="6992808" y="2249424"/>
            <a:ext cx="1428162" cy="384048"/>
          </a:xfrm>
          <a:prstGeom prst="rect">
            <a:avLst/>
          </a:prstGeom>
          <a:solidFill>
            <a:srgbClr val="2E2E2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6992808" y="2642616"/>
            <a:ext cx="1428162" cy="201168"/>
          </a:xfrm>
          <a:prstGeom prst="rect">
            <a:avLst/>
          </a:prstGeom>
          <a:noFill/>
        </p:spPr>
        <p:txBody>
          <a:bodyPr wrap="square" anchor="t" lIns="45720" rIns="45720">
            <a:spAutoFit/>
          </a:bodyPr>
          <a:lstStyle/>
          <a:p>
            <a:r>
              <a:rPr sz="800" b="1" i="0">
                <a:solidFill>
                  <a:srgbClr val="2E2E2E"/>
                </a:solidFill>
                <a:latin typeface="Arial"/>
              </a:rPr>
              <a:t>color-heading</a:t>
            </a:r>
          </a:p>
        </p:txBody>
      </p:sp>
      <p:sp>
        <p:nvSpPr>
          <p:cNvPr id="44" name="TextBox 43"/>
          <p:cNvSpPr txBox="1"/>
          <p:nvPr/>
        </p:nvSpPr>
        <p:spPr>
          <a:xfrm>
            <a:off x="6992808" y="2816352"/>
            <a:ext cx="1428162" cy="365760"/>
          </a:xfrm>
          <a:prstGeom prst="rect">
            <a:avLst/>
          </a:prstGeom>
          <a:noFill/>
        </p:spPr>
        <p:txBody>
          <a:bodyPr wrap="square" anchor="t" lIns="45720" rIns="45720">
            <a:spAutoFit/>
          </a:bodyPr>
          <a:lstStyle/>
          <a:p>
            <a:r>
              <a:rPr sz="700" b="0" i="0">
                <a:solidFill>
                  <a:srgbClr val="656565"/>
                </a:solidFill>
                <a:latin typeface="Arial"/>
              </a:rPr>
              <a:t>#2E2E2E Near Black</a:t>
            </a:r>
          </a:p>
        </p:txBody>
      </p:sp>
      <p:sp>
        <p:nvSpPr>
          <p:cNvPr id="45" name="Rectangle 44"/>
          <p:cNvSpPr/>
          <p:nvPr/>
        </p:nvSpPr>
        <p:spPr>
          <a:xfrm>
            <a:off x="8603850" y="2249424"/>
            <a:ext cx="1428162" cy="384048"/>
          </a:xfrm>
          <a:prstGeom prst="rect">
            <a:avLst/>
          </a:prstGeom>
          <a:solidFill>
            <a:srgbClr val="4B4B4B"/>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8603850" y="2642616"/>
            <a:ext cx="1428162" cy="201168"/>
          </a:xfrm>
          <a:prstGeom prst="rect">
            <a:avLst/>
          </a:prstGeom>
          <a:noFill/>
        </p:spPr>
        <p:txBody>
          <a:bodyPr wrap="square" anchor="t" lIns="45720" rIns="45720">
            <a:spAutoFit/>
          </a:bodyPr>
          <a:lstStyle/>
          <a:p>
            <a:r>
              <a:rPr sz="800" b="1" i="0">
                <a:solidFill>
                  <a:srgbClr val="2E2E2E"/>
                </a:solidFill>
                <a:latin typeface="Arial"/>
              </a:rPr>
              <a:t>color-text</a:t>
            </a:r>
          </a:p>
        </p:txBody>
      </p:sp>
      <p:sp>
        <p:nvSpPr>
          <p:cNvPr id="47" name="TextBox 46"/>
          <p:cNvSpPr txBox="1"/>
          <p:nvPr/>
        </p:nvSpPr>
        <p:spPr>
          <a:xfrm>
            <a:off x="8603850" y="2816352"/>
            <a:ext cx="1428162" cy="365760"/>
          </a:xfrm>
          <a:prstGeom prst="rect">
            <a:avLst/>
          </a:prstGeom>
          <a:noFill/>
        </p:spPr>
        <p:txBody>
          <a:bodyPr wrap="square" anchor="t" lIns="45720" rIns="45720">
            <a:spAutoFit/>
          </a:bodyPr>
          <a:lstStyle/>
          <a:p>
            <a:r>
              <a:rPr sz="700" b="0" i="0">
                <a:solidFill>
                  <a:srgbClr val="656565"/>
                </a:solidFill>
                <a:latin typeface="Arial"/>
              </a:rPr>
              <a:t>#4B4B4B Dark Grey</a:t>
            </a:r>
          </a:p>
        </p:txBody>
      </p:sp>
      <p:sp>
        <p:nvSpPr>
          <p:cNvPr id="48" name="Rectangle 47"/>
          <p:cNvSpPr/>
          <p:nvPr/>
        </p:nvSpPr>
        <p:spPr>
          <a:xfrm>
            <a:off x="10214892" y="2249424"/>
            <a:ext cx="1428162" cy="384048"/>
          </a:xfrm>
          <a:prstGeom prst="rect">
            <a:avLst/>
          </a:prstGeom>
          <a:solidFill>
            <a:srgbClr val="65656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9" name="TextBox 48"/>
          <p:cNvSpPr txBox="1"/>
          <p:nvPr/>
        </p:nvSpPr>
        <p:spPr>
          <a:xfrm>
            <a:off x="10214892" y="2642616"/>
            <a:ext cx="1428162" cy="201168"/>
          </a:xfrm>
          <a:prstGeom prst="rect">
            <a:avLst/>
          </a:prstGeom>
          <a:noFill/>
        </p:spPr>
        <p:txBody>
          <a:bodyPr wrap="square" anchor="t" lIns="45720" rIns="45720">
            <a:spAutoFit/>
          </a:bodyPr>
          <a:lstStyle/>
          <a:p>
            <a:r>
              <a:rPr sz="800" b="1" i="0">
                <a:solidFill>
                  <a:srgbClr val="2E2E2E"/>
                </a:solidFill>
                <a:latin typeface="Arial"/>
              </a:rPr>
              <a:t>color-text-muted</a:t>
            </a:r>
          </a:p>
        </p:txBody>
      </p:sp>
      <p:sp>
        <p:nvSpPr>
          <p:cNvPr id="50" name="TextBox 49"/>
          <p:cNvSpPr txBox="1"/>
          <p:nvPr/>
        </p:nvSpPr>
        <p:spPr>
          <a:xfrm>
            <a:off x="10214892" y="2816352"/>
            <a:ext cx="1428162" cy="365760"/>
          </a:xfrm>
          <a:prstGeom prst="rect">
            <a:avLst/>
          </a:prstGeom>
          <a:noFill/>
        </p:spPr>
        <p:txBody>
          <a:bodyPr wrap="square" anchor="t" lIns="45720" rIns="45720">
            <a:spAutoFit/>
          </a:bodyPr>
          <a:lstStyle/>
          <a:p>
            <a:r>
              <a:rPr sz="700" b="0" i="0">
                <a:solidFill>
                  <a:srgbClr val="656565"/>
                </a:solidFill>
                <a:latin typeface="Arial"/>
              </a:rPr>
              <a:t>#656565 Base Grey</a:t>
            </a:r>
          </a:p>
        </p:txBody>
      </p:sp>
      <p:sp>
        <p:nvSpPr>
          <p:cNvPr id="51" name="Rectangle 50"/>
          <p:cNvSpPr/>
          <p:nvPr/>
        </p:nvSpPr>
        <p:spPr>
          <a:xfrm>
            <a:off x="548640" y="3236976"/>
            <a:ext cx="1428162" cy="384048"/>
          </a:xfrm>
          <a:prstGeom prst="rect">
            <a:avLst/>
          </a:prstGeom>
          <a:solidFill>
            <a:srgbClr val="91919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548640" y="3630168"/>
            <a:ext cx="1428162" cy="201168"/>
          </a:xfrm>
          <a:prstGeom prst="rect">
            <a:avLst/>
          </a:prstGeom>
          <a:noFill/>
        </p:spPr>
        <p:txBody>
          <a:bodyPr wrap="square" anchor="t" lIns="45720" rIns="45720">
            <a:spAutoFit/>
          </a:bodyPr>
          <a:lstStyle/>
          <a:p>
            <a:r>
              <a:rPr sz="800" b="1" i="0">
                <a:solidFill>
                  <a:srgbClr val="2E2E2E"/>
                </a:solidFill>
                <a:latin typeface="Arial"/>
              </a:rPr>
              <a:t>color-placeholder</a:t>
            </a:r>
          </a:p>
        </p:txBody>
      </p:sp>
      <p:sp>
        <p:nvSpPr>
          <p:cNvPr id="53" name="TextBox 52"/>
          <p:cNvSpPr txBox="1"/>
          <p:nvPr/>
        </p:nvSpPr>
        <p:spPr>
          <a:xfrm>
            <a:off x="548640" y="3803904"/>
            <a:ext cx="1428162" cy="365760"/>
          </a:xfrm>
          <a:prstGeom prst="rect">
            <a:avLst/>
          </a:prstGeom>
          <a:noFill/>
        </p:spPr>
        <p:txBody>
          <a:bodyPr wrap="square" anchor="t" lIns="45720" rIns="45720">
            <a:spAutoFit/>
          </a:bodyPr>
          <a:lstStyle/>
          <a:p>
            <a:r>
              <a:rPr sz="700" b="0" i="0">
                <a:solidFill>
                  <a:srgbClr val="656565"/>
                </a:solidFill>
                <a:latin typeface="Arial"/>
              </a:rPr>
              <a:t>#919191 Medium Grey</a:t>
            </a:r>
          </a:p>
        </p:txBody>
      </p:sp>
      <p:sp>
        <p:nvSpPr>
          <p:cNvPr id="54" name="Rectangle 53"/>
          <p:cNvSpPr/>
          <p:nvPr/>
        </p:nvSpPr>
        <p:spPr>
          <a:xfrm>
            <a:off x="2159682" y="3236976"/>
            <a:ext cx="1428162" cy="384048"/>
          </a:xfrm>
          <a:prstGeom prst="rect">
            <a:avLst/>
          </a:prstGeom>
          <a:solidFill>
            <a:srgbClr val="E4E4E4"/>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5" name="TextBox 54"/>
          <p:cNvSpPr txBox="1"/>
          <p:nvPr/>
        </p:nvSpPr>
        <p:spPr>
          <a:xfrm>
            <a:off x="2159682" y="3630168"/>
            <a:ext cx="1428162" cy="201168"/>
          </a:xfrm>
          <a:prstGeom prst="rect">
            <a:avLst/>
          </a:prstGeom>
          <a:noFill/>
        </p:spPr>
        <p:txBody>
          <a:bodyPr wrap="square" anchor="t" lIns="45720" rIns="45720">
            <a:spAutoFit/>
          </a:bodyPr>
          <a:lstStyle/>
          <a:p>
            <a:r>
              <a:rPr sz="800" b="1" i="0">
                <a:solidFill>
                  <a:srgbClr val="2E2E2E"/>
                </a:solidFill>
                <a:latin typeface="Arial"/>
              </a:rPr>
              <a:t>color-border</a:t>
            </a:r>
          </a:p>
        </p:txBody>
      </p:sp>
      <p:sp>
        <p:nvSpPr>
          <p:cNvPr id="56" name="TextBox 55"/>
          <p:cNvSpPr txBox="1"/>
          <p:nvPr/>
        </p:nvSpPr>
        <p:spPr>
          <a:xfrm>
            <a:off x="2159682" y="3803904"/>
            <a:ext cx="1428162" cy="365760"/>
          </a:xfrm>
          <a:prstGeom prst="rect">
            <a:avLst/>
          </a:prstGeom>
          <a:noFill/>
        </p:spPr>
        <p:txBody>
          <a:bodyPr wrap="square" anchor="t" lIns="45720" rIns="45720">
            <a:spAutoFit/>
          </a:bodyPr>
          <a:lstStyle/>
          <a:p>
            <a:r>
              <a:rPr sz="700" b="0" i="0">
                <a:solidFill>
                  <a:srgbClr val="656565"/>
                </a:solidFill>
                <a:latin typeface="Arial"/>
              </a:rPr>
              <a:t>#E4E4E4 Dark Grey (elements)</a:t>
            </a:r>
          </a:p>
        </p:txBody>
      </p:sp>
      <p:sp>
        <p:nvSpPr>
          <p:cNvPr id="57" name="Rectangle 56"/>
          <p:cNvSpPr/>
          <p:nvPr/>
        </p:nvSpPr>
        <p:spPr>
          <a:xfrm>
            <a:off x="3770724" y="3236976"/>
            <a:ext cx="1428162" cy="384048"/>
          </a:xfrm>
          <a:prstGeom prst="rect">
            <a:avLst/>
          </a:prstGeom>
          <a:solidFill>
            <a:srgbClr val="C2C2C1"/>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770724" y="3630168"/>
            <a:ext cx="1428162" cy="201168"/>
          </a:xfrm>
          <a:prstGeom prst="rect">
            <a:avLst/>
          </a:prstGeom>
          <a:noFill/>
        </p:spPr>
        <p:txBody>
          <a:bodyPr wrap="square" anchor="t" lIns="45720" rIns="45720">
            <a:spAutoFit/>
          </a:bodyPr>
          <a:lstStyle/>
          <a:p>
            <a:r>
              <a:rPr sz="800" b="1" i="0">
                <a:solidFill>
                  <a:srgbClr val="2E2E2E"/>
                </a:solidFill>
                <a:latin typeface="Arial"/>
              </a:rPr>
              <a:t>color-border-strong</a:t>
            </a:r>
          </a:p>
        </p:txBody>
      </p:sp>
      <p:sp>
        <p:nvSpPr>
          <p:cNvPr id="59" name="TextBox 58"/>
          <p:cNvSpPr txBox="1"/>
          <p:nvPr/>
        </p:nvSpPr>
        <p:spPr>
          <a:xfrm>
            <a:off x="3770724" y="3803904"/>
            <a:ext cx="1428162" cy="365760"/>
          </a:xfrm>
          <a:prstGeom prst="rect">
            <a:avLst/>
          </a:prstGeom>
          <a:noFill/>
        </p:spPr>
        <p:txBody>
          <a:bodyPr wrap="square" anchor="t" lIns="45720" rIns="45720">
            <a:spAutoFit/>
          </a:bodyPr>
          <a:lstStyle/>
          <a:p>
            <a:r>
              <a:rPr sz="700" b="0" i="0">
                <a:solidFill>
                  <a:srgbClr val="656565"/>
                </a:solidFill>
                <a:latin typeface="Arial"/>
              </a:rPr>
              <a:t>#C2C2C1 Light Grey</a:t>
            </a:r>
          </a:p>
        </p:txBody>
      </p:sp>
      <p:sp>
        <p:nvSpPr>
          <p:cNvPr id="60" name="Rectangle 59"/>
          <p:cNvSpPr/>
          <p:nvPr/>
        </p:nvSpPr>
        <p:spPr>
          <a:xfrm>
            <a:off x="5381766" y="3236976"/>
            <a:ext cx="1428162" cy="384048"/>
          </a:xfrm>
          <a:prstGeom prst="rect">
            <a:avLst/>
          </a:prstGeom>
          <a:solidFill>
            <a:srgbClr val="1D7F4E"/>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1" name="TextBox 60"/>
          <p:cNvSpPr txBox="1"/>
          <p:nvPr/>
        </p:nvSpPr>
        <p:spPr>
          <a:xfrm>
            <a:off x="5381766" y="3630168"/>
            <a:ext cx="1428162" cy="201168"/>
          </a:xfrm>
          <a:prstGeom prst="rect">
            <a:avLst/>
          </a:prstGeom>
          <a:noFill/>
        </p:spPr>
        <p:txBody>
          <a:bodyPr wrap="square" anchor="t" lIns="45720" rIns="45720">
            <a:spAutoFit/>
          </a:bodyPr>
          <a:lstStyle/>
          <a:p>
            <a:r>
              <a:rPr sz="800" b="1" i="0">
                <a:solidFill>
                  <a:srgbClr val="2E2E2E"/>
                </a:solidFill>
                <a:latin typeface="Arial"/>
              </a:rPr>
              <a:t>color-success</a:t>
            </a:r>
          </a:p>
        </p:txBody>
      </p:sp>
      <p:sp>
        <p:nvSpPr>
          <p:cNvPr id="62" name="TextBox 61"/>
          <p:cNvSpPr txBox="1"/>
          <p:nvPr/>
        </p:nvSpPr>
        <p:spPr>
          <a:xfrm>
            <a:off x="5381766" y="3803904"/>
            <a:ext cx="1428162" cy="365760"/>
          </a:xfrm>
          <a:prstGeom prst="rect">
            <a:avLst/>
          </a:prstGeom>
          <a:noFill/>
        </p:spPr>
        <p:txBody>
          <a:bodyPr wrap="square" anchor="t" lIns="45720" rIns="45720">
            <a:spAutoFit/>
          </a:bodyPr>
          <a:lstStyle/>
          <a:p>
            <a:r>
              <a:rPr sz="700" b="0" i="0">
                <a:solidFill>
                  <a:srgbClr val="656565"/>
                </a:solidFill>
                <a:latin typeface="Arial"/>
              </a:rPr>
              <a:t>#1D7F4E </a:t>
            </a:r>
          </a:p>
        </p:txBody>
      </p:sp>
      <p:sp>
        <p:nvSpPr>
          <p:cNvPr id="63" name="Rectangle 62"/>
          <p:cNvSpPr/>
          <p:nvPr/>
        </p:nvSpPr>
        <p:spPr>
          <a:xfrm>
            <a:off x="6992808" y="3236976"/>
            <a:ext cx="1428162" cy="384048"/>
          </a:xfrm>
          <a:prstGeom prst="rect">
            <a:avLst/>
          </a:prstGeom>
          <a:solidFill>
            <a:srgbClr val="E6F5EC"/>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6992808" y="3630168"/>
            <a:ext cx="1428162" cy="201168"/>
          </a:xfrm>
          <a:prstGeom prst="rect">
            <a:avLst/>
          </a:prstGeom>
          <a:noFill/>
        </p:spPr>
        <p:txBody>
          <a:bodyPr wrap="square" anchor="t" lIns="45720" rIns="45720">
            <a:spAutoFit/>
          </a:bodyPr>
          <a:lstStyle/>
          <a:p>
            <a:r>
              <a:rPr sz="800" b="1" i="0">
                <a:solidFill>
                  <a:srgbClr val="2E2E2E"/>
                </a:solidFill>
                <a:latin typeface="Arial"/>
              </a:rPr>
              <a:t>color-success-bg</a:t>
            </a:r>
          </a:p>
        </p:txBody>
      </p:sp>
      <p:sp>
        <p:nvSpPr>
          <p:cNvPr id="65" name="TextBox 64"/>
          <p:cNvSpPr txBox="1"/>
          <p:nvPr/>
        </p:nvSpPr>
        <p:spPr>
          <a:xfrm>
            <a:off x="6992808" y="3803904"/>
            <a:ext cx="1428162" cy="365760"/>
          </a:xfrm>
          <a:prstGeom prst="rect">
            <a:avLst/>
          </a:prstGeom>
          <a:noFill/>
        </p:spPr>
        <p:txBody>
          <a:bodyPr wrap="square" anchor="t" lIns="45720" rIns="45720">
            <a:spAutoFit/>
          </a:bodyPr>
          <a:lstStyle/>
          <a:p>
            <a:r>
              <a:rPr sz="700" b="0" i="0">
                <a:solidFill>
                  <a:srgbClr val="656565"/>
                </a:solidFill>
                <a:latin typeface="Arial"/>
              </a:rPr>
              <a:t>#E6F5EC </a:t>
            </a:r>
          </a:p>
        </p:txBody>
      </p:sp>
      <p:sp>
        <p:nvSpPr>
          <p:cNvPr id="66" name="Rectangle 65"/>
          <p:cNvSpPr/>
          <p:nvPr/>
        </p:nvSpPr>
        <p:spPr>
          <a:xfrm>
            <a:off x="8603850" y="3236976"/>
            <a:ext cx="1428162" cy="384048"/>
          </a:xfrm>
          <a:prstGeom prst="rect">
            <a:avLst/>
          </a:prstGeom>
          <a:solidFill>
            <a:srgbClr val="D32F2F"/>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7" name="TextBox 66"/>
          <p:cNvSpPr txBox="1"/>
          <p:nvPr/>
        </p:nvSpPr>
        <p:spPr>
          <a:xfrm>
            <a:off x="8603850" y="3630168"/>
            <a:ext cx="1428162" cy="201168"/>
          </a:xfrm>
          <a:prstGeom prst="rect">
            <a:avLst/>
          </a:prstGeom>
          <a:noFill/>
        </p:spPr>
        <p:txBody>
          <a:bodyPr wrap="square" anchor="t" lIns="45720" rIns="45720">
            <a:spAutoFit/>
          </a:bodyPr>
          <a:lstStyle/>
          <a:p>
            <a:r>
              <a:rPr sz="800" b="1" i="0">
                <a:solidFill>
                  <a:srgbClr val="2E2E2E"/>
                </a:solidFill>
                <a:latin typeface="Arial"/>
              </a:rPr>
              <a:t>color-danger</a:t>
            </a:r>
          </a:p>
        </p:txBody>
      </p:sp>
      <p:sp>
        <p:nvSpPr>
          <p:cNvPr id="68" name="TextBox 67"/>
          <p:cNvSpPr txBox="1"/>
          <p:nvPr/>
        </p:nvSpPr>
        <p:spPr>
          <a:xfrm>
            <a:off x="8603850" y="3803904"/>
            <a:ext cx="1428162" cy="365760"/>
          </a:xfrm>
          <a:prstGeom prst="rect">
            <a:avLst/>
          </a:prstGeom>
          <a:noFill/>
        </p:spPr>
        <p:txBody>
          <a:bodyPr wrap="square" anchor="t" lIns="45720" rIns="45720">
            <a:spAutoFit/>
          </a:bodyPr>
          <a:lstStyle/>
          <a:p>
            <a:r>
              <a:rPr sz="700" b="0" i="0">
                <a:solidFill>
                  <a:srgbClr val="656565"/>
                </a:solidFill>
                <a:latin typeface="Arial"/>
              </a:rPr>
              <a:t>#D32F2F </a:t>
            </a:r>
          </a:p>
        </p:txBody>
      </p:sp>
      <p:sp>
        <p:nvSpPr>
          <p:cNvPr id="69" name="Rectangle 68"/>
          <p:cNvSpPr/>
          <p:nvPr/>
        </p:nvSpPr>
        <p:spPr>
          <a:xfrm>
            <a:off x="10214892" y="3236976"/>
            <a:ext cx="1428162" cy="384048"/>
          </a:xfrm>
          <a:prstGeom prst="rect">
            <a:avLst/>
          </a:prstGeom>
          <a:solidFill>
            <a:srgbClr val="FDECEA"/>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10214892" y="3630168"/>
            <a:ext cx="1428162" cy="201168"/>
          </a:xfrm>
          <a:prstGeom prst="rect">
            <a:avLst/>
          </a:prstGeom>
          <a:noFill/>
        </p:spPr>
        <p:txBody>
          <a:bodyPr wrap="square" anchor="t" lIns="45720" rIns="45720">
            <a:spAutoFit/>
          </a:bodyPr>
          <a:lstStyle/>
          <a:p>
            <a:r>
              <a:rPr sz="800" b="1" i="0">
                <a:solidFill>
                  <a:srgbClr val="2E2E2E"/>
                </a:solidFill>
                <a:latin typeface="Arial"/>
              </a:rPr>
              <a:t>color-danger-bg</a:t>
            </a:r>
          </a:p>
        </p:txBody>
      </p:sp>
      <p:sp>
        <p:nvSpPr>
          <p:cNvPr id="71" name="TextBox 70"/>
          <p:cNvSpPr txBox="1"/>
          <p:nvPr/>
        </p:nvSpPr>
        <p:spPr>
          <a:xfrm>
            <a:off x="10214892" y="3803904"/>
            <a:ext cx="1428162" cy="365760"/>
          </a:xfrm>
          <a:prstGeom prst="rect">
            <a:avLst/>
          </a:prstGeom>
          <a:noFill/>
        </p:spPr>
        <p:txBody>
          <a:bodyPr wrap="square" anchor="t" lIns="45720" rIns="45720">
            <a:spAutoFit/>
          </a:bodyPr>
          <a:lstStyle/>
          <a:p>
            <a:r>
              <a:rPr sz="700" b="0" i="0">
                <a:solidFill>
                  <a:srgbClr val="656565"/>
                </a:solidFill>
                <a:latin typeface="Arial"/>
              </a:rPr>
              <a:t>#FDECEA </a:t>
            </a:r>
          </a:p>
        </p:txBody>
      </p:sp>
      <p:sp>
        <p:nvSpPr>
          <p:cNvPr id="72" name="Rectangle 71"/>
          <p:cNvSpPr/>
          <p:nvPr/>
        </p:nvSpPr>
        <p:spPr>
          <a:xfrm>
            <a:off x="548640" y="4224528"/>
            <a:ext cx="1428162" cy="384048"/>
          </a:xfrm>
          <a:prstGeom prst="rect">
            <a:avLst/>
          </a:prstGeom>
          <a:solidFill>
            <a:srgbClr val="8A5A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548640" y="4617720"/>
            <a:ext cx="1428162" cy="201168"/>
          </a:xfrm>
          <a:prstGeom prst="rect">
            <a:avLst/>
          </a:prstGeom>
          <a:noFill/>
        </p:spPr>
        <p:txBody>
          <a:bodyPr wrap="square" anchor="t" lIns="45720" rIns="45720">
            <a:spAutoFit/>
          </a:bodyPr>
          <a:lstStyle/>
          <a:p>
            <a:r>
              <a:rPr sz="800" b="1" i="0">
                <a:solidFill>
                  <a:srgbClr val="2E2E2E"/>
                </a:solidFill>
                <a:latin typeface="Arial"/>
              </a:rPr>
              <a:t>color-warning</a:t>
            </a:r>
          </a:p>
        </p:txBody>
      </p:sp>
      <p:sp>
        <p:nvSpPr>
          <p:cNvPr id="74" name="TextBox 73"/>
          <p:cNvSpPr txBox="1"/>
          <p:nvPr/>
        </p:nvSpPr>
        <p:spPr>
          <a:xfrm>
            <a:off x="548640" y="4791456"/>
            <a:ext cx="1428162" cy="365760"/>
          </a:xfrm>
          <a:prstGeom prst="rect">
            <a:avLst/>
          </a:prstGeom>
          <a:noFill/>
        </p:spPr>
        <p:txBody>
          <a:bodyPr wrap="square" anchor="t" lIns="45720" rIns="45720">
            <a:spAutoFit/>
          </a:bodyPr>
          <a:lstStyle/>
          <a:p>
            <a:r>
              <a:rPr sz="700" b="0" i="0">
                <a:solidFill>
                  <a:srgbClr val="656565"/>
                </a:solidFill>
                <a:latin typeface="Arial"/>
              </a:rPr>
              <a:t>#8A5A00 </a:t>
            </a:r>
          </a:p>
        </p:txBody>
      </p:sp>
      <p:sp>
        <p:nvSpPr>
          <p:cNvPr id="75" name="Rectangle 74"/>
          <p:cNvSpPr/>
          <p:nvPr/>
        </p:nvSpPr>
        <p:spPr>
          <a:xfrm>
            <a:off x="2159682" y="4224528"/>
            <a:ext cx="1428162" cy="384048"/>
          </a:xfrm>
          <a:prstGeom prst="rect">
            <a:avLst/>
          </a:prstGeom>
          <a:solidFill>
            <a:srgbClr val="FFF4D6"/>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6" name="TextBox 75"/>
          <p:cNvSpPr txBox="1"/>
          <p:nvPr/>
        </p:nvSpPr>
        <p:spPr>
          <a:xfrm>
            <a:off x="2159682" y="4617720"/>
            <a:ext cx="1428162" cy="201168"/>
          </a:xfrm>
          <a:prstGeom prst="rect">
            <a:avLst/>
          </a:prstGeom>
          <a:noFill/>
        </p:spPr>
        <p:txBody>
          <a:bodyPr wrap="square" anchor="t" lIns="45720" rIns="45720">
            <a:spAutoFit/>
          </a:bodyPr>
          <a:lstStyle/>
          <a:p>
            <a:r>
              <a:rPr sz="800" b="1" i="0">
                <a:solidFill>
                  <a:srgbClr val="2E2E2E"/>
                </a:solidFill>
                <a:latin typeface="Arial"/>
              </a:rPr>
              <a:t>color-warning-bg</a:t>
            </a:r>
          </a:p>
        </p:txBody>
      </p:sp>
      <p:sp>
        <p:nvSpPr>
          <p:cNvPr id="77" name="TextBox 76"/>
          <p:cNvSpPr txBox="1"/>
          <p:nvPr/>
        </p:nvSpPr>
        <p:spPr>
          <a:xfrm>
            <a:off x="2159682" y="4791456"/>
            <a:ext cx="1428162" cy="365760"/>
          </a:xfrm>
          <a:prstGeom prst="rect">
            <a:avLst/>
          </a:prstGeom>
          <a:noFill/>
        </p:spPr>
        <p:txBody>
          <a:bodyPr wrap="square" anchor="t" lIns="45720" rIns="45720">
            <a:spAutoFit/>
          </a:bodyPr>
          <a:lstStyle/>
          <a:p>
            <a:r>
              <a:rPr sz="700" b="0" i="0">
                <a:solidFill>
                  <a:srgbClr val="656565"/>
                </a:solidFill>
                <a:latin typeface="Arial"/>
              </a:rPr>
              <a:t>#FFF4D6 </a:t>
            </a:r>
          </a:p>
        </p:txBody>
      </p:sp>
      <p:sp>
        <p:nvSpPr>
          <p:cNvPr id="78" name="Rectangle 77"/>
          <p:cNvSpPr/>
          <p:nvPr/>
        </p:nvSpPr>
        <p:spPr>
          <a:xfrm>
            <a:off x="3770724" y="4224528"/>
            <a:ext cx="1428162" cy="384048"/>
          </a:xfrm>
          <a:prstGeom prst="rect">
            <a:avLst/>
          </a:prstGeom>
          <a:solidFill>
            <a:srgbClr val="E0A100"/>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9" name="TextBox 78"/>
          <p:cNvSpPr txBox="1"/>
          <p:nvPr/>
        </p:nvSpPr>
        <p:spPr>
          <a:xfrm>
            <a:off x="3770724" y="4617720"/>
            <a:ext cx="1428162" cy="201168"/>
          </a:xfrm>
          <a:prstGeom prst="rect">
            <a:avLst/>
          </a:prstGeom>
          <a:noFill/>
        </p:spPr>
        <p:txBody>
          <a:bodyPr wrap="square" anchor="t" lIns="45720" rIns="45720">
            <a:spAutoFit/>
          </a:bodyPr>
          <a:lstStyle/>
          <a:p>
            <a:r>
              <a:rPr sz="800" b="1" i="0">
                <a:solidFill>
                  <a:srgbClr val="2E2E2E"/>
                </a:solidFill>
                <a:latin typeface="Arial"/>
              </a:rPr>
              <a:t>color-warning-accent</a:t>
            </a:r>
          </a:p>
        </p:txBody>
      </p:sp>
      <p:sp>
        <p:nvSpPr>
          <p:cNvPr id="80" name="TextBox 79"/>
          <p:cNvSpPr txBox="1"/>
          <p:nvPr/>
        </p:nvSpPr>
        <p:spPr>
          <a:xfrm>
            <a:off x="3770724" y="4791456"/>
            <a:ext cx="1428162" cy="365760"/>
          </a:xfrm>
          <a:prstGeom prst="rect">
            <a:avLst/>
          </a:prstGeom>
          <a:noFill/>
        </p:spPr>
        <p:txBody>
          <a:bodyPr wrap="square" anchor="t" lIns="45720" rIns="45720">
            <a:spAutoFit/>
          </a:bodyPr>
          <a:lstStyle/>
          <a:p>
            <a:r>
              <a:rPr sz="700" b="0" i="0">
                <a:solidFill>
                  <a:srgbClr val="656565"/>
                </a:solidFill>
                <a:latin typeface="Arial"/>
              </a:rPr>
              <a:t>#E0A100 amber accent bar and icon of warnings</a:t>
            </a:r>
          </a:p>
        </p:txBody>
      </p:sp>
      <p:sp>
        <p:nvSpPr>
          <p:cNvPr id="81" name="Rectangle 80"/>
          <p:cNvSpPr/>
          <p:nvPr/>
        </p:nvSpPr>
        <p:spPr>
          <a:xfrm>
            <a:off x="5381766" y="4224528"/>
            <a:ext cx="1428162" cy="384048"/>
          </a:xfrm>
          <a:prstGeom prst="rect">
            <a:avLst/>
          </a:prstGeom>
          <a:solidFill>
            <a:srgbClr val="2F6DB5"/>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2" name="TextBox 81"/>
          <p:cNvSpPr txBox="1"/>
          <p:nvPr/>
        </p:nvSpPr>
        <p:spPr>
          <a:xfrm>
            <a:off x="5381766" y="4617720"/>
            <a:ext cx="1428162" cy="201168"/>
          </a:xfrm>
          <a:prstGeom prst="rect">
            <a:avLst/>
          </a:prstGeom>
          <a:noFill/>
        </p:spPr>
        <p:txBody>
          <a:bodyPr wrap="square" anchor="t" lIns="45720" rIns="45720">
            <a:spAutoFit/>
          </a:bodyPr>
          <a:lstStyle/>
          <a:p>
            <a:r>
              <a:rPr sz="800" b="1" i="0">
                <a:solidFill>
                  <a:srgbClr val="2E2E2E"/>
                </a:solidFill>
                <a:latin typeface="Arial"/>
              </a:rPr>
              <a:t>color-info</a:t>
            </a:r>
          </a:p>
        </p:txBody>
      </p:sp>
      <p:sp>
        <p:nvSpPr>
          <p:cNvPr id="83" name="TextBox 82"/>
          <p:cNvSpPr txBox="1"/>
          <p:nvPr/>
        </p:nvSpPr>
        <p:spPr>
          <a:xfrm>
            <a:off x="5381766" y="4791456"/>
            <a:ext cx="1428162" cy="365760"/>
          </a:xfrm>
          <a:prstGeom prst="rect">
            <a:avLst/>
          </a:prstGeom>
          <a:noFill/>
        </p:spPr>
        <p:txBody>
          <a:bodyPr wrap="square" anchor="t" lIns="45720" rIns="45720">
            <a:spAutoFit/>
          </a:bodyPr>
          <a:lstStyle/>
          <a:p>
            <a:r>
              <a:rPr sz="700" b="0" i="0">
                <a:solidFill>
                  <a:srgbClr val="656565"/>
                </a:solidFill>
                <a:latin typeface="Arial"/>
              </a:rPr>
              <a:t>#2F6DB5 </a:t>
            </a:r>
          </a:p>
        </p:txBody>
      </p:sp>
      <p:sp>
        <p:nvSpPr>
          <p:cNvPr id="84" name="Rectangle 83"/>
          <p:cNvSpPr/>
          <p:nvPr/>
        </p:nvSpPr>
        <p:spPr>
          <a:xfrm>
            <a:off x="6992808" y="4224528"/>
            <a:ext cx="1428162" cy="384048"/>
          </a:xfrm>
          <a:prstGeom prst="rect">
            <a:avLst/>
          </a:prstGeom>
          <a:solidFill>
            <a:srgbClr val="EEF3F9"/>
          </a:solidFill>
          <a:ln w="9525">
            <a:solidFill>
              <a:srgbClr val="C2C2C1"/>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5" name="TextBox 84"/>
          <p:cNvSpPr txBox="1"/>
          <p:nvPr/>
        </p:nvSpPr>
        <p:spPr>
          <a:xfrm>
            <a:off x="6992808" y="4617720"/>
            <a:ext cx="1428162" cy="201168"/>
          </a:xfrm>
          <a:prstGeom prst="rect">
            <a:avLst/>
          </a:prstGeom>
          <a:noFill/>
        </p:spPr>
        <p:txBody>
          <a:bodyPr wrap="square" anchor="t" lIns="45720" rIns="45720">
            <a:spAutoFit/>
          </a:bodyPr>
          <a:lstStyle/>
          <a:p>
            <a:r>
              <a:rPr sz="800" b="1" i="0">
                <a:solidFill>
                  <a:srgbClr val="2E2E2E"/>
                </a:solidFill>
                <a:latin typeface="Arial"/>
              </a:rPr>
              <a:t>color-info-bg</a:t>
            </a:r>
          </a:p>
        </p:txBody>
      </p:sp>
      <p:sp>
        <p:nvSpPr>
          <p:cNvPr id="86" name="TextBox 85"/>
          <p:cNvSpPr txBox="1"/>
          <p:nvPr/>
        </p:nvSpPr>
        <p:spPr>
          <a:xfrm>
            <a:off x="6992808" y="4791456"/>
            <a:ext cx="1428162" cy="365760"/>
          </a:xfrm>
          <a:prstGeom prst="rect">
            <a:avLst/>
          </a:prstGeom>
          <a:noFill/>
        </p:spPr>
        <p:txBody>
          <a:bodyPr wrap="square" anchor="t" lIns="45720" rIns="45720">
            <a:spAutoFit/>
          </a:bodyPr>
          <a:lstStyle/>
          <a:p>
            <a:r>
              <a:rPr sz="700" b="0" i="0">
                <a:solidFill>
                  <a:srgbClr val="656565"/>
                </a:solidFill>
                <a:latin typeface="Arial"/>
              </a:rPr>
              <a:t>#EEF3F9 Typography (platform default; the theme </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Type scale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a:t>
            </a:r>
          </a:p>
        </p:txBody>
      </p:sp>
      <p:graphicFrame>
        <p:nvGraphicFramePr>
          <p:cNvPr id="9" name="Table 8"/>
          <p:cNvGraphicFramePr>
            <a:graphicFrameLocks noGrp="1"/>
          </p:cNvGraphicFramePr>
          <p:nvPr/>
        </p:nvGraphicFramePr>
        <p:xfrm>
          <a:off x="548640" y="1325880"/>
          <a:ext cx="11094413" cy="2743190"/>
        </p:xfrm>
        <a:graphic>
          <a:graphicData uri="http://schemas.openxmlformats.org/drawingml/2006/table">
            <a:tbl>
              <a:tblPr firstRow="1" bandRow="1">
                <a:tableStyleId>{5C22544A-7EE6-4342-B048-85BDC9FD1C3A}</a:tableStyleId>
              </a:tblPr>
              <a:tblGrid>
                <a:gridCol w="3584349"/>
                <a:gridCol w="2560249"/>
                <a:gridCol w="4949815"/>
              </a:tblGrid>
              <a:tr h="274319">
                <a:tc>
                  <a:txBody>
                    <a:bodyPr/>
                    <a:lstStyle/>
                    <a:p>
                      <a:r>
                        <a:rPr sz="1200" b="1">
                          <a:solidFill>
                            <a:srgbClr val="FFFFFF"/>
                          </a:solidFill>
                          <a:latin typeface="Arial"/>
                        </a:rPr>
                        <a:t>Use</a:t>
                      </a:r>
                    </a:p>
                  </a:txBody>
                  <a:tcPr marL="54864" marR="54864" marT="27432" marB="27432">
                    <a:solidFill>
                      <a:srgbClr val="004EA8"/>
                    </a:solidFill>
                  </a:tcPr>
                </a:tc>
                <a:tc>
                  <a:txBody>
                    <a:bodyPr/>
                    <a:lstStyle/>
                    <a:p>
                      <a:r>
                        <a:rPr sz="1200" b="1">
                          <a:solidFill>
                            <a:srgbClr val="FFFFFF"/>
                          </a:solidFill>
                          <a:latin typeface="Arial"/>
                        </a:rPr>
                        <a:t>Size / line height</a:t>
                      </a:r>
                    </a:p>
                  </a:txBody>
                  <a:tcPr marL="54864" marR="54864" marT="27432" marB="27432">
                    <a:solidFill>
                      <a:srgbClr val="004EA8"/>
                    </a:solidFill>
                  </a:tcPr>
                </a:tc>
                <a:tc>
                  <a:txBody>
                    <a:bodyPr/>
                    <a:lstStyle/>
                    <a:p>
                      <a:r>
                        <a:rPr sz="1200" b="1">
                          <a:solidFill>
                            <a:srgbClr val="FFFFFF"/>
                          </a:solidFill>
                          <a:latin typeface="Arial"/>
                        </a:rPr>
                        <a:t>Weight and colour</a:t>
                      </a:r>
                    </a:p>
                  </a:txBody>
                  <a:tcPr marL="54864" marR="54864" marT="27432" marB="27432">
                    <a:solidFill>
                      <a:srgbClr val="004EA8"/>
                    </a:solidFill>
                  </a:tcPr>
                </a:tc>
              </a:tr>
              <a:tr h="274319">
                <a:tc>
                  <a:txBody>
                    <a:bodyPr/>
                    <a:lstStyle/>
                    <a:p>
                      <a:r>
                        <a:rPr sz="1200" b="0">
                          <a:solidFill>
                            <a:srgbClr val="4B4B4B"/>
                          </a:solidFill>
                          <a:latin typeface="Arial"/>
                        </a:rPr>
                        <a:t>Page title (h1)</a:t>
                      </a:r>
                    </a:p>
                  </a:txBody>
                  <a:tcPr marL="54864" marR="54864" marT="27432" marB="27432">
                    <a:solidFill>
                      <a:srgbClr val="FFFFFF"/>
                    </a:solidFill>
                  </a:tcPr>
                </a:tc>
                <a:tc>
                  <a:txBody>
                    <a:bodyPr/>
                    <a:lstStyle/>
                    <a:p>
                      <a:r>
                        <a:rPr sz="1200" b="0">
                          <a:solidFill>
                            <a:srgbClr val="4B4B4B"/>
                          </a:solidFill>
                          <a:latin typeface="Arial"/>
                        </a:rPr>
                        <a:t>28 / 36</a:t>
                      </a:r>
                    </a:p>
                  </a:txBody>
                  <a:tcPr marL="54864" marR="54864" marT="27432" marB="27432">
                    <a:solidFill>
                      <a:srgbClr val="FFFFFF"/>
                    </a:solidFill>
                  </a:tcPr>
                </a:tc>
                <a:tc>
                  <a:txBody>
                    <a:bodyPr/>
                    <a:lstStyle/>
                    <a:p>
                      <a:r>
                        <a:rPr sz="1200" b="0">
                          <a:solidFill>
                            <a:srgbClr val="4B4B4B"/>
                          </a:solidFill>
                          <a:latin typeface="Arial"/>
                        </a:rPr>
                        <a:t>Bold, Near Black #2E2E2E</a:t>
                      </a:r>
                    </a:p>
                  </a:txBody>
                  <a:tcPr marL="54864" marR="54864" marT="27432" marB="27432">
                    <a:solidFill>
                      <a:srgbClr val="FFFFFF"/>
                    </a:solidFill>
                  </a:tcPr>
                </a:tc>
              </a:tr>
              <a:tr h="274319">
                <a:tc>
                  <a:txBody>
                    <a:bodyPr/>
                    <a:lstStyle/>
                    <a:p>
                      <a:r>
                        <a:rPr sz="1200" b="0">
                          <a:solidFill>
                            <a:srgbClr val="4B4B4B"/>
                          </a:solidFill>
                          <a:latin typeface="Arial"/>
                        </a:rPr>
                        <a:t>Section title</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Bold, Near Black</a:t>
                      </a:r>
                    </a:p>
                  </a:txBody>
                  <a:tcPr marL="54864" marR="54864" marT="27432" marB="27432">
                    <a:solidFill>
                      <a:srgbClr val="E5F5FF"/>
                    </a:solidFill>
                  </a:tcPr>
                </a:tc>
              </a:tr>
              <a:tr h="274319">
                <a:tc>
                  <a:txBody>
                    <a:bodyPr/>
                    <a:lstStyle/>
                    <a:p>
                      <a:r>
                        <a:rPr sz="1200" b="0">
                          <a:solidFill>
                            <a:srgbClr val="4B4B4B"/>
                          </a:solidFill>
                          <a:latin typeface="Arial"/>
                        </a:rPr>
                        <a:t>Group title</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Bold, Near Black</a:t>
                      </a:r>
                    </a:p>
                  </a:txBody>
                  <a:tcPr marL="54864" marR="54864" marT="27432" marB="27432">
                    <a:solidFill>
                      <a:srgbClr val="FFFFFF"/>
                    </a:solidFill>
                  </a:tcPr>
                </a:tc>
              </a:tr>
              <a:tr h="274319">
                <a:tc>
                  <a:txBody>
                    <a:bodyPr/>
                    <a:lstStyle/>
                    <a:p>
                      <a:r>
                        <a:rPr sz="1200" b="0">
                          <a:solidFill>
                            <a:srgbClr val="4B4B4B"/>
                          </a:solidFill>
                          <a:latin typeface="Arial"/>
                        </a:rPr>
                        <a:t>Lead paragraph</a:t>
                      </a:r>
                    </a:p>
                  </a:txBody>
                  <a:tcPr marL="54864" marR="54864" marT="27432" marB="27432">
                    <a:solidFill>
                      <a:srgbClr val="E5F5FF"/>
                    </a:solidFill>
                  </a:tcPr>
                </a:tc>
                <a:tc>
                  <a:txBody>
                    <a:bodyPr/>
                    <a:lstStyle/>
                    <a:p>
                      <a:r>
                        <a:rPr sz="1200" b="0">
                          <a:solidFill>
                            <a:srgbClr val="4B4B4B"/>
                          </a:solidFill>
                          <a:latin typeface="Arial"/>
                        </a:rPr>
                        <a:t>18 / 28</a:t>
                      </a:r>
                    </a:p>
                  </a:txBody>
                  <a:tcPr marL="54864" marR="54864" marT="27432" marB="27432">
                    <a:solidFill>
                      <a:srgbClr val="E5F5FF"/>
                    </a:solidFill>
                  </a:tcPr>
                </a:tc>
                <a:tc>
                  <a:txBody>
                    <a:bodyPr/>
                    <a:lstStyle/>
                    <a:p>
                      <a:r>
                        <a:rPr sz="1200" b="0">
                          <a:solidFill>
                            <a:srgbClr val="4B4B4B"/>
                          </a:solidFill>
                          <a:latin typeface="Arial"/>
                        </a:rPr>
                        <a:t>Regular, Dark Grey #4B4B4B</a:t>
                      </a:r>
                    </a:p>
                  </a:txBody>
                  <a:tcPr marL="54864" marR="54864" marT="27432" marB="27432">
                    <a:solidFill>
                      <a:srgbClr val="E5F5FF"/>
                    </a:solidFill>
                  </a:tcPr>
                </a:tc>
              </a:tr>
              <a:tr h="274319">
                <a:tc>
                  <a:txBody>
                    <a:bodyPr/>
                    <a:lstStyle/>
                    <a:p>
                      <a:r>
                        <a:rPr sz="1200" b="0">
                          <a:solidFill>
                            <a:srgbClr val="4B4B4B"/>
                          </a:solidFill>
                          <a:latin typeface="Arial"/>
                        </a:rPr>
                        <a:t>Content</a:t>
                      </a:r>
                    </a:p>
                  </a:txBody>
                  <a:tcPr marL="54864" marR="54864" marT="27432" marB="27432">
                    <a:solidFill>
                      <a:srgbClr val="FFFFFF"/>
                    </a:solidFill>
                  </a:tcPr>
                </a:tc>
                <a:tc>
                  <a:txBody>
                    <a:bodyPr/>
                    <a:lstStyle/>
                    <a:p>
                      <a:r>
                        <a:rPr sz="1200" b="0">
                          <a:solidFill>
                            <a:srgbClr val="4B4B4B"/>
                          </a:solidFill>
                          <a:latin typeface="Arial"/>
                        </a:rPr>
                        <a:t>16 / 24</a:t>
                      </a:r>
                    </a:p>
                  </a:txBody>
                  <a:tcPr marL="54864" marR="54864" marT="27432" marB="27432">
                    <a:solidFill>
                      <a:srgbClr val="FFFFFF"/>
                    </a:solidFill>
                  </a:tcPr>
                </a:tc>
                <a:tc>
                  <a:txBody>
                    <a:bodyPr/>
                    <a:lstStyle/>
                    <a:p>
                      <a:r>
                        <a:rPr sz="1200" b="0">
                          <a:solidFill>
                            <a:srgbClr val="4B4B4B"/>
                          </a:solidFill>
                          <a:latin typeface="Arial"/>
                        </a:rPr>
                        <a:t>Regular, Dark Grey</a:t>
                      </a:r>
                    </a:p>
                  </a:txBody>
                  <a:tcPr marL="54864" marR="54864" marT="27432" marB="27432">
                    <a:solidFill>
                      <a:srgbClr val="FFFFFF"/>
                    </a:solidFill>
                  </a:tcPr>
                </a:tc>
              </a:tr>
              <a:tr h="274319">
                <a:tc>
                  <a:txBody>
                    <a:bodyPr/>
                    <a:lstStyle/>
                    <a:p>
                      <a:r>
                        <a:rPr sz="1200" b="0">
                          <a:solidFill>
                            <a:srgbClr val="4B4B4B"/>
                          </a:solidFill>
                          <a:latin typeface="Arial"/>
                        </a:rPr>
                        <a:t>Application default (tables, forms)</a:t>
                      </a:r>
                    </a:p>
                  </a:txBody>
                  <a:tcPr marL="54864" marR="54864" marT="27432" marB="27432">
                    <a:solidFill>
                      <a:srgbClr val="E5F5FF"/>
                    </a:solidFill>
                  </a:tcPr>
                </a:tc>
                <a:tc>
                  <a:txBody>
                    <a:bodyPr/>
                    <a:lstStyle/>
                    <a:p>
                      <a:r>
                        <a:rPr sz="1200" b="0">
                          <a:solidFill>
                            <a:srgbClr val="4B4B4B"/>
                          </a:solidFill>
                          <a:latin typeface="Arial"/>
                        </a:rPr>
                        <a:t>14 / 20</a:t>
                      </a:r>
                    </a:p>
                  </a:txBody>
                  <a:tcPr marL="54864" marR="54864" marT="27432" marB="27432">
                    <a:solidFill>
                      <a:srgbClr val="E5F5FF"/>
                    </a:solidFill>
                  </a:tcPr>
                </a:tc>
                <a:tc>
                  <a:txBody>
                    <a:bodyPr/>
                    <a:lstStyle/>
                    <a:p>
                      <a:r>
                        <a:rPr sz="1200" b="0">
                          <a:solidFill>
                            <a:srgbClr val="4B4B4B"/>
                          </a:solidFill>
                          <a:latin typeface="Arial"/>
                        </a:rPr>
                        <a:t>Regular, Dark Grey</a:t>
                      </a:r>
                    </a:p>
                  </a:txBody>
                  <a:tcPr marL="54864" marR="54864" marT="27432" marB="27432">
                    <a:solidFill>
                      <a:srgbClr val="E5F5FF"/>
                    </a:solidFill>
                  </a:tcPr>
                </a:tc>
              </a:tr>
              <a:tr h="274319">
                <a:tc>
                  <a:txBody>
                    <a:bodyPr/>
                    <a:lstStyle/>
                    <a:p>
                      <a:r>
                        <a:rPr sz="1200" b="0">
                          <a:solidFill>
                            <a:srgbClr val="4B4B4B"/>
                          </a:solidFill>
                          <a:latin typeface="Arial"/>
                        </a:rPr>
                        <a:t>Fine print, format hints</a:t>
                      </a:r>
                    </a:p>
                  </a:txBody>
                  <a:tcPr marL="54864" marR="54864" marT="27432" marB="27432">
                    <a:solidFill>
                      <a:srgbClr val="FFFFFF"/>
                    </a:solidFill>
                  </a:tcPr>
                </a:tc>
                <a:tc>
                  <a:txBody>
                    <a:bodyPr/>
                    <a:lstStyle/>
                    <a:p>
                      <a:r>
                        <a:rPr sz="1200" b="0">
                          <a:solidFill>
                            <a:srgbClr val="4B4B4B"/>
                          </a:solidFill>
                          <a:latin typeface="Arial"/>
                        </a:rPr>
                        <a:t>12 / 16</a:t>
                      </a:r>
                    </a:p>
                  </a:txBody>
                  <a:tcPr marL="54864" marR="54864" marT="27432" marB="27432">
                    <a:solidFill>
                      <a:srgbClr val="FFFFFF"/>
                    </a:solidFill>
                  </a:tcPr>
                </a:tc>
                <a:tc>
                  <a:txBody>
                    <a:bodyPr/>
                    <a:lstStyle/>
                    <a:p>
                      <a:r>
                        <a:rPr sz="1200" b="0">
                          <a:solidFill>
                            <a:srgbClr val="4B4B4B"/>
                          </a:solidFill>
                          <a:latin typeface="Arial"/>
                        </a:rPr>
                        <a:t>Regular, Base Grey #656565</a:t>
                      </a:r>
                    </a:p>
                  </a:txBody>
                  <a:tcPr marL="54864" marR="54864" marT="27432" marB="27432">
                    <a:solidFill>
                      <a:srgbClr val="FFFFFF"/>
                    </a:solidFill>
                  </a:tcPr>
                </a:tc>
              </a:tr>
              <a:tr h="274319">
                <a:tc>
                  <a:txBody>
                    <a:bodyPr/>
                    <a:lstStyle/>
                    <a:p>
                      <a:r>
                        <a:rPr sz="1200" b="0">
                          <a:solidFill>
                            <a:srgbClr val="4B4B4B"/>
                          </a:solidFill>
                          <a:latin typeface="Arial"/>
                        </a:rPr>
                        <a:t>Buttons</a:t>
                      </a:r>
                    </a:p>
                  </a:txBody>
                  <a:tcPr marL="54864" marR="54864" marT="27432" marB="27432">
                    <a:solidFill>
                      <a:srgbClr val="E5F5FF"/>
                    </a:solidFill>
                  </a:tcPr>
                </a:tc>
                <a:tc>
                  <a:txBody>
                    <a:bodyPr/>
                    <a:lstStyle/>
                    <a:p>
                      <a:r>
                        <a:rPr sz="1200" b="0">
                          <a:solidFill>
                            <a:srgbClr val="4B4B4B"/>
                          </a:solidFill>
                          <a:latin typeface="Arial"/>
                        </a:rPr>
                        <a:t>14, Title Case</a:t>
                      </a:r>
                    </a:p>
                  </a:txBody>
                  <a:tcPr marL="54864" marR="54864" marT="27432" marB="27432">
                    <a:solidFill>
                      <a:srgbClr val="E5F5FF"/>
                    </a:solidFill>
                  </a:tcPr>
                </a:tc>
                <a:tc>
                  <a:txBody>
                    <a:bodyPr/>
                    <a:lstStyle/>
                    <a:p>
                      <a:r>
                        <a:rPr sz="1200" b="0">
                          <a:solidFill>
                            <a:srgbClr val="4B4B4B"/>
                          </a:solidFill>
                          <a:latin typeface="Arial"/>
                        </a:rPr>
                        <a:t>Bold; white on CTA Blue (primary), CTA Blue on white (secondary)</a:t>
                      </a:r>
                    </a:p>
                  </a:txBody>
                  <a:tcPr marL="54864" marR="54864" marT="27432" marB="27432">
                    <a:solidFill>
                      <a:srgbClr val="E5F5FF"/>
                    </a:solidFill>
                  </a:tcPr>
                </a:tc>
              </a:tr>
              <a:tr h="274319">
                <a:tc>
                  <a:txBody>
                    <a:bodyPr/>
                    <a:lstStyle/>
                    <a:p>
                      <a:r>
                        <a:rPr sz="1200" b="0">
                          <a:solidFill>
                            <a:srgbClr val="4B4B4B"/>
                          </a:solidFill>
                          <a:latin typeface="Arial"/>
                        </a:rPr>
                        <a:t>Status pill</a:t>
                      </a:r>
                    </a:p>
                  </a:txBody>
                  <a:tcPr marL="54864" marR="54864" marT="27432" marB="27432">
                    <a:solidFill>
                      <a:srgbClr val="FFFFFF"/>
                    </a:solidFill>
                  </a:tcPr>
                </a:tc>
                <a:tc>
                  <a:txBody>
                    <a:bodyPr/>
                    <a:lstStyle/>
                    <a:p>
                      <a:r>
                        <a:rPr sz="1200" b="0">
                          <a:solidFill>
                            <a:srgbClr val="4B4B4B"/>
                          </a:solidFill>
                          <a:latin typeface="Arial"/>
                        </a:rPr>
                        <a:t>12, bold, centred</a:t>
                      </a:r>
                    </a:p>
                  </a:txBody>
                  <a:tcPr marL="54864" marR="54864" marT="27432" marB="27432">
                    <a:solidFill>
                      <a:srgbClr val="FFFFFF"/>
                    </a:solidFill>
                  </a:tcPr>
                </a:tc>
                <a:tc>
                  <a:txBody>
                    <a:bodyPr/>
                    <a:lstStyle/>
                    <a:p>
                      <a:r>
                        <a:rPr sz="1200" b="0">
                          <a:solidFill>
                            <a:srgbClr val="4B4B4B"/>
                          </a:solidFill>
                          <a:latin typeface="Arial"/>
                        </a:rPr>
                        <a:t>24 px high, 112 to 184 px wide, one colour per state group</a:t>
                      </a:r>
                    </a:p>
                  </a:txBody>
                  <a:tcPr marL="54864" marR="54864" marT="27432" marB="27432">
                    <a:solidFill>
                      <a:srgbClr val="FFFFFF"/>
                    </a:solidFill>
                  </a:tcPr>
                </a:tc>
              </a:tr>
            </a:tbl>
          </a:graphicData>
        </a:graphic>
      </p:graphicFrame>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a:t>
            </a:r>
          </a:p>
        </p:txBody>
      </p:sp>
      <p:graphicFrame>
        <p:nvGraphicFramePr>
          <p:cNvPr id="9" name="Table 8"/>
          <p:cNvGraphicFramePr>
            <a:graphicFrameLocks noGrp="1"/>
          </p:cNvGraphicFramePr>
          <p:nvPr/>
        </p:nvGraphicFramePr>
        <p:xfrm>
          <a:off x="548640" y="1325880"/>
          <a:ext cx="11094414" cy="492252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radius-sm</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radius-md</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radius-lg</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space-1</a:t>
                      </a:r>
                    </a:p>
                  </a:txBody>
                  <a:tcPr marL="54864" marR="54864" marT="27432" marB="27432">
                    <a:solidFill>
                      <a:srgbClr val="E5F5FF"/>
                    </a:solidFill>
                  </a:tcPr>
                </a:tc>
                <a:tc>
                  <a:txBody>
                    <a:bodyPr/>
                    <a:lstStyle/>
                    <a:p>
                      <a:r>
                        <a:rPr sz="1100" b="0">
                          <a:solidFill>
                            <a:srgbClr val="4B4B4B"/>
                          </a:solidFill>
                          <a:latin typeface="Arial"/>
                        </a:rPr>
                        <a:t>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space-2</a:t>
                      </a:r>
                    </a:p>
                  </a:txBody>
                  <a:tcPr marL="54864" marR="54864" marT="27432" marB="27432">
                    <a:solidFill>
                      <a:srgbClr val="FFFFFF"/>
                    </a:solidFill>
                  </a:tcPr>
                </a:tc>
                <a:tc>
                  <a:txBody>
                    <a:bodyPr/>
                    <a:lstStyle/>
                    <a:p>
                      <a:r>
                        <a:rPr sz="1100" b="0">
                          <a:solidFill>
                            <a:srgbClr val="4B4B4B"/>
                          </a:solidFill>
                          <a:latin typeface="Arial"/>
                        </a:rPr>
                        <a:t>8px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space-3</a:t>
                      </a:r>
                    </a:p>
                  </a:txBody>
                  <a:tcPr marL="54864" marR="54864" marT="27432" marB="27432">
                    <a:solidFill>
                      <a:srgbClr val="E5F5FF"/>
                    </a:solidFill>
                  </a:tcPr>
                </a:tc>
                <a:tc>
                  <a:txBody>
                    <a:bodyPr/>
                    <a:lstStyle/>
                    <a:p>
                      <a:r>
                        <a:rPr sz="1100" b="0">
                          <a:solidFill>
                            <a:srgbClr val="4B4B4B"/>
                          </a:solidFill>
                          <a:latin typeface="Arial"/>
                        </a:rPr>
                        <a:t>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space-4</a:t>
                      </a:r>
                    </a:p>
                  </a:txBody>
                  <a:tcPr marL="54864" marR="54864" marT="27432" marB="27432">
                    <a:solidFill>
                      <a:srgbClr val="FFFFFF"/>
                    </a:solidFill>
                  </a:tcPr>
                </a:tc>
                <a:tc>
                  <a:txBody>
                    <a:bodyPr/>
                    <a:lstStyle/>
                    <a:p>
                      <a:r>
                        <a:rPr sz="1100" b="0">
                          <a:solidFill>
                            <a:srgbClr val="4B4B4B"/>
                          </a:solidFill>
                          <a:latin typeface="Arial"/>
                        </a:rPr>
                        <a:t>16px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space-5</a:t>
                      </a:r>
                    </a:p>
                  </a:txBody>
                  <a:tcPr marL="54864" marR="54864" marT="27432" marB="27432">
                    <a:solidFill>
                      <a:srgbClr val="E5F5FF"/>
                    </a:solidFill>
                  </a:tcPr>
                </a:tc>
                <a:tc>
                  <a:txBody>
                    <a:bodyPr/>
                    <a:lstStyle/>
                    <a:p>
                      <a:r>
                        <a:rPr sz="1100" b="0">
                          <a:solidFill>
                            <a:srgbClr val="4B4B4B"/>
                          </a:solidFill>
                          <a:latin typeface="Arial"/>
                        </a:rPr>
                        <a:t>24px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space-6</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control-height</a:t>
                      </a:r>
                    </a:p>
                  </a:txBody>
                  <a:tcPr marL="54864" marR="54864" marT="27432" marB="27432">
                    <a:solidFill>
                      <a:srgbClr val="E5F5FF"/>
                    </a:solidFill>
                  </a:tcPr>
                </a:tc>
                <a:tc>
                  <a:txBody>
                    <a:bodyPr/>
                    <a:lstStyle/>
                    <a:p>
                      <a:r>
                        <a:rPr sz="1100" b="0">
                          <a:solidFill>
                            <a:srgbClr val="4B4B4B"/>
                          </a:solidFill>
                          <a:latin typeface="Arial"/>
                        </a:rPr>
                        <a:t>44px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control-height-sm</a:t>
                      </a:r>
                    </a:p>
                  </a:txBody>
                  <a:tcPr marL="54864" marR="54864" marT="27432" marB="27432">
                    <a:solidFill>
                      <a:srgbClr val="FFFFFF"/>
                    </a:solidFill>
                  </a:tcPr>
                </a:tc>
                <a:tc>
                  <a:txBody>
                    <a:bodyPr/>
                    <a:lstStyle/>
                    <a:p>
                      <a:r>
                        <a:rPr sz="1100" b="0">
                          <a:solidFill>
                            <a:srgbClr val="4B4B4B"/>
                          </a:solidFill>
                          <a:latin typeface="Arial"/>
                        </a:rPr>
                        <a:t>32px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header-height</a:t>
                      </a:r>
                    </a:p>
                  </a:txBody>
                  <a:tcPr marL="54864" marR="54864" marT="27432" marB="27432">
                    <a:solidFill>
                      <a:srgbClr val="E5F5FF"/>
                    </a:solidFill>
                  </a:tcPr>
                </a:tc>
                <a:tc>
                  <a:txBody>
                    <a:bodyPr/>
                    <a:lstStyle/>
                    <a:p>
                      <a:r>
                        <a:rPr sz="1100" b="0">
                          <a:solidFill>
                            <a:srgbClr val="4B4B4B"/>
                          </a:solidFill>
                          <a:latin typeface="Arial"/>
                        </a:rPr>
                        <a:t>72px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sidebar-width</a:t>
                      </a:r>
                    </a:p>
                  </a:txBody>
                  <a:tcPr marL="54864" marR="54864" marT="27432" marB="27432">
                    <a:solidFill>
                      <a:srgbClr val="FFFFFF"/>
                    </a:solidFill>
                  </a:tcPr>
                </a:tc>
                <a:tc>
                  <a:txBody>
                    <a:bodyPr/>
                    <a:lstStyle/>
                    <a:p>
                      <a:r>
                        <a:rPr sz="1100" b="0">
                          <a:solidFill>
                            <a:srgbClr val="4B4B4B"/>
                          </a:solidFill>
                          <a:latin typeface="Arial"/>
                        </a:rPr>
                        <a:t>272px</a:t>
                      </a:r>
                    </a:p>
                  </a:txBody>
                  <a:tcPr marL="54864" marR="54864" marT="27432" marB="27432">
                    <a:solidFill>
                      <a:srgbClr val="FFFFFF"/>
                    </a:solidFill>
                  </a:tcPr>
                </a:tc>
                <a:tc>
                  <a:txBody>
                    <a:bodyPr/>
                    <a:lstStyle/>
                    <a:p>
                      <a:r>
                        <a:rPr sz="1100" b="0">
                          <a:solidFill>
                            <a:srgbClr val="4B4B4B"/>
                          </a:solidFill>
                          <a:latin typeface="Arial"/>
                        </a:rPr>
                        <a:t>Status pills and flag chips: one size everywhere</a:t>
                      </a:r>
                    </a:p>
                  </a:txBody>
                  <a:tcPr marL="54864" marR="54864" marT="27432" marB="27432">
                    <a:solidFill>
                      <a:srgbClr val="FFFFFF"/>
                    </a:solidFill>
                  </a:tcPr>
                </a:tc>
              </a:tr>
              <a:tr h="259080">
                <a:tc>
                  <a:txBody>
                    <a:bodyPr/>
                    <a:lstStyle/>
                    <a:p>
                      <a:r>
                        <a:rPr sz="1100" b="0">
                          <a:solidFill>
                            <a:srgbClr val="4B4B4B"/>
                          </a:solidFill>
                          <a:latin typeface="Arial"/>
                        </a:rPr>
                        <a:t>badge-min-width</a:t>
                      </a:r>
                    </a:p>
                  </a:txBody>
                  <a:tcPr marL="54864" marR="54864" marT="27432" marB="27432">
                    <a:solidFill>
                      <a:srgbClr val="E5F5FF"/>
                    </a:solidFill>
                  </a:tcPr>
                </a:tc>
                <a:tc>
                  <a:txBody>
                    <a:bodyPr/>
                    <a:lstStyle/>
                    <a:p>
                      <a:r>
                        <a:rPr sz="1100" b="0">
                          <a:solidFill>
                            <a:srgbClr val="4B4B4B"/>
                          </a:solidFill>
                          <a:latin typeface="Arial"/>
                        </a:rPr>
                        <a:t>112px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r h="259080">
                <a:tc>
                  <a:txBody>
                    <a:bodyPr/>
                    <a:lstStyle/>
                    <a:p>
                      <a:r>
                        <a:rPr sz="1100" b="0">
                          <a:solidFill>
                            <a:srgbClr val="4B4B4B"/>
                          </a:solidFill>
                          <a:latin typeface="Arial"/>
                        </a:rPr>
                        <a:t>badge-max-width</a:t>
                      </a:r>
                    </a:p>
                  </a:txBody>
                  <a:tcPr marL="54864" marR="54864" marT="27432" marB="27432">
                    <a:solidFill>
                      <a:srgbClr val="FFFFFF"/>
                    </a:solidFill>
                  </a:tcPr>
                </a:tc>
                <a:tc>
                  <a:txBody>
                    <a:bodyPr/>
                    <a:lstStyle/>
                    <a:p>
                      <a:r>
                        <a:rPr sz="1100" b="0">
                          <a:solidFill>
                            <a:srgbClr val="4B4B4B"/>
                          </a:solidFill>
                          <a:latin typeface="Arial"/>
                        </a:rPr>
                        <a:t>184px</a:t>
                      </a:r>
                    </a:p>
                  </a:txBody>
                  <a:tcPr marL="54864" marR="54864" marT="27432" marB="27432">
                    <a:solidFill>
                      <a:srgbClr val="FFFFFF"/>
                    </a:solidFill>
                  </a:tcPr>
                </a:tc>
                <a:tc>
                  <a:txBody>
                    <a:bodyPr/>
                    <a:lstStyle/>
                    <a:p>
                      <a:r>
                        <a:rPr sz="1100" b="0">
                          <a:solidFill>
                            <a:srgbClr val="4B4B4B"/>
                          </a:solidFill>
                          <a:latin typeface="Arial"/>
                        </a:rPr>
                        <a:t>-</a:t>
                      </a:r>
                    </a:p>
                  </a:txBody>
                  <a:tcPr marL="54864" marR="54864" marT="27432" marB="27432">
                    <a:solidFill>
                      <a:srgbClr val="FFFFFF"/>
                    </a:solidFill>
                  </a:tcPr>
                </a:tc>
              </a:tr>
              <a:tr h="259080">
                <a:tc>
                  <a:txBody>
                    <a:bodyPr/>
                    <a:lstStyle/>
                    <a:p>
                      <a:r>
                        <a:rPr sz="1100" b="0">
                          <a:solidFill>
                            <a:srgbClr val="4B4B4B"/>
                          </a:solidFill>
                          <a:latin typeface="Arial"/>
                        </a:rPr>
                        <a:t>tag-min-width</a:t>
                      </a:r>
                    </a:p>
                  </a:txBody>
                  <a:tcPr marL="54864" marR="54864" marT="27432" marB="27432">
                    <a:solidFill>
                      <a:srgbClr val="E5F5FF"/>
                    </a:solidFill>
                  </a:tcPr>
                </a:tc>
                <a:tc>
                  <a:txBody>
                    <a:bodyPr/>
                    <a:lstStyle/>
                    <a:p>
                      <a:r>
                        <a:rPr sz="1100" b="0">
                          <a:solidFill>
                            <a:srgbClr val="4B4B4B"/>
                          </a:solidFill>
                          <a:latin typeface="Arial"/>
                        </a:rPr>
                        <a:t>88px</a:t>
                      </a:r>
                    </a:p>
                  </a:txBody>
                  <a:tcPr marL="54864" marR="54864" marT="27432" marB="27432">
                    <a:solidFill>
                      <a:srgbClr val="E5F5FF"/>
                    </a:solidFill>
                  </a:tcPr>
                </a:tc>
                <a:tc>
                  <a:txBody>
                    <a:bodyPr/>
                    <a:lstStyle/>
                    <a:p>
                      <a:r>
                        <a:rPr sz="1100" b="0">
                          <a:solidFill>
                            <a:srgbClr val="4B4B4B"/>
                          </a:solidFill>
                          <a:latin typeface="Arial"/>
                        </a:rPr>
                        <a:t>Fixed width of code and reference columns (ARN, CL, PAY… numbers)</a:t>
                      </a:r>
                    </a:p>
                  </a:txBody>
                  <a:tcPr marL="54864" marR="54864" marT="27432" marB="27432">
                    <a:solidFill>
                      <a:srgbClr val="E5F5FF"/>
                    </a:solidFill>
                  </a:tcPr>
                </a:tc>
              </a:tr>
              <a:tr h="259080">
                <a:tc>
                  <a:txBody>
                    <a:bodyPr/>
                    <a:lstStyle/>
                    <a:p>
                      <a:r>
                        <a:rPr sz="1100" b="0">
                          <a:solidFill>
                            <a:srgbClr val="4B4B4B"/>
                          </a:solidFill>
                          <a:latin typeface="Arial"/>
                        </a:rPr>
                        <a:t>code-col-width</a:t>
                      </a:r>
                    </a:p>
                  </a:txBody>
                  <a:tcPr marL="54864" marR="54864" marT="27432" marB="27432">
                    <a:solidFill>
                      <a:srgbClr val="FFFFFF"/>
                    </a:solidFill>
                  </a:tcPr>
                </a:tc>
                <a:tc>
                  <a:txBody>
                    <a:bodyPr/>
                    <a:lstStyle/>
                    <a:p>
                      <a:r>
                        <a:rPr sz="1100" b="0">
                          <a:solidFill>
                            <a:srgbClr val="4B4B4B"/>
                          </a:solidFill>
                          <a:latin typeface="Arial"/>
                        </a:rPr>
                        <a:t>168px</a:t>
                      </a:r>
                    </a:p>
                  </a:txBody>
                  <a:tcPr marL="54864" marR="54864" marT="27432" marB="27432">
                    <a:solidFill>
                      <a:srgbClr val="FFFFFF"/>
                    </a:solidFill>
                  </a:tcPr>
                </a:tc>
                <a:tc>
                  <a:txBody>
                    <a:bodyPr/>
                    <a:lstStyle/>
                    <a:p>
                      <a:r>
                        <a:rPr sz="1100" b="0">
                          <a:solidFill>
                            <a:srgbClr val="4B4B4B"/>
                          </a:solidFill>
                          <a:latin typeface="Arial"/>
                        </a:rPr>
                        <a:t>Period column: "to 20-Oct-2027" on one line (PeriodCell)</a:t>
                      </a:r>
                    </a:p>
                  </a:txBody>
                  <a:tcPr marL="54864" marR="54864" marT="27432" marB="27432">
                    <a:solidFill>
                      <a:srgbClr val="FFFFFF"/>
                    </a:solidFill>
                  </a:tcPr>
                </a:tc>
              </a:tr>
              <a:tr h="259080">
                <a:tc>
                  <a:txBody>
                    <a:bodyPr/>
                    <a:lstStyle/>
                    <a:p>
                      <a:r>
                        <a:rPr sz="1100" b="0">
                          <a:solidFill>
                            <a:srgbClr val="4B4B4B"/>
                          </a:solidFill>
                          <a:latin typeface="Arial"/>
                        </a:rPr>
                        <a:t>period-col-width</a:t>
                      </a:r>
                    </a:p>
                  </a:txBody>
                  <a:tcPr marL="54864" marR="54864" marT="27432" marB="27432">
                    <a:solidFill>
                      <a:srgbClr val="E5F5FF"/>
                    </a:solidFill>
                  </a:tcPr>
                </a:tc>
                <a:tc>
                  <a:txBody>
                    <a:bodyPr/>
                    <a:lstStyle/>
                    <a:p>
                      <a:r>
                        <a:rPr sz="1100" b="0">
                          <a:solidFill>
                            <a:srgbClr val="4B4B4B"/>
                          </a:solidFill>
                          <a:latin typeface="Arial"/>
                        </a:rPr>
                        <a:t>132px</a:t>
                      </a:r>
                    </a:p>
                  </a:txBody>
                  <a:tcPr marL="54864" marR="54864" marT="27432" marB="27432">
                    <a:solidFill>
                      <a:srgbClr val="E5F5FF"/>
                    </a:solidFill>
                  </a:tcPr>
                </a:tc>
                <a:tc>
                  <a:txBody>
                    <a:bodyPr/>
                    <a:lstStyle/>
                    <a:p>
                      <a:r>
                        <a:rPr sz="1100" b="0">
                          <a:solidFill>
                            <a:srgbClr val="4B4B4B"/>
                          </a:solidFill>
                          <a:latin typeface="Arial"/>
                        </a:rPr>
                        <a:t>Tables scroll inside their card so the header row stays visible</a:t>
                      </a:r>
                    </a:p>
                  </a:txBody>
                  <a:tcPr marL="54864" marR="54864" marT="27432" marB="27432">
                    <a:solidFill>
                      <a:srgbClr val="E5F5FF"/>
                    </a:solidFill>
                  </a:tcPr>
                </a:tc>
              </a:tr>
            </a:tbl>
          </a:graphicData>
        </a:graphic>
      </p:graphicFrame>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Spacing, sizes and radius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a:t>
            </a:r>
          </a:p>
        </p:txBody>
      </p:sp>
      <p:graphicFrame>
        <p:nvGraphicFramePr>
          <p:cNvPr id="9" name="Table 8"/>
          <p:cNvGraphicFramePr>
            <a:graphicFrameLocks noGrp="1"/>
          </p:cNvGraphicFramePr>
          <p:nvPr/>
        </p:nvGraphicFramePr>
        <p:xfrm>
          <a:off x="548640" y="1325880"/>
          <a:ext cx="11094414" cy="777240"/>
        </p:xfrm>
        <a:graphic>
          <a:graphicData uri="http://schemas.openxmlformats.org/drawingml/2006/table">
            <a:tbl>
              <a:tblPr firstRow="1" bandRow="1">
                <a:tableStyleId>{5C22544A-7EE6-4342-B048-85BDC9FD1C3A}</a:tableStyleId>
              </a:tblPr>
              <a:tblGrid>
                <a:gridCol w="2901616"/>
                <a:gridCol w="1365466"/>
                <a:gridCol w="6827332"/>
              </a:tblGrid>
              <a:tr h="259080">
                <a:tc>
                  <a:txBody>
                    <a:bodyPr/>
                    <a:lstStyle/>
                    <a:p>
                      <a:r>
                        <a:rPr sz="1100" b="1">
                          <a:solidFill>
                            <a:srgbClr val="FFFFFF"/>
                          </a:solidFill>
                          <a:latin typeface="Arial"/>
                        </a:rPr>
                        <a:t>Token</a:t>
                      </a:r>
                    </a:p>
                  </a:txBody>
                  <a:tcPr marL="54864" marR="54864" marT="27432" marB="27432">
                    <a:solidFill>
                      <a:srgbClr val="004EA8"/>
                    </a:solidFill>
                  </a:tcPr>
                </a:tc>
                <a:tc>
                  <a:txBody>
                    <a:bodyPr/>
                    <a:lstStyle/>
                    <a:p>
                      <a:r>
                        <a:rPr sz="1100" b="1">
                          <a:solidFill>
                            <a:srgbClr val="FFFFFF"/>
                          </a:solidFill>
                          <a:latin typeface="Arial"/>
                        </a:rPr>
                        <a:t>Value</a:t>
                      </a:r>
                    </a:p>
                  </a:txBody>
                  <a:tcPr marL="54864" marR="54864" marT="27432" marB="27432">
                    <a:solidFill>
                      <a:srgbClr val="004EA8"/>
                    </a:solidFill>
                  </a:tcPr>
                </a:tc>
                <a:tc>
                  <a:txBody>
                    <a:bodyPr/>
                    <a:lstStyle/>
                    <a:p>
                      <a:r>
                        <a:rPr sz="1100" b="1">
                          <a:solidFill>
                            <a:srgbClr val="FFFFFF"/>
                          </a:solidFill>
                          <a:latin typeface="Arial"/>
                        </a:rPr>
                        <a:t>Use</a:t>
                      </a:r>
                    </a:p>
                  </a:txBody>
                  <a:tcPr marL="54864" marR="54864" marT="27432" marB="27432">
                    <a:solidFill>
                      <a:srgbClr val="004EA8"/>
                    </a:solidFill>
                  </a:tcPr>
                </a:tc>
              </a:tr>
              <a:tr h="259080">
                <a:tc>
                  <a:txBody>
                    <a:bodyPr/>
                    <a:lstStyle/>
                    <a:p>
                      <a:r>
                        <a:rPr sz="1100" b="0">
                          <a:solidFill>
                            <a:srgbClr val="4B4B4B"/>
                          </a:solidFill>
                          <a:latin typeface="Arial"/>
                        </a:rPr>
                        <a:t>table-max-height</a:t>
                      </a:r>
                    </a:p>
                  </a:txBody>
                  <a:tcPr marL="54864" marR="54864" marT="27432" marB="27432">
                    <a:solidFill>
                      <a:srgbClr val="FFFFFF"/>
                    </a:solidFill>
                  </a:tcPr>
                </a:tc>
                <a:tc>
                  <a:txBody>
                    <a:bodyPr/>
                    <a:lstStyle/>
                    <a:p>
                      <a:r>
                        <a:rPr sz="1100" b="0">
                          <a:solidFill>
                            <a:srgbClr val="4B4B4B"/>
                          </a:solidFill>
                          <a:latin typeface="Arial"/>
                        </a:rPr>
                        <a:t>70vh</a:t>
                      </a:r>
                    </a:p>
                  </a:txBody>
                  <a:tcPr marL="54864" marR="54864" marT="27432" marB="27432">
                    <a:solidFill>
                      <a:srgbClr val="FFFFFF"/>
                    </a:solidFill>
                  </a:tcPr>
                </a:tc>
                <a:tc>
                  <a:txBody>
                    <a:bodyPr/>
                    <a:lstStyle/>
                    <a:p>
                      <a:r>
                        <a:rPr sz="1100" b="0">
                          <a:solidFill>
                            <a:srgbClr val="4B4B4B"/>
                          </a:solidFill>
                          <a:latin typeface="Arial"/>
                        </a:rPr>
                        <a:t>Label column of definition grids</a:t>
                      </a:r>
                    </a:p>
                  </a:txBody>
                  <a:tcPr marL="54864" marR="54864" marT="27432" marB="27432">
                    <a:solidFill>
                      <a:srgbClr val="FFFFFF"/>
                    </a:solidFill>
                  </a:tcPr>
                </a:tc>
              </a:tr>
              <a:tr h="259080">
                <a:tc>
                  <a:txBody>
                    <a:bodyPr/>
                    <a:lstStyle/>
                    <a:p>
                      <a:r>
                        <a:rPr sz="1100" b="0">
                          <a:solidFill>
                            <a:srgbClr val="4B4B4B"/>
                          </a:solidFill>
                          <a:latin typeface="Arial"/>
                        </a:rPr>
                        <a:t>def-label-width</a:t>
                      </a:r>
                    </a:p>
                  </a:txBody>
                  <a:tcPr marL="54864" marR="54864" marT="27432" marB="27432">
                    <a:solidFill>
                      <a:srgbClr val="E5F5FF"/>
                    </a:solidFill>
                  </a:tcPr>
                </a:tc>
                <a:tc>
                  <a:txBody>
                    <a:bodyPr/>
                    <a:lstStyle/>
                    <a:p>
                      <a:r>
                        <a:rPr sz="1100" b="0">
                          <a:solidFill>
                            <a:srgbClr val="4B4B4B"/>
                          </a:solidFill>
                          <a:latin typeface="Arial"/>
                        </a:rPr>
                        <a:t>168px</a:t>
                      </a:r>
                    </a:p>
                  </a:txBody>
                  <a:tcPr marL="54864" marR="54864" marT="27432" marB="27432">
                    <a:solidFill>
                      <a:srgbClr val="E5F5FF"/>
                    </a:solidFill>
                  </a:tcPr>
                </a:tc>
                <a:tc>
                  <a:txBody>
                    <a:bodyPr/>
                    <a:lstStyle/>
                    <a:p>
                      <a:r>
                        <a:rPr sz="110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Iconography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600">
                <a:solidFill>
                  <a:srgbClr val="004EA8"/>
                </a:solidFill>
                <a:latin typeface="Arial"/>
              </a:rPr>
              <a:t>•  </a:t>
            </a:r>
            <a:r>
              <a:rPr sz="1600">
                <a:solidFill>
                  <a:srgbClr val="4B4B4B"/>
                </a:solidFill>
                <a:latin typeface="Arial"/>
              </a:rPr>
              <a:t>Outline icons in CTA Blue, one stroke weight, at 16, 24, 32 and 48 px (the Lucide outline set as the equivalent of the BDO icon set)</a:t>
            </a:r>
          </a:p>
          <a:p>
            <a:pPr>
              <a:spcAft>
                <a:spcPts val="600"/>
              </a:spcAft>
            </a:pPr>
            <a:r>
              <a:rPr sz="1600">
                <a:solidFill>
                  <a:srgbClr val="004EA8"/>
                </a:solidFill>
                <a:latin typeface="Arial"/>
              </a:rPr>
              <a:t>•  </a:t>
            </a:r>
            <a:r>
              <a:rPr sz="1600">
                <a:solidFill>
                  <a:srgbClr val="4B4B4B"/>
                </a:solidFill>
                <a:latin typeface="Arial"/>
              </a:rPr>
              <a:t>Menu entries: a 20 px icon before the label</a:t>
            </a:r>
          </a:p>
          <a:p>
            <a:pPr>
              <a:spcAft>
                <a:spcPts val="600"/>
              </a:spcAft>
            </a:pPr>
            <a:r>
              <a:rPr sz="1600">
                <a:solidFill>
                  <a:srgbClr val="004EA8"/>
                </a:solidFill>
                <a:latin typeface="Arial"/>
              </a:rPr>
              <a:t>•  </a:t>
            </a:r>
            <a:r>
              <a:rPr sz="1600">
                <a:solidFill>
                  <a:srgbClr val="4B4B4B"/>
                </a:solidFill>
                <a:latin typeface="Arial"/>
              </a:rPr>
              <a:t>Messages: the icon of the kind in its colour (error, warning, information, success)</a:t>
            </a:r>
          </a:p>
          <a:p>
            <a:pPr>
              <a:spcAft>
                <a:spcPts val="600"/>
              </a:spcAft>
            </a:pPr>
            <a:r>
              <a:rPr sz="1600">
                <a:solidFill>
                  <a:srgbClr val="004EA8"/>
                </a:solidFill>
                <a:latin typeface="Arial"/>
              </a:rPr>
              <a:t>•  </a:t>
            </a:r>
            <a:r>
              <a:rPr sz="1600">
                <a:solidFill>
                  <a:srgbClr val="4B4B4B"/>
                </a:solidFill>
                <a:latin typeface="Arial"/>
              </a:rPr>
              <a:t>Actions: an icon only with its label or its tooltip; destructive actions in red, last</a:t>
            </a:r>
          </a:p>
          <a:p>
            <a:pPr>
              <a:spcAft>
                <a:spcPts val="600"/>
              </a:spcAft>
            </a:pPr>
            <a:r>
              <a:rPr sz="1600">
                <a:solidFill>
                  <a:srgbClr val="004EA8"/>
                </a:solidFill>
                <a:latin typeface="Arial"/>
              </a:rPr>
              <a:t>•  </a:t>
            </a:r>
            <a:r>
              <a:rPr sz="1600">
                <a:solidFill>
                  <a:srgbClr val="4B4B4B"/>
                </a:solidFill>
                <a:latin typeface="Arial"/>
              </a:rPr>
              <a:t>Flags and statuses are text chips and pills, never an icon alone</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Workflow step bar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a:t>
            </a:r>
          </a:p>
        </p:txBody>
      </p:sp>
      <p:pic>
        <p:nvPicPr>
          <p:cNvPr id="9" name="Picture 8" descr="ux-scr-pm-04-cmp-stepper.png"/>
          <p:cNvPicPr>
            <a:picLocks noChangeAspect="1"/>
          </p:cNvPicPr>
          <p:nvPr/>
        </p:nvPicPr>
        <p:blipFill>
          <a:blip r:embed="rId3"/>
          <a:stretch>
            <a:fillRect/>
          </a:stretch>
        </p:blipFill>
        <p:spPr>
          <a:xfrm>
            <a:off x="548640" y="1261872"/>
            <a:ext cx="7680960" cy="169553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workflow header of a package request in negotiation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Passed stages ticked on CTA Blue; the current stage highlighted; the stages ahead grey with their number</a:t>
            </a:r>
          </a:p>
          <a:p>
            <a:pPr>
              <a:spcAft>
                <a:spcPts val="600"/>
              </a:spcAft>
            </a:pPr>
            <a:r>
              <a:rPr sz="1100">
                <a:solidFill>
                  <a:srgbClr val="004EA8"/>
                </a:solidFill>
                <a:latin typeface="Arial"/>
              </a:rPr>
              <a:t>•  </a:t>
            </a:r>
            <a:r>
              <a:rPr sz="1100">
                <a:solidFill>
                  <a:srgbClr val="4B4B4B"/>
                </a:solidFill>
                <a:latin typeface="Arial"/>
              </a:rPr>
              <a:t>Returned or on hold in amber after the stage it came from; rejected, cancelled, voided or not proceeded in red, and the path ends there</a:t>
            </a:r>
          </a:p>
          <a:p>
            <a:pPr>
              <a:spcAft>
                <a:spcPts val="600"/>
              </a:spcAft>
            </a:pPr>
            <a:r>
              <a:rPr sz="1100">
                <a:solidFill>
                  <a:srgbClr val="004EA8"/>
                </a:solidFill>
                <a:latin typeface="Arial"/>
              </a:rPr>
              <a:t>•  </a:t>
            </a:r>
            <a:r>
              <a:rPr sz="1100">
                <a:solidFill>
                  <a:srgbClr val="4B4B4B"/>
                </a:solidFill>
                <a:latin typeface="Arial"/>
              </a:rPr>
              <a:t>The last stage turns green when it is reached</a:t>
            </a:r>
          </a:p>
          <a:p>
            <a:pPr>
              <a:spcAft>
                <a:spcPts val="600"/>
              </a:spcAft>
            </a:pPr>
            <a:r>
              <a:rPr sz="1100">
                <a:solidFill>
                  <a:srgbClr val="004EA8"/>
                </a:solidFill>
                <a:latin typeface="Arial"/>
              </a:rPr>
              <a:t>•  </a:t>
            </a:r>
            <a:r>
              <a:rPr sz="1100">
                <a:solidFill>
                  <a:srgbClr val="4B4B4B"/>
                </a:solidFill>
                <a:latin typeface="Arial"/>
              </a:rPr>
              <a:t>Under a thin rule: Current Stage, Since, Due with the Overdue pill, Assigned To; actions aligned right</a:t>
            </a:r>
          </a:p>
          <a:p>
            <a:pPr>
              <a:spcAft>
                <a:spcPts val="600"/>
              </a:spcAft>
            </a:pPr>
            <a:r>
              <a:rPr sz="1100">
                <a:solidFill>
                  <a:srgbClr val="004EA8"/>
                </a:solidFill>
                <a:latin typeface="Arial"/>
              </a:rPr>
              <a:t>•  </a:t>
            </a:r>
            <a:r>
              <a:rPr sz="1100">
                <a:solidFill>
                  <a:srgbClr val="4B4B4B"/>
                </a:solidFill>
                <a:latin typeface="Arial"/>
              </a:rPr>
              <a:t>Narrow widths keep the first, last and current stage and its neighbours</a:t>
            </a:r>
          </a:p>
          <a:p>
            <a:pPr>
              <a:spcAft>
                <a:spcPts val="600"/>
              </a:spcAft>
            </a:pPr>
            <a:r>
              <a:rPr sz="1100">
                <a:solidFill>
                  <a:srgbClr val="004EA8"/>
                </a:solidFill>
                <a:latin typeface="Arial"/>
              </a:rPr>
              <a:t>•  </a:t>
            </a:r>
            <a:r>
              <a:rPr sz="1100">
                <a:solidFill>
                  <a:srgbClr val="4B4B4B"/>
                </a:solidFill>
                <a:latin typeface="Arial"/>
              </a:rPr>
              <a:t>In this set: SCR-DM-07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Notice standard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a:t>
            </a:r>
          </a:p>
        </p:txBody>
      </p:sp>
      <p:pic>
        <p:nvPicPr>
          <p:cNvPr id="9" name="Picture 8" descr="ux-scr-ua-07-cmp-notice.png"/>
          <p:cNvPicPr>
            <a:picLocks noChangeAspect="1"/>
          </p:cNvPicPr>
          <p:nvPr/>
        </p:nvPicPr>
        <p:blipFill>
          <a:blip r:embed="rId3"/>
          <a:stretch>
            <a:fillRect/>
          </a:stretch>
        </p:blipFill>
        <p:spPr>
          <a:xfrm>
            <a:off x="548640" y="1261872"/>
            <a:ext cx="7680960" cy="125292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error notice at the top of a request form submitted with missing fields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White surface, thin border, 4 px bar and icon in the colour of the kind: red error, amber warning, blue information, green success</a:t>
            </a:r>
          </a:p>
          <a:p>
            <a:pPr>
              <a:spcAft>
                <a:spcPts val="600"/>
              </a:spcAft>
            </a:pPr>
            <a:r>
              <a:rPr sz="1100">
                <a:solidFill>
                  <a:srgbClr val="004EA8"/>
                </a:solidFill>
                <a:latin typeface="Arial"/>
              </a:rPr>
              <a:t>•  </a:t>
            </a:r>
            <a:r>
              <a:rPr sz="1100">
                <a:solidFill>
                  <a:srgbClr val="4B4B4B"/>
                </a:solidFill>
                <a:latin typeface="Arial"/>
              </a:rPr>
              <a:t>A bold short title, then the business message with one bullet per missing item</a:t>
            </a:r>
          </a:p>
          <a:p>
            <a:pPr>
              <a:spcAft>
                <a:spcPts val="600"/>
              </a:spcAft>
            </a:pPr>
            <a:r>
              <a:rPr sz="1100">
                <a:solidFill>
                  <a:srgbClr val="004EA8"/>
                </a:solidFill>
                <a:latin typeface="Arial"/>
              </a:rPr>
              <a:t>•  </a:t>
            </a:r>
            <a:r>
              <a:rPr sz="1100">
                <a:solidFill>
                  <a:srgbClr val="4B4B4B"/>
                </a:solidFill>
                <a:latin typeface="Arial"/>
              </a:rPr>
              <a:t>No codes, references or technical terms; only an unexpected system error offers Retry and a reference behind Details</a:t>
            </a:r>
          </a:p>
          <a:p>
            <a:pPr>
              <a:spcAft>
                <a:spcPts val="600"/>
              </a:spcAft>
            </a:pPr>
            <a:r>
              <a:rPr sz="1100">
                <a:solidFill>
                  <a:srgbClr val="004EA8"/>
                </a:solidFill>
                <a:latin typeface="Arial"/>
              </a:rPr>
              <a:t>•  </a:t>
            </a:r>
            <a:r>
              <a:rPr sz="1100">
                <a:solidFill>
                  <a:srgbClr val="4B4B4B"/>
                </a:solidFill>
                <a:latin typeface="Arial"/>
              </a:rPr>
              <a:t>Field errors stay under their fields; a long form lists them at the top with a link to each field</a:t>
            </a:r>
          </a:p>
          <a:p>
            <a:pPr>
              <a:spcAft>
                <a:spcPts val="600"/>
              </a:spcAft>
            </a:pPr>
            <a:r>
              <a:rPr sz="1100">
                <a:solidFill>
                  <a:srgbClr val="004EA8"/>
                </a:solidFill>
                <a:latin typeface="Arial"/>
              </a:rPr>
              <a:t>•  </a:t>
            </a:r>
            <a:r>
              <a:rPr sz="1100">
                <a:solidFill>
                  <a:srgbClr val="4B4B4B"/>
                </a:solidFill>
                <a:latin typeface="Arial"/>
              </a:rPr>
              <a:t>In this set: SCR-DM-05, SCR-DM-07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Data table in a work list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a:t>
            </a:r>
          </a:p>
        </p:txBody>
      </p:sp>
      <p:pic>
        <p:nvPicPr>
          <p:cNvPr id="9" name="Picture 8" descr="ux-scr-pm-02-cmp-table.png"/>
          <p:cNvPicPr>
            <a:picLocks noChangeAspect="1"/>
          </p:cNvPicPr>
          <p:nvPr/>
        </p:nvPicPr>
        <p:blipFill>
          <a:blip r:embed="rId3"/>
          <a:stretch>
            <a:fillRect/>
          </a:stretch>
        </p:blipFill>
        <p:spPr>
          <a:xfrm>
            <a:off x="548640" y="1261872"/>
            <a:ext cx="7680960" cy="297569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package requests of a stage, with the status tabs, the search and the pager</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Header row in Header Blue with white bold text that stays in view; rows alternate white and Background Blue</a:t>
            </a:r>
          </a:p>
          <a:p>
            <a:pPr>
              <a:spcAft>
                <a:spcPts val="600"/>
              </a:spcAft>
            </a:pPr>
            <a:r>
              <a:rPr sz="1100">
                <a:solidFill>
                  <a:srgbClr val="004EA8"/>
                </a:solidFill>
                <a:latin typeface="Arial"/>
              </a:rPr>
              <a:t>•  </a:t>
            </a:r>
            <a:r>
              <a:rPr sz="1100">
                <a:solidFill>
                  <a:srgbClr val="4B4B4B"/>
                </a:solidFill>
                <a:latin typeface="Arial"/>
              </a:rPr>
              <a:t>Text left, amounts right with two decimals, dates dd-MMM-yyyy; codes in a fixed column that never wraps</a:t>
            </a:r>
          </a:p>
          <a:p>
            <a:pPr>
              <a:spcAft>
                <a:spcPts val="600"/>
              </a:spcAft>
            </a:pPr>
            <a:r>
              <a:rPr sz="1100">
                <a:solidFill>
                  <a:srgbClr val="004EA8"/>
                </a:solidFill>
                <a:latin typeface="Arial"/>
              </a:rPr>
              <a:t>•  </a:t>
            </a:r>
            <a:r>
              <a:rPr sz="1100">
                <a:solidFill>
                  <a:srgbClr val="4B4B4B"/>
                </a:solidFill>
                <a:latin typeface="Arial"/>
              </a:rPr>
              <a:t>One value per cell with at most one muted line under it; a dash for an empty value</a:t>
            </a:r>
          </a:p>
          <a:p>
            <a:pPr>
              <a:spcAft>
                <a:spcPts val="600"/>
              </a:spcAft>
            </a:pPr>
            <a:r>
              <a:rPr sz="1100">
                <a:solidFill>
                  <a:srgbClr val="004EA8"/>
                </a:solidFill>
                <a:latin typeface="Arial"/>
              </a:rPr>
              <a:t>•  </a:t>
            </a:r>
            <a:r>
              <a:rPr sz="1100">
                <a:solidFill>
                  <a:srgbClr val="4B4B4B"/>
                </a:solidFill>
                <a:latin typeface="Arial"/>
              </a:rPr>
              <a:t>Showing x to y of n results with the page numbers; Enter on a row opens it</a:t>
            </a:r>
          </a:p>
          <a:p>
            <a:pPr>
              <a:spcAft>
                <a:spcPts val="600"/>
              </a:spcAft>
            </a:pPr>
            <a:r>
              <a:rPr sz="1100">
                <a:solidFill>
                  <a:srgbClr val="004EA8"/>
                </a:solidFill>
                <a:latin typeface="Arial"/>
              </a:rPr>
              <a:t>•  </a:t>
            </a:r>
            <a:r>
              <a:rPr sz="1100">
                <a:solidFill>
                  <a:srgbClr val="4B4B4B"/>
                </a:solidFill>
                <a:latin typeface="Arial"/>
              </a:rPr>
              <a:t>In this set: SCR-DM-02, SCR-DM-05, SCR-DM-06, SCR-DM-18</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Tree table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a:t>
            </a:r>
          </a:p>
        </p:txBody>
      </p:sp>
      <p:pic>
        <p:nvPicPr>
          <p:cNvPr id="9" name="Picture 8" descr="ux-scr-pm-20-cmp-tree.png"/>
          <p:cNvPicPr>
            <a:picLocks noChangeAspect="1"/>
          </p:cNvPicPr>
          <p:nvPr/>
        </p:nvPicPr>
        <p:blipFill>
          <a:blip r:embed="rId3"/>
          <a:stretch>
            <a:fillRect/>
          </a:stretch>
        </p:blipFill>
        <p:spPr>
          <a:xfrm>
            <a:off x="548640" y="1261872"/>
            <a:ext cx="7680960" cy="4549911"/>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sales organisation with every branch open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A chevron and one indentation step per level; arrow keys, Home, End and Enter move through the tree</a:t>
            </a:r>
          </a:p>
          <a:p>
            <a:pPr>
              <a:spcAft>
                <a:spcPts val="600"/>
              </a:spcAft>
            </a:pPr>
            <a:r>
              <a:rPr sz="1100">
                <a:solidFill>
                  <a:srgbClr val="004EA8"/>
                </a:solidFill>
                <a:latin typeface="Arial"/>
              </a:rPr>
              <a:t>•  </a:t>
            </a:r>
            <a:r>
              <a:rPr sz="1100">
                <a:solidFill>
                  <a:srgbClr val="4B4B4B"/>
                </a:solidFill>
                <a:latin typeface="Arial"/>
              </a:rPr>
              <a:t>A search that opens the branches that match; Expand All, Collapse All and Show Inactive</a:t>
            </a:r>
          </a:p>
          <a:p>
            <a:pPr>
              <a:spcAft>
                <a:spcPts val="600"/>
              </a:spcAft>
            </a:pPr>
            <a:r>
              <a:rPr sz="1100">
                <a:solidFill>
                  <a:srgbClr val="004EA8"/>
                </a:solidFill>
                <a:latin typeface="Arial"/>
              </a:rPr>
              <a:t>•  </a:t>
            </a:r>
            <a:r>
              <a:rPr sz="1100">
                <a:solidFill>
                  <a:srgbClr val="4B4B4B"/>
                </a:solidFill>
                <a:latin typeface="Arial"/>
              </a:rPr>
              <a:t>A summary line of the units and members shown</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Row action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a:t>
            </a:r>
          </a:p>
        </p:txBody>
      </p:sp>
      <p:pic>
        <p:nvPicPr>
          <p:cNvPr id="9" name="Picture 8" descr="scr-pm-20-02-actions.png"/>
          <p:cNvPicPr>
            <a:picLocks noChangeAspect="1"/>
          </p:cNvPicPr>
          <p:nvPr/>
        </p:nvPicPr>
        <p:blipFill>
          <a:blip r:embed="rId3"/>
          <a:stretch>
            <a:fillRect/>
          </a:stretch>
        </p:blipFill>
        <p:spPr>
          <a:xfrm>
            <a:off x="1460310" y="1261872"/>
            <a:ext cx="585761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actions of a team, opened from the more button of its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more button per row opens the menu</a:t>
            </a:r>
          </a:p>
          <a:p>
            <a:pPr>
              <a:spcAft>
                <a:spcPts val="600"/>
              </a:spcAft>
            </a:pPr>
            <a:r>
              <a:rPr sz="1100">
                <a:solidFill>
                  <a:srgbClr val="004EA8"/>
                </a:solidFill>
                <a:latin typeface="Arial"/>
              </a:rPr>
              <a:t>•  </a:t>
            </a:r>
            <a:r>
              <a:rPr sz="1100">
                <a:solidFill>
                  <a:srgbClr val="4B4B4B"/>
                </a:solidFill>
                <a:latin typeface="Arial"/>
              </a:rPr>
              <a:t>Destructive actions last, in red, after a separator</a:t>
            </a:r>
          </a:p>
          <a:p>
            <a:pPr>
              <a:spcAft>
                <a:spcPts val="600"/>
              </a:spcAft>
            </a:pPr>
            <a:r>
              <a:rPr sz="1100">
                <a:solidFill>
                  <a:srgbClr val="004EA8"/>
                </a:solidFill>
                <a:latin typeface="Arial"/>
              </a:rPr>
              <a:t>•  </a:t>
            </a:r>
            <a:r>
              <a:rPr sz="1100">
                <a:solidFill>
                  <a:srgbClr val="4B4B4B"/>
                </a:solidFill>
                <a:latin typeface="Arial"/>
              </a:rPr>
              <a:t>Each action that changes the record asks for confirmation</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Confirmation dialog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a:t>
            </a:r>
          </a:p>
        </p:txBody>
      </p:sp>
      <p:pic>
        <p:nvPicPr>
          <p:cNvPr id="9" name="Picture 8" descr="scr-pm-04-03-return.png"/>
          <p:cNvPicPr>
            <a:picLocks noChangeAspect="1"/>
          </p:cNvPicPr>
          <p:nvPr/>
        </p:nvPicPr>
        <p:blipFill>
          <a:blip r:embed="rId3"/>
          <a:stretch>
            <a:fillRect/>
          </a:stretch>
        </p:blipFill>
        <p:spPr>
          <a:xfrm>
            <a:off x="548640" y="1261872"/>
            <a:ext cx="7680960" cy="4054964"/>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Return to requester with the mandatory reason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dialog names the record and the effect of the action</a:t>
            </a:r>
          </a:p>
          <a:p>
            <a:pPr>
              <a:spcAft>
                <a:spcPts val="600"/>
              </a:spcAft>
            </a:pPr>
            <a:r>
              <a:rPr sz="1100">
                <a:solidFill>
                  <a:srgbClr val="004EA8"/>
                </a:solidFill>
                <a:latin typeface="Arial"/>
              </a:rPr>
              <a:t>•  </a:t>
            </a:r>
            <a:r>
              <a:rPr sz="1100">
                <a:solidFill>
                  <a:srgbClr val="4B4B4B"/>
                </a:solidFill>
                <a:latin typeface="Arial"/>
              </a:rPr>
              <a:t>Every reject, return, cancel and void needs a reason from its list before it can be confirmed; the comment is optional</a:t>
            </a:r>
          </a:p>
          <a:p>
            <a:pPr>
              <a:spcAft>
                <a:spcPts val="600"/>
              </a:spcAft>
            </a:pPr>
            <a:r>
              <a:rPr sz="1100">
                <a:solidFill>
                  <a:srgbClr val="004EA8"/>
                </a:solidFill>
                <a:latin typeface="Arial"/>
              </a:rPr>
              <a:t>•  </a:t>
            </a:r>
            <a:r>
              <a:rPr sz="1100">
                <a:solidFill>
                  <a:srgbClr val="4B4B4B"/>
                </a:solidFill>
                <a:latin typeface="Arial"/>
              </a:rPr>
              <a:t>Cancel on the left, the action on the right; a destructive action uses the red button</a:t>
            </a:r>
          </a:p>
          <a:p>
            <a:pPr>
              <a:spcAft>
                <a:spcPts val="600"/>
              </a:spcAft>
            </a:pPr>
            <a:r>
              <a:rPr sz="1100">
                <a:solidFill>
                  <a:srgbClr val="004EA8"/>
                </a:solidFill>
                <a:latin typeface="Arial"/>
              </a:rPr>
              <a:t>•  </a:t>
            </a:r>
            <a:r>
              <a:rPr sz="1100">
                <a:solidFill>
                  <a:srgbClr val="4B4B4B"/>
                </a:solidFill>
                <a:latin typeface="Arial"/>
              </a:rPr>
              <a:t>The reason is kept in the history and sent with the notification</a:t>
            </a:r>
          </a:p>
          <a:p>
            <a:pPr>
              <a:spcAft>
                <a:spcPts val="600"/>
              </a:spcAft>
            </a:pPr>
            <a:r>
              <a:rPr sz="1100">
                <a:solidFill>
                  <a:srgbClr val="004EA8"/>
                </a:solidFill>
                <a:latin typeface="Arial"/>
              </a:rPr>
              <a:t>•  </a:t>
            </a:r>
            <a:r>
              <a:rPr sz="1100">
                <a:solidFill>
                  <a:srgbClr val="4B4B4B"/>
                </a:solidFill>
                <a:latin typeface="Arial"/>
              </a:rPr>
              <a:t>In this set: SCR-DM-02, SCR-DM-07, SCR-DM-09</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Status pills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a:t>
            </a:r>
          </a:p>
        </p:txBody>
      </p:sp>
      <p:pic>
        <p:nvPicPr>
          <p:cNvPr id="9" name="Picture 8" descr="scr-ua-06-01-list.png"/>
          <p:cNvPicPr>
            <a:picLocks noChangeAspect="1"/>
          </p:cNvPicPr>
          <p:nvPr/>
        </p:nvPicPr>
        <p:blipFill>
          <a:blip r:embed="rId3"/>
          <a:stretch>
            <a:fillRect/>
          </a:stretch>
        </p:blipFill>
        <p:spPr>
          <a:xfrm>
            <a:off x="548640" y="1261872"/>
            <a:ext cx="7680960" cy="468141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Status column of the access requests</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One size everywhere: 24 px high, 12 px bold, centred, 112 to 184 px wide; a pill never wraps</a:t>
            </a:r>
          </a:p>
          <a:p>
            <a:pPr>
              <a:spcAft>
                <a:spcPts val="600"/>
              </a:spcAft>
            </a:pPr>
            <a:r>
              <a:rPr sz="1100">
                <a:solidFill>
                  <a:srgbClr val="004EA8"/>
                </a:solidFill>
                <a:latin typeface="Arial"/>
              </a:rPr>
              <a:t>•  </a:t>
            </a:r>
            <a:r>
              <a:rPr sz="1100">
                <a:solidFill>
                  <a:srgbClr val="4B4B4B"/>
                </a:solidFill>
                <a:latin typeface="Arial"/>
              </a:rPr>
              <a:t>Green done or approved; yellow waiting for review or approval; blue in process; red exception or rejected; grey draft or inactive</a:t>
            </a:r>
          </a:p>
          <a:p>
            <a:pPr>
              <a:spcAft>
                <a:spcPts val="600"/>
              </a:spcAft>
            </a:pPr>
            <a:r>
              <a:rPr sz="1100">
                <a:solidFill>
                  <a:srgbClr val="004EA8"/>
                </a:solidFill>
                <a:latin typeface="Arial"/>
              </a:rPr>
              <a:t>•  </a:t>
            </a:r>
            <a:r>
              <a:rPr sz="1100">
                <a:solidFill>
                  <a:srgbClr val="4B4B4B"/>
                </a:solidFill>
                <a:latin typeface="Arial"/>
              </a:rPr>
              <a:t>The full label up to 21 characters; a longer label has its agreed short form with the full label in the tooltip</a:t>
            </a:r>
          </a:p>
          <a:p>
            <a:pPr>
              <a:spcAft>
                <a:spcPts val="600"/>
              </a:spcAft>
            </a:pPr>
            <a:r>
              <a:rPr sz="1100">
                <a:solidFill>
                  <a:srgbClr val="004EA8"/>
                </a:solidFill>
                <a:latin typeface="Arial"/>
              </a:rPr>
              <a:t>•  </a:t>
            </a:r>
            <a:r>
              <a:rPr sz="1100">
                <a:solidFill>
                  <a:srgbClr val="4B4B4B"/>
                </a:solidFill>
                <a:latin typeface="Arial"/>
              </a:rPr>
              <a:t>Flags (Generic, Client-specific, Locked, LEGACY) are tags in their own column, never pills</a:t>
            </a:r>
          </a:p>
          <a:p>
            <a:pPr>
              <a:spcAft>
                <a:spcPts val="600"/>
              </a:spcAft>
            </a:pPr>
            <a:r>
              <a:rPr sz="1100">
                <a:solidFill>
                  <a:srgbClr val="004EA8"/>
                </a:solidFill>
                <a:latin typeface="Arial"/>
              </a:rPr>
              <a:t>•  </a:t>
            </a:r>
            <a:r>
              <a:rPr sz="1100">
                <a:solidFill>
                  <a:srgbClr val="4B4B4B"/>
                </a:solidFill>
                <a:latin typeface="Arial"/>
              </a:rPr>
              <a:t>In this set: SCR-DM-02, SCR-DM-06</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Period cell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a:t>
            </a:r>
          </a:p>
        </p:txBody>
      </p:sp>
      <p:pic>
        <p:nvPicPr>
          <p:cNvPr id="9" name="Picture 8" descr="scr-pm-10-01-list.png"/>
          <p:cNvPicPr>
            <a:picLocks noChangeAspect="1"/>
          </p:cNvPicPr>
          <p:nvPr/>
        </p:nvPicPr>
        <p:blipFill>
          <a:blip r:embed="rId3"/>
          <a:stretch>
            <a:fillRect/>
          </a:stretch>
        </p:blipFill>
        <p:spPr>
          <a:xfrm>
            <a:off x="548640" y="1261872"/>
            <a:ext cx="7680960" cy="284725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Package terms in the expiry list</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The start date on the first line and "to" the end date on the second, each date kept whole</a:t>
            </a:r>
          </a:p>
          <a:p>
            <a:pPr>
              <a:spcAft>
                <a:spcPts val="600"/>
              </a:spcAft>
            </a:pPr>
            <a:r>
              <a:rPr sz="1100">
                <a:solidFill>
                  <a:srgbClr val="004EA8"/>
                </a:solidFill>
                <a:latin typeface="Arial"/>
              </a:rPr>
              <a:t>•  </a:t>
            </a:r>
            <a:r>
              <a:rPr sz="1100">
                <a:solidFill>
                  <a:srgbClr val="4B4B4B"/>
                </a:solidFill>
                <a:latin typeface="Arial"/>
              </a:rPr>
              <a:t>An open end reads "to open"; in a sentence or a label and value grid the period is one line</a:t>
            </a:r>
          </a:p>
          <a:p>
            <a:pPr>
              <a:spcAft>
                <a:spcPts val="600"/>
              </a:spcAft>
            </a:pPr>
            <a:r>
              <a:rPr sz="1100">
                <a:solidFill>
                  <a:srgbClr val="004EA8"/>
                </a:solidFill>
                <a:latin typeface="Arial"/>
              </a:rPr>
              <a:t>•  </a:t>
            </a:r>
            <a:r>
              <a:rPr sz="1100">
                <a:solidFill>
                  <a:srgbClr val="4B4B4B"/>
                </a:solidFill>
                <a:latin typeface="Arial"/>
              </a:rPr>
              <a:t>The column is at least 132 px wide</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Form with its validation summary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a:t>
            </a:r>
          </a:p>
        </p:txBody>
      </p:sp>
      <p:pic>
        <p:nvPicPr>
          <p:cNvPr id="9" name="Picture 8" descr="scr-ua-07-03-error.png"/>
          <p:cNvPicPr>
            <a:picLocks noChangeAspect="1"/>
          </p:cNvPicPr>
          <p:nvPr/>
        </p:nvPicPr>
        <p:blipFill>
          <a:blip r:embed="rId3"/>
          <a:stretch>
            <a:fillRect/>
          </a:stretch>
        </p:blipFill>
        <p:spPr>
          <a:xfrm>
            <a:off x="2973025" y="1261872"/>
            <a:ext cx="2832189"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request form after Submit with a short user ID and no justification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Labels above the fields on one baseline, fields of one height, required fields marked</a:t>
            </a:r>
          </a:p>
          <a:p>
            <a:pPr>
              <a:spcAft>
                <a:spcPts val="600"/>
              </a:spcAft>
            </a:pPr>
            <a:r>
              <a:rPr sz="1100">
                <a:solidFill>
                  <a:srgbClr val="004EA8"/>
                </a:solidFill>
                <a:latin typeface="Arial"/>
              </a:rPr>
              <a:t>•  </a:t>
            </a:r>
            <a:r>
              <a:rPr sz="1100">
                <a:solidFill>
                  <a:srgbClr val="4B4B4B"/>
                </a:solidFill>
                <a:latin typeface="Arial"/>
              </a:rPr>
              <a:t>The error in red under the field with the field outlined; the summary lists every error with a link</a:t>
            </a:r>
          </a:p>
          <a:p>
            <a:pPr>
              <a:spcAft>
                <a:spcPts val="600"/>
              </a:spcAft>
            </a:pPr>
            <a:r>
              <a:rPr sz="1100">
                <a:solidFill>
                  <a:srgbClr val="004EA8"/>
                </a:solidFill>
                <a:latin typeface="Arial"/>
              </a:rPr>
              <a:t>•  </a:t>
            </a:r>
            <a:r>
              <a:rPr sz="1100">
                <a:solidFill>
                  <a:srgbClr val="4B4B4B"/>
                </a:solidFill>
                <a:latin typeface="Arial"/>
              </a:rPr>
              <a:t>The actions at the bottom right: Cancel, then the main action</a:t>
            </a:r>
          </a:p>
          <a:p>
            <a:pPr>
              <a:spcAft>
                <a:spcPts val="600"/>
              </a:spcAft>
            </a:pPr>
            <a:r>
              <a:rPr sz="1100">
                <a:solidFill>
                  <a:srgbClr val="004EA8"/>
                </a:solidFill>
                <a:latin typeface="Arial"/>
              </a:rPr>
              <a:t>•  </a:t>
            </a:r>
            <a:r>
              <a:rPr sz="1100">
                <a:solidFill>
                  <a:srgbClr val="4B4B4B"/>
                </a:solidFill>
                <a:latin typeface="Arial"/>
              </a:rPr>
              <a:t>Only short format hints under a field; other guidance in the tooltip of the label</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Upload with the error file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a:t>
            </a:r>
          </a:p>
        </p:txBody>
      </p:sp>
      <p:pic>
        <p:nvPicPr>
          <p:cNvPr id="9" name="Picture 8" descr="scr-ua-09-02-validated.png"/>
          <p:cNvPicPr>
            <a:picLocks noChangeAspect="1"/>
          </p:cNvPicPr>
          <p:nvPr/>
        </p:nvPicPr>
        <p:blipFill>
          <a:blip r:embed="rId3"/>
          <a:stretch>
            <a:fillRect/>
          </a:stretch>
        </p:blipFill>
        <p:spPr>
          <a:xfrm>
            <a:off x="1852440" y="1261872"/>
            <a:ext cx="5073358"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A bulk request after the upload, with the check of each row</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Download Template next to the upload; a drop zone with the accepted types and the maximum size</a:t>
            </a:r>
          </a:p>
          <a:p>
            <a:pPr>
              <a:spcAft>
                <a:spcPts val="600"/>
              </a:spcAft>
            </a:pPr>
            <a:r>
              <a:rPr sz="1100">
                <a:solidFill>
                  <a:srgbClr val="004EA8"/>
                </a:solidFill>
                <a:latin typeface="Arial"/>
              </a:rPr>
              <a:t>•  </a:t>
            </a:r>
            <a:r>
              <a:rPr sz="1100">
                <a:solidFill>
                  <a:srgbClr val="4B4B4B"/>
                </a:solidFill>
                <a:latin typeface="Arial"/>
              </a:rPr>
              <a:t>Rows Read, Valid and Rejected with the rows; the rejected rows come back in the error file (the template with an Error column)</a:t>
            </a:r>
          </a:p>
          <a:p>
            <a:pPr>
              <a:spcAft>
                <a:spcPts val="600"/>
              </a:spcAft>
            </a:pPr>
            <a:r>
              <a:rPr sz="1100">
                <a:solidFill>
                  <a:srgbClr val="004EA8"/>
                </a:solidFill>
                <a:latin typeface="Arial"/>
              </a:rPr>
              <a:t>•  </a:t>
            </a:r>
            <a:r>
              <a:rPr sz="1100">
                <a:solidFill>
                  <a:srgbClr val="4B4B4B"/>
                </a:solidFill>
                <a:latin typeface="Arial"/>
              </a:rPr>
              <a:t>Upload Corrected File keeps the link to the first upload; a file uploaded before is refused</a:t>
            </a:r>
          </a:p>
          <a:p>
            <a:pPr>
              <a:spcAft>
                <a:spcPts val="600"/>
              </a:spcAft>
            </a:pPr>
            <a:r>
              <a:rPr sz="1100">
                <a:solidFill>
                  <a:srgbClr val="004EA8"/>
                </a:solidFill>
                <a:latin typeface="Arial"/>
              </a:rPr>
              <a:t>•  </a:t>
            </a:r>
            <a:r>
              <a:rPr sz="1100">
                <a:solidFill>
                  <a:srgbClr val="4B4B4B"/>
                </a:solidFill>
                <a:latin typeface="Arial"/>
              </a:rPr>
              <a:t>In this set: SCR-DM-05</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Component: Key facts of a record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a:t>
            </a:r>
          </a:p>
        </p:txBody>
      </p:sp>
      <p:pic>
        <p:nvPicPr>
          <p:cNvPr id="9" name="Picture 8" descr="scr-pm-13-06-released.png"/>
          <p:cNvPicPr>
            <a:picLocks noChangeAspect="1"/>
          </p:cNvPicPr>
          <p:nvPr/>
        </p:nvPicPr>
        <p:blipFill>
          <a:blip r:embed="rId3"/>
          <a:stretch>
            <a:fillRect/>
          </a:stretch>
        </p:blipFill>
        <p:spPr>
          <a:xfrm>
            <a:off x="2656948" y="1261872"/>
            <a:ext cx="3464342" cy="4736592"/>
          </a:xfrm>
          <a:prstGeom prst="rect">
            <a:avLst/>
          </a:prstGeom>
          <a:ln w="9525">
            <a:solidFill>
              <a:srgbClr val="C2C2C1"/>
            </a:solidFill>
          </a:ln>
        </p:spPr>
      </p:pic>
      <p:sp>
        <p:nvSpPr>
          <p:cNvPr id="10" name="TextBox 9"/>
          <p:cNvSpPr txBox="1"/>
          <p:nvPr/>
        </p:nvSpPr>
        <p:spPr>
          <a:xfrm>
            <a:off x="548640" y="5998464"/>
            <a:ext cx="7680960" cy="292608"/>
          </a:xfrm>
          <a:prstGeom prst="rect">
            <a:avLst/>
          </a:prstGeom>
          <a:noFill/>
        </p:spPr>
        <p:txBody>
          <a:bodyPr wrap="square" anchor="t" lIns="45720" rIns="45720">
            <a:spAutoFit/>
          </a:bodyPr>
          <a:lstStyle/>
          <a:p>
            <a:pPr algn="ctr"/>
            <a:r>
              <a:rPr sz="1000" b="0" i="1">
                <a:solidFill>
                  <a:srgbClr val="656565"/>
                </a:solidFill>
                <a:latin typeface="Arial"/>
              </a:rPr>
              <a:t>The released package version with the result of its validation</a:t>
            </a:r>
          </a:p>
        </p:txBody>
      </p:sp>
      <p:sp>
        <p:nvSpPr>
          <p:cNvPr id="11" name="Rectangle 10"/>
          <p:cNvSpPr/>
          <p:nvPr/>
        </p:nvSpPr>
        <p:spPr>
          <a:xfrm>
            <a:off x="8458200" y="1261872"/>
            <a:ext cx="3184855" cy="502920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8458200" y="1261872"/>
            <a:ext cx="50800" cy="50292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595360" y="1353312"/>
            <a:ext cx="2956255" cy="484632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Four columns of key facts under the record name, reference chips and status</a:t>
            </a:r>
          </a:p>
          <a:p>
            <a:pPr>
              <a:spcAft>
                <a:spcPts val="600"/>
              </a:spcAft>
            </a:pPr>
            <a:r>
              <a:rPr sz="1100">
                <a:solidFill>
                  <a:srgbClr val="004EA8"/>
                </a:solidFill>
                <a:latin typeface="Arial"/>
              </a:rPr>
              <a:t>•  </a:t>
            </a:r>
            <a:r>
              <a:rPr sz="1100">
                <a:solidFill>
                  <a:srgbClr val="4B4B4B"/>
                </a:solidFill>
                <a:latin typeface="Arial"/>
              </a:rPr>
              <a:t>Outcome facts (result, by, on, figures compared) as facts, never as a sentence</a:t>
            </a:r>
          </a:p>
          <a:p>
            <a:pPr>
              <a:spcAft>
                <a:spcPts val="600"/>
              </a:spcAft>
            </a:pPr>
            <a:r>
              <a:rPr sz="1100">
                <a:solidFill>
                  <a:srgbClr val="004EA8"/>
                </a:solidFill>
                <a:latin typeface="Arial"/>
              </a:rPr>
              <a:t>•  </a:t>
            </a:r>
            <a:r>
              <a:rPr sz="1100">
                <a:solidFill>
                  <a:srgbClr val="4B4B4B"/>
                </a:solidFill>
                <a:latin typeface="Arial"/>
              </a:rPr>
              <a:t>A dash for an empty value</a:t>
            </a:r>
          </a:p>
          <a:p>
            <a:pPr>
              <a:spcAft>
                <a:spcPts val="600"/>
              </a:spcAft>
            </a:pPr>
            <a:r>
              <a:rPr sz="1100">
                <a:solidFill>
                  <a:srgbClr val="004EA8"/>
                </a:solidFill>
                <a:latin typeface="Arial"/>
              </a:rPr>
              <a:t>•  </a:t>
            </a:r>
            <a:r>
              <a:rPr sz="1100">
                <a:solidFill>
                  <a:srgbClr val="4B4B4B"/>
                </a:solidFill>
                <a:latin typeface="Arial"/>
              </a:rPr>
              <a:t>In this set: SCR-DM-07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a:t>
            </a:r>
          </a:p>
        </p:txBody>
      </p:sp>
      <p:graphicFrame>
        <p:nvGraphicFramePr>
          <p:cNvPr id="9" name="Table 8"/>
          <p:cNvGraphicFramePr>
            <a:graphicFrameLocks noGrp="1"/>
          </p:cNvGraphicFramePr>
          <p:nvPr/>
        </p:nvGraphicFramePr>
        <p:xfrm>
          <a:off x="548640" y="1325880"/>
          <a:ext cx="11094414" cy="472440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Record pages</a:t>
                      </a:r>
                    </a:p>
                  </a:txBody>
                  <a:tcPr marL="54864" marR="54864" marT="27432" marB="27432">
                    <a:solidFill>
                      <a:srgbClr val="FFFFFF"/>
                    </a:solidFill>
                  </a:tcPr>
                </a:tc>
                <a:tc>
                  <a:txBody>
                    <a:bodyPr/>
                    <a:lstStyle/>
                    <a:p>
                      <a:r>
                        <a:rPr sz="1000" b="0">
                          <a:solidFill>
                            <a:srgbClr val="4B4B4B"/>
                          </a:solidFill>
                          <a:latin typeface="Arial"/>
                        </a:rPr>
                        <a:t>Back arrow and breadcrumb, title, then the record header: name, reference chips, status pill, tags (for example a client tag such as BDO employee) and the key facts. Page actions on the right in one order: secondary, primary, and the destructive action last and apart.</a:t>
                      </a:r>
                    </a:p>
                  </a:txBody>
                  <a:tcPr marL="54864" marR="54864" marT="27432" marB="27432">
                    <a:solidFill>
                      <a:srgbClr val="FFFFFF"/>
                    </a:solidFill>
                  </a:tcPr>
                </a:tc>
              </a:tr>
              <a:tr h="853440">
                <a:tc>
                  <a:txBody>
                    <a:bodyPr/>
                    <a:lstStyle/>
                    <a:p>
                      <a:r>
                        <a:rPr sz="1000" b="1">
                          <a:solidFill>
                            <a:srgbClr val="4B4B4B"/>
                          </a:solidFill>
                          <a:latin typeface="Arial"/>
                        </a:rPr>
                        <a:t>Workflow header (step bar)</a:t>
                      </a:r>
                    </a:p>
                  </a:txBody>
                  <a:tcPr marL="54864" marR="54864" marT="27432" marB="27432">
                    <a:solidFill>
                      <a:srgbClr val="E5F5FF"/>
                    </a:solidFill>
                  </a:tcPr>
                </a:tc>
                <a:tc>
                  <a:txBody>
                    <a:bodyPr/>
                    <a:lstStyle/>
                    <a:p>
                      <a:r>
                        <a:rPr sz="1000" b="0">
                          <a:solidFill>
                            <a:srgbClr val="4B4B4B"/>
                          </a:solidFill>
                          <a:latin typeface="Arial"/>
                        </a:rPr>
                        <a:t>Every record with a workflow shows a stepper under the record header: the stages of the main path in their order, passed stages ticked in blue, the current stage highlighted, the stages ahead in grey with their number. A returned or on-hold stage shows in amber after the stage it came from; a rejected, cancelled or voided record shows that stage in red and the path ends there; the last stage turns green when it is reached. Under the stepper one row gives Current Stage, Since, Due (with the Overdue pill) and Assigned To, with the actions of the stage on the right. The history is a table (Stage, From Stage, Action, By, Date and Time, Remarks, Duration in Stage), newest first.</a:t>
                      </a:r>
                    </a:p>
                  </a:txBody>
                  <a:tcPr marL="54864" marR="54864" marT="27432" marB="27432">
                    <a:solidFill>
                      <a:srgbClr val="E5F5FF"/>
                    </a:solidFill>
                  </a:tcPr>
                </a:tc>
              </a:tr>
              <a:tr h="701040">
                <a:tc>
                  <a:txBody>
                    <a:bodyPr/>
                    <a:lstStyle/>
                    <a:p>
                      <a:r>
                        <a:rPr sz="1000" b="1">
                          <a:solidFill>
                            <a:srgbClr val="4B4B4B"/>
                          </a:solidFill>
                          <a:latin typeface="Arial"/>
                        </a:rPr>
                        <a:t>Messages (notice standard)</a:t>
                      </a:r>
                    </a:p>
                  </a:txBody>
                  <a:tcPr marL="54864" marR="54864" marT="27432" marB="27432">
                    <a:solidFill>
                      <a:srgbClr val="FFFFFF"/>
                    </a:solidFill>
                  </a:tcPr>
                </a:tc>
                <a:tc>
                  <a:txBody>
                    <a:bodyPr/>
                    <a:lstStyle/>
                    <a:p>
                      <a:r>
                        <a:rPr sz="1000" b="0">
                          <a:solidFill>
                            <a:srgbClr val="4B4B4B"/>
                          </a:solidFill>
                          <a:latin typeface="Arial"/>
                        </a:rPr>
                        <a:t>One standard for errors, warnings, information and success: a white notice with a thin bar and an icon in the colour of its kind (red, amber, blue, green), a bold short title, then the business message with one bullet per missing item. No codes, internal references or technical terms in what the user reads. Field errors appear under the field; a long form lists its errors at the top with a link to the first field. Only an unexpected system error offers Retry and a reference for support behind Details. Special instructions are one short information notice.</a:t>
                      </a:r>
                    </a:p>
                  </a:txBody>
                  <a:tcPr marL="54864" marR="54864" marT="27432" marB="27432">
                    <a:solidFill>
                      <a:srgbClr val="FFFFFF"/>
                    </a:solidFill>
                  </a:tcPr>
                </a:tc>
              </a:tr>
              <a:tr h="548640">
                <a:tc>
                  <a:txBody>
                    <a:bodyPr/>
                    <a:lstStyle/>
                    <a:p>
                      <a:r>
                        <a:rPr sz="1000" b="1">
                          <a:solidFill>
                            <a:srgbClr val="4B4B4B"/>
                          </a:solidFill>
                          <a:latin typeface="Arial"/>
                        </a:rPr>
                        <a:t>Tables, not highlight boxes</a:t>
                      </a:r>
                    </a:p>
                  </a:txBody>
                  <a:tcPr marL="54864" marR="54864" marT="27432" marB="27432">
                    <a:solidFill>
                      <a:srgbClr val="E5F5FF"/>
                    </a:solidFill>
                  </a:tcPr>
                </a:tc>
                <a:tc>
                  <a:txBody>
                    <a:bodyPr/>
                    <a:lstStyle/>
                    <a:p>
                      <a:r>
                        <a:rPr sz="1000" b="0">
                          <a:solidFill>
                            <a:srgbClr val="4B4B4B"/>
                          </a:solidFill>
                          <a:latin typeface="Arial"/>
                        </a:rPr>
                        <a:t>Records and lists of records are rows of a titled table (for example the Rate Exceptions of a quotation: Exception No., Requested Rate, Scheme Rate, Difference, Valid Until, Requested By, Decided By, Status); key data is a label and value grid. A coloured box carries a short message only, never a record.</a:t>
                      </a:r>
                    </a:p>
                  </a:txBody>
                  <a:tcPr marL="54864" marR="54864" marT="27432" marB="27432">
                    <a:solidFill>
                      <a:srgbClr val="E5F5FF"/>
                    </a:solidFill>
                  </a:tcPr>
                </a:tc>
              </a:tr>
              <a:tr h="396240">
                <a:tc>
                  <a:txBody>
                    <a:bodyPr/>
                    <a:lstStyle/>
                    <a:p>
                      <a:r>
                        <a:rPr sz="1000" b="1">
                          <a:solidFill>
                            <a:srgbClr val="4B4B4B"/>
                          </a:solidFill>
                          <a:latin typeface="Arial"/>
                        </a:rPr>
                        <a:t>Tables</a:t>
                      </a:r>
                    </a:p>
                  </a:txBody>
                  <a:tcPr marL="54864" marR="54864" marT="27432" marB="27432">
                    <a:solidFill>
                      <a:srgbClr val="FFFFFF"/>
                    </a:solidFill>
                  </a:tcPr>
                </a:tc>
                <a:tc>
                  <a:txBody>
                    <a:bodyPr/>
                    <a:lstStyle/>
                    <a:p>
                      <a:r>
                        <a:rPr sz="1000" b="0">
                          <a:solidFill>
                            <a:srgbClr val="4B4B4B"/>
                          </a:solidFill>
                          <a:latin typeface="Arial"/>
                        </a:rPr>
                        <a:t>Header row in BDO blue that stays in view; text left, amounts right, dates in one format; one value per cell with at most one muted line under it; a dash for an empty value; "Showing x to y of n results" with page numbers.</a:t>
                      </a:r>
                    </a:p>
                  </a:txBody>
                  <a:tcPr marL="54864" marR="54864" marT="27432" marB="27432">
                    <a:solidFill>
                      <a:srgbClr val="FFFFFF"/>
                    </a:solidFill>
                  </a:tcPr>
                </a:tc>
              </a:tr>
              <a:tr h="396240">
                <a:tc>
                  <a:txBody>
                    <a:bodyPr/>
                    <a:lstStyle/>
                    <a:p>
                      <a:r>
                        <a:rPr sz="1000" b="1">
                          <a:solidFill>
                            <a:srgbClr val="4B4B4B"/>
                          </a:solidFill>
                          <a:latin typeface="Arial"/>
                        </a:rPr>
                        <a:t>Status labels</a:t>
                      </a:r>
                    </a:p>
                  </a:txBody>
                  <a:tcPr marL="54864" marR="54864" marT="27432" marB="27432">
                    <a:solidFill>
                      <a:srgbClr val="E5F5FF"/>
                    </a:solidFill>
                  </a:tcPr>
                </a:tc>
                <a:tc>
                  <a:txBody>
                    <a:bodyPr/>
                    <a:lstStyle/>
                    <a:p>
                      <a:r>
                        <a:rPr sz="1000" b="0">
                          <a:solidFill>
                            <a:srgbClr val="4B4B4B"/>
                          </a:solidFill>
                          <a:latin typeface="Arial"/>
                        </a:rPr>
                        <a:t>Statuses are pills of one size and one colour per state group and never wrap. The full label is shown (for example Returned to Marketing, Pending Authorization); an agreed short form, with the full label in the tooltip, only for a label longer than 21 characters.</a:t>
                      </a:r>
                    </a:p>
                  </a:txBody>
                  <a:tcPr marL="54864" marR="54864" marT="27432" marB="27432">
                    <a:solidFill>
                      <a:srgbClr val="E5F5FF"/>
                    </a:solidFill>
                  </a:tcPr>
                </a:tc>
              </a:tr>
              <a:tr h="396240">
                <a:tc>
                  <a:txBody>
                    <a:bodyPr/>
                    <a:lstStyle/>
                    <a:p>
                      <a:r>
                        <a:rPr sz="1000" b="1">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List values are shown by their label, never by their code; products by name with the code as a second line; insurers by name; users by their names, never by their user ID.</a:t>
                      </a:r>
                    </a:p>
                  </a:txBody>
                  <a:tcPr marL="54864" marR="54864" marT="27432" marB="27432">
                    <a:solidFill>
                      <a:srgbClr val="FFFFFF"/>
                    </a:solidFill>
                  </a:tcPr>
                </a:tc>
              </a:tr>
              <a:tr h="396240">
                <a:tc>
                  <a:txBody>
                    <a:bodyPr/>
                    <a:lstStyle/>
                    <a:p>
                      <a:r>
                        <a:rPr sz="1000" b="1">
                          <a:solidFill>
                            <a:srgbClr val="4B4B4B"/>
                          </a:solidFill>
                          <a:latin typeface="Arial"/>
                        </a:rPr>
                        <a:t>Dates, amounts and rates</a:t>
                      </a:r>
                    </a:p>
                  </a:txBody>
                  <a:tcPr marL="54864" marR="54864" marT="27432" marB="27432">
                    <a:solidFill>
                      <a:srgbClr val="E5F5FF"/>
                    </a:solidFill>
                  </a:tcPr>
                </a:tc>
                <a:tc>
                  <a:txBody>
                    <a:bodyPr/>
                    <a:lstStyle/>
                    <a:p>
                      <a:r>
                        <a:rPr sz="1000" b="0">
                          <a:solidFill>
                            <a:srgbClr val="4B4B4B"/>
                          </a:solidFill>
                          <a:latin typeface="Arial"/>
                        </a:rPr>
                        <a:t>One date picker; dates entered and shown as dd-MMM-yyyy, times as dd-MMM-yyyy HH:mm (Philippine time). Amounts with two decimals and thousand separators, negatives in brackets, the currency in the column header or before the amount. Rates as percentages with two to four decimals, as keyed.</a:t>
                      </a:r>
                    </a:p>
                  </a:txBody>
                  <a:tcPr marL="54864" marR="54864" marT="27432" marB="27432">
                    <a:solidFill>
                      <a:srgbClr val="E5F5FF"/>
                    </a:solidFill>
                  </a:tcPr>
                </a:tc>
              </a:tr>
              <a:tr h="396240">
                <a:tc>
                  <a:txBody>
                    <a:bodyPr/>
                    <a:lstStyle/>
                    <a:p>
                      <a:r>
                        <a:rPr sz="1000" b="1">
                          <a:solidFill>
                            <a:srgbClr val="4B4B4B"/>
                          </a:solidFill>
                          <a:latin typeface="Arial"/>
                        </a:rPr>
                        <a:t>Period cell</a:t>
                      </a:r>
                    </a:p>
                  </a:txBody>
                  <a:tcPr marL="54864" marR="54864" marT="27432" marB="27432">
                    <a:solidFill>
                      <a:srgbClr val="FFFFFF"/>
                    </a:solidFill>
                  </a:tcPr>
                </a:tc>
                <a:tc>
                  <a:txBody>
                    <a:bodyPr/>
                    <a:lstStyle/>
                    <a:p>
                      <a:r>
                        <a:rPr sz="1000" b="0">
                          <a:solidFill>
                            <a:srgbClr val="4B4B4B"/>
                          </a:solidFill>
                          <a:latin typeface="Arial"/>
                        </a:rPr>
                        <a:t>A period (period of cover, package term, statement period) is shown in lists on two lines, the start date and "to" the end date, each date kept whole; an open end reads "to open". In a sentence or a label and value grid it is one line: "20-Oct-2026 to 20-Oct-2027".</a:t>
                      </a:r>
                    </a:p>
                  </a:txBody>
                  <a:tcPr marL="54864" marR="54864" marT="27432" marB="27432">
                    <a:solidFill>
                      <a:srgbClr val="FFFFFF"/>
                    </a:solidFill>
                  </a:tcPr>
                </a:tc>
              </a:tr>
            </a:tbl>
          </a:graphicData>
        </a:graphic>
      </p:graphicFrame>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Screen standards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a:t>
            </a:r>
          </a:p>
        </p:txBody>
      </p:sp>
      <p:graphicFrame>
        <p:nvGraphicFramePr>
          <p:cNvPr id="9" name="Table 8"/>
          <p:cNvGraphicFramePr>
            <a:graphicFrameLocks noGrp="1"/>
          </p:cNvGraphicFramePr>
          <p:nvPr/>
        </p:nvGraphicFramePr>
        <p:xfrm>
          <a:off x="548640" y="1325880"/>
          <a:ext cx="11094414" cy="2621280"/>
        </p:xfrm>
        <a:graphic>
          <a:graphicData uri="http://schemas.openxmlformats.org/drawingml/2006/table">
            <a:tbl>
              <a:tblPr firstRow="1" bandRow="1">
                <a:tableStyleId>{5C22544A-7EE6-4342-B048-85BDC9FD1C3A}</a:tableStyleId>
              </a:tblPr>
              <a:tblGrid>
                <a:gridCol w="2048199"/>
                <a:gridCol w="9046215"/>
              </a:tblGrid>
              <a:tr h="243840">
                <a:tc>
                  <a:txBody>
                    <a:bodyPr/>
                    <a:lstStyle/>
                    <a:p>
                      <a:r>
                        <a:rPr sz="1000" b="1">
                          <a:solidFill>
                            <a:srgbClr val="FFFFFF"/>
                          </a:solidFill>
                          <a:latin typeface="Arial"/>
                        </a:rPr>
                        <a:t>Area</a:t>
                      </a:r>
                    </a:p>
                  </a:txBody>
                  <a:tcPr marL="54864" marR="54864" marT="27432" marB="27432">
                    <a:solidFill>
                      <a:srgbClr val="004EA8"/>
                    </a:solidFill>
                  </a:tcPr>
                </a:tc>
                <a:tc>
                  <a:txBody>
                    <a:bodyPr/>
                    <a:lstStyle/>
                    <a:p>
                      <a:r>
                        <a:rPr sz="1000" b="1">
                          <a:solidFill>
                            <a:srgbClr val="FFFFFF"/>
                          </a:solidFill>
                          <a:latin typeface="Arial"/>
                        </a:rPr>
                        <a:t>Standard</a:t>
                      </a:r>
                    </a:p>
                  </a:txBody>
                  <a:tcPr marL="54864" marR="54864" marT="27432" marB="27432">
                    <a:solidFill>
                      <a:srgbClr val="004EA8"/>
                    </a:solidFill>
                  </a:tcPr>
                </a:tc>
              </a:tr>
              <a:tr h="396240">
                <a:tc>
                  <a:txBody>
                    <a:bodyPr/>
                    <a:lstStyle/>
                    <a:p>
                      <a:r>
                        <a:rPr sz="1000" b="1">
                          <a:solidFill>
                            <a:srgbClr val="4B4B4B"/>
                          </a:solidFill>
                          <a:latin typeface="Arial"/>
                        </a:rPr>
                        <a:t>Forms</a:t>
                      </a:r>
                    </a:p>
                  </a:txBody>
                  <a:tcPr marL="54864" marR="54864" marT="27432" marB="27432">
                    <a:solidFill>
                      <a:srgbClr val="FFFFFF"/>
                    </a:solidFill>
                  </a:tcPr>
                </a:tc>
                <a:tc>
                  <a:txBody>
                    <a:bodyPr/>
                    <a:lstStyle/>
                    <a:p>
                      <a:r>
                        <a:rPr sz="1000" b="0">
                          <a:solidFill>
                            <a:srgbClr val="4B4B4B"/>
                          </a:solidFill>
                          <a:latin typeface="Arial"/>
                        </a:rPr>
                        <a:t>Labels above the fields, fields of one height on one line, required fields marked, the error under the field, and the actions in one place (Cancel, then the main action). Format hints only; other guidance is in the tooltip of the label.</a:t>
                      </a:r>
                    </a:p>
                  </a:txBody>
                  <a:tcPr marL="54864" marR="54864" marT="27432" marB="27432">
                    <a:solidFill>
                      <a:srgbClr val="FFFFFF"/>
                    </a:solidFill>
                  </a:tcPr>
                </a:tc>
              </a:tr>
              <a:tr h="548640">
                <a:tc>
                  <a:txBody>
                    <a:bodyPr/>
                    <a:lstStyle/>
                    <a:p>
                      <a:r>
                        <a:rPr sz="1000" b="1">
                          <a:solidFill>
                            <a:srgbClr val="4B4B4B"/>
                          </a:solidFill>
                          <a:latin typeface="Arial"/>
                        </a:rPr>
                        <a:t>Uploads</a:t>
                      </a:r>
                    </a:p>
                  </a:txBody>
                  <a:tcPr marL="54864" marR="54864" marT="27432" marB="27432">
                    <a:solidFill>
                      <a:srgbClr val="E5F5FF"/>
                    </a:solidFill>
                  </a:tcPr>
                </a:tc>
                <a:tc>
                  <a:txBody>
                    <a:bodyPr/>
                    <a:lstStyle/>
                    <a:p>
                      <a:r>
                        <a:rPr sz="1000" b="0">
                          <a:solidFill>
                            <a:srgbClr val="4B4B4B"/>
                          </a:solidFill>
                          <a:latin typeface="Arial"/>
                        </a:rPr>
                        <a:t>Download Template next to the upload; a drop zone with the accepted types and maximum size; every row checked before anything is saved; Rows Read, Valid and Rejected with the rows; valid rows are processed and the rejected rows are returned in the error file (the template layout with an Error column and the wrong cells highlighted); Upload Corrected File keeps the link to the first upload; a file uploaded before is refused.</a:t>
                      </a:r>
                    </a:p>
                  </a:txBody>
                  <a:tcPr marL="54864" marR="54864" marT="27432" marB="27432">
                    <a:solidFill>
                      <a:srgbClr val="E5F5FF"/>
                    </a:solidFill>
                  </a:tcPr>
                </a:tc>
              </a:tr>
              <a:tr h="548640">
                <a:tc>
                  <a:txBody>
                    <a:bodyPr/>
                    <a:lstStyle/>
                    <a:p>
                      <a:r>
                        <a:rPr sz="1000" b="1">
                          <a:solidFill>
                            <a:srgbClr val="4B4B4B"/>
                          </a:solidFill>
                          <a:latin typeface="Arial"/>
                        </a:rPr>
                        <a:t>Confirmations and reasons</a:t>
                      </a:r>
                    </a:p>
                  </a:txBody>
                  <a:tcPr marL="54864" marR="54864" marT="27432" marB="27432">
                    <a:solidFill>
                      <a:srgbClr val="FFFFFF"/>
                    </a:solidFill>
                  </a:tcPr>
                </a:tc>
                <a:tc>
                  <a:txBody>
                    <a:bodyPr/>
                    <a:lstStyle/>
                    <a:p>
                      <a:r>
                        <a:rPr sz="1000" b="0">
                          <a:solidFill>
                            <a:srgbClr val="4B4B4B"/>
                          </a:solidFill>
                          <a:latin typeface="Arial"/>
                        </a:rPr>
                        <a:t>Every approve, authorise, post, release, cancel, void or deactivate asks for confirmation in a dialog that names the record and the effect. Every reject, return, cancel and void needs a reason (from its list where there is one) before it can be confirmed. Destructive actions are confirmed with the red button. The reason is kept in the history and sent with the notification.</a:t>
                      </a:r>
                    </a:p>
                  </a:txBody>
                  <a:tcPr marL="54864" marR="54864" marT="27432" marB="27432">
                    <a:solidFill>
                      <a:srgbClr val="FFFFFF"/>
                    </a:solidFill>
                  </a:tcPr>
                </a:tc>
              </a:tr>
              <a:tr h="396240">
                <a:tc>
                  <a:txBody>
                    <a:bodyPr/>
                    <a:lstStyle/>
                    <a:p>
                      <a:r>
                        <a:rPr sz="1000" b="1">
                          <a:solidFill>
                            <a:srgbClr val="4B4B4B"/>
                          </a:solidFill>
                          <a:latin typeface="Arial"/>
                        </a:rPr>
                        <a:t>Notifications</a:t>
                      </a:r>
                    </a:p>
                  </a:txBody>
                  <a:tcPr marL="54864" marR="54864" marT="27432" marB="27432">
                    <a:solidFill>
                      <a:srgbClr val="E5F5FF"/>
                    </a:solidFill>
                  </a:tcPr>
                </a:tc>
                <a:tc>
                  <a:txBody>
                    <a:bodyPr/>
                    <a:lstStyle/>
                    <a:p>
                      <a:r>
                        <a:rPr sz="1000" b="0">
                          <a:solidFill>
                            <a:srgbClr val="4B4B4B"/>
                          </a:solidFill>
                          <a:latin typeface="Arial"/>
                        </a:rPr>
                        <a:t>The bell shows the unread count and opens the panel grouped by day (Today, Yesterday, then the date), each notice with its title, one-line summary, record reference and time; Mark Read, Mark All Read and View All; the Notifications page lists every notice with filters.</a:t>
                      </a:r>
                    </a:p>
                  </a:txBody>
                  <a:tcPr marL="54864" marR="54864" marT="27432" marB="27432">
                    <a:solidFill>
                      <a:srgbClr val="E5F5FF"/>
                    </a:solidFill>
                  </a:tcPr>
                </a:tc>
              </a:tr>
              <a:tr h="243840">
                <a:tc>
                  <a:txBody>
                    <a:bodyPr/>
                    <a:lstStyle/>
                    <a:p>
                      <a:r>
                        <a:rPr sz="1000" b="1">
                          <a:solidFill>
                            <a:srgbClr val="4B4B4B"/>
                          </a:solidFill>
                          <a:latin typeface="Arial"/>
                        </a:rPr>
                        <a:t>Documents</a:t>
                      </a:r>
                    </a:p>
                  </a:txBody>
                  <a:tcPr marL="54864" marR="54864" marT="27432" marB="27432">
                    <a:solidFill>
                      <a:srgbClr val="FFFFFF"/>
                    </a:solidFill>
                  </a:tcPr>
                </a:tc>
                <a:tc>
                  <a:txBody>
                    <a:bodyPr/>
                    <a:lstStyle/>
                    <a:p>
                      <a:r>
                        <a:rPr sz="1000" b="0">
                          <a:solidFill>
                            <a:srgbClr val="4B4B4B"/>
                          </a:solidFill>
                          <a:latin typeface="Arial"/>
                        </a:rPr>
                        <a:t>Generated documents carry the BDO Insure letterhead, the document name and reference, and a business footer with "Confidential" and page x of y.</a:t>
                      </a:r>
                    </a:p>
                  </a:txBody>
                  <a:tcPr marL="54864" marR="54864" marT="27432" marB="27432">
                    <a:solidFill>
                      <a:srgbClr val="FFFFFF"/>
                    </a:solidFill>
                  </a:tcPr>
                </a:tc>
              </a:tr>
              <a:tr h="243840">
                <a:tc>
                  <a:txBody>
                    <a:bodyPr/>
                    <a:lstStyle/>
                    <a:p>
                      <a:r>
                        <a:rPr sz="1000" b="1">
                          <a:solidFill>
                            <a:srgbClr val="4B4B4B"/>
                          </a:solidFill>
                          <a:latin typeface="Arial"/>
                        </a:rPr>
                        <a:t>Maker-checker</a:t>
                      </a:r>
                    </a:p>
                  </a:txBody>
                  <a:tcPr marL="54864" marR="54864" marT="27432" marB="27432">
                    <a:solidFill>
                      <a:srgbClr val="E5F5FF"/>
                    </a:solidFill>
                  </a:tcPr>
                </a:tc>
                <a:tc>
                  <a:txBody>
                    <a:bodyPr/>
                    <a:lstStyle/>
                    <a:p>
                      <a:r>
                        <a:rPr sz="1000" b="0">
                          <a:solidFill>
                            <a:srgbClr val="4B4B4B"/>
                          </a:solidFill>
                          <a:latin typeface="Arial"/>
                        </a:rPr>
                        <a:t>Save for Authorization on every product master; Pending Authorization until a second user authorises it; Deactivate instead of delete.</a:t>
                      </a:r>
                    </a:p>
                  </a:txBody>
                  <a:tcPr marL="54864" marR="54864" marT="27432" marB="27432">
                    <a:solidFill>
                      <a:srgbClr val="E5F5FF"/>
                    </a:solidFill>
                  </a:tcPr>
                </a:tc>
              </a:tr>
            </a:tbl>
          </a:graphicData>
        </a:graphic>
      </p:graphicFrame>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Navigation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The landing page and the full menu of each persona</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Migration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 CHG-DM-2.1-05</a:t>
            </a:r>
          </a:p>
        </p:txBody>
      </p:sp>
      <p:sp>
        <p:nvSpPr>
          <p:cNvPr id="10" name="Rounded Rectangle 9"/>
          <p:cNvSpPr/>
          <p:nvPr/>
        </p:nvSpPr>
        <p:spPr>
          <a:xfrm>
            <a:off x="5813755"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1" name="Picture 10" descr="ux-nav-0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NAV-DM-01 The page Data Migration Lead sees after sign-in</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Migration Lead: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 CHG-DM-2.1-05</a:t>
            </a:r>
          </a:p>
        </p:txBody>
      </p:sp>
      <p:sp>
        <p:nvSpPr>
          <p:cNvPr id="10" name="Rounded Rectangle 9"/>
          <p:cNvSpPr/>
          <p:nvPr/>
        </p:nvSpPr>
        <p:spPr>
          <a:xfrm>
            <a:off x="603321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1" name="Picture 10" descr="slice-00001.png"/>
          <p:cNvPicPr>
            <a:picLocks noChangeAspect="1"/>
          </p:cNvPicPr>
          <p:nvPr/>
        </p:nvPicPr>
        <p:blipFill>
          <a:blip r:embed="rId3"/>
          <a:stretch>
            <a:fillRect/>
          </a:stretch>
        </p:blipFill>
        <p:spPr>
          <a:xfrm>
            <a:off x="3519906" y="1261872"/>
            <a:ext cx="2461641" cy="4667583"/>
          </a:xfrm>
          <a:prstGeom prst="rect">
            <a:avLst/>
          </a:prstGeom>
          <a:ln w="9525">
            <a:solidFill>
              <a:srgbClr val="C2C2C1"/>
            </a:solidFill>
          </a:ln>
        </p:spPr>
      </p:pic>
      <p:pic>
        <p:nvPicPr>
          <p:cNvPr id="12" name="Picture 11" descr="slice-00002.png"/>
          <p:cNvPicPr>
            <a:picLocks noChangeAspect="1"/>
          </p:cNvPicPr>
          <p:nvPr/>
        </p:nvPicPr>
        <p:blipFill>
          <a:blip r:embed="rId4"/>
          <a:stretch>
            <a:fillRect/>
          </a:stretch>
        </p:blipFill>
        <p:spPr>
          <a:xfrm>
            <a:off x="6210147" y="1261872"/>
            <a:ext cx="2461641" cy="393082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NAV-DM-01 Every group of the menu open</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Data Migration Lead: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Reconciliation</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Opening Adjustments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Cutover</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Run-off and Decommissioning</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Sign-off</a:t>
                      </a:r>
                    </a:p>
                  </a:txBody>
                  <a:tcPr marL="54864" marR="54864" marT="27432" marB="27432">
                    <a:solidFill>
                      <a:srgbClr val="E5F5FF"/>
                    </a:solidFill>
                  </a:tcPr>
                </a:tc>
              </a:tr>
            </a:tbl>
          </a:graphicData>
        </a:graphic>
      </p:graphicFrame>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Steward: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6979615"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1" name="Picture 10" descr="ux-nav-0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NAV-DM-02 The page Data Steward sees after sign-in</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Steward: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1" name="Picture 10" descr="slice-00003.png"/>
          <p:cNvPicPr>
            <a:picLocks noChangeAspect="1"/>
          </p:cNvPicPr>
          <p:nvPr/>
        </p:nvPicPr>
        <p:blipFill>
          <a:blip r:embed="rId3"/>
          <a:stretch>
            <a:fillRect/>
          </a:stretch>
        </p:blipFill>
        <p:spPr>
          <a:xfrm>
            <a:off x="3519906" y="1261872"/>
            <a:ext cx="2461641" cy="4637246"/>
          </a:xfrm>
          <a:prstGeom prst="rect">
            <a:avLst/>
          </a:prstGeom>
          <a:ln w="9525">
            <a:solidFill>
              <a:srgbClr val="C2C2C1"/>
            </a:solidFill>
          </a:ln>
        </p:spPr>
      </p:pic>
      <p:pic>
        <p:nvPicPr>
          <p:cNvPr id="12" name="Picture 11" descr="slice-00004.png"/>
          <p:cNvPicPr>
            <a:picLocks noChangeAspect="1"/>
          </p:cNvPicPr>
          <p:nvPr/>
        </p:nvPicPr>
        <p:blipFill>
          <a:blip r:embed="rId4"/>
          <a:stretch>
            <a:fillRect/>
          </a:stretch>
        </p:blipFill>
        <p:spPr>
          <a:xfrm>
            <a:off x="6210147" y="1261872"/>
            <a:ext cx="2461641" cy="4307871"/>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NAV-DM-02 Every group of the menu open</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Steward: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Client Matching</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Reconciliation</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Opening Adjustments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Cutover</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Run-off and Decommissioning</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Sign-off</a:t>
                      </a:r>
                    </a:p>
                  </a:txBody>
                  <a:tcPr marL="54864" marR="54864" marT="27432" marB="27432">
                    <a:solidFill>
                      <a:srgbClr val="FFFFFF"/>
                    </a:solidFill>
                  </a:tcPr>
                </a:tc>
              </a:tr>
            </a:tbl>
          </a:graphicData>
        </a:graphic>
      </p:graphicFrame>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Data owner (business owner of an object):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6979615"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1" name="Picture 10" descr="ux-nav-0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NAV-DM-03 The page Data owner (business owner of an object) sees after sign-in</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Data owner (business owner of an object):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35</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1" name="Picture 10" descr="slice-00001.png"/>
          <p:cNvPicPr>
            <a:picLocks noChangeAspect="1"/>
          </p:cNvPicPr>
          <p:nvPr/>
        </p:nvPicPr>
        <p:blipFill>
          <a:blip r:embed="rId3"/>
          <a:stretch>
            <a:fillRect/>
          </a:stretch>
        </p:blipFill>
        <p:spPr>
          <a:xfrm>
            <a:off x="3519906" y="1261872"/>
            <a:ext cx="2461641" cy="4667583"/>
          </a:xfrm>
          <a:prstGeom prst="rect">
            <a:avLst/>
          </a:prstGeom>
          <a:ln w="9525">
            <a:solidFill>
              <a:srgbClr val="C2C2C1"/>
            </a:solidFill>
          </a:ln>
        </p:spPr>
      </p:pic>
      <p:pic>
        <p:nvPicPr>
          <p:cNvPr id="12" name="Picture 11" descr="slice-00002.png"/>
          <p:cNvPicPr>
            <a:picLocks noChangeAspect="1"/>
          </p:cNvPicPr>
          <p:nvPr/>
        </p:nvPicPr>
        <p:blipFill>
          <a:blip r:embed="rId4"/>
          <a:stretch>
            <a:fillRect/>
          </a:stretch>
        </p:blipFill>
        <p:spPr>
          <a:xfrm>
            <a:off x="6210147" y="1261872"/>
            <a:ext cx="2461641" cy="393082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NAV-DM-03 Every group of the menu open</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Data owner (business owner of an object):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36</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Reconciliation</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Opening Adjustments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Cutover</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Run-off and Decommissioning</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Sign-off</a:t>
                      </a:r>
                    </a:p>
                  </a:txBody>
                  <a:tcPr marL="54864" marR="54864" marT="27432" marB="27432">
                    <a:solidFill>
                      <a:srgbClr val="E5F5FF"/>
                    </a:solidFill>
                  </a:tcPr>
                </a:tc>
              </a:tr>
            </a:tbl>
          </a:graphicData>
        </a:graphic>
      </p:graphicFrame>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Migration Operator: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37</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6979615"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1" name="Picture 10" descr="ux-nav-0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NAV-DM-04 The page Migration Operator sees after sign-in</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Migration Operator: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1" name="Picture 10" descr="slice-00007.png"/>
          <p:cNvPicPr>
            <a:picLocks noChangeAspect="1"/>
          </p:cNvPicPr>
          <p:nvPr/>
        </p:nvPicPr>
        <p:blipFill>
          <a:blip r:embed="rId3"/>
          <a:stretch>
            <a:fillRect/>
          </a:stretch>
        </p:blipFill>
        <p:spPr>
          <a:xfrm>
            <a:off x="3519906" y="1261872"/>
            <a:ext cx="2461641" cy="4637246"/>
          </a:xfrm>
          <a:prstGeom prst="rect">
            <a:avLst/>
          </a:prstGeom>
          <a:ln w="9525">
            <a:solidFill>
              <a:srgbClr val="C2C2C1"/>
            </a:solidFill>
          </a:ln>
        </p:spPr>
      </p:pic>
      <p:pic>
        <p:nvPicPr>
          <p:cNvPr id="12" name="Picture 11" descr="slice-00008.png"/>
          <p:cNvPicPr>
            <a:picLocks noChangeAspect="1"/>
          </p:cNvPicPr>
          <p:nvPr/>
        </p:nvPicPr>
        <p:blipFill>
          <a:blip r:embed="rId4"/>
          <a:stretch>
            <a:fillRect/>
          </a:stretch>
        </p:blipFill>
        <p:spPr>
          <a:xfrm>
            <a:off x="6210147" y="1261872"/>
            <a:ext cx="2461641" cy="4307871"/>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NAV-DM-04 Every group of the menu open</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Migration Operator: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39</a:t>
            </a:r>
          </a:p>
        </p:txBody>
      </p:sp>
      <p:graphicFrame>
        <p:nvGraphicFramePr>
          <p:cNvPr id="9" name="Table 8"/>
          <p:cNvGraphicFramePr>
            <a:graphicFrameLocks noGrp="1"/>
          </p:cNvGraphicFramePr>
          <p:nvPr/>
        </p:nvGraphicFramePr>
        <p:xfrm>
          <a:off x="548640" y="1325880"/>
          <a:ext cx="11094414" cy="31089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Extracts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Batches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Reconciliation</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Opening Adjustments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Cutover</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Run-off and Decommissioning</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Sign-off</a:t>
                      </a:r>
                    </a:p>
                  </a:txBody>
                  <a:tcPr marL="54864" marR="54864" marT="27432" marB="27432">
                    <a:solidFill>
                      <a:srgbClr val="FFFFFF"/>
                    </a:solidFill>
                  </a:tcPr>
                </a:tc>
              </a:tr>
            </a:tbl>
          </a:graphicData>
        </a:graphic>
      </p:graphicFrame>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Reconciliation approver (Head of Comptrollership):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40</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6979615"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1" name="Picture 10" descr="ux-nav-0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NAV-DM-05 The page Reconciliation approver (Head of Comptrollership) sees after sign-in</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Reconciliation approver (Head of Comptrollership):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41</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1" name="Picture 10" descr="slice-00001.png"/>
          <p:cNvPicPr>
            <a:picLocks noChangeAspect="1"/>
          </p:cNvPicPr>
          <p:nvPr/>
        </p:nvPicPr>
        <p:blipFill>
          <a:blip r:embed="rId3"/>
          <a:stretch>
            <a:fillRect/>
          </a:stretch>
        </p:blipFill>
        <p:spPr>
          <a:xfrm>
            <a:off x="3519906" y="1261872"/>
            <a:ext cx="2461641" cy="4667583"/>
          </a:xfrm>
          <a:prstGeom prst="rect">
            <a:avLst/>
          </a:prstGeom>
          <a:ln w="9525">
            <a:solidFill>
              <a:srgbClr val="C2C2C1"/>
            </a:solidFill>
          </a:ln>
        </p:spPr>
      </p:pic>
      <p:pic>
        <p:nvPicPr>
          <p:cNvPr id="12" name="Picture 11" descr="slice-00002.png"/>
          <p:cNvPicPr>
            <a:picLocks noChangeAspect="1"/>
          </p:cNvPicPr>
          <p:nvPr/>
        </p:nvPicPr>
        <p:blipFill>
          <a:blip r:embed="rId4"/>
          <a:stretch>
            <a:fillRect/>
          </a:stretch>
        </p:blipFill>
        <p:spPr>
          <a:xfrm>
            <a:off x="6210147" y="1261872"/>
            <a:ext cx="2461641" cy="393082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NAV-DM-05 Every group of the menu open</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Reconciliation approver (Head of Comptrollership):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42</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Reconciliation</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Opening Adjustments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Cutover</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Run-off and Decommissioning</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Sign-off</a:t>
                      </a:r>
                    </a:p>
                  </a:txBody>
                  <a:tcPr marL="54864" marR="54864" marT="27432" marB="27432">
                    <a:solidFill>
                      <a:srgbClr val="E5F5FF"/>
                    </a:solidFill>
                  </a:tcPr>
                </a:tc>
              </a:tr>
            </a:tbl>
          </a:graphicData>
        </a:graphic>
      </p:graphicFrame>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 / no-go board: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43</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6979615"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1" name="Picture 10" descr="ux-nav-06-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NAV-DM-06 The page Go / no-go board sees after sign-in</a:t>
            </a:r>
          </a:p>
        </p:txBody>
      </p:sp>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Go / no-go board: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44</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CHG-DM-2.1-01</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1" name="Picture 10" descr="slice-00001.png"/>
          <p:cNvPicPr>
            <a:picLocks noChangeAspect="1"/>
          </p:cNvPicPr>
          <p:nvPr/>
        </p:nvPicPr>
        <p:blipFill>
          <a:blip r:embed="rId3"/>
          <a:stretch>
            <a:fillRect/>
          </a:stretch>
        </p:blipFill>
        <p:spPr>
          <a:xfrm>
            <a:off x="3519906" y="1261872"/>
            <a:ext cx="2461641" cy="4667583"/>
          </a:xfrm>
          <a:prstGeom prst="rect">
            <a:avLst/>
          </a:prstGeom>
          <a:ln w="9525">
            <a:solidFill>
              <a:srgbClr val="C2C2C1"/>
            </a:solidFill>
          </a:ln>
        </p:spPr>
      </p:pic>
      <p:pic>
        <p:nvPicPr>
          <p:cNvPr id="12" name="Picture 11" descr="slice-00002.png"/>
          <p:cNvPicPr>
            <a:picLocks noChangeAspect="1"/>
          </p:cNvPicPr>
          <p:nvPr/>
        </p:nvPicPr>
        <p:blipFill>
          <a:blip r:embed="rId4"/>
          <a:stretch>
            <a:fillRect/>
          </a:stretch>
        </p:blipFill>
        <p:spPr>
          <a:xfrm>
            <a:off x="6210147" y="1261872"/>
            <a:ext cx="2461641" cy="393082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NAV-DM-06 Every group of the menu open</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Go / no-go board: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45</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Reconciliation</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Opening Adjustments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Cutover</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Run-off and Decommissioning</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Sign-off</a:t>
                      </a:r>
                    </a:p>
                  </a:txBody>
                  <a:tcPr marL="54864" marR="54864" marT="27432" marB="27432">
                    <a:solidFill>
                      <a:srgbClr val="E5F5FF"/>
                    </a:solidFill>
                  </a:tcPr>
                </a:tc>
              </a:tr>
            </a:tbl>
          </a:graphicData>
        </a:graphic>
      </p:graphicFrame>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GL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7-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NAV-DM-07 The page Comptrollership GL lead sees after sign-in</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GL lead: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3.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14.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15.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16.png"/>
          <p:cNvPicPr>
            <a:picLocks noChangeAspect="1"/>
          </p:cNvPicPr>
          <p:nvPr/>
        </p:nvPicPr>
        <p:blipFill>
          <a:blip r:embed="rId6"/>
          <a:stretch>
            <a:fillRect/>
          </a:stretch>
        </p:blipFill>
        <p:spPr>
          <a:xfrm>
            <a:off x="8900388" y="1261872"/>
            <a:ext cx="2461641" cy="4671917"/>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NAV-DM-07 Every group of the menu open (part 1 of 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Comptrollership GL lead: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17.png"/>
          <p:cNvPicPr>
            <a:picLocks noChangeAspect="1"/>
          </p:cNvPicPr>
          <p:nvPr/>
        </p:nvPicPr>
        <p:blipFill>
          <a:blip r:embed="rId3"/>
          <a:stretch>
            <a:fillRect/>
          </a:stretch>
        </p:blipFill>
        <p:spPr>
          <a:xfrm>
            <a:off x="829665" y="1261872"/>
            <a:ext cx="2461641" cy="4732591"/>
          </a:xfrm>
          <a:prstGeom prst="rect">
            <a:avLst/>
          </a:prstGeom>
          <a:ln w="9525">
            <a:solidFill>
              <a:srgbClr val="C2C2C1"/>
            </a:solidFill>
          </a:ln>
        </p:spPr>
      </p:pic>
      <p:pic>
        <p:nvPicPr>
          <p:cNvPr id="11" name="Picture 10" descr="slice-00018.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19.png"/>
          <p:cNvPicPr>
            <a:picLocks noChangeAspect="1"/>
          </p:cNvPicPr>
          <p:nvPr/>
        </p:nvPicPr>
        <p:blipFill>
          <a:blip r:embed="rId5"/>
          <a:stretch>
            <a:fillRect/>
          </a:stretch>
        </p:blipFill>
        <p:spPr>
          <a:xfrm>
            <a:off x="6210147" y="1261872"/>
            <a:ext cx="2461641" cy="4706588"/>
          </a:xfrm>
          <a:prstGeom prst="rect">
            <a:avLst/>
          </a:prstGeom>
          <a:ln w="9525">
            <a:solidFill>
              <a:srgbClr val="C2C2C1"/>
            </a:solidFill>
          </a:ln>
        </p:spPr>
      </p:pic>
      <p:pic>
        <p:nvPicPr>
          <p:cNvPr id="13" name="Picture 12" descr="slice-00020.png"/>
          <p:cNvPicPr>
            <a:picLocks noChangeAspect="1"/>
          </p:cNvPicPr>
          <p:nvPr/>
        </p:nvPicPr>
        <p:blipFill>
          <a:blip r:embed="rId6"/>
          <a:stretch>
            <a:fillRect/>
          </a:stretch>
        </p:blipFill>
        <p:spPr>
          <a:xfrm>
            <a:off x="8900388" y="1261872"/>
            <a:ext cx="2461641" cy="167720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NAV-DM-07 Every group of the menu open (part 2 of 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Comptrollership GL lead: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49</a:t>
            </a:r>
          </a:p>
        </p:txBody>
      </p:sp>
      <p:graphicFrame>
        <p:nvGraphicFramePr>
          <p:cNvPr id="9" name="Table 8"/>
          <p:cNvGraphicFramePr>
            <a:graphicFrameLocks noGrp="1"/>
          </p:cNvGraphicFramePr>
          <p:nvPr/>
        </p:nvGraphicFramePr>
        <p:xfrm>
          <a:off x="548640" y="1325880"/>
          <a:ext cx="11094414" cy="284988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Migration Home</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Objects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Code Maps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Layouts and Rules</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Batches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Reconciliation</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Opening Adjustments</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Cutover</a:t>
                      </a:r>
                    </a:p>
                  </a:txBody>
                  <a:tcPr marL="54864" marR="54864" marT="27432" marB="27432">
                    <a:solidFill>
                      <a:srgbClr val="E5F5FF"/>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Run-off and Decommissioning</a:t>
                      </a:r>
                    </a:p>
                  </a:txBody>
                  <a:tcPr marL="54864" marR="54864" marT="27432" marB="27432">
                    <a:solidFill>
                      <a:srgbClr val="FFFFFF"/>
                    </a:solidFill>
                  </a:tcPr>
                </a:tc>
              </a:tr>
              <a:tr h="259080">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Data Migration</a:t>
                      </a:r>
                    </a:p>
                  </a:txBody>
                  <a:tcPr marL="54864" marR="54864" marT="27432" marB="27432">
                    <a:solidFill>
                      <a:srgbClr val="E5F5FF"/>
                    </a:solidFill>
                  </a:tcPr>
                </a:tc>
                <a:tc>
                  <a:txBody>
                    <a:bodyPr/>
                    <a:lstStyle/>
                    <a:p>
                      <a:r>
                        <a:rPr sz="1100" b="0">
                          <a:solidFill>
                            <a:srgbClr val="4B4B4B"/>
                          </a:solidFill>
                          <a:latin typeface="Arial"/>
                        </a:rPr>
                        <a:t>Sign-off</a:t>
                      </a:r>
                    </a:p>
                  </a:txBody>
                  <a:tcPr marL="54864" marR="54864" marT="27432" marB="27432">
                    <a:solidFill>
                      <a:srgbClr val="E5F5FF"/>
                    </a:solidFill>
                  </a:tcPr>
                </a:tc>
              </a:tr>
            </a:tbl>
          </a:graphicData>
        </a:graphic>
      </p:graphicFrame>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 / Compliance user: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50</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8-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NAV-DM-08 The page Audit / Compliance user sees after sign-in</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Audit / Compliance user: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1.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22.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NAV-DM-08 Every group of the menu open</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Audit / Compliance user: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52</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Legacy Inquiry</a:t>
                      </a:r>
                    </a:p>
                  </a:txBody>
                  <a:tcPr marL="54864" marR="54864" marT="27432" marB="27432">
                    <a:solidFill>
                      <a:srgbClr val="FFFFFF"/>
                    </a:solidFill>
                  </a:tcPr>
                </a:tc>
                <a:tc>
                  <a:txBody>
                    <a:bodyPr/>
                    <a:lstStyle/>
                    <a:p>
                      <a:r>
                        <a:rPr sz="1100" b="0">
                          <a:solidFill>
                            <a:srgbClr val="4B4B4B"/>
                          </a:solidFill>
                          <a:latin typeface="Arial"/>
                        </a:rPr>
                        <a:t>Legacy Inquiry</a:t>
                      </a:r>
                    </a:p>
                  </a:txBody>
                  <a:tcPr marL="54864" marR="54864" marT="27432" marB="27432">
                    <a:solidFill>
                      <a:srgbClr val="FFFFFF"/>
                    </a:solidFill>
                  </a:tcPr>
                </a:tc>
              </a:tr>
            </a:tbl>
          </a:graphicData>
        </a:graphic>
      </p:graphicFrame>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Compliance reviewer of the access log: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53</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09-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NAV-DM-09 The page Compliance reviewer of the access log sees after sign-in</a:t>
            </a: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Compliance reviewer of the access log: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3.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24.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NAV-DM-09 Every group of the menu open</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Compliance reviewer of the access log: menu entries of Data Migration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55</a:t>
            </a:r>
          </a:p>
        </p:txBody>
      </p:sp>
      <p:graphicFrame>
        <p:nvGraphicFramePr>
          <p:cNvPr id="9" name="Table 8"/>
          <p:cNvGraphicFramePr>
            <a:graphicFrameLocks noGrp="1"/>
          </p:cNvGraphicFramePr>
          <p:nvPr/>
        </p:nvGraphicFramePr>
        <p:xfrm>
          <a:off x="548640" y="1325880"/>
          <a:ext cx="11094414" cy="518160"/>
        </p:xfrm>
        <a:graphic>
          <a:graphicData uri="http://schemas.openxmlformats.org/drawingml/2006/table">
            <a:tbl>
              <a:tblPr firstRow="1" bandRow="1">
                <a:tableStyleId>{5C22544A-7EE6-4342-B048-85BDC9FD1C3A}</a:tableStyleId>
              </a:tblPr>
              <a:tblGrid>
                <a:gridCol w="2560249"/>
                <a:gridCol w="3413666"/>
                <a:gridCol w="5120499"/>
              </a:tblGrid>
              <a:tr h="259080">
                <a:tc>
                  <a:txBody>
                    <a:bodyPr/>
                    <a:lstStyle/>
                    <a:p>
                      <a:r>
                        <a:rPr sz="1100" b="1">
                          <a:solidFill>
                            <a:srgbClr val="FFFFFF"/>
                          </a:solidFill>
                          <a:latin typeface="Arial"/>
                        </a:rPr>
                        <a:t>Group</a:t>
                      </a:r>
                    </a:p>
                  </a:txBody>
                  <a:tcPr marL="54864" marR="54864" marT="27432" marB="27432">
                    <a:solidFill>
                      <a:srgbClr val="004EA8"/>
                    </a:solidFill>
                  </a:tcPr>
                </a:tc>
                <a:tc>
                  <a:txBody>
                    <a:bodyPr/>
                    <a:lstStyle/>
                    <a:p>
                      <a:r>
                        <a:rPr sz="1100" b="1">
                          <a:solidFill>
                            <a:srgbClr val="FFFFFF"/>
                          </a:solidFill>
                          <a:latin typeface="Arial"/>
                        </a:rPr>
                        <a:t>Section</a:t>
                      </a:r>
                    </a:p>
                  </a:txBody>
                  <a:tcPr marL="54864" marR="54864" marT="27432" marB="27432">
                    <a:solidFill>
                      <a:srgbClr val="004EA8"/>
                    </a:solidFill>
                  </a:tcPr>
                </a:tc>
                <a:tc>
                  <a:txBody>
                    <a:bodyPr/>
                    <a:lstStyle/>
                    <a:p>
                      <a:r>
                        <a:rPr sz="1100" b="1">
                          <a:solidFill>
                            <a:srgbClr val="FFFFFF"/>
                          </a:solidFill>
                          <a:latin typeface="Arial"/>
                        </a:rPr>
                        <a:t>Screen</a:t>
                      </a:r>
                    </a:p>
                  </a:txBody>
                  <a:tcPr marL="54864" marR="54864" marT="27432" marB="27432">
                    <a:solidFill>
                      <a:srgbClr val="004EA8"/>
                    </a:solidFill>
                  </a:tcPr>
                </a:tc>
              </a:tr>
              <a:tr h="259080">
                <a:tc>
                  <a:txBody>
                    <a:bodyPr/>
                    <a:lstStyle/>
                    <a:p>
                      <a:r>
                        <a:rPr sz="1100" b="0">
                          <a:solidFill>
                            <a:srgbClr val="4B4B4B"/>
                          </a:solidFill>
                          <a:latin typeface="Arial"/>
                        </a:rPr>
                        <a:t>Data Migration</a:t>
                      </a:r>
                    </a:p>
                  </a:txBody>
                  <a:tcPr marL="54864" marR="54864" marT="27432" marB="27432">
                    <a:solidFill>
                      <a:srgbClr val="FFFFFF"/>
                    </a:solidFill>
                  </a:tcPr>
                </a:tc>
                <a:tc>
                  <a:txBody>
                    <a:bodyPr/>
                    <a:lstStyle/>
                    <a:p>
                      <a:r>
                        <a:rPr sz="1100" b="0">
                          <a:solidFill>
                            <a:srgbClr val="4B4B4B"/>
                          </a:solidFill>
                          <a:latin typeface="Arial"/>
                        </a:rPr>
                        <a:t>Legacy Inquiry</a:t>
                      </a:r>
                    </a:p>
                  </a:txBody>
                  <a:tcPr marL="54864" marR="54864" marT="27432" marB="27432">
                    <a:solidFill>
                      <a:srgbClr val="FFFFFF"/>
                    </a:solidFill>
                  </a:tcPr>
                </a:tc>
                <a:tc>
                  <a:txBody>
                    <a:bodyPr/>
                    <a:lstStyle/>
                    <a:p>
                      <a:r>
                        <a:rPr sz="1100" b="0">
                          <a:solidFill>
                            <a:srgbClr val="4B4B4B"/>
                          </a:solidFill>
                          <a:latin typeface="Arial"/>
                        </a:rPr>
                        <a:t>Access Log</a:t>
                      </a:r>
                    </a:p>
                  </a:txBody>
                  <a:tcPr marL="54864" marR="54864" marT="27432" marB="27432">
                    <a:solidFill>
                      <a:srgbClr val="FFFFFF"/>
                    </a:solidFill>
                  </a:tcPr>
                </a:tc>
              </a:tr>
            </a:tbl>
          </a:graphicData>
        </a:graphic>
      </p:graphicFrame>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user: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0-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NAV-DM-10 The page Cashiering user sees after sign-in</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user: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2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2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28.png"/>
          <p:cNvPicPr>
            <a:picLocks noChangeAspect="1"/>
          </p:cNvPicPr>
          <p:nvPr/>
        </p:nvPicPr>
        <p:blipFill>
          <a:blip r:embed="rId6"/>
          <a:stretch>
            <a:fillRect/>
          </a:stretch>
        </p:blipFill>
        <p:spPr>
          <a:xfrm>
            <a:off x="8900388" y="1261872"/>
            <a:ext cx="2461641" cy="4663249"/>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NAV-DM-10 Every group of the menu open (part 1 of 2)</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user: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29.png"/>
          <p:cNvPicPr>
            <a:picLocks noChangeAspect="1"/>
          </p:cNvPicPr>
          <p:nvPr/>
        </p:nvPicPr>
        <p:blipFill>
          <a:blip r:embed="rId3"/>
          <a:stretch>
            <a:fillRect/>
          </a:stretch>
        </p:blipFill>
        <p:spPr>
          <a:xfrm>
            <a:off x="3519906" y="1261872"/>
            <a:ext cx="2461641" cy="4658915"/>
          </a:xfrm>
          <a:prstGeom prst="rect">
            <a:avLst/>
          </a:prstGeom>
          <a:ln w="9525">
            <a:solidFill>
              <a:srgbClr val="C2C2C1"/>
            </a:solidFill>
          </a:ln>
        </p:spPr>
      </p:pic>
      <p:pic>
        <p:nvPicPr>
          <p:cNvPr id="11" name="Picture 10" descr="slice-00030.png"/>
          <p:cNvPicPr>
            <a:picLocks noChangeAspect="1"/>
          </p:cNvPicPr>
          <p:nvPr/>
        </p:nvPicPr>
        <p:blipFill>
          <a:blip r:embed="rId4"/>
          <a:stretch>
            <a:fillRect/>
          </a:stretch>
        </p:blipFill>
        <p:spPr>
          <a:xfrm>
            <a:off x="6210147" y="1261872"/>
            <a:ext cx="2461641" cy="121348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NAV-DM-10 Every group of the menu open (part 2 of 2)</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59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1-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NAV-DM-11 The page Cashiering team lead sees after sign-in</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32.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34.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NAV-DM-11 Every group of the menu open (part 1 of 2)</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Cashiering team lead: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5.png"/>
          <p:cNvPicPr>
            <a:picLocks noChangeAspect="1"/>
          </p:cNvPicPr>
          <p:nvPr/>
        </p:nvPicPr>
        <p:blipFill>
          <a:blip r:embed="rId3"/>
          <a:stretch>
            <a:fillRect/>
          </a:stretch>
        </p:blipFill>
        <p:spPr>
          <a:xfrm>
            <a:off x="829665" y="1261872"/>
            <a:ext cx="2461641" cy="4671917"/>
          </a:xfrm>
          <a:prstGeom prst="rect">
            <a:avLst/>
          </a:prstGeom>
          <a:ln w="9525">
            <a:solidFill>
              <a:srgbClr val="C2C2C1"/>
            </a:solidFill>
          </a:ln>
        </p:spPr>
      </p:pic>
      <p:pic>
        <p:nvPicPr>
          <p:cNvPr id="11" name="Picture 10" descr="slice-00036.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37.png"/>
          <p:cNvPicPr>
            <a:picLocks noChangeAspect="1"/>
          </p:cNvPicPr>
          <p:nvPr/>
        </p:nvPicPr>
        <p:blipFill>
          <a:blip r:embed="rId5"/>
          <a:stretch>
            <a:fillRect/>
          </a:stretch>
        </p:blipFill>
        <p:spPr>
          <a:xfrm>
            <a:off x="6210147" y="1261872"/>
            <a:ext cx="2461641" cy="4680585"/>
          </a:xfrm>
          <a:prstGeom prst="rect">
            <a:avLst/>
          </a:prstGeom>
          <a:ln w="9525">
            <a:solidFill>
              <a:srgbClr val="C2C2C1"/>
            </a:solidFill>
          </a:ln>
        </p:spPr>
      </p:pic>
      <p:pic>
        <p:nvPicPr>
          <p:cNvPr id="13" name="Picture 12" descr="slice-00038.png"/>
          <p:cNvPicPr>
            <a:picLocks noChangeAspect="1"/>
          </p:cNvPicPr>
          <p:nvPr/>
        </p:nvPicPr>
        <p:blipFill>
          <a:blip r:embed="rId6"/>
          <a:stretch>
            <a:fillRect/>
          </a:stretch>
        </p:blipFill>
        <p:spPr>
          <a:xfrm>
            <a:off x="8900388" y="1261872"/>
            <a:ext cx="2461641" cy="4693586"/>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NAV-DM-11 Every group of the menu open (part 2 of 2)</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Top management approver: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62</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2-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NAV-DM-12 The page Top management approver sees after sign-in</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Top management approver: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39.png"/>
          <p:cNvPicPr>
            <a:picLocks noChangeAspect="1"/>
          </p:cNvPicPr>
          <p:nvPr/>
        </p:nvPicPr>
        <p:blipFill>
          <a:blip r:embed="rId3"/>
          <a:stretch>
            <a:fillRect/>
          </a:stretch>
        </p:blipFill>
        <p:spPr>
          <a:xfrm>
            <a:off x="3519906" y="1261872"/>
            <a:ext cx="2461641" cy="4732591"/>
          </a:xfrm>
          <a:prstGeom prst="rect">
            <a:avLst/>
          </a:prstGeom>
          <a:ln w="9525">
            <a:solidFill>
              <a:srgbClr val="C2C2C1"/>
            </a:solidFill>
          </a:ln>
        </p:spPr>
      </p:pic>
      <p:pic>
        <p:nvPicPr>
          <p:cNvPr id="11" name="Picture 10" descr="slice-00040.png"/>
          <p:cNvPicPr>
            <a:picLocks noChangeAspect="1"/>
          </p:cNvPicPr>
          <p:nvPr/>
        </p:nvPicPr>
        <p:blipFill>
          <a:blip r:embed="rId4"/>
          <a:stretch>
            <a:fillRect/>
          </a:stretch>
        </p:blipFill>
        <p:spPr>
          <a:xfrm>
            <a:off x="6210147" y="1261872"/>
            <a:ext cx="2461641" cy="313772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NAV-DM-12 Every group of the menu open</a:t>
            </a:r>
          </a:p>
        </p:txBody>
      </p:sp>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user: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64</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3-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NAV-DM-13 The page Commission user sees after sign-in</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user: menu</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1.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2.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43.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4.png"/>
          <p:cNvPicPr>
            <a:picLocks noChangeAspect="1"/>
          </p:cNvPicPr>
          <p:nvPr/>
        </p:nvPicPr>
        <p:blipFill>
          <a:blip r:embed="rId6"/>
          <a:stretch>
            <a:fillRect/>
          </a:stretch>
        </p:blipFill>
        <p:spPr>
          <a:xfrm>
            <a:off x="8900388" y="1261872"/>
            <a:ext cx="2461641" cy="464158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NAV-DM-13 Every group of the menu open</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team lead: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66</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4-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NAV-DM-14 The page Commission team lead sees after sign-in</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team lead: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5.png"/>
          <p:cNvPicPr>
            <a:picLocks noChangeAspect="1"/>
          </p:cNvPicPr>
          <p:nvPr/>
        </p:nvPicPr>
        <p:blipFill>
          <a:blip r:embed="rId3"/>
          <a:stretch>
            <a:fillRect/>
          </a:stretch>
        </p:blipFill>
        <p:spPr>
          <a:xfrm>
            <a:off x="829665" y="1261872"/>
            <a:ext cx="2461641" cy="4710922"/>
          </a:xfrm>
          <a:prstGeom prst="rect">
            <a:avLst/>
          </a:prstGeom>
          <a:ln w="9525">
            <a:solidFill>
              <a:srgbClr val="C2C2C1"/>
            </a:solidFill>
          </a:ln>
        </p:spPr>
      </p:pic>
      <p:pic>
        <p:nvPicPr>
          <p:cNvPr id="11" name="Picture 10" descr="slice-00046.png"/>
          <p:cNvPicPr>
            <a:picLocks noChangeAspect="1"/>
          </p:cNvPicPr>
          <p:nvPr/>
        </p:nvPicPr>
        <p:blipFill>
          <a:blip r:embed="rId4"/>
          <a:stretch>
            <a:fillRect/>
          </a:stretch>
        </p:blipFill>
        <p:spPr>
          <a:xfrm>
            <a:off x="3519906" y="1261872"/>
            <a:ext cx="2461641" cy="4602575"/>
          </a:xfrm>
          <a:prstGeom prst="rect">
            <a:avLst/>
          </a:prstGeom>
          <a:ln w="9525">
            <a:solidFill>
              <a:srgbClr val="C2C2C1"/>
            </a:solidFill>
          </a:ln>
        </p:spPr>
      </p:pic>
      <p:pic>
        <p:nvPicPr>
          <p:cNvPr id="12" name="Picture 11" descr="slice-00047.png"/>
          <p:cNvPicPr>
            <a:picLocks noChangeAspect="1"/>
          </p:cNvPicPr>
          <p:nvPr/>
        </p:nvPicPr>
        <p:blipFill>
          <a:blip r:embed="rId5"/>
          <a:stretch>
            <a:fillRect/>
          </a:stretch>
        </p:blipFill>
        <p:spPr>
          <a:xfrm>
            <a:off x="6210147" y="1261872"/>
            <a:ext cx="2461641" cy="4732591"/>
          </a:xfrm>
          <a:prstGeom prst="rect">
            <a:avLst/>
          </a:prstGeom>
          <a:ln w="9525">
            <a:solidFill>
              <a:srgbClr val="C2C2C1"/>
            </a:solidFill>
          </a:ln>
        </p:spPr>
      </p:pic>
      <p:pic>
        <p:nvPicPr>
          <p:cNvPr id="13" name="Picture 12" descr="slice-00048.png"/>
          <p:cNvPicPr>
            <a:picLocks noChangeAspect="1"/>
          </p:cNvPicPr>
          <p:nvPr/>
        </p:nvPicPr>
        <p:blipFill>
          <a:blip r:embed="rId6"/>
          <a:stretch>
            <a:fillRect/>
          </a:stretch>
        </p:blipFill>
        <p:spPr>
          <a:xfrm>
            <a:off x="8900388" y="1261872"/>
            <a:ext cx="2461641" cy="4732591"/>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NAV-DM-14 Every group of the menu open (part 1 of 2)</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Commission team lead: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49.png"/>
          <p:cNvPicPr>
            <a:picLocks noChangeAspect="1"/>
          </p:cNvPicPr>
          <p:nvPr/>
        </p:nvPicPr>
        <p:blipFill>
          <a:blip r:embed="rId3"/>
          <a:stretch>
            <a:fillRect/>
          </a:stretch>
        </p:blipFill>
        <p:spPr>
          <a:xfrm>
            <a:off x="4865027" y="1261872"/>
            <a:ext cx="2461641" cy="25569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NAV-DM-14 Every group of the menu open (part 2 of 2)</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landing page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69</a:t>
            </a:r>
          </a:p>
        </p:txBody>
      </p:sp>
      <p:sp>
        <p:nvSpPr>
          <p:cNvPr id="9" name="Rounded Rectangle 8"/>
          <p:cNvSpPr/>
          <p:nvPr/>
        </p:nvSpPr>
        <p:spPr>
          <a:xfrm>
            <a:off x="10234879" y="896112"/>
            <a:ext cx="1408176"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Landing page</a:t>
            </a:r>
          </a:p>
        </p:txBody>
      </p:sp>
      <p:pic>
        <p:nvPicPr>
          <p:cNvPr id="10" name="Picture 9" descr="ux-nav-15-landing.png"/>
          <p:cNvPicPr>
            <a:picLocks noChangeAspect="1"/>
          </p:cNvPicPr>
          <p:nvPr/>
        </p:nvPicPr>
        <p:blipFill>
          <a:blip r:embed="rId3"/>
          <a:stretch>
            <a:fillRect/>
          </a:stretch>
        </p:blipFill>
        <p:spPr>
          <a:xfrm>
            <a:off x="2306574" y="1261872"/>
            <a:ext cx="7578547"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NAV-DM-15 The page Marketing Account Officer sees after sign-in</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0.png"/>
          <p:cNvPicPr>
            <a:picLocks noChangeAspect="1"/>
          </p:cNvPicPr>
          <p:nvPr/>
        </p:nvPicPr>
        <p:blipFill>
          <a:blip r:embed="rId3"/>
          <a:stretch>
            <a:fillRect/>
          </a:stretch>
        </p:blipFill>
        <p:spPr>
          <a:xfrm>
            <a:off x="829665" y="1261872"/>
            <a:ext cx="2461641" cy="4702254"/>
          </a:xfrm>
          <a:prstGeom prst="rect">
            <a:avLst/>
          </a:prstGeom>
          <a:ln w="9525">
            <a:solidFill>
              <a:srgbClr val="C2C2C1"/>
            </a:solidFill>
          </a:ln>
        </p:spPr>
      </p:pic>
      <p:pic>
        <p:nvPicPr>
          <p:cNvPr id="11" name="Picture 10" descr="slice-00051.png"/>
          <p:cNvPicPr>
            <a:picLocks noChangeAspect="1"/>
          </p:cNvPicPr>
          <p:nvPr/>
        </p:nvPicPr>
        <p:blipFill>
          <a:blip r:embed="rId4"/>
          <a:stretch>
            <a:fillRect/>
          </a:stretch>
        </p:blipFill>
        <p:spPr>
          <a:xfrm>
            <a:off x="3519906" y="1261872"/>
            <a:ext cx="2461641" cy="4732591"/>
          </a:xfrm>
          <a:prstGeom prst="rect">
            <a:avLst/>
          </a:prstGeom>
          <a:ln w="9525">
            <a:solidFill>
              <a:srgbClr val="C2C2C1"/>
            </a:solidFill>
          </a:ln>
        </p:spPr>
      </p:pic>
      <p:pic>
        <p:nvPicPr>
          <p:cNvPr id="12" name="Picture 11" descr="slice-00052.png"/>
          <p:cNvPicPr>
            <a:picLocks noChangeAspect="1"/>
          </p:cNvPicPr>
          <p:nvPr/>
        </p:nvPicPr>
        <p:blipFill>
          <a:blip r:embed="rId5"/>
          <a:stretch>
            <a:fillRect/>
          </a:stretch>
        </p:blipFill>
        <p:spPr>
          <a:xfrm>
            <a:off x="6210147" y="1261872"/>
            <a:ext cx="2461641" cy="4628578"/>
          </a:xfrm>
          <a:prstGeom prst="rect">
            <a:avLst/>
          </a:prstGeom>
          <a:ln w="9525">
            <a:solidFill>
              <a:srgbClr val="C2C2C1"/>
            </a:solidFill>
          </a:ln>
        </p:spPr>
      </p:pic>
      <p:pic>
        <p:nvPicPr>
          <p:cNvPr id="13" name="Picture 12" descr="slice-00053.png"/>
          <p:cNvPicPr>
            <a:picLocks noChangeAspect="1"/>
          </p:cNvPicPr>
          <p:nvPr/>
        </p:nvPicPr>
        <p:blipFill>
          <a:blip r:embed="rId6"/>
          <a:stretch>
            <a:fillRect/>
          </a:stretch>
        </p:blipFill>
        <p:spPr>
          <a:xfrm>
            <a:off x="8900388" y="1261872"/>
            <a:ext cx="2461641" cy="4619910"/>
          </a:xfrm>
          <a:prstGeom prst="rect">
            <a:avLst/>
          </a:prstGeom>
          <a:ln w="9525">
            <a:solidFill>
              <a:srgbClr val="C2C2C1"/>
            </a:solidFill>
          </a:ln>
        </p:spPr>
      </p:pic>
      <p:sp>
        <p:nvSpPr>
          <p:cNvPr id="14" name="TextBox 13"/>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NAV-DM-15 Every group of the menu open (part 1 of 2)</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Marketing Account Officer: menu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Menu</a:t>
            </a:r>
          </a:p>
        </p:txBody>
      </p:sp>
      <p:pic>
        <p:nvPicPr>
          <p:cNvPr id="10" name="Picture 9" descr="slice-00054.png"/>
          <p:cNvPicPr>
            <a:picLocks noChangeAspect="1"/>
          </p:cNvPicPr>
          <p:nvPr/>
        </p:nvPicPr>
        <p:blipFill>
          <a:blip r:embed="rId3"/>
          <a:stretch>
            <a:fillRect/>
          </a:stretch>
        </p:blipFill>
        <p:spPr>
          <a:xfrm>
            <a:off x="2174786" y="1261872"/>
            <a:ext cx="2461641" cy="4732591"/>
          </a:xfrm>
          <a:prstGeom prst="rect">
            <a:avLst/>
          </a:prstGeom>
          <a:ln w="9525">
            <a:solidFill>
              <a:srgbClr val="C2C2C1"/>
            </a:solidFill>
          </a:ln>
        </p:spPr>
      </p:pic>
      <p:pic>
        <p:nvPicPr>
          <p:cNvPr id="11" name="Picture 10" descr="slice-00055.png"/>
          <p:cNvPicPr>
            <a:picLocks noChangeAspect="1"/>
          </p:cNvPicPr>
          <p:nvPr/>
        </p:nvPicPr>
        <p:blipFill>
          <a:blip r:embed="rId4"/>
          <a:stretch>
            <a:fillRect/>
          </a:stretch>
        </p:blipFill>
        <p:spPr>
          <a:xfrm>
            <a:off x="4865027" y="1261872"/>
            <a:ext cx="2461641" cy="4715256"/>
          </a:xfrm>
          <a:prstGeom prst="rect">
            <a:avLst/>
          </a:prstGeom>
          <a:ln w="9525">
            <a:solidFill>
              <a:srgbClr val="C2C2C1"/>
            </a:solidFill>
          </a:ln>
        </p:spPr>
      </p:pic>
      <p:pic>
        <p:nvPicPr>
          <p:cNvPr id="12" name="Picture 11" descr="slice-00056.png"/>
          <p:cNvPicPr>
            <a:picLocks noChangeAspect="1"/>
          </p:cNvPicPr>
          <p:nvPr/>
        </p:nvPicPr>
        <p:blipFill>
          <a:blip r:embed="rId5"/>
          <a:stretch>
            <a:fillRect/>
          </a:stretch>
        </p:blipFill>
        <p:spPr>
          <a:xfrm>
            <a:off x="7555268" y="1261872"/>
            <a:ext cx="2461641" cy="1928574"/>
          </a:xfrm>
          <a:prstGeom prst="rect">
            <a:avLst/>
          </a:prstGeom>
          <a:ln w="9525">
            <a:solidFill>
              <a:srgbClr val="C2C2C1"/>
            </a:solidFill>
          </a:ln>
        </p:spPr>
      </p:pic>
      <p:sp>
        <p:nvSpPr>
          <p:cNvPr id="13" name="TextBox 12"/>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NAV-DM-15 Every group of the menu open (part 2 of 2)</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Personas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Who they are, what they do in this BRD, their screens and flows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Data Migration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73</a:t>
            </a:r>
          </a:p>
        </p:txBody>
      </p:sp>
      <p:graphicFrame>
        <p:nvGraphicFramePr>
          <p:cNvPr id="9" name="Table 8"/>
          <p:cNvGraphicFramePr>
            <a:graphicFrameLocks noGrp="1"/>
          </p:cNvGraphicFramePr>
          <p:nvPr/>
        </p:nvGraphicFramePr>
        <p:xfrm>
          <a:off x="548640" y="1307592"/>
          <a:ext cx="5410047" cy="170688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BDOI lead of the migration, from the Business Project Services programme office</a:t>
                      </a:r>
                    </a:p>
                  </a:txBody>
                  <a:tcPr marL="54864" marR="54864" marT="27432" marB="27432">
                    <a:solidFill>
                      <a:srgbClr val="FFFFFF"/>
                    </a:solidFill>
                  </a:tcPr>
                </a:tc>
              </a:tr>
              <a:tr h="76200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Runs the migration on the BDOI side: object register and decisions, load approvals (G4), acceptance with the owners (G6), rollback requests, cut-over plans, decommissioning checklists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UF-A steps 1, 14; UF-B steps 1, 2, 6</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Data Steward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74</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data specialist of the business unit that owns the legacy data (Operations, Marketing, Comptrollership)</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Code maps and layouts; data-quality issues; doubtful client matches; signs the validation (G3)</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UF-A steps 3, 4, 10, 13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SCR-DM-08 Client Matching</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Data owner (business owner of an object)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75</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head of the business unit accountable for a data object</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Decides the class (G1), approves the code map versions and signs the mapping (G2), waives or excludes rows, accepts the object (G6)</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UF-A steps 2, 5, 11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Migration Operator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76</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member of the migration team who runs the files and batches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Uploads extracts, plans, validates, loads and reconciles batches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UF-A steps 6, 7, 8, 9</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SCR-DM-05 Extracts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Persona: Reconciliation approver (Head of Comptrollership)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77</a:t>
            </a:r>
          </a:p>
        </p:txBody>
      </p:sp>
      <p:graphicFrame>
        <p:nvGraphicFramePr>
          <p:cNvPr id="9" name="Table 8"/>
          <p:cNvGraphicFramePr>
            <a:graphicFrameLocks noGrp="1"/>
          </p:cNvGraphicFramePr>
          <p:nvPr/>
        </p:nvGraphicFramePr>
        <p:xfrm>
          <a:off x="548640" y="1307592"/>
          <a:ext cx="5410047" cy="153924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Head of Comptrollership, or the owner named for a non-financial object</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break explanations, signs the reconciliation (G5), approves rollbacks and the opening-balance adjustments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UF-A steps 12; UF-B steps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Go / no-go board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78</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member of the go / no-go board of the cut-over</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Measures and records the criteria and decides GO or NO-GO (G7 on the production plan)</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NAV-DM-06</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UF-B steps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p:txBody>
      </p:sp>
    </p:spTree>
  </p:cSld>
  <p:clrMapOvr>
    <a:masterClrMapping/>
  </p:clrMapOvr>
</p:sld>
</file>

<file path=ppt/slides/slide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Comptrollership GL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79</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GL lead of Comptrollership who prepares the year-end adjustments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Prepares each opening-balance adjustment</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NAV-DM-07</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UF-B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(13)</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SCR-DM-01 Migration Home</a:t>
            </a:r>
          </a:p>
          <a:p>
            <a:pPr>
              <a:spcAft>
                <a:spcPts val="600"/>
              </a:spcAft>
            </a:pPr>
            <a:r>
              <a:rPr sz="1100">
                <a:solidFill>
                  <a:srgbClr val="004EA8"/>
                </a:solidFill>
                <a:latin typeface="Arial"/>
              </a:rPr>
              <a:t>•  </a:t>
            </a:r>
            <a:r>
              <a:rPr sz="1100">
                <a:solidFill>
                  <a:srgbClr val="4B4B4B"/>
                </a:solidFill>
                <a:latin typeface="Arial"/>
              </a:rPr>
              <a:t>SCR-DM-02 Data Objects and the decision of an object</a:t>
            </a:r>
          </a:p>
          <a:p>
            <a:pPr>
              <a:spcAft>
                <a:spcPts val="600"/>
              </a:spcAft>
            </a:pPr>
            <a:r>
              <a:rPr sz="1100">
                <a:solidFill>
                  <a:srgbClr val="004EA8"/>
                </a:solidFill>
                <a:latin typeface="Arial"/>
              </a:rPr>
              <a:t>•  </a:t>
            </a:r>
            <a:r>
              <a:rPr sz="1100">
                <a:solidFill>
                  <a:srgbClr val="4B4B4B"/>
                </a:solidFill>
                <a:latin typeface="Arial"/>
              </a:rPr>
              <a:t>SCR-DM-03 Code Maps and the versions of a code map</a:t>
            </a:r>
          </a:p>
          <a:p>
            <a:pPr>
              <a:spcAft>
                <a:spcPts val="600"/>
              </a:spcAft>
            </a:pPr>
            <a:r>
              <a:rPr sz="1100">
                <a:solidFill>
                  <a:srgbClr val="004EA8"/>
                </a:solidFill>
                <a:latin typeface="Arial"/>
              </a:rPr>
              <a:t>•  </a:t>
            </a:r>
            <a:r>
              <a:rPr sz="1100">
                <a:solidFill>
                  <a:srgbClr val="4B4B4B"/>
                </a:solidFill>
                <a:latin typeface="Arial"/>
              </a:rPr>
              <a:t>SCR-DM-04 Layouts and Rules</a:t>
            </a:r>
          </a:p>
          <a:p>
            <a:pPr>
              <a:spcAft>
                <a:spcPts val="600"/>
              </a:spcAft>
            </a:pPr>
            <a:r>
              <a:rPr sz="1100">
                <a:solidFill>
                  <a:srgbClr val="004EA8"/>
                </a:solidFill>
                <a:latin typeface="Arial"/>
              </a:rPr>
              <a:t>•  </a:t>
            </a:r>
            <a:r>
              <a:rPr sz="1100">
                <a:solidFill>
                  <a:srgbClr val="4B4B4B"/>
                </a:solidFill>
                <a:latin typeface="Arial"/>
              </a:rPr>
              <a:t>SCR-DM-06 Batches and resubmissions</a:t>
            </a:r>
          </a:p>
          <a:p>
            <a:pPr>
              <a:spcAft>
                <a:spcPts val="600"/>
              </a:spcAft>
            </a:pPr>
            <a:r>
              <a:rPr sz="1100">
                <a:solidFill>
                  <a:srgbClr val="004EA8"/>
                </a:solidFill>
                <a:latin typeface="Arial"/>
              </a:rPr>
              <a:t>•  </a:t>
            </a:r>
            <a:r>
              <a:rPr sz="1100">
                <a:solidFill>
                  <a:srgbClr val="4B4B4B"/>
                </a:solidFill>
                <a:latin typeface="Arial"/>
              </a:rPr>
              <a:t>SCR-DM-07 Batch</a:t>
            </a:r>
          </a:p>
          <a:p>
            <a:pPr>
              <a:spcAft>
                <a:spcPts val="600"/>
              </a:spcAft>
            </a:pPr>
            <a:r>
              <a:rPr sz="1100">
                <a:solidFill>
                  <a:srgbClr val="004EA8"/>
                </a:solidFill>
                <a:latin typeface="Arial"/>
              </a:rPr>
              <a:t>•  </a:t>
            </a:r>
            <a:r>
              <a:rPr sz="1100">
                <a:solidFill>
                  <a:srgbClr val="4B4B4B"/>
                </a:solidFill>
                <a:latin typeface="Arial"/>
              </a:rPr>
              <a:t>SCR-DM-09 Reconciliation</a:t>
            </a:r>
          </a:p>
          <a:p>
            <a:pPr>
              <a:spcAft>
                <a:spcPts val="600"/>
              </a:spcAft>
            </a:pPr>
            <a:r>
              <a:rPr sz="1100">
                <a:solidFill>
                  <a:srgbClr val="004EA8"/>
                </a:solidFill>
                <a:latin typeface="Arial"/>
              </a:rPr>
              <a:t>•  </a:t>
            </a:r>
            <a:r>
              <a:rPr sz="1100">
                <a:solidFill>
                  <a:srgbClr val="4B4B4B"/>
                </a:solidFill>
                <a:latin typeface="Arial"/>
              </a:rPr>
              <a:t>SCR-DM-10 Sign-off</a:t>
            </a:r>
          </a:p>
          <a:p>
            <a:pPr>
              <a:spcAft>
                <a:spcPts val="600"/>
              </a:spcAft>
            </a:pPr>
            <a:r>
              <a:rPr sz="1100">
                <a:solidFill>
                  <a:srgbClr val="004EA8"/>
                </a:solidFill>
                <a:latin typeface="Arial"/>
              </a:rPr>
              <a:t>•  </a:t>
            </a:r>
            <a:r>
              <a:rPr sz="1100">
                <a:solidFill>
                  <a:srgbClr val="4B4B4B"/>
                </a:solidFill>
                <a:latin typeface="Arial"/>
              </a:rPr>
              <a:t>SCR-DM-11 Opening-Balance Adjustments</a:t>
            </a:r>
          </a:p>
          <a:p>
            <a:pPr>
              <a:spcAft>
                <a:spcPts val="600"/>
              </a:spcAft>
            </a:pPr>
            <a:r>
              <a:rPr sz="1100">
                <a:solidFill>
                  <a:srgbClr val="004EA8"/>
                </a:solidFill>
                <a:latin typeface="Arial"/>
              </a:rPr>
              <a:t>•  </a:t>
            </a:r>
            <a:r>
              <a:rPr sz="1100">
                <a:solidFill>
                  <a:srgbClr val="4B4B4B"/>
                </a:solidFill>
                <a:latin typeface="Arial"/>
              </a:rPr>
              <a:t>SCR-DM-12 Cutover</a:t>
            </a:r>
          </a:p>
          <a:p>
            <a:pPr>
              <a:spcAft>
                <a:spcPts val="600"/>
              </a:spcAft>
            </a:pPr>
            <a:r>
              <a:rPr sz="1100">
                <a:solidFill>
                  <a:srgbClr val="004EA8"/>
                </a:solidFill>
                <a:latin typeface="Arial"/>
              </a:rPr>
              <a:t>•  </a:t>
            </a:r>
            <a:r>
              <a:rPr sz="1100">
                <a:solidFill>
                  <a:srgbClr val="4B4B4B"/>
                </a:solidFill>
                <a:latin typeface="Arial"/>
              </a:rPr>
              <a:t>SCR-DM-13 Run-off and Decommissioning</a:t>
            </a:r>
          </a:p>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p:txBody>
      </p:sp>
    </p:spTree>
  </p:cSld>
  <p:clrMapOvr>
    <a:masterClrMapping/>
  </p:clrMapOvr>
</p:sld>
</file>

<file path=ppt/slides/slide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Audit / Compliance user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80</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An Audit or Compliance officer who needs the closed legacy records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Searches, views, downloads and exports the legacy archive</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NAV-DM-08</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UF-D steps 1, 2, 3</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SCR-DM-14 Legacy Inquiry</a:t>
            </a:r>
          </a:p>
        </p:txBody>
      </p:sp>
    </p:spTree>
  </p:cSld>
  <p:clrMapOvr>
    <a:masterClrMapping/>
  </p:clrMapOvr>
</p:sld>
</file>

<file path=ppt/slides/slide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Compliance reviewer of the access log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81</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Compliance officer who reviews who opened the legacy archive and why</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Reviews the access log of the archive and its monthly digest</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NAV-DM-09</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UF-D steps 4</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SCR-DM-15 Access Log</a:t>
            </a:r>
          </a:p>
        </p:txBody>
      </p:sp>
    </p:spTree>
  </p:cSld>
  <p:clrMapOvr>
    <a:masterClrMapping/>
  </p:clrMapOvr>
</p:sld>
</file>

<file path=ppt/slides/slide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Cashiering user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82</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Cashiering officer of Operations</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Unapplied to Income and Legacy PR 2307 Reversal batches; payments and dispositions on legacy items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NAV-DM-10</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UF-C steps 2, 3, 4, 6</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a:p>
            <a:pPr>
              <a:spcAft>
                <a:spcPts val="600"/>
              </a:spcAft>
            </a:pPr>
            <a:r>
              <a:rPr sz="1100">
                <a:solidFill>
                  <a:srgbClr val="004EA8"/>
                </a:solidFill>
                <a:latin typeface="Arial"/>
              </a:rPr>
              <a:t>•  </a:t>
            </a:r>
            <a:r>
              <a:rPr sz="1100">
                <a:solidFill>
                  <a:srgbClr val="4B4B4B"/>
                </a:solidFill>
                <a:latin typeface="Arial"/>
              </a:rPr>
              <a:t>SCR-DM-18 Unapplied to Income</a:t>
            </a:r>
          </a:p>
          <a:p>
            <a:pPr>
              <a:spcAft>
                <a:spcPts val="600"/>
              </a:spcAft>
            </a:pPr>
            <a:r>
              <a:rPr sz="1100">
                <a:solidFill>
                  <a:srgbClr val="004EA8"/>
                </a:solidFill>
                <a:latin typeface="Arial"/>
              </a:rPr>
              <a:t>•  </a:t>
            </a:r>
            <a:r>
              <a:rPr sz="1100">
                <a:solidFill>
                  <a:srgbClr val="4B4B4B"/>
                </a:solidFill>
                <a:latin typeface="Arial"/>
              </a:rPr>
              <a:t>SCR-DM-19 Legacy PR 2307 Reversal</a:t>
            </a:r>
          </a:p>
          <a:p>
            <a:pPr>
              <a:spcAft>
                <a:spcPts val="600"/>
              </a:spcAft>
            </a:pPr>
            <a:r>
              <a:rPr sz="1100">
                <a:solidFill>
                  <a:srgbClr val="004EA8"/>
                </a:solidFill>
                <a:latin typeface="Arial"/>
              </a:rPr>
              <a:t>•  </a:t>
            </a:r>
            <a:r>
              <a:rPr sz="1100">
                <a:solidFill>
                  <a:srgbClr val="4B4B4B"/>
                </a:solidFill>
                <a:latin typeface="Arial"/>
              </a:rPr>
              <a:t>SCR-DM-20 DP PR Legacy Reversal</a:t>
            </a:r>
          </a:p>
        </p:txBody>
      </p:sp>
    </p:spTree>
  </p:cSld>
  <p:clrMapOvr>
    <a:masterClrMapping/>
  </p:clrMapOvr>
</p:sld>
</file>

<file path=ppt/slides/slide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Cashiering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83</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 of Cashiering</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or returns the Unapplied to Income and Legacy PR 2307 Reversal batches of the Cashiering users (first approval)</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NAV-DM-11</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(5)</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a:p>
            <a:pPr>
              <a:spcAft>
                <a:spcPts val="600"/>
              </a:spcAft>
            </a:pPr>
            <a:r>
              <a:rPr sz="1100">
                <a:solidFill>
                  <a:srgbClr val="004EA8"/>
                </a:solidFill>
                <a:latin typeface="Arial"/>
              </a:rPr>
              <a:t>•  </a:t>
            </a:r>
            <a:r>
              <a:rPr sz="1100">
                <a:solidFill>
                  <a:srgbClr val="4B4B4B"/>
                </a:solidFill>
                <a:latin typeface="Arial"/>
              </a:rPr>
              <a:t>SCR-DM-18 Unapplied to Income</a:t>
            </a:r>
          </a:p>
          <a:p>
            <a:pPr>
              <a:spcAft>
                <a:spcPts val="600"/>
              </a:spcAft>
            </a:pPr>
            <a:r>
              <a:rPr sz="1100">
                <a:solidFill>
                  <a:srgbClr val="004EA8"/>
                </a:solidFill>
                <a:latin typeface="Arial"/>
              </a:rPr>
              <a:t>•  </a:t>
            </a:r>
            <a:r>
              <a:rPr sz="1100">
                <a:solidFill>
                  <a:srgbClr val="4B4B4B"/>
                </a:solidFill>
                <a:latin typeface="Arial"/>
              </a:rPr>
              <a:t>SCR-DM-19 Legacy PR 2307 Reversal</a:t>
            </a:r>
          </a:p>
          <a:p>
            <a:pPr>
              <a:spcAft>
                <a:spcPts val="600"/>
              </a:spcAft>
            </a:pPr>
            <a:r>
              <a:rPr sz="1100">
                <a:solidFill>
                  <a:srgbClr val="004EA8"/>
                </a:solidFill>
                <a:latin typeface="Arial"/>
              </a:rPr>
              <a:t>•  </a:t>
            </a:r>
            <a:r>
              <a:rPr sz="1100">
                <a:solidFill>
                  <a:srgbClr val="4B4B4B"/>
                </a:solidFill>
                <a:latin typeface="Arial"/>
              </a:rPr>
              <a:t>SCR-DM-20 DP PR Legacy Reversal</a:t>
            </a:r>
          </a:p>
        </p:txBody>
      </p:sp>
    </p:spTree>
  </p:cSld>
  <p:clrMapOvr>
    <a:masterClrMapping/>
  </p:clrMapOvr>
</p:sld>
</file>

<file path=ppt/slides/slide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Top management approver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84</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42672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member of top management named for the reclassification of unapplied payments to income</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Gives the second approval of an Unapplied to Income batch, or returns it with the reason</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NAV-DM-12</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UF-C steps 5</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(1)</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SCR-DM-18 Unapplied to Income</a:t>
            </a:r>
          </a:p>
        </p:txBody>
      </p:sp>
    </p:spTree>
  </p:cSld>
  <p:clrMapOvr>
    <a:masterClrMapping/>
  </p:clrMapOvr>
</p:sld>
</file>

<file path=ppt/slides/slide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Commission user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85</a:t>
            </a:r>
          </a:p>
        </p:txBody>
      </p:sp>
      <p:graphicFrame>
        <p:nvGraphicFramePr>
          <p:cNvPr id="9" name="Table 8"/>
          <p:cNvGraphicFramePr>
            <a:graphicFrameLocks noGrp="1"/>
          </p:cNvGraphicFramePr>
          <p:nvPr/>
        </p:nvGraphicFramePr>
        <p:xfrm>
          <a:off x="548640" y="1307592"/>
          <a:ext cx="5410047" cy="103632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Commission officer of Operations</a:t>
                      </a:r>
                    </a:p>
                  </a:txBody>
                  <a:tcPr marL="54864" marR="54864" marT="27432" marB="27432">
                    <a:solidFill>
                      <a:srgbClr val="FFFFFF"/>
                    </a:solidFill>
                  </a:tcPr>
                </a:tc>
              </a:tr>
              <a:tr h="25908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DP PR Legacy Reversal batches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NAV-DM-13</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UF-C steps 7</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a:p>
            <a:pPr>
              <a:spcAft>
                <a:spcPts val="600"/>
              </a:spcAft>
            </a:pPr>
            <a:r>
              <a:rPr sz="1100">
                <a:solidFill>
                  <a:srgbClr val="004EA8"/>
                </a:solidFill>
                <a:latin typeface="Arial"/>
              </a:rPr>
              <a:t>•  </a:t>
            </a:r>
            <a:r>
              <a:rPr sz="1100">
                <a:solidFill>
                  <a:srgbClr val="4B4B4B"/>
                </a:solidFill>
                <a:latin typeface="Arial"/>
              </a:rPr>
              <a:t>SCR-DM-19 Legacy PR 2307 Reversal</a:t>
            </a:r>
          </a:p>
          <a:p>
            <a:pPr>
              <a:spcAft>
                <a:spcPts val="600"/>
              </a:spcAft>
            </a:pPr>
            <a:r>
              <a:rPr sz="1100">
                <a:solidFill>
                  <a:srgbClr val="004EA8"/>
                </a:solidFill>
                <a:latin typeface="Arial"/>
              </a:rPr>
              <a:t>•  </a:t>
            </a:r>
            <a:r>
              <a:rPr sz="1100">
                <a:solidFill>
                  <a:srgbClr val="4B4B4B"/>
                </a:solidFill>
                <a:latin typeface="Arial"/>
              </a:rPr>
              <a:t>SCR-DM-20 DP PR Legacy Reversal</a:t>
            </a:r>
          </a:p>
        </p:txBody>
      </p:sp>
    </p:spTree>
  </p:cSld>
  <p:clrMapOvr>
    <a:masterClrMapping/>
  </p:clrMapOvr>
</p:sld>
</file>

<file path=ppt/slides/slide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Commission team lead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86</a:t>
            </a:r>
          </a:p>
        </p:txBody>
      </p:sp>
      <p:graphicFrame>
        <p:nvGraphicFramePr>
          <p:cNvPr id="9" name="Table 8"/>
          <p:cNvGraphicFramePr>
            <a:graphicFrameLocks noGrp="1"/>
          </p:cNvGraphicFramePr>
          <p:nvPr/>
        </p:nvGraphicFramePr>
        <p:xfrm>
          <a:off x="548640" y="1307592"/>
          <a:ext cx="5410047" cy="120396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The team lead of Commission</a:t>
                      </a:r>
                    </a:p>
                  </a:txBody>
                  <a:tcPr marL="54864" marR="54864" marT="27432" marB="27432">
                    <a:solidFill>
                      <a:srgbClr val="FFFFFF"/>
                    </a:solidFill>
                  </a:tcPr>
                </a:tc>
              </a:tr>
              <a:tr h="42672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Approves or returns the DP PR Legacy Reversal batches of the Commission users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NAV-DM-14</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No step of the flows of this set</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(4)</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a:p>
            <a:pPr>
              <a:spcAft>
                <a:spcPts val="600"/>
              </a:spcAft>
            </a:pPr>
            <a:r>
              <a:rPr sz="1100">
                <a:solidFill>
                  <a:srgbClr val="004EA8"/>
                </a:solidFill>
                <a:latin typeface="Arial"/>
              </a:rPr>
              <a:t>•  </a:t>
            </a:r>
            <a:r>
              <a:rPr sz="1100">
                <a:solidFill>
                  <a:srgbClr val="4B4B4B"/>
                </a:solidFill>
                <a:latin typeface="Arial"/>
              </a:rPr>
              <a:t>SCR-DM-19 Legacy PR 2307 Reversal</a:t>
            </a:r>
          </a:p>
          <a:p>
            <a:pPr>
              <a:spcAft>
                <a:spcPts val="600"/>
              </a:spcAft>
            </a:pPr>
            <a:r>
              <a:rPr sz="1100">
                <a:solidFill>
                  <a:srgbClr val="004EA8"/>
                </a:solidFill>
                <a:latin typeface="Arial"/>
              </a:rPr>
              <a:t>•  </a:t>
            </a:r>
            <a:r>
              <a:rPr sz="1100">
                <a:solidFill>
                  <a:srgbClr val="4B4B4B"/>
                </a:solidFill>
                <a:latin typeface="Arial"/>
              </a:rPr>
              <a:t>SCR-DM-20 DP PR Legacy Reversal</a:t>
            </a:r>
          </a:p>
        </p:txBody>
      </p:sp>
    </p:spTree>
  </p:cSld>
  <p:clrMapOvr>
    <a:masterClrMapping/>
  </p:clrMapOvr>
</p:sld>
</file>

<file path=ppt/slides/slide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Persona: Marketing Account Officer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87</a:t>
            </a:r>
          </a:p>
        </p:txBody>
      </p:sp>
      <p:graphicFrame>
        <p:nvGraphicFramePr>
          <p:cNvPr id="9" name="Table 8"/>
          <p:cNvGraphicFramePr>
            <a:graphicFrameLocks noGrp="1"/>
          </p:cNvGraphicFramePr>
          <p:nvPr/>
        </p:nvGraphicFramePr>
        <p:xfrm>
          <a:off x="548640" y="1307592"/>
          <a:ext cx="5410047" cy="1371600"/>
        </p:xfrm>
        <a:graphic>
          <a:graphicData uri="http://schemas.openxmlformats.org/drawingml/2006/table">
            <a:tbl>
              <a:tblPr bandRow="1">
                <a:tableStyleId>{5C22544A-7EE6-4342-B048-85BDC9FD1C3A}</a:tableStyleId>
              </a:tblPr>
              <a:tblGrid>
                <a:gridCol w="1737360"/>
                <a:gridCol w="3672687"/>
              </a:tblGrid>
              <a:tr h="259080">
                <a:tc>
                  <a:txBody>
                    <a:bodyPr/>
                    <a:lstStyle/>
                    <a:p>
                      <a:r>
                        <a:rPr sz="1100" b="1">
                          <a:solidFill>
                            <a:srgbClr val="004EA8"/>
                          </a:solidFill>
                          <a:latin typeface="Arial"/>
                        </a:rPr>
                        <a:t>Who</a:t>
                      </a:r>
                    </a:p>
                  </a:txBody>
                  <a:tcPr marL="54864" marR="54864" marT="27432" marB="27432">
                    <a:solidFill>
                      <a:srgbClr val="E5F5FF"/>
                    </a:solidFill>
                  </a:tcPr>
                </a:tc>
                <a:tc>
                  <a:txBody>
                    <a:bodyPr/>
                    <a:lstStyle/>
                    <a:p>
                      <a:r>
                        <a:rPr sz="1100" b="0">
                          <a:solidFill>
                            <a:srgbClr val="4B4B4B"/>
                          </a:solidFill>
                          <a:latin typeface="Arial"/>
                        </a:rPr>
                        <a:t>A Marketing account officer who serves the clients</a:t>
                      </a:r>
                    </a:p>
                  </a:txBody>
                  <a:tcPr marL="54864" marR="54864" marT="27432" marB="27432">
                    <a:solidFill>
                      <a:srgbClr val="FFFFFF"/>
                    </a:solidFill>
                  </a:tcPr>
                </a:tc>
              </a:tr>
              <a:tr h="594360">
                <a:tc>
                  <a:txBody>
                    <a:bodyPr/>
                    <a:lstStyle/>
                    <a:p>
                      <a:r>
                        <a:rPr sz="1100" b="1">
                          <a:solidFill>
                            <a:srgbClr val="004EA8"/>
                          </a:solidFill>
                          <a:latin typeface="Arial"/>
                        </a:rPr>
                        <a:t>What they do here</a:t>
                      </a:r>
                    </a:p>
                  </a:txBody>
                  <a:tcPr marL="54864" marR="54864" marT="27432" marB="27432">
                    <a:solidFill>
                      <a:srgbClr val="E5F5FF"/>
                    </a:solidFill>
                  </a:tcPr>
                </a:tc>
                <a:tc>
                  <a:txBody>
                    <a:bodyPr/>
                    <a:lstStyle/>
                    <a:p>
                      <a:r>
                        <a:rPr sz="1100" b="0">
                          <a:solidFill>
                            <a:srgbClr val="4B4B4B"/>
                          </a:solidFill>
                          <a:latin typeface="Arial"/>
                        </a:rPr>
                        <a:t>Finds the migrated clients, policies and invoices on the usual screens, marked LEGACY, and works them like BIBS records</a:t>
                      </a:r>
                    </a:p>
                  </a:txBody>
                  <a:tcPr marL="54864" marR="54864" marT="27432" marB="27432">
                    <a:solidFill>
                      <a:srgbClr val="FFFFFF"/>
                    </a:solidFill>
                  </a:tcPr>
                </a:tc>
              </a:tr>
              <a:tr h="259080">
                <a:tc>
                  <a:txBody>
                    <a:bodyPr/>
                    <a:lstStyle/>
                    <a:p>
                      <a:r>
                        <a:rPr sz="1100" b="1">
                          <a:solidFill>
                            <a:srgbClr val="004EA8"/>
                          </a:solidFill>
                          <a:latin typeface="Arial"/>
                        </a:rPr>
                        <a:t>Landing page and menu</a:t>
                      </a:r>
                    </a:p>
                  </a:txBody>
                  <a:tcPr marL="54864" marR="54864" marT="27432" marB="27432">
                    <a:solidFill>
                      <a:srgbClr val="E5F5FF"/>
                    </a:solidFill>
                  </a:tcPr>
                </a:tc>
                <a:tc>
                  <a:txBody>
                    <a:bodyPr/>
                    <a:lstStyle/>
                    <a:p>
                      <a:r>
                        <a:rPr sz="1100" b="0">
                          <a:solidFill>
                            <a:srgbClr val="4B4B4B"/>
                          </a:solidFill>
                          <a:latin typeface="Arial"/>
                        </a:rPr>
                        <a:t>NAV-DM-15</a:t>
                      </a:r>
                    </a:p>
                  </a:txBody>
                  <a:tcPr marL="54864" marR="54864" marT="27432" marB="27432">
                    <a:solidFill>
                      <a:srgbClr val="FFFFFF"/>
                    </a:solidFill>
                  </a:tcPr>
                </a:tc>
              </a:tr>
              <a:tr h="259080">
                <a:tc>
                  <a:txBody>
                    <a:bodyPr/>
                    <a:lstStyle/>
                    <a:p>
                      <a:r>
                        <a:rPr sz="1100" b="1">
                          <a:solidFill>
                            <a:srgbClr val="004EA8"/>
                          </a:solidFill>
                          <a:latin typeface="Arial"/>
                        </a:rPr>
                        <a:t>Flows</a:t>
                      </a:r>
                    </a:p>
                  </a:txBody>
                  <a:tcPr marL="54864" marR="54864" marT="27432" marB="27432">
                    <a:solidFill>
                      <a:srgbClr val="E5F5FF"/>
                    </a:solidFill>
                  </a:tcPr>
                </a:tc>
                <a:tc>
                  <a:txBody>
                    <a:bodyPr/>
                    <a:lstStyle/>
                    <a:p>
                      <a:r>
                        <a:rPr sz="1100" b="0">
                          <a:solidFill>
                            <a:srgbClr val="4B4B4B"/>
                          </a:solidFill>
                          <a:latin typeface="Arial"/>
                        </a:rPr>
                        <a:t>UF-C steps 1</a:t>
                      </a:r>
                    </a:p>
                  </a:txBody>
                  <a:tcPr marL="54864" marR="54864" marT="27432" marB="27432">
                    <a:solidFill>
                      <a:srgbClr val="FFFFFF"/>
                    </a:solidFill>
                  </a:tcPr>
                </a:tc>
              </a:tr>
            </a:tbl>
          </a:graphicData>
        </a:graphic>
      </p:graphicFrame>
      <p:sp>
        <p:nvSpPr>
          <p:cNvPr id="10" name="TextBox 9"/>
          <p:cNvSpPr txBox="1"/>
          <p:nvPr/>
        </p:nvSpPr>
        <p:spPr>
          <a:xfrm>
            <a:off x="6233007" y="1261872"/>
            <a:ext cx="5410047" cy="320040"/>
          </a:xfrm>
          <a:prstGeom prst="rect">
            <a:avLst/>
          </a:prstGeom>
          <a:noFill/>
        </p:spPr>
        <p:txBody>
          <a:bodyPr wrap="square" anchor="t" lIns="45720" rIns="45720">
            <a:spAutoFit/>
          </a:bodyPr>
          <a:lstStyle/>
          <a:p>
            <a:r>
              <a:rPr sz="1300" b="1" i="0">
                <a:solidFill>
                  <a:srgbClr val="004EA8"/>
                </a:solidFill>
                <a:latin typeface="Arial"/>
              </a:rPr>
              <a:t>Screens this persona opens (2)</a:t>
            </a:r>
          </a:p>
        </p:txBody>
      </p:sp>
      <p:sp>
        <p:nvSpPr>
          <p:cNvPr id="11" name="TextBox 10"/>
          <p:cNvSpPr txBox="1"/>
          <p:nvPr/>
        </p:nvSpPr>
        <p:spPr>
          <a:xfrm>
            <a:off x="6233007" y="1627632"/>
            <a:ext cx="5410047" cy="4663440"/>
          </a:xfrm>
          <a:prstGeom prst="rect">
            <a:avLst/>
          </a:prstGeom>
          <a:noFill/>
        </p:spPr>
        <p:txBody>
          <a:bodyPr wrap="square">
            <a:spAutoFit/>
          </a:bodyPr>
          <a:lstStyle/>
          <a:p>
            <a:pPr>
              <a:spcAft>
                <a:spcPts val="600"/>
              </a:spcAft>
            </a:pPr>
            <a:r>
              <a:rPr sz="1100">
                <a:solidFill>
                  <a:srgbClr val="004EA8"/>
                </a:solidFill>
                <a:latin typeface="Arial"/>
              </a:rPr>
              <a:t>•  </a:t>
            </a:r>
            <a:r>
              <a:rPr sz="1100">
                <a:solidFill>
                  <a:srgbClr val="4B4B4B"/>
                </a:solidFill>
                <a:latin typeface="Arial"/>
              </a:rPr>
              <a:t>SCR-DM-16 LEGACY badge and Origin filter on the lists</a:t>
            </a:r>
          </a:p>
          <a:p>
            <a:pPr>
              <a:spcAft>
                <a:spcPts val="600"/>
              </a:spcAft>
            </a:pPr>
            <a:r>
              <a:rPr sz="1100">
                <a:solidFill>
                  <a:srgbClr val="004EA8"/>
                </a:solidFill>
                <a:latin typeface="Arial"/>
              </a:rPr>
              <a:t>•  </a:t>
            </a:r>
            <a:r>
              <a:rPr sz="1100">
                <a:solidFill>
                  <a:srgbClr val="4B4B4B"/>
                </a:solidFill>
                <a:latin typeface="Arial"/>
              </a:rPr>
              <a:t>SCR-DM-17 Legacy invoice on Invoice 360</a:t>
            </a:r>
          </a:p>
        </p:txBody>
      </p:sp>
    </p:spTree>
  </p:cSld>
  <p:clrMapOvr>
    <a:masterClrMapping/>
  </p:clrMapOvr>
</p:sld>
</file>

<file path=ppt/slides/slide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End-to-end flows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flow as a swimlane of the personas, then one slide per step</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UF-A A data object from its decision to its acceptance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89</a:t>
            </a:r>
          </a:p>
        </p:txBody>
      </p:sp>
      <p:graphicFrame>
        <p:nvGraphicFramePr>
          <p:cNvPr id="9" name="Table 8"/>
          <p:cNvGraphicFramePr>
            <a:graphicFrameLocks noGrp="1"/>
          </p:cNvGraphicFramePr>
          <p:nvPr/>
        </p:nvGraphicFramePr>
        <p:xfrm>
          <a:off x="548640" y="1307592"/>
          <a:ext cx="11094415" cy="2377430"/>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UF-A A data object from its decision to its acceptance</a:t>
                      </a:r>
                    </a:p>
                  </a:txBody>
                  <a:tcPr marL="54864" marR="54864" marT="27432" marB="27432">
                    <a:solidFill>
                      <a:srgbClr val="FFFFFF"/>
                    </a:solidFill>
                  </a:tcPr>
                </a:tc>
              </a:tr>
              <a:tr h="822956">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Data Migration Lead proposes the class of an object and its business owner decides it; the Data Steward maps the legacy codes and the owner signs the mapping; the operator receives the extract, plans and validates a batch; the steward reviews the doubtful client pairs; the owner waives the rows that may load; the batch is loaded and reconciled, the breaks explained, and the owner and the lead accept the object.</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Object C01 (clients) of the seed data, its code maps, extracts and batches</a:t>
                      </a:r>
                    </a:p>
                  </a:txBody>
                  <a:tcPr marL="54864" marR="54864" marT="27432" marB="27432">
                    <a:solidFill>
                      <a:srgbClr val="FFFFFF"/>
                    </a:solidFill>
                  </a:tcPr>
                </a:tc>
              </a:tr>
              <a:tr h="457198">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Data Migration Lead, Data owner (business owner of an object), Data Steward, Migration Operator, Reconciliation approver (Head of Comptrollership)</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14 steps, 9 hand-offs, 3 approval steps</a:t>
                      </a:r>
                    </a:p>
                  </a:txBody>
                  <a:tcPr marL="54864" marR="54864" marT="27432" marB="27432">
                    <a:solidFill>
                      <a:srgbClr val="FFFFFF"/>
                    </a:solidFill>
                  </a:tcPr>
                </a:tc>
              </a:tr>
              <a:tr h="274319">
                <a:tc>
                  <a:txBody>
                    <a:bodyPr/>
                    <a:lstStyle/>
                    <a:p>
                      <a:r>
                        <a:rPr sz="1200" b="1">
                          <a:solidFill>
                            <a:srgbClr val="004EA8"/>
                          </a:solidFill>
                          <a:latin typeface="Arial"/>
                        </a:rPr>
                        <a:t>Data Migration Handbook section</a:t>
                      </a:r>
                    </a:p>
                  </a:txBody>
                  <a:tcPr marL="54864" marR="54864" marT="27432" marB="27432">
                    <a:solidFill>
                      <a:srgbClr val="E5F5FF"/>
                    </a:solidFill>
                  </a:tcPr>
                </a:tc>
                <a:tc>
                  <a:txBody>
                    <a:bodyPr/>
                    <a:lstStyle/>
                    <a:p>
                      <a:r>
                        <a:rPr sz="1200" b="0">
                          <a:solidFill>
                            <a:srgbClr val="4B4B4B"/>
                          </a:solidFill>
                          <a:latin typeface="Arial"/>
                        </a:rPr>
                        <a:t>The screens of the flow in the screen specifications (images of the screen catalogue)</a:t>
                      </a:r>
                    </a:p>
                  </a:txBody>
                  <a:tcPr marL="54864" marR="54864" marT="27432" marB="27432">
                    <a:solidFill>
                      <a:srgbClr val="FFFFFF"/>
                    </a:solidFill>
                  </a:tcPr>
                </a:tc>
              </a:tr>
            </a:tbl>
          </a:graphicData>
        </a:graphic>
      </p:graphicFrame>
    </p:spTree>
  </p:cSld>
  <p:clrMapOvr>
    <a:masterClrMapping/>
  </p:clrMapOvr>
</p:sld>
</file>

<file path=ppt/slides/slide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swimlane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90</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Data Migration Lead</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Data owner (business owner of an object)</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Data Steward</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Migration Operator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Data Objects and the decision of an object</a:t>
            </a:r>
          </a:p>
        </p:txBody>
      </p:sp>
      <p:sp>
        <p:nvSpPr>
          <p:cNvPr id="22" name="Rounded Rectangle 21"/>
          <p:cNvSpPr/>
          <p:nvPr/>
        </p:nvSpPr>
        <p:spPr>
          <a:xfrm>
            <a:off x="3596220"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Data Objects and the decision of an object</a:t>
            </a:r>
          </a:p>
        </p:txBody>
      </p:sp>
      <p:sp>
        <p:nvSpPr>
          <p:cNvPr id="23" name="Rounded Rectangle 22"/>
          <p:cNvSpPr/>
          <p:nvPr/>
        </p:nvSpPr>
        <p:spPr>
          <a:xfrm>
            <a:off x="3900600"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4" name="Rounded Rectangle 23"/>
          <p:cNvSpPr/>
          <p:nvPr/>
        </p:nvSpPr>
        <p:spPr>
          <a:xfrm>
            <a:off x="4760136"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Code Maps and the versions of a code map</a:t>
            </a:r>
          </a:p>
        </p:txBody>
      </p:sp>
      <p:sp>
        <p:nvSpPr>
          <p:cNvPr id="25" name="Rounded Rectangle 24"/>
          <p:cNvSpPr/>
          <p:nvPr/>
        </p:nvSpPr>
        <p:spPr>
          <a:xfrm>
            <a:off x="5924052" y="313639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Code Maps and the versions of a code map</a:t>
            </a:r>
          </a:p>
        </p:txBody>
      </p:sp>
      <p:sp>
        <p:nvSpPr>
          <p:cNvPr id="26" name="Rounded Rectangle 25"/>
          <p:cNvSpPr/>
          <p:nvPr/>
        </p:nvSpPr>
        <p:spPr>
          <a:xfrm>
            <a:off x="7087968" y="2267712"/>
            <a:ext cx="962748"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Sign-off</a:t>
            </a:r>
          </a:p>
        </p:txBody>
      </p:sp>
      <p:sp>
        <p:nvSpPr>
          <p:cNvPr id="27" name="Rounded Rectangle 26"/>
          <p:cNvSpPr/>
          <p:nvPr/>
        </p:nvSpPr>
        <p:spPr>
          <a:xfrm>
            <a:off x="7392348"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8251884"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Extracts</a:t>
            </a:r>
          </a:p>
        </p:txBody>
      </p:sp>
      <p:sp>
        <p:nvSpPr>
          <p:cNvPr id="29" name="Rounded Rectangle 28"/>
          <p:cNvSpPr/>
          <p:nvPr/>
        </p:nvSpPr>
        <p:spPr>
          <a:xfrm>
            <a:off x="9415800"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Extracts</a:t>
            </a:r>
          </a:p>
        </p:txBody>
      </p:sp>
      <p:sp>
        <p:nvSpPr>
          <p:cNvPr id="30" name="Rounded Rectangle 29"/>
          <p:cNvSpPr/>
          <p:nvPr/>
        </p:nvSpPr>
        <p:spPr>
          <a:xfrm>
            <a:off x="10579716" y="4005072"/>
            <a:ext cx="962748"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8. </a:t>
            </a:r>
            <a:r>
              <a:rPr sz="800">
                <a:solidFill>
                  <a:srgbClr val="2E2E2E"/>
                </a:solidFill>
                <a:latin typeface="Arial"/>
              </a:rPr>
              <a:t>Batches and resubmissions</a:t>
            </a:r>
          </a:p>
        </p:txBody>
      </p:sp>
      <p:cxnSp>
        <p:nvCxnSpPr>
          <p:cNvPr id="31" name="Connector 30"/>
          <p:cNvCxnSpPr/>
          <p:nvPr/>
        </p:nvCxnSpPr>
        <p:spPr>
          <a:xfrm>
            <a:off x="3395052"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4558968"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5722884" y="347929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6886800"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8050716" y="261061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6" name="Connector 35"/>
          <p:cNvCxnSpPr/>
          <p:nvPr/>
        </p:nvCxnSpPr>
        <p:spPr>
          <a:xfrm>
            <a:off x="9214632" y="434797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10378548" y="434797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sp>
        <p:nvSpPr>
          <p:cNvPr id="38" name="TextBox 37"/>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swimlane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91</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Migration Operator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Data Steward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Data owner (business owner of an object)</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Reconciliation approver (Head of Comptrollership)</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548640" y="478231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94360" y="4782312"/>
            <a:ext cx="1691640" cy="832104"/>
          </a:xfrm>
          <a:prstGeom prst="rect">
            <a:avLst/>
          </a:prstGeom>
          <a:noFill/>
        </p:spPr>
        <p:txBody>
          <a:bodyPr wrap="square" anchor="ctr" lIns="45720" rIns="45720">
            <a:spAutoFit/>
          </a:bodyPr>
          <a:lstStyle/>
          <a:p>
            <a:r>
              <a:rPr sz="1000" b="1" i="0">
                <a:solidFill>
                  <a:srgbClr val="FFFFFF"/>
                </a:solidFill>
                <a:latin typeface="Arial"/>
              </a:rPr>
              <a:t>Data Migration Lead</a:t>
            </a:r>
          </a:p>
        </p:txBody>
      </p:sp>
      <p:sp>
        <p:nvSpPr>
          <p:cNvPr id="23" name="Rectangle 22"/>
          <p:cNvSpPr/>
          <p:nvPr/>
        </p:nvSpPr>
        <p:spPr>
          <a:xfrm>
            <a:off x="2331720" y="478231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2432304"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9. </a:t>
            </a:r>
            <a:r>
              <a:rPr sz="800">
                <a:solidFill>
                  <a:srgbClr val="2E2E2E"/>
                </a:solidFill>
                <a:latin typeface="Arial"/>
              </a:rPr>
              <a:t>Batch</a:t>
            </a:r>
          </a:p>
        </p:txBody>
      </p:sp>
      <p:sp>
        <p:nvSpPr>
          <p:cNvPr id="25" name="Rounded Rectangle 24"/>
          <p:cNvSpPr/>
          <p:nvPr/>
        </p:nvSpPr>
        <p:spPr>
          <a:xfrm>
            <a:off x="3984193"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10. </a:t>
            </a:r>
            <a:r>
              <a:rPr sz="800">
                <a:solidFill>
                  <a:srgbClr val="2E2E2E"/>
                </a:solidFill>
                <a:latin typeface="Arial"/>
              </a:rPr>
              <a:t>Client Matching</a:t>
            </a:r>
          </a:p>
        </p:txBody>
      </p:sp>
      <p:sp>
        <p:nvSpPr>
          <p:cNvPr id="26" name="Rounded Rectangle 25"/>
          <p:cNvSpPr/>
          <p:nvPr/>
        </p:nvSpPr>
        <p:spPr>
          <a:xfrm>
            <a:off x="5536082" y="313639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11. </a:t>
            </a:r>
            <a:r>
              <a:rPr sz="800">
                <a:solidFill>
                  <a:srgbClr val="2E2E2E"/>
                </a:solidFill>
                <a:latin typeface="Arial"/>
              </a:rPr>
              <a:t>Batch</a:t>
            </a:r>
          </a:p>
        </p:txBody>
      </p:sp>
      <p:sp>
        <p:nvSpPr>
          <p:cNvPr id="27" name="Rounded Rectangle 26"/>
          <p:cNvSpPr/>
          <p:nvPr/>
        </p:nvSpPr>
        <p:spPr>
          <a:xfrm>
            <a:off x="7087971" y="400507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12. </a:t>
            </a:r>
            <a:r>
              <a:rPr sz="800">
                <a:solidFill>
                  <a:srgbClr val="2E2E2E"/>
                </a:solidFill>
                <a:latin typeface="Arial"/>
              </a:rPr>
              <a:t>Reconciliation</a:t>
            </a:r>
          </a:p>
        </p:txBody>
      </p:sp>
      <p:sp>
        <p:nvSpPr>
          <p:cNvPr id="28" name="Rounded Rectangle 27"/>
          <p:cNvSpPr/>
          <p:nvPr/>
        </p:nvSpPr>
        <p:spPr>
          <a:xfrm>
            <a:off x="8639860" y="226771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13. </a:t>
            </a:r>
            <a:r>
              <a:rPr sz="800">
                <a:solidFill>
                  <a:srgbClr val="2E2E2E"/>
                </a:solidFill>
                <a:latin typeface="Arial"/>
              </a:rPr>
              <a:t>Reconciliation</a:t>
            </a:r>
          </a:p>
        </p:txBody>
      </p:sp>
      <p:sp>
        <p:nvSpPr>
          <p:cNvPr id="29" name="Rounded Rectangle 28"/>
          <p:cNvSpPr/>
          <p:nvPr/>
        </p:nvSpPr>
        <p:spPr>
          <a:xfrm>
            <a:off x="10191749" y="4873752"/>
            <a:ext cx="1350721"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14. </a:t>
            </a:r>
            <a:r>
              <a:rPr sz="800">
                <a:solidFill>
                  <a:srgbClr val="2E2E2E"/>
                </a:solidFill>
                <a:latin typeface="Arial"/>
              </a:rPr>
              <a:t>Batch</a:t>
            </a:r>
          </a:p>
        </p:txBody>
      </p:sp>
      <p:sp>
        <p:nvSpPr>
          <p:cNvPr id="30" name="Rounded Rectangle 29"/>
          <p:cNvSpPr/>
          <p:nvPr/>
        </p:nvSpPr>
        <p:spPr>
          <a:xfrm>
            <a:off x="10884102" y="478231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cxnSp>
        <p:nvCxnSpPr>
          <p:cNvPr id="31" name="Connector 30"/>
          <p:cNvCxnSpPr/>
          <p:nvPr/>
        </p:nvCxnSpPr>
        <p:spPr>
          <a:xfrm>
            <a:off x="3783025"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5334914"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a:off x="6886803"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flipV="1">
            <a:off x="8438692" y="261061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5" name="Connector 34"/>
          <p:cNvCxnSpPr/>
          <p:nvPr/>
        </p:nvCxnSpPr>
        <p:spPr>
          <a:xfrm>
            <a:off x="9990581" y="2610612"/>
            <a:ext cx="201168" cy="26060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6" name="TextBox 35"/>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UF-A step 1 of 14: Data Objects and the decision of an object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02-01-list.png"/>
          <p:cNvPicPr>
            <a:picLocks noChangeAspect="1"/>
          </p:cNvPicPr>
          <p:nvPr/>
        </p:nvPicPr>
        <p:blipFill>
          <a:blip r:embed="rId3"/>
          <a:stretch>
            <a:fillRect/>
          </a:stretch>
        </p:blipFill>
        <p:spPr>
          <a:xfrm>
            <a:off x="1385466" y="1261872"/>
            <a:ext cx="5991763"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SCR-DM-02 Data Objects register with the class and status of each object</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Migration Lead: Opens Data Objects, finds the object and submits the proposed class for decision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Shows the decision as For decision and notifies the business owner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object in the register with its class and status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Data owner (business owner of an object) on Data Objects and the decision of an object</a:t>
            </a:r>
          </a:p>
        </p:txBody>
      </p:sp>
    </p:spTree>
  </p:cSld>
  <p:clrMapOvr>
    <a:masterClrMapping/>
  </p:clrMapOvr>
</p:sld>
</file>

<file path=ppt/slides/slide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UF-A step 2 of 14: Data Objects and the decision of an object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57.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SCR-DM-02 Object C01 with the four criteria, the rationale and the decision history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owner (business owner of an object): Opens the object, reads the four criteria and the rationale and clicks Approve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Decides the class (gate G1) and keeps the decision in the history</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Toast: the decision is approved; the history lists the decision with the name of the owner</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Data Steward on Code Maps and the versions of a code map</a:t>
            </a:r>
          </a:p>
        </p:txBody>
      </p:sp>
    </p:spTree>
  </p:cSld>
  <p:clrMapOvr>
    <a:masterClrMapping/>
  </p:clrMapOvr>
</p:sld>
</file>

<file path=ppt/slides/slide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UF-A step 2 of 14: Data Objects and the decision of an object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58.png"/>
          <p:cNvPicPr>
            <a:picLocks noChangeAspect="1"/>
          </p:cNvPicPr>
          <p:nvPr/>
        </p:nvPicPr>
        <p:blipFill>
          <a:blip r:embed="rId3"/>
          <a:stretch>
            <a:fillRect/>
          </a:stretch>
        </p:blipFill>
        <p:spPr>
          <a:xfrm>
            <a:off x="548640" y="1261872"/>
            <a:ext cx="7665415" cy="460255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SCR-DM-02 Object C01 with the four criteria, the rationale and the decision history (part 2 of 3)</a:t>
            </a:r>
          </a:p>
        </p:txBody>
      </p:sp>
    </p:spTree>
  </p:cSld>
  <p:clrMapOvr>
    <a:masterClrMapping/>
  </p:clrMapOvr>
</p:sld>
</file>

<file path=ppt/slides/slide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UF-A step 2 of 14: Data Objects and the decision of an object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59.png"/>
          <p:cNvPicPr>
            <a:picLocks noChangeAspect="1"/>
          </p:cNvPicPr>
          <p:nvPr/>
        </p:nvPicPr>
        <p:blipFill>
          <a:blip r:embed="rId3"/>
          <a:stretch>
            <a:fillRect/>
          </a:stretch>
        </p:blipFill>
        <p:spPr>
          <a:xfrm>
            <a:off x="548640" y="1261872"/>
            <a:ext cx="7665415" cy="47578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SCR-DM-02 Object C01 with the four criteria, the rationale and the decision history (part 3 of 3)</a:t>
            </a:r>
          </a:p>
        </p:txBody>
      </p:sp>
    </p:spTree>
  </p:cSld>
  <p:clrMapOvr>
    <a:masterClrMapping/>
  </p:clrMapOvr>
</p:sld>
</file>

<file path=ppt/slides/slide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UF-A step 3 of 14: Code Maps and the versions of a code map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03-03-entry.png"/>
          <p:cNvPicPr>
            <a:picLocks noChangeAspect="1"/>
          </p:cNvPicPr>
          <p:nvPr/>
        </p:nvPicPr>
        <p:blipFill>
          <a:blip r:embed="rId3"/>
          <a:stretch>
            <a:fillRect/>
          </a:stretch>
        </p:blipFill>
        <p:spPr>
          <a:xfrm>
            <a:off x="548640" y="1261872"/>
            <a:ext cx="7665415" cy="363481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SCR-DM-03 Add Entry dialog of a draft version</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Steward: Opens the code map, creates a draft version and adds the legacy codes with their BIBS values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Keeps the draft; Submit sends it to the owner after a confirmation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Add Entry dialog with the legacy code, the action and the BIBS value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Data Steward on Code Maps and the versions of a code map</a:t>
            </a:r>
          </a:p>
        </p:txBody>
      </p:sp>
    </p:spTree>
  </p:cSld>
  <p:clrMapOvr>
    <a:masterClrMapping/>
  </p:clrMapOvr>
</p:sld>
</file>

<file path=ppt/slides/slide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UF-A step 4 of 14: Code Maps and the versions of a code map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03-04-unmapped.png"/>
          <p:cNvPicPr>
            <a:picLocks noChangeAspect="1"/>
          </p:cNvPicPr>
          <p:nvPr/>
        </p:nvPicPr>
        <p:blipFill>
          <a:blip r:embed="rId3"/>
          <a:stretch>
            <a:fillRect/>
          </a:stretch>
        </p:blipFill>
        <p:spPr>
          <a:xfrm>
            <a:off x="548640" y="1261872"/>
            <a:ext cx="7665415" cy="235248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SCR-DM-03 Unmapped Codes tab</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Steward: Opens Unmapped Codes to see the legacy codes of the extracts that have no entry yet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Lists each unmapped code with the extract and the count of rows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unmapped codes to add before the validation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Data owner (business owner of an object) on Sign-off</a:t>
            </a:r>
          </a:p>
        </p:txBody>
      </p:sp>
    </p:spTree>
  </p:cSld>
  <p:clrMapOvr>
    <a:masterClrMapping/>
  </p:clrMapOvr>
</p:sld>
</file>

<file path=ppt/slides/slide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5 of 14: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dm-10-01-matrix.png"/>
          <p:cNvPicPr>
            <a:picLocks noChangeAspect="1"/>
          </p:cNvPicPr>
          <p:nvPr/>
        </p:nvPicPr>
        <p:blipFill>
          <a:blip r:embed="rId3"/>
          <a:stretch>
            <a:fillRect/>
          </a:stretch>
        </p:blipFill>
        <p:spPr>
          <a:xfrm>
            <a:off x="1054455" y="1261872"/>
            <a:ext cx="6653784"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SCR-DM-10 Gate matrix per object with the signer and date of each gate</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owner (business owner of an object): Approves the code map version and signs the mapping of the object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Signs gate G2: the layouts are frozen and every code map is approved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gate matrix with the signer and date of G1 and G2</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Migration Operator on Extracts</a:t>
            </a:r>
          </a:p>
        </p:txBody>
      </p:sp>
    </p:spTree>
  </p:cSld>
  <p:clrMapOvr>
    <a:masterClrMapping/>
  </p:clrMapOvr>
</p:sld>
</file>

<file path=ppt/slides/slide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6 of 14: Extracts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99</a:t>
            </a:r>
          </a:p>
        </p:txBody>
      </p:sp>
      <p:sp>
        <p:nvSpPr>
          <p:cNvPr id="9" name="Rounded Rectangle 8"/>
          <p:cNvSpPr/>
          <p:nvPr/>
        </p:nvSpPr>
        <p:spPr>
          <a:xfrm>
            <a:off x="6147511" y="896112"/>
            <a:ext cx="549554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CHG-DM-2.1-02, CHG-DM-2.1-03, CHG-DM-2.1-04</a:t>
            </a:r>
          </a:p>
        </p:txBody>
      </p:sp>
      <p:sp>
        <p:nvSpPr>
          <p:cNvPr id="10" name="Rounded Rectangle 9"/>
          <p:cNvSpPr/>
          <p:nvPr/>
        </p:nvSpPr>
        <p:spPr>
          <a:xfrm>
            <a:off x="430042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0.png"/>
          <p:cNvPicPr>
            <a:picLocks noChangeAspect="1"/>
          </p:cNvPicPr>
          <p:nvPr/>
        </p:nvPicPr>
        <p:blipFill>
          <a:blip r:embed="rId3"/>
          <a:stretch>
            <a:fillRect/>
          </a:stretch>
        </p:blipFill>
        <p:spPr>
          <a:xfrm>
            <a:off x="548640" y="1261872"/>
            <a:ext cx="7665415" cy="4644721"/>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SCR-DM-05 Extracts with the upload card (Still needed: the files to choose) and the intake results (part 1 of 2)</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Migration Operator: Uploads the extract with its control file and clicks Upload and Check</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Runs the intake checks (name, checksum, header, row count, totals) and stages the file</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extract listed as Staged with its rows and the masking applied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Migration Operator on Extracts</a:t>
            </a:r>
          </a:p>
        </p:txBody>
      </p:sp>
    </p:spTree>
  </p:cSld>
  <p:clrMapOvr>
    <a:masterClrMapping/>
  </p:clrMapOvr>
</p:sld>
</file>

<file path=ppt/slides/slide1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6 of 14: Extracts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100</a:t>
            </a:r>
          </a:p>
        </p:txBody>
      </p:sp>
      <p:sp>
        <p:nvSpPr>
          <p:cNvPr id="9" name="Rounded Rectangle 8"/>
          <p:cNvSpPr/>
          <p:nvPr/>
        </p:nvSpPr>
        <p:spPr>
          <a:xfrm>
            <a:off x="6147511" y="896112"/>
            <a:ext cx="549554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CHG-DM-2.1-02, CHG-DM-2.1-03, CHG-DM-2.1-04</a:t>
            </a:r>
          </a:p>
        </p:txBody>
      </p:sp>
      <p:sp>
        <p:nvSpPr>
          <p:cNvPr id="10" name="Rounded Rectangle 9"/>
          <p:cNvSpPr/>
          <p:nvPr/>
        </p:nvSpPr>
        <p:spPr>
          <a:xfrm>
            <a:off x="430042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1.png"/>
          <p:cNvPicPr>
            <a:picLocks noChangeAspect="1"/>
          </p:cNvPicPr>
          <p:nvPr/>
        </p:nvPicPr>
        <p:blipFill>
          <a:blip r:embed="rId3"/>
          <a:stretch>
            <a:fillRect/>
          </a:stretch>
        </p:blipFill>
        <p:spPr>
          <a:xfrm>
            <a:off x="548640" y="1261872"/>
            <a:ext cx="7665415" cy="4131528"/>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SCR-DM-05 Extracts with the upload card (Still needed: the files to choose) and the intake results (part 2 of 2)</a:t>
            </a:r>
          </a:p>
        </p:txBody>
      </p:sp>
    </p:spTree>
  </p:cSld>
  <p:clrMapOvr>
    <a:masterClrMapping/>
  </p:clrMapOvr>
</p:sld>
</file>

<file path=ppt/slides/slide1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7 of 14: Extracts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101</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CHG-DM-2.1-03, CHG-DM-2.1-04</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2.png"/>
          <p:cNvPicPr>
            <a:picLocks noChangeAspect="1"/>
          </p:cNvPicPr>
          <p:nvPr/>
        </p:nvPicPr>
        <p:blipFill>
          <a:blip r:embed="rId3"/>
          <a:stretch>
            <a:fillRect/>
          </a:stretch>
        </p:blipFill>
        <p:spPr>
          <a:xfrm>
            <a:off x="548640" y="1261872"/>
            <a:ext cx="7665415" cy="4410861"/>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SCR-DM-05 An extract rejected at intake with every failed check and its reason (part 1 of 3)</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Migration Operator: Uploads a file whose control file announces more rows than the file holds</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Rejects the file as a whole with the reason</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error notice with the reason of the rejection; the extract listed as Rejected</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8: Migration Operator on Batches and resubmissions</a:t>
            </a:r>
          </a:p>
        </p:txBody>
      </p:sp>
    </p:spTree>
  </p:cSld>
  <p:clrMapOvr>
    <a:masterClrMapping/>
  </p:clrMapOvr>
</p:sld>
</file>

<file path=ppt/slides/slide1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7 of 14: Extracts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102</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CHG-DM-2.1-03, CHG-DM-2.1-04</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3.png"/>
          <p:cNvPicPr>
            <a:picLocks noChangeAspect="1"/>
          </p:cNvPicPr>
          <p:nvPr/>
        </p:nvPicPr>
        <p:blipFill>
          <a:blip r:embed="rId3"/>
          <a:stretch>
            <a:fillRect/>
          </a:stretch>
        </p:blipFill>
        <p:spPr>
          <a:xfrm>
            <a:off x="548640" y="1261872"/>
            <a:ext cx="7665415" cy="4664210"/>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SCR-DM-05 An extract rejected at intake with every failed check and its reason (part 2 of 3)</a:t>
            </a:r>
          </a:p>
        </p:txBody>
      </p:sp>
    </p:spTree>
  </p:cSld>
  <p:clrMapOvr>
    <a:masterClrMapping/>
  </p:clrMapOvr>
</p:sld>
</file>

<file path=ppt/slides/slide1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7 of 14: Extracts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103</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CHG-DM-2.1-03, CHG-DM-2.1-04</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064.png"/>
          <p:cNvPicPr>
            <a:picLocks noChangeAspect="1"/>
          </p:cNvPicPr>
          <p:nvPr/>
        </p:nvPicPr>
        <p:blipFill>
          <a:blip r:embed="rId3"/>
          <a:stretch>
            <a:fillRect/>
          </a:stretch>
        </p:blipFill>
        <p:spPr>
          <a:xfrm>
            <a:off x="548640" y="1261872"/>
            <a:ext cx="7665415" cy="597642"/>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SCR-DM-05 An extract rejected at intake with every failed check and its reason (part 3 of 3)</a:t>
            </a:r>
          </a:p>
        </p:txBody>
      </p:sp>
    </p:spTree>
  </p:cSld>
  <p:clrMapOvr>
    <a:masterClrMapping/>
  </p:clrMapOvr>
</p:sld>
</file>

<file path=ppt/slides/slide1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8 of 14: Batches and resubmissions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06-02-plan.png"/>
          <p:cNvPicPr>
            <a:picLocks noChangeAspect="1"/>
          </p:cNvPicPr>
          <p:nvPr/>
        </p:nvPicPr>
        <p:blipFill>
          <a:blip r:embed="rId3"/>
          <a:stretch>
            <a:fillRect/>
          </a:stretch>
        </p:blipFill>
        <p:spPr>
          <a:xfrm>
            <a:off x="548640" y="1261872"/>
            <a:ext cx="7665415" cy="22858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SCR-DM-06 Plan Batch dialog</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Migration Operator: Clicks Plan Batch, chooses the object and the staged extracts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Plans the batch and opens it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Plan Batch dialog with the staged extracts of the object</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9: Migration Operator on Batch</a:t>
            </a:r>
          </a:p>
        </p:txBody>
      </p:sp>
    </p:spTree>
  </p:cSld>
  <p:clrMapOvr>
    <a:masterClrMapping/>
  </p:clrMapOvr>
</p:sld>
</file>

<file path=ppt/slides/slide1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9 of 14: Batch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65.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SCR-DM-07 A validated batch: steps, counts, facts and the Issues tab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Migration Operator: Clicks Validate on the planned batch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Maps the rows with the approved code maps and checks them against the data-quality rules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Validated with its counts, error rate and the Issues tab</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10: Data Steward on Client Matching</a:t>
            </a:r>
          </a:p>
        </p:txBody>
      </p:sp>
    </p:spTree>
  </p:cSld>
  <p:clrMapOvr>
    <a:masterClrMapping/>
  </p:clrMapOvr>
</p:sld>
</file>

<file path=ppt/slides/slide1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9 of 14: Batch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66.png"/>
          <p:cNvPicPr>
            <a:picLocks noChangeAspect="1"/>
          </p:cNvPicPr>
          <p:nvPr/>
        </p:nvPicPr>
        <p:blipFill>
          <a:blip r:embed="rId3"/>
          <a:stretch>
            <a:fillRect/>
          </a:stretch>
        </p:blipFill>
        <p:spPr>
          <a:xfrm>
            <a:off x="548640" y="1261872"/>
            <a:ext cx="7665415" cy="2573861"/>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SCR-DM-07 A validated batch: steps, counts, facts and the Issues tab (part 2 of 2)</a:t>
            </a:r>
          </a:p>
        </p:txBody>
      </p:sp>
    </p:spTree>
  </p:cSld>
  <p:clrMapOvr>
    <a:masterClrMapping/>
  </p:clrMapOvr>
</p:sld>
</file>

<file path=ppt/slides/slide1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10 of 14: Client Matching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67.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SCR-DM-08 A pair side by side with the matched keys marked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Steward: Opens the doubtful client pair and merges it or keeps the clients separate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Records the decision; the load waits until the queue is empty</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two records side by side with the matched keys marked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11: Data owner (business owner of an object) on Batch</a:t>
            </a:r>
          </a:p>
        </p:txBody>
      </p:sp>
    </p:spTree>
  </p:cSld>
  <p:clrMapOvr>
    <a:masterClrMapping/>
  </p:clrMapOvr>
</p:sld>
</file>

<file path=ppt/slides/slide1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10 of 14: Client Matching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68.png"/>
          <p:cNvPicPr>
            <a:picLocks noChangeAspect="1"/>
          </p:cNvPicPr>
          <p:nvPr/>
        </p:nvPicPr>
        <p:blipFill>
          <a:blip r:embed="rId3"/>
          <a:stretch>
            <a:fillRect/>
          </a:stretch>
        </p:blipFill>
        <p:spPr>
          <a:xfrm>
            <a:off x="548640" y="1261872"/>
            <a:ext cx="7665415" cy="218398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SCR-DM-08 A pair side by side with the matched keys marked (part 2 of 2)</a:t>
            </a:r>
          </a:p>
        </p:txBody>
      </p:sp>
    </p:spTree>
  </p:cSld>
  <p:clrMapOvr>
    <a:masterClrMapping/>
  </p:clrMapOvr>
</p:sld>
</file>

<file path=ppt/slides/slide1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11 of 14: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109</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dm-07-03-waive.png"/>
          <p:cNvPicPr>
            <a:picLocks noChangeAspect="1"/>
          </p:cNvPicPr>
          <p:nvPr/>
        </p:nvPicPr>
        <p:blipFill>
          <a:blip r:embed="rId3"/>
          <a:stretch>
            <a:fillRect/>
          </a:stretch>
        </p:blipFill>
        <p:spPr>
          <a:xfrm>
            <a:off x="548640" y="1261872"/>
            <a:ext cx="7665415" cy="289977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SCR-DM-07 Waive Rows dialog</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owner (business owner of an object): Selects failing rows on the Rows tab and clicks Waive Rows with the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Loads the rows despite their errors, with the waiver kept on the batch</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Waive Rows dialog with the count of rows and the mandatory reason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12: Reconciliation approver (Head of Comptrollership) on Reconciliation</a:t>
            </a:r>
          </a:p>
        </p:txBody>
      </p:sp>
    </p:spTree>
  </p:cSld>
  <p:clrMapOvr>
    <a:masterClrMapping/>
  </p:clrMapOvr>
</p:sld>
</file>

<file path=ppt/slides/slide1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12 of 14: Reconciliation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69.png"/>
          <p:cNvPicPr>
            <a:picLocks noChangeAspect="1"/>
          </p:cNvPicPr>
          <p:nvPr/>
        </p:nvPicPr>
        <p:blipFill>
          <a:blip r:embed="rId3"/>
          <a:stretch>
            <a:fillRect/>
          </a:stretch>
        </p:blipFill>
        <p:spPr>
          <a:xfrm>
            <a:off x="548640" y="1261872"/>
            <a:ext cx="7665415" cy="4632289"/>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SCR-DM-09 A loaded batch and its reconciliation lines by level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Reconciliation approver (Head of Comptrollership): After the load, opens the reconciliation of the batch by level</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Compares counts, amounts, hash totals, fields and the general ledger between the source and BIBS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lines by level with the breaks to explain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13: Data Steward on Reconciliation</a:t>
            </a:r>
          </a:p>
        </p:txBody>
      </p:sp>
    </p:spTree>
  </p:cSld>
  <p:clrMapOvr>
    <a:masterClrMapping/>
  </p:clrMapOvr>
</p:sld>
</file>

<file path=ppt/slides/slide1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12 of 14: Reconciliation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0.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SCR-DM-09 A loaded batch and its reconciliation lines by level (part 2 of 3)</a:t>
            </a:r>
          </a:p>
        </p:txBody>
      </p:sp>
    </p:spTree>
  </p:cSld>
  <p:clrMapOvr>
    <a:masterClrMapping/>
  </p:clrMapOvr>
</p:sld>
</file>

<file path=ppt/slides/slide1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12 of 14: Reconciliation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1.png"/>
          <p:cNvPicPr>
            <a:picLocks noChangeAspect="1"/>
          </p:cNvPicPr>
          <p:nvPr/>
        </p:nvPicPr>
        <p:blipFill>
          <a:blip r:embed="rId3"/>
          <a:stretch>
            <a:fillRect/>
          </a:stretch>
        </p:blipFill>
        <p:spPr>
          <a:xfrm>
            <a:off x="548640" y="1261872"/>
            <a:ext cx="7665415" cy="35353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SCR-DM-09 A loaded batch and its reconciliation lines by level (part 3 of 3)</a:t>
            </a:r>
          </a:p>
        </p:txBody>
      </p:sp>
    </p:spTree>
  </p:cSld>
  <p:clrMapOvr>
    <a:masterClrMapping/>
  </p:clrMapOvr>
</p:sld>
</file>

<file path=ppt/slides/slide1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13 of 14: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113</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dm-09-02-explain.png"/>
          <p:cNvPicPr>
            <a:picLocks noChangeAspect="1"/>
          </p:cNvPicPr>
          <p:nvPr/>
        </p:nvPicPr>
        <p:blipFill>
          <a:blip r:embed="rId3"/>
          <a:stretch>
            <a:fillRect/>
          </a:stretch>
        </p:blipFill>
        <p:spPr>
          <a:xfrm>
            <a:off x="548640" y="1261872"/>
            <a:ext cx="7665415" cy="289977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SCR-DM-09 Explain Break dialog</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Steward: Explains a break with its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Marks the line Explained for the approver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Explain Break dialog with the reason and the explanation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14: Data Migration Lead on Batch</a:t>
            </a:r>
          </a:p>
        </p:txBody>
      </p:sp>
    </p:spTree>
  </p:cSld>
  <p:clrMapOvr>
    <a:masterClrMapping/>
  </p:clrMapOvr>
</p:sld>
</file>

<file path=ppt/slides/slide1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14 of 14: Batch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72.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SCR-DM-07 Sign-offs tab of an accepted batch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Migration Lead: After the reconciliation is signed, accepts the object as Migration Lead, after the owner</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Signs gate G6; with both acceptances the object is accepted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Sign-offs tab with every gate, its signer and date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UF-A step 14 of 14: Batch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73.png"/>
          <p:cNvPicPr>
            <a:picLocks noChangeAspect="1"/>
          </p:cNvPicPr>
          <p:nvPr/>
        </p:nvPicPr>
        <p:blipFill>
          <a:blip r:embed="rId3"/>
          <a:stretch>
            <a:fillRect/>
          </a:stretch>
        </p:blipFill>
        <p:spPr>
          <a:xfrm>
            <a:off x="548640" y="1261872"/>
            <a:ext cx="7665415" cy="337344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SCR-DM-07 Sign-offs tab of an accepted batch (part 2 of 2)</a:t>
            </a:r>
          </a:p>
        </p:txBody>
      </p:sp>
    </p:spTree>
  </p:cSld>
  <p:clrMapOvr>
    <a:masterClrMapping/>
  </p:clrMapOvr>
</p:sld>
</file>

<file path=ppt/slides/slide1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UF-B The cut-over from the mock run to the go / no-go decision and the run-off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116</a:t>
            </a:r>
          </a:p>
        </p:txBody>
      </p:sp>
      <p:graphicFrame>
        <p:nvGraphicFramePr>
          <p:cNvPr id="9" name="Table 8"/>
          <p:cNvGraphicFramePr>
            <a:graphicFrameLocks noGrp="1"/>
          </p:cNvGraphicFramePr>
          <p:nvPr/>
        </p:nvGraphicFramePr>
        <p:xfrm>
          <a:off x="548640" y="1307592"/>
          <a:ext cx="11094415" cy="2011672"/>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UF-B The cut-over from the mock run to the go / no-go decision and the run-off</a:t>
                      </a:r>
                    </a:p>
                  </a:txBody>
                  <a:tcPr marL="54864" marR="54864" marT="27432" marB="27432">
                    <a:solidFill>
                      <a:srgbClr val="FFFFFF"/>
                    </a:solidFill>
                  </a:tcPr>
                </a:tc>
              </a:tr>
              <a:tr h="640077">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Data Migration Lead plans a mock run from the go-live date and follows its runbook; the go / no-go board measures the criteria and decides; after go-live Comptrollership brings the FY2027 closing adjustments as opening-balance adjustments, and the lead follows the run-off of the legacy policies and the decommissioning checklists.</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The mock run plan of the seed data</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Data Migration Lead, Go / no-go board, Comptrollership GL lead, Reconciliation approver (Head of Comptrollership)</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6 steps, 4 hand-offs, 2 approval steps</a:t>
                      </a:r>
                    </a:p>
                  </a:txBody>
                  <a:tcPr marL="54864" marR="54864" marT="27432" marB="27432">
                    <a:solidFill>
                      <a:srgbClr val="FFFFFF"/>
                    </a:solidFill>
                  </a:tcPr>
                </a:tc>
              </a:tr>
              <a:tr h="274319">
                <a:tc>
                  <a:txBody>
                    <a:bodyPr/>
                    <a:lstStyle/>
                    <a:p>
                      <a:r>
                        <a:rPr sz="1200" b="1">
                          <a:solidFill>
                            <a:srgbClr val="004EA8"/>
                          </a:solidFill>
                          <a:latin typeface="Arial"/>
                        </a:rPr>
                        <a:t>Data Migration Handbook section</a:t>
                      </a:r>
                    </a:p>
                  </a:txBody>
                  <a:tcPr marL="54864" marR="54864" marT="27432" marB="27432">
                    <a:solidFill>
                      <a:srgbClr val="E5F5FF"/>
                    </a:solidFill>
                  </a:tcPr>
                </a:tc>
                <a:tc>
                  <a:txBody>
                    <a:bodyPr/>
                    <a:lstStyle/>
                    <a:p>
                      <a:r>
                        <a:rPr sz="1200" b="0">
                          <a:solidFill>
                            <a:srgbClr val="4B4B4B"/>
                          </a:solidFill>
                          <a:latin typeface="Arial"/>
                        </a:rPr>
                        <a:t>The screens of the flow in the screen specifications (images of the screen catalogue)</a:t>
                      </a:r>
                    </a:p>
                  </a:txBody>
                  <a:tcPr marL="54864" marR="54864" marT="27432" marB="27432">
                    <a:solidFill>
                      <a:srgbClr val="FFFFFF"/>
                    </a:solidFill>
                  </a:tcPr>
                </a:tc>
              </a:tr>
            </a:tbl>
          </a:graphicData>
        </a:graphic>
      </p:graphicFrame>
    </p:spTree>
  </p:cSld>
  <p:clrMapOvr>
    <a:masterClrMapping/>
  </p:clrMapOvr>
</p:sld>
</file>

<file path=ppt/slides/slide1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117</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Data Migration Lead</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Go / no-go board</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Comptrollership GL lead</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Reconciliation approver (Head of Comptrollership)</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Cutover</a:t>
            </a:r>
          </a:p>
        </p:txBody>
      </p:sp>
      <p:sp>
        <p:nvSpPr>
          <p:cNvPr id="22" name="Rounded Rectangle 21"/>
          <p:cNvSpPr/>
          <p:nvPr/>
        </p:nvSpPr>
        <p:spPr>
          <a:xfrm>
            <a:off x="3984193"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Cutover</a:t>
            </a:r>
          </a:p>
        </p:txBody>
      </p:sp>
      <p:sp>
        <p:nvSpPr>
          <p:cNvPr id="23" name="Rounded Rectangle 22"/>
          <p:cNvSpPr/>
          <p:nvPr/>
        </p:nvSpPr>
        <p:spPr>
          <a:xfrm>
            <a:off x="5536082" y="2267712"/>
            <a:ext cx="1350721"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Cutover</a:t>
            </a:r>
          </a:p>
        </p:txBody>
      </p:sp>
      <p:sp>
        <p:nvSpPr>
          <p:cNvPr id="24" name="Rounded Rectangle 23"/>
          <p:cNvSpPr/>
          <p:nvPr/>
        </p:nvSpPr>
        <p:spPr>
          <a:xfrm>
            <a:off x="6228435" y="217627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5" name="Rounded Rectangle 24"/>
          <p:cNvSpPr/>
          <p:nvPr/>
        </p:nvSpPr>
        <p:spPr>
          <a:xfrm>
            <a:off x="7087971" y="313639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Opening-Balance Adjustments</a:t>
            </a:r>
          </a:p>
        </p:txBody>
      </p:sp>
      <p:sp>
        <p:nvSpPr>
          <p:cNvPr id="26" name="Rounded Rectangle 25"/>
          <p:cNvSpPr/>
          <p:nvPr/>
        </p:nvSpPr>
        <p:spPr>
          <a:xfrm>
            <a:off x="8639860" y="4005072"/>
            <a:ext cx="1350721"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Opening-Balance Adjustments</a:t>
            </a:r>
          </a:p>
        </p:txBody>
      </p:sp>
      <p:sp>
        <p:nvSpPr>
          <p:cNvPr id="27" name="Rounded Rectangle 26"/>
          <p:cNvSpPr/>
          <p:nvPr/>
        </p:nvSpPr>
        <p:spPr>
          <a:xfrm>
            <a:off x="9332213" y="391363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8" name="Rounded Rectangle 27"/>
          <p:cNvSpPr/>
          <p:nvPr/>
        </p:nvSpPr>
        <p:spPr>
          <a:xfrm>
            <a:off x="10191749" y="1399032"/>
            <a:ext cx="1350721"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Run-off and Decommissioning</a:t>
            </a:r>
          </a:p>
        </p:txBody>
      </p:sp>
      <p:cxnSp>
        <p:nvCxnSpPr>
          <p:cNvPr id="29" name="Connector 28"/>
          <p:cNvCxnSpPr/>
          <p:nvPr/>
        </p:nvCxnSpPr>
        <p:spPr>
          <a:xfrm>
            <a:off x="3783025"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5334914"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886803"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38692" y="347929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9990581" y="1741932"/>
            <a:ext cx="201168" cy="260604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1 of 6: Cutover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dm-12-03-new.png"/>
          <p:cNvPicPr>
            <a:picLocks noChangeAspect="1"/>
          </p:cNvPicPr>
          <p:nvPr/>
        </p:nvPicPr>
        <p:blipFill>
          <a:blip r:embed="rId3"/>
          <a:stretch>
            <a:fillRect/>
          </a:stretch>
        </p:blipFill>
        <p:spPr>
          <a:xfrm>
            <a:off x="548640" y="1261872"/>
            <a:ext cx="7665415" cy="3344027"/>
          </a:xfrm>
          <a:prstGeom prst="rect">
            <a:avLst/>
          </a:prstGeom>
          <a:ln w="9525">
            <a:solidFill>
              <a:srgbClr val="C2C2C1"/>
            </a:solidFill>
          </a:ln>
        </p:spPr>
      </p:pic>
      <p:sp>
        <p:nvSpPr>
          <p:cNvPr id="12" name="TextBox 11"/>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New Cutover Plan dialog</a:t>
            </a:r>
          </a:p>
        </p:txBody>
      </p:sp>
      <p:sp>
        <p:nvSpPr>
          <p:cNvPr id="13" name="Rectangle 12"/>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6" name="TextBox 15"/>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Migration Lead: Clicks New Plan, chooses the kind of run and the go-live date</a:t>
            </a:r>
          </a:p>
        </p:txBody>
      </p:sp>
      <p:sp>
        <p:nvSpPr>
          <p:cNvPr id="17" name="Rectangle 16"/>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20" name="TextBox 19"/>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Creates the plan with its runbook tasks and the twelve criteria planned from the go-live date</a:t>
            </a:r>
          </a:p>
        </p:txBody>
      </p:sp>
      <p:sp>
        <p:nvSpPr>
          <p:cNvPr id="21" name="Rectangle 20"/>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4" name="TextBox 23"/>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New Cutover Plan dialog</a:t>
            </a:r>
          </a:p>
        </p:txBody>
      </p:sp>
      <p:sp>
        <p:nvSpPr>
          <p:cNvPr id="25" name="Rectangle 24"/>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8" name="TextBox 27"/>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Data Migration Lead on Cutover</a:t>
            </a:r>
          </a:p>
        </p:txBody>
      </p:sp>
    </p:spTree>
  </p:cSld>
  <p:clrMapOvr>
    <a:masterClrMapping/>
  </p:clrMapOvr>
</p:sld>
</file>

<file path=ppt/slides/slide1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2 of 6: Cutover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4.png"/>
          <p:cNvPicPr>
            <a:picLocks noChangeAspect="1"/>
          </p:cNvPicPr>
          <p:nvPr/>
        </p:nvPicPr>
        <p:blipFill>
          <a:blip r:embed="rId3"/>
          <a:stretch>
            <a:fillRect/>
          </a:stretch>
        </p:blipFill>
        <p:spPr>
          <a:xfrm>
            <a:off x="548640" y="1261872"/>
            <a:ext cx="7665415" cy="471819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Cut-over plans and the runbook of a mock run (part 1 of 3)</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Migration Lead: Records the start and end of each runbook task, or blocks a task with its reason</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Keeps the actual times and the owner of each task</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plans and the runbook of the mock run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Go / no-go board on Cutover</a:t>
            </a:r>
          </a:p>
        </p:txBody>
      </p:sp>
    </p:spTree>
  </p:cSld>
  <p:clrMapOvr>
    <a:masterClrMapping/>
  </p:clrMapOvr>
</p:sld>
</file>

<file path=ppt/slides/slide1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2 of 6: Cutover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5.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Cut-over plans and the runbook of a mock run (part 2 of 3)</a:t>
            </a:r>
          </a:p>
        </p:txBody>
      </p:sp>
    </p:spTree>
  </p:cSld>
  <p:clrMapOvr>
    <a:masterClrMapping/>
  </p:clrMapOvr>
</p:sld>
</file>

<file path=ppt/slides/slide1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2 of 6: Cutover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6.png"/>
          <p:cNvPicPr>
            <a:picLocks noChangeAspect="1"/>
          </p:cNvPicPr>
          <p:nvPr/>
        </p:nvPicPr>
        <p:blipFill>
          <a:blip r:embed="rId3"/>
          <a:stretch>
            <a:fillRect/>
          </a:stretch>
        </p:blipFill>
        <p:spPr>
          <a:xfrm>
            <a:off x="548640" y="1261872"/>
            <a:ext cx="7665415" cy="336683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Cut-over plans and the runbook of a mock run (part 3 of 3)</a:t>
            </a:r>
          </a:p>
        </p:txBody>
      </p:sp>
    </p:spTree>
  </p:cSld>
  <p:clrMapOvr>
    <a:masterClrMapping/>
  </p:clrMapOvr>
</p:sld>
</file>

<file path=ppt/slides/slide1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3 of 6: Cutover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77.png"/>
          <p:cNvPicPr>
            <a:picLocks noChangeAspect="1"/>
          </p:cNvPicPr>
          <p:nvPr/>
        </p:nvPicPr>
        <p:blipFill>
          <a:blip r:embed="rId3"/>
          <a:stretch>
            <a:fillRect/>
          </a:stretch>
        </p:blipFill>
        <p:spPr>
          <a:xfrm>
            <a:off x="548640" y="1261872"/>
            <a:ext cx="7665415" cy="472810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Go / No-Go Criteria and Decisions of a plan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Go / no-go board: Clicks Measure Criteria, reads the criteria and records GO or NO-GO</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Measures the criteria that BIBS measures; a GO with a criterion not met needs its justification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Go / No-Go Criteria and the Decisions of the plan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Comptrollership GL lead on Opening-Balance Adjustments</a:t>
            </a:r>
          </a:p>
        </p:txBody>
      </p:sp>
    </p:spTree>
  </p:cSld>
  <p:clrMapOvr>
    <a:masterClrMapping/>
  </p:clrMapOvr>
</p:sld>
</file>

<file path=ppt/slides/slide1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3 of 6: Cutover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78.png"/>
          <p:cNvPicPr>
            <a:picLocks noChangeAspect="1"/>
          </p:cNvPicPr>
          <p:nvPr/>
        </p:nvPicPr>
        <p:blipFill>
          <a:blip r:embed="rId3"/>
          <a:stretch>
            <a:fillRect/>
          </a:stretch>
        </p:blipFill>
        <p:spPr>
          <a:xfrm>
            <a:off x="548640" y="1261872"/>
            <a:ext cx="7665415" cy="467524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SCR-DM-12 Go / No-Go Criteria and Decisions of a plan (part 2 of 2)</a:t>
            </a:r>
          </a:p>
        </p:txBody>
      </p:sp>
    </p:spTree>
  </p:cSld>
  <p:clrMapOvr>
    <a:masterClrMapping/>
  </p:clrMapOvr>
</p:sld>
</file>

<file path=ppt/slides/slide1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4 of 6: Opening-Balance Adjustments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11-02-prepare.png"/>
          <p:cNvPicPr>
            <a:picLocks noChangeAspect="1"/>
          </p:cNvPicPr>
          <p:nvPr/>
        </p:nvPicPr>
        <p:blipFill>
          <a:blip r:embed="rId3"/>
          <a:stretch>
            <a:fillRect/>
          </a:stretch>
        </p:blipFill>
        <p:spPr>
          <a:xfrm>
            <a:off x="548640" y="1261872"/>
            <a:ext cx="7665415" cy="295631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SCR-DM-11 Prepare Adjustment dialog</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Comptrollership GL lead: After go-live, prepares an opening-balance adjustment on the validated adjustment batch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Prepares the adjustment and sends it to the Head of Comptrollership on Submit</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Prepare Adjustment dialog with the batches of the same version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Reconciliation approver (Head of Comptrollership) on Opening-Balance Adjustments</a:t>
            </a:r>
          </a:p>
        </p:txBody>
      </p:sp>
    </p:spTree>
  </p:cSld>
  <p:clrMapOvr>
    <a:masterClrMapping/>
  </p:clrMapOvr>
</p:sld>
</file>

<file path=ppt/slides/slide1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UF-B step 5 of 6: Opening-Balance Adjustments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1-01-list.png"/>
          <p:cNvPicPr>
            <a:picLocks noChangeAspect="1"/>
          </p:cNvPicPr>
          <p:nvPr/>
        </p:nvPicPr>
        <p:blipFill>
          <a:blip r:embed="rId3"/>
          <a:stretch>
            <a:fillRect/>
          </a:stretch>
        </p:blipFill>
        <p:spPr>
          <a:xfrm>
            <a:off x="548640" y="1261872"/>
            <a:ext cx="7665415" cy="2841490"/>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SCR-DM-11 Opening-balance adjustments with their batches and status</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Reconciliation approver (Head of Comptrollership): Approves the adjustment prepared by the GL lead, then signs it once reconciled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Allows the load of the adjustment journals into the opening balances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adjustments with their batches and status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Data Migration Lead on Run-off and Decommissioning</a:t>
            </a:r>
          </a:p>
        </p:txBody>
      </p:sp>
    </p:spTree>
  </p:cSld>
  <p:clrMapOvr>
    <a:masterClrMapping/>
  </p:clrMapOvr>
</p:sld>
</file>

<file path=ppt/slides/slide1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UF-B step 6 of 6: Run-off and Decommissioning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79.png"/>
          <p:cNvPicPr>
            <a:picLocks noChangeAspect="1"/>
          </p:cNvPicPr>
          <p:nvPr/>
        </p:nvPicPr>
        <p:blipFill>
          <a:blip r:embed="rId3"/>
          <a:stretch>
            <a:fillRect/>
          </a:stretch>
        </p:blipFill>
        <p:spPr>
          <a:xfrm>
            <a:off x="548640" y="1261872"/>
            <a:ext cx="7665415" cy="428866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SCR-DM-13 Run-off by expiry month and the decommissioning checklists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Data Migration Lead: Opens Run-off and Decommissioning each month and records the checklist of a legacy system</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Shows the run-off by expiry month and source system and keeps the signed criteria</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run-off and the decommissioning checklists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UF-B step 6 of 6: Run-off and Decommissioning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0.png"/>
          <p:cNvPicPr>
            <a:picLocks noChangeAspect="1"/>
          </p:cNvPicPr>
          <p:nvPr/>
        </p:nvPicPr>
        <p:blipFill>
          <a:blip r:embed="rId3"/>
          <a:stretch>
            <a:fillRect/>
          </a:stretch>
        </p:blipFill>
        <p:spPr>
          <a:xfrm>
            <a:off x="548640" y="1261872"/>
            <a:ext cx="7665415" cy="290096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SCR-DM-13 Run-off by expiry month and the decommissioning checklists (part 2 of 2)</a:t>
            </a:r>
          </a:p>
        </p:txBody>
      </p:sp>
    </p:spTree>
  </p:cSld>
  <p:clrMapOvr>
    <a:masterClrMapping/>
  </p:clrMapOvr>
</p:sld>
</file>

<file path=ppt/slides/slide1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UF-C Migrated records on the business screens and the legacy batches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128</a:t>
            </a:r>
          </a:p>
        </p:txBody>
      </p:sp>
      <p:graphicFrame>
        <p:nvGraphicFramePr>
          <p:cNvPr id="9" name="Table 8"/>
          <p:cNvGraphicFramePr>
            <a:graphicFrameLocks noGrp="1"/>
          </p:cNvGraphicFramePr>
          <p:nvPr/>
        </p:nvGraphicFramePr>
        <p:xfrm>
          <a:off x="548640" y="1307592"/>
          <a:ext cx="11094415" cy="1828793"/>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UF-C Migrated records on the business screens and the legacy batches</a:t>
                      </a:r>
                    </a:p>
                  </a:txBody>
                  <a:tcPr marL="54864" marR="54864" marT="27432" marB="27432">
                    <a:solidFill>
                      <a:srgbClr val="FFFFFF"/>
                    </a:solidFill>
                  </a:tcPr>
                </a:tc>
              </a:tr>
              <a:tr h="457198">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The business users find the migrated records on their usual screens, marked LEGACY; Cashiering and Commission settle the legacy items through their batches, each approved by a second user.</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The migrated clients, invoices and unapplied payments of the seed data</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Marketing Account Officer, Cashiering user, Top management approver, Commission user</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7 steps, 4 hand-offs, 1 approval steps</a:t>
                      </a:r>
                    </a:p>
                  </a:txBody>
                  <a:tcPr marL="54864" marR="54864" marT="27432" marB="27432">
                    <a:solidFill>
                      <a:srgbClr val="FFFFFF"/>
                    </a:solidFill>
                  </a:tcPr>
                </a:tc>
              </a:tr>
              <a:tr h="274319">
                <a:tc>
                  <a:txBody>
                    <a:bodyPr/>
                    <a:lstStyle/>
                    <a:p>
                      <a:r>
                        <a:rPr sz="1200" b="1">
                          <a:solidFill>
                            <a:srgbClr val="004EA8"/>
                          </a:solidFill>
                          <a:latin typeface="Arial"/>
                        </a:rPr>
                        <a:t>Data Migration Handbook section</a:t>
                      </a:r>
                    </a:p>
                  </a:txBody>
                  <a:tcPr marL="54864" marR="54864" marT="27432" marB="27432">
                    <a:solidFill>
                      <a:srgbClr val="E5F5FF"/>
                    </a:solidFill>
                  </a:tcPr>
                </a:tc>
                <a:tc>
                  <a:txBody>
                    <a:bodyPr/>
                    <a:lstStyle/>
                    <a:p>
                      <a:r>
                        <a:rPr sz="1200" b="0">
                          <a:solidFill>
                            <a:srgbClr val="4B4B4B"/>
                          </a:solidFill>
                          <a:latin typeface="Arial"/>
                        </a:rPr>
                        <a:t>The screens of the flow in the screen specifications (images of the screen catalogue)</a:t>
                      </a:r>
                    </a:p>
                  </a:txBody>
                  <a:tcPr marL="54864" marR="54864" marT="27432" marB="27432">
                    <a:solidFill>
                      <a:srgbClr val="FFFFFF"/>
                    </a:solidFill>
                  </a:tcPr>
                </a:tc>
              </a:tr>
            </a:tbl>
          </a:graphicData>
        </a:graphic>
      </p:graphicFrame>
    </p:spTree>
  </p:cSld>
  <p:clrMapOvr>
    <a:masterClrMapping/>
  </p:clrMapOvr>
</p:sld>
</file>

<file path=ppt/slides/slide1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UF-C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129</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Marketing Account Officer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Cashiering user</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48640" y="304495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94360" y="3044952"/>
            <a:ext cx="1691640" cy="832104"/>
          </a:xfrm>
          <a:prstGeom prst="rect">
            <a:avLst/>
          </a:prstGeom>
          <a:noFill/>
        </p:spPr>
        <p:txBody>
          <a:bodyPr wrap="square" anchor="ctr" lIns="45720" rIns="45720">
            <a:spAutoFit/>
          </a:bodyPr>
          <a:lstStyle/>
          <a:p>
            <a:r>
              <a:rPr sz="1000" b="1" i="0">
                <a:solidFill>
                  <a:srgbClr val="FFFFFF"/>
                </a:solidFill>
                <a:latin typeface="Arial"/>
              </a:rPr>
              <a:t>Top management approver</a:t>
            </a:r>
          </a:p>
        </p:txBody>
      </p:sp>
      <p:sp>
        <p:nvSpPr>
          <p:cNvPr id="17" name="Rectangle 16"/>
          <p:cNvSpPr/>
          <p:nvPr/>
        </p:nvSpPr>
        <p:spPr>
          <a:xfrm>
            <a:off x="2331720" y="304495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48640" y="391363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94360" y="3913632"/>
            <a:ext cx="1691640" cy="832104"/>
          </a:xfrm>
          <a:prstGeom prst="rect">
            <a:avLst/>
          </a:prstGeom>
          <a:noFill/>
        </p:spPr>
        <p:txBody>
          <a:bodyPr wrap="square" anchor="ctr" lIns="45720" rIns="45720">
            <a:spAutoFit/>
          </a:bodyPr>
          <a:lstStyle/>
          <a:p>
            <a:r>
              <a:rPr sz="1000" b="1" i="0">
                <a:solidFill>
                  <a:srgbClr val="FFFFFF"/>
                </a:solidFill>
                <a:latin typeface="Arial"/>
              </a:rPr>
              <a:t>Commission user</a:t>
            </a:r>
          </a:p>
        </p:txBody>
      </p:sp>
      <p:sp>
        <p:nvSpPr>
          <p:cNvPr id="20" name="Rectangle 19"/>
          <p:cNvSpPr/>
          <p:nvPr/>
        </p:nvSpPr>
        <p:spPr>
          <a:xfrm>
            <a:off x="2331720" y="391363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ounded Rectangle 20"/>
          <p:cNvSpPr/>
          <p:nvPr/>
        </p:nvSpPr>
        <p:spPr>
          <a:xfrm>
            <a:off x="2432304" y="139903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LEGACY badge and Origin filter on the lists</a:t>
            </a:r>
          </a:p>
        </p:txBody>
      </p:sp>
      <p:sp>
        <p:nvSpPr>
          <p:cNvPr id="22" name="Rounded Rectangle 21"/>
          <p:cNvSpPr/>
          <p:nvPr/>
        </p:nvSpPr>
        <p:spPr>
          <a:xfrm>
            <a:off x="3762494" y="226771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LEGACY badge and Origin filter on the lists</a:t>
            </a:r>
          </a:p>
        </p:txBody>
      </p:sp>
      <p:sp>
        <p:nvSpPr>
          <p:cNvPr id="23" name="Rounded Rectangle 22"/>
          <p:cNvSpPr/>
          <p:nvPr/>
        </p:nvSpPr>
        <p:spPr>
          <a:xfrm>
            <a:off x="5092684" y="226771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Legacy invoice on Invoice 360</a:t>
            </a:r>
          </a:p>
        </p:txBody>
      </p:sp>
      <p:sp>
        <p:nvSpPr>
          <p:cNvPr id="24" name="Rounded Rectangle 23"/>
          <p:cNvSpPr/>
          <p:nvPr/>
        </p:nvSpPr>
        <p:spPr>
          <a:xfrm>
            <a:off x="6422874" y="226771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Unapplied to Income</a:t>
            </a:r>
          </a:p>
        </p:txBody>
      </p:sp>
      <p:sp>
        <p:nvSpPr>
          <p:cNvPr id="25" name="Rounded Rectangle 24"/>
          <p:cNvSpPr/>
          <p:nvPr/>
        </p:nvSpPr>
        <p:spPr>
          <a:xfrm>
            <a:off x="7753064" y="3136392"/>
            <a:ext cx="1129022" cy="685800"/>
          </a:xfrm>
          <a:prstGeom prst="roundRect">
            <a:avLst/>
          </a:prstGeom>
          <a:solidFill>
            <a:srgbClr val="FFFFFF"/>
          </a:solidFill>
          <a:ln w="28575">
            <a:solidFill>
              <a:srgbClr val="FDB913"/>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5. </a:t>
            </a:r>
            <a:r>
              <a:rPr sz="800">
                <a:solidFill>
                  <a:srgbClr val="2E2E2E"/>
                </a:solidFill>
                <a:latin typeface="Arial"/>
              </a:rPr>
              <a:t>Unapplied to Income</a:t>
            </a:r>
          </a:p>
        </p:txBody>
      </p:sp>
      <p:sp>
        <p:nvSpPr>
          <p:cNvPr id="26" name="Rounded Rectangle 25"/>
          <p:cNvSpPr/>
          <p:nvPr/>
        </p:nvSpPr>
        <p:spPr>
          <a:xfrm>
            <a:off x="8223718" y="3044952"/>
            <a:ext cx="640080" cy="146304"/>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600" b="1">
                <a:solidFill>
                  <a:srgbClr val="8A5A00"/>
                </a:solidFill>
                <a:latin typeface="Arial"/>
              </a:rPr>
              <a:t>Approval</a:t>
            </a:r>
          </a:p>
        </p:txBody>
      </p:sp>
      <p:sp>
        <p:nvSpPr>
          <p:cNvPr id="27" name="Rounded Rectangle 26"/>
          <p:cNvSpPr/>
          <p:nvPr/>
        </p:nvSpPr>
        <p:spPr>
          <a:xfrm>
            <a:off x="9083254" y="226771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6. </a:t>
            </a:r>
            <a:r>
              <a:rPr sz="800">
                <a:solidFill>
                  <a:srgbClr val="2E2E2E"/>
                </a:solidFill>
                <a:latin typeface="Arial"/>
              </a:rPr>
              <a:t>Legacy PR 2307 Reversal</a:t>
            </a:r>
          </a:p>
        </p:txBody>
      </p:sp>
      <p:sp>
        <p:nvSpPr>
          <p:cNvPr id="28" name="Rounded Rectangle 27"/>
          <p:cNvSpPr/>
          <p:nvPr/>
        </p:nvSpPr>
        <p:spPr>
          <a:xfrm>
            <a:off x="10413444" y="4005072"/>
            <a:ext cx="1129022"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7. </a:t>
            </a:r>
            <a:r>
              <a:rPr sz="800">
                <a:solidFill>
                  <a:srgbClr val="2E2E2E"/>
                </a:solidFill>
                <a:latin typeface="Arial"/>
              </a:rPr>
              <a:t>DP PR Legacy Reversal</a:t>
            </a:r>
          </a:p>
        </p:txBody>
      </p:sp>
      <p:cxnSp>
        <p:nvCxnSpPr>
          <p:cNvPr id="29" name="Connector 28"/>
          <p:cNvCxnSpPr/>
          <p:nvPr/>
        </p:nvCxnSpPr>
        <p:spPr>
          <a:xfrm>
            <a:off x="3561326"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4891516"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6221706" y="261061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7551896"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3" name="Connector 32"/>
          <p:cNvCxnSpPr/>
          <p:nvPr/>
        </p:nvCxnSpPr>
        <p:spPr>
          <a:xfrm flipV="1">
            <a:off x="8882086" y="261061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4" name="Connector 33"/>
          <p:cNvCxnSpPr/>
          <p:nvPr/>
        </p:nvCxnSpPr>
        <p:spPr>
          <a:xfrm>
            <a:off x="10212276" y="2610612"/>
            <a:ext cx="201168" cy="173736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35" name="TextBox 34"/>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UF-C step 1 of 7: LEGACY badge and Origin filter on the lists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6-01-clients.png"/>
          <p:cNvPicPr>
            <a:picLocks noChangeAspect="1"/>
          </p:cNvPicPr>
          <p:nvPr/>
        </p:nvPicPr>
        <p:blipFill>
          <a:blip r:embed="rId3"/>
          <a:stretch>
            <a:fillRect/>
          </a:stretch>
        </p:blipFill>
        <p:spPr>
          <a:xfrm>
            <a:off x="548640" y="1261872"/>
            <a:ext cx="7665415" cy="365428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SCR-DM-16 Clients list with a migrated client marked LEGACY</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Marketing Account Officer: Searches the clients list for a migrated client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Lists the client with the LEGACY badge and the legacy reference in its tooltip</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Clients list with the LEGACY badge</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Cashiering user on LEGACY badge and Origin filter on the lists</a:t>
            </a:r>
          </a:p>
        </p:txBody>
      </p:sp>
    </p:spTree>
  </p:cSld>
  <p:clrMapOvr>
    <a:masterClrMapping/>
  </p:clrMapOvr>
</p:sld>
</file>

<file path=ppt/slides/slide1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UF-C step 2 of 7: LEGACY badge and Origin filter on the lists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6-02-unapplied.png"/>
          <p:cNvPicPr>
            <a:picLocks noChangeAspect="1"/>
          </p:cNvPicPr>
          <p:nvPr/>
        </p:nvPicPr>
        <p:blipFill>
          <a:blip r:embed="rId3"/>
          <a:stretch>
            <a:fillRect/>
          </a:stretch>
        </p:blipFill>
        <p:spPr>
          <a:xfrm>
            <a:off x="548640" y="1261872"/>
            <a:ext cx="7665415" cy="342961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SCR-DM-16 Unapplied Payments with the Origin filter set to Migrated</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user: Sets the Origin filter of Unapplied Payments to Migrated</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Lists only the migrated unapplied payments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Origin filter set to Migrated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Cashiering user on Legacy invoice on Invoice 360</a:t>
            </a:r>
          </a:p>
        </p:txBody>
      </p:sp>
    </p:spTree>
  </p:cSld>
  <p:clrMapOvr>
    <a:masterClrMapping/>
  </p:clrMapOvr>
</p:sld>
</file>

<file path=ppt/slides/slide1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UF-C step 3 of 7: Legacy invoice on Invoice 360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1.png"/>
          <p:cNvPicPr>
            <a:picLocks noChangeAspect="1"/>
          </p:cNvPicPr>
          <p:nvPr/>
        </p:nvPicPr>
        <p:blipFill>
          <a:blip r:embed="rId3"/>
          <a:stretch>
            <a:fillRect/>
          </a:stretch>
        </p:blipFill>
        <p:spPr>
          <a:xfrm>
            <a:off x="548640" y="1261872"/>
            <a:ext cx="7665415" cy="457080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SCR-DM-17 Invoice 360 of a legacy invoice with the Legacy Invoice card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user: Opens a legacy invoice from Invoice Search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Shows Invoice 360 with the LEGACY badge and the Legacy Invoice card with the values at cut-over</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Legacy Invoice card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Cashiering user on Unapplied to Income</a:t>
            </a:r>
          </a:p>
        </p:txBody>
      </p:sp>
    </p:spTree>
  </p:cSld>
  <p:clrMapOvr>
    <a:masterClrMapping/>
  </p:clrMapOvr>
</p:sld>
</file>

<file path=ppt/slides/slide1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UF-C step 3 of 7: Legacy invoice on Invoice 360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133</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2.png"/>
          <p:cNvPicPr>
            <a:picLocks noChangeAspect="1"/>
          </p:cNvPicPr>
          <p:nvPr/>
        </p:nvPicPr>
        <p:blipFill>
          <a:blip r:embed="rId3"/>
          <a:stretch>
            <a:fillRect/>
          </a:stretch>
        </p:blipFill>
        <p:spPr>
          <a:xfrm>
            <a:off x="548640" y="1261872"/>
            <a:ext cx="7665415" cy="290500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SCR-DM-17 Invoice 360 of a legacy invoice with the Legacy Invoice card (part 2 of 2)</a:t>
            </a:r>
          </a:p>
        </p:txBody>
      </p:sp>
    </p:spTree>
  </p:cSld>
  <p:clrMapOvr>
    <a:masterClrMapping/>
  </p:clrMapOvr>
</p:sld>
</file>

<file path=ppt/slides/slide1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UF-C step 4 of 7: Unapplied to Income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3.png"/>
          <p:cNvPicPr>
            <a:picLocks noChangeAspect="1"/>
          </p:cNvPicPr>
          <p:nvPr/>
        </p:nvPicPr>
        <p:blipFill>
          <a:blip r:embed="rId3"/>
          <a:stretch>
            <a:fillRect/>
          </a:stretch>
        </p:blipFill>
        <p:spPr>
          <a:xfrm>
            <a:off x="548640" y="1261872"/>
            <a:ext cx="7665415" cy="4374573"/>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SCR-DM-18 A draft batch with its lines and the payments that may be added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user: Opens a draft Unapplied to Income batch, adds old unapplied payments and clicks Submit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Sends the batch to the Cashiering team lead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draft batch with its lines and the payments that may be added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5: Top management approver on Unapplied to Income</a:t>
            </a:r>
          </a:p>
        </p:txBody>
      </p:sp>
    </p:spTree>
  </p:cSld>
  <p:clrMapOvr>
    <a:masterClrMapping/>
  </p:clrMapOvr>
</p:sld>
</file>

<file path=ppt/slides/slide1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UF-C step 4 of 7: Unapplied to Income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4.png"/>
          <p:cNvPicPr>
            <a:picLocks noChangeAspect="1"/>
          </p:cNvPicPr>
          <p:nvPr/>
        </p:nvPicPr>
        <p:blipFill>
          <a:blip r:embed="rId3"/>
          <a:stretch>
            <a:fillRect/>
          </a:stretch>
        </p:blipFill>
        <p:spPr>
          <a:xfrm>
            <a:off x="548640" y="1261872"/>
            <a:ext cx="7665415" cy="240535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SCR-DM-18 A draft batch with its lines and the payments that may be added (part 2 of 2)</a:t>
            </a:r>
          </a:p>
        </p:txBody>
      </p:sp>
    </p:spTree>
  </p:cSld>
  <p:clrMapOvr>
    <a:masterClrMapping/>
  </p:clrMapOvr>
</p:sld>
</file>

<file path=ppt/slides/slide1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UF-C step 5 of 7: Unapplied to Income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136</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dm-18-03-approve.png"/>
          <p:cNvPicPr>
            <a:picLocks noChangeAspect="1"/>
          </p:cNvPicPr>
          <p:nvPr/>
        </p:nvPicPr>
        <p:blipFill>
          <a:blip r:embed="rId3"/>
          <a:stretch>
            <a:fillRect/>
          </a:stretch>
        </p:blipFill>
        <p:spPr>
          <a:xfrm>
            <a:off x="548640" y="1261872"/>
            <a:ext cx="7665415" cy="337674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SCR-DM-18 A batch waiting for top management</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Top management approver: After the team lead, approves the batch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Posts each line on its own and closes the payments</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batch waiting for top management with Approve and Return</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6: Cashiering user on Legacy PR 2307 Reversal</a:t>
            </a:r>
          </a:p>
        </p:txBody>
      </p:sp>
    </p:spTree>
  </p:cSld>
  <p:clrMapOvr>
    <a:masterClrMapping/>
  </p:clrMapOvr>
</p:sld>
</file>

<file path=ppt/slides/slide1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UF-C step 6 of 7: Legacy PR 2307 Reversal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9-01-draft.png"/>
          <p:cNvPicPr>
            <a:picLocks noChangeAspect="1"/>
          </p:cNvPicPr>
          <p:nvPr/>
        </p:nvPicPr>
        <p:blipFill>
          <a:blip r:embed="rId3"/>
          <a:stretch>
            <a:fillRect/>
          </a:stretch>
        </p:blipFill>
        <p:spPr>
          <a:xfrm>
            <a:off x="1259503" y="1261872"/>
            <a:ext cx="6243689"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SCR-DM-19 A draft PR 2307 reversal batch with the legacy invoice to add</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Cashiering user: Adds a legacy invoice with the PR 2307 amount to reverse and submits the batch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Sends the batch to the team lead, who posts each line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draft PR 2307 reversal batch</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7: Commission user on DP PR Legacy Reversal</a:t>
            </a:r>
          </a:p>
        </p:txBody>
      </p:sp>
    </p:spTree>
  </p:cSld>
  <p:clrMapOvr>
    <a:masterClrMapping/>
  </p:clrMapOvr>
</p:sld>
</file>

<file path=ppt/slides/slide1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UF-C step 7 of 7: DP PR Legacy Reversal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5.png"/>
          <p:cNvPicPr>
            <a:picLocks noChangeAspect="1"/>
          </p:cNvPicPr>
          <p:nvPr/>
        </p:nvPicPr>
        <p:blipFill>
          <a:blip r:embed="rId3"/>
          <a:stretch>
            <a:fillRect/>
          </a:stretch>
        </p:blipFill>
        <p:spPr>
          <a:xfrm>
            <a:off x="548640" y="1261872"/>
            <a:ext cx="7665415" cy="4734715"/>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SCR-DM-20 A draft batch with the tagged legacy invoices to add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Commission user: Adds the legacy invoices tagged DP PR for reversal and submits the batch</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Sends the batch to the Commission team lead, who posts each invoice</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draft DP PR reversal batch</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UF-C step 7 of 7: DP PR Legacy Reversal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139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6.png"/>
          <p:cNvPicPr>
            <a:picLocks noChangeAspect="1"/>
          </p:cNvPicPr>
          <p:nvPr/>
        </p:nvPicPr>
        <p:blipFill>
          <a:blip r:embed="rId3"/>
          <a:stretch>
            <a:fillRect/>
          </a:stretch>
        </p:blipFill>
        <p:spPr>
          <a:xfrm>
            <a:off x="548640" y="1261872"/>
            <a:ext cx="7665415" cy="2587077"/>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SCR-DM-20 A draft batch with the tagged legacy invoices to add (part 2 of 2)</a:t>
            </a:r>
          </a:p>
        </p:txBody>
      </p:sp>
    </p:spTree>
  </p:cSld>
  <p:clrMapOvr>
    <a:masterClrMapping/>
  </p:clrMapOvr>
</p:sld>
</file>

<file path=ppt/slides/slide1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A legacy archive inquiry and its review</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140</a:t>
            </a:r>
          </a:p>
        </p:txBody>
      </p:sp>
      <p:graphicFrame>
        <p:nvGraphicFramePr>
          <p:cNvPr id="9" name="Table 8"/>
          <p:cNvGraphicFramePr>
            <a:graphicFrameLocks noGrp="1"/>
          </p:cNvGraphicFramePr>
          <p:nvPr/>
        </p:nvGraphicFramePr>
        <p:xfrm>
          <a:off x="548640" y="1307592"/>
          <a:ext cx="11094415" cy="1828793"/>
        </p:xfrm>
        <a:graphic>
          <a:graphicData uri="http://schemas.openxmlformats.org/drawingml/2006/table">
            <a:tbl>
              <a:tblPr bandRow="1">
                <a:tableStyleId>{5C22544A-7EE6-4342-B048-85BDC9FD1C3A}</a:tableStyleId>
              </a:tblPr>
              <a:tblGrid>
                <a:gridCol w="2011680"/>
                <a:gridCol w="9082735"/>
              </a:tblGrid>
              <a:tr h="274319">
                <a:tc>
                  <a:txBody>
                    <a:bodyPr/>
                    <a:lstStyle/>
                    <a:p>
                      <a:r>
                        <a:rPr sz="1200" b="1">
                          <a:solidFill>
                            <a:srgbClr val="004EA8"/>
                          </a:solidFill>
                          <a:latin typeface="Arial"/>
                        </a:rPr>
                        <a:t>Flow</a:t>
                      </a:r>
                    </a:p>
                  </a:txBody>
                  <a:tcPr marL="54864" marR="54864" marT="27432" marB="27432">
                    <a:solidFill>
                      <a:srgbClr val="E5F5FF"/>
                    </a:solidFill>
                  </a:tcPr>
                </a:tc>
                <a:tc>
                  <a:txBody>
                    <a:bodyPr/>
                    <a:lstStyle/>
                    <a:p>
                      <a:r>
                        <a:rPr sz="1200" b="0">
                          <a:solidFill>
                            <a:srgbClr val="4B4B4B"/>
                          </a:solidFill>
                          <a:latin typeface="Arial"/>
                        </a:rPr>
                        <a:t>UF-D A legacy archive inquiry and its review</a:t>
                      </a:r>
                    </a:p>
                  </a:txBody>
                  <a:tcPr marL="54864" marR="54864" marT="27432" marB="27432">
                    <a:solidFill>
                      <a:srgbClr val="FFFFFF"/>
                    </a:solidFill>
                  </a:tcPr>
                </a:tc>
              </a:tr>
              <a:tr h="457198">
                <a:tc>
                  <a:txBody>
                    <a:bodyPr/>
                    <a:lstStyle/>
                    <a:p>
                      <a:r>
                        <a:rPr sz="1200" b="1">
                          <a:solidFill>
                            <a:srgbClr val="004EA8"/>
                          </a:solidFill>
                          <a:latin typeface="Arial"/>
                        </a:rPr>
                        <a:t>Summary</a:t>
                      </a:r>
                    </a:p>
                  </a:txBody>
                  <a:tcPr marL="54864" marR="54864" marT="27432" marB="27432">
                    <a:solidFill>
                      <a:srgbClr val="E5F5FF"/>
                    </a:solidFill>
                  </a:tcPr>
                </a:tc>
                <a:tc>
                  <a:txBody>
                    <a:bodyPr/>
                    <a:lstStyle/>
                    <a:p>
                      <a:r>
                        <a:rPr sz="1200" b="0">
                          <a:solidFill>
                            <a:srgbClr val="4B4B4B"/>
                          </a:solidFill>
                          <a:latin typeface="Arial"/>
                        </a:rPr>
                        <a:t>An Audit or Compliance user gives the reason of the inquiry once per session, searches and opens the closed legacy records read-only; every access is logged with the reason and reviewed by Compliance.</a:t>
                      </a:r>
                    </a:p>
                  </a:txBody>
                  <a:tcPr marL="54864" marR="54864" marT="27432" marB="27432">
                    <a:solidFill>
                      <a:srgbClr val="FFFFFF"/>
                    </a:solidFill>
                  </a:tcPr>
                </a:tc>
              </a:tr>
              <a:tr h="274319">
                <a:tc>
                  <a:txBody>
                    <a:bodyPr/>
                    <a:lstStyle/>
                    <a:p>
                      <a:r>
                        <a:rPr sz="1200" b="1">
                          <a:solidFill>
                            <a:srgbClr val="004EA8"/>
                          </a:solidFill>
                          <a:latin typeface="Arial"/>
                        </a:rPr>
                        <a:t>Seed data</a:t>
                      </a:r>
                    </a:p>
                  </a:txBody>
                  <a:tcPr marL="54864" marR="54864" marT="27432" marB="27432">
                    <a:solidFill>
                      <a:srgbClr val="E5F5FF"/>
                    </a:solidFill>
                  </a:tcPr>
                </a:tc>
                <a:tc>
                  <a:txBody>
                    <a:bodyPr/>
                    <a:lstStyle/>
                    <a:p>
                      <a:r>
                        <a:rPr sz="1200" b="0">
                          <a:solidFill>
                            <a:srgbClr val="4B4B4B"/>
                          </a:solidFill>
                          <a:latin typeface="Arial"/>
                        </a:rPr>
                        <a:t>The legacy archive records of the seed data</a:t>
                      </a:r>
                    </a:p>
                  </a:txBody>
                  <a:tcPr marL="54864" marR="54864" marT="27432" marB="27432">
                    <a:solidFill>
                      <a:srgbClr val="FFFFFF"/>
                    </a:solidFill>
                  </a:tcPr>
                </a:tc>
              </a:tr>
              <a:tr h="274319">
                <a:tc>
                  <a:txBody>
                    <a:bodyPr/>
                    <a:lstStyle/>
                    <a:p>
                      <a:r>
                        <a:rPr sz="1200" b="1">
                          <a:solidFill>
                            <a:srgbClr val="004EA8"/>
                          </a:solidFill>
                          <a:latin typeface="Arial"/>
                        </a:rPr>
                        <a:t>Personas</a:t>
                      </a:r>
                    </a:p>
                  </a:txBody>
                  <a:tcPr marL="54864" marR="54864" marT="27432" marB="27432">
                    <a:solidFill>
                      <a:srgbClr val="E5F5FF"/>
                    </a:solidFill>
                  </a:tcPr>
                </a:tc>
                <a:tc>
                  <a:txBody>
                    <a:bodyPr/>
                    <a:lstStyle/>
                    <a:p>
                      <a:r>
                        <a:rPr sz="1200" b="0">
                          <a:solidFill>
                            <a:srgbClr val="4B4B4B"/>
                          </a:solidFill>
                          <a:latin typeface="Arial"/>
                        </a:rPr>
                        <a:t>Audit / Compliance user, Compliance reviewer of the access log</a:t>
                      </a:r>
                    </a:p>
                  </a:txBody>
                  <a:tcPr marL="54864" marR="54864" marT="27432" marB="27432">
                    <a:solidFill>
                      <a:srgbClr val="FFFFFF"/>
                    </a:solidFill>
                  </a:tcPr>
                </a:tc>
              </a:tr>
              <a:tr h="274319">
                <a:tc>
                  <a:txBody>
                    <a:bodyPr/>
                    <a:lstStyle/>
                    <a:p>
                      <a:r>
                        <a:rPr sz="1200" b="1">
                          <a:solidFill>
                            <a:srgbClr val="004EA8"/>
                          </a:solidFill>
                          <a:latin typeface="Arial"/>
                        </a:rPr>
                        <a:t>Steps</a:t>
                      </a:r>
                    </a:p>
                  </a:txBody>
                  <a:tcPr marL="54864" marR="54864" marT="27432" marB="27432">
                    <a:solidFill>
                      <a:srgbClr val="E5F5FF"/>
                    </a:solidFill>
                  </a:tcPr>
                </a:tc>
                <a:tc>
                  <a:txBody>
                    <a:bodyPr/>
                    <a:lstStyle/>
                    <a:p>
                      <a:r>
                        <a:rPr sz="1200" b="0">
                          <a:solidFill>
                            <a:srgbClr val="4B4B4B"/>
                          </a:solidFill>
                          <a:latin typeface="Arial"/>
                        </a:rPr>
                        <a:t>4 steps, 1 hand-offs, 0 approval steps</a:t>
                      </a:r>
                    </a:p>
                  </a:txBody>
                  <a:tcPr marL="54864" marR="54864" marT="27432" marB="27432">
                    <a:solidFill>
                      <a:srgbClr val="FFFFFF"/>
                    </a:solidFill>
                  </a:tcPr>
                </a:tc>
              </a:tr>
              <a:tr h="274319">
                <a:tc>
                  <a:txBody>
                    <a:bodyPr/>
                    <a:lstStyle/>
                    <a:p>
                      <a:r>
                        <a:rPr sz="1200" b="1">
                          <a:solidFill>
                            <a:srgbClr val="004EA8"/>
                          </a:solidFill>
                          <a:latin typeface="Arial"/>
                        </a:rPr>
                        <a:t>Data Migration Handbook section</a:t>
                      </a:r>
                    </a:p>
                  </a:txBody>
                  <a:tcPr marL="54864" marR="54864" marT="27432" marB="27432">
                    <a:solidFill>
                      <a:srgbClr val="E5F5FF"/>
                    </a:solidFill>
                  </a:tcPr>
                </a:tc>
                <a:tc>
                  <a:txBody>
                    <a:bodyPr/>
                    <a:lstStyle/>
                    <a:p>
                      <a:r>
                        <a:rPr sz="1200" b="0">
                          <a:solidFill>
                            <a:srgbClr val="4B4B4B"/>
                          </a:solidFill>
                          <a:latin typeface="Arial"/>
                        </a:rPr>
                        <a:t>The screens of the flow in the screen specifications (images of the screen catalogue)</a:t>
                      </a:r>
                    </a:p>
                  </a:txBody>
                  <a:tcPr marL="54864" marR="54864" marT="27432" marB="27432">
                    <a:solidFill>
                      <a:srgbClr val="FFFFFF"/>
                    </a:solidFill>
                  </a:tcPr>
                </a:tc>
              </a:tr>
            </a:tbl>
          </a:graphicData>
        </a:graphic>
      </p:graphicFrame>
    </p:spTree>
  </p:cSld>
  <p:clrMapOvr>
    <a:masterClrMapping/>
  </p:clrMapOvr>
</p:sld>
</file>

<file path=ppt/slides/slide1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swimlane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141</a:t>
            </a:r>
          </a:p>
        </p:txBody>
      </p:sp>
      <p:sp>
        <p:nvSpPr>
          <p:cNvPr id="9" name="Rectangle 8"/>
          <p:cNvSpPr/>
          <p:nvPr/>
        </p:nvSpPr>
        <p:spPr>
          <a:xfrm>
            <a:off x="548640" y="130759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307592"/>
            <a:ext cx="1691640" cy="832104"/>
          </a:xfrm>
          <a:prstGeom prst="rect">
            <a:avLst/>
          </a:prstGeom>
          <a:noFill/>
        </p:spPr>
        <p:txBody>
          <a:bodyPr wrap="square" anchor="ctr" lIns="45720" rIns="45720">
            <a:spAutoFit/>
          </a:bodyPr>
          <a:lstStyle/>
          <a:p>
            <a:r>
              <a:rPr sz="1000" b="1" i="0">
                <a:solidFill>
                  <a:srgbClr val="FFFFFF"/>
                </a:solidFill>
                <a:latin typeface="Arial"/>
              </a:rPr>
              <a:t>Audit / Compliance user</a:t>
            </a:r>
          </a:p>
        </p:txBody>
      </p:sp>
      <p:sp>
        <p:nvSpPr>
          <p:cNvPr id="11" name="Rectangle 10"/>
          <p:cNvSpPr/>
          <p:nvPr/>
        </p:nvSpPr>
        <p:spPr>
          <a:xfrm>
            <a:off x="2331720" y="1307592"/>
            <a:ext cx="9311335" cy="832104"/>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48640" y="2176272"/>
            <a:ext cx="1783080" cy="832104"/>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94360" y="2176272"/>
            <a:ext cx="1691640" cy="832104"/>
          </a:xfrm>
          <a:prstGeom prst="rect">
            <a:avLst/>
          </a:prstGeom>
          <a:noFill/>
        </p:spPr>
        <p:txBody>
          <a:bodyPr wrap="square" anchor="ctr" lIns="45720" rIns="45720">
            <a:spAutoFit/>
          </a:bodyPr>
          <a:lstStyle/>
          <a:p>
            <a:r>
              <a:rPr sz="1000" b="1" i="0">
                <a:solidFill>
                  <a:srgbClr val="FFFFFF"/>
                </a:solidFill>
                <a:latin typeface="Arial"/>
              </a:rPr>
              <a:t>Compliance reviewer of the access log</a:t>
            </a:r>
          </a:p>
        </p:txBody>
      </p:sp>
      <p:sp>
        <p:nvSpPr>
          <p:cNvPr id="14" name="Rectangle 13"/>
          <p:cNvSpPr/>
          <p:nvPr/>
        </p:nvSpPr>
        <p:spPr>
          <a:xfrm>
            <a:off x="2331720" y="2176272"/>
            <a:ext cx="9311335" cy="832104"/>
          </a:xfrm>
          <a:prstGeom prst="rect">
            <a:avLst/>
          </a:prstGeom>
          <a:solidFill>
            <a:srgbClr val="F6F6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ounded Rectangle 14"/>
          <p:cNvSpPr/>
          <p:nvPr/>
        </p:nvSpPr>
        <p:spPr>
          <a:xfrm>
            <a:off x="2432304"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1. </a:t>
            </a:r>
            <a:r>
              <a:rPr sz="800">
                <a:solidFill>
                  <a:srgbClr val="2E2E2E"/>
                </a:solidFill>
                <a:latin typeface="Arial"/>
              </a:rPr>
              <a:t>Legacy Inquiry</a:t>
            </a:r>
          </a:p>
        </p:txBody>
      </p:sp>
      <p:sp>
        <p:nvSpPr>
          <p:cNvPr id="16" name="Rounded Rectangle 15"/>
          <p:cNvSpPr/>
          <p:nvPr/>
        </p:nvSpPr>
        <p:spPr>
          <a:xfrm>
            <a:off x="4760137"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2. </a:t>
            </a:r>
            <a:r>
              <a:rPr sz="800">
                <a:solidFill>
                  <a:srgbClr val="2E2E2E"/>
                </a:solidFill>
                <a:latin typeface="Arial"/>
              </a:rPr>
              <a:t>Legacy Inquiry</a:t>
            </a:r>
          </a:p>
        </p:txBody>
      </p:sp>
      <p:sp>
        <p:nvSpPr>
          <p:cNvPr id="17" name="Rounded Rectangle 16"/>
          <p:cNvSpPr/>
          <p:nvPr/>
        </p:nvSpPr>
        <p:spPr>
          <a:xfrm>
            <a:off x="7087970" y="139903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3. </a:t>
            </a:r>
            <a:r>
              <a:rPr sz="800">
                <a:solidFill>
                  <a:srgbClr val="2E2E2E"/>
                </a:solidFill>
                <a:latin typeface="Arial"/>
              </a:rPr>
              <a:t>Legacy Inquiry</a:t>
            </a:r>
          </a:p>
        </p:txBody>
      </p:sp>
      <p:sp>
        <p:nvSpPr>
          <p:cNvPr id="18" name="Rounded Rectangle 17"/>
          <p:cNvSpPr/>
          <p:nvPr/>
        </p:nvSpPr>
        <p:spPr>
          <a:xfrm>
            <a:off x="9415803" y="2267712"/>
            <a:ext cx="2126665" cy="685800"/>
          </a:xfrm>
          <a:prstGeom prst="roundRect">
            <a:avLst/>
          </a:prstGeom>
          <a:solidFill>
            <a:srgbClr val="FFFFFF"/>
          </a:solidFill>
          <a:ln w="12700">
            <a:solidFill>
              <a:srgbClr val="99C1E7"/>
            </a:solidFill>
          </a:ln>
          <a:effectLst/>
        </p:spPr>
        <p:style>
          <a:lnRef idx="1">
            <a:schemeClr val="accent1"/>
          </a:lnRef>
          <a:fillRef idx="3">
            <a:schemeClr val="accent1"/>
          </a:fillRef>
          <a:effectRef idx="2">
            <a:schemeClr val="accent1"/>
          </a:effectRef>
          <a:fontRef idx="minor">
            <a:schemeClr val="lt1"/>
          </a:fontRef>
        </p:style>
        <p:txBody>
          <a:bodyPr rtlCol="0" anchor="ctr" wrap="square" lIns="36576" rIns="36576" tIns="18288" bIns="18288"/>
          <a:lstStyle/>
          <a:p>
            <a:pPr algn="ctr"/>
            <a:r>
              <a:rPr b="1" sz="900">
                <a:solidFill>
                  <a:srgbClr val="004EA8"/>
                </a:solidFill>
                <a:latin typeface="Arial"/>
              </a:rPr>
              <a:t>4. </a:t>
            </a:r>
            <a:r>
              <a:rPr sz="800">
                <a:solidFill>
                  <a:srgbClr val="2E2E2E"/>
                </a:solidFill>
                <a:latin typeface="Arial"/>
              </a:rPr>
              <a:t>Access Log</a:t>
            </a:r>
          </a:p>
        </p:txBody>
      </p:sp>
      <p:cxnSp>
        <p:nvCxnSpPr>
          <p:cNvPr id="19" name="Connector 18"/>
          <p:cNvCxnSpPr/>
          <p:nvPr/>
        </p:nvCxnSpPr>
        <p:spPr>
          <a:xfrm>
            <a:off x="4558969"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6886802" y="1741932"/>
            <a:ext cx="201168" cy="0"/>
          </a:xfrm>
          <a:prstGeom prst="line">
            <a:avLst/>
          </a:prstGeom>
          <a:ln w="12700">
            <a:solidFill>
              <a:srgbClr val="656565"/>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9214635" y="1741932"/>
            <a:ext cx="201168" cy="868680"/>
          </a:xfrm>
          <a:prstGeom prst="bentConnector3">
            <a:avLst/>
          </a:prstGeom>
          <a:ln w="19050">
            <a:solidFill>
              <a:srgbClr val="0072D8"/>
            </a:solidFill>
            <a:tailEnd type="triangle" w="med" len="med"/>
          </a:ln>
        </p:spPr>
        <p:style>
          <a:lnRef idx="2">
            <a:schemeClr val="accent1"/>
          </a:lnRef>
          <a:fillRef idx="0">
            <a:schemeClr val="accent1"/>
          </a:fillRef>
          <a:effectRef idx="1">
            <a:schemeClr val="accent1"/>
          </a:effectRef>
          <a:fontRef idx="minor">
            <a:schemeClr val="tx1"/>
          </a:fontRef>
        </p:style>
      </p:cxnSp>
      <p:sp>
        <p:nvSpPr>
          <p:cNvPr id="22" name="TextBox 21"/>
          <p:cNvSpPr txBox="1"/>
          <p:nvPr/>
        </p:nvSpPr>
        <p:spPr>
          <a:xfrm>
            <a:off x="548640" y="6016752"/>
            <a:ext cx="11094415" cy="274320"/>
          </a:xfrm>
          <a:prstGeom prst="rect">
            <a:avLst/>
          </a:prstGeom>
          <a:noFill/>
        </p:spPr>
        <p:txBody>
          <a:bodyPr wrap="square" anchor="t" lIns="45720" rIns="45720">
            <a:spAutoFit/>
          </a:bodyPr>
          <a:lstStyle/>
          <a:p>
            <a:r>
              <a:rPr sz="900" b="0" i="1">
                <a:solidFill>
                  <a:srgbClr val="656565"/>
                </a:solidFill>
                <a:latin typeface="Arial"/>
              </a:rPr>
              <a:t>Boxes: step number and screen. Blue arrow: hand-off to another persona. Yellow outline: an approval, authorisation, sign-off or validation step.</a:t>
            </a:r>
          </a:p>
        </p:txBody>
      </p:sp>
    </p:spTree>
  </p:cSld>
  <p:clrMapOvr>
    <a:masterClrMapping/>
  </p:clrMapOvr>
</p:sld>
</file>

<file path=ppt/slides/slide1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step 1 of 4: Legacy Inquiry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4-01-reason.png"/>
          <p:cNvPicPr>
            <a:picLocks noChangeAspect="1"/>
          </p:cNvPicPr>
          <p:nvPr/>
        </p:nvPicPr>
        <p:blipFill>
          <a:blip r:embed="rId3"/>
          <a:stretch>
            <a:fillRect/>
          </a:stretch>
        </p:blipFill>
        <p:spPr>
          <a:xfrm>
            <a:off x="790422" y="1261872"/>
            <a:ext cx="7181850" cy="2866548"/>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SCR-DM-14 Reason of the Inquiry asked once per session</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 / Compliance user: Opens Legacy Inquiry and gives the reason of the inquiry</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Keeps the reason for the session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Reason of the Inquiry card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2: Audit / Compliance user on Legacy Inquiry</a:t>
            </a:r>
          </a:p>
        </p:txBody>
      </p:sp>
    </p:spTree>
  </p:cSld>
  <p:clrMapOvr>
    <a:masterClrMapping/>
  </p:clrMapOvr>
</p:sld>
</file>

<file path=ppt/slides/slide1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step 2 of 4: Legacy Inquiry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4-02-results.png"/>
          <p:cNvPicPr>
            <a:picLocks noChangeAspect="1"/>
          </p:cNvPicPr>
          <p:nvPr/>
        </p:nvPicPr>
        <p:blipFill>
          <a:blip r:embed="rId3"/>
          <a:stretch>
            <a:fillRect/>
          </a:stretch>
        </p:blipFill>
        <p:spPr>
          <a:xfrm>
            <a:off x="732977" y="1261872"/>
            <a:ext cx="7296741" cy="473659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SCR-DM-14 Search criteria and the legacy records found</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 / Compliance user: Searches the closed invoices</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Lists the matching records and logs the search</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search criteria and the records found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3: Audit / Compliance user on Legacy Inquiry</a:t>
            </a:r>
          </a:p>
        </p:txBody>
      </p:sp>
    </p:spTree>
  </p:cSld>
  <p:clrMapOvr>
    <a:masterClrMapping/>
  </p:clrMapOvr>
</p:sld>
</file>

<file path=ppt/slides/slide1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step 3 of 4: Legacy Inquiry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7.png"/>
          <p:cNvPicPr>
            <a:picLocks noChangeAspect="1"/>
          </p:cNvPicPr>
          <p:nvPr/>
        </p:nvPicPr>
        <p:blipFill>
          <a:blip r:embed="rId3"/>
          <a:stretch>
            <a:fillRect/>
          </a:stretch>
        </p:blipFill>
        <p:spPr>
          <a:xfrm>
            <a:off x="548640" y="1261872"/>
            <a:ext cx="7665415" cy="4572816"/>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SCR-DM-14 A legacy record with its legacy details and documents (part 1 of 2)</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Audit / Compliance user: Opens a record and downloads a document</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Shows the record read-only and logs the view and the download</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legacy record with its legacy details and documents</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Step 4: Compliance reviewer of the access log on Access Log</a:t>
            </a:r>
          </a:p>
        </p:txBody>
      </p:sp>
    </p:spTree>
  </p:cSld>
  <p:clrMapOvr>
    <a:masterClrMapping/>
  </p:clrMapOvr>
</p:sld>
</file>

<file path=ppt/slides/slide1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step 3 of 4: Legacy Inquiry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088.png"/>
          <p:cNvPicPr>
            <a:picLocks noChangeAspect="1"/>
          </p:cNvPicPr>
          <p:nvPr/>
        </p:nvPicPr>
        <p:blipFill>
          <a:blip r:embed="rId3"/>
          <a:stretch>
            <a:fillRect/>
          </a:stretch>
        </p:blipFill>
        <p:spPr>
          <a:xfrm>
            <a:off x="548640" y="1261872"/>
            <a:ext cx="7665415" cy="4586032"/>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SCR-DM-14 A legacy record with its legacy details and documents (part 2 of 2)</a:t>
            </a:r>
          </a:p>
        </p:txBody>
      </p:sp>
    </p:spTree>
  </p:cSld>
  <p:clrMapOvr>
    <a:masterClrMapping/>
  </p:clrMapOvr>
</p:sld>
</file>

<file path=ppt/slides/slide1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UF-D step 4 of 4: Access Log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dm-15-01-log.png"/>
          <p:cNvPicPr>
            <a:picLocks noChangeAspect="1"/>
          </p:cNvPicPr>
          <p:nvPr/>
        </p:nvPicPr>
        <p:blipFill>
          <a:blip r:embed="rId3"/>
          <a:stretch>
            <a:fillRect/>
          </a:stretch>
        </p:blipFill>
        <p:spPr>
          <a:xfrm>
            <a:off x="548640" y="1261872"/>
            <a:ext cx="7665415" cy="4229194"/>
          </a:xfrm>
          <a:prstGeom prst="rect">
            <a:avLst/>
          </a:prstGeom>
          <a:ln w="9525">
            <a:solidFill>
              <a:srgbClr val="C2C2C1"/>
            </a:solidFill>
          </a:ln>
        </p:spPr>
      </p:pic>
      <p:sp>
        <p:nvSpPr>
          <p:cNvPr id="11" name="TextBox 10"/>
          <p:cNvSpPr txBox="1"/>
          <p:nvPr/>
        </p:nvSpPr>
        <p:spPr>
          <a:xfrm>
            <a:off x="548640" y="5998464"/>
            <a:ext cx="7665415" cy="292608"/>
          </a:xfrm>
          <a:prstGeom prst="rect">
            <a:avLst/>
          </a:prstGeom>
          <a:noFill/>
        </p:spPr>
        <p:txBody>
          <a:bodyPr wrap="square" anchor="t" lIns="45720" rIns="45720">
            <a:spAutoFit/>
          </a:bodyPr>
          <a:lstStyle/>
          <a:p>
            <a:pPr algn="ctr"/>
            <a:r>
              <a:rPr sz="1100" b="0" i="1">
                <a:solidFill>
                  <a:srgbClr val="656565"/>
                </a:solidFill>
                <a:latin typeface="Arial"/>
              </a:rPr>
              <a:t>SCR-DM-15 Access Log with its filters</a:t>
            </a:r>
          </a:p>
        </p:txBody>
      </p:sp>
      <p:sp>
        <p:nvSpPr>
          <p:cNvPr id="12" name="Rectangle 11"/>
          <p:cNvSpPr/>
          <p:nvPr/>
        </p:nvSpPr>
        <p:spPr>
          <a:xfrm>
            <a:off x="8396935" y="126187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8396935" y="126187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8506663" y="1298448"/>
            <a:ext cx="3063240" cy="228600"/>
          </a:xfrm>
          <a:prstGeom prst="rect">
            <a:avLst/>
          </a:prstGeom>
          <a:noFill/>
        </p:spPr>
        <p:txBody>
          <a:bodyPr wrap="square" anchor="t" lIns="45720" rIns="45720">
            <a:spAutoFit/>
          </a:bodyPr>
          <a:lstStyle/>
          <a:p>
            <a:r>
              <a:rPr sz="900" b="1" i="0">
                <a:solidFill>
                  <a:srgbClr val="004EA8"/>
                </a:solidFill>
                <a:latin typeface="Arial"/>
              </a:rPr>
              <a:t>PERSONA DOES</a:t>
            </a:r>
          </a:p>
        </p:txBody>
      </p:sp>
      <p:sp>
        <p:nvSpPr>
          <p:cNvPr id="15" name="TextBox 14"/>
          <p:cNvSpPr txBox="1"/>
          <p:nvPr/>
        </p:nvSpPr>
        <p:spPr>
          <a:xfrm>
            <a:off x="8506663" y="1517904"/>
            <a:ext cx="3063240" cy="914400"/>
          </a:xfrm>
          <a:prstGeom prst="rect">
            <a:avLst/>
          </a:prstGeom>
          <a:noFill/>
        </p:spPr>
        <p:txBody>
          <a:bodyPr wrap="square" anchor="t" lIns="45720" rIns="45720">
            <a:spAutoFit/>
          </a:bodyPr>
          <a:lstStyle/>
          <a:p>
            <a:r>
              <a:rPr sz="1000" b="0" i="0">
                <a:solidFill>
                  <a:srgbClr val="2E2E2E"/>
                </a:solidFill>
                <a:latin typeface="Arial"/>
              </a:rPr>
              <a:t>Compliance reviewer of the access log: Opens the Access Log and filters it by user and date</a:t>
            </a:r>
          </a:p>
        </p:txBody>
      </p:sp>
      <p:sp>
        <p:nvSpPr>
          <p:cNvPr id="16" name="Rectangle 15"/>
          <p:cNvSpPr/>
          <p:nvPr/>
        </p:nvSpPr>
        <p:spPr>
          <a:xfrm>
            <a:off x="8396935" y="254203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8396935" y="254203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8506663" y="2578608"/>
            <a:ext cx="3063240" cy="228600"/>
          </a:xfrm>
          <a:prstGeom prst="rect">
            <a:avLst/>
          </a:prstGeom>
          <a:noFill/>
        </p:spPr>
        <p:txBody>
          <a:bodyPr wrap="square" anchor="t" lIns="45720" rIns="45720">
            <a:spAutoFit/>
          </a:bodyPr>
          <a:lstStyle/>
          <a:p>
            <a:r>
              <a:rPr sz="900" b="1" i="0">
                <a:solidFill>
                  <a:srgbClr val="004EA8"/>
                </a:solidFill>
                <a:latin typeface="Arial"/>
              </a:rPr>
              <a:t>SYSTEM DOES</a:t>
            </a:r>
          </a:p>
        </p:txBody>
      </p:sp>
      <p:sp>
        <p:nvSpPr>
          <p:cNvPr id="19" name="TextBox 18"/>
          <p:cNvSpPr txBox="1"/>
          <p:nvPr/>
        </p:nvSpPr>
        <p:spPr>
          <a:xfrm>
            <a:off x="8506663" y="2798064"/>
            <a:ext cx="3063240" cy="914400"/>
          </a:xfrm>
          <a:prstGeom prst="rect">
            <a:avLst/>
          </a:prstGeom>
          <a:noFill/>
        </p:spPr>
        <p:txBody>
          <a:bodyPr wrap="square" anchor="t" lIns="45720" rIns="45720">
            <a:spAutoFit/>
          </a:bodyPr>
          <a:lstStyle/>
          <a:p>
            <a:r>
              <a:rPr sz="1000" b="0" i="0">
                <a:solidFill>
                  <a:srgbClr val="2E2E2E"/>
                </a:solidFill>
                <a:latin typeface="Arial"/>
              </a:rPr>
              <a:t>Shows every access with the user, time, action, criteria and reason</a:t>
            </a:r>
          </a:p>
        </p:txBody>
      </p:sp>
      <p:sp>
        <p:nvSpPr>
          <p:cNvPr id="20" name="Rectangle 19"/>
          <p:cNvSpPr/>
          <p:nvPr/>
        </p:nvSpPr>
        <p:spPr>
          <a:xfrm>
            <a:off x="8396935" y="382219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8396935" y="382219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506663" y="3858768"/>
            <a:ext cx="3063240" cy="228600"/>
          </a:xfrm>
          <a:prstGeom prst="rect">
            <a:avLst/>
          </a:prstGeom>
          <a:noFill/>
        </p:spPr>
        <p:txBody>
          <a:bodyPr wrap="square" anchor="t" lIns="45720" rIns="45720">
            <a:spAutoFit/>
          </a:bodyPr>
          <a:lstStyle/>
          <a:p>
            <a:r>
              <a:rPr sz="900" b="1" i="0">
                <a:solidFill>
                  <a:srgbClr val="004EA8"/>
                </a:solidFill>
                <a:latin typeface="Arial"/>
              </a:rPr>
              <a:t>NOTICES AND MESSAGES SHOWN</a:t>
            </a:r>
          </a:p>
        </p:txBody>
      </p:sp>
      <p:sp>
        <p:nvSpPr>
          <p:cNvPr id="23" name="TextBox 22"/>
          <p:cNvSpPr txBox="1"/>
          <p:nvPr/>
        </p:nvSpPr>
        <p:spPr>
          <a:xfrm>
            <a:off x="8506663" y="4078224"/>
            <a:ext cx="3063240" cy="914400"/>
          </a:xfrm>
          <a:prstGeom prst="rect">
            <a:avLst/>
          </a:prstGeom>
          <a:noFill/>
        </p:spPr>
        <p:txBody>
          <a:bodyPr wrap="square" anchor="t" lIns="45720" rIns="45720">
            <a:spAutoFit/>
          </a:bodyPr>
          <a:lstStyle/>
          <a:p>
            <a:r>
              <a:rPr sz="1000" b="0" i="0">
                <a:solidFill>
                  <a:srgbClr val="2E2E2E"/>
                </a:solidFill>
                <a:latin typeface="Arial"/>
              </a:rPr>
              <a:t>The access log, which cannot be changed</a:t>
            </a:r>
          </a:p>
        </p:txBody>
      </p:sp>
      <p:sp>
        <p:nvSpPr>
          <p:cNvPr id="24" name="Rectangle 23"/>
          <p:cNvSpPr/>
          <p:nvPr/>
        </p:nvSpPr>
        <p:spPr>
          <a:xfrm>
            <a:off x="8396935" y="5102352"/>
            <a:ext cx="3246120" cy="1188720"/>
          </a:xfrm>
          <a:prstGeom prst="rect">
            <a:avLst/>
          </a:prstGeom>
          <a:solidFill>
            <a:srgbClr val="E5F5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ectangle 24"/>
          <p:cNvSpPr/>
          <p:nvPr/>
        </p:nvSpPr>
        <p:spPr>
          <a:xfrm>
            <a:off x="8396935" y="5102352"/>
            <a:ext cx="50800" cy="118872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8506663" y="5138928"/>
            <a:ext cx="3063240" cy="228600"/>
          </a:xfrm>
          <a:prstGeom prst="rect">
            <a:avLst/>
          </a:prstGeom>
          <a:noFill/>
        </p:spPr>
        <p:txBody>
          <a:bodyPr wrap="square" anchor="t" lIns="45720" rIns="45720">
            <a:spAutoFit/>
          </a:bodyPr>
          <a:lstStyle/>
          <a:p>
            <a:r>
              <a:rPr sz="900" b="1" i="0">
                <a:solidFill>
                  <a:srgbClr val="004EA8"/>
                </a:solidFill>
                <a:latin typeface="Arial"/>
              </a:rPr>
              <a:t>NEXT</a:t>
            </a:r>
          </a:p>
        </p:txBody>
      </p:sp>
      <p:sp>
        <p:nvSpPr>
          <p:cNvPr id="27" name="TextBox 26"/>
          <p:cNvSpPr txBox="1"/>
          <p:nvPr/>
        </p:nvSpPr>
        <p:spPr>
          <a:xfrm>
            <a:off x="8506663" y="5358384"/>
            <a:ext cx="3063240" cy="914400"/>
          </a:xfrm>
          <a:prstGeom prst="rect">
            <a:avLst/>
          </a:prstGeom>
          <a:noFill/>
        </p:spPr>
        <p:txBody>
          <a:bodyPr wrap="square" anchor="t" lIns="45720" rIns="45720">
            <a:spAutoFit/>
          </a:bodyPr>
          <a:lstStyle/>
          <a:p>
            <a:r>
              <a:rPr sz="1000" b="0" i="0">
                <a:solidFill>
                  <a:srgbClr val="2E2E2E"/>
                </a:solidFill>
                <a:latin typeface="Arial"/>
              </a:rPr>
              <a:t>End of the flow</a:t>
            </a:r>
          </a:p>
        </p:txBody>
      </p:sp>
    </p:spTree>
  </p:cSld>
  <p:clrMapOvr>
    <a:masterClrMapping/>
  </p:clrMapOvr>
</p:sld>
</file>

<file path=ppt/slides/slide1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Screen catalogue</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Every screen with its numbered callouts, fields, actions and every state</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1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Migration Home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148</a:t>
            </a:r>
          </a:p>
        </p:txBody>
      </p:sp>
      <p:graphicFrame>
        <p:nvGraphicFramePr>
          <p:cNvPr id="9" name="Table 8"/>
          <p:cNvGraphicFramePr>
            <a:graphicFrameLocks noGrp="1"/>
          </p:cNvGraphicFramePr>
          <p:nvPr/>
        </p:nvGraphicFramePr>
        <p:xfrm>
          <a:off x="548640" y="1307592"/>
          <a:ext cx="6434760" cy="28117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Shows the progress of the migration at a glance: objects decided and waiting for a decision, batches in progress, failed or with rejects, open reconciliation breaks, unmapped legacy codes, open validation errors and client pairs to review, with the next cut-over tasks and the run-off of the legacy policies. Each tile opens the screen where the item is worked.</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Migration Home</a:t>
                      </a:r>
                    </a:p>
                    <a:p>
                      <a:r>
                        <a:rPr sz="950" b="0">
                          <a:solidFill>
                            <a:srgbClr val="4B4B4B"/>
                          </a:solidFill>
                          <a:latin typeface="Arial"/>
                        </a:rPr>
                        <a:t>Sidebar › Data Migration › Migration Home</a:t>
                      </a:r>
                    </a:p>
                    <a:p>
                      <a:r>
                        <a:rPr sz="950" b="0">
                          <a:solidFill>
                            <a:srgbClr val="4B4B4B"/>
                          </a:solidFill>
                          <a:latin typeface="Arial"/>
                        </a:rPr>
                        <a:t>Landing page after sign-in of the migration roles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FR-DM-003, FR-DM-120, FR-DM-122</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Data Migration Lead sees what blocks the next gate and opens it in one click.</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149</a:t>
            </a:r>
          </a:p>
        </p:txBody>
      </p:sp>
      <p:graphicFrame>
        <p:nvGraphicFramePr>
          <p:cNvPr id="9" name="Table 8"/>
          <p:cNvGraphicFramePr>
            <a:graphicFrameLocks noGrp="1"/>
          </p:cNvGraphicFramePr>
          <p:nvPr/>
        </p:nvGraphicFramePr>
        <p:xfrm>
          <a:off x="548640" y="1325880"/>
          <a:ext cx="11094411" cy="294892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Objects decided</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Tiles</a:t>
                      </a:r>
                    </a:p>
                  </a:txBody>
                  <a:tcPr marL="54864" marR="54864" marT="27432" marB="27432">
                    <a:solidFill>
                      <a:srgbClr val="E5F5FF"/>
                    </a:solidFill>
                  </a:tcPr>
                </a:tc>
                <a:tc>
                  <a:txBody>
                    <a:bodyPr/>
                    <a:lstStyle/>
                    <a:p>
                      <a:r>
                        <a:rPr sz="850" b="0">
                          <a:solidFill>
                            <a:srgbClr val="4B4B4B"/>
                          </a:solidFill>
                          <a:latin typeface="Arial"/>
                        </a:rPr>
                        <a:t>Objects waiting for a decision</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 of Proposed and For decision objects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Batches in progress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 of Planned, Validated, Load approved and Loading batches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Tiles</a:t>
                      </a:r>
                    </a:p>
                  </a:txBody>
                  <a:tcPr marL="54864" marR="54864" marT="27432" marB="27432">
                    <a:solidFill>
                      <a:srgbClr val="E5F5FF"/>
                    </a:solidFill>
                  </a:tcPr>
                </a:tc>
                <a:tc>
                  <a:txBody>
                    <a:bodyPr/>
                    <a:lstStyle/>
                    <a:p>
                      <a:r>
                        <a:rPr sz="850" b="0">
                          <a:solidFill>
                            <a:srgbClr val="4B4B4B"/>
                          </a:solidFill>
                          <a:latin typeface="Arial"/>
                        </a:rPr>
                        <a:t>Batches failed or with rejects</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 Needs attention when above 0</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Open reconciliation breaks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 Needs attention when above 0</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Tiles</a:t>
                      </a:r>
                    </a:p>
                  </a:txBody>
                  <a:tcPr marL="54864" marR="54864" marT="27432" marB="27432">
                    <a:solidFill>
                      <a:srgbClr val="E5F5FF"/>
                    </a:solidFill>
                  </a:tcPr>
                </a:tc>
                <a:tc>
                  <a:txBody>
                    <a:bodyPr/>
                    <a:lstStyle/>
                    <a:p>
                      <a:r>
                        <a:rPr sz="850" b="0">
                          <a:solidFill>
                            <a:srgbClr val="4B4B4B"/>
                          </a:solidFill>
                          <a:latin typeface="Arial"/>
                        </a:rPr>
                        <a:t>Unmapped legacy codes</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 Needs attention when above 0</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Tiles</a:t>
                      </a:r>
                    </a:p>
                  </a:txBody>
                  <a:tcPr marL="54864" marR="54864" marT="27432" marB="27432">
                    <a:solidFill>
                      <a:srgbClr val="FFFFFF"/>
                    </a:solidFill>
                  </a:tcPr>
                </a:tc>
                <a:tc>
                  <a:txBody>
                    <a:bodyPr/>
                    <a:lstStyle/>
                    <a:p>
                      <a:r>
                        <a:rPr sz="850" b="0">
                          <a:solidFill>
                            <a:srgbClr val="4B4B4B"/>
                          </a:solidFill>
                          <a:latin typeface="Arial"/>
                        </a:rPr>
                        <a:t>Open validation errors</a:t>
                      </a:r>
                    </a:p>
                  </a:txBody>
                  <a:tcPr marL="54864" marR="54864" marT="27432" marB="27432">
                    <a:solidFill>
                      <a:srgbClr val="FFFFFF"/>
                    </a:solidFill>
                  </a:tcPr>
                </a:tc>
                <a:tc>
                  <a:txBody>
                    <a:bodyPr/>
                    <a:lstStyle/>
                    <a:p>
                      <a:r>
                        <a:rPr sz="850" b="0">
                          <a:solidFill>
                            <a:srgbClr val="4B4B4B"/>
                          </a:solidFill>
                          <a:latin typeface="Arial"/>
                        </a:rPr>
                        <a:t>Tile</a:t>
                      </a:r>
                    </a:p>
                  </a:txBody>
                  <a:tcPr marL="54864" marR="54864" marT="27432" marB="27432">
                    <a:solidFill>
                      <a:srgbClr val="FFFFFF"/>
                    </a:solidFill>
                  </a:tcPr>
                </a:tc>
                <a:tc>
                  <a:txBody>
                    <a:bodyPr/>
                    <a:lstStyle/>
                    <a:p>
                      <a:r>
                        <a:rPr sz="850" b="0">
                          <a:solidFill>
                            <a:srgbClr val="4B4B4B"/>
                          </a:solidFill>
                          <a:latin typeface="Arial"/>
                        </a:rPr>
                        <a:t>Count; Needs attention when above 0</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Tiles</a:t>
                      </a:r>
                    </a:p>
                  </a:txBody>
                  <a:tcPr marL="54864" marR="54864" marT="27432" marB="27432">
                    <a:solidFill>
                      <a:srgbClr val="E5F5FF"/>
                    </a:solidFill>
                  </a:tcPr>
                </a:tc>
                <a:tc>
                  <a:txBody>
                    <a:bodyPr/>
                    <a:lstStyle/>
                    <a:p>
                      <a:r>
                        <a:rPr sz="850" b="0">
                          <a:solidFill>
                            <a:srgbClr val="4B4B4B"/>
                          </a:solidFill>
                          <a:latin typeface="Arial"/>
                        </a:rPr>
                        <a:t>Client pairs to review</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Count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Next cut-over tasks</a:t>
                      </a:r>
                    </a:p>
                  </a:txBody>
                  <a:tcPr marL="54864" marR="54864" marT="27432" marB="27432">
                    <a:solidFill>
                      <a:srgbClr val="FFFFFF"/>
                    </a:solidFill>
                  </a:tcPr>
                </a:tc>
                <a:tc>
                  <a:txBody>
                    <a:bodyPr/>
                    <a:lstStyle/>
                    <a:p>
                      <a:r>
                        <a:rPr sz="850" b="0">
                          <a:solidFill>
                            <a:srgbClr val="4B4B4B"/>
                          </a:solidFill>
                          <a:latin typeface="Arial"/>
                        </a:rPr>
                        <a:t>Plan, Task, Owner, Planned start,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Run-off of the legacy policies</a:t>
                      </a:r>
                    </a:p>
                  </a:txBody>
                  <a:tcPr marL="54864" marR="54864" marT="27432" marB="27432">
                    <a:solidFill>
                      <a:srgbClr val="E5F5FF"/>
                    </a:solidFill>
                  </a:tcPr>
                </a:tc>
                <a:tc>
                  <a:txBody>
                    <a:bodyPr/>
                    <a:lstStyle/>
                    <a:p>
                      <a:r>
                        <a:rPr sz="850" b="0">
                          <a:solidFill>
                            <a:srgbClr val="4B4B4B"/>
                          </a:solidFill>
                          <a:latin typeface="Arial"/>
                        </a:rPr>
                        <a:t>Expiry month, In force, Renewed, Not renewed, Still open</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Month yyyy-MM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150</a:t>
            </a:r>
          </a:p>
        </p:txBody>
      </p:sp>
      <p:graphicFrame>
        <p:nvGraphicFramePr>
          <p:cNvPr id="9" name="Table 8"/>
          <p:cNvGraphicFramePr>
            <a:graphicFrameLocks noGrp="1"/>
          </p:cNvGraphicFramePr>
          <p:nvPr/>
        </p:nvGraphicFramePr>
        <p:xfrm>
          <a:off x="548640" y="1325880"/>
          <a:ext cx="11094412" cy="110489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Load Templates</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Layouts and Rules with the templates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batch list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Upload Extract</a:t>
                      </a:r>
                    </a:p>
                  </a:txBody>
                  <a:tcPr marL="54864" marR="54864" marT="27432" marB="27432">
                    <a:solidFill>
                      <a:srgbClr val="FFFFFF"/>
                    </a:solidFill>
                  </a:tcPr>
                </a:tc>
                <a:tc>
                  <a:txBody>
                    <a:bodyPr/>
                    <a:lstStyle/>
                    <a:p>
                      <a:r>
                        <a:rPr sz="850" b="0">
                          <a:solidFill>
                            <a:srgbClr val="4B4B4B"/>
                          </a:solidFill>
                          <a:latin typeface="Arial"/>
                        </a:rPr>
                        <a:t>Migration Operator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Extracts to upload a file with its control file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tile</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screen of the tile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151</a:t>
            </a:r>
          </a:p>
        </p:txBody>
      </p:sp>
      <p:graphicFrame>
        <p:nvGraphicFramePr>
          <p:cNvPr id="9" name="Table 8"/>
          <p:cNvGraphicFramePr>
            <a:graphicFrameLocks noGrp="1"/>
          </p:cNvGraphicFramePr>
          <p:nvPr/>
        </p:nvGraphicFramePr>
        <p:xfrm>
          <a:off x="548640" y="1325880"/>
          <a:ext cx="11094415" cy="11277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tile marked Needs attention has at least one item that blocks a gate: a failed batch, a break, an unmapped code or an open error (FR-DM-003).</a:t>
                      </a:r>
                    </a:p>
                  </a:txBody>
                  <a:tcPr marL="54864" marR="54864" marT="27432" marB="27432">
                    <a:solidFill>
                      <a:srgbClr val="FFFFFF"/>
                    </a:solidFill>
                  </a:tcPr>
                </a:tc>
              </a:tr>
              <a:tr h="396240">
                <a:tc>
                  <a:txBody>
                    <a:bodyPr/>
                    <a:lstStyle/>
                    <a:p>
                      <a:r>
                        <a:rPr sz="1000" b="0">
                          <a:solidFill>
                            <a:srgbClr val="4B4B4B"/>
                          </a:solidFill>
                          <a:latin typeface="Arial"/>
                        </a:rPr>
                        <a:t>The migration roles (operator, steward, owner, lead, reconciliation approver, go / no-go board) land on Migration Home after sign-in; My Approvals stays one click away in the header (FR-DM-003).</a:t>
                      </a:r>
                    </a:p>
                  </a:txBody>
                  <a:tcPr marL="54864" marR="54864" marT="27432" marB="27432">
                    <a:solidFill>
                      <a:srgbClr val="E5F5FF"/>
                    </a:solidFill>
                  </a:tcPr>
                </a:tc>
              </a:tr>
              <a:tr h="243840">
                <a:tc>
                  <a:txBody>
                    <a:bodyPr/>
                    <a:lstStyle/>
                    <a:p>
                      <a:r>
                        <a:rPr sz="1000" b="0">
                          <a:solidFill>
                            <a:srgbClr val="4B4B4B"/>
                          </a:solidFill>
                          <a:latin typeface="Arial"/>
                        </a:rPr>
                        <a:t>The run-off table is the latest monthly snapshot of the legacy policies in force at go-live (FR-DM-122).</a:t>
                      </a:r>
                    </a:p>
                  </a:txBody>
                  <a:tcPr marL="54864" marR="54864" marT="27432" marB="27432">
                    <a:solidFill>
                      <a:srgbClr val="FFFFFF"/>
                    </a:solidFill>
                  </a:tcPr>
                </a:tc>
              </a:tr>
            </a:tbl>
          </a:graphicData>
        </a:graphic>
      </p:graphicFrame>
    </p:spTree>
  </p:cSld>
  <p:clrMapOvr>
    <a:masterClrMapping/>
  </p:clrMapOvr>
</p:sld>
</file>

<file path=ppt/slides/slide1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Migration Home: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89.png"/>
          <p:cNvPicPr>
            <a:picLocks noChangeAspect="1"/>
          </p:cNvPicPr>
          <p:nvPr/>
        </p:nvPicPr>
        <p:blipFill>
          <a:blip r:embed="rId3"/>
          <a:stretch>
            <a:fillRect/>
          </a:stretch>
        </p:blipFill>
        <p:spPr>
          <a:xfrm>
            <a:off x="548640" y="1261872"/>
            <a:ext cx="11094415" cy="43038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Migration Home with the tiles (part 1 of 3)</a:t>
            </a:r>
          </a:p>
        </p:txBody>
      </p:sp>
    </p:spTree>
  </p:cSld>
  <p:clrMapOvr>
    <a:masterClrMapping/>
  </p:clrMapOvr>
</p:sld>
</file>

<file path=ppt/slides/slide1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Migration Home: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0.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Migration Home with the tiles (part 2 of 3)</a:t>
            </a:r>
          </a:p>
        </p:txBody>
      </p:sp>
    </p:spTree>
  </p:cSld>
  <p:clrMapOvr>
    <a:masterClrMapping/>
  </p:clrMapOvr>
</p:sld>
</file>

<file path=ppt/slides/slide1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SCR-DM-01 Migration Home: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1.png"/>
          <p:cNvPicPr>
            <a:picLocks noChangeAspect="1"/>
          </p:cNvPicPr>
          <p:nvPr/>
        </p:nvPicPr>
        <p:blipFill>
          <a:blip r:embed="rId3"/>
          <a:stretch>
            <a:fillRect/>
          </a:stretch>
        </p:blipFill>
        <p:spPr>
          <a:xfrm>
            <a:off x="548640" y="1261872"/>
            <a:ext cx="11094415" cy="191283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Migration Home with the tiles (part 3 of 3)</a:t>
            </a:r>
          </a:p>
        </p:txBody>
      </p:sp>
    </p:spTree>
  </p:cSld>
  <p:clrMapOvr>
    <a:masterClrMapping/>
  </p:clrMapOvr>
</p:sld>
</file>

<file path=ppt/slides/slide1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SCR-DM-02 Data Objects and the decision of an object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155</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register of the legacy data objects: what moves, in which class (migrate, carry forward, conditional, archive or excluded), from which systems, into which part of BIBS and in which load order. An object opens in a panel with the four criteria of the BRD, the owners, the rationale and the decision history; the Data Migration Lead submits the proposed class and the business owner approves or returns it (gate G1). The load template of each object downloads from its row.</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Data Objects</a:t>
                      </a:r>
                    </a:p>
                    <a:p>
                      <a:r>
                        <a:rPr sz="950" b="0">
                          <a:solidFill>
                            <a:srgbClr val="4B4B4B"/>
                          </a:solidFill>
                          <a:latin typeface="Arial"/>
                        </a:rPr>
                        <a:t>Migration Home › Objects decided</a:t>
                      </a:r>
                    </a:p>
                    <a:p>
                      <a:r>
                        <a:rPr sz="950" b="0">
                          <a:solidFill>
                            <a:srgbClr val="4B4B4B"/>
                          </a:solidFill>
                          <a:latin typeface="Arial"/>
                        </a:rPr>
                        <a:t>Sign-off › object</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FR-DM-001, FR-DM-002, FR-DM-003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object has a decided class signed by its business owner (gate G1) and its load template.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156</a:t>
            </a:r>
          </a:p>
        </p:txBody>
      </p:sp>
      <p:graphicFrame>
        <p:nvGraphicFramePr>
          <p:cNvPr id="9" name="Table 8"/>
          <p:cNvGraphicFramePr>
            <a:graphicFrameLocks noGrp="1"/>
          </p:cNvGraphicFramePr>
          <p:nvPr/>
        </p:nvGraphicFramePr>
        <p:xfrm>
          <a:off x="548640" y="1325880"/>
          <a:ext cx="11094411" cy="466341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Filter</a:t>
                      </a:r>
                    </a:p>
                  </a:txBody>
                  <a:tcPr marL="54864" marR="54864" marT="27432" marB="27432">
                    <a:solidFill>
                      <a:srgbClr val="FFFFFF"/>
                    </a:solidFill>
                  </a:tcPr>
                </a:tc>
                <a:tc>
                  <a:txBody>
                    <a:bodyPr/>
                    <a:lstStyle/>
                    <a:p>
                      <a:r>
                        <a:rPr sz="850" b="0">
                          <a:solidFill>
                            <a:srgbClr val="4B4B4B"/>
                          </a:solidFill>
                          <a:latin typeface="Arial"/>
                        </a:rPr>
                        <a:t>Category</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categories, Reference, Client, Policy, Open item, GL, History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Register</a:t>
                      </a:r>
                    </a:p>
                  </a:txBody>
                  <a:tcPr marL="54864" marR="54864" marT="27432" marB="27432">
                    <a:solidFill>
                      <a:srgbClr val="E5F5FF"/>
                    </a:solidFill>
                  </a:tcPr>
                </a:tc>
                <a:tc>
                  <a:txBody>
                    <a:bodyPr/>
                    <a:lstStyle/>
                    <a:p>
                      <a:r>
                        <a:rPr sz="850" b="0">
                          <a:solidFill>
                            <a:srgbClr val="4B4B4B"/>
                          </a:solidFill>
                          <a:latin typeface="Arial"/>
                        </a:rPr>
                        <a:t>Order</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Load order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Register</a:t>
                      </a:r>
                    </a:p>
                  </a:txBody>
                  <a:tcPr marL="54864" marR="54864" marT="27432" marB="27432">
                    <a:solidFill>
                      <a:srgbClr val="FFFFFF"/>
                    </a:solidFill>
                  </a:tcPr>
                </a:tc>
                <a:tc>
                  <a:txBody>
                    <a:bodyPr/>
                    <a:lstStyle/>
                    <a:p>
                      <a:r>
                        <a:rPr sz="850" b="0">
                          <a:solidFill>
                            <a:srgbClr val="4B4B4B"/>
                          </a:solidFill>
                          <a:latin typeface="Arial"/>
                        </a:rPr>
                        <a:t>Object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Code and name, category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Register</a:t>
                      </a:r>
                    </a:p>
                  </a:txBody>
                  <a:tcPr marL="54864" marR="54864" marT="27432" marB="27432">
                    <a:solidFill>
                      <a:srgbClr val="E5F5FF"/>
                    </a:solidFill>
                  </a:tcPr>
                </a:tc>
                <a:tc>
                  <a:txBody>
                    <a:bodyPr/>
                    <a:lstStyle/>
                    <a:p>
                      <a:r>
                        <a:rPr sz="850" b="0">
                          <a:solidFill>
                            <a:srgbClr val="4B4B4B"/>
                          </a:solidFill>
                          <a:latin typeface="Arial"/>
                        </a:rPr>
                        <a:t>Sources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Legacy systems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Register</a:t>
                      </a:r>
                    </a:p>
                  </a:txBody>
                  <a:tcPr marL="54864" marR="54864" marT="27432" marB="27432">
                    <a:solidFill>
                      <a:srgbClr val="FFFFFF"/>
                    </a:solidFill>
                  </a:tcPr>
                </a:tc>
                <a:tc>
                  <a:txBody>
                    <a:bodyPr/>
                    <a:lstStyle/>
                    <a:p>
                      <a:r>
                        <a:rPr sz="850" b="0">
                          <a:solidFill>
                            <a:srgbClr val="4B4B4B"/>
                          </a:solidFill>
                          <a:latin typeface="Arial"/>
                        </a:rPr>
                        <a:t>Class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Decided class, or the proposed class marked Proposed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Register</a:t>
                      </a:r>
                    </a:p>
                  </a:txBody>
                  <a:tcPr marL="54864" marR="54864" marT="27432" marB="27432">
                    <a:solidFill>
                      <a:srgbClr val="E5F5FF"/>
                    </a:solidFill>
                  </a:tcPr>
                </a:tc>
                <a:tc>
                  <a:txBody>
                    <a:bodyPr/>
                    <a:lstStyle/>
                    <a:p>
                      <a:r>
                        <a:rPr sz="850" b="0">
                          <a:solidFill>
                            <a:srgbClr val="4B4B4B"/>
                          </a:solidFill>
                          <a:latin typeface="Arial"/>
                        </a:rPr>
                        <a:t>Financial and After tags</a:t>
                      </a:r>
                    </a:p>
                  </a:txBody>
                  <a:tcPr marL="54864" marR="54864" marT="27432" marB="27432">
                    <a:solidFill>
                      <a:srgbClr val="E5F5FF"/>
                    </a:solidFill>
                  </a:tcPr>
                </a:tc>
                <a:tc>
                  <a:txBody>
                    <a:bodyPr/>
                    <a:lstStyle/>
                    <a:p>
                      <a:r>
                        <a:rPr sz="850" b="0">
                          <a:solidFill>
                            <a:srgbClr val="4B4B4B"/>
                          </a:solidFill>
                          <a:latin typeface="Arial"/>
                        </a:rPr>
                        <a:t>Tag</a:t>
                      </a:r>
                    </a:p>
                  </a:txBody>
                  <a:tcPr marL="54864" marR="54864" marT="27432" marB="27432">
                    <a:solidFill>
                      <a:srgbClr val="E5F5FF"/>
                    </a:solidFill>
                  </a:tcPr>
                </a:tc>
                <a:tc>
                  <a:txBody>
                    <a:bodyPr/>
                    <a:lstStyle/>
                    <a:p>
                      <a:r>
                        <a:rPr sz="850" b="0">
                          <a:solidFill>
                            <a:srgbClr val="4B4B4B"/>
                          </a:solidFill>
                          <a:latin typeface="Arial"/>
                        </a:rPr>
                        <a:t>Financial object; objects it loads after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Register</a:t>
                      </a:r>
                    </a:p>
                  </a:txBody>
                  <a:tcPr marL="54864" marR="54864" marT="27432" marB="27432">
                    <a:solidFill>
                      <a:srgbClr val="FFFFFF"/>
                    </a:solidFill>
                  </a:tcPr>
                </a:tc>
                <a:tc>
                  <a:txBody>
                    <a:bodyPr/>
                    <a:lstStyle/>
                    <a:p>
                      <a:r>
                        <a:rPr sz="850" b="0">
                          <a:solidFill>
                            <a:srgbClr val="4B4B4B"/>
                          </a:solidFill>
                          <a:latin typeface="Arial"/>
                        </a:rPr>
                        <a:t>Business owner</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Register</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Proposed, For decision, Decided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Object panel</a:t>
                      </a:r>
                    </a:p>
                  </a:txBody>
                  <a:tcPr marL="54864" marR="54864" marT="27432" marB="27432">
                    <a:solidFill>
                      <a:srgbClr val="FFFFFF"/>
                    </a:solidFill>
                  </a:tcPr>
                </a:tc>
                <a:tc>
                  <a:txBody>
                    <a:bodyPr/>
                    <a:lstStyle/>
                    <a:p>
                      <a:r>
                        <a:rPr sz="850" b="0">
                          <a:solidFill>
                            <a:srgbClr val="4B4B4B"/>
                          </a:solidFill>
                          <a:latin typeface="Arial"/>
                        </a:rPr>
                        <a:t>Category, Sources, Target in BIBS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Object panel</a:t>
                      </a:r>
                    </a:p>
                  </a:txBody>
                  <a:tcPr marL="54864" marR="54864" marT="27432" marB="27432">
                    <a:solidFill>
                      <a:srgbClr val="E5F5FF"/>
                    </a:solidFill>
                  </a:tcPr>
                </a:tc>
                <a:tc>
                  <a:txBody>
                    <a:bodyPr/>
                    <a:lstStyle/>
                    <a:p>
                      <a:r>
                        <a:rPr sz="850" b="0">
                          <a:solidFill>
                            <a:srgbClr val="4B4B4B"/>
                          </a:solidFill>
                          <a:latin typeface="Arial"/>
                        </a:rPr>
                        <a:t>Proposed class, Decided class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Migrate, Carry forward, Conditional, Archive, Excluded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Object panel</a:t>
                      </a:r>
                    </a:p>
                  </a:txBody>
                  <a:tcPr marL="54864" marR="54864" marT="27432" marB="27432">
                    <a:solidFill>
                      <a:srgbClr val="FFFFFF"/>
                    </a:solidFill>
                  </a:tcPr>
                </a:tc>
                <a:tc>
                  <a:txBody>
                    <a:bodyPr/>
                    <a:lstStyle/>
                    <a:p>
                      <a:r>
                        <a:rPr sz="850" b="0">
                          <a:solidFill>
                            <a:srgbClr val="4B4B4B"/>
                          </a:solidFill>
                          <a:latin typeface="Arial"/>
                        </a:rPr>
                        <a:t>Condition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Condition of a conditional object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Object panel</a:t>
                      </a:r>
                    </a:p>
                  </a:txBody>
                  <a:tcPr marL="54864" marR="54864" marT="27432" marB="27432">
                    <a:solidFill>
                      <a:srgbClr val="E5F5FF"/>
                    </a:solidFill>
                  </a:tcPr>
                </a:tc>
                <a:tc>
                  <a:txBody>
                    <a:bodyPr/>
                    <a:lstStyle/>
                    <a:p>
                      <a:r>
                        <a:rPr sz="850" b="0">
                          <a:solidFill>
                            <a:srgbClr val="4B4B4B"/>
                          </a:solidFill>
                          <a:latin typeface="Arial"/>
                        </a:rPr>
                        <a:t>Day-1 need, Compliance need, Archive option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Yes or No, with the note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Object panel</a:t>
                      </a:r>
                    </a:p>
                  </a:txBody>
                  <a:tcPr marL="54864" marR="54864" marT="27432" marB="27432">
                    <a:solidFill>
                      <a:srgbClr val="FFFFFF"/>
                    </a:solidFill>
                  </a:tcPr>
                </a:tc>
                <a:tc>
                  <a:txBody>
                    <a:bodyPr/>
                    <a:lstStyle/>
                    <a:p>
                      <a:r>
                        <a:rPr sz="850" b="0">
                          <a:solidFill>
                            <a:srgbClr val="4B4B4B"/>
                          </a:solidFill>
                          <a:latin typeface="Arial"/>
                        </a:rPr>
                        <a:t>Data trust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High, Medium, Low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Object panel</a:t>
                      </a:r>
                    </a:p>
                  </a:txBody>
                  <a:tcPr marL="54864" marR="54864" marT="27432" marB="27432">
                    <a:solidFill>
                      <a:srgbClr val="E5F5FF"/>
                    </a:solidFill>
                  </a:tcPr>
                </a:tc>
                <a:tc>
                  <a:txBody>
                    <a:bodyPr/>
                    <a:lstStyle/>
                    <a:p>
                      <a:r>
                        <a:rPr sz="850" b="0">
                          <a:solidFill>
                            <a:srgbClr val="4B4B4B"/>
                          </a:solidFill>
                          <a:latin typeface="Arial"/>
                        </a:rPr>
                        <a:t>Business owner, Data steward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Name, or the proposed role until named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Object panel</a:t>
                      </a:r>
                    </a:p>
                  </a:txBody>
                  <a:tcPr marL="54864" marR="54864" marT="27432" marB="27432">
                    <a:solidFill>
                      <a:srgbClr val="FFFFFF"/>
                    </a:solidFill>
                  </a:tcPr>
                </a:tc>
                <a:tc>
                  <a:txBody>
                    <a:bodyPr/>
                    <a:lstStyle/>
                    <a:p>
                      <a:r>
                        <a:rPr sz="850" b="0">
                          <a:solidFill>
                            <a:srgbClr val="4B4B4B"/>
                          </a:solidFill>
                          <a:latin typeface="Arial"/>
                        </a:rPr>
                        <a:t>Depends on, Load order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Objects and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16</a:t>
                      </a:r>
                    </a:p>
                  </a:txBody>
                  <a:tcPr marL="54864" marR="54864" marT="27432" marB="27432">
                    <a:solidFill>
                      <a:srgbClr val="E5F5FF"/>
                    </a:solidFill>
                  </a:tcPr>
                </a:tc>
                <a:tc>
                  <a:txBody>
                    <a:bodyPr/>
                    <a:lstStyle/>
                    <a:p>
                      <a:r>
                        <a:rPr sz="850" b="0">
                          <a:solidFill>
                            <a:srgbClr val="4B4B4B"/>
                          </a:solidFill>
                          <a:latin typeface="Arial"/>
                        </a:rPr>
                        <a:t>Object panel</a:t>
                      </a:r>
                    </a:p>
                  </a:txBody>
                  <a:tcPr marL="54864" marR="54864" marT="27432" marB="27432">
                    <a:solidFill>
                      <a:srgbClr val="E5F5FF"/>
                    </a:solidFill>
                  </a:tcPr>
                </a:tc>
                <a:tc>
                  <a:txBody>
                    <a:bodyPr/>
                    <a:lstStyle/>
                    <a:p>
                      <a:r>
                        <a:rPr sz="850" b="0">
                          <a:solidFill>
                            <a:srgbClr val="4B4B4B"/>
                          </a:solidFill>
                          <a:latin typeface="Arial"/>
                        </a:rPr>
                        <a:t>Rationale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2,000 characters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157</a:t>
            </a:r>
          </a:p>
        </p:txBody>
      </p:sp>
      <p:graphicFrame>
        <p:nvGraphicFramePr>
          <p:cNvPr id="9" name="Table 8"/>
          <p:cNvGraphicFramePr>
            <a:graphicFrameLocks noGrp="1"/>
          </p:cNvGraphicFramePr>
          <p:nvPr/>
        </p:nvGraphicFramePr>
        <p:xfrm>
          <a:off x="548640" y="1325880"/>
          <a:ext cx="11094411" cy="70103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17</a:t>
                      </a:r>
                    </a:p>
                  </a:txBody>
                  <a:tcPr marL="54864" marR="54864" marT="27432" marB="27432">
                    <a:solidFill>
                      <a:srgbClr val="FFFFFF"/>
                    </a:solidFill>
                  </a:tcPr>
                </a:tc>
                <a:tc>
                  <a:txBody>
                    <a:bodyPr/>
                    <a:lstStyle/>
                    <a:p>
                      <a:r>
                        <a:rPr sz="850" b="0">
                          <a:solidFill>
                            <a:srgbClr val="4B4B4B"/>
                          </a:solidFill>
                          <a:latin typeface="Arial"/>
                        </a:rPr>
                        <a:t>Decision history</a:t>
                      </a:r>
                    </a:p>
                  </a:txBody>
                  <a:tcPr marL="54864" marR="54864" marT="27432" marB="27432">
                    <a:solidFill>
                      <a:srgbClr val="FFFFFF"/>
                    </a:solidFill>
                  </a:tcPr>
                </a:tc>
                <a:tc>
                  <a:txBody>
                    <a:bodyPr/>
                    <a:lstStyle/>
                    <a:p>
                      <a:r>
                        <a:rPr sz="850" b="0">
                          <a:solidFill>
                            <a:srgbClr val="4B4B4B"/>
                          </a:solidFill>
                          <a:latin typeface="Arial"/>
                        </a:rPr>
                        <a:t>Decision, Class, Submitted by, Submitted, Decided by, Return reason,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Decision number MGD-yyyy-nnnnnn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158</a:t>
            </a:r>
          </a:p>
        </p:txBody>
      </p:sp>
      <p:graphicFrame>
        <p:nvGraphicFramePr>
          <p:cNvPr id="9" name="Table 8"/>
          <p:cNvGraphicFramePr>
            <a:graphicFrameLocks noGrp="1"/>
          </p:cNvGraphicFramePr>
          <p:nvPr/>
        </p:nvGraphicFramePr>
        <p:xfrm>
          <a:off x="548640" y="1325880"/>
          <a:ext cx="11094412" cy="2065009"/>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All Load Templates</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workbook of every load template with the columns, the control file and the How to fill rules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Download on a row</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the load template workbook of the object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 for Decision</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Object not waiting for a decision</a:t>
                      </a:r>
                    </a:p>
                  </a:txBody>
                  <a:tcPr marL="54864" marR="54864" marT="27432" marB="27432">
                    <a:solidFill>
                      <a:srgbClr val="FFFFFF"/>
                    </a:solidFill>
                  </a:tcPr>
                </a:tc>
                <a:tc>
                  <a:txBody>
                    <a:bodyPr/>
                    <a:lstStyle/>
                    <a:p>
                      <a:r>
                        <a:rPr sz="850" b="0">
                          <a:solidFill>
                            <a:srgbClr val="4B4B4B"/>
                          </a:solidFill>
                          <a:latin typeface="Arial"/>
                        </a:rPr>
                        <a:t>Sends the proposed class to the business owner after a confirmation</a:t>
                      </a:r>
                    </a:p>
                  </a:txBody>
                  <a:tcPr marL="54864" marR="54864" marT="27432" marB="27432">
                    <a:solidFill>
                      <a:srgbClr val="FFFFFF"/>
                    </a:solidFill>
                  </a:tcPr>
                </a:tc>
                <a:tc>
                  <a:txBody>
                    <a:bodyPr/>
                    <a:lstStyle/>
                    <a:p>
                      <a:r>
                        <a:rPr sz="850" b="0">
                          <a:solidFill>
                            <a:srgbClr val="4B4B4B"/>
                          </a:solidFill>
                          <a:latin typeface="Arial"/>
                        </a:rPr>
                        <a:t>For decision</a:t>
                      </a:r>
                    </a:p>
                  </a:txBody>
                  <a:tcPr marL="54864" marR="54864" marT="27432" marB="27432">
                    <a:solidFill>
                      <a:srgbClr val="FFFFFF"/>
                    </a:solidFill>
                  </a:tcPr>
                </a:tc>
                <a:tc>
                  <a:txBody>
                    <a:bodyPr/>
                    <a:lstStyle/>
                    <a:p>
                      <a:r>
                        <a:rPr sz="850" b="0">
                          <a:solidFill>
                            <a:srgbClr val="4B4B4B"/>
                          </a:solidFill>
                          <a:latin typeface="Arial"/>
                        </a:rPr>
                        <a:t>Alert to the business owner</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Data owner (business owner of the object)</a:t>
                      </a:r>
                    </a:p>
                  </a:txBody>
                  <a:tcPr marL="54864" marR="54864" marT="27432" marB="27432">
                    <a:solidFill>
                      <a:srgbClr val="E5F5FF"/>
                    </a:solidFill>
                  </a:tcPr>
                </a:tc>
                <a:tc>
                  <a:txBody>
                    <a:bodyPr/>
                    <a:lstStyle/>
                    <a:p>
                      <a:r>
                        <a:rPr sz="850" b="0">
                          <a:solidFill>
                            <a:srgbClr val="4B4B4B"/>
                          </a:solidFill>
                          <a:latin typeface="Arial"/>
                        </a:rPr>
                        <a:t>Decision For decision and submitted by another user</a:t>
                      </a:r>
                    </a:p>
                  </a:txBody>
                  <a:tcPr marL="54864" marR="54864" marT="27432" marB="27432">
                    <a:solidFill>
                      <a:srgbClr val="E5F5FF"/>
                    </a:solidFill>
                  </a:tcPr>
                </a:tc>
                <a:tc>
                  <a:txBody>
                    <a:bodyPr/>
                    <a:lstStyle/>
                    <a:p>
                      <a:r>
                        <a:rPr sz="850" b="0">
                          <a:solidFill>
                            <a:srgbClr val="4B4B4B"/>
                          </a:solidFill>
                          <a:latin typeface="Arial"/>
                        </a:rPr>
                        <a:t>Decides the class of the object (gate G1), with an optional comment</a:t>
                      </a:r>
                    </a:p>
                  </a:txBody>
                  <a:tcPr marL="54864" marR="54864" marT="27432" marB="27432">
                    <a:solidFill>
                      <a:srgbClr val="E5F5FF"/>
                    </a:solidFill>
                  </a:tcPr>
                </a:tc>
                <a:tc>
                  <a:txBody>
                    <a:bodyPr/>
                    <a:lstStyle/>
                    <a:p>
                      <a:r>
                        <a:rPr sz="850" b="0">
                          <a:solidFill>
                            <a:srgbClr val="4B4B4B"/>
                          </a:solidFill>
                          <a:latin typeface="Arial"/>
                        </a:rPr>
                        <a:t>Decided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a:t>
                      </a:r>
                    </a:p>
                  </a:txBody>
                  <a:tcPr marL="54864" marR="54864" marT="27432" marB="27432">
                    <a:solidFill>
                      <a:srgbClr val="FFFFFF"/>
                    </a:solidFill>
                  </a:tcPr>
                </a:tc>
                <a:tc>
                  <a:txBody>
                    <a:bodyPr/>
                    <a:lstStyle/>
                    <a:p>
                      <a:r>
                        <a:rPr sz="850" b="0">
                          <a:solidFill>
                            <a:srgbClr val="4B4B4B"/>
                          </a:solidFill>
                          <a:latin typeface="Arial"/>
                        </a:rPr>
                        <a:t>Data owner</a:t>
                      </a:r>
                    </a:p>
                  </a:txBody>
                  <a:tcPr marL="54864" marR="54864" marT="27432" marB="27432">
                    <a:solidFill>
                      <a:srgbClr val="FFFFFF"/>
                    </a:solidFill>
                  </a:tcPr>
                </a:tc>
                <a:tc>
                  <a:txBody>
                    <a:bodyPr/>
                    <a:lstStyle/>
                    <a:p>
                      <a:r>
                        <a:rPr sz="850" b="0">
                          <a:solidFill>
                            <a:srgbClr val="4B4B4B"/>
                          </a:solidFill>
                          <a:latin typeface="Arial"/>
                        </a:rPr>
                        <a:t>Decision For decision and submitted by another user</a:t>
                      </a:r>
                    </a:p>
                  </a:txBody>
                  <a:tcPr marL="54864" marR="54864" marT="27432" marB="27432">
                    <a:solidFill>
                      <a:srgbClr val="FFFFFF"/>
                    </a:solidFill>
                  </a:tcPr>
                </a:tc>
                <a:tc>
                  <a:txBody>
                    <a:bodyPr/>
                    <a:lstStyle/>
                    <a:p>
                      <a:r>
                        <a:rPr sz="850" b="0">
                          <a:solidFill>
                            <a:srgbClr val="4B4B4B"/>
                          </a:solidFill>
                          <a:latin typeface="Arial"/>
                        </a:rPr>
                        <a:t>Returns the proposal to the Data Migration Lead with the reason</a:t>
                      </a:r>
                    </a:p>
                  </a:txBody>
                  <a:tcPr marL="54864" marR="54864" marT="27432" marB="27432">
                    <a:solidFill>
                      <a:srgbClr val="FFFFFF"/>
                    </a:solidFill>
                  </a:tcPr>
                </a:tc>
                <a:tc>
                  <a:txBody>
                    <a:bodyPr/>
                    <a:lstStyle/>
                    <a:p>
                      <a:r>
                        <a:rPr sz="850" b="0">
                          <a:solidFill>
                            <a:srgbClr val="4B4B4B"/>
                          </a:solidFill>
                          <a:latin typeface="Arial"/>
                        </a:rPr>
                        <a:t>Proposed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Close</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Closes the panel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159</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An object loads only after the objects it depends on are accepted in the same environment; its load order follows theirs (FR-DM-001).</a:t>
                      </a:r>
                    </a:p>
                  </a:txBody>
                  <a:tcPr marL="54864" marR="54864" marT="27432" marB="27432">
                    <a:solidFill>
                      <a:srgbClr val="FFFFFF"/>
                    </a:solidFill>
                  </a:tcPr>
                </a:tc>
              </a:tr>
              <a:tr h="243840">
                <a:tc>
                  <a:txBody>
                    <a:bodyPr/>
                    <a:lstStyle/>
                    <a:p>
                      <a:r>
                        <a:rPr sz="1000" b="0">
                          <a:solidFill>
                            <a:srgbClr val="4B4B4B"/>
                          </a:solidFill>
                          <a:latin typeface="Arial"/>
                        </a:rPr>
                        <a:t>The business owner of the object decides its class, never the user who submitted it (FR-DM-002).</a:t>
                      </a:r>
                    </a:p>
                  </a:txBody>
                  <a:tcPr marL="54864" marR="54864" marT="27432" marB="27432">
                    <a:solidFill>
                      <a:srgbClr val="E5F5FF"/>
                    </a:solidFill>
                  </a:tcPr>
                </a:tc>
              </a:tr>
              <a:tr h="243840">
                <a:tc>
                  <a:txBody>
                    <a:bodyPr/>
                    <a:lstStyle/>
                    <a:p>
                      <a:r>
                        <a:rPr sz="1000" b="0">
                          <a:solidFill>
                            <a:srgbClr val="4B4B4B"/>
                          </a:solidFill>
                          <a:latin typeface="Arial"/>
                        </a:rPr>
                        <a:t>The class of an object whose batches are loaded changes only after the batches are rolled back (FR-DM-002).</a:t>
                      </a:r>
                    </a:p>
                  </a:txBody>
                  <a:tcPr marL="54864" marR="54864" marT="27432" marB="27432">
                    <a:solidFill>
                      <a:srgbClr val="FFFFFF"/>
                    </a:solidFill>
                  </a:tcPr>
                </a:tc>
              </a:tr>
              <a:tr h="243840">
                <a:tc>
                  <a:txBody>
                    <a:bodyPr/>
                    <a:lstStyle/>
                    <a:p>
                      <a:r>
                        <a:rPr sz="1000" b="0">
                          <a:solidFill>
                            <a:srgbClr val="4B4B4B"/>
                          </a:solidFill>
                          <a:latin typeface="Arial"/>
                        </a:rPr>
                        <a:t>Only objects decided as Migrate, Carry forward or Conditional (with its condition met) can be planned in a batch; archive objects load into the legacy archive (FR-DM-002).</a:t>
                      </a:r>
                    </a:p>
                  </a:txBody>
                  <a:tcPr marL="54864" marR="54864" marT="27432" marB="27432">
                    <a:solidFill>
                      <a:srgbClr val="E5F5FF"/>
                    </a:solidFill>
                  </a:tcPr>
                </a:tc>
              </a:tr>
            </a:tbl>
          </a:graphicData>
        </a:graphic>
      </p:graphicFrame>
    </p:spTree>
  </p:cSld>
  <p:clrMapOvr>
    <a:masterClrMapping/>
  </p:clrMapOvr>
</p:sld>
</file>

<file path=ppt/slides/slide1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Objects register with the class and status of each object (part 1 of 2)</a:t>
            </a:r>
          </a:p>
        </p:txBody>
      </p:sp>
    </p:spTree>
  </p:cSld>
  <p:clrMapOvr>
    <a:masterClrMapping/>
  </p:clrMapOvr>
</p:sld>
</file>

<file path=ppt/slides/slide1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3.png"/>
          <p:cNvPicPr>
            <a:picLocks noChangeAspect="1"/>
          </p:cNvPicPr>
          <p:nvPr/>
        </p:nvPicPr>
        <p:blipFill>
          <a:blip r:embed="rId3"/>
          <a:stretch>
            <a:fillRect/>
          </a:stretch>
        </p:blipFill>
        <p:spPr>
          <a:xfrm>
            <a:off x="548640" y="1261872"/>
            <a:ext cx="11094415" cy="403607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 Objects register with the class and status of each object (part 2 of 2)</a:t>
            </a:r>
          </a:p>
        </p:txBody>
      </p:sp>
    </p:spTree>
  </p:cSld>
  <p:clrMapOvr>
    <a:masterClrMapping/>
  </p:clrMapOvr>
</p:sld>
</file>

<file path=ppt/slides/slide1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94.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Object C01 with the four criteria, the rationale and the decision history (part 1 of 4)</a:t>
            </a:r>
          </a:p>
        </p:txBody>
      </p:sp>
    </p:spTree>
  </p:cSld>
  <p:clrMapOvr>
    <a:masterClrMapping/>
  </p:clrMapOvr>
</p:sld>
</file>

<file path=ppt/slides/slide1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163</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95.png"/>
          <p:cNvPicPr>
            <a:picLocks noChangeAspect="1"/>
          </p:cNvPicPr>
          <p:nvPr/>
        </p:nvPicPr>
        <p:blipFill>
          <a:blip r:embed="rId3"/>
          <a:stretch>
            <a:fillRect/>
          </a:stretch>
        </p:blipFill>
        <p:spPr>
          <a:xfrm>
            <a:off x="548640" y="1261872"/>
            <a:ext cx="11094415" cy="459557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Object C01 with the four criteria, the rationale and the decision history (part 2 of 4)</a:t>
            </a:r>
          </a:p>
        </p:txBody>
      </p:sp>
    </p:spTree>
  </p:cSld>
  <p:clrMapOvr>
    <a:masterClrMapping/>
  </p:clrMapOvr>
</p:sld>
</file>

<file path=ppt/slides/slide1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164</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96.png"/>
          <p:cNvPicPr>
            <a:picLocks noChangeAspect="1"/>
          </p:cNvPicPr>
          <p:nvPr/>
        </p:nvPicPr>
        <p:blipFill>
          <a:blip r:embed="rId3"/>
          <a:stretch>
            <a:fillRect/>
          </a:stretch>
        </p:blipFill>
        <p:spPr>
          <a:xfrm>
            <a:off x="548640" y="1261872"/>
            <a:ext cx="11094415" cy="457644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Object C01 with the four criteria, the rationale and the decision history (part 3 of 4)</a:t>
            </a:r>
          </a:p>
        </p:txBody>
      </p:sp>
    </p:spTree>
  </p:cSld>
  <p:clrMapOvr>
    <a:masterClrMapping/>
  </p:clrMapOvr>
</p:sld>
</file>

<file path=ppt/slides/slide1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SCR-DM-02 Data Objects and the decision of an object: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165</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097.png"/>
          <p:cNvPicPr>
            <a:picLocks noChangeAspect="1"/>
          </p:cNvPicPr>
          <p:nvPr/>
        </p:nvPicPr>
        <p:blipFill>
          <a:blip r:embed="rId3"/>
          <a:stretch>
            <a:fillRect/>
          </a:stretch>
        </p:blipFill>
        <p:spPr>
          <a:xfrm>
            <a:off x="548640" y="1261872"/>
            <a:ext cx="11094415" cy="29648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Object C01 with the four criteria, the rationale and the decision history (part 4 of 4)</a:t>
            </a:r>
          </a:p>
        </p:txBody>
      </p:sp>
    </p:spTree>
  </p:cSld>
  <p:clrMapOvr>
    <a:masterClrMapping/>
  </p:clrMapOvr>
</p:sld>
</file>

<file path=ppt/slides/slide1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SCR-DM-03 Code Maps and the versions of a code map</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166</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code maps that turn the legacy codes of each source system into BIBS values (lists of values, insurers, products, packages, branches, sales units, users, GL accounts, statuses and more). A code map opens with its versions and the entries of the chosen version. The Data Steward prepares a draft version on screen or in Excel and submits it; the business owner approves or returns it (gate G2). The Unmapped Codes tab lists the legacy codes found without an entry in the batches under validation.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Code Maps</a:t>
                      </a:r>
                    </a:p>
                    <a:p>
                      <a:r>
                        <a:rPr sz="950" b="0">
                          <a:solidFill>
                            <a:srgbClr val="4B4B4B"/>
                          </a:solidFill>
                          <a:latin typeface="Arial"/>
                        </a:rPr>
                        <a:t>Migration Home › Unmapped legacy codes</a:t>
                      </a:r>
                    </a:p>
                    <a:p>
                      <a:r>
                        <a:rPr sz="950" b="0">
                          <a:solidFill>
                            <a:srgbClr val="4B4B4B"/>
                          </a:solidFill>
                          <a:latin typeface="Arial"/>
                        </a:rPr>
                        <a:t>Batch › Issues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FR-DM-011, FR-DM-012, FR-DM-034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legacy code used by a record in scope has an approved entry, and every batch records the versions it used.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167</a:t>
            </a:r>
          </a:p>
        </p:txBody>
      </p:sp>
      <p:graphicFrame>
        <p:nvGraphicFramePr>
          <p:cNvPr id="9" name="Table 8"/>
          <p:cNvGraphicFramePr>
            <a:graphicFrameLocks noGrp="1"/>
          </p:cNvGraphicFramePr>
          <p:nvPr/>
        </p:nvGraphicFramePr>
        <p:xfrm>
          <a:off x="548640" y="1325880"/>
          <a:ext cx="11094411" cy="470151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Code Maps tab</a:t>
                      </a:r>
                    </a:p>
                  </a:txBody>
                  <a:tcPr marL="54864" marR="54864" marT="27432" marB="27432">
                    <a:solidFill>
                      <a:srgbClr val="FFFFFF"/>
                    </a:solidFill>
                  </a:tcPr>
                </a:tc>
                <a:tc>
                  <a:txBody>
                    <a:bodyPr/>
                    <a:lstStyle/>
                    <a:p>
                      <a:r>
                        <a:rPr sz="850" b="0">
                          <a:solidFill>
                            <a:srgbClr val="4B4B4B"/>
                          </a:solidFill>
                          <a:latin typeface="Arial"/>
                        </a:rPr>
                        <a:t>Search code map</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Code or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Code Maps tab</a:t>
                      </a:r>
                    </a:p>
                  </a:txBody>
                  <a:tcPr marL="54864" marR="54864" marT="27432" marB="27432">
                    <a:solidFill>
                      <a:srgbClr val="E5F5FF"/>
                    </a:solidFill>
                  </a:tcPr>
                </a:tc>
                <a:tc>
                  <a:txBody>
                    <a:bodyPr/>
                    <a:lstStyle/>
                    <a:p>
                      <a:r>
                        <a:rPr sz="850" b="0">
                          <a:solidFill>
                            <a:srgbClr val="4B4B4B"/>
                          </a:solidFill>
                          <a:latin typeface="Arial"/>
                        </a:rPr>
                        <a:t>Code map</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Set code with its name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Code Maps tab</a:t>
                      </a:r>
                    </a:p>
                  </a:txBody>
                  <a:tcPr marL="54864" marR="54864" marT="27432" marB="27432">
                    <a:solidFill>
                      <a:srgbClr val="FFFFFF"/>
                    </a:solidFill>
                  </a:tcPr>
                </a:tc>
                <a:tc>
                  <a:txBody>
                    <a:bodyPr/>
                    <a:lstStyle/>
                    <a:p>
                      <a:r>
                        <a:rPr sz="850" b="0">
                          <a:solidFill>
                            <a:srgbClr val="4B4B4B"/>
                          </a:solidFill>
                          <a:latin typeface="Arial"/>
                        </a:rPr>
                        <a:t>BIBS values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What the codes map to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Code Maps tab</a:t>
                      </a:r>
                    </a:p>
                  </a:txBody>
                  <a:tcPr marL="54864" marR="54864" marT="27432" marB="27432">
                    <a:solidFill>
                      <a:srgbClr val="E5F5FF"/>
                    </a:solidFill>
                  </a:tcPr>
                </a:tc>
                <a:tc>
                  <a:txBody>
                    <a:bodyPr/>
                    <a:lstStyle/>
                    <a:p>
                      <a:r>
                        <a:rPr sz="850" b="0">
                          <a:solidFill>
                            <a:srgbClr val="4B4B4B"/>
                          </a:solidFill>
                          <a:latin typeface="Arial"/>
                        </a:rPr>
                        <a:t>Used by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Layouts whose columns use the map</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Code Maps tab</a:t>
                      </a:r>
                    </a:p>
                  </a:txBody>
                  <a:tcPr marL="54864" marR="54864" marT="27432" marB="27432">
                    <a:solidFill>
                      <a:srgbClr val="FFFFFF"/>
                    </a:solidFill>
                  </a:tcPr>
                </a:tc>
                <a:tc>
                  <a:txBody>
                    <a:bodyPr/>
                    <a:lstStyle/>
                    <a:p>
                      <a:r>
                        <a:rPr sz="850" b="0">
                          <a:solidFill>
                            <a:srgbClr val="4B4B4B"/>
                          </a:solidFill>
                          <a:latin typeface="Arial"/>
                        </a:rPr>
                        <a:t>Approved version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vN, or None in 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Code Maps tab</a:t>
                      </a:r>
                    </a:p>
                  </a:txBody>
                  <a:tcPr marL="54864" marR="54864" marT="27432" marB="27432">
                    <a:solidFill>
                      <a:srgbClr val="E5F5FF"/>
                    </a:solidFill>
                  </a:tcPr>
                </a:tc>
                <a:tc>
                  <a:txBody>
                    <a:bodyPr/>
                    <a:lstStyle/>
                    <a:p>
                      <a:r>
                        <a:rPr sz="850" b="0">
                          <a:solidFill>
                            <a:srgbClr val="4B4B4B"/>
                          </a:solidFill>
                          <a:latin typeface="Arial"/>
                        </a:rPr>
                        <a:t>Open version</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Draft or Submitted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Versions</a:t>
                      </a:r>
                    </a:p>
                  </a:txBody>
                  <a:tcPr marL="54864" marR="54864" marT="27432" marB="27432">
                    <a:solidFill>
                      <a:srgbClr val="FFFFFF"/>
                    </a:solidFill>
                  </a:tcPr>
                </a:tc>
                <a:tc>
                  <a:txBody>
                    <a:bodyPr/>
                    <a:lstStyle/>
                    <a:p>
                      <a:r>
                        <a:rPr sz="850" b="0">
                          <a:solidFill>
                            <a:srgbClr val="4B4B4B"/>
                          </a:solidFill>
                          <a:latin typeface="Arial"/>
                        </a:rPr>
                        <a:t>Version, Comment, Prepared by, Approved by, Approved, Return reason,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Draft, Submitted, Approved, Superseded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Entries</a:t>
                      </a:r>
                    </a:p>
                  </a:txBody>
                  <a:tcPr marL="54864" marR="54864" marT="27432" marB="27432">
                    <a:solidFill>
                      <a:srgbClr val="E5F5FF"/>
                    </a:solidFill>
                  </a:tcPr>
                </a:tc>
                <a:tc>
                  <a:txBody>
                    <a:bodyPr/>
                    <a:lstStyle/>
                    <a:p>
                      <a:r>
                        <a:rPr sz="850" b="0">
                          <a:solidFill>
                            <a:srgbClr val="4B4B4B"/>
                          </a:solidFill>
                          <a:latin typeface="Arial"/>
                        </a:rPr>
                        <a:t>Source, Legacy code, Legacy description, Condition, Action, BIBS value, Remarks</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Add Entry</a:t>
                      </a:r>
                    </a:p>
                  </a:txBody>
                  <a:tcPr marL="54864" marR="54864" marT="27432" marB="27432">
                    <a:solidFill>
                      <a:srgbClr val="FFFFFF"/>
                    </a:solidFill>
                  </a:tcPr>
                </a:tc>
                <a:tc>
                  <a:txBody>
                    <a:bodyPr/>
                    <a:lstStyle/>
                    <a:p>
                      <a:r>
                        <a:rPr sz="850" b="0">
                          <a:solidFill>
                            <a:srgbClr val="4B4B4B"/>
                          </a:solidFill>
                          <a:latin typeface="Arial"/>
                        </a:rPr>
                        <a:t>Source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EBIX, QPS, ISYS, EXCEL, CMS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Add Entry</a:t>
                      </a:r>
                    </a:p>
                  </a:txBody>
                  <a:tcPr marL="54864" marR="54864" marT="27432" marB="27432">
                    <a:solidFill>
                      <a:srgbClr val="E5F5FF"/>
                    </a:solidFill>
                  </a:tcPr>
                </a:tc>
                <a:tc>
                  <a:txBody>
                    <a:bodyPr/>
                    <a:lstStyle/>
                    <a:p>
                      <a:r>
                        <a:rPr sz="850" b="0">
                          <a:solidFill>
                            <a:srgbClr val="4B4B4B"/>
                          </a:solidFill>
                          <a:latin typeface="Arial"/>
                        </a:rPr>
                        <a:t>Legacy code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80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Unique per source and condition in the version</a:t>
                      </a:r>
                    </a:p>
                  </a:txBody>
                  <a:tcPr marL="54864" marR="54864" marT="27432" marB="27432">
                    <a:solidFill>
                      <a:srgbClr val="E5F5FF"/>
                    </a:solidFill>
                  </a:tcPr>
                </a:tc>
                <a:tc>
                  <a:txBody>
                    <a:bodyPr/>
                    <a:lstStyle/>
                    <a:p>
                      <a:r>
                        <a:rPr sz="850" b="0">
                          <a:solidFill>
                            <a:srgbClr val="4B4B4B"/>
                          </a:solidFill>
                          <a:latin typeface="Arial"/>
                        </a:rPr>
                        <a:t>Legacy code &lt;legacy code&gt; of &lt;source system&gt; is mapped twice</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Add Entry</a:t>
                      </a:r>
                    </a:p>
                  </a:txBody>
                  <a:tcPr marL="54864" marR="54864" marT="27432" marB="27432">
                    <a:solidFill>
                      <a:srgbClr val="FFFFFF"/>
                    </a:solidFill>
                  </a:tcPr>
                </a:tc>
                <a:tc>
                  <a:txBody>
                    <a:bodyPr/>
                    <a:lstStyle/>
                    <a:p>
                      <a:r>
                        <a:rPr sz="850" b="0">
                          <a:solidFill>
                            <a:srgbClr val="4B4B4B"/>
                          </a:solidFill>
                          <a:latin typeface="Arial"/>
                        </a:rPr>
                        <a:t>Legacy description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250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Add Entry</a:t>
                      </a:r>
                    </a:p>
                  </a:txBody>
                  <a:tcPr marL="54864" marR="54864" marT="27432" marB="27432">
                    <a:solidFill>
                      <a:srgbClr val="E5F5FF"/>
                    </a:solidFill>
                  </a:tcPr>
                </a:tc>
                <a:tc>
                  <a:txBody>
                    <a:bodyPr/>
                    <a:lstStyle/>
                    <a:p>
                      <a:r>
                        <a:rPr sz="850" b="0">
                          <a:solidFill>
                            <a:srgbClr val="4B4B4B"/>
                          </a:solidFill>
                          <a:latin typeface="Arial"/>
                        </a:rPr>
                        <a:t>Action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Map to a BIBS value, Create in BIBS, Use the default value, Reject the record</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Enter the source system, the legacy code and the action</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Add Entry</a:t>
                      </a:r>
                    </a:p>
                  </a:txBody>
                  <a:tcPr marL="54864" marR="54864" marT="27432" marB="27432">
                    <a:solidFill>
                      <a:srgbClr val="FFFFFF"/>
                    </a:solidFill>
                  </a:tcPr>
                </a:tc>
                <a:tc>
                  <a:txBody>
                    <a:bodyPr/>
                    <a:lstStyle/>
                    <a:p>
                      <a:r>
                        <a:rPr sz="850" b="0">
                          <a:solidFill>
                            <a:srgbClr val="4B4B4B"/>
                          </a:solidFill>
                          <a:latin typeface="Arial"/>
                        </a:rPr>
                        <a:t>BIBS value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 value of the BIBS master</a:t>
                      </a:r>
                    </a:p>
                  </a:txBody>
                  <a:tcPr marL="54864" marR="54864" marT="27432" marB="27432">
                    <a:solidFill>
                      <a:srgbClr val="FFFFFF"/>
                    </a:solidFill>
                  </a:tcPr>
                </a:tc>
                <a:tc>
                  <a:txBody>
                    <a:bodyPr/>
                    <a:lstStyle/>
                    <a:p>
                      <a:r>
                        <a:rPr sz="850" b="0">
                          <a:solidFill>
                            <a:srgbClr val="4B4B4B"/>
                          </a:solidFill>
                          <a:latin typeface="Arial"/>
                        </a:rPr>
                        <a:t>C</a:t>
                      </a:r>
                    </a:p>
                  </a:txBody>
                  <a:tcPr marL="54864" marR="54864" marT="27432" marB="27432">
                    <a:solidFill>
                      <a:srgbClr val="FFFFFF"/>
                    </a:solidFill>
                  </a:tcPr>
                </a:tc>
                <a:tc>
                  <a:txBody>
                    <a:bodyPr/>
                    <a:lstStyle/>
                    <a:p>
                      <a:r>
                        <a:rPr sz="850" b="0">
                          <a:solidFill>
                            <a:srgbClr val="4B4B4B"/>
                          </a:solidFill>
                          <a:latin typeface="Arial"/>
                        </a:rPr>
                        <a:t>Mandatory for Map; the value exists in BIBS</a:t>
                      </a:r>
                    </a:p>
                  </a:txBody>
                  <a:tcPr marL="54864" marR="54864" marT="27432" marB="27432">
                    <a:solidFill>
                      <a:srgbClr val="FFFFFF"/>
                    </a:solidFill>
                  </a:tcPr>
                </a:tc>
                <a:tc>
                  <a:txBody>
                    <a:bodyPr/>
                    <a:lstStyle/>
                    <a:p>
                      <a:r>
                        <a:rPr sz="850" b="0">
                          <a:solidFill>
                            <a:srgbClr val="4B4B4B"/>
                          </a:solidFill>
                          <a:latin typeface="Arial"/>
                        </a:rPr>
                        <a:t>Enter the target code of legacy code &lt;legacy code&gt;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Add Entry</a:t>
                      </a:r>
                    </a:p>
                  </a:txBody>
                  <a:tcPr marL="54864" marR="54864" marT="27432" marB="27432">
                    <a:solidFill>
                      <a:srgbClr val="E5F5FF"/>
                    </a:solidFill>
                  </a:tcPr>
                </a:tc>
                <a:tc>
                  <a:txBody>
                    <a:bodyPr/>
                    <a:lstStyle/>
                    <a:p>
                      <a:r>
                        <a:rPr sz="850" b="0">
                          <a:solidFill>
                            <a:srgbClr val="4B4B4B"/>
                          </a:solidFill>
                          <a:latin typeface="Arial"/>
                        </a:rPr>
                        <a:t>Condition column, Condition value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Column and value of a conditional entry, for example insurer_code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Add Entry</a:t>
                      </a:r>
                    </a:p>
                  </a:txBody>
                  <a:tcPr marL="54864" marR="54864" marT="27432" marB="27432">
                    <a:solidFill>
                      <a:srgbClr val="FFFFFF"/>
                    </a:solidFill>
                  </a:tcPr>
                </a:tc>
                <a:tc>
                  <a:txBody>
                    <a:bodyPr/>
                    <a:lstStyle/>
                    <a:p>
                      <a:r>
                        <a:rPr sz="850" b="0">
                          <a:solidFill>
                            <a:srgbClr val="4B4B4B"/>
                          </a:solidFill>
                          <a:latin typeface="Arial"/>
                        </a:rPr>
                        <a:t>Remarks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300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168</a:t>
            </a:r>
          </a:p>
        </p:txBody>
      </p:sp>
      <p:graphicFrame>
        <p:nvGraphicFramePr>
          <p:cNvPr id="9" name="Table 8"/>
          <p:cNvGraphicFramePr>
            <a:graphicFrameLocks noGrp="1"/>
          </p:cNvGraphicFramePr>
          <p:nvPr/>
        </p:nvGraphicFramePr>
        <p:xfrm>
          <a:off x="548640" y="1325880"/>
          <a:ext cx="11094411" cy="701036"/>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16</a:t>
                      </a:r>
                    </a:p>
                  </a:txBody>
                  <a:tcPr marL="54864" marR="54864" marT="27432" marB="27432">
                    <a:solidFill>
                      <a:srgbClr val="FFFFFF"/>
                    </a:solidFill>
                  </a:tcPr>
                </a:tc>
                <a:tc>
                  <a:txBody>
                    <a:bodyPr/>
                    <a:lstStyle/>
                    <a:p>
                      <a:r>
                        <a:rPr sz="850" b="0">
                          <a:solidFill>
                            <a:srgbClr val="4B4B4B"/>
                          </a:solidFill>
                          <a:latin typeface="Arial"/>
                        </a:rPr>
                        <a:t>Unmapped Codes tab</a:t>
                      </a:r>
                    </a:p>
                  </a:txBody>
                  <a:tcPr marL="54864" marR="54864" marT="27432" marB="27432">
                    <a:solidFill>
                      <a:srgbClr val="FFFFFF"/>
                    </a:solidFill>
                  </a:tcPr>
                </a:tc>
                <a:tc>
                  <a:txBody>
                    <a:bodyPr/>
                    <a:lstStyle/>
                    <a:p>
                      <a:r>
                        <a:rPr sz="850" b="0">
                          <a:solidFill>
                            <a:srgbClr val="4B4B4B"/>
                          </a:solidFill>
                          <a:latin typeface="Arial"/>
                        </a:rPr>
                        <a:t>Code map, Source, Legacy code, Rows, Example records, Blocks the load</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Blocks the load Yes for a mandatory column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169</a:t>
            </a:r>
          </a:p>
        </p:txBody>
      </p:sp>
      <p:graphicFrame>
        <p:nvGraphicFramePr>
          <p:cNvPr id="9" name="Table 8"/>
          <p:cNvGraphicFramePr>
            <a:graphicFrameLocks noGrp="1"/>
          </p:cNvGraphicFramePr>
          <p:nvPr/>
        </p:nvGraphicFramePr>
        <p:xfrm>
          <a:off x="548640" y="1325880"/>
          <a:ext cx="11094412" cy="254506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Version</a:t>
                      </a:r>
                    </a:p>
                  </a:txBody>
                  <a:tcPr marL="54864" marR="54864" marT="27432" marB="27432">
                    <a:solidFill>
                      <a:srgbClr val="FFFFFF"/>
                    </a:solidFill>
                  </a:tcPr>
                </a:tc>
                <a:tc>
                  <a:txBody>
                    <a:bodyPr/>
                    <a:lstStyle/>
                    <a:p>
                      <a:r>
                        <a:rPr sz="850" b="0">
                          <a:solidFill>
                            <a:srgbClr val="4B4B4B"/>
                          </a:solidFill>
                          <a:latin typeface="Arial"/>
                        </a:rPr>
                        <a:t>Data Steward</a:t>
                      </a:r>
                    </a:p>
                  </a:txBody>
                  <a:tcPr marL="54864" marR="54864" marT="27432" marB="27432">
                    <a:solidFill>
                      <a:srgbClr val="FFFFFF"/>
                    </a:solidFill>
                  </a:tcPr>
                </a:tc>
                <a:tc>
                  <a:txBody>
                    <a:bodyPr/>
                    <a:lstStyle/>
                    <a:p>
                      <a:r>
                        <a:rPr sz="850" b="0">
                          <a:solidFill>
                            <a:srgbClr val="4B4B4B"/>
                          </a:solidFill>
                          <a:latin typeface="Arial"/>
                        </a:rPr>
                        <a:t>No version is being edited or waiting for approval</a:t>
                      </a:r>
                    </a:p>
                  </a:txBody>
                  <a:tcPr marL="54864" marR="54864" marT="27432" marB="27432">
                    <a:solidFill>
                      <a:srgbClr val="FFFFFF"/>
                    </a:solidFill>
                  </a:tcPr>
                </a:tc>
                <a:tc>
                  <a:txBody>
                    <a:bodyPr/>
                    <a:lstStyle/>
                    <a:p>
                      <a:r>
                        <a:rPr sz="850" b="0">
                          <a:solidFill>
                            <a:srgbClr val="4B4B4B"/>
                          </a:solidFill>
                          <a:latin typeface="Arial"/>
                        </a:rPr>
                        <a:t>Creates a draft from the approved version, with an optional comment</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Import Excel</a:t>
                      </a:r>
                    </a:p>
                  </a:txBody>
                  <a:tcPr marL="54864" marR="54864" marT="27432" marB="27432">
                    <a:solidFill>
                      <a:srgbClr val="E5F5FF"/>
                    </a:solidFill>
                  </a:tcPr>
                </a:tc>
                <a:tc>
                  <a:txBody>
                    <a:bodyPr/>
                    <a:lstStyle/>
                    <a:p>
                      <a:r>
                        <a:rPr sz="850" b="0">
                          <a:solidFill>
                            <a:srgbClr val="4B4B4B"/>
                          </a:solidFill>
                          <a:latin typeface="Arial"/>
                        </a:rPr>
                        <a:t>Data Steward</a:t>
                      </a:r>
                    </a:p>
                  </a:txBody>
                  <a:tcPr marL="54864" marR="54864" marT="27432" marB="27432">
                    <a:solidFill>
                      <a:srgbClr val="E5F5FF"/>
                    </a:solidFill>
                  </a:tcPr>
                </a:tc>
                <a:tc>
                  <a:txBody>
                    <a:bodyPr/>
                    <a:lstStyle/>
                    <a:p>
                      <a:r>
                        <a:rPr sz="850" b="0">
                          <a:solidFill>
                            <a:srgbClr val="4B4B4B"/>
                          </a:solidFill>
                          <a:latin typeface="Arial"/>
                        </a:rPr>
                        <a:t>No open version</a:t>
                      </a:r>
                    </a:p>
                  </a:txBody>
                  <a:tcPr marL="54864" marR="54864" marT="27432" marB="27432">
                    <a:solidFill>
                      <a:srgbClr val="E5F5FF"/>
                    </a:solidFill>
                  </a:tcPr>
                </a:tc>
                <a:tc>
                  <a:txBody>
                    <a:bodyPr/>
                    <a:lstStyle/>
                    <a:p>
                      <a:r>
                        <a:rPr sz="850" b="0">
                          <a:solidFill>
                            <a:srgbClr val="4B4B4B"/>
                          </a:solidFill>
                          <a:latin typeface="Arial"/>
                        </a:rPr>
                        <a:t>Creates a draft version from an Excel file with the columns source_system, legacy_code and action</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Export</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 version is chosen</a:t>
                      </a:r>
                    </a:p>
                  </a:txBody>
                  <a:tcPr marL="54864" marR="54864" marT="27432" marB="27432">
                    <a:solidFill>
                      <a:srgbClr val="FFFFFF"/>
                    </a:solidFill>
                  </a:tcPr>
                </a:tc>
                <a:tc>
                  <a:txBody>
                    <a:bodyPr/>
                    <a:lstStyle/>
                    <a:p>
                      <a:r>
                        <a:rPr sz="850" b="0">
                          <a:solidFill>
                            <a:srgbClr val="4B4B4B"/>
                          </a:solidFill>
                          <a:latin typeface="Arial"/>
                        </a:rPr>
                        <a:t>Downloads the entries of the version in Excel</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Add Entry</a:t>
                      </a:r>
                    </a:p>
                  </a:txBody>
                  <a:tcPr marL="54864" marR="54864" marT="27432" marB="27432">
                    <a:solidFill>
                      <a:srgbClr val="E5F5FF"/>
                    </a:solidFill>
                  </a:tcPr>
                </a:tc>
                <a:tc>
                  <a:txBody>
                    <a:bodyPr/>
                    <a:lstStyle/>
                    <a:p>
                      <a:r>
                        <a:rPr sz="850" b="0">
                          <a:solidFill>
                            <a:srgbClr val="4B4B4B"/>
                          </a:solidFill>
                          <a:latin typeface="Arial"/>
                        </a:rPr>
                        <a:t>Data Steward</a:t>
                      </a:r>
                    </a:p>
                  </a:txBody>
                  <a:tcPr marL="54864" marR="54864" marT="27432" marB="27432">
                    <a:solidFill>
                      <a:srgbClr val="E5F5FF"/>
                    </a:solidFill>
                  </a:tcPr>
                </a:tc>
                <a:tc>
                  <a:txBody>
                    <a:bodyPr/>
                    <a:lstStyle/>
                    <a:p>
                      <a:r>
                        <a:rPr sz="850" b="0">
                          <a:solidFill>
                            <a:srgbClr val="4B4B4B"/>
                          </a:solidFill>
                          <a:latin typeface="Arial"/>
                        </a:rPr>
                        <a:t>Version is a draft</a:t>
                      </a:r>
                    </a:p>
                  </a:txBody>
                  <a:tcPr marL="54864" marR="54864" marT="27432" marB="27432">
                    <a:solidFill>
                      <a:srgbClr val="E5F5FF"/>
                    </a:solidFill>
                  </a:tcPr>
                </a:tc>
                <a:tc>
                  <a:txBody>
                    <a:bodyPr/>
                    <a:lstStyle/>
                    <a:p>
                      <a:r>
                        <a:rPr sz="850" b="0">
                          <a:solidFill>
                            <a:srgbClr val="4B4B4B"/>
                          </a:solidFill>
                          <a:latin typeface="Arial"/>
                        </a:rPr>
                        <a:t>Adds an entry; a row of a draft opens it for change; the bin removes it</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Submit</a:t>
                      </a:r>
                    </a:p>
                  </a:txBody>
                  <a:tcPr marL="54864" marR="54864" marT="27432" marB="27432">
                    <a:solidFill>
                      <a:srgbClr val="FFFFFF"/>
                    </a:solidFill>
                  </a:tcPr>
                </a:tc>
                <a:tc>
                  <a:txBody>
                    <a:bodyPr/>
                    <a:lstStyle/>
                    <a:p>
                      <a:r>
                        <a:rPr sz="850" b="0">
                          <a:solidFill>
                            <a:srgbClr val="4B4B4B"/>
                          </a:solidFill>
                          <a:latin typeface="Arial"/>
                        </a:rPr>
                        <a:t>Data Steward</a:t>
                      </a:r>
                    </a:p>
                  </a:txBody>
                  <a:tcPr marL="54864" marR="54864" marT="27432" marB="27432">
                    <a:solidFill>
                      <a:srgbClr val="FFFFFF"/>
                    </a:solidFill>
                  </a:tcPr>
                </a:tc>
                <a:tc>
                  <a:txBody>
                    <a:bodyPr/>
                    <a:lstStyle/>
                    <a:p>
                      <a:r>
                        <a:rPr sz="850" b="0">
                          <a:solidFill>
                            <a:srgbClr val="4B4B4B"/>
                          </a:solidFill>
                          <a:latin typeface="Arial"/>
                        </a:rPr>
                        <a:t>Version is a draft with at least one entry</a:t>
                      </a:r>
                    </a:p>
                  </a:txBody>
                  <a:tcPr marL="54864" marR="54864" marT="27432" marB="27432">
                    <a:solidFill>
                      <a:srgbClr val="FFFFFF"/>
                    </a:solidFill>
                  </a:tcPr>
                </a:tc>
                <a:tc>
                  <a:txBody>
                    <a:bodyPr/>
                    <a:lstStyle/>
                    <a:p>
                      <a:r>
                        <a:rPr sz="850" b="0">
                          <a:solidFill>
                            <a:srgbClr val="4B4B4B"/>
                          </a:solidFill>
                          <a:latin typeface="Arial"/>
                        </a:rPr>
                        <a:t>Sends the version to the business owner after a confirmation</a:t>
                      </a:r>
                    </a:p>
                  </a:txBody>
                  <a:tcPr marL="54864" marR="54864" marT="27432" marB="27432">
                    <a:solidFill>
                      <a:srgbClr val="FFFFFF"/>
                    </a:solidFill>
                  </a:tcPr>
                </a:tc>
                <a:tc>
                  <a:txBody>
                    <a:bodyPr/>
                    <a:lstStyle/>
                    <a:p>
                      <a:r>
                        <a:rPr sz="850" b="0">
                          <a:solidFill>
                            <a:srgbClr val="4B4B4B"/>
                          </a:solidFill>
                          <a:latin typeface="Arial"/>
                        </a:rPr>
                        <a:t>Submitted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Data owner</a:t>
                      </a:r>
                    </a:p>
                  </a:txBody>
                  <a:tcPr marL="54864" marR="54864" marT="27432" marB="27432">
                    <a:solidFill>
                      <a:srgbClr val="E5F5FF"/>
                    </a:solidFill>
                  </a:tcPr>
                </a:tc>
                <a:tc>
                  <a:txBody>
                    <a:bodyPr/>
                    <a:lstStyle/>
                    <a:p>
                      <a:r>
                        <a:rPr sz="850" b="0">
                          <a:solidFill>
                            <a:srgbClr val="4B4B4B"/>
                          </a:solidFill>
                          <a:latin typeface="Arial"/>
                        </a:rPr>
                        <a:t>Version submitted by another user</a:t>
                      </a:r>
                    </a:p>
                  </a:txBody>
                  <a:tcPr marL="54864" marR="54864" marT="27432" marB="27432">
                    <a:solidFill>
                      <a:srgbClr val="E5F5FF"/>
                    </a:solidFill>
                  </a:tcPr>
                </a:tc>
                <a:tc>
                  <a:txBody>
                    <a:bodyPr/>
                    <a:lstStyle/>
                    <a:p>
                      <a:r>
                        <a:rPr sz="850" b="0">
                          <a:solidFill>
                            <a:srgbClr val="4B4B4B"/>
                          </a:solidFill>
                          <a:latin typeface="Arial"/>
                        </a:rPr>
                        <a:t>Makes the version the approved one; values marked Create are created through the reference-data load</a:t>
                      </a:r>
                    </a:p>
                  </a:txBody>
                  <a:tcPr marL="54864" marR="54864" marT="27432" marB="27432">
                    <a:solidFill>
                      <a:srgbClr val="E5F5FF"/>
                    </a:solidFill>
                  </a:tcPr>
                </a:tc>
                <a:tc>
                  <a:txBody>
                    <a:bodyPr/>
                    <a:lstStyle/>
                    <a:p>
                      <a:r>
                        <a:rPr sz="850" b="0">
                          <a:solidFill>
                            <a:srgbClr val="4B4B4B"/>
                          </a:solidFill>
                          <a:latin typeface="Arial"/>
                        </a:rPr>
                        <a:t>Approved; the previous version Superseded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a:t>
                      </a:r>
                    </a:p>
                  </a:txBody>
                  <a:tcPr marL="54864" marR="54864" marT="27432" marB="27432">
                    <a:solidFill>
                      <a:srgbClr val="FFFFFF"/>
                    </a:solidFill>
                  </a:tcPr>
                </a:tc>
                <a:tc>
                  <a:txBody>
                    <a:bodyPr/>
                    <a:lstStyle/>
                    <a:p>
                      <a:r>
                        <a:rPr sz="850" b="0">
                          <a:solidFill>
                            <a:srgbClr val="4B4B4B"/>
                          </a:solidFill>
                          <a:latin typeface="Arial"/>
                        </a:rPr>
                        <a:t>Data owner</a:t>
                      </a:r>
                    </a:p>
                  </a:txBody>
                  <a:tcPr marL="54864" marR="54864" marT="27432" marB="27432">
                    <a:solidFill>
                      <a:srgbClr val="FFFFFF"/>
                    </a:solidFill>
                  </a:tcPr>
                </a:tc>
                <a:tc>
                  <a:txBody>
                    <a:bodyPr/>
                    <a:lstStyle/>
                    <a:p>
                      <a:r>
                        <a:rPr sz="850" b="0">
                          <a:solidFill>
                            <a:srgbClr val="4B4B4B"/>
                          </a:solidFill>
                          <a:latin typeface="Arial"/>
                        </a:rPr>
                        <a:t>Version submitted by another user</a:t>
                      </a:r>
                    </a:p>
                  </a:txBody>
                  <a:tcPr marL="54864" marR="54864" marT="27432" marB="27432">
                    <a:solidFill>
                      <a:srgbClr val="FFFFFF"/>
                    </a:solidFill>
                  </a:tcPr>
                </a:tc>
                <a:tc>
                  <a:txBody>
                    <a:bodyPr/>
                    <a:lstStyle/>
                    <a:p>
                      <a:r>
                        <a:rPr sz="850" b="0">
                          <a:solidFill>
                            <a:srgbClr val="4B4B4B"/>
                          </a:solidFill>
                          <a:latin typeface="Arial"/>
                        </a:rPr>
                        <a:t>Returns the version to the Data Steward as a draft with the reason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170</a:t>
            </a:r>
          </a:p>
        </p:txBody>
      </p:sp>
      <p:graphicFrame>
        <p:nvGraphicFramePr>
          <p:cNvPr id="9" name="Table 8"/>
          <p:cNvGraphicFramePr>
            <a:graphicFrameLocks noGrp="1"/>
          </p:cNvGraphicFramePr>
          <p:nvPr/>
        </p:nvGraphicFramePr>
        <p:xfrm>
          <a:off x="548640" y="1325880"/>
          <a:ext cx="11094415" cy="146304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the approved version of a map is used by a batch, and the batch records the versions it used (FR-DM-011).</a:t>
                      </a:r>
                    </a:p>
                  </a:txBody>
                  <a:tcPr marL="54864" marR="54864" marT="27432" marB="27432">
                    <a:solidFill>
                      <a:srgbClr val="FFFFFF"/>
                    </a:solidFill>
                  </a:tcPr>
                </a:tc>
              </a:tr>
              <a:tr h="243840">
                <a:tc>
                  <a:txBody>
                    <a:bodyPr/>
                    <a:lstStyle/>
                    <a:p>
                      <a:r>
                        <a:rPr sz="1000" b="0">
                          <a:solidFill>
                            <a:srgbClr val="4B4B4B"/>
                          </a:solidFill>
                          <a:latin typeface="Arial"/>
                        </a:rPr>
                        <a:t>A map has one version being edited or waiting for approval at a time (FR-DM-011).</a:t>
                      </a:r>
                    </a:p>
                  </a:txBody>
                  <a:tcPr marL="54864" marR="54864" marT="27432" marB="27432">
                    <a:solidFill>
                      <a:srgbClr val="E5F5FF"/>
                    </a:solidFill>
                  </a:tcPr>
                </a:tc>
              </a:tr>
              <a:tr h="243840">
                <a:tc>
                  <a:txBody>
                    <a:bodyPr/>
                    <a:lstStyle/>
                    <a:p>
                      <a:r>
                        <a:rPr sz="1000" b="0">
                          <a:solidFill>
                            <a:srgbClr val="4B4B4B"/>
                          </a:solidFill>
                          <a:latin typeface="Arial"/>
                        </a:rPr>
                        <a:t>The business owner approves a version, never the Data Steward who submitted it (FR-DM-011).</a:t>
                      </a:r>
                    </a:p>
                  </a:txBody>
                  <a:tcPr marL="54864" marR="54864" marT="27432" marB="27432">
                    <a:solidFill>
                      <a:srgbClr val="FFFFFF"/>
                    </a:solidFill>
                  </a:tcPr>
                </a:tc>
              </a:tr>
              <a:tr h="243840">
                <a:tc>
                  <a:txBody>
                    <a:bodyPr/>
                    <a:lstStyle/>
                    <a:p>
                      <a:r>
                        <a:rPr sz="1000" b="0">
                          <a:solidFill>
                            <a:srgbClr val="4B4B4B"/>
                          </a:solidFill>
                          <a:latin typeface="Arial"/>
                        </a:rPr>
                        <a:t>A batch with an unmapped code in a mandatory column cannot be approved for load (FR-DM-012).</a:t>
                      </a:r>
                    </a:p>
                  </a:txBody>
                  <a:tcPr marL="54864" marR="54864" marT="27432" marB="27432">
                    <a:solidFill>
                      <a:srgbClr val="E5F5FF"/>
                    </a:solidFill>
                  </a:tcPr>
                </a:tc>
              </a:tr>
              <a:tr h="243840">
                <a:tc>
                  <a:txBody>
                    <a:bodyPr/>
                    <a:lstStyle/>
                    <a:p>
                      <a:r>
                        <a:rPr sz="1000" b="0">
                          <a:solidFill>
                            <a:srgbClr val="4B4B4B"/>
                          </a:solidFill>
                          <a:latin typeface="Arial"/>
                        </a:rPr>
                        <a:t>Legacy packages are mapped to package versions in the package code map, which Renewal uses at sanitation; the migration does not resolve packages on the policy headers (FR-DM-034).</a:t>
                      </a:r>
                    </a:p>
                  </a:txBody>
                  <a:tcPr marL="54864" marR="54864" marT="27432" marB="27432">
                    <a:solidFill>
                      <a:srgbClr val="FFFFFF"/>
                    </a:solidFill>
                  </a:tcPr>
                </a:tc>
              </a:tr>
            </a:tbl>
          </a:graphicData>
        </a:graphic>
      </p:graphicFrame>
    </p:spTree>
  </p:cSld>
  <p:clrMapOvr>
    <a:masterClrMapping/>
  </p:clrMapOvr>
</p:sld>
</file>

<file path=ppt/slides/slide1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 INSURER with its versions and the entries of the version (part 1 of 4)</a:t>
            </a:r>
          </a:p>
        </p:txBody>
      </p:sp>
    </p:spTree>
  </p:cSld>
  <p:clrMapOvr>
    <a:masterClrMapping/>
  </p:clrMapOvr>
</p:sld>
</file>

<file path=ppt/slides/slide1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09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 INSURER with its versions and the entries of the version (part 2 of 4)</a:t>
            </a:r>
          </a:p>
        </p:txBody>
      </p:sp>
    </p:spTree>
  </p:cSld>
  <p:clrMapOvr>
    <a:masterClrMapping/>
  </p:clrMapOvr>
</p:sld>
</file>

<file path=ppt/slides/slide1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 INSURER with its versions and the entries of the version (part 3 of 4)</a:t>
            </a:r>
          </a:p>
        </p:txBody>
      </p:sp>
    </p:spTree>
  </p:cSld>
  <p:clrMapOvr>
    <a:masterClrMapping/>
  </p:clrMapOvr>
</p:sld>
</file>

<file path=ppt/slides/slide1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1.png"/>
          <p:cNvPicPr>
            <a:picLocks noChangeAspect="1"/>
          </p:cNvPicPr>
          <p:nvPr/>
        </p:nvPicPr>
        <p:blipFill>
          <a:blip r:embed="rId3"/>
          <a:stretch>
            <a:fillRect/>
          </a:stretch>
        </p:blipFill>
        <p:spPr>
          <a:xfrm>
            <a:off x="548640" y="1261872"/>
            <a:ext cx="11094415" cy="9085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 INSURER with its versions and the entries of the version (part 4 of 4)</a:t>
            </a:r>
          </a:p>
        </p:txBody>
      </p:sp>
    </p:spTree>
  </p:cSld>
  <p:clrMapOvr>
    <a:masterClrMapping/>
  </p:clrMapOvr>
</p:sld>
</file>

<file path=ppt/slides/slide1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SCR-DM-03 Code Maps and the versions of a code map: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03-04-unmapped.png"/>
          <p:cNvPicPr>
            <a:picLocks noChangeAspect="1"/>
          </p:cNvPicPr>
          <p:nvPr/>
        </p:nvPicPr>
        <p:blipFill>
          <a:blip r:embed="rId3"/>
          <a:stretch>
            <a:fillRect/>
          </a:stretch>
        </p:blipFill>
        <p:spPr>
          <a:xfrm>
            <a:off x="548640" y="1261872"/>
            <a:ext cx="11094415" cy="34048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Unmapped Codes tab</a:t>
            </a:r>
          </a:p>
        </p:txBody>
      </p:sp>
    </p:spTree>
  </p:cSld>
  <p:clrMapOvr>
    <a:masterClrMapping/>
  </p:clrMapOvr>
</p:sld>
</file>

<file path=ppt/slides/slide1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SCR-DM-03 Code Maps and the versions of a code map: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03-03-entry.png"/>
          <p:cNvPicPr>
            <a:picLocks noChangeAspect="1"/>
          </p:cNvPicPr>
          <p:nvPr/>
        </p:nvPicPr>
        <p:blipFill>
          <a:blip r:embed="rId3"/>
          <a:stretch>
            <a:fillRect/>
          </a:stretch>
        </p:blipFill>
        <p:spPr>
          <a:xfrm>
            <a:off x="1101374" y="1261872"/>
            <a:ext cx="9988946"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Add Entry dialog of a draft version</a:t>
            </a:r>
          </a:p>
        </p:txBody>
      </p:sp>
    </p:spTree>
  </p:cSld>
  <p:clrMapOvr>
    <a:masterClrMapping/>
  </p:clrMapOvr>
</p:sld>
</file>

<file path=ppt/slides/slide1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Success message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177</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0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Maps with the approved and open version of each map (part 1 of 2)</a:t>
            </a:r>
          </a:p>
        </p:txBody>
      </p:sp>
    </p:spTree>
  </p:cSld>
  <p:clrMapOvr>
    <a:masterClrMapping/>
  </p:clrMapOvr>
</p:sld>
</file>

<file path=ppt/slides/slide1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SCR-DM-03 Code Maps and the versions of a code map: Success message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178</a:t>
            </a:r>
          </a:p>
        </p:txBody>
      </p:sp>
      <p:sp>
        <p:nvSpPr>
          <p:cNvPr id="9" name="Rounded Rectangle 8"/>
          <p:cNvSpPr/>
          <p:nvPr/>
        </p:nvSpPr>
        <p:spPr>
          <a:xfrm>
            <a:off x="9974275" y="896112"/>
            <a:ext cx="1668780" cy="274320"/>
          </a:xfrm>
          <a:prstGeom prst="roundRect">
            <a:avLst/>
          </a:prstGeom>
          <a:solidFill>
            <a:srgbClr val="E8F5E9"/>
          </a:solidFill>
          <a:ln w="12700">
            <a:solidFill>
              <a:srgbClr val="2E7D32"/>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2E7D32"/>
                </a:solidFill>
                <a:latin typeface="Arial"/>
              </a:rPr>
              <a:t>Success message</a:t>
            </a:r>
          </a:p>
        </p:txBody>
      </p:sp>
      <p:pic>
        <p:nvPicPr>
          <p:cNvPr id="10" name="Picture 9" descr="slice-00103.png"/>
          <p:cNvPicPr>
            <a:picLocks noChangeAspect="1"/>
          </p:cNvPicPr>
          <p:nvPr/>
        </p:nvPicPr>
        <p:blipFill>
          <a:blip r:embed="rId3"/>
          <a:stretch>
            <a:fillRect/>
          </a:stretch>
        </p:blipFill>
        <p:spPr>
          <a:xfrm>
            <a:off x="548640" y="1261872"/>
            <a:ext cx="11094415" cy="464817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Code Maps with the approved and open version of each map (part 2 of 2)</a:t>
            </a:r>
          </a:p>
        </p:txBody>
      </p:sp>
    </p:spTree>
  </p:cSld>
  <p:clrMapOvr>
    <a:masterClrMapping/>
  </p:clrMapOvr>
</p:sld>
</file>

<file path=ppt/slides/slide1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179</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extract layouts in force with their columns: the single source of the load templates BDOI fills. A layout opens with its columns (name, description, type and length, mandatory, code map, format, example, validation). The screen downloads the CSV template of a layout, the workbook of an object, the workbook of all templates and the control-file template. The Data-Quality Rules tab lists the checks run on every row; the Masking Rules tab lists the personal data masked outside production.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Layouts and Rules</a:t>
                      </a:r>
                    </a:p>
                    <a:p>
                      <a:r>
                        <a:rPr sz="950" b="0">
                          <a:solidFill>
                            <a:srgbClr val="4B4B4B"/>
                          </a:solidFill>
                          <a:latin typeface="Arial"/>
                        </a:rPr>
                        <a:t>Migration Home › Load Templates</a:t>
                      </a:r>
                    </a:p>
                    <a:p>
                      <a:r>
                        <a:rPr sz="950" b="0">
                          <a:solidFill>
                            <a:srgbClr val="4B4B4B"/>
                          </a:solidFill>
                          <a:latin typeface="Arial"/>
                        </a:rPr>
                        <a:t>Data Objects › All Load Templates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19.1.4</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FR-DM-010, FR-DM-013, FR-DM-003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BDOI IT and the stewards download the templates that match the layouts in force, and see every check a row must pass.</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4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180</a:t>
            </a:r>
          </a:p>
        </p:txBody>
      </p:sp>
      <p:graphicFrame>
        <p:nvGraphicFramePr>
          <p:cNvPr id="9" name="Table 8"/>
          <p:cNvGraphicFramePr>
            <a:graphicFrameLocks noGrp="1"/>
          </p:cNvGraphicFramePr>
          <p:nvPr/>
        </p:nvGraphicFramePr>
        <p:xfrm>
          <a:off x="548640" y="1325880"/>
          <a:ext cx="11094411" cy="2598407"/>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Layouts tab</a:t>
                      </a:r>
                    </a:p>
                  </a:txBody>
                  <a:tcPr marL="54864" marR="54864" marT="27432" marB="27432">
                    <a:solidFill>
                      <a:srgbClr val="FFFFFF"/>
                    </a:solidFill>
                  </a:tcPr>
                </a:tc>
                <a:tc>
                  <a:txBody>
                    <a:bodyPr/>
                    <a:lstStyle/>
                    <a:p>
                      <a:r>
                        <a:rPr sz="850" b="0">
                          <a:solidFill>
                            <a:srgbClr val="4B4B4B"/>
                          </a:solidFill>
                          <a:latin typeface="Arial"/>
                        </a:rPr>
                        <a:t>Layout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Code and version, title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Layouts tab</a:t>
                      </a:r>
                    </a:p>
                  </a:txBody>
                  <a:tcPr marL="54864" marR="54864" marT="27432" marB="27432">
                    <a:solidFill>
                      <a:srgbClr val="E5F5FF"/>
                    </a:solidFill>
                  </a:tcPr>
                </a:tc>
                <a:tc>
                  <a:txBody>
                    <a:bodyPr/>
                    <a:lstStyle/>
                    <a:p>
                      <a:r>
                        <a:rPr sz="850" b="0">
                          <a:solidFill>
                            <a:srgbClr val="4B4B4B"/>
                          </a:solidFill>
                          <a:latin typeface="Arial"/>
                        </a:rPr>
                        <a:t>Object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Object code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Layouts tab</a:t>
                      </a:r>
                    </a:p>
                  </a:txBody>
                  <a:tcPr marL="54864" marR="54864" marT="27432" marB="27432">
                    <a:solidFill>
                      <a:srgbClr val="FFFFFF"/>
                    </a:solidFill>
                  </a:tcPr>
                </a:tc>
                <a:tc>
                  <a:txBody>
                    <a:bodyPr/>
                    <a:lstStyle/>
                    <a:p>
                      <a:r>
                        <a:rPr sz="850" b="0">
                          <a:solidFill>
                            <a:srgbClr val="4B4B4B"/>
                          </a:solidFill>
                          <a:latin typeface="Arial"/>
                        </a:rPr>
                        <a:t>Key columns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Legacy key of a row</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Layouts tab</a:t>
                      </a:r>
                    </a:p>
                  </a:txBody>
                  <a:tcPr marL="54864" marR="54864" marT="27432" marB="27432">
                    <a:solidFill>
                      <a:srgbClr val="E5F5FF"/>
                    </a:solidFill>
                  </a:tcPr>
                </a:tc>
                <a:tc>
                  <a:txBody>
                    <a:bodyPr/>
                    <a:lstStyle/>
                    <a:p>
                      <a:r>
                        <a:rPr sz="850" b="0">
                          <a:solidFill>
                            <a:srgbClr val="4B4B4B"/>
                          </a:solidFill>
                          <a:latin typeface="Arial"/>
                        </a:rPr>
                        <a:t>Hash total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Count of distinct keys, Row count, Sum of the numeric part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Layouts tab</a:t>
                      </a:r>
                    </a:p>
                  </a:txBody>
                  <a:tcPr marL="54864" marR="54864" marT="27432" marB="27432">
                    <a:solidFill>
                      <a:srgbClr val="FFFFFF"/>
                    </a:solidFill>
                  </a:tcPr>
                </a:tc>
                <a:tc>
                  <a:txBody>
                    <a:bodyPr/>
                    <a:lstStyle/>
                    <a:p>
                      <a:r>
                        <a:rPr sz="850" b="0">
                          <a:solidFill>
                            <a:srgbClr val="4B4B4B"/>
                          </a:solidFill>
                          <a:latin typeface="Arial"/>
                        </a:rPr>
                        <a:t>Frozen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Layouts tab</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Draft, Frozen, Retired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 Column, Type, Mandatory, Code map, Format, Example, Validation</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Type with its length; description under the column name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Data-Quality Rules tab</a:t>
                      </a:r>
                    </a:p>
                  </a:txBody>
                  <a:tcPr marL="54864" marR="54864" marT="27432" marB="27432">
                    <a:solidFill>
                      <a:srgbClr val="E5F5FF"/>
                    </a:solidFill>
                  </a:tcPr>
                </a:tc>
                <a:tc>
                  <a:txBody>
                    <a:bodyPr/>
                    <a:lstStyle/>
                    <a:p>
                      <a:r>
                        <a:rPr sz="850" b="0">
                          <a:solidFill>
                            <a:srgbClr val="4B4B4B"/>
                          </a:solidFill>
                          <a:latin typeface="Arial"/>
                        </a:rPr>
                        <a:t>Rule, Layouts, Columns, Check, Severity, Fixed by, Active</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Severity Error or Warning; the message under the check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Masking Rules tab</a:t>
                      </a:r>
                    </a:p>
                  </a:txBody>
                  <a:tcPr marL="54864" marR="54864" marT="27432" marB="27432">
                    <a:solidFill>
                      <a:srgbClr val="FFFFFF"/>
                    </a:solidFill>
                  </a:tcPr>
                </a:tc>
                <a:tc>
                  <a:txBody>
                    <a:bodyPr/>
                    <a:lstStyle/>
                    <a:p>
                      <a:r>
                        <a:rPr sz="850" b="0">
                          <a:solidFill>
                            <a:srgbClr val="4B4B4B"/>
                          </a:solidFill>
                          <a:latin typeface="Arial"/>
                        </a:rPr>
                        <a:t>Layout, Column, Masking, Active</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181</a:t>
            </a:r>
          </a:p>
        </p:txBody>
      </p:sp>
      <p:graphicFrame>
        <p:nvGraphicFramePr>
          <p:cNvPr id="9" name="Table 8"/>
          <p:cNvGraphicFramePr>
            <a:graphicFrameLocks noGrp="1"/>
          </p:cNvGraphicFramePr>
          <p:nvPr/>
        </p:nvGraphicFramePr>
        <p:xfrm>
          <a:off x="548640" y="1325880"/>
          <a:ext cx="11094412" cy="184403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Control File Template</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header of the control file (CONTROL_template.ctl.csv)</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Load Templates Workbook</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Downloads one workbook with a Start here sheet (the rules of a delivery and the order) and one guided sheet per layout (a guide above every column)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Download on a layout row</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Downloads the CSV template of the layout (header row only)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Object Workbook</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 layout is open</a:t>
                      </a:r>
                    </a:p>
                  </a:txBody>
                  <a:tcPr marL="54864" marR="54864" marT="27432" marB="27432">
                    <a:solidFill>
                      <a:srgbClr val="E5F5FF"/>
                    </a:solidFill>
                  </a:tcPr>
                </a:tc>
                <a:tc>
                  <a:txBody>
                    <a:bodyPr/>
                    <a:lstStyle/>
                    <a:p>
                      <a:r>
                        <a:rPr sz="850" b="0">
                          <a:solidFill>
                            <a:srgbClr val="4B4B4B"/>
                          </a:solidFill>
                          <a:latin typeface="Arial"/>
                        </a:rPr>
                        <a:t>Downloads the workbook of the object of the layout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Freeze</a:t>
                      </a:r>
                    </a:p>
                  </a:txBody>
                  <a:tcPr marL="54864" marR="54864" marT="27432" marB="27432">
                    <a:solidFill>
                      <a:srgbClr val="FFFFFF"/>
                    </a:solidFill>
                  </a:tcPr>
                </a:tc>
                <a:tc>
                  <a:txBody>
                    <a:bodyPr/>
                    <a:lstStyle/>
                    <a:p>
                      <a:r>
                        <a:rPr sz="850" b="0">
                          <a:solidFill>
                            <a:srgbClr val="4B4B4B"/>
                          </a:solidFill>
                          <a:latin typeface="Arial"/>
                        </a:rPr>
                        <a:t>Data Steward</a:t>
                      </a:r>
                    </a:p>
                  </a:txBody>
                  <a:tcPr marL="54864" marR="54864" marT="27432" marB="27432">
                    <a:solidFill>
                      <a:srgbClr val="FFFFFF"/>
                    </a:solidFill>
                  </a:tcPr>
                </a:tc>
                <a:tc>
                  <a:txBody>
                    <a:bodyPr/>
                    <a:lstStyle/>
                    <a:p>
                      <a:r>
                        <a:rPr sz="850" b="0">
                          <a:solidFill>
                            <a:srgbClr val="4B4B4B"/>
                          </a:solidFill>
                          <a:latin typeface="Arial"/>
                        </a:rPr>
                        <a:t>Layout version is a draft</a:t>
                      </a:r>
                    </a:p>
                  </a:txBody>
                  <a:tcPr marL="54864" marR="54864" marT="27432" marB="27432">
                    <a:solidFill>
                      <a:srgbClr val="FFFFFF"/>
                    </a:solidFill>
                  </a:tcPr>
                </a:tc>
                <a:tc>
                  <a:txBody>
                    <a:bodyPr/>
                    <a:lstStyle/>
                    <a:p>
                      <a:r>
                        <a:rPr sz="850" b="0">
                          <a:solidFill>
                            <a:srgbClr val="4B4B4B"/>
                          </a:solidFill>
                          <a:latin typeface="Arial"/>
                        </a:rPr>
                        <a:t>Makes the version the one in force after a confirmation; extracts and templates follow it and the previous version is retired</a:t>
                      </a:r>
                    </a:p>
                  </a:txBody>
                  <a:tcPr marL="54864" marR="54864" marT="27432" marB="27432">
                    <a:solidFill>
                      <a:srgbClr val="FFFFFF"/>
                    </a:solidFill>
                  </a:tcPr>
                </a:tc>
                <a:tc>
                  <a:txBody>
                    <a:bodyPr/>
                    <a:lstStyle/>
                    <a:p>
                      <a:r>
                        <a:rPr sz="850" b="0">
                          <a:solidFill>
                            <a:srgbClr val="4B4B4B"/>
                          </a:solidFill>
                          <a:latin typeface="Arial"/>
                        </a:rPr>
                        <a:t>Frozen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182</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file whose header does not match the layout version in force is rejected at intake (FR-DM-010).</a:t>
                      </a:r>
                    </a:p>
                  </a:txBody>
                  <a:tcPr marL="54864" marR="54864" marT="27432" marB="27432">
                    <a:solidFill>
                      <a:srgbClr val="FFFFFF"/>
                    </a:solidFill>
                  </a:tcPr>
                </a:tc>
              </a:tr>
              <a:tr h="243840">
                <a:tc>
                  <a:txBody>
                    <a:bodyPr/>
                    <a:lstStyle/>
                    <a:p>
                      <a:r>
                        <a:rPr sz="1000" b="0">
                          <a:solidFill>
                            <a:srgbClr val="4B4B4B"/>
                          </a:solidFill>
                          <a:latin typeface="Arial"/>
                        </a:rPr>
                        <a:t>The layouts of an object are frozen before its mapping is signed (gate G2) (FR-DM-003).</a:t>
                      </a:r>
                    </a:p>
                  </a:txBody>
                  <a:tcPr marL="54864" marR="54864" marT="27432" marB="27432">
                    <a:solidFill>
                      <a:srgbClr val="E5F5FF"/>
                    </a:solidFill>
                  </a:tcPr>
                </a:tc>
              </a:tr>
              <a:tr h="243840">
                <a:tc>
                  <a:txBody>
                    <a:bodyPr/>
                    <a:lstStyle/>
                    <a:p>
                      <a:r>
                        <a:rPr sz="1000" b="0">
                          <a:solidFill>
                            <a:srgbClr val="4B4B4B"/>
                          </a:solidFill>
                          <a:latin typeface="Arial"/>
                        </a:rPr>
                        <a:t>Outside production the columns listed on Masking Rules are masked before a row is staged (FR-DM-010).</a:t>
                      </a:r>
                    </a:p>
                  </a:txBody>
                  <a:tcPr marL="54864" marR="54864" marT="27432" marB="27432">
                    <a:solidFill>
                      <a:srgbClr val="FFFFFF"/>
                    </a:solidFill>
                  </a:tcPr>
                </a:tc>
              </a:tr>
              <a:tr h="243840">
                <a:tc>
                  <a:txBody>
                    <a:bodyPr/>
                    <a:lstStyle/>
                    <a:p>
                      <a:r>
                        <a:rPr sz="1000" b="0">
                          <a:solidFill>
                            <a:srgbClr val="4B4B4B"/>
                          </a:solidFill>
                          <a:latin typeface="Arial"/>
                        </a:rPr>
                        <a:t>An error stops the row; a warning loads it and reports it (FR-DM-013).</a:t>
                      </a:r>
                    </a:p>
                  </a:txBody>
                  <a:tcPr marL="54864" marR="54864" marT="27432" marB="27432">
                    <a:solidFill>
                      <a:srgbClr val="E5F5FF"/>
                    </a:solidFill>
                  </a:tcPr>
                </a:tc>
              </a:tr>
            </a:tbl>
          </a:graphicData>
        </a:graphic>
      </p:graphicFrame>
    </p:spTree>
  </p:cSld>
  <p:clrMapOvr>
    <a:masterClrMapping/>
  </p:clrMapOvr>
</p:sld>
</file>

<file path=ppt/slides/slide1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4.png"/>
          <p:cNvPicPr>
            <a:picLocks noChangeAspect="1"/>
          </p:cNvPicPr>
          <p:nvPr/>
        </p:nvPicPr>
        <p:blipFill>
          <a:blip r:embed="rId3"/>
          <a:stretch>
            <a:fillRect/>
          </a:stretch>
        </p:blipFill>
        <p:spPr>
          <a:xfrm>
            <a:off x="548640" y="1261872"/>
            <a:ext cx="11094415" cy="471042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Layouts in force with their key columns and hash total (part 1 of 2)</a:t>
            </a:r>
          </a:p>
        </p:txBody>
      </p:sp>
    </p:spTree>
  </p:cSld>
  <p:clrMapOvr>
    <a:masterClrMapping/>
  </p:clrMapOvr>
</p:sld>
</file>

<file path=ppt/slides/slide1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5.png"/>
          <p:cNvPicPr>
            <a:picLocks noChangeAspect="1"/>
          </p:cNvPicPr>
          <p:nvPr/>
        </p:nvPicPr>
        <p:blipFill>
          <a:blip r:embed="rId3"/>
          <a:stretch>
            <a:fillRect/>
          </a:stretch>
        </p:blipFill>
        <p:spPr>
          <a:xfrm>
            <a:off x="548640" y="1261872"/>
            <a:ext cx="11094415" cy="378902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Layouts in force with their key columns and hash total (part 2 of 2)</a:t>
            </a:r>
          </a:p>
        </p:txBody>
      </p:sp>
    </p:spTree>
  </p:cSld>
  <p:clrMapOvr>
    <a:masterClrMapping/>
  </p:clrMapOvr>
</p:sld>
</file>

<file path=ppt/slides/slide1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6.png"/>
          <p:cNvPicPr>
            <a:picLocks noChangeAspect="1"/>
          </p:cNvPicPr>
          <p:nvPr/>
        </p:nvPicPr>
        <p:blipFill>
          <a:blip r:embed="rId3"/>
          <a:stretch>
            <a:fillRect/>
          </a:stretch>
        </p:blipFill>
        <p:spPr>
          <a:xfrm>
            <a:off x="548640" y="1261872"/>
            <a:ext cx="11094415" cy="4710425"/>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Columns of layout F01C (open invoice components) (part 1 of 4)</a:t>
            </a:r>
          </a:p>
        </p:txBody>
      </p:sp>
    </p:spTree>
  </p:cSld>
  <p:clrMapOvr>
    <a:masterClrMapping/>
  </p:clrMapOvr>
</p:sld>
</file>

<file path=ppt/slides/slide1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7.png"/>
          <p:cNvPicPr>
            <a:picLocks noChangeAspect="1"/>
          </p:cNvPicPr>
          <p:nvPr/>
        </p:nvPicPr>
        <p:blipFill>
          <a:blip r:embed="rId3"/>
          <a:stretch>
            <a:fillRect/>
          </a:stretch>
        </p:blipFill>
        <p:spPr>
          <a:xfrm>
            <a:off x="548640" y="1261872"/>
            <a:ext cx="11094415" cy="463991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Columns of layout F01C (open invoice components) (part 2 of 4)</a:t>
            </a:r>
          </a:p>
        </p:txBody>
      </p:sp>
    </p:spTree>
  </p:cSld>
  <p:clrMapOvr>
    <a:masterClrMapping/>
  </p:clrMapOvr>
</p:sld>
</file>

<file path=ppt/slides/slide1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8.png"/>
          <p:cNvPicPr>
            <a:picLocks noChangeAspect="1"/>
          </p:cNvPicPr>
          <p:nvPr/>
        </p:nvPicPr>
        <p:blipFill>
          <a:blip r:embed="rId3"/>
          <a:stretch>
            <a:fillRect/>
          </a:stretch>
        </p:blipFill>
        <p:spPr>
          <a:xfrm>
            <a:off x="548640" y="1261872"/>
            <a:ext cx="11094415" cy="46681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Columns of layout F01C (open invoice components) (part 3 of 4)</a:t>
            </a:r>
          </a:p>
        </p:txBody>
      </p:sp>
    </p:spTree>
  </p:cSld>
  <p:clrMapOvr>
    <a:masterClrMapping/>
  </p:clrMapOvr>
</p:sld>
</file>

<file path=ppt/slides/slide1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09.png"/>
          <p:cNvPicPr>
            <a:picLocks noChangeAspect="1"/>
          </p:cNvPicPr>
          <p:nvPr/>
        </p:nvPicPr>
        <p:blipFill>
          <a:blip r:embed="rId3"/>
          <a:stretch>
            <a:fillRect/>
          </a:stretch>
        </p:blipFill>
        <p:spPr>
          <a:xfrm>
            <a:off x="548640" y="1261872"/>
            <a:ext cx="11094415" cy="16359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Columns of layout F01C (open invoice components) (part 4 of 4)</a:t>
            </a:r>
          </a:p>
        </p:txBody>
      </p:sp>
    </p:spTree>
  </p:cSld>
  <p:clrMapOvr>
    <a:masterClrMapping/>
  </p:clrMapOvr>
</p:sld>
</file>

<file path=ppt/slides/slide1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189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Data-Quality Rules tab (part 1 of 2)</a:t>
            </a:r>
          </a:p>
        </p:txBody>
      </p:sp>
    </p:spTree>
  </p:cSld>
  <p:clrMapOvr>
    <a:masterClrMapping/>
  </p:clrMapOvr>
</p:sld>
</file>

<file path=ppt/slides/slide1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1.png"/>
          <p:cNvPicPr>
            <a:picLocks noChangeAspect="1"/>
          </p:cNvPicPr>
          <p:nvPr/>
        </p:nvPicPr>
        <p:blipFill>
          <a:blip r:embed="rId3"/>
          <a:stretch>
            <a:fillRect/>
          </a:stretch>
        </p:blipFill>
        <p:spPr>
          <a:xfrm>
            <a:off x="548640" y="1261872"/>
            <a:ext cx="11094415" cy="391173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Data-Quality Rules tab (part 2 of 2)</a:t>
            </a:r>
          </a:p>
        </p:txBody>
      </p:sp>
    </p:spTree>
  </p:cSld>
  <p:clrMapOvr>
    <a:masterClrMapping/>
  </p:clrMapOvr>
</p:sld>
</file>

<file path=ppt/slides/slide1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2.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Masking Rules tab (part 1 of 2)</a:t>
            </a:r>
          </a:p>
        </p:txBody>
      </p:sp>
    </p:spTree>
  </p:cSld>
  <p:clrMapOvr>
    <a:masterClrMapping/>
  </p:clrMapOvr>
</p:sld>
</file>

<file path=ppt/slides/slide1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SCR-DM-04 Layouts and Rules: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13.png"/>
          <p:cNvPicPr>
            <a:picLocks noChangeAspect="1"/>
          </p:cNvPicPr>
          <p:nvPr/>
        </p:nvPicPr>
        <p:blipFill>
          <a:blip r:embed="rId3"/>
          <a:stretch>
            <a:fillRect/>
          </a:stretch>
        </p:blipFill>
        <p:spPr>
          <a:xfrm>
            <a:off x="548640" y="1261872"/>
            <a:ext cx="11094415" cy="39691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Masking Rules tab (part 2 of 2)</a:t>
            </a:r>
          </a:p>
        </p:txBody>
      </p:sp>
    </p:spTree>
  </p:cSld>
  <p:clrMapOvr>
    <a:masterClrMapping/>
  </p:clrMapOvr>
</p:sld>
</file>

<file path=ppt/slides/slide1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193</a:t>
            </a:r>
          </a:p>
        </p:txBody>
      </p:sp>
      <p:sp>
        <p:nvSpPr>
          <p:cNvPr id="9" name="Rounded Rectangle 8"/>
          <p:cNvSpPr/>
          <p:nvPr/>
        </p:nvSpPr>
        <p:spPr>
          <a:xfrm>
            <a:off x="6147511" y="896112"/>
            <a:ext cx="549554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CHG-DM-2.1-02, CHG-DM-2.1-03, CHG-DM-2.1-04</a:t>
            </a:r>
          </a:p>
        </p:txBody>
      </p:sp>
      <p:graphicFrame>
        <p:nvGraphicFramePr>
          <p:cNvPr id="10" name="Table 9"/>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Receives each legacy extract with its control file and runs the intake checks: file name, checksum, header, row count, amount totals and hash total. A file that passes is staged (masked outside production); a file that fails is rejected as a whole, with every failed check and its reason. The list shows every extract with its layout, source, as-of date, rows received and staged, masking, who received it and its status.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Migration Operator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Extracts</a:t>
                      </a:r>
                    </a:p>
                    <a:p>
                      <a:r>
                        <a:rPr sz="950" b="0">
                          <a:solidFill>
                            <a:srgbClr val="4B4B4B"/>
                          </a:solidFill>
                          <a:latin typeface="Arial"/>
                        </a:rPr>
                        <a:t>Migration Home › Upload Extract</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19.1.5</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FR-DM-010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file BDOI sends is either staged exactly as extracted or rejected with the reason and the difference.</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194</a:t>
            </a:r>
          </a:p>
        </p:txBody>
      </p:sp>
      <p:graphicFrame>
        <p:nvGraphicFramePr>
          <p:cNvPr id="9" name="Table 8"/>
          <p:cNvGraphicFramePr>
            <a:graphicFrameLocks noGrp="1"/>
          </p:cNvGraphicFramePr>
          <p:nvPr/>
        </p:nvGraphicFramePr>
        <p:xfrm>
          <a:off x="548640" y="1325880"/>
          <a:ext cx="11094411" cy="464817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Upload an extract</a:t>
                      </a:r>
                    </a:p>
                  </a:txBody>
                  <a:tcPr marL="54864" marR="54864" marT="27432" marB="27432">
                    <a:solidFill>
                      <a:srgbClr val="FFFFFF"/>
                    </a:solidFill>
                  </a:tcPr>
                </a:tc>
                <a:tc>
                  <a:txBody>
                    <a:bodyPr/>
                    <a:lstStyle/>
                    <a:p>
                      <a:r>
                        <a:rPr sz="850" b="0">
                          <a:solidFill>
                            <a:srgbClr val="4B4B4B"/>
                          </a:solidFill>
                          <a:latin typeface="Arial"/>
                        </a:rPr>
                        <a:t>Data file</a:t>
                      </a:r>
                    </a:p>
                  </a:txBody>
                  <a:tcPr marL="54864" marR="54864" marT="27432" marB="27432">
                    <a:solidFill>
                      <a:srgbClr val="FFFFFF"/>
                    </a:solidFill>
                  </a:tcPr>
                </a:tc>
                <a:tc>
                  <a:txBody>
                    <a:bodyPr/>
                    <a:lstStyle/>
                    <a:p>
                      <a:r>
                        <a:rPr sz="850" b="0">
                          <a:solidFill>
                            <a:srgbClr val="4B4B4B"/>
                          </a:solidFill>
                          <a:latin typeface="Arial"/>
                        </a:rPr>
                        <a:t>File</a:t>
                      </a:r>
                    </a:p>
                  </a:txBody>
                  <a:tcPr marL="54864" marR="54864" marT="27432" marB="27432">
                    <a:solidFill>
                      <a:srgbClr val="FFFFFF"/>
                    </a:solidFill>
                  </a:tcPr>
                </a:tc>
                <a:tc>
                  <a:txBody>
                    <a:bodyPr/>
                    <a:lstStyle/>
                    <a:p>
                      <a:r>
                        <a:rPr sz="850" b="0">
                          <a:solidFill>
                            <a:srgbClr val="4B4B4B"/>
                          </a:solidFill>
                          <a:latin typeface="Arial"/>
                        </a:rPr>
                        <a:t>LAYOUT_SOURCE_yyyyMMdd_nn.csv or .xlsx</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Name, layout, source system and date of the name are valid; the object is decided</a:t>
                      </a:r>
                    </a:p>
                  </a:txBody>
                  <a:tcPr marL="54864" marR="54864" marT="27432" marB="27432">
                    <a:solidFill>
                      <a:srgbClr val="FFFFFF"/>
                    </a:solidFill>
                  </a:tcPr>
                </a:tc>
                <a:tc>
                  <a:txBody>
                    <a:bodyPr/>
                    <a:lstStyle/>
                    <a:p>
                      <a:r>
                        <a:rPr sz="850" b="0">
                          <a:solidFill>
                            <a:srgbClr val="4B4B4B"/>
                          </a:solidFill>
                          <a:latin typeface="Arial"/>
                        </a:rPr>
                        <a:t>Name the file &lt;LAYOUT&gt;_&lt;SOURCE&gt;_&lt;yyyyMMdd&gt;_&lt;nn&gt;.csv or .xlsx, for example F01C_EBIX_20271231_01.csv</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Upload an extract</a:t>
                      </a:r>
                    </a:p>
                  </a:txBody>
                  <a:tcPr marL="54864" marR="54864" marT="27432" marB="27432">
                    <a:solidFill>
                      <a:srgbClr val="E5F5FF"/>
                    </a:solidFill>
                  </a:tcPr>
                </a:tc>
                <a:tc>
                  <a:txBody>
                    <a:bodyPr/>
                    <a:lstStyle/>
                    <a:p>
                      <a:r>
                        <a:rPr sz="850" b="0">
                          <a:solidFill>
                            <a:srgbClr val="4B4B4B"/>
                          </a:solidFill>
                          <a:latin typeface="Arial"/>
                        </a:rPr>
                        <a:t>Control file</a:t>
                      </a:r>
                    </a:p>
                  </a:txBody>
                  <a:tcPr marL="54864" marR="54864" marT="27432" marB="27432">
                    <a:solidFill>
                      <a:srgbClr val="E5F5FF"/>
                    </a:solidFill>
                  </a:tcPr>
                </a:tc>
                <a:tc>
                  <a:txBody>
                    <a:bodyPr/>
                    <a:lstStyle/>
                    <a:p>
                      <a:r>
                        <a:rPr sz="850" b="0">
                          <a:solidFill>
                            <a:srgbClr val="4B4B4B"/>
                          </a:solidFill>
                          <a:latin typeface="Arial"/>
                        </a:rPr>
                        <a:t>File</a:t>
                      </a:r>
                    </a:p>
                  </a:txBody>
                  <a:tcPr marL="54864" marR="54864" marT="27432" marB="27432">
                    <a:solidFill>
                      <a:srgbClr val="E5F5FF"/>
                    </a:solidFill>
                  </a:tcPr>
                </a:tc>
                <a:tc>
                  <a:txBody>
                    <a:bodyPr/>
                    <a:lstStyle/>
                    <a:p>
                      <a:r>
                        <a:rPr sz="850" b="0">
                          <a:solidFill>
                            <a:srgbClr val="4B4B4B"/>
                          </a:solidFill>
                          <a:latin typeface="Arial"/>
                        </a:rPr>
                        <a:t>&lt;data file name&gt;.ctl.csv</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Row count, hash total, amount totals and SHA-256 agree with the data file</a:t>
                      </a:r>
                    </a:p>
                  </a:txBody>
                  <a:tcPr marL="54864" marR="54864" marT="27432" marB="27432">
                    <a:solidFill>
                      <a:srgbClr val="E5F5FF"/>
                    </a:solidFill>
                  </a:tcPr>
                </a:tc>
                <a:tc>
                  <a:txBody>
                    <a:bodyPr/>
                    <a:lstStyle/>
                    <a:p>
                      <a:r>
                        <a:rPr sz="850" b="0">
                          <a:solidFill>
                            <a:srgbClr val="4B4B4B"/>
                          </a:solidFill>
                          <a:latin typeface="Arial"/>
                        </a:rPr>
                        <a:t>The file has &lt;n&gt; rows; the control file says &lt;m&gt;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Upload an extract</a:t>
                      </a:r>
                    </a:p>
                  </a:txBody>
                  <a:tcPr marL="54864" marR="54864" marT="27432" marB="27432">
                    <a:solidFill>
                      <a:srgbClr val="FFFFFF"/>
                    </a:solidFill>
                  </a:tcPr>
                </a:tc>
                <a:tc>
                  <a:txBody>
                    <a:bodyPr/>
                    <a:lstStyle/>
                    <a:p>
                      <a:r>
                        <a:rPr sz="850" b="0">
                          <a:solidFill>
                            <a:srgbClr val="4B4B4B"/>
                          </a:solidFill>
                          <a:latin typeface="Arial"/>
                        </a:rPr>
                        <a:t>Mode</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Full extract, Delta since the previous extract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 delta is later than the previous extract of the layout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Filter</a:t>
                      </a:r>
                    </a:p>
                  </a:txBody>
                  <a:tcPr marL="54864" marR="54864" marT="27432" marB="27432">
                    <a:solidFill>
                      <a:srgbClr val="E5F5FF"/>
                    </a:solidFill>
                  </a:tcPr>
                </a:tc>
                <a:tc>
                  <a:txBody>
                    <a:bodyPr/>
                    <a:lstStyle/>
                    <a:p>
                      <a:r>
                        <a:rPr sz="850" b="0">
                          <a:solidFill>
                            <a:srgbClr val="4B4B4B"/>
                          </a:solidFill>
                          <a:latin typeface="Arial"/>
                        </a:rPr>
                        <a:t>Object</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Object code, for example C01</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Extract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MGX-yyyy-nnnnnn with the file name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Extracts</a:t>
                      </a:r>
                    </a:p>
                  </a:txBody>
                  <a:tcPr marL="54864" marR="54864" marT="27432" marB="27432">
                    <a:solidFill>
                      <a:srgbClr val="E5F5FF"/>
                    </a:solidFill>
                  </a:tcPr>
                </a:tc>
                <a:tc>
                  <a:txBody>
                    <a:bodyPr/>
                    <a:lstStyle/>
                    <a:p>
                      <a:r>
                        <a:rPr sz="850" b="0">
                          <a:solidFill>
                            <a:srgbClr val="4B4B4B"/>
                          </a:solidFill>
                          <a:latin typeface="Arial"/>
                        </a:rPr>
                        <a:t>Layout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Layout and version; source system and mode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As of</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HH:mm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Extracts</a:t>
                      </a:r>
                    </a:p>
                  </a:txBody>
                  <a:tcPr marL="54864" marR="54864" marT="27432" marB="27432">
                    <a:solidFill>
                      <a:srgbClr val="E5F5FF"/>
                    </a:solidFill>
                  </a:tcPr>
                </a:tc>
                <a:tc>
                  <a:txBody>
                    <a:bodyPr/>
                    <a:lstStyle/>
                    <a:p>
                      <a:r>
                        <a:rPr sz="850" b="0">
                          <a:solidFill>
                            <a:srgbClr val="4B4B4B"/>
                          </a:solidFill>
                          <a:latin typeface="Arial"/>
                        </a:rPr>
                        <a:t>Rows Received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Number of rows read from the data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Rows Staged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Number of rows staged (0 when rejected)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Extracts</a:t>
                      </a:r>
                    </a:p>
                  </a:txBody>
                  <a:tcPr marL="54864" marR="54864" marT="27432" marB="27432">
                    <a:solidFill>
                      <a:srgbClr val="E5F5FF"/>
                    </a:solidFill>
                  </a:tcPr>
                </a:tc>
                <a:tc>
                  <a:txBody>
                    <a:bodyPr/>
                    <a:lstStyle/>
                    <a:p>
                      <a:r>
                        <a:rPr sz="850" b="0">
                          <a:solidFill>
                            <a:srgbClr val="4B4B4B"/>
                          </a:solidFill>
                          <a:latin typeface="Arial"/>
                        </a:rPr>
                        <a:t>Masked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Yes or No</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Received 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Date and time, user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Extracts</a:t>
                      </a:r>
                    </a:p>
                  </a:txBody>
                  <a:tcPr marL="54864" marR="54864" marT="27432" marB="27432">
                    <a:solidFill>
                      <a:srgbClr val="E5F5FF"/>
                    </a:solidFill>
                  </a:tcPr>
                </a:tc>
                <a:tc>
                  <a:txBody>
                    <a:bodyPr/>
                    <a:lstStyle/>
                    <a:p>
                      <a:r>
                        <a:rPr sz="850" b="0">
                          <a:solidFill>
                            <a:srgbClr val="4B4B4B"/>
                          </a:solidFill>
                          <a:latin typeface="Arial"/>
                        </a:rPr>
                        <a:t>Rejection Reason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Each failed check with its reason (Row count, Checksum, Columns, Amount total, Hash total)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Pill</a:t>
                      </a:r>
                    </a:p>
                  </a:txBody>
                  <a:tcPr marL="54864" marR="54864" marT="27432" marB="27432">
                    <a:solidFill>
                      <a:srgbClr val="FFFFFF"/>
                    </a:solidFill>
                  </a:tcPr>
                </a:tc>
                <a:tc>
                  <a:txBody>
                    <a:bodyPr/>
                    <a:lstStyle/>
                    <a:p>
                      <a:r>
                        <a:rPr sz="850" b="0">
                          <a:solidFill>
                            <a:srgbClr val="4B4B4B"/>
                          </a:solidFill>
                          <a:latin typeface="Arial"/>
                        </a:rPr>
                        <a:t>Received, Checked, Staged, Rejected, Purged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1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195</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Upload and Check</a:t>
                      </a:r>
                    </a:p>
                  </a:txBody>
                  <a:tcPr marL="54864" marR="54864" marT="27432" marB="27432">
                    <a:solidFill>
                      <a:srgbClr val="FFFFFF"/>
                    </a:solidFill>
                  </a:tcPr>
                </a:tc>
                <a:tc>
                  <a:txBody>
                    <a:bodyPr/>
                    <a:lstStyle/>
                    <a:p>
                      <a:r>
                        <a:rPr sz="850" b="0">
                          <a:solidFill>
                            <a:srgbClr val="4B4B4B"/>
                          </a:solidFill>
                          <a:latin typeface="Arial"/>
                        </a:rPr>
                        <a:t>Migration Operator</a:t>
                      </a:r>
                    </a:p>
                  </a:txBody>
                  <a:tcPr marL="54864" marR="54864" marT="27432" marB="27432">
                    <a:solidFill>
                      <a:srgbClr val="FFFFFF"/>
                    </a:solidFill>
                  </a:tcPr>
                </a:tc>
                <a:tc>
                  <a:txBody>
                    <a:bodyPr/>
                    <a:lstStyle/>
                    <a:p>
                      <a:r>
                        <a:rPr sz="850" b="0">
                          <a:solidFill>
                            <a:srgbClr val="4B4B4B"/>
                          </a:solidFill>
                          <a:latin typeface="Arial"/>
                        </a:rPr>
                        <a:t>A data file and a control file are chosen (until then the card says what is still needed)</a:t>
                      </a:r>
                    </a:p>
                  </a:txBody>
                  <a:tcPr marL="54864" marR="54864" marT="27432" marB="27432">
                    <a:solidFill>
                      <a:srgbClr val="FFFFFF"/>
                    </a:solidFill>
                  </a:tcPr>
                </a:tc>
                <a:tc>
                  <a:txBody>
                    <a:bodyPr/>
                    <a:lstStyle/>
                    <a:p>
                      <a:r>
                        <a:rPr sz="850" b="0">
                          <a:solidFill>
                            <a:srgbClr val="4B4B4B"/>
                          </a:solidFill>
                          <a:latin typeface="Arial"/>
                        </a:rPr>
                        <a:t>Receives the files and runs every intake check; the message gives the extract number and the staged rows, or the rejection with the number of failed checks, listed on the card</a:t>
                      </a:r>
                    </a:p>
                  </a:txBody>
                  <a:tcPr marL="54864" marR="54864" marT="27432" marB="27432">
                    <a:solidFill>
                      <a:srgbClr val="FFFFFF"/>
                    </a:solidFill>
                  </a:tcPr>
                </a:tc>
                <a:tc>
                  <a:txBody>
                    <a:bodyPr/>
                    <a:lstStyle/>
                    <a:p>
                      <a:r>
                        <a:rPr sz="850" b="0">
                          <a:solidFill>
                            <a:srgbClr val="4B4B4B"/>
                          </a:solidFill>
                          <a:latin typeface="Arial"/>
                        </a:rPr>
                        <a:t>Staged or Rejected</a:t>
                      </a:r>
                    </a:p>
                  </a:txBody>
                  <a:tcPr marL="54864" marR="54864" marT="27432" marB="27432">
                    <a:solidFill>
                      <a:srgbClr val="FFFFFF"/>
                    </a:solidFill>
                  </a:tcPr>
                </a:tc>
                <a:tc>
                  <a:txBody>
                    <a:bodyPr/>
                    <a:lstStyle/>
                    <a:p>
                      <a:r>
                        <a:rPr sz="850" b="0">
                          <a:solidFill>
                            <a:srgbClr val="4B4B4B"/>
                          </a:solidFill>
                          <a:latin typeface="Arial"/>
                        </a:rPr>
                        <a:t>Alert Extract rejected to the Data Migration Lead</a:t>
                      </a:r>
                    </a:p>
                  </a:txBody>
                  <a:tcPr marL="54864" marR="54864" marT="27432" marB="27432">
                    <a:solidFill>
                      <a:srgbClr val="FFFFFF"/>
                    </a:solidFill>
                  </a:tcPr>
                </a:tc>
              </a:tr>
              <a:tr h="220979">
                <a:tc>
                  <a:txBody>
                    <a:bodyPr/>
                    <a:lstStyle/>
                    <a:p>
                      <a:r>
                        <a:rPr sz="850" b="0">
                          <a:solidFill>
                            <a:srgbClr val="4B4B4B"/>
                          </a:solidFill>
                          <a:latin typeface="Arial"/>
                        </a:rPr>
                        <a:t>Download on a row</a:t>
                      </a:r>
                    </a:p>
                  </a:txBody>
                  <a:tcPr marL="54864" marR="54864" marT="27432" marB="27432">
                    <a:solidFill>
                      <a:srgbClr val="E5F5FF"/>
                    </a:solidFill>
                  </a:tcPr>
                </a:tc>
                <a:tc>
                  <a:txBody>
                    <a:bodyPr/>
                    <a:lstStyle/>
                    <a:p>
                      <a:r>
                        <a:rPr sz="850" b="0">
                          <a:solidFill>
                            <a:srgbClr val="4B4B4B"/>
                          </a:solidFill>
                          <a:latin typeface="Arial"/>
                        </a:rPr>
                        <a:t>Migration Operator</a:t>
                      </a:r>
                    </a:p>
                  </a:txBody>
                  <a:tcPr marL="54864" marR="54864" marT="27432" marB="27432">
                    <a:solidFill>
                      <a:srgbClr val="E5F5FF"/>
                    </a:solidFill>
                  </a:tcPr>
                </a:tc>
                <a:tc>
                  <a:txBody>
                    <a:bodyPr/>
                    <a:lstStyle/>
                    <a:p>
                      <a:r>
                        <a:rPr sz="850" b="0">
                          <a:solidFill>
                            <a:srgbClr val="4B4B4B"/>
                          </a:solidFill>
                          <a:latin typeface="Arial"/>
                        </a:rPr>
                        <a:t>File not yet purged</a:t>
                      </a:r>
                    </a:p>
                  </a:txBody>
                  <a:tcPr marL="54864" marR="54864" marT="27432" marB="27432">
                    <a:solidFill>
                      <a:srgbClr val="E5F5FF"/>
                    </a:solidFill>
                  </a:tcPr>
                </a:tc>
                <a:tc>
                  <a:txBody>
                    <a:bodyPr/>
                    <a:lstStyle/>
                    <a:p>
                      <a:r>
                        <a:rPr sz="850" b="0">
                          <a:solidFill>
                            <a:srgbClr val="4B4B4B"/>
                          </a:solidFill>
                          <a:latin typeface="Arial"/>
                        </a:rPr>
                        <a:t>Downloads the data file as received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1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196</a:t>
            </a:r>
          </a:p>
        </p:txBody>
      </p:sp>
      <p:graphicFrame>
        <p:nvGraphicFramePr>
          <p:cNvPr id="9" name="Table 8"/>
          <p:cNvGraphicFramePr>
            <a:graphicFrameLocks noGrp="1"/>
          </p:cNvGraphicFramePr>
          <p:nvPr/>
        </p:nvGraphicFramePr>
        <p:xfrm>
          <a:off x="548640" y="1325880"/>
          <a:ext cx="11094415" cy="13716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file name starts with the layout code, then the source system, the as-of date and the sequence of the day (FR-DM-010).</a:t>
                      </a:r>
                    </a:p>
                  </a:txBody>
                  <a:tcPr marL="54864" marR="54864" marT="27432" marB="27432">
                    <a:solidFill>
                      <a:srgbClr val="FFFFFF"/>
                    </a:solidFill>
                  </a:tcPr>
                </a:tc>
              </a:tr>
              <a:tr h="396240">
                <a:tc>
                  <a:txBody>
                    <a:bodyPr/>
                    <a:lstStyle/>
                    <a:p>
                      <a:r>
                        <a:rPr sz="1000" b="0">
                          <a:solidFill>
                            <a:srgbClr val="4B4B4B"/>
                          </a:solidFill>
                          <a:latin typeface="Arial"/>
                        </a:rPr>
                        <a:t>A file whose checksum, header, row count, amount totals or hash total do not agree with its control file is rejected; nothing of it is staged. Every check runs, and the rejection lists each failed check with its own reason (FR-DM-010).</a:t>
                      </a:r>
                    </a:p>
                  </a:txBody>
                  <a:tcPr marL="54864" marR="54864" marT="27432" marB="27432">
                    <a:solidFill>
                      <a:srgbClr val="E5F5FF"/>
                    </a:solidFill>
                  </a:tcPr>
                </a:tc>
              </a:tr>
              <a:tr h="243840">
                <a:tc>
                  <a:txBody>
                    <a:bodyPr/>
                    <a:lstStyle/>
                    <a:p>
                      <a:r>
                        <a:rPr sz="1000" b="0">
                          <a:solidFill>
                            <a:srgbClr val="4B4B4B"/>
                          </a:solidFill>
                          <a:latin typeface="Arial"/>
                        </a:rPr>
                        <a:t>Extracts are received only for objects decided for migration (FR-DM-002).</a:t>
                      </a:r>
                    </a:p>
                  </a:txBody>
                  <a:tcPr marL="54864" marR="54864" marT="27432" marB="27432">
                    <a:solidFill>
                      <a:srgbClr val="FFFFFF"/>
                    </a:solidFill>
                  </a:tcPr>
                </a:tc>
              </a:tr>
              <a:tr h="243840">
                <a:tc>
                  <a:txBody>
                    <a:bodyPr/>
                    <a:lstStyle/>
                    <a:p>
                      <a:r>
                        <a:rPr sz="1000" b="0">
                          <a:solidFill>
                            <a:srgbClr val="4B4B4B"/>
                          </a:solidFill>
                          <a:latin typeface="Arial"/>
                        </a:rPr>
                        <a:t>Staged rows and files are purged 5 days after the batch is accepted or rolled back, or after the rejection (FR-DM-010).</a:t>
                      </a:r>
                    </a:p>
                  </a:txBody>
                  <a:tcPr marL="54864" marR="54864" marT="27432" marB="27432">
                    <a:solidFill>
                      <a:srgbClr val="E5F5FF"/>
                    </a:solidFill>
                  </a:tcPr>
                </a:tc>
              </a:tr>
            </a:tbl>
          </a:graphicData>
        </a:graphic>
      </p:graphicFrame>
    </p:spTree>
  </p:cSld>
  <p:clrMapOvr>
    <a:masterClrMapping/>
  </p:clrMapOvr>
</p:sld>
</file>

<file path=ppt/slides/slide1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197</a:t>
            </a:r>
          </a:p>
        </p:txBody>
      </p:sp>
      <p:sp>
        <p:nvSpPr>
          <p:cNvPr id="9" name="Rounded Rectangle 8"/>
          <p:cNvSpPr/>
          <p:nvPr/>
        </p:nvSpPr>
        <p:spPr>
          <a:xfrm>
            <a:off x="6147511" y="896112"/>
            <a:ext cx="549554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CHG-DM-2.1-02, CHG-DM-2.1-03, CHG-DM-2.1-04</a:t>
            </a:r>
          </a:p>
        </p:txBody>
      </p:sp>
      <p:sp>
        <p:nvSpPr>
          <p:cNvPr id="10" name="Rounded Rectangle 9"/>
          <p:cNvSpPr/>
          <p:nvPr/>
        </p:nvSpPr>
        <p:spPr>
          <a:xfrm>
            <a:off x="430042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14.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Extracts with the upload card (Still needed: the files to choose) and the intake results (part 1 of 3)</a:t>
            </a:r>
          </a:p>
        </p:txBody>
      </p:sp>
    </p:spTree>
  </p:cSld>
  <p:clrMapOvr>
    <a:masterClrMapping/>
  </p:clrMapOvr>
</p:sld>
</file>

<file path=ppt/slides/slide1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198</a:t>
            </a:r>
          </a:p>
        </p:txBody>
      </p:sp>
      <p:sp>
        <p:nvSpPr>
          <p:cNvPr id="9" name="Rounded Rectangle 8"/>
          <p:cNvSpPr/>
          <p:nvPr/>
        </p:nvSpPr>
        <p:spPr>
          <a:xfrm>
            <a:off x="6147511" y="896112"/>
            <a:ext cx="549554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CHG-DM-2.1-02, CHG-DM-2.1-03, CHG-DM-2.1-04</a:t>
            </a:r>
          </a:p>
        </p:txBody>
      </p:sp>
      <p:sp>
        <p:nvSpPr>
          <p:cNvPr id="10" name="Rounded Rectangle 9"/>
          <p:cNvSpPr/>
          <p:nvPr/>
        </p:nvSpPr>
        <p:spPr>
          <a:xfrm>
            <a:off x="430042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15.png"/>
          <p:cNvPicPr>
            <a:picLocks noChangeAspect="1"/>
          </p:cNvPicPr>
          <p:nvPr/>
        </p:nvPicPr>
        <p:blipFill>
          <a:blip r:embed="rId3"/>
          <a:stretch>
            <a:fillRect/>
          </a:stretch>
        </p:blipFill>
        <p:spPr>
          <a:xfrm>
            <a:off x="548640" y="1261872"/>
            <a:ext cx="11094415" cy="4132199"/>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Extracts with the upload card (Still needed: the files to choose) and the intake results (part 2 of 3)</a:t>
            </a:r>
          </a:p>
        </p:txBody>
      </p:sp>
    </p:spTree>
  </p:cSld>
  <p:clrMapOvr>
    <a:masterClrMapping/>
  </p:clrMapOvr>
</p:sld>
</file>

<file path=ppt/slides/slide1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199</a:t>
            </a:r>
          </a:p>
        </p:txBody>
      </p:sp>
      <p:sp>
        <p:nvSpPr>
          <p:cNvPr id="9" name="Rounded Rectangle 8"/>
          <p:cNvSpPr/>
          <p:nvPr/>
        </p:nvSpPr>
        <p:spPr>
          <a:xfrm>
            <a:off x="6147511" y="896112"/>
            <a:ext cx="549554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CHG-DM-2.1-02, CHG-DM-2.1-03, CHG-DM-2.1-04</a:t>
            </a:r>
          </a:p>
        </p:txBody>
      </p:sp>
      <p:sp>
        <p:nvSpPr>
          <p:cNvPr id="10" name="Rounded Rectangle 9"/>
          <p:cNvSpPr/>
          <p:nvPr/>
        </p:nvSpPr>
        <p:spPr>
          <a:xfrm>
            <a:off x="430042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16.png"/>
          <p:cNvPicPr>
            <a:picLocks noChangeAspect="1"/>
          </p:cNvPicPr>
          <p:nvPr/>
        </p:nvPicPr>
        <p:blipFill>
          <a:blip r:embed="rId3"/>
          <a:stretch>
            <a:fillRect/>
          </a:stretch>
        </p:blipFill>
        <p:spPr>
          <a:xfrm>
            <a:off x="548640" y="1261872"/>
            <a:ext cx="11094415" cy="3836035"/>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Extracts with the upload card (Still needed: the files to choose) and the intake results (part 3 of 3)</a:t>
            </a:r>
          </a:p>
        </p:txBody>
      </p:sp>
    </p:spTree>
  </p:cSld>
  <p:clrMapOvr>
    <a:masterClrMapping/>
  </p:clrMapOvr>
</p:sld>
</file>

<file path=ppt/slides/slide2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200</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CHG-DM-2.1-03, CHG-DM-2.1-04</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17.png"/>
          <p:cNvPicPr>
            <a:picLocks noChangeAspect="1"/>
          </p:cNvPicPr>
          <p:nvPr/>
        </p:nvPicPr>
        <p:blipFill>
          <a:blip r:embed="rId3"/>
          <a:stretch>
            <a:fillRect/>
          </a:stretch>
        </p:blipFill>
        <p:spPr>
          <a:xfrm>
            <a:off x="548640" y="1261872"/>
            <a:ext cx="11094415" cy="4733930"/>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extract rejected at intake with every failed check and its reason (part 1 of 3)</a:t>
            </a:r>
          </a:p>
        </p:txBody>
      </p:sp>
    </p:spTree>
  </p:cSld>
  <p:clrMapOvr>
    <a:masterClrMapping/>
  </p:clrMapOvr>
</p:sld>
</file>

<file path=ppt/slides/slide2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201</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CHG-DM-2.1-03, CHG-DM-2.1-04</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18.png"/>
          <p:cNvPicPr>
            <a:picLocks noChangeAspect="1"/>
          </p:cNvPicPr>
          <p:nvPr/>
        </p:nvPicPr>
        <p:blipFill>
          <a:blip r:embed="rId3"/>
          <a:stretch>
            <a:fillRect/>
          </a:stretch>
        </p:blipFill>
        <p:spPr>
          <a:xfrm>
            <a:off x="548640" y="1261872"/>
            <a:ext cx="11094415" cy="465401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extract rejected at intake with every failed check and its reason (part 2 of 3)</a:t>
            </a:r>
          </a:p>
        </p:txBody>
      </p:sp>
    </p:spTree>
  </p:cSld>
  <p:clrMapOvr>
    <a:masterClrMapping/>
  </p:clrMapOvr>
</p:sld>
</file>

<file path=ppt/slides/slide2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SCR-DM-05 Extracts: Validation error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202</a:t>
            </a:r>
          </a:p>
        </p:txBody>
      </p:sp>
      <p:sp>
        <p:nvSpPr>
          <p:cNvPr id="9" name="Rounded Rectangle 8"/>
          <p:cNvSpPr/>
          <p:nvPr/>
        </p:nvSpPr>
        <p:spPr>
          <a:xfrm>
            <a:off x="7313371" y="896112"/>
            <a:ext cx="432968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CHG-DM-2.1-03, CHG-DM-2.1-04</a:t>
            </a:r>
          </a:p>
        </p:txBody>
      </p:sp>
      <p:sp>
        <p:nvSpPr>
          <p:cNvPr id="10" name="Rounded Rectangle 9"/>
          <p:cNvSpPr/>
          <p:nvPr/>
        </p:nvSpPr>
        <p:spPr>
          <a:xfrm>
            <a:off x="5466283" y="896112"/>
            <a:ext cx="1755648" cy="274320"/>
          </a:xfrm>
          <a:prstGeom prst="roundRect">
            <a:avLst/>
          </a:prstGeom>
          <a:solidFill>
            <a:srgbClr val="FDECEA"/>
          </a:solidFill>
          <a:ln w="12700">
            <a:solidFill>
              <a:srgbClr val="C6282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C62828"/>
                </a:solidFill>
                <a:latin typeface="Arial"/>
              </a:rPr>
              <a:t>Validation error</a:t>
            </a:r>
          </a:p>
        </p:txBody>
      </p:sp>
      <p:pic>
        <p:nvPicPr>
          <p:cNvPr id="11" name="Picture 10" descr="slice-00119.png"/>
          <p:cNvPicPr>
            <a:picLocks noChangeAspect="1"/>
          </p:cNvPicPr>
          <p:nvPr/>
        </p:nvPicPr>
        <p:blipFill>
          <a:blip r:embed="rId3"/>
          <a:stretch>
            <a:fillRect/>
          </a:stretch>
        </p:blipFill>
        <p:spPr>
          <a:xfrm>
            <a:off x="548640" y="1261872"/>
            <a:ext cx="11094415" cy="4611703"/>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An extract rejected at intake with every failed check and its reason (part 3 of 3)</a:t>
            </a:r>
          </a:p>
        </p:txBody>
      </p:sp>
    </p:spTree>
  </p:cSld>
  <p:clrMapOvr>
    <a:masterClrMapping/>
  </p:clrMapOvr>
</p:sld>
</file>

<file path=ppt/slides/slide2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SCR-DM-06 Batches and resubmissions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203</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load batch with its object, environment, counts, error rate and status. The Migration Operator plans a batch from the staged extracts of a decided object; a batch opens on its own page. The Resubmissions tab lists the corrected rejected rows that a maker has prepared and that a checker approves before they load (used for the renewal advices already sent, object P03).</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Batches</a:t>
                      </a:r>
                    </a:p>
                    <a:p>
                      <a:r>
                        <a:rPr sz="950" b="0">
                          <a:solidFill>
                            <a:srgbClr val="4B4B4B"/>
                          </a:solidFill>
                          <a:latin typeface="Arial"/>
                        </a:rPr>
                        <a:t>Migration Home › Batches</a:t>
                      </a:r>
                    </a:p>
                    <a:p>
                      <a:r>
                        <a:rPr sz="950" b="0">
                          <a:solidFill>
                            <a:srgbClr val="4B4B4B"/>
                          </a:solidFill>
                          <a:latin typeface="Arial"/>
                        </a:rPr>
                        <a:t>Extracts › Plan Batch</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19.1.6</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FR-DM-014, FR-DM-015, FR-DM-125</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Each object is loaded in batches that can be followed from planning to acceptance, and corrected rows load only after a checker approves them.</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204</a:t>
            </a:r>
          </a:p>
        </p:txBody>
      </p:sp>
      <p:graphicFrame>
        <p:nvGraphicFramePr>
          <p:cNvPr id="9" name="Table 8"/>
          <p:cNvGraphicFramePr>
            <a:graphicFrameLocks noGrp="1"/>
          </p:cNvGraphicFramePr>
          <p:nvPr/>
        </p:nvGraphicFramePr>
        <p:xfrm>
          <a:off x="548640" y="1325880"/>
          <a:ext cx="11094411" cy="350518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Batches tab</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MGB-yyyy-nnnnn; Full, Delta or Rerun of the parent batch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Batches tab</a:t>
                      </a:r>
                    </a:p>
                  </a:txBody>
                  <a:tcPr marL="54864" marR="54864" marT="27432" marB="27432">
                    <a:solidFill>
                      <a:srgbClr val="E5F5FF"/>
                    </a:solidFill>
                  </a:tcPr>
                </a:tc>
                <a:tc>
                  <a:txBody>
                    <a:bodyPr/>
                    <a:lstStyle/>
                    <a:p>
                      <a:r>
                        <a:rPr sz="850" b="0">
                          <a:solidFill>
                            <a:srgbClr val="4B4B4B"/>
                          </a:solidFill>
                          <a:latin typeface="Arial"/>
                        </a:rPr>
                        <a:t>Object, Environment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Object code; SIT, UAT, performance or production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Batches tab</a:t>
                      </a:r>
                    </a:p>
                  </a:txBody>
                  <a:tcPr marL="54864" marR="54864" marT="27432" marB="27432">
                    <a:solidFill>
                      <a:srgbClr val="FFFFFF"/>
                    </a:solidFill>
                  </a:tcPr>
                </a:tc>
                <a:tc>
                  <a:txBody>
                    <a:bodyPr/>
                    <a:lstStyle/>
                    <a:p>
                      <a:r>
                        <a:rPr sz="850" b="0">
                          <a:solidFill>
                            <a:srgbClr val="4B4B4B"/>
                          </a:solidFill>
                          <a:latin typeface="Arial"/>
                        </a:rPr>
                        <a:t>Staged, Loaded, Rejected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Batches tab</a:t>
                      </a:r>
                    </a:p>
                  </a:txBody>
                  <a:tcPr marL="54864" marR="54864" marT="27432" marB="27432">
                    <a:solidFill>
                      <a:srgbClr val="E5F5FF"/>
                    </a:solidFill>
                  </a:tcPr>
                </a:tc>
                <a:tc>
                  <a:txBody>
                    <a:bodyPr/>
                    <a:lstStyle/>
                    <a:p>
                      <a:r>
                        <a:rPr sz="850" b="0">
                          <a:solidFill>
                            <a:srgbClr val="4B4B4B"/>
                          </a:solidFill>
                          <a:latin typeface="Arial"/>
                        </a:rPr>
                        <a:t>Error rate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Percent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Batches tab</a:t>
                      </a:r>
                    </a:p>
                  </a:txBody>
                  <a:tcPr marL="54864" marR="54864" marT="27432" marB="27432">
                    <a:solidFill>
                      <a:srgbClr val="FFFFFF"/>
                    </a:solidFill>
                  </a:tcPr>
                </a:tc>
                <a:tc>
                  <a:txBody>
                    <a:bodyPr/>
                    <a:lstStyle/>
                    <a:p>
                      <a:r>
                        <a:rPr sz="850" b="0">
                          <a:solidFill>
                            <a:srgbClr val="4B4B4B"/>
                          </a:solidFill>
                          <a:latin typeface="Arial"/>
                        </a:rPr>
                        <a:t>Planned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Date and time; user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Batches tab</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Planned, Validated, Load approved, Loading, Loaded, Loaded with rejects, Failed, Reconciled, Accepted, Rollback requested, Rolled back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Plan Batch</a:t>
                      </a:r>
                    </a:p>
                  </a:txBody>
                  <a:tcPr marL="54864" marR="54864" marT="27432" marB="27432">
                    <a:solidFill>
                      <a:srgbClr val="FFFFFF"/>
                    </a:solidFill>
                  </a:tcPr>
                </a:tc>
                <a:tc>
                  <a:txBody>
                    <a:bodyPr/>
                    <a:lstStyle/>
                    <a:p>
                      <a:r>
                        <a:rPr sz="850" b="0">
                          <a:solidFill>
                            <a:srgbClr val="4B4B4B"/>
                          </a:solidFill>
                          <a:latin typeface="Arial"/>
                        </a:rPr>
                        <a:t>Object</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Objects decided as Migrate, Carry forward or Conditional</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The object has a staged extract</a:t>
                      </a:r>
                    </a:p>
                  </a:txBody>
                  <a:tcPr marL="54864" marR="54864" marT="27432" marB="27432">
                    <a:solidFill>
                      <a:srgbClr val="FFFFFF"/>
                    </a:solidFill>
                  </a:tcPr>
                </a:tc>
                <a:tc>
                  <a:txBody>
                    <a:bodyPr/>
                    <a:lstStyle/>
                    <a:p>
                      <a:r>
                        <a:rPr sz="850" b="0">
                          <a:solidFill>
                            <a:srgbClr val="4B4B4B"/>
                          </a:solidFill>
                          <a:latin typeface="Arial"/>
                        </a:rPr>
                        <a:t>Object &lt;code&gt; has no staged extract to load</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Plan Batch</a:t>
                      </a:r>
                    </a:p>
                  </a:txBody>
                  <a:tcPr marL="54864" marR="54864" marT="27432" marB="27432">
                    <a:solidFill>
                      <a:srgbClr val="E5F5FF"/>
                    </a:solidFill>
                  </a:tcPr>
                </a:tc>
                <a:tc>
                  <a:txBody>
                    <a:bodyPr/>
                    <a:lstStyle/>
                    <a:p>
                      <a:r>
                        <a:rPr sz="850" b="0">
                          <a:solidFill>
                            <a:srgbClr val="4B4B4B"/>
                          </a:solidFill>
                          <a:latin typeface="Arial"/>
                        </a:rPr>
                        <a:t>Extracts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Extract numbers separated by commas; empty for the latest staged extract of each layout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Same as-of date; staged; not in another batch</a:t>
                      </a:r>
                    </a:p>
                  </a:txBody>
                  <a:tcPr marL="54864" marR="54864" marT="27432" marB="27432">
                    <a:solidFill>
                      <a:srgbClr val="E5F5FF"/>
                    </a:solidFill>
                  </a:tcPr>
                </a:tc>
                <a:tc>
                  <a:txBody>
                    <a:bodyPr/>
                    <a:lstStyle/>
                    <a:p>
                      <a:r>
                        <a:rPr sz="850" b="0">
                          <a:solidFill>
                            <a:srgbClr val="4B4B4B"/>
                          </a:solidFill>
                          <a:latin typeface="Arial"/>
                        </a:rPr>
                        <a:t>The extracts of a batch must have the same as-of date: &lt;days&gt;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Resubmissions tab</a:t>
                      </a:r>
                    </a:p>
                  </a:txBody>
                  <a:tcPr marL="54864" marR="54864" marT="27432" marB="27432">
                    <a:solidFill>
                      <a:srgbClr val="FFFFFF"/>
                    </a:solidFill>
                  </a:tcPr>
                </a:tc>
                <a:tc>
                  <a:txBody>
                    <a:bodyPr/>
                    <a:lstStyle/>
                    <a:p>
                      <a:r>
                        <a:rPr sz="850" b="0">
                          <a:solidFill>
                            <a:srgbClr val="4B4B4B"/>
                          </a:solidFill>
                          <a:latin typeface="Arial"/>
                        </a:rPr>
                        <a:t>Resubmission, Object, Corrected rows, Prepared, Decided by, Note,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Prepared, Approved, Returned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205</a:t>
            </a:r>
          </a:p>
        </p:txBody>
      </p:sp>
      <p:graphicFrame>
        <p:nvGraphicFramePr>
          <p:cNvPr id="9" name="Table 8"/>
          <p:cNvGraphicFramePr>
            <a:graphicFrameLocks noGrp="1"/>
          </p:cNvGraphicFramePr>
          <p:nvPr/>
        </p:nvGraphicFramePr>
        <p:xfrm>
          <a:off x="548640" y="1325880"/>
          <a:ext cx="11094412" cy="136397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Plan Batch</a:t>
                      </a:r>
                    </a:p>
                  </a:txBody>
                  <a:tcPr marL="54864" marR="54864" marT="27432" marB="27432">
                    <a:solidFill>
                      <a:srgbClr val="FFFFFF"/>
                    </a:solidFill>
                  </a:tcPr>
                </a:tc>
                <a:tc>
                  <a:txBody>
                    <a:bodyPr/>
                    <a:lstStyle/>
                    <a:p>
                      <a:r>
                        <a:rPr sz="850" b="0">
                          <a:solidFill>
                            <a:srgbClr val="4B4B4B"/>
                          </a:solidFill>
                          <a:latin typeface="Arial"/>
                        </a:rPr>
                        <a:t>Migration Operator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Plans a batch from the staged extracts and opens it</a:t>
                      </a:r>
                    </a:p>
                  </a:txBody>
                  <a:tcPr marL="54864" marR="54864" marT="27432" marB="27432">
                    <a:solidFill>
                      <a:srgbClr val="FFFFFF"/>
                    </a:solidFill>
                  </a:tcPr>
                </a:tc>
                <a:tc>
                  <a:txBody>
                    <a:bodyPr/>
                    <a:lstStyle/>
                    <a:p>
                      <a:r>
                        <a:rPr sz="850" b="0">
                          <a:solidFill>
                            <a:srgbClr val="4B4B4B"/>
                          </a:solidFill>
                          <a:latin typeface="Arial"/>
                        </a:rPr>
                        <a:t>Planned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 batch row</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Always</a:t>
                      </a:r>
                    </a:p>
                  </a:txBody>
                  <a:tcPr marL="54864" marR="54864" marT="27432" marB="27432">
                    <a:solidFill>
                      <a:srgbClr val="E5F5FF"/>
                    </a:solidFill>
                  </a:tcPr>
                </a:tc>
                <a:tc>
                  <a:txBody>
                    <a:bodyPr/>
                    <a:lstStyle/>
                    <a:p>
                      <a:r>
                        <a:rPr sz="850" b="0">
                          <a:solidFill>
                            <a:srgbClr val="4B4B4B"/>
                          </a:solidFill>
                          <a:latin typeface="Arial"/>
                        </a:rPr>
                        <a:t>Opens the batch page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a:t>
                      </a:r>
                    </a:p>
                  </a:txBody>
                  <a:tcPr marL="54864" marR="54864" marT="27432" marB="27432">
                    <a:solidFill>
                      <a:srgbClr val="FFFFFF"/>
                    </a:solidFill>
                  </a:tcPr>
                </a:tc>
                <a:tc>
                  <a:txBody>
                    <a:bodyPr/>
                    <a:lstStyle/>
                    <a:p>
                      <a:r>
                        <a:rPr sz="850" b="0">
                          <a:solidFill>
                            <a:srgbClr val="4B4B4B"/>
                          </a:solidFill>
                          <a:latin typeface="Arial"/>
                        </a:rPr>
                        <a:t>Checker of the object (resubmission approval)</a:t>
                      </a:r>
                    </a:p>
                  </a:txBody>
                  <a:tcPr marL="54864" marR="54864" marT="27432" marB="27432">
                    <a:solidFill>
                      <a:srgbClr val="FFFFFF"/>
                    </a:solidFill>
                  </a:tcPr>
                </a:tc>
                <a:tc>
                  <a:txBody>
                    <a:bodyPr/>
                    <a:lstStyle/>
                    <a:p>
                      <a:r>
                        <a:rPr sz="850" b="0">
                          <a:solidFill>
                            <a:srgbClr val="4B4B4B"/>
                          </a:solidFill>
                          <a:latin typeface="Arial"/>
                        </a:rPr>
                        <a:t>Resubmission Prepared by another user</a:t>
                      </a:r>
                    </a:p>
                  </a:txBody>
                  <a:tcPr marL="54864" marR="54864" marT="27432" marB="27432">
                    <a:solidFill>
                      <a:srgbClr val="FFFFFF"/>
                    </a:solidFill>
                  </a:tcPr>
                </a:tc>
                <a:tc>
                  <a:txBody>
                    <a:bodyPr/>
                    <a:lstStyle/>
                    <a:p>
                      <a:r>
                        <a:rPr sz="850" b="0">
                          <a:solidFill>
                            <a:srgbClr val="4B4B4B"/>
                          </a:solidFill>
                          <a:latin typeface="Arial"/>
                        </a:rPr>
                        <a:t>Creates a rerun batch of the corrected rows, with an optional note</a:t>
                      </a:r>
                    </a:p>
                  </a:txBody>
                  <a:tcPr marL="54864" marR="54864" marT="27432" marB="27432">
                    <a:solidFill>
                      <a:srgbClr val="FFFFFF"/>
                    </a:solidFill>
                  </a:tcPr>
                </a:tc>
                <a:tc>
                  <a:txBody>
                    <a:bodyPr/>
                    <a:lstStyle/>
                    <a:p>
                      <a:r>
                        <a:rPr sz="850" b="0">
                          <a:solidFill>
                            <a:srgbClr val="4B4B4B"/>
                          </a:solidFill>
                          <a:latin typeface="Arial"/>
                        </a:rPr>
                        <a:t>Approved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Return</a:t>
                      </a:r>
                    </a:p>
                  </a:txBody>
                  <a:tcPr marL="54864" marR="54864" marT="27432" marB="27432">
                    <a:solidFill>
                      <a:srgbClr val="E5F5FF"/>
                    </a:solidFill>
                  </a:tcPr>
                </a:tc>
                <a:tc>
                  <a:txBody>
                    <a:bodyPr/>
                    <a:lstStyle/>
                    <a:p>
                      <a:r>
                        <a:rPr sz="850" b="0">
                          <a:solidFill>
                            <a:srgbClr val="4B4B4B"/>
                          </a:solidFill>
                          <a:latin typeface="Arial"/>
                        </a:rPr>
                        <a:t>Checker of the object</a:t>
                      </a:r>
                    </a:p>
                  </a:txBody>
                  <a:tcPr marL="54864" marR="54864" marT="27432" marB="27432">
                    <a:solidFill>
                      <a:srgbClr val="E5F5FF"/>
                    </a:solidFill>
                  </a:tcPr>
                </a:tc>
                <a:tc>
                  <a:txBody>
                    <a:bodyPr/>
                    <a:lstStyle/>
                    <a:p>
                      <a:r>
                        <a:rPr sz="850" b="0">
                          <a:solidFill>
                            <a:srgbClr val="4B4B4B"/>
                          </a:solidFill>
                          <a:latin typeface="Arial"/>
                        </a:rPr>
                        <a:t>Resubmission Prepared by another user</a:t>
                      </a:r>
                    </a:p>
                  </a:txBody>
                  <a:tcPr marL="54864" marR="54864" marT="27432" marB="27432">
                    <a:solidFill>
                      <a:srgbClr val="E5F5FF"/>
                    </a:solidFill>
                  </a:tcPr>
                </a:tc>
                <a:tc>
                  <a:txBody>
                    <a:bodyPr/>
                    <a:lstStyle/>
                    <a:p>
                      <a:r>
                        <a:rPr sz="850" b="0">
                          <a:solidFill>
                            <a:srgbClr val="4B4B4B"/>
                          </a:solidFill>
                          <a:latin typeface="Arial"/>
                        </a:rPr>
                        <a:t>Returns the corrected rows to the maker with the reason</a:t>
                      </a:r>
                    </a:p>
                  </a:txBody>
                  <a:tcPr marL="54864" marR="54864" marT="27432" marB="27432">
                    <a:solidFill>
                      <a:srgbClr val="E5F5FF"/>
                    </a:solidFill>
                  </a:tcPr>
                </a:tc>
                <a:tc>
                  <a:txBody>
                    <a:bodyPr/>
                    <a:lstStyle/>
                    <a:p>
                      <a:r>
                        <a:rPr sz="850" b="0">
                          <a:solidFill>
                            <a:srgbClr val="4B4B4B"/>
                          </a:solidFill>
                          <a:latin typeface="Arial"/>
                        </a:rPr>
                        <a:t>Returned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206</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extracts of one batch have the same as-of date and one layout each (FR-DM-010).</a:t>
                      </a:r>
                    </a:p>
                  </a:txBody>
                  <a:tcPr marL="54864" marR="54864" marT="27432" marB="27432">
                    <a:solidFill>
                      <a:srgbClr val="FFFFFF"/>
                    </a:solidFill>
                  </a:tcPr>
                </a:tc>
              </a:tr>
              <a:tr h="243840">
                <a:tc>
                  <a:txBody>
                    <a:bodyPr/>
                    <a:lstStyle/>
                    <a:p>
                      <a:r>
                        <a:rPr sz="1000" b="0">
                          <a:solidFill>
                            <a:srgbClr val="4B4B4B"/>
                          </a:solidFill>
                          <a:latin typeface="Arial"/>
                        </a:rPr>
                        <a:t>Resubmissions of the RA-sent file are accepted until the resubmission deadline (12:00 on the day before go-live) (FR-DM-125).</a:t>
                      </a:r>
                    </a:p>
                  </a:txBody>
                  <a:tcPr marL="54864" marR="54864" marT="27432" marB="27432">
                    <a:solidFill>
                      <a:srgbClr val="E5F5FF"/>
                    </a:solidFill>
                  </a:tcPr>
                </a:tc>
              </a:tr>
              <a:tr h="243840">
                <a:tc>
                  <a:txBody>
                    <a:bodyPr/>
                    <a:lstStyle/>
                    <a:p>
                      <a:r>
                        <a:rPr sz="1000" b="0">
                          <a:solidFill>
                            <a:srgbClr val="4B4B4B"/>
                          </a:solidFill>
                          <a:latin typeface="Arial"/>
                        </a:rPr>
                        <a:t>The checker of a resubmission is never its maker (FR-DM-125).</a:t>
                      </a:r>
                    </a:p>
                  </a:txBody>
                  <a:tcPr marL="54864" marR="54864" marT="27432" marB="27432">
                    <a:solidFill>
                      <a:srgbClr val="FFFFFF"/>
                    </a:solidFill>
                  </a:tcPr>
                </a:tc>
              </a:tr>
            </a:tbl>
          </a:graphicData>
        </a:graphic>
      </p:graphicFrame>
    </p:spTree>
  </p:cSld>
  <p:clrMapOvr>
    <a:masterClrMapping/>
  </p:clrMapOvr>
</p:sld>
</file>

<file path=ppt/slides/slide2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SCR-DM-06 Batches and resubmissions: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Batches with their counts and status (part 1 of 2)</a:t>
            </a:r>
          </a:p>
        </p:txBody>
      </p:sp>
    </p:spTree>
  </p:cSld>
  <p:clrMapOvr>
    <a:masterClrMapping/>
  </p:clrMapOvr>
</p:sld>
</file>

<file path=ppt/slides/slide2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SCR-DM-06 Batches and resubmissions: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1.png"/>
          <p:cNvPicPr>
            <a:picLocks noChangeAspect="1"/>
          </p:cNvPicPr>
          <p:nvPr/>
        </p:nvPicPr>
        <p:blipFill>
          <a:blip r:embed="rId3"/>
          <a:stretch>
            <a:fillRect/>
          </a:stretch>
        </p:blipFill>
        <p:spPr>
          <a:xfrm>
            <a:off x="548640" y="1261872"/>
            <a:ext cx="11094415" cy="453340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Batches with their counts and status (part 2 of 2)</a:t>
            </a:r>
          </a:p>
        </p:txBody>
      </p:sp>
    </p:spTree>
  </p:cSld>
  <p:clrMapOvr>
    <a:masterClrMapping/>
  </p:clrMapOvr>
</p:sld>
</file>

<file path=ppt/slides/slide2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SCR-DM-06 Batches and resubmissions: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209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06-02-plan.png"/>
          <p:cNvPicPr>
            <a:picLocks noChangeAspect="1"/>
          </p:cNvPicPr>
          <p:nvPr/>
        </p:nvPicPr>
        <p:blipFill>
          <a:blip r:embed="rId3"/>
          <a:stretch>
            <a:fillRect/>
          </a:stretch>
        </p:blipFill>
        <p:spPr>
          <a:xfrm>
            <a:off x="548640" y="1261872"/>
            <a:ext cx="11094415" cy="33084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Plan Batch dialog</a:t>
            </a:r>
          </a:p>
        </p:txBody>
      </p:sp>
    </p:spTree>
  </p:cSld>
  <p:clrMapOvr>
    <a:masterClrMapping/>
  </p:clrMapOvr>
</p:sld>
</file>

<file path=ppt/slides/slide2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SCR-DM-06 Batches and resubmissions: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dm-06-03-resubmissions.png"/>
          <p:cNvPicPr>
            <a:picLocks noChangeAspect="1"/>
          </p:cNvPicPr>
          <p:nvPr/>
        </p:nvPicPr>
        <p:blipFill>
          <a:blip r:embed="rId3"/>
          <a:stretch>
            <a:fillRect/>
          </a:stretch>
        </p:blipFill>
        <p:spPr>
          <a:xfrm>
            <a:off x="792327" y="1261872"/>
            <a:ext cx="10607040"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Resubmissions of corrected rows waiting for the checker</a:t>
            </a:r>
          </a:p>
        </p:txBody>
      </p:sp>
    </p:spTree>
  </p:cSld>
  <p:clrMapOvr>
    <a:masterClrMapping/>
  </p:clrMapOvr>
</p:sld>
</file>

<file path=ppt/slides/slide2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211</a:t>
            </a:r>
          </a:p>
        </p:txBody>
      </p:sp>
      <p:graphicFrame>
        <p:nvGraphicFramePr>
          <p:cNvPr id="9" name="Table 8"/>
          <p:cNvGraphicFramePr>
            <a:graphicFrameLocks noGrp="1"/>
          </p:cNvGraphicFramePr>
          <p:nvPr/>
        </p:nvGraphicFramePr>
        <p:xfrm>
          <a:off x="548640" y="1307592"/>
          <a:ext cx="6434760" cy="32461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11049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One batch from validation to acceptance. The header shows the status and the actions allowed now: validate, sign the validation (G3), approve the load (G4), load, reconcile, rerun the rejected rows, sign the reconciliation (G5), accept the object as data owner and as Data Migration Lead (G6), request, approve or reject a rollback. The steps, the counts and the facts of the batch are followed by tabs for the issues, the rows (with waivers and exclusions), the reconciliation, the gates signed with their evidence and the run log.</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Batches › Batch</a:t>
                      </a:r>
                    </a:p>
                    <a:p>
                      <a:r>
                        <a:rPr sz="950" b="0">
                          <a:solidFill>
                            <a:srgbClr val="4B4B4B"/>
                          </a:solidFill>
                          <a:latin typeface="Arial"/>
                        </a:rPr>
                        <a:t>Batches › a batch row</a:t>
                      </a:r>
                    </a:p>
                    <a:p>
                      <a:r>
                        <a:rPr sz="950" b="0">
                          <a:solidFill>
                            <a:srgbClr val="4B4B4B"/>
                          </a:solidFill>
                          <a:latin typeface="Arial"/>
                        </a:rPr>
                        <a:t>Sign-off › Latest batch</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19.1.7</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FR-DM-013, FR-DM-014, FR-DM-015, FR-DM-003, FR-DM-020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batch is loaded, reconciled and accepted by its owner and the Data Migration Lead, or rolled back, with every step recorded.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(5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SCR-DM-07 fields and columns (No. = callout on the first image)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212</a:t>
            </a:r>
          </a:p>
        </p:txBody>
      </p:sp>
      <p:graphicFrame>
        <p:nvGraphicFramePr>
          <p:cNvPr id="9" name="Table 8"/>
          <p:cNvGraphicFramePr>
            <a:graphicFrameLocks noGrp="1"/>
          </p:cNvGraphicFramePr>
          <p:nvPr/>
        </p:nvGraphicFramePr>
        <p:xfrm>
          <a:off x="548640" y="1325880"/>
          <a:ext cx="11094411" cy="468627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Steps</a:t>
                      </a:r>
                    </a:p>
                  </a:txBody>
                  <a:tcPr marL="54864" marR="54864" marT="27432" marB="27432">
                    <a:solidFill>
                      <a:srgbClr val="FFFFFF"/>
                    </a:solidFill>
                  </a:tcPr>
                </a:tc>
                <a:tc>
                  <a:txBody>
                    <a:bodyPr/>
                    <a:lstStyle/>
                    <a:p>
                      <a:r>
                        <a:rPr sz="850" b="0">
                          <a:solidFill>
                            <a:srgbClr val="4B4B4B"/>
                          </a:solidFill>
                          <a:latin typeface="Arial"/>
                        </a:rPr>
                        <a:t>Planned, Validated, Load approved, Loaded, Reconciled, Accepted</a:t>
                      </a:r>
                    </a:p>
                  </a:txBody>
                  <a:tcPr marL="54864" marR="54864" marT="27432" marB="27432">
                    <a:solidFill>
                      <a:srgbClr val="FFFFFF"/>
                    </a:solidFill>
                  </a:tcPr>
                </a:tc>
                <a:tc>
                  <a:txBody>
                    <a:bodyPr/>
                    <a:lstStyle/>
                    <a:p>
                      <a:r>
                        <a:rPr sz="850" b="0">
                          <a:solidFill>
                            <a:srgbClr val="4B4B4B"/>
                          </a:solidFill>
                          <a:latin typeface="Arial"/>
                        </a:rPr>
                        <a:t>Stepper</a:t>
                      </a:r>
                    </a:p>
                  </a:txBody>
                  <a:tcPr marL="54864" marR="54864" marT="27432" marB="27432">
                    <a:solidFill>
                      <a:srgbClr val="FFFFFF"/>
                    </a:solidFill>
                  </a:tcPr>
                </a:tc>
                <a:tc>
                  <a:txBody>
                    <a:bodyPr/>
                    <a:lstStyle/>
                    <a:p>
                      <a:r>
                        <a:rPr sz="850" b="0">
                          <a:solidFill>
                            <a:srgbClr val="4B4B4B"/>
                          </a:solidFill>
                          <a:latin typeface="Arial"/>
                        </a:rPr>
                        <a:t>Steps done are marked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Counts</a:t>
                      </a:r>
                    </a:p>
                  </a:txBody>
                  <a:tcPr marL="54864" marR="54864" marT="27432" marB="27432">
                    <a:solidFill>
                      <a:srgbClr val="E5F5FF"/>
                    </a:solidFill>
                  </a:tcPr>
                </a:tc>
                <a:tc>
                  <a:txBody>
                    <a:bodyPr/>
                    <a:lstStyle/>
                    <a:p>
                      <a:r>
                        <a:rPr sz="850" b="0">
                          <a:solidFill>
                            <a:srgbClr val="4B4B4B"/>
                          </a:solidFill>
                          <a:latin typeface="Arial"/>
                        </a:rPr>
                        <a:t>Staged, Valid, Invalid, Loaded</a:t>
                      </a:r>
                    </a:p>
                  </a:txBody>
                  <a:tcPr marL="54864" marR="54864" marT="27432" marB="27432">
                    <a:solidFill>
                      <a:srgbClr val="E5F5FF"/>
                    </a:solidFill>
                  </a:tcPr>
                </a:tc>
                <a:tc>
                  <a:txBody>
                    <a:bodyPr/>
                    <a:lstStyle/>
                    <a:p>
                      <a:r>
                        <a:rPr sz="850" b="0">
                          <a:solidFill>
                            <a:srgbClr val="4B4B4B"/>
                          </a:solidFill>
                          <a:latin typeface="Arial"/>
                        </a:rPr>
                        <a:t>Tile</a:t>
                      </a:r>
                    </a:p>
                  </a:txBody>
                  <a:tcPr marL="54864" marR="54864" marT="27432" marB="27432">
                    <a:solidFill>
                      <a:srgbClr val="E5F5FF"/>
                    </a:solidFill>
                  </a:tcPr>
                </a:tc>
                <a:tc>
                  <a:txBody>
                    <a:bodyPr/>
                    <a:lstStyle/>
                    <a:p>
                      <a:r>
                        <a:rPr sz="850" b="0">
                          <a:solidFill>
                            <a:srgbClr val="4B4B4B"/>
                          </a:solidFill>
                          <a:latin typeface="Arial"/>
                        </a:rPr>
                        <a:t>Warnings, excluded and waived, unchanged and rejected under them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Extracts, Rerun of, Code map versions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Extract numbers; parent batch; map and version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Batch</a:t>
                      </a:r>
                    </a:p>
                  </a:txBody>
                  <a:tcPr marL="54864" marR="54864" marT="27432" marB="27432">
                    <a:solidFill>
                      <a:srgbClr val="E5F5FF"/>
                    </a:solidFill>
                  </a:tcPr>
                </a:tc>
                <a:tc>
                  <a:txBody>
                    <a:bodyPr/>
                    <a:lstStyle/>
                    <a:p>
                      <a:r>
                        <a:rPr sz="850" b="0">
                          <a:solidFill>
                            <a:srgbClr val="4B4B4B"/>
                          </a:solidFill>
                          <a:latin typeface="Arial"/>
                        </a:rPr>
                        <a:t>Error rate, Unmapped codes, Client pairs to review</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Percent; counts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Validated by, Load approved by, Loaded by</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Name, date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Batch</a:t>
                      </a:r>
                    </a:p>
                  </a:txBody>
                  <a:tcPr marL="54864" marR="54864" marT="27432" marB="27432">
                    <a:solidFill>
                      <a:srgbClr val="E5F5FF"/>
                    </a:solidFill>
                  </a:tcPr>
                </a:tc>
                <a:tc>
                  <a:txBody>
                    <a:bodyPr/>
                    <a:lstStyle/>
                    <a:p>
                      <a:r>
                        <a:rPr sz="850" b="0">
                          <a:solidFill>
                            <a:srgbClr val="4B4B4B"/>
                          </a:solidFill>
                          <a:latin typeface="Arial"/>
                        </a:rPr>
                        <a:t>Load started, Load ended, Accepted</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dd-MMM-yyyy HH:mm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Rollback reason, Staging purged on</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Text;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Issues tab</a:t>
                      </a:r>
                    </a:p>
                  </a:txBody>
                  <a:tcPr marL="54864" marR="54864" marT="27432" marB="27432">
                    <a:solidFill>
                      <a:srgbClr val="E5F5FF"/>
                    </a:solidFill>
                  </a:tcPr>
                </a:tc>
                <a:tc>
                  <a:txBody>
                    <a:bodyPr/>
                    <a:lstStyle/>
                    <a:p>
                      <a:r>
                        <a:rPr sz="850" b="0">
                          <a:solidFill>
                            <a:srgbClr val="4B4B4B"/>
                          </a:solidFill>
                          <a:latin typeface="Arial"/>
                        </a:rPr>
                        <a:t>Rule, Severity, Field, Message, Resolution</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Error or Warning; the value under the field; Open, Fixed at source, Mapped, Waived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Rows tab</a:t>
                      </a:r>
                    </a:p>
                  </a:txBody>
                  <a:tcPr marL="54864" marR="54864" marT="27432" marB="27432">
                    <a:solidFill>
                      <a:srgbClr val="FFFFFF"/>
                    </a:solidFill>
                  </a:tcPr>
                </a:tc>
                <a:tc>
                  <a:txBody>
                    <a:bodyPr/>
                    <a:lstStyle/>
                    <a:p>
                      <a:r>
                        <a:rPr sz="850" b="0">
                          <a:solidFill>
                            <a:srgbClr val="4B4B4B"/>
                          </a:solidFill>
                          <a:latin typeface="Arial"/>
                        </a:rPr>
                        <a:t>Row status</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rows, Valid, Warning, Invalid, Loaded, Skipped, Rejected, Excluded, Waived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Rows tab</a:t>
                      </a:r>
                    </a:p>
                  </a:txBody>
                  <a:tcPr marL="54864" marR="54864" marT="27432" marB="27432">
                    <a:solidFill>
                      <a:srgbClr val="E5F5FF"/>
                    </a:solidFill>
                  </a:tcPr>
                </a:tc>
                <a:tc>
                  <a:txBody>
                    <a:bodyPr/>
                    <a:lstStyle/>
                    <a:p>
                      <a:r>
                        <a:rPr sz="850" b="0">
                          <a:solidFill>
                            <a:srgbClr val="4B4B4B"/>
                          </a:solidFill>
                          <a:latin typeface="Arial"/>
                        </a:rPr>
                        <a:t>Layout, Row, Legacy key, BIBS record, Message, Status</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The BIBS record created, with its kind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Waive Rows / Exclude Rows</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Record not needed in BIBS, Entered manually in BIBS after go-live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Waive Rows / Exclude Rows</a:t>
                      </a:r>
                    </a:p>
                  </a:txBody>
                  <a:tcPr marL="54864" marR="54864" marT="27432" marB="27432">
                    <a:solidFill>
                      <a:srgbClr val="E5F5FF"/>
                    </a:solidFill>
                  </a:tcPr>
                </a:tc>
                <a:tc>
                  <a:txBody>
                    <a:bodyPr/>
                    <a:lstStyle/>
                    <a:p>
                      <a:r>
                        <a:rPr sz="850" b="0">
                          <a:solidFill>
                            <a:srgbClr val="4B4B4B"/>
                          </a:solidFill>
                          <a:latin typeface="Arial"/>
                        </a:rPr>
                        <a:t>Note / Manual-entry plan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Free text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Enter the reason and the manual-entry plan of the excluded rows</a:t>
                      </a:r>
                    </a:p>
                  </a:txBody>
                  <a:tcPr marL="54864" marR="54864" marT="27432" marB="27432">
                    <a:solidFill>
                      <a:srgbClr val="E5F5FF"/>
                    </a:solidFill>
                  </a:tcPr>
                </a:tc>
              </a:tr>
            </a:tbl>
          </a:graphicData>
        </a:graphic>
      </p:graphicFrame>
    </p:spTree>
  </p:cSld>
  <p:clrMapOvr>
    <a:masterClrMapping/>
  </p:clrMapOvr>
</p:sld>
</file>

<file path=ppt/slides/slide2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SCR-DM-07 fields and columns (No. = callout on the first image)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213</a:t>
            </a:r>
          </a:p>
        </p:txBody>
      </p:sp>
      <p:graphicFrame>
        <p:nvGraphicFramePr>
          <p:cNvPr id="9" name="Table 8"/>
          <p:cNvGraphicFramePr>
            <a:graphicFrameLocks noGrp="1"/>
          </p:cNvGraphicFramePr>
          <p:nvPr/>
        </p:nvGraphicFramePr>
        <p:xfrm>
          <a:off x="548640" y="1325880"/>
          <a:ext cx="11094411" cy="127253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Resubmit Corrected Rows</a:t>
                      </a:r>
                    </a:p>
                  </a:txBody>
                  <a:tcPr marL="54864" marR="54864" marT="27432" marB="27432">
                    <a:solidFill>
                      <a:srgbClr val="FFFFFF"/>
                    </a:solidFill>
                  </a:tcPr>
                </a:tc>
                <a:tc>
                  <a:txBody>
                    <a:bodyPr/>
                    <a:lstStyle/>
                    <a:p>
                      <a:r>
                        <a:rPr sz="850" b="0">
                          <a:solidFill>
                            <a:srgbClr val="4B4B4B"/>
                          </a:solidFill>
                          <a:latin typeface="Arial"/>
                        </a:rPr>
                        <a:t>Extract of the corrected rows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Extract number of the uploaded correction file</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Staged extract of the same object</a:t>
                      </a:r>
                    </a:p>
                  </a:txBody>
                  <a:tcPr marL="54864" marR="54864" marT="27432" marB="27432">
                    <a:solidFill>
                      <a:srgbClr val="FFFFFF"/>
                    </a:solidFill>
                  </a:tcPr>
                </a:tc>
                <a:tc>
                  <a:txBody>
                    <a:bodyPr/>
                    <a:lstStyle/>
                    <a:p>
                      <a:r>
                        <a:rPr sz="850" b="0">
                          <a:solidFill>
                            <a:srgbClr val="4B4B4B"/>
                          </a:solidFill>
                          <a:latin typeface="Arial"/>
                        </a:rPr>
                        <a:t>Extract &lt;extract no&gt; is not a staged extract of object &lt;object code&gt;</a:t>
                      </a:r>
                    </a:p>
                  </a:txBody>
                  <a:tcPr marL="54864" marR="54864" marT="27432" marB="27432">
                    <a:solidFill>
                      <a:srgbClr val="FFFFFF"/>
                    </a:solidFill>
                  </a:tcPr>
                </a:tc>
              </a:tr>
              <a:tr h="350518">
                <a:tc>
                  <a:txBody>
                    <a:bodyPr/>
                    <a:lstStyle/>
                    <a:p>
                      <a:r>
                        <a:rPr sz="850" b="0">
                          <a:solidFill>
                            <a:srgbClr val="4B4B4B"/>
                          </a:solidFill>
                          <a:latin typeface="Arial"/>
                        </a:rPr>
                        <a:t>14</a:t>
                      </a:r>
                    </a:p>
                  </a:txBody>
                  <a:tcPr marL="54864" marR="54864" marT="27432" marB="27432">
                    <a:solidFill>
                      <a:srgbClr val="E5F5FF"/>
                    </a:solidFill>
                  </a:tcPr>
                </a:tc>
                <a:tc>
                  <a:txBody>
                    <a:bodyPr/>
                    <a:lstStyle/>
                    <a:p>
                      <a:r>
                        <a:rPr sz="850" b="0">
                          <a:solidFill>
                            <a:srgbClr val="4B4B4B"/>
                          </a:solidFill>
                          <a:latin typeface="Arial"/>
                        </a:rPr>
                        <a:t>Sign-offs tab</a:t>
                      </a:r>
                    </a:p>
                  </a:txBody>
                  <a:tcPr marL="54864" marR="54864" marT="27432" marB="27432">
                    <a:solidFill>
                      <a:srgbClr val="E5F5FF"/>
                    </a:solidFill>
                  </a:tcPr>
                </a:tc>
                <a:tc>
                  <a:txBody>
                    <a:bodyPr/>
                    <a:lstStyle/>
                    <a:p>
                      <a:r>
                        <a:rPr sz="850" b="0">
                          <a:solidFill>
                            <a:srgbClr val="4B4B4B"/>
                          </a:solidFill>
                          <a:latin typeface="Arial"/>
                        </a:rPr>
                        <a:t>Gate, Role, Signed by, Signed, Comment, Decision, Evidence</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Gate and its name; evidence file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15</a:t>
                      </a:r>
                    </a:p>
                  </a:txBody>
                  <a:tcPr marL="54864" marR="54864" marT="27432" marB="27432">
                    <a:solidFill>
                      <a:srgbClr val="FFFFFF"/>
                    </a:solidFill>
                  </a:tcPr>
                </a:tc>
                <a:tc>
                  <a:txBody>
                    <a:bodyPr/>
                    <a:lstStyle/>
                    <a:p>
                      <a:r>
                        <a:rPr sz="850" b="0">
                          <a:solidFill>
                            <a:srgbClr val="4B4B4B"/>
                          </a:solidFill>
                          <a:latin typeface="Arial"/>
                        </a:rPr>
                        <a:t>Run Log tab</a:t>
                      </a:r>
                    </a:p>
                  </a:txBody>
                  <a:tcPr marL="54864" marR="54864" marT="27432" marB="27432">
                    <a:solidFill>
                      <a:srgbClr val="FFFFFF"/>
                    </a:solidFill>
                  </a:tcPr>
                </a:tc>
                <a:tc>
                  <a:txBody>
                    <a:bodyPr/>
                    <a:lstStyle/>
                    <a:p>
                      <a:r>
                        <a:rPr sz="850" b="0">
                          <a:solidFill>
                            <a:srgbClr val="4B4B4B"/>
                          </a:solidFill>
                          <a:latin typeface="Arial"/>
                        </a:rPr>
                        <a:t>Time, Step, Level, Message, Counts, By</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actions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214</a:t>
            </a:r>
          </a:p>
        </p:txBody>
      </p:sp>
      <p:graphicFrame>
        <p:nvGraphicFramePr>
          <p:cNvPr id="9" name="Table 8"/>
          <p:cNvGraphicFramePr>
            <a:graphicFrameLocks noGrp="1"/>
          </p:cNvGraphicFramePr>
          <p:nvPr/>
        </p:nvGraphicFramePr>
        <p:xfrm>
          <a:off x="548640" y="1325880"/>
          <a:ext cx="11094412" cy="486915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Validate</a:t>
                      </a:r>
                    </a:p>
                  </a:txBody>
                  <a:tcPr marL="54864" marR="54864" marT="27432" marB="27432">
                    <a:solidFill>
                      <a:srgbClr val="FFFFFF"/>
                    </a:solidFill>
                  </a:tcPr>
                </a:tc>
                <a:tc>
                  <a:txBody>
                    <a:bodyPr/>
                    <a:lstStyle/>
                    <a:p>
                      <a:r>
                        <a:rPr sz="850" b="0">
                          <a:solidFill>
                            <a:srgbClr val="4B4B4B"/>
                          </a:solidFill>
                          <a:latin typeface="Arial"/>
                        </a:rPr>
                        <a:t>Migration Operator</a:t>
                      </a:r>
                    </a:p>
                  </a:txBody>
                  <a:tcPr marL="54864" marR="54864" marT="27432" marB="27432">
                    <a:solidFill>
                      <a:srgbClr val="FFFFFF"/>
                    </a:solidFill>
                  </a:tcPr>
                </a:tc>
                <a:tc>
                  <a:txBody>
                    <a:bodyPr/>
                    <a:lstStyle/>
                    <a:p>
                      <a:r>
                        <a:rPr sz="850" b="0">
                          <a:solidFill>
                            <a:srgbClr val="4B4B4B"/>
                          </a:solidFill>
                          <a:latin typeface="Arial"/>
                        </a:rPr>
                        <a:t>Planned</a:t>
                      </a:r>
                    </a:p>
                  </a:txBody>
                  <a:tcPr marL="54864" marR="54864" marT="27432" marB="27432">
                    <a:solidFill>
                      <a:srgbClr val="FFFFFF"/>
                    </a:solidFill>
                  </a:tcPr>
                </a:tc>
                <a:tc>
                  <a:txBody>
                    <a:bodyPr/>
                    <a:lstStyle/>
                    <a:p>
                      <a:r>
                        <a:rPr sz="850" b="0">
                          <a:solidFill>
                            <a:srgbClr val="4B4B4B"/>
                          </a:solidFill>
                          <a:latin typeface="Arial"/>
                        </a:rPr>
                        <a:t>Maps the rows with the approved code maps and checks them against the data-quality rules</a:t>
                      </a:r>
                    </a:p>
                  </a:txBody>
                  <a:tcPr marL="54864" marR="54864" marT="27432" marB="27432">
                    <a:solidFill>
                      <a:srgbClr val="FFFFFF"/>
                    </a:solidFill>
                  </a:tcPr>
                </a:tc>
                <a:tc>
                  <a:txBody>
                    <a:bodyPr/>
                    <a:lstStyle/>
                    <a:p>
                      <a:r>
                        <a:rPr sz="850" b="0">
                          <a:solidFill>
                            <a:srgbClr val="4B4B4B"/>
                          </a:solidFill>
                          <a:latin typeface="Arial"/>
                        </a:rPr>
                        <a:t>Validated</a:t>
                      </a:r>
                    </a:p>
                  </a:txBody>
                  <a:tcPr marL="54864" marR="54864" marT="27432" marB="27432">
                    <a:solidFill>
                      <a:srgbClr val="FFFFFF"/>
                    </a:solidFill>
                  </a:tcPr>
                </a:tc>
                <a:tc>
                  <a:txBody>
                    <a:bodyPr/>
                    <a:lstStyle/>
                    <a:p>
                      <a:r>
                        <a:rPr sz="850" b="0">
                          <a:solidFill>
                            <a:srgbClr val="4B4B4B"/>
                          </a:solidFill>
                          <a:latin typeface="Arial"/>
                        </a:rPr>
                        <a:t>Alert Unmapped codes when a code has no entry</a:t>
                      </a:r>
                    </a:p>
                  </a:txBody>
                  <a:tcPr marL="54864" marR="54864" marT="27432" marB="27432">
                    <a:solidFill>
                      <a:srgbClr val="FFFFFF"/>
                    </a:solidFill>
                  </a:tcPr>
                </a:tc>
              </a:tr>
              <a:tr h="350518">
                <a:tc>
                  <a:txBody>
                    <a:bodyPr/>
                    <a:lstStyle/>
                    <a:p>
                      <a:r>
                        <a:rPr sz="850" b="0">
                          <a:solidFill>
                            <a:srgbClr val="4B4B4B"/>
                          </a:solidFill>
                          <a:latin typeface="Arial"/>
                        </a:rPr>
                        <a:t>Sign Validation</a:t>
                      </a:r>
                    </a:p>
                  </a:txBody>
                  <a:tcPr marL="54864" marR="54864" marT="27432" marB="27432">
                    <a:solidFill>
                      <a:srgbClr val="E5F5FF"/>
                    </a:solidFill>
                  </a:tcPr>
                </a:tc>
                <a:tc>
                  <a:txBody>
                    <a:bodyPr/>
                    <a:lstStyle/>
                    <a:p>
                      <a:r>
                        <a:rPr sz="850" b="0">
                          <a:solidFill>
                            <a:srgbClr val="4B4B4B"/>
                          </a:solidFill>
                          <a:latin typeface="Arial"/>
                        </a:rPr>
                        <a:t>Data Steward</a:t>
                      </a:r>
                    </a:p>
                  </a:txBody>
                  <a:tcPr marL="54864" marR="54864" marT="27432" marB="27432">
                    <a:solidFill>
                      <a:srgbClr val="E5F5FF"/>
                    </a:solidFill>
                  </a:tcPr>
                </a:tc>
                <a:tc>
                  <a:txBody>
                    <a:bodyPr/>
                    <a:lstStyle/>
                    <a:p>
                      <a:r>
                        <a:rPr sz="850" b="0">
                          <a:solidFill>
                            <a:srgbClr val="4B4B4B"/>
                          </a:solidFill>
                          <a:latin typeface="Arial"/>
                        </a:rPr>
                        <a:t>Validated</a:t>
                      </a:r>
                    </a:p>
                  </a:txBody>
                  <a:tcPr marL="54864" marR="54864" marT="27432" marB="27432">
                    <a:solidFill>
                      <a:srgbClr val="E5F5FF"/>
                    </a:solidFill>
                  </a:tcPr>
                </a:tc>
                <a:tc>
                  <a:txBody>
                    <a:bodyPr/>
                    <a:lstStyle/>
                    <a:p>
                      <a:r>
                        <a:rPr sz="850" b="0">
                          <a:solidFill>
                            <a:srgbClr val="4B4B4B"/>
                          </a:solidFill>
                          <a:latin typeface="Arial"/>
                        </a:rPr>
                        <a:t>Signs gate G3: the error rate is within the limit, no mandatory code is unmapped and no client pair waits for review</a:t>
                      </a:r>
                    </a:p>
                  </a:txBody>
                  <a:tcPr marL="54864" marR="54864" marT="27432" marB="27432">
                    <a:solidFill>
                      <a:srgbClr val="E5F5FF"/>
                    </a:solidFill>
                  </a:tcPr>
                </a:tc>
                <a:tc>
                  <a:txBody>
                    <a:bodyPr/>
                    <a:lstStyle/>
                    <a:p>
                      <a:r>
                        <a:rPr sz="850" b="0">
                          <a:solidFill>
                            <a:srgbClr val="4B4B4B"/>
                          </a:solidFill>
                          <a:latin typeface="Arial"/>
                        </a:rPr>
                        <a:t>Validated (G3 signed)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 Load</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Validated, by a user other than the validator</a:t>
                      </a:r>
                    </a:p>
                  </a:txBody>
                  <a:tcPr marL="54864" marR="54864" marT="27432" marB="27432">
                    <a:solidFill>
                      <a:srgbClr val="FFFFFF"/>
                    </a:solidFill>
                  </a:tcPr>
                </a:tc>
                <a:tc>
                  <a:txBody>
                    <a:bodyPr/>
                    <a:lstStyle/>
                    <a:p>
                      <a:r>
                        <a:rPr sz="850" b="0">
                          <a:solidFill>
                            <a:srgbClr val="4B4B4B"/>
                          </a:solidFill>
                          <a:latin typeface="Arial"/>
                        </a:rPr>
                        <a:t>Signs gate G4: the batch may be loaded by an operator other than the approver</a:t>
                      </a:r>
                    </a:p>
                  </a:txBody>
                  <a:tcPr marL="54864" marR="54864" marT="27432" marB="27432">
                    <a:solidFill>
                      <a:srgbClr val="FFFFFF"/>
                    </a:solidFill>
                  </a:tcPr>
                </a:tc>
                <a:tc>
                  <a:txBody>
                    <a:bodyPr/>
                    <a:lstStyle/>
                    <a:p>
                      <a:r>
                        <a:rPr sz="850" b="0">
                          <a:solidFill>
                            <a:srgbClr val="4B4B4B"/>
                          </a:solidFill>
                          <a:latin typeface="Arial"/>
                        </a:rPr>
                        <a:t>Load approved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Load</a:t>
                      </a:r>
                    </a:p>
                  </a:txBody>
                  <a:tcPr marL="54864" marR="54864" marT="27432" marB="27432">
                    <a:solidFill>
                      <a:srgbClr val="E5F5FF"/>
                    </a:solidFill>
                  </a:tcPr>
                </a:tc>
                <a:tc>
                  <a:txBody>
                    <a:bodyPr/>
                    <a:lstStyle/>
                    <a:p>
                      <a:r>
                        <a:rPr sz="850" b="0">
                          <a:solidFill>
                            <a:srgbClr val="4B4B4B"/>
                          </a:solidFill>
                          <a:latin typeface="Arial"/>
                        </a:rPr>
                        <a:t>Migration Operator</a:t>
                      </a:r>
                    </a:p>
                  </a:txBody>
                  <a:tcPr marL="54864" marR="54864" marT="27432" marB="27432">
                    <a:solidFill>
                      <a:srgbClr val="E5F5FF"/>
                    </a:solidFill>
                  </a:tcPr>
                </a:tc>
                <a:tc>
                  <a:txBody>
                    <a:bodyPr/>
                    <a:lstStyle/>
                    <a:p>
                      <a:r>
                        <a:rPr sz="850" b="0">
                          <a:solidFill>
                            <a:srgbClr val="4B4B4B"/>
                          </a:solidFill>
                          <a:latin typeface="Arial"/>
                        </a:rPr>
                        <a:t>Load approved, by a user other than the approver</a:t>
                      </a:r>
                    </a:p>
                  </a:txBody>
                  <a:tcPr marL="54864" marR="54864" marT="27432" marB="27432">
                    <a:solidFill>
                      <a:srgbClr val="E5F5FF"/>
                    </a:solidFill>
                  </a:tcPr>
                </a:tc>
                <a:tc>
                  <a:txBody>
                    <a:bodyPr/>
                    <a:lstStyle/>
                    <a:p>
                      <a:r>
                        <a:rPr sz="850" b="0">
                          <a:solidFill>
                            <a:srgbClr val="4B4B4B"/>
                          </a:solidFill>
                          <a:latin typeface="Arial"/>
                        </a:rPr>
                        <a:t>Loads the valid rows through the BIBS services without notifications, then reconciles the batch</a:t>
                      </a:r>
                    </a:p>
                  </a:txBody>
                  <a:tcPr marL="54864" marR="54864" marT="27432" marB="27432">
                    <a:solidFill>
                      <a:srgbClr val="E5F5FF"/>
                    </a:solidFill>
                  </a:tcPr>
                </a:tc>
                <a:tc>
                  <a:txBody>
                    <a:bodyPr/>
                    <a:lstStyle/>
                    <a:p>
                      <a:r>
                        <a:rPr sz="850" b="0">
                          <a:solidFill>
                            <a:srgbClr val="4B4B4B"/>
                          </a:solidFill>
                          <a:latin typeface="Arial"/>
                        </a:rPr>
                        <a:t>Loaded or Loaded with rejects</a:t>
                      </a:r>
                    </a:p>
                  </a:txBody>
                  <a:tcPr marL="54864" marR="54864" marT="27432" marB="27432">
                    <a:solidFill>
                      <a:srgbClr val="E5F5FF"/>
                    </a:solidFill>
                  </a:tcPr>
                </a:tc>
                <a:tc>
                  <a:txBody>
                    <a:bodyPr/>
                    <a:lstStyle/>
                    <a:p>
                      <a:r>
                        <a:rPr sz="850" b="0">
                          <a:solidFill>
                            <a:srgbClr val="4B4B4B"/>
                          </a:solidFill>
                          <a:latin typeface="Arial"/>
                        </a:rPr>
                        <a:t>Alert Load failed when a chunk fails</a:t>
                      </a:r>
                    </a:p>
                  </a:txBody>
                  <a:tcPr marL="54864" marR="54864" marT="27432" marB="27432">
                    <a:solidFill>
                      <a:srgbClr val="E5F5FF"/>
                    </a:solidFill>
                  </a:tcPr>
                </a:tc>
              </a:tr>
              <a:tr h="350518">
                <a:tc>
                  <a:txBody>
                    <a:bodyPr/>
                    <a:lstStyle/>
                    <a:p>
                      <a:r>
                        <a:rPr sz="850" b="0">
                          <a:solidFill>
                            <a:srgbClr val="4B4B4B"/>
                          </a:solidFill>
                          <a:latin typeface="Arial"/>
                        </a:rPr>
                        <a:t>Reconcile</a:t>
                      </a:r>
                    </a:p>
                  </a:txBody>
                  <a:tcPr marL="54864" marR="54864" marT="27432" marB="27432">
                    <a:solidFill>
                      <a:srgbClr val="FFFFFF"/>
                    </a:solidFill>
                  </a:tcPr>
                </a:tc>
                <a:tc>
                  <a:txBody>
                    <a:bodyPr/>
                    <a:lstStyle/>
                    <a:p>
                      <a:r>
                        <a:rPr sz="850" b="0">
                          <a:solidFill>
                            <a:srgbClr val="4B4B4B"/>
                          </a:solidFill>
                          <a:latin typeface="Arial"/>
                        </a:rPr>
                        <a:t>Migration Operator</a:t>
                      </a:r>
                    </a:p>
                  </a:txBody>
                  <a:tcPr marL="54864" marR="54864" marT="27432" marB="27432">
                    <a:solidFill>
                      <a:srgbClr val="FFFFFF"/>
                    </a:solidFill>
                  </a:tcPr>
                </a:tc>
                <a:tc>
                  <a:txBody>
                    <a:bodyPr/>
                    <a:lstStyle/>
                    <a:p>
                      <a:r>
                        <a:rPr sz="850" b="0">
                          <a:solidFill>
                            <a:srgbClr val="4B4B4B"/>
                          </a:solidFill>
                          <a:latin typeface="Arial"/>
                        </a:rPr>
                        <a:t>Loaded, Loaded with rejects or Reconciled</a:t>
                      </a:r>
                    </a:p>
                  </a:txBody>
                  <a:tcPr marL="54864" marR="54864" marT="27432" marB="27432">
                    <a:solidFill>
                      <a:srgbClr val="FFFFFF"/>
                    </a:solidFill>
                  </a:tcPr>
                </a:tc>
                <a:tc>
                  <a:txBody>
                    <a:bodyPr/>
                    <a:lstStyle/>
                    <a:p>
                      <a:r>
                        <a:rPr sz="850" b="0">
                          <a:solidFill>
                            <a:srgbClr val="4B4B4B"/>
                          </a:solidFill>
                          <a:latin typeface="Arial"/>
                        </a:rPr>
                        <a:t>Compares counts, amounts, hash totals and fields again between the source, the staging and BIBS</a:t>
                      </a:r>
                    </a:p>
                  </a:txBody>
                  <a:tcPr marL="54864" marR="54864" marT="27432" marB="27432">
                    <a:solidFill>
                      <a:srgbClr val="FFFFFF"/>
                    </a:solidFill>
                  </a:tcPr>
                </a:tc>
                <a:tc>
                  <a:txBody>
                    <a:bodyPr/>
                    <a:lstStyle/>
                    <a:p>
                      <a:r>
                        <a:rPr sz="850" b="0">
                          <a:solidFill>
                            <a:srgbClr val="4B4B4B"/>
                          </a:solidFill>
                          <a:latin typeface="Arial"/>
                        </a:rPr>
                        <a:t>Reconciled when no break is open</a:t>
                      </a:r>
                    </a:p>
                  </a:txBody>
                  <a:tcPr marL="54864" marR="54864" marT="27432" marB="27432">
                    <a:solidFill>
                      <a:srgbClr val="FFFFFF"/>
                    </a:solidFill>
                  </a:tcPr>
                </a:tc>
                <a:tc>
                  <a:txBody>
                    <a:bodyPr/>
                    <a:lstStyle/>
                    <a:p>
                      <a:r>
                        <a:rPr sz="850" b="0">
                          <a:solidFill>
                            <a:srgbClr val="4B4B4B"/>
                          </a:solidFill>
                          <a:latin typeface="Arial"/>
                        </a:rPr>
                        <a:t>Alert Reconciliation break</a:t>
                      </a:r>
                    </a:p>
                  </a:txBody>
                  <a:tcPr marL="54864" marR="54864" marT="27432" marB="27432">
                    <a:solidFill>
                      <a:srgbClr val="FFFFFF"/>
                    </a:solidFill>
                  </a:tcPr>
                </a:tc>
              </a:tr>
              <a:tr h="220979">
                <a:tc>
                  <a:txBody>
                    <a:bodyPr/>
                    <a:lstStyle/>
                    <a:p>
                      <a:r>
                        <a:rPr sz="850" b="0">
                          <a:solidFill>
                            <a:srgbClr val="4B4B4B"/>
                          </a:solidFill>
                          <a:latin typeface="Arial"/>
                        </a:rPr>
                        <a:t>Rerun Rejects</a:t>
                      </a:r>
                    </a:p>
                  </a:txBody>
                  <a:tcPr marL="54864" marR="54864" marT="27432" marB="27432">
                    <a:solidFill>
                      <a:srgbClr val="E5F5FF"/>
                    </a:solidFill>
                  </a:tcPr>
                </a:tc>
                <a:tc>
                  <a:txBody>
                    <a:bodyPr/>
                    <a:lstStyle/>
                    <a:p>
                      <a:r>
                        <a:rPr sz="850" b="0">
                          <a:solidFill>
                            <a:srgbClr val="4B4B4B"/>
                          </a:solidFill>
                          <a:latin typeface="Arial"/>
                        </a:rPr>
                        <a:t>Migration Operator</a:t>
                      </a:r>
                    </a:p>
                  </a:txBody>
                  <a:tcPr marL="54864" marR="54864" marT="27432" marB="27432">
                    <a:solidFill>
                      <a:srgbClr val="E5F5FF"/>
                    </a:solidFill>
                  </a:tcPr>
                </a:tc>
                <a:tc>
                  <a:txBody>
                    <a:bodyPr/>
                    <a:lstStyle/>
                    <a:p>
                      <a:r>
                        <a:rPr sz="850" b="0">
                          <a:solidFill>
                            <a:srgbClr val="4B4B4B"/>
                          </a:solidFill>
                          <a:latin typeface="Arial"/>
                        </a:rPr>
                        <a:t>Rejected rows exist</a:t>
                      </a:r>
                    </a:p>
                  </a:txBody>
                  <a:tcPr marL="54864" marR="54864" marT="27432" marB="27432">
                    <a:solidFill>
                      <a:srgbClr val="E5F5FF"/>
                    </a:solidFill>
                  </a:tcPr>
                </a:tc>
                <a:tc>
                  <a:txBody>
                    <a:bodyPr/>
                    <a:lstStyle/>
                    <a:p>
                      <a:r>
                        <a:rPr sz="850" b="0">
                          <a:solidFill>
                            <a:srgbClr val="4B4B4B"/>
                          </a:solidFill>
                          <a:latin typeface="Arial"/>
                        </a:rPr>
                        <a:t>Plans a new batch of the rejected rows for validation and load</a:t>
                      </a:r>
                    </a:p>
                  </a:txBody>
                  <a:tcPr marL="54864" marR="54864" marT="27432" marB="27432">
                    <a:solidFill>
                      <a:srgbClr val="E5F5FF"/>
                    </a:solidFill>
                  </a:tcPr>
                </a:tc>
                <a:tc>
                  <a:txBody>
                    <a:bodyPr/>
                    <a:lstStyle/>
                    <a:p>
                      <a:r>
                        <a:rPr sz="850" b="0">
                          <a:solidFill>
                            <a:srgbClr val="4B4B4B"/>
                          </a:solidFill>
                          <a:latin typeface="Arial"/>
                        </a:rPr>
                        <a:t>Planned (rerun batch)</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Sign Reconciliation</a:t>
                      </a:r>
                    </a:p>
                  </a:txBody>
                  <a:tcPr marL="54864" marR="54864" marT="27432" marB="27432">
                    <a:solidFill>
                      <a:srgbClr val="FFFFFF"/>
                    </a:solidFill>
                  </a:tcPr>
                </a:tc>
                <a:tc>
                  <a:txBody>
                    <a:bodyPr/>
                    <a:lstStyle/>
                    <a:p>
                      <a:r>
                        <a:rPr sz="850" b="0">
                          <a:solidFill>
                            <a:srgbClr val="4B4B4B"/>
                          </a:solidFill>
                          <a:latin typeface="Arial"/>
                        </a:rPr>
                        <a:t>Reconciliation approver</a:t>
                      </a:r>
                    </a:p>
                  </a:txBody>
                  <a:tcPr marL="54864" marR="54864" marT="27432" marB="27432">
                    <a:solidFill>
                      <a:srgbClr val="FFFFFF"/>
                    </a:solidFill>
                  </a:tcPr>
                </a:tc>
                <a:tc>
                  <a:txBody>
                    <a:bodyPr/>
                    <a:lstStyle/>
                    <a:p>
                      <a:r>
                        <a:rPr sz="850" b="0">
                          <a:solidFill>
                            <a:srgbClr val="4B4B4B"/>
                          </a:solidFill>
                          <a:latin typeface="Arial"/>
                        </a:rPr>
                        <a:t>Loaded and every break explained and approved</a:t>
                      </a:r>
                    </a:p>
                  </a:txBody>
                  <a:tcPr marL="54864" marR="54864" marT="27432" marB="27432">
                    <a:solidFill>
                      <a:srgbClr val="FFFFFF"/>
                    </a:solidFill>
                  </a:tcPr>
                </a:tc>
                <a:tc>
                  <a:txBody>
                    <a:bodyPr/>
                    <a:lstStyle/>
                    <a:p>
                      <a:r>
                        <a:rPr sz="850" b="0">
                          <a:solidFill>
                            <a:srgbClr val="4B4B4B"/>
                          </a:solidFill>
                          <a:latin typeface="Arial"/>
                        </a:rPr>
                        <a:t>Signs gate G5</a:t>
                      </a:r>
                    </a:p>
                  </a:txBody>
                  <a:tcPr marL="54864" marR="54864" marT="27432" marB="27432">
                    <a:solidFill>
                      <a:srgbClr val="FFFFFF"/>
                    </a:solidFill>
                  </a:tcPr>
                </a:tc>
                <a:tc>
                  <a:txBody>
                    <a:bodyPr/>
                    <a:lstStyle/>
                    <a:p>
                      <a:r>
                        <a:rPr sz="850" b="0">
                          <a:solidFill>
                            <a:srgbClr val="4B4B4B"/>
                          </a:solidFill>
                          <a:latin typeface="Arial"/>
                        </a:rPr>
                        <a:t>Reconciled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Accept as Data Owner, Accept as Migration Lead</a:t>
                      </a:r>
                    </a:p>
                  </a:txBody>
                  <a:tcPr marL="54864" marR="54864" marT="27432" marB="27432">
                    <a:solidFill>
                      <a:srgbClr val="E5F5FF"/>
                    </a:solidFill>
                  </a:tcPr>
                </a:tc>
                <a:tc>
                  <a:txBody>
                    <a:bodyPr/>
                    <a:lstStyle/>
                    <a:p>
                      <a:r>
                        <a:rPr sz="850" b="0">
                          <a:solidFill>
                            <a:srgbClr val="4B4B4B"/>
                          </a:solidFill>
                          <a:latin typeface="Arial"/>
                        </a:rPr>
                        <a:t>Data owner; Data Migration Lead</a:t>
                      </a:r>
                    </a:p>
                  </a:txBody>
                  <a:tcPr marL="54864" marR="54864" marT="27432" marB="27432">
                    <a:solidFill>
                      <a:srgbClr val="E5F5FF"/>
                    </a:solidFill>
                  </a:tcPr>
                </a:tc>
                <a:tc>
                  <a:txBody>
                    <a:bodyPr/>
                    <a:lstStyle/>
                    <a:p>
                      <a:r>
                        <a:rPr sz="850" b="0">
                          <a:solidFill>
                            <a:srgbClr val="4B4B4B"/>
                          </a:solidFill>
                          <a:latin typeface="Arial"/>
                        </a:rPr>
                        <a:t>Reconciled</a:t>
                      </a:r>
                    </a:p>
                  </a:txBody>
                  <a:tcPr marL="54864" marR="54864" marT="27432" marB="27432">
                    <a:solidFill>
                      <a:srgbClr val="E5F5FF"/>
                    </a:solidFill>
                  </a:tcPr>
                </a:tc>
                <a:tc>
                  <a:txBody>
                    <a:bodyPr/>
                    <a:lstStyle/>
                    <a:p>
                      <a:r>
                        <a:rPr sz="850" b="0">
                          <a:solidFill>
                            <a:srgbClr val="4B4B4B"/>
                          </a:solidFill>
                          <a:latin typeface="Arial"/>
                        </a:rPr>
                        <a:t>Sign gate G6; with both acceptances the object is accepted and its staging data is purged after the retention days</a:t>
                      </a:r>
                    </a:p>
                  </a:txBody>
                  <a:tcPr marL="54864" marR="54864" marT="27432" marB="27432">
                    <a:solidFill>
                      <a:srgbClr val="E5F5FF"/>
                    </a:solidFill>
                  </a:tcPr>
                </a:tc>
                <a:tc>
                  <a:txBody>
                    <a:bodyPr/>
                    <a:lstStyle/>
                    <a:p>
                      <a:r>
                        <a:rPr sz="850" b="0">
                          <a:solidFill>
                            <a:srgbClr val="4B4B4B"/>
                          </a:solidFill>
                          <a:latin typeface="Arial"/>
                        </a:rPr>
                        <a:t>Accepted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Request Rollback</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Loaded, Reconciled, Accepted or Failed</a:t>
                      </a:r>
                    </a:p>
                  </a:txBody>
                  <a:tcPr marL="54864" marR="54864" marT="27432" marB="27432">
                    <a:solidFill>
                      <a:srgbClr val="FFFFFF"/>
                    </a:solidFill>
                  </a:tcPr>
                </a:tc>
                <a:tc>
                  <a:txBody>
                    <a:bodyPr/>
                    <a:lstStyle/>
                    <a:p>
                      <a:r>
                        <a:rPr sz="850" b="0">
                          <a:solidFill>
                            <a:srgbClr val="4B4B4B"/>
                          </a:solidFill>
                          <a:latin typeface="Arial"/>
                        </a:rPr>
                        <a:t>Asks for the records loaded by the batch to be undone, with the reason</a:t>
                      </a:r>
                    </a:p>
                  </a:txBody>
                  <a:tcPr marL="54864" marR="54864" marT="27432" marB="27432">
                    <a:solidFill>
                      <a:srgbClr val="FFFFFF"/>
                    </a:solidFill>
                  </a:tcPr>
                </a:tc>
                <a:tc>
                  <a:txBody>
                    <a:bodyPr/>
                    <a:lstStyle/>
                    <a:p>
                      <a:r>
                        <a:rPr sz="850" b="0">
                          <a:solidFill>
                            <a:srgbClr val="4B4B4B"/>
                          </a:solidFill>
                          <a:latin typeface="Arial"/>
                        </a:rPr>
                        <a:t>Rollback requested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Approve Rollback, Reject Rollback</a:t>
                      </a:r>
                    </a:p>
                  </a:txBody>
                  <a:tcPr marL="54864" marR="54864" marT="27432" marB="27432">
                    <a:solidFill>
                      <a:srgbClr val="E5F5FF"/>
                    </a:solidFill>
                  </a:tcPr>
                </a:tc>
                <a:tc>
                  <a:txBody>
                    <a:bodyPr/>
                    <a:lstStyle/>
                    <a:p>
                      <a:r>
                        <a:rPr sz="850" b="0">
                          <a:solidFill>
                            <a:srgbClr val="4B4B4B"/>
                          </a:solidFill>
                          <a:latin typeface="Arial"/>
                        </a:rPr>
                        <a:t>Reconciliation approver</a:t>
                      </a:r>
                    </a:p>
                  </a:txBody>
                  <a:tcPr marL="54864" marR="54864" marT="27432" marB="27432">
                    <a:solidFill>
                      <a:srgbClr val="E5F5FF"/>
                    </a:solidFill>
                  </a:tcPr>
                </a:tc>
                <a:tc>
                  <a:txBody>
                    <a:bodyPr/>
                    <a:lstStyle/>
                    <a:p>
                      <a:r>
                        <a:rPr sz="850" b="0">
                          <a:solidFill>
                            <a:srgbClr val="4B4B4B"/>
                          </a:solidFill>
                          <a:latin typeface="Arial"/>
                        </a:rPr>
                        <a:t>Rollback requested by another user</a:t>
                      </a:r>
                    </a:p>
                  </a:txBody>
                  <a:tcPr marL="54864" marR="54864" marT="27432" marB="27432">
                    <a:solidFill>
                      <a:srgbClr val="E5F5FF"/>
                    </a:solidFill>
                  </a:tcPr>
                </a:tc>
                <a:tc>
                  <a:txBody>
                    <a:bodyPr/>
                    <a:lstStyle/>
                    <a:p>
                      <a:r>
                        <a:rPr sz="850" b="0">
                          <a:solidFill>
                            <a:srgbClr val="4B4B4B"/>
                          </a:solidFill>
                          <a:latin typeface="Arial"/>
                        </a:rPr>
                        <a:t>Undoes the records loaded by the batch through the BIBS services, or keeps the batch loaded with the reason</a:t>
                      </a:r>
                    </a:p>
                  </a:txBody>
                  <a:tcPr marL="54864" marR="54864" marT="27432" marB="27432">
                    <a:solidFill>
                      <a:srgbClr val="E5F5FF"/>
                    </a:solidFill>
                  </a:tcPr>
                </a:tc>
                <a:tc>
                  <a:txBody>
                    <a:bodyPr/>
                    <a:lstStyle/>
                    <a:p>
                      <a:r>
                        <a:rPr sz="850" b="0">
                          <a:solidFill>
                            <a:srgbClr val="4B4B4B"/>
                          </a:solidFill>
                          <a:latin typeface="Arial"/>
                        </a:rPr>
                        <a:t>Rolled back, or the previous status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Rejects</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The batch has rejected or invalid rows</a:t>
                      </a:r>
                    </a:p>
                  </a:txBody>
                  <a:tcPr marL="54864" marR="54864" marT="27432" marB="27432">
                    <a:solidFill>
                      <a:srgbClr val="FFFFFF"/>
                    </a:solidFill>
                  </a:tcPr>
                </a:tc>
                <a:tc>
                  <a:txBody>
                    <a:bodyPr/>
                    <a:lstStyle/>
                    <a:p>
                      <a:r>
                        <a:rPr sz="850" b="0">
                          <a:solidFill>
                            <a:srgbClr val="4B4B4B"/>
                          </a:solidFill>
                          <a:latin typeface="Arial"/>
                        </a:rPr>
                        <a:t>Downloads the rejected rows with their messages and the correction columns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Fixed at Source</a:t>
                      </a:r>
                    </a:p>
                  </a:txBody>
                  <a:tcPr marL="54864" marR="54864" marT="27432" marB="27432">
                    <a:solidFill>
                      <a:srgbClr val="E5F5FF"/>
                    </a:solidFill>
                  </a:tcPr>
                </a:tc>
                <a:tc>
                  <a:txBody>
                    <a:bodyPr/>
                    <a:lstStyle/>
                    <a:p>
                      <a:r>
                        <a:rPr sz="850" b="0">
                          <a:solidFill>
                            <a:srgbClr val="4B4B4B"/>
                          </a:solidFill>
                          <a:latin typeface="Arial"/>
                        </a:rPr>
                        <a:t>Data Steward</a:t>
                      </a:r>
                    </a:p>
                  </a:txBody>
                  <a:tcPr marL="54864" marR="54864" marT="27432" marB="27432">
                    <a:solidFill>
                      <a:srgbClr val="E5F5FF"/>
                    </a:solidFill>
                  </a:tcPr>
                </a:tc>
                <a:tc>
                  <a:txBody>
                    <a:bodyPr/>
                    <a:lstStyle/>
                    <a:p>
                      <a:r>
                        <a:rPr sz="850" b="0">
                          <a:solidFill>
                            <a:srgbClr val="4B4B4B"/>
                          </a:solidFill>
                          <a:latin typeface="Arial"/>
                        </a:rPr>
                        <a:t>Issue open</a:t>
                      </a:r>
                    </a:p>
                  </a:txBody>
                  <a:tcPr marL="54864" marR="54864" marT="27432" marB="27432">
                    <a:solidFill>
                      <a:srgbClr val="E5F5FF"/>
                    </a:solidFill>
                  </a:tcPr>
                </a:tc>
                <a:tc>
                  <a:txBody>
                    <a:bodyPr/>
                    <a:lstStyle/>
                    <a:p>
                      <a:r>
                        <a:rPr sz="850" b="0">
                          <a:solidFill>
                            <a:srgbClr val="4B4B4B"/>
                          </a:solidFill>
                          <a:latin typeface="Arial"/>
                        </a:rPr>
                        <a:t>Records that the legacy source is corrected, with a note</a:t>
                      </a:r>
                    </a:p>
                  </a:txBody>
                  <a:tcPr marL="54864" marR="54864" marT="27432" marB="27432">
                    <a:solidFill>
                      <a:srgbClr val="E5F5FF"/>
                    </a:solidFill>
                  </a:tcPr>
                </a:tc>
                <a:tc>
                  <a:txBody>
                    <a:bodyPr/>
                    <a:lstStyle/>
                    <a:p>
                      <a:r>
                        <a:rPr sz="850" b="0">
                          <a:solidFill>
                            <a:srgbClr val="4B4B4B"/>
                          </a:solidFill>
                          <a:latin typeface="Arial"/>
                        </a:rPr>
                        <a:t>Issue Fixed at source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Waive Rows, Exclude Rows</a:t>
                      </a:r>
                    </a:p>
                  </a:txBody>
                  <a:tcPr marL="54864" marR="54864" marT="27432" marB="27432">
                    <a:solidFill>
                      <a:srgbClr val="FFFFFF"/>
                    </a:solidFill>
                  </a:tcPr>
                </a:tc>
                <a:tc>
                  <a:txBody>
                    <a:bodyPr/>
                    <a:lstStyle/>
                    <a:p>
                      <a:r>
                        <a:rPr sz="850" b="0">
                          <a:solidFill>
                            <a:srgbClr val="4B4B4B"/>
                          </a:solidFill>
                          <a:latin typeface="Arial"/>
                        </a:rPr>
                        <a:t>Data owner</a:t>
                      </a:r>
                    </a:p>
                  </a:txBody>
                  <a:tcPr marL="54864" marR="54864" marT="27432" marB="27432">
                    <a:solidFill>
                      <a:srgbClr val="FFFFFF"/>
                    </a:solidFill>
                  </a:tcPr>
                </a:tc>
                <a:tc>
                  <a:txBody>
                    <a:bodyPr/>
                    <a:lstStyle/>
                    <a:p>
                      <a:r>
                        <a:rPr sz="850" b="0">
                          <a:solidFill>
                            <a:srgbClr val="4B4B4B"/>
                          </a:solidFill>
                          <a:latin typeface="Arial"/>
                        </a:rPr>
                        <a:t>Batch validated; rows selected</a:t>
                      </a:r>
                    </a:p>
                  </a:txBody>
                  <a:tcPr marL="54864" marR="54864" marT="27432" marB="27432">
                    <a:solidFill>
                      <a:srgbClr val="FFFFFF"/>
                    </a:solidFill>
                  </a:tcPr>
                </a:tc>
                <a:tc>
                  <a:txBody>
                    <a:bodyPr/>
                    <a:lstStyle/>
                    <a:p>
                      <a:r>
                        <a:rPr sz="850" b="0">
                          <a:solidFill>
                            <a:srgbClr val="4B4B4B"/>
                          </a:solidFill>
                          <a:latin typeface="Arial"/>
                        </a:rPr>
                        <a:t>Loads the rows despite their errors (waiver), or leaves them out with a manual-entry plan</a:t>
                      </a:r>
                    </a:p>
                  </a:txBody>
                  <a:tcPr marL="54864" marR="54864" marT="27432" marB="27432">
                    <a:solidFill>
                      <a:srgbClr val="FFFFFF"/>
                    </a:solidFill>
                  </a:tcPr>
                </a:tc>
                <a:tc>
                  <a:txBody>
                    <a:bodyPr/>
                    <a:lstStyle/>
                    <a:p>
                      <a:r>
                        <a:rPr sz="850" b="0">
                          <a:solidFill>
                            <a:srgbClr val="4B4B4B"/>
                          </a:solidFill>
                          <a:latin typeface="Arial"/>
                        </a:rPr>
                        <a:t>Rows Waived or Excluded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Resubmit Corrected Rows</a:t>
                      </a:r>
                    </a:p>
                  </a:txBody>
                  <a:tcPr marL="54864" marR="54864" marT="27432" marB="27432">
                    <a:solidFill>
                      <a:srgbClr val="E5F5FF"/>
                    </a:solidFill>
                  </a:tcPr>
                </a:tc>
                <a:tc>
                  <a:txBody>
                    <a:bodyPr/>
                    <a:lstStyle/>
                    <a:p>
                      <a:r>
                        <a:rPr sz="850" b="0">
                          <a:solidFill>
                            <a:srgbClr val="4B4B4B"/>
                          </a:solidFill>
                          <a:latin typeface="Arial"/>
                        </a:rPr>
                        <a:t>Data Steward or Migration Operator</a:t>
                      </a:r>
                    </a:p>
                  </a:txBody>
                  <a:tcPr marL="54864" marR="54864" marT="27432" marB="27432">
                    <a:solidFill>
                      <a:srgbClr val="E5F5FF"/>
                    </a:solidFill>
                  </a:tcPr>
                </a:tc>
                <a:tc>
                  <a:txBody>
                    <a:bodyPr/>
                    <a:lstStyle/>
                    <a:p>
                      <a:r>
                        <a:rPr sz="850" b="0">
                          <a:solidFill>
                            <a:srgbClr val="4B4B4B"/>
                          </a:solidFill>
                          <a:latin typeface="Arial"/>
                        </a:rPr>
                        <a:t>The batch has rejected rows</a:t>
                      </a:r>
                    </a:p>
                  </a:txBody>
                  <a:tcPr marL="54864" marR="54864" marT="27432" marB="27432">
                    <a:solidFill>
                      <a:srgbClr val="E5F5FF"/>
                    </a:solidFill>
                  </a:tcPr>
                </a:tc>
                <a:tc>
                  <a:txBody>
                    <a:bodyPr/>
                    <a:lstStyle/>
                    <a:p>
                      <a:r>
                        <a:rPr sz="850" b="0">
                          <a:solidFill>
                            <a:srgbClr val="4B4B4B"/>
                          </a:solidFill>
                          <a:latin typeface="Arial"/>
                        </a:rPr>
                        <a:t>Prepares a resubmission of the corrected rows for the checker</a:t>
                      </a:r>
                    </a:p>
                  </a:txBody>
                  <a:tcPr marL="54864" marR="54864" marT="27432" marB="27432">
                    <a:solidFill>
                      <a:srgbClr val="E5F5FF"/>
                    </a:solidFill>
                  </a:tcPr>
                </a:tc>
                <a:tc>
                  <a:txBody>
                    <a:bodyPr/>
                    <a:lstStyle/>
                    <a:p>
                      <a:r>
                        <a:rPr sz="850" b="0">
                          <a:solidFill>
                            <a:srgbClr val="4B4B4B"/>
                          </a:solidFill>
                          <a:latin typeface="Arial"/>
                        </a:rPr>
                        <a:t>Resubmission Prepared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actions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215</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Attach</a:t>
                      </a:r>
                    </a:p>
                  </a:txBody>
                  <a:tcPr marL="54864" marR="54864" marT="27432" marB="27432">
                    <a:solidFill>
                      <a:srgbClr val="FFFFFF"/>
                    </a:solidFill>
                  </a:tcPr>
                </a:tc>
                <a:tc>
                  <a:txBody>
                    <a:bodyPr/>
                    <a:lstStyle/>
                    <a:p>
                      <a:r>
                        <a:rPr sz="850" b="0">
                          <a:solidFill>
                            <a:srgbClr val="4B4B4B"/>
                          </a:solidFill>
                          <a:latin typeface="Arial"/>
                        </a:rPr>
                        <a:t>The signer of a gate</a:t>
                      </a:r>
                    </a:p>
                  </a:txBody>
                  <a:tcPr marL="54864" marR="54864" marT="27432" marB="27432">
                    <a:solidFill>
                      <a:srgbClr val="FFFFFF"/>
                    </a:solidFill>
                  </a:tcPr>
                </a:tc>
                <a:tc>
                  <a:txBody>
                    <a:bodyPr/>
                    <a:lstStyle/>
                    <a:p>
                      <a:r>
                        <a:rPr sz="850" b="0">
                          <a:solidFill>
                            <a:srgbClr val="4B4B4B"/>
                          </a:solidFill>
                          <a:latin typeface="Arial"/>
                        </a:rPr>
                        <a:t>Own gate without evidence</a:t>
                      </a:r>
                    </a:p>
                  </a:txBody>
                  <a:tcPr marL="54864" marR="54864" marT="27432" marB="27432">
                    <a:solidFill>
                      <a:srgbClr val="FFFFFF"/>
                    </a:solidFill>
                  </a:tcPr>
                </a:tc>
                <a:tc>
                  <a:txBody>
                    <a:bodyPr/>
                    <a:lstStyle/>
                    <a:p>
                      <a:r>
                        <a:rPr sz="850" b="0">
                          <a:solidFill>
                            <a:srgbClr val="4B4B4B"/>
                          </a:solidFill>
                          <a:latin typeface="Arial"/>
                        </a:rPr>
                        <a:t>Attaches the evidence file to the gate signed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216</a:t>
            </a:r>
          </a:p>
        </p:txBody>
      </p:sp>
      <p:graphicFrame>
        <p:nvGraphicFramePr>
          <p:cNvPr id="9" name="Table 8"/>
          <p:cNvGraphicFramePr>
            <a:graphicFrameLocks noGrp="1"/>
          </p:cNvGraphicFramePr>
          <p:nvPr/>
        </p:nvGraphicFramePr>
        <p:xfrm>
          <a:off x="548640" y="1325880"/>
          <a:ext cx="11094415" cy="185928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load of a batch is approved by the Data Migration Lead and run by an operator other than the approver; the validator does not approve the load (FR-DM-014).</a:t>
                      </a:r>
                    </a:p>
                  </a:txBody>
                  <a:tcPr marL="54864" marR="54864" marT="27432" marB="27432">
                    <a:solidFill>
                      <a:srgbClr val="FFFFFF"/>
                    </a:solidFill>
                  </a:tcPr>
                </a:tc>
              </a:tr>
              <a:tr h="396240">
                <a:tc>
                  <a:txBody>
                    <a:bodyPr/>
                    <a:lstStyle/>
                    <a:p>
                      <a:r>
                        <a:rPr sz="1000" b="0">
                          <a:solidFill>
                            <a:srgbClr val="4B4B4B"/>
                          </a:solidFill>
                          <a:latin typeface="Arial"/>
                        </a:rPr>
                        <a:t>Master data loads with at most 0.5 percent of rows failing or waived; open items, unapplied payments and the trial balance load with none, unless each excluded row has a manual-entry plan (FR-DM-013).</a:t>
                      </a:r>
                    </a:p>
                  </a:txBody>
                  <a:tcPr marL="54864" marR="54864" marT="27432" marB="27432">
                    <a:solidFill>
                      <a:srgbClr val="E5F5FF"/>
                    </a:solidFill>
                  </a:tcPr>
                </a:tc>
              </a:tr>
              <a:tr h="243840">
                <a:tc>
                  <a:txBody>
                    <a:bodyPr/>
                    <a:lstStyle/>
                    <a:p>
                      <a:r>
                        <a:rPr sz="1000" b="0">
                          <a:solidFill>
                            <a:srgbClr val="4B4B4B"/>
                          </a:solidFill>
                          <a:latin typeface="Arial"/>
                        </a:rPr>
                        <a:t>A row already loaded and unchanged is skipped; a rerun loads only the rejected and changed rows (FR-DM-015).</a:t>
                      </a:r>
                    </a:p>
                  </a:txBody>
                  <a:tcPr marL="54864" marR="54864" marT="27432" marB="27432">
                    <a:solidFill>
                      <a:srgbClr val="FFFFFF"/>
                    </a:solidFill>
                  </a:tcPr>
                </a:tc>
              </a:tr>
              <a:tr h="243840">
                <a:tc>
                  <a:txBody>
                    <a:bodyPr/>
                    <a:lstStyle/>
                    <a:p>
                      <a:r>
                        <a:rPr sz="1000" b="0">
                          <a:solidFill>
                            <a:srgbClr val="4B4B4B"/>
                          </a:solidFill>
                          <a:latin typeface="Arial"/>
                        </a:rPr>
                        <a:t>A rollback undoes the records of the batch newest first, unless a record was changed in BIBS since the load; the requester never approves it (FR-DM-015).</a:t>
                      </a:r>
                    </a:p>
                  </a:txBody>
                  <a:tcPr marL="54864" marR="54864" marT="27432" marB="27432">
                    <a:solidFill>
                      <a:srgbClr val="E5F5FF"/>
                    </a:solidFill>
                  </a:tcPr>
                </a:tc>
              </a:tr>
              <a:tr h="243840">
                <a:tc>
                  <a:txBody>
                    <a:bodyPr/>
                    <a:lstStyle/>
                    <a:p>
                      <a:r>
                        <a:rPr sz="1000" b="0">
                          <a:solidFill>
                            <a:srgbClr val="4B4B4B"/>
                          </a:solidFill>
                          <a:latin typeface="Arial"/>
                        </a:rPr>
                        <a:t>The operator who ran a batch cannot sign its reconciliation or acceptance; one person cannot sign two gates of one batch (FR-DM-003).</a:t>
                      </a:r>
                    </a:p>
                  </a:txBody>
                  <a:tcPr marL="54864" marR="54864" marT="27432" marB="27432">
                    <a:solidFill>
                      <a:srgbClr val="FFFFFF"/>
                    </a:solidFill>
                  </a:tcPr>
                </a:tc>
              </a:tr>
              <a:tr h="243840">
                <a:tc>
                  <a:txBody>
                    <a:bodyPr/>
                    <a:lstStyle/>
                    <a:p>
                      <a:r>
                        <a:rPr sz="1000" b="0">
                          <a:solidFill>
                            <a:srgbClr val="4B4B4B"/>
                          </a:solidFill>
                          <a:latin typeface="Arial"/>
                        </a:rPr>
                        <a:t>The reconciliation cannot be signed while a break is open (FR-DM-020).</a:t>
                      </a:r>
                    </a:p>
                  </a:txBody>
                  <a:tcPr marL="54864" marR="54864" marT="27432" marB="27432">
                    <a:solidFill>
                      <a:srgbClr val="E5F5FF"/>
                    </a:solidFill>
                  </a:tcPr>
                </a:tc>
              </a:tr>
            </a:tbl>
          </a:graphicData>
        </a:graphic>
      </p:graphicFrame>
    </p:spTree>
  </p:cSld>
  <p:clrMapOvr>
    <a:masterClrMapping/>
  </p:clrMapOvr>
</p:sld>
</file>

<file path=ppt/slides/slide2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validated batch: steps, counts, facts and the Issues tab (part 1 of 3)</a:t>
            </a:r>
          </a:p>
        </p:txBody>
      </p:sp>
    </p:spTree>
  </p:cSld>
  <p:clrMapOvr>
    <a:masterClrMapping/>
  </p:clrMapOvr>
</p:sld>
</file>

<file path=ppt/slides/slide2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3.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validated batch: steps, counts, facts and the Issues tab (part 2 of 3)</a:t>
            </a:r>
          </a:p>
        </p:txBody>
      </p:sp>
    </p:spTree>
  </p:cSld>
  <p:clrMapOvr>
    <a:masterClrMapping/>
  </p:clrMapOvr>
</p:sld>
</file>

<file path=ppt/slides/slide2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219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4.png"/>
          <p:cNvPicPr>
            <a:picLocks noChangeAspect="1"/>
          </p:cNvPicPr>
          <p:nvPr/>
        </p:nvPicPr>
        <p:blipFill>
          <a:blip r:embed="rId3"/>
          <a:stretch>
            <a:fillRect/>
          </a:stretch>
        </p:blipFill>
        <p:spPr>
          <a:xfrm>
            <a:off x="548640" y="1261872"/>
            <a:ext cx="11094415" cy="11859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validated batch: steps, counts, facts and the Issues tab (part 3 of 3)</a:t>
            </a:r>
          </a:p>
        </p:txBody>
      </p:sp>
    </p:spTree>
  </p:cSld>
  <p:clrMapOvr>
    <a:masterClrMapping/>
  </p:clrMapOvr>
</p:sld>
</file>

<file path=ppt/slides/slide2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Rows tab with the waiver and exclusion of failing rows (part 1 of 3)</a:t>
            </a:r>
          </a:p>
        </p:txBody>
      </p:sp>
    </p:spTree>
  </p:cSld>
  <p:clrMapOvr>
    <a:masterClrMapping/>
  </p:clrMapOvr>
</p:sld>
</file>

<file path=ppt/slides/slide2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6.png"/>
          <p:cNvPicPr>
            <a:picLocks noChangeAspect="1"/>
          </p:cNvPicPr>
          <p:nvPr/>
        </p:nvPicPr>
        <p:blipFill>
          <a:blip r:embed="rId3"/>
          <a:stretch>
            <a:fillRect/>
          </a:stretch>
        </p:blipFill>
        <p:spPr>
          <a:xfrm>
            <a:off x="548640" y="1261872"/>
            <a:ext cx="11094415" cy="43229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Rows tab with the waiver and exclusion of failing rows (part 2 of 3)</a:t>
            </a:r>
          </a:p>
        </p:txBody>
      </p:sp>
    </p:spTree>
  </p:cSld>
  <p:clrMapOvr>
    <a:masterClrMapping/>
  </p:clrMapOvr>
</p:sld>
</file>

<file path=ppt/slides/slide2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27.png"/>
          <p:cNvPicPr>
            <a:picLocks noChangeAspect="1"/>
          </p:cNvPicPr>
          <p:nvPr/>
        </p:nvPicPr>
        <p:blipFill>
          <a:blip r:embed="rId3"/>
          <a:stretch>
            <a:fillRect/>
          </a:stretch>
        </p:blipFill>
        <p:spPr>
          <a:xfrm>
            <a:off x="548640" y="1261872"/>
            <a:ext cx="11094415" cy="26970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Rows tab with the waiver and exclusion of failing rows (part 3 of 3)</a:t>
            </a:r>
          </a:p>
        </p:txBody>
      </p:sp>
    </p:spTree>
  </p:cSld>
  <p:clrMapOvr>
    <a:masterClrMapping/>
  </p:clrMapOvr>
</p:sld>
</file>

<file path=ppt/slides/slide2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223</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dm-07-03-waive.png"/>
          <p:cNvPicPr>
            <a:picLocks noChangeAspect="1"/>
          </p:cNvPicPr>
          <p:nvPr/>
        </p:nvPicPr>
        <p:blipFill>
          <a:blip r:embed="rId3"/>
          <a:stretch>
            <a:fillRect/>
          </a:stretch>
        </p:blipFill>
        <p:spPr>
          <a:xfrm>
            <a:off x="548640" y="1261872"/>
            <a:ext cx="11094415" cy="41969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Waive Rows dialog</a:t>
            </a:r>
          </a:p>
        </p:txBody>
      </p:sp>
    </p:spTree>
  </p:cSld>
  <p:clrMapOvr>
    <a:masterClrMapping/>
  </p:clrMapOvr>
</p:sld>
</file>

<file path=ppt/slides/slide2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224</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Sign-offs tab of an accepted batch (part 1 of 3)</a:t>
            </a:r>
          </a:p>
        </p:txBody>
      </p:sp>
    </p:spTree>
  </p:cSld>
  <p:clrMapOvr>
    <a:masterClrMapping/>
  </p:clrMapOvr>
</p:sld>
</file>

<file path=ppt/slides/slide2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225</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29.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Sign-offs tab of an accepted batch (part 2 of 3)</a:t>
            </a:r>
          </a:p>
        </p:txBody>
      </p:sp>
    </p:spTree>
  </p:cSld>
  <p:clrMapOvr>
    <a:masterClrMapping/>
  </p:clrMapOvr>
</p:sld>
</file>

<file path=ppt/slides/slide2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0.png"/>
          <p:cNvPicPr>
            <a:picLocks noChangeAspect="1"/>
          </p:cNvPicPr>
          <p:nvPr/>
        </p:nvPicPr>
        <p:blipFill>
          <a:blip r:embed="rId3"/>
          <a:stretch>
            <a:fillRect/>
          </a:stretch>
        </p:blipFill>
        <p:spPr>
          <a:xfrm>
            <a:off x="548640" y="1261872"/>
            <a:ext cx="11094415" cy="23432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Sign-offs tab of an accepted batch (part 3 of 3)</a:t>
            </a:r>
          </a:p>
        </p:txBody>
      </p:sp>
    </p:spTree>
  </p:cSld>
  <p:clrMapOvr>
    <a:masterClrMapping/>
  </p:clrMapOvr>
</p:sld>
</file>

<file path=ppt/slides/slide2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1.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 Log tab (part 1 of 4)</a:t>
            </a:r>
          </a:p>
        </p:txBody>
      </p:sp>
    </p:spTree>
  </p:cSld>
  <p:clrMapOvr>
    <a:masterClrMapping/>
  </p:clrMapOvr>
</p:sld>
</file>

<file path=ppt/slides/slide2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2.png"/>
          <p:cNvPicPr>
            <a:picLocks noChangeAspect="1"/>
          </p:cNvPicPr>
          <p:nvPr/>
        </p:nvPicPr>
        <p:blipFill>
          <a:blip r:embed="rId3"/>
          <a:stretch>
            <a:fillRect/>
          </a:stretch>
        </p:blipFill>
        <p:spPr>
          <a:xfrm>
            <a:off x="548640" y="1261872"/>
            <a:ext cx="11094415" cy="463861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 Log tab (part 2 of 4)</a:t>
            </a:r>
          </a:p>
        </p:txBody>
      </p:sp>
    </p:spTree>
  </p:cSld>
  <p:clrMapOvr>
    <a:masterClrMapping/>
  </p:clrMapOvr>
</p:sld>
</file>

<file path=ppt/slides/slide2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229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3.png"/>
          <p:cNvPicPr>
            <a:picLocks noChangeAspect="1"/>
          </p:cNvPicPr>
          <p:nvPr/>
        </p:nvPicPr>
        <p:blipFill>
          <a:blip r:embed="rId3"/>
          <a:stretch>
            <a:fillRect/>
          </a:stretch>
        </p:blipFill>
        <p:spPr>
          <a:xfrm>
            <a:off x="548640" y="1261872"/>
            <a:ext cx="11094415" cy="43995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 Log tab (part 3 of 4)</a:t>
            </a:r>
          </a:p>
        </p:txBody>
      </p:sp>
    </p:spTree>
  </p:cSld>
  <p:clrMapOvr>
    <a:masterClrMapping/>
  </p:clrMapOvr>
</p:sld>
</file>

<file path=ppt/slides/slide2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SCR-DM-07 Batch: Read-only or locked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34.png"/>
          <p:cNvPicPr>
            <a:picLocks noChangeAspect="1"/>
          </p:cNvPicPr>
          <p:nvPr/>
        </p:nvPicPr>
        <p:blipFill>
          <a:blip r:embed="rId3"/>
          <a:stretch>
            <a:fillRect/>
          </a:stretch>
        </p:blipFill>
        <p:spPr>
          <a:xfrm>
            <a:off x="548640" y="1261872"/>
            <a:ext cx="11094415" cy="6790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 Log tab (part 4 of 4)</a:t>
            </a:r>
          </a:p>
        </p:txBody>
      </p:sp>
    </p:spTree>
  </p:cSld>
  <p:clrMapOvr>
    <a:masterClrMapping/>
  </p:clrMapOvr>
</p:sld>
</file>

<file path=ppt/slides/slide2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Client Matching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231</a:t>
            </a:r>
          </a:p>
        </p:txBody>
      </p:sp>
      <p:graphicFrame>
        <p:nvGraphicFramePr>
          <p:cNvPr id="9" name="Table 8"/>
          <p:cNvGraphicFramePr>
            <a:graphicFrameLocks noGrp="1"/>
          </p:cNvGraphicFramePr>
          <p:nvPr/>
        </p:nvGraphicFramePr>
        <p:xfrm>
          <a:off x="548640" y="1307592"/>
          <a:ext cx="6434760" cy="23774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review queue of the client pairs whose match score is between the review and the automatic thresholds: two legacy client records, or a legacy record and a BIBS client, side by side with the keys that matched. The Data Steward merges them into one client or keeps them separate; the load of a client batch waits until the queue is empty.</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Steward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Client Matching</a:t>
                      </a:r>
                    </a:p>
                    <a:p>
                      <a:r>
                        <a:rPr sz="950" b="0">
                          <a:solidFill>
                            <a:srgbClr val="4B4B4B"/>
                          </a:solidFill>
                          <a:latin typeface="Arial"/>
                        </a:rPr>
                        <a:t>Migration Home › Client pairs to review</a:t>
                      </a:r>
                    </a:p>
                    <a:p>
                      <a:r>
                        <a:rPr sz="950" b="0">
                          <a:solidFill>
                            <a:srgbClr val="4B4B4B"/>
                          </a:solidFill>
                          <a:latin typeface="Arial"/>
                        </a:rPr>
                        <a:t>Batch › Client pairs to review</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19.1.8</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FR-DM-030, FR-DM-031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One BIBS client per person or company, with every legacy client number pointing to it.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232</a:t>
            </a:r>
          </a:p>
        </p:txBody>
      </p:sp>
      <p:graphicFrame>
        <p:nvGraphicFramePr>
          <p:cNvPr id="9" name="Table 8"/>
          <p:cNvGraphicFramePr>
            <a:graphicFrameLocks noGrp="1"/>
          </p:cNvGraphicFramePr>
          <p:nvPr/>
        </p:nvGraphicFramePr>
        <p:xfrm>
          <a:off x="548640" y="1325880"/>
          <a:ext cx="11094411" cy="206500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Batch, Cluster, Legacy client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Batch number; cluster number; legacy client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Matched with</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Legacy client or BIBS client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Score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60 to 89 in the queue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Queue</a:t>
                      </a:r>
                    </a:p>
                  </a:txBody>
                  <a:tcPr marL="54864" marR="54864" marT="27432" marB="27432">
                    <a:solidFill>
                      <a:srgbClr val="E5F5FF"/>
                    </a:solidFill>
                  </a:tcPr>
                </a:tc>
                <a:tc>
                  <a:txBody>
                    <a:bodyPr/>
                    <a:lstStyle/>
                    <a:p>
                      <a:r>
                        <a:rPr sz="850" b="0">
                          <a:solidFill>
                            <a:srgbClr val="4B4B4B"/>
                          </a:solidFill>
                          <a:latin typeface="Arial"/>
                        </a:rPr>
                        <a:t>Keys matched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TIN, ID, name and birth date, corporate name, CIF, e-mail, mobile, similar name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Queue</a:t>
                      </a:r>
                    </a:p>
                  </a:txBody>
                  <a:tcPr marL="54864" marR="54864" marT="27432" marB="27432">
                    <a:solidFill>
                      <a:srgbClr val="FFFFFF"/>
                    </a:solidFill>
                  </a:tcPr>
                </a:tc>
                <a:tc>
                  <a:txBody>
                    <a:bodyPr/>
                    <a:lstStyle/>
                    <a:p>
                      <a:r>
                        <a:rPr sz="850" b="0">
                          <a:solidFill>
                            <a:srgbClr val="4B4B4B"/>
                          </a:solidFill>
                          <a:latin typeface="Arial"/>
                        </a:rPr>
                        <a:t>Decision</a:t>
                      </a:r>
                    </a:p>
                  </a:txBody>
                  <a:tcPr marL="54864" marR="54864" marT="27432" marB="27432">
                    <a:solidFill>
                      <a:srgbClr val="FFFFFF"/>
                    </a:solidFill>
                  </a:tcPr>
                </a:tc>
                <a:tc>
                  <a:txBody>
                    <a:bodyPr/>
                    <a:lstStyle/>
                    <a:p>
                      <a:r>
                        <a:rPr sz="850" b="0">
                          <a:solidFill>
                            <a:srgbClr val="4B4B4B"/>
                          </a:solidFill>
                          <a:latin typeface="Arial"/>
                        </a:rPr>
                        <a:t>Pill</a:t>
                      </a:r>
                    </a:p>
                  </a:txBody>
                  <a:tcPr marL="54864" marR="54864" marT="27432" marB="27432">
                    <a:solidFill>
                      <a:srgbClr val="FFFFFF"/>
                    </a:solidFill>
                  </a:tcPr>
                </a:tc>
                <a:tc>
                  <a:txBody>
                    <a:bodyPr/>
                    <a:lstStyle/>
                    <a:p>
                      <a:r>
                        <a:rPr sz="850" b="0">
                          <a:solidFill>
                            <a:srgbClr val="4B4B4B"/>
                          </a:solidFill>
                          <a:latin typeface="Arial"/>
                        </a:rPr>
                        <a:t>To review, Merged, Kept separate, Merged automatically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Pair</a:t>
                      </a:r>
                    </a:p>
                  </a:txBody>
                  <a:tcPr marL="54864" marR="54864" marT="27432" marB="27432">
                    <a:solidFill>
                      <a:srgbClr val="E5F5FF"/>
                    </a:solidFill>
                  </a:tcPr>
                </a:tc>
                <a:tc>
                  <a:txBody>
                    <a:bodyPr/>
                    <a:lstStyle/>
                    <a:p>
                      <a:r>
                        <a:rPr sz="850" b="0">
                          <a:solidFill>
                            <a:srgbClr val="4B4B4B"/>
                          </a:solidFill>
                          <a:latin typeface="Arial"/>
                        </a:rPr>
                        <a:t>Field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Matched fields shown as tags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233</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Merge</a:t>
                      </a:r>
                    </a:p>
                  </a:txBody>
                  <a:tcPr marL="54864" marR="54864" marT="27432" marB="27432">
                    <a:solidFill>
                      <a:srgbClr val="FFFFFF"/>
                    </a:solidFill>
                  </a:tcPr>
                </a:tc>
                <a:tc>
                  <a:txBody>
                    <a:bodyPr/>
                    <a:lstStyle/>
                    <a:p>
                      <a:r>
                        <a:rPr sz="850" b="0">
                          <a:solidFill>
                            <a:srgbClr val="4B4B4B"/>
                          </a:solidFill>
                          <a:latin typeface="Arial"/>
                        </a:rPr>
                        <a:t>Data Steward</a:t>
                      </a:r>
                    </a:p>
                  </a:txBody>
                  <a:tcPr marL="54864" marR="54864" marT="27432" marB="27432">
                    <a:solidFill>
                      <a:srgbClr val="FFFFFF"/>
                    </a:solidFill>
                  </a:tcPr>
                </a:tc>
                <a:tc>
                  <a:txBody>
                    <a:bodyPr/>
                    <a:lstStyle/>
                    <a:p>
                      <a:r>
                        <a:rPr sz="850" b="0">
                          <a:solidFill>
                            <a:srgbClr val="4B4B4B"/>
                          </a:solidFill>
                          <a:latin typeface="Arial"/>
                        </a:rPr>
                        <a:t>Pair To review</a:t>
                      </a:r>
                    </a:p>
                  </a:txBody>
                  <a:tcPr marL="54864" marR="54864" marT="27432" marB="27432">
                    <a:solidFill>
                      <a:srgbClr val="FFFFFF"/>
                    </a:solidFill>
                  </a:tcPr>
                </a:tc>
                <a:tc>
                  <a:txBody>
                    <a:bodyPr/>
                    <a:lstStyle/>
                    <a:p>
                      <a:r>
                        <a:rPr sz="850" b="0">
                          <a:solidFill>
                            <a:srgbClr val="4B4B4B"/>
                          </a:solidFill>
                          <a:latin typeface="Arial"/>
                        </a:rPr>
                        <a:t>Makes the two records one BIBS client; every value that lost is kept for review</a:t>
                      </a:r>
                    </a:p>
                  </a:txBody>
                  <a:tcPr marL="54864" marR="54864" marT="27432" marB="27432">
                    <a:solidFill>
                      <a:srgbClr val="FFFFFF"/>
                    </a:solidFill>
                  </a:tcPr>
                </a:tc>
                <a:tc>
                  <a:txBody>
                    <a:bodyPr/>
                    <a:lstStyle/>
                    <a:p>
                      <a:r>
                        <a:rPr sz="850" b="0">
                          <a:solidFill>
                            <a:srgbClr val="4B4B4B"/>
                          </a:solidFill>
                          <a:latin typeface="Arial"/>
                        </a:rPr>
                        <a:t>Merged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Keep Separate</a:t>
                      </a:r>
                    </a:p>
                  </a:txBody>
                  <a:tcPr marL="54864" marR="54864" marT="27432" marB="27432">
                    <a:solidFill>
                      <a:srgbClr val="E5F5FF"/>
                    </a:solidFill>
                  </a:tcPr>
                </a:tc>
                <a:tc>
                  <a:txBody>
                    <a:bodyPr/>
                    <a:lstStyle/>
                    <a:p>
                      <a:r>
                        <a:rPr sz="850" b="0">
                          <a:solidFill>
                            <a:srgbClr val="4B4B4B"/>
                          </a:solidFill>
                          <a:latin typeface="Arial"/>
                        </a:rPr>
                        <a:t>Data Steward</a:t>
                      </a:r>
                    </a:p>
                  </a:txBody>
                  <a:tcPr marL="54864" marR="54864" marT="27432" marB="27432">
                    <a:solidFill>
                      <a:srgbClr val="E5F5FF"/>
                    </a:solidFill>
                  </a:tcPr>
                </a:tc>
                <a:tc>
                  <a:txBody>
                    <a:bodyPr/>
                    <a:lstStyle/>
                    <a:p>
                      <a:r>
                        <a:rPr sz="850" b="0">
                          <a:solidFill>
                            <a:srgbClr val="4B4B4B"/>
                          </a:solidFill>
                          <a:latin typeface="Arial"/>
                        </a:rPr>
                        <a:t>Pair To review</a:t>
                      </a:r>
                    </a:p>
                  </a:txBody>
                  <a:tcPr marL="54864" marR="54864" marT="27432" marB="27432">
                    <a:solidFill>
                      <a:srgbClr val="E5F5FF"/>
                    </a:solidFill>
                  </a:tcPr>
                </a:tc>
                <a:tc>
                  <a:txBody>
                    <a:bodyPr/>
                    <a:lstStyle/>
                    <a:p>
                      <a:r>
                        <a:rPr sz="850" b="0">
                          <a:solidFill>
                            <a:srgbClr val="4B4B4B"/>
                          </a:solidFill>
                          <a:latin typeface="Arial"/>
                        </a:rPr>
                        <a:t>Keeps two clients</a:t>
                      </a:r>
                    </a:p>
                  </a:txBody>
                  <a:tcPr marL="54864" marR="54864" marT="27432" marB="27432">
                    <a:solidFill>
                      <a:srgbClr val="E5F5FF"/>
                    </a:solidFill>
                  </a:tcPr>
                </a:tc>
                <a:tc>
                  <a:txBody>
                    <a:bodyPr/>
                    <a:lstStyle/>
                    <a:p>
                      <a:r>
                        <a:rPr sz="850" b="0">
                          <a:solidFill>
                            <a:srgbClr val="4B4B4B"/>
                          </a:solidFill>
                          <a:latin typeface="Arial"/>
                        </a:rPr>
                        <a:t>Kept separate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234</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Pairs scoring 90 or more merge automatically; 60 to 89 go to this queue; below 60 are different clients (FR-DM-031).</a:t>
                      </a:r>
                    </a:p>
                  </a:txBody>
                  <a:tcPr marL="54864" marR="54864" marT="27432" marB="27432">
                    <a:solidFill>
                      <a:srgbClr val="FFFFFF"/>
                    </a:solidFill>
                  </a:tcPr>
                </a:tc>
              </a:tr>
              <a:tr h="243840">
                <a:tc>
                  <a:txBody>
                    <a:bodyPr/>
                    <a:lstStyle/>
                    <a:p>
                      <a:r>
                        <a:rPr sz="1000" b="0">
                          <a:solidFill>
                            <a:srgbClr val="4B4B4B"/>
                          </a:solidFill>
                          <a:latin typeface="Arial"/>
                        </a:rPr>
                        <a:t>The load of a client batch is not approved while pairs wait for review (FR-DM-031).</a:t>
                      </a:r>
                    </a:p>
                  </a:txBody>
                  <a:tcPr marL="54864" marR="54864" marT="27432" marB="27432">
                    <a:solidFill>
                      <a:srgbClr val="E5F5FF"/>
                    </a:solidFill>
                  </a:tcPr>
                </a:tc>
              </a:tr>
              <a:tr h="243840">
                <a:tc>
                  <a:txBody>
                    <a:bodyPr/>
                    <a:lstStyle/>
                    <a:p>
                      <a:r>
                        <a:rPr sz="1000" b="0">
                          <a:solidFill>
                            <a:srgbClr val="4B4B4B"/>
                          </a:solidFill>
                          <a:latin typeface="Arial"/>
                        </a:rPr>
                        <a:t>Per field the surviving value is the first non-blank value by source priority, or the latest updated value (FR-DM-031).</a:t>
                      </a:r>
                    </a:p>
                  </a:txBody>
                  <a:tcPr marL="54864" marR="54864" marT="27432" marB="27432">
                    <a:solidFill>
                      <a:srgbClr val="FFFFFF"/>
                    </a:solidFill>
                  </a:tcPr>
                </a:tc>
              </a:tr>
            </a:tbl>
          </a:graphicData>
        </a:graphic>
      </p:graphicFrame>
    </p:spTree>
  </p:cSld>
  <p:clrMapOvr>
    <a:masterClrMapping/>
  </p:clrMapOvr>
</p:sld>
</file>

<file path=ppt/slides/slide2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Client Matching: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pair side by side with the matched keys marked (part 1 of 3)</a:t>
            </a:r>
          </a:p>
        </p:txBody>
      </p:sp>
    </p:spTree>
  </p:cSld>
  <p:clrMapOvr>
    <a:masterClrMapping/>
  </p:clrMapOvr>
</p:sld>
</file>

<file path=ppt/slides/slide2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Client Matching: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6.png"/>
          <p:cNvPicPr>
            <a:picLocks noChangeAspect="1"/>
          </p:cNvPicPr>
          <p:nvPr/>
        </p:nvPicPr>
        <p:blipFill>
          <a:blip r:embed="rId3"/>
          <a:stretch>
            <a:fillRect/>
          </a:stretch>
        </p:blipFill>
        <p:spPr>
          <a:xfrm>
            <a:off x="548640" y="1261872"/>
            <a:ext cx="11094415" cy="465774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pair side by side with the matched keys marked (part 2 of 3)</a:t>
            </a:r>
          </a:p>
        </p:txBody>
      </p:sp>
    </p:spTree>
  </p:cSld>
  <p:clrMapOvr>
    <a:masterClrMapping/>
  </p:clrMapOvr>
</p:sld>
</file>

<file path=ppt/slides/slide2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Client Matching: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7.png"/>
          <p:cNvPicPr>
            <a:picLocks noChangeAspect="1"/>
          </p:cNvPicPr>
          <p:nvPr/>
        </p:nvPicPr>
        <p:blipFill>
          <a:blip r:embed="rId3"/>
          <a:stretch>
            <a:fillRect/>
          </a:stretch>
        </p:blipFill>
        <p:spPr>
          <a:xfrm>
            <a:off x="548640" y="1261872"/>
            <a:ext cx="11094415" cy="6216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pair side by side with the matched keys marked (part 3 of 3)</a:t>
            </a:r>
          </a:p>
        </p:txBody>
      </p:sp>
    </p:spTree>
  </p:cSld>
  <p:clrMapOvr>
    <a:masterClrMapping/>
  </p:clrMapOvr>
</p:sld>
</file>

<file path=ppt/slides/slide2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SCR-DM-08 Client Matching: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dm-08-01-queue.png"/>
          <p:cNvPicPr>
            <a:picLocks noChangeAspect="1"/>
          </p:cNvPicPr>
          <p:nvPr/>
        </p:nvPicPr>
        <p:blipFill>
          <a:blip r:embed="rId3"/>
          <a:stretch>
            <a:fillRect/>
          </a:stretch>
        </p:blipFill>
        <p:spPr>
          <a:xfrm>
            <a:off x="548640" y="1261872"/>
            <a:ext cx="11094415" cy="271621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 pairs waiting for review</a:t>
            </a:r>
          </a:p>
        </p:txBody>
      </p:sp>
    </p:spTree>
  </p:cSld>
  <p:clrMapOvr>
    <a:masterClrMapping/>
  </p:clrMapOvr>
</p:sld>
</file>

<file path=ppt/slides/slide2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Reconciliation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239</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loaded batches with their reconciliation and, for the chosen batch, the lines by level: L1 counts, L2 amounts, L3 hash totals, L4 fields, L5 general ledger, and the opening-balance adjustment checks. Every difference is a break; the Data Steward or the operator explains it with a reason and the reconciliation approver approves the explanation.</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Reconciliation</a:t>
                      </a:r>
                    </a:p>
                    <a:p>
                      <a:r>
                        <a:rPr sz="950" b="0">
                          <a:solidFill>
                            <a:srgbClr val="4B4B4B"/>
                          </a:solidFill>
                          <a:latin typeface="Arial"/>
                        </a:rPr>
                        <a:t>Migration Home › Open reconciliation breaks</a:t>
                      </a:r>
                    </a:p>
                    <a:p>
                      <a:r>
                        <a:rPr sz="950" b="0">
                          <a:solidFill>
                            <a:srgbClr val="4B4B4B"/>
                          </a:solidFill>
                          <a:latin typeface="Arial"/>
                        </a:rPr>
                        <a:t>Batch › Reconciliation tab</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19.1.9</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FR-DM-020, FR-DM-021</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loaded object is reconcilable from source to target, each break explained and approved before G5.</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SCR-DM-09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240</a:t>
            </a:r>
          </a:p>
        </p:txBody>
      </p:sp>
      <p:graphicFrame>
        <p:nvGraphicFramePr>
          <p:cNvPr id="9" name="Table 8"/>
          <p:cNvGraphicFramePr>
            <a:graphicFrameLocks noGrp="1"/>
          </p:cNvGraphicFramePr>
          <p:nvPr/>
        </p:nvGraphicFramePr>
        <p:xfrm>
          <a:off x="548640" y="1325880"/>
          <a:ext cx="11094411" cy="363471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Loaded batches</a:t>
                      </a:r>
                    </a:p>
                  </a:txBody>
                  <a:tcPr marL="54864" marR="54864" marT="27432" marB="27432">
                    <a:solidFill>
                      <a:srgbClr val="FFFFFF"/>
                    </a:solidFill>
                  </a:tcPr>
                </a:tc>
                <a:tc>
                  <a:txBody>
                    <a:bodyPr/>
                    <a:lstStyle/>
                    <a:p>
                      <a:r>
                        <a:rPr sz="850" b="0">
                          <a:solidFill>
                            <a:srgbClr val="4B4B4B"/>
                          </a:solidFill>
                          <a:latin typeface="Arial"/>
                        </a:rPr>
                        <a:t>Batch, Object, Loaded, Load ended,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Reconciliation</a:t>
                      </a:r>
                    </a:p>
                  </a:txBody>
                  <a:tcPr marL="54864" marR="54864" marT="27432" marB="27432">
                    <a:solidFill>
                      <a:srgbClr val="E5F5FF"/>
                    </a:solidFill>
                  </a:tcPr>
                </a:tc>
                <a:tc>
                  <a:txBody>
                    <a:bodyPr/>
                    <a:lstStyle/>
                    <a:p>
                      <a:r>
                        <a:rPr sz="850" b="0">
                          <a:solidFill>
                            <a:srgbClr val="4B4B4B"/>
                          </a:solidFill>
                          <a:latin typeface="Arial"/>
                        </a:rPr>
                        <a:t>Title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Run number, date and time, user; status on the right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Reconciliation</a:t>
                      </a:r>
                    </a:p>
                  </a:txBody>
                  <a:tcPr marL="54864" marR="54864" marT="27432" marB="27432">
                    <a:solidFill>
                      <a:srgbClr val="FFFFFF"/>
                    </a:solidFill>
                  </a:tcPr>
                </a:tc>
                <a:tc>
                  <a:txBody>
                    <a:bodyPr/>
                    <a:lstStyle/>
                    <a:p>
                      <a:r>
                        <a:rPr sz="850" b="0">
                          <a:solidFill>
                            <a:srgbClr val="4B4B4B"/>
                          </a:solidFill>
                          <a:latin typeface="Arial"/>
                        </a:rPr>
                        <a:t>Level</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L1 Counts, L2 Amounts, L3 Hash totals, L4 Fields, L5 General ledger, Opening-balance adjustment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Reconciliation</a:t>
                      </a:r>
                    </a:p>
                  </a:txBody>
                  <a:tcPr marL="54864" marR="54864" marT="27432" marB="27432">
                    <a:solidFill>
                      <a:srgbClr val="E5F5FF"/>
                    </a:solidFill>
                  </a:tcPr>
                </a:tc>
                <a:tc>
                  <a:txBody>
                    <a:bodyPr/>
                    <a:lstStyle/>
                    <a:p>
                      <a:r>
                        <a:rPr sz="850" b="0">
                          <a:solidFill>
                            <a:srgbClr val="4B4B4B"/>
                          </a:solidFill>
                          <a:latin typeface="Arial"/>
                        </a:rPr>
                        <a:t>Measure, Currency</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Measure with its detail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Reconciliation</a:t>
                      </a:r>
                    </a:p>
                  </a:txBody>
                  <a:tcPr marL="54864" marR="54864" marT="27432" marB="27432">
                    <a:solidFill>
                      <a:srgbClr val="FFFFFF"/>
                    </a:solidFill>
                  </a:tcPr>
                </a:tc>
                <a:tc>
                  <a:txBody>
                    <a:bodyPr/>
                    <a:lstStyle/>
                    <a:p>
                      <a:r>
                        <a:rPr sz="850" b="0">
                          <a:solidFill>
                            <a:srgbClr val="4B4B4B"/>
                          </a:solidFill>
                          <a:latin typeface="Arial"/>
                        </a:rPr>
                        <a:t>Source, Staged, BIBS, Difference</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Difference within the tolerance (0.00)</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Reconciliation</a:t>
                      </a:r>
                    </a:p>
                  </a:txBody>
                  <a:tcPr marL="54864" marR="54864" marT="27432" marB="27432">
                    <a:solidFill>
                      <a:srgbClr val="E5F5FF"/>
                    </a:solidFill>
                  </a:tcPr>
                </a:tc>
                <a:tc>
                  <a:txBody>
                    <a:bodyPr/>
                    <a:lstStyle/>
                    <a:p>
                      <a:r>
                        <a:rPr sz="850" b="0">
                          <a:solidFill>
                            <a:srgbClr val="4B4B4B"/>
                          </a:solidFill>
                          <a:latin typeface="Arial"/>
                        </a:rPr>
                        <a:t>Explanation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Text; reason, who explained, who approved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Reconciliation</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Pill</a:t>
                      </a:r>
                    </a:p>
                  </a:txBody>
                  <a:tcPr marL="54864" marR="54864" marT="27432" marB="27432">
                    <a:solidFill>
                      <a:srgbClr val="FFFFFF"/>
                    </a:solidFill>
                  </a:tcPr>
                </a:tc>
                <a:tc>
                  <a:txBody>
                    <a:bodyPr/>
                    <a:lstStyle/>
                    <a:p>
                      <a:r>
                        <a:rPr sz="850" b="0">
                          <a:solidFill>
                            <a:srgbClr val="4B4B4B"/>
                          </a:solidFill>
                          <a:latin typeface="Arial"/>
                        </a:rPr>
                        <a:t>Matched, Break, Explained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868674">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Explain Break</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Timing difference between extract and ledger, Rounding in the legacy extract, Rows excluded by the data owner, Error in the legacy source corrected by manual entry, Code map difference, Other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Explain Break</a:t>
                      </a:r>
                    </a:p>
                  </a:txBody>
                  <a:tcPr marL="54864" marR="54864" marT="27432" marB="27432">
                    <a:solidFill>
                      <a:srgbClr val="FFFFFF"/>
                    </a:solidFill>
                  </a:tcPr>
                </a:tc>
                <a:tc>
                  <a:txBody>
                    <a:bodyPr/>
                    <a:lstStyle/>
                    <a:p>
                      <a:r>
                        <a:rPr sz="850" b="0">
                          <a:solidFill>
                            <a:srgbClr val="4B4B4B"/>
                          </a:solidFill>
                          <a:latin typeface="Arial"/>
                        </a:rPr>
                        <a:t>Explanation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Free text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Enter the explanation of the break</a:t>
                      </a:r>
                    </a:p>
                  </a:txBody>
                  <a:tcPr marL="54864" marR="54864" marT="27432" marB="27432">
                    <a:solidFill>
                      <a:srgbClr val="FFFFFF"/>
                    </a:solidFill>
                  </a:tcPr>
                </a:tc>
              </a:tr>
            </a:tbl>
          </a:graphicData>
        </a:graphic>
      </p:graphicFrame>
    </p:spTree>
  </p:cSld>
  <p:clrMapOvr>
    <a:masterClrMapping/>
  </p:clrMapOvr>
</p:sld>
</file>

<file path=ppt/slides/slide2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241</a:t>
            </a:r>
          </a:p>
        </p:txBody>
      </p:sp>
      <p:graphicFrame>
        <p:nvGraphicFramePr>
          <p:cNvPr id="9" name="Table 8"/>
          <p:cNvGraphicFramePr>
            <a:graphicFrameLocks noGrp="1"/>
          </p:cNvGraphicFramePr>
          <p:nvPr/>
        </p:nvGraphicFramePr>
        <p:xfrm>
          <a:off x="548640" y="1325880"/>
          <a:ext cx="11094412" cy="922015"/>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Explain</a:t>
                      </a:r>
                    </a:p>
                  </a:txBody>
                  <a:tcPr marL="54864" marR="54864" marT="27432" marB="27432">
                    <a:solidFill>
                      <a:srgbClr val="FFFFFF"/>
                    </a:solidFill>
                  </a:tcPr>
                </a:tc>
                <a:tc>
                  <a:txBody>
                    <a:bodyPr/>
                    <a:lstStyle/>
                    <a:p>
                      <a:r>
                        <a:rPr sz="850" b="0">
                          <a:solidFill>
                            <a:srgbClr val="4B4B4B"/>
                          </a:solidFill>
                          <a:latin typeface="Arial"/>
                        </a:rPr>
                        <a:t>Data Steward or Migration Operator</a:t>
                      </a:r>
                    </a:p>
                  </a:txBody>
                  <a:tcPr marL="54864" marR="54864" marT="27432" marB="27432">
                    <a:solidFill>
                      <a:srgbClr val="FFFFFF"/>
                    </a:solidFill>
                  </a:tcPr>
                </a:tc>
                <a:tc>
                  <a:txBody>
                    <a:bodyPr/>
                    <a:lstStyle/>
                    <a:p>
                      <a:r>
                        <a:rPr sz="850" b="0">
                          <a:solidFill>
                            <a:srgbClr val="4B4B4B"/>
                          </a:solidFill>
                          <a:latin typeface="Arial"/>
                        </a:rPr>
                        <a:t>Line in Break</a:t>
                      </a:r>
                    </a:p>
                  </a:txBody>
                  <a:tcPr marL="54864" marR="54864" marT="27432" marB="27432">
                    <a:solidFill>
                      <a:srgbClr val="FFFFFF"/>
                    </a:solidFill>
                  </a:tcPr>
                </a:tc>
                <a:tc>
                  <a:txBody>
                    <a:bodyPr/>
                    <a:lstStyle/>
                    <a:p>
                      <a:r>
                        <a:rPr sz="850" b="0">
                          <a:solidFill>
                            <a:srgbClr val="4B4B4B"/>
                          </a:solidFill>
                          <a:latin typeface="Arial"/>
                        </a:rPr>
                        <a:t>Records the reason and the explanation</a:t>
                      </a:r>
                    </a:p>
                  </a:txBody>
                  <a:tcPr marL="54864" marR="54864" marT="27432" marB="27432">
                    <a:solidFill>
                      <a:srgbClr val="FFFFFF"/>
                    </a:solidFill>
                  </a:tcPr>
                </a:tc>
                <a:tc>
                  <a:txBody>
                    <a:bodyPr/>
                    <a:lstStyle/>
                    <a:p>
                      <a:r>
                        <a:rPr sz="850" b="0">
                          <a:solidFill>
                            <a:srgbClr val="4B4B4B"/>
                          </a:solidFill>
                          <a:latin typeface="Arial"/>
                        </a:rPr>
                        <a:t>Explained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Reconciliation approver</a:t>
                      </a:r>
                    </a:p>
                  </a:txBody>
                  <a:tcPr marL="54864" marR="54864" marT="27432" marB="27432">
                    <a:solidFill>
                      <a:srgbClr val="E5F5FF"/>
                    </a:solidFill>
                  </a:tcPr>
                </a:tc>
                <a:tc>
                  <a:txBody>
                    <a:bodyPr/>
                    <a:lstStyle/>
                    <a:p>
                      <a:r>
                        <a:rPr sz="850" b="0">
                          <a:solidFill>
                            <a:srgbClr val="4B4B4B"/>
                          </a:solidFill>
                          <a:latin typeface="Arial"/>
                        </a:rPr>
                        <a:t>Line Explained by another user</a:t>
                      </a:r>
                    </a:p>
                  </a:txBody>
                  <a:tcPr marL="54864" marR="54864" marT="27432" marB="27432">
                    <a:solidFill>
                      <a:srgbClr val="E5F5FF"/>
                    </a:solidFill>
                  </a:tcPr>
                </a:tc>
                <a:tc>
                  <a:txBody>
                    <a:bodyPr/>
                    <a:lstStyle/>
                    <a:p>
                      <a:r>
                        <a:rPr sz="850" b="0">
                          <a:solidFill>
                            <a:srgbClr val="4B4B4B"/>
                          </a:solidFill>
                          <a:latin typeface="Arial"/>
                        </a:rPr>
                        <a:t>Approves the explanation</a:t>
                      </a:r>
                    </a:p>
                  </a:txBody>
                  <a:tcPr marL="54864" marR="54864" marT="27432" marB="27432">
                    <a:solidFill>
                      <a:srgbClr val="E5F5FF"/>
                    </a:solidFill>
                  </a:tcPr>
                </a:tc>
                <a:tc>
                  <a:txBody>
                    <a:bodyPr/>
                    <a:lstStyle/>
                    <a:p>
                      <a:r>
                        <a:rPr sz="850" b="0">
                          <a:solidFill>
                            <a:srgbClr val="4B4B4B"/>
                          </a:solidFill>
                          <a:latin typeface="Arial"/>
                        </a:rPr>
                        <a:t>Explained (approved)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242</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Counts: received equals the control count and loaded + skipped + rejected + excluded equals staged (FR-DM-020).</a:t>
                      </a:r>
                    </a:p>
                  </a:txBody>
                  <a:tcPr marL="54864" marR="54864" marT="27432" marB="27432">
                    <a:solidFill>
                      <a:srgbClr val="FFFFFF"/>
                    </a:solidFill>
                  </a:tcPr>
                </a:tc>
              </a:tr>
              <a:tr h="243840">
                <a:tc>
                  <a:txBody>
                    <a:bodyPr/>
                    <a:lstStyle/>
                    <a:p>
                      <a:r>
                        <a:rPr sz="1000" b="0">
                          <a:solidFill>
                            <a:srgbClr val="4B4B4B"/>
                          </a:solidFill>
                          <a:latin typeface="Arial"/>
                        </a:rPr>
                        <a:t>Amounts: the control total, the staged sum and the value in BIBS agree per amount column and currency (FR-DM-020).</a:t>
                      </a:r>
                    </a:p>
                  </a:txBody>
                  <a:tcPr marL="54864" marR="54864" marT="27432" marB="27432">
                    <a:solidFill>
                      <a:srgbClr val="E5F5FF"/>
                    </a:solidFill>
                  </a:tcPr>
                </a:tc>
              </a:tr>
              <a:tr h="243840">
                <a:tc>
                  <a:txBody>
                    <a:bodyPr/>
                    <a:lstStyle/>
                    <a:p>
                      <a:r>
                        <a:rPr sz="1000" b="0">
                          <a:solidFill>
                            <a:srgbClr val="4B4B4B"/>
                          </a:solidFill>
                          <a:latin typeface="Arial"/>
                        </a:rPr>
                        <a:t>GL: Migration Clearing is 0.00 per branch and currency and each legacy control account equals its legacy sub-ledger (FR-DM-021).</a:t>
                      </a:r>
                    </a:p>
                  </a:txBody>
                  <a:tcPr marL="54864" marR="54864" marT="27432" marB="27432">
                    <a:solidFill>
                      <a:srgbClr val="FFFFFF"/>
                    </a:solidFill>
                  </a:tcPr>
                </a:tc>
              </a:tr>
              <a:tr h="243840">
                <a:tc>
                  <a:txBody>
                    <a:bodyPr/>
                    <a:lstStyle/>
                    <a:p>
                      <a:r>
                        <a:rPr sz="1000" b="0">
                          <a:solidFill>
                            <a:srgbClr val="4B4B4B"/>
                          </a:solidFill>
                          <a:latin typeface="Arial"/>
                        </a:rPr>
                        <a:t>The explanation of a break is approved by a user other than the one who explained it (FR-DM-020).</a:t>
                      </a:r>
                    </a:p>
                  </a:txBody>
                  <a:tcPr marL="54864" marR="54864" marT="27432" marB="27432">
                    <a:solidFill>
                      <a:srgbClr val="E5F5FF"/>
                    </a:solidFill>
                  </a:tcPr>
                </a:tc>
              </a:tr>
            </a:tbl>
          </a:graphicData>
        </a:graphic>
      </p:graphicFrame>
    </p:spTree>
  </p:cSld>
  <p:clrMapOvr>
    <a:masterClrMapping/>
  </p:clrMapOvr>
</p:sld>
</file>

<file path=ppt/slides/slide2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Reconciliation: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8.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loaded batch and its reconciliation lines by level (part 1 of 3)</a:t>
            </a:r>
          </a:p>
        </p:txBody>
      </p:sp>
    </p:spTree>
  </p:cSld>
  <p:clrMapOvr>
    <a:masterClrMapping/>
  </p:clrMapOvr>
</p:sld>
</file>

<file path=ppt/slides/slide2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Reconciliation: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39.png"/>
          <p:cNvPicPr>
            <a:picLocks noChangeAspect="1"/>
          </p:cNvPicPr>
          <p:nvPr/>
        </p:nvPicPr>
        <p:blipFill>
          <a:blip r:embed="rId3"/>
          <a:stretch>
            <a:fillRect/>
          </a:stretch>
        </p:blipFill>
        <p:spPr>
          <a:xfrm>
            <a:off x="548640" y="1261872"/>
            <a:ext cx="11094415" cy="467208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loaded batch and its reconciliation lines by level (part 2 of 3)</a:t>
            </a:r>
          </a:p>
        </p:txBody>
      </p:sp>
    </p:spTree>
  </p:cSld>
  <p:clrMapOvr>
    <a:masterClrMapping/>
  </p:clrMapOvr>
</p:sld>
</file>

<file path=ppt/slides/slide2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SCR-DM-09 Reconciliation: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0.png"/>
          <p:cNvPicPr>
            <a:picLocks noChangeAspect="1"/>
          </p:cNvPicPr>
          <p:nvPr/>
        </p:nvPicPr>
        <p:blipFill>
          <a:blip r:embed="rId3"/>
          <a:stretch>
            <a:fillRect/>
          </a:stretch>
        </p:blipFill>
        <p:spPr>
          <a:xfrm>
            <a:off x="548640" y="1261872"/>
            <a:ext cx="11094415" cy="466252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loaded batch and its reconciliation lines by level (part 3 of 3)</a:t>
            </a:r>
          </a:p>
        </p:txBody>
      </p:sp>
    </p:spTree>
  </p:cSld>
  <p:clrMapOvr>
    <a:masterClrMapping/>
  </p:clrMapOvr>
</p:sld>
</file>

<file path=ppt/slides/slide2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SCR-DM-09 Reconciliation: Confirmation with reason</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246</a:t>
            </a:r>
          </a:p>
        </p:txBody>
      </p:sp>
      <p:sp>
        <p:nvSpPr>
          <p:cNvPr id="9" name="Rounded Rectangle 8"/>
          <p:cNvSpPr/>
          <p:nvPr/>
        </p:nvSpPr>
        <p:spPr>
          <a:xfrm>
            <a:off x="9192463" y="896112"/>
            <a:ext cx="2450592"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Confirmation with reason</a:t>
            </a:r>
          </a:p>
        </p:txBody>
      </p:sp>
      <p:pic>
        <p:nvPicPr>
          <p:cNvPr id="10" name="Picture 9" descr="scr-dm-09-02-explain.png"/>
          <p:cNvPicPr>
            <a:picLocks noChangeAspect="1"/>
          </p:cNvPicPr>
          <p:nvPr/>
        </p:nvPicPr>
        <p:blipFill>
          <a:blip r:embed="rId3"/>
          <a:stretch>
            <a:fillRect/>
          </a:stretch>
        </p:blipFill>
        <p:spPr>
          <a:xfrm>
            <a:off x="548640" y="1261872"/>
            <a:ext cx="11094415" cy="419693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Explain Break dialog</a:t>
            </a:r>
          </a:p>
        </p:txBody>
      </p:sp>
    </p:spTree>
  </p:cSld>
  <p:clrMapOvr>
    <a:masterClrMapping/>
  </p:clrMapOvr>
</p:sld>
</file>

<file path=ppt/slides/slide2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SCR-DM-10 Sign-off</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247</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Migration Console</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gates G1 to G7 of every object and of its latest batch as a matrix: decision, mapping, validation, load approval, reconciliation, acceptance and go-live, each with who signed and when. The business owner signs the mapping of an object here (gate G2); the other batch gates are signed on the batch page.</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Sign-off</a:t>
                      </a:r>
                    </a:p>
                    <a:p>
                      <a:r>
                        <a:rPr sz="950" b="0">
                          <a:solidFill>
                            <a:srgbClr val="4B4B4B"/>
                          </a:solidFill>
                          <a:latin typeface="Arial"/>
                        </a:rPr>
                        <a:t>Sidebar › Data Migration › Sign-off</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19.1.10</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FR-DM-003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Data Migration Lead sees what is missing per object before a trial migration or the cut-over.</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248</a:t>
            </a:r>
          </a:p>
        </p:txBody>
      </p:sp>
      <p:graphicFrame>
        <p:nvGraphicFramePr>
          <p:cNvPr id="9" name="Table 8"/>
          <p:cNvGraphicFramePr>
            <a:graphicFrameLocks noGrp="1"/>
          </p:cNvGraphicFramePr>
          <p:nvPr/>
        </p:nvGraphicFramePr>
        <p:xfrm>
          <a:off x="548640" y="1325880"/>
          <a:ext cx="11094411" cy="114299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Matrix</a:t>
                      </a:r>
                    </a:p>
                  </a:txBody>
                  <a:tcPr marL="54864" marR="54864" marT="27432" marB="27432">
                    <a:solidFill>
                      <a:srgbClr val="FFFFFF"/>
                    </a:solidFill>
                  </a:tcPr>
                </a:tc>
                <a:tc>
                  <a:txBody>
                    <a:bodyPr/>
                    <a:lstStyle/>
                    <a:p>
                      <a:r>
                        <a:rPr sz="850" b="0">
                          <a:solidFill>
                            <a:srgbClr val="4B4B4B"/>
                          </a:solidFill>
                          <a:latin typeface="Arial"/>
                        </a:rPr>
                        <a:t>Object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Code and name; class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Matrix</a:t>
                      </a:r>
                    </a:p>
                  </a:txBody>
                  <a:tcPr marL="54864" marR="54864" marT="27432" marB="27432">
                    <a:solidFill>
                      <a:srgbClr val="E5F5FF"/>
                    </a:solidFill>
                  </a:tcPr>
                </a:tc>
                <a:tc>
                  <a:txBody>
                    <a:bodyPr/>
                    <a:lstStyle/>
                    <a:p>
                      <a:r>
                        <a:rPr sz="850" b="0">
                          <a:solidFill>
                            <a:srgbClr val="4B4B4B"/>
                          </a:solidFill>
                          <a:latin typeface="Arial"/>
                        </a:rPr>
                        <a:t>Latest batch</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Batch number and status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Matrix</a:t>
                      </a:r>
                    </a:p>
                  </a:txBody>
                  <a:tcPr marL="54864" marR="54864" marT="27432" marB="27432">
                    <a:solidFill>
                      <a:srgbClr val="FFFFFF"/>
                    </a:solidFill>
                  </a:tcPr>
                </a:tc>
                <a:tc>
                  <a:txBody>
                    <a:bodyPr/>
                    <a:lstStyle/>
                    <a:p>
                      <a:r>
                        <a:rPr sz="850" b="0">
                          <a:solidFill>
                            <a:srgbClr val="4B4B4B"/>
                          </a:solidFill>
                          <a:latin typeface="Arial"/>
                        </a:rPr>
                        <a:t>Decision, Mapping, Validation, Load approval, Reconciliation, Acceptance, Go-live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One column per gate G1 to G7; decision pill with the signer and date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249</a:t>
            </a:r>
          </a:p>
        </p:txBody>
      </p:sp>
      <p:graphicFrame>
        <p:nvGraphicFramePr>
          <p:cNvPr id="9" name="Table 8"/>
          <p:cNvGraphicFramePr>
            <a:graphicFrameLocks noGrp="1"/>
          </p:cNvGraphicFramePr>
          <p:nvPr/>
        </p:nvGraphicFramePr>
        <p:xfrm>
          <a:off x="548640" y="1325880"/>
          <a:ext cx="11094412" cy="79247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Sign Mapping</a:t>
                      </a:r>
                    </a:p>
                  </a:txBody>
                  <a:tcPr marL="54864" marR="54864" marT="27432" marB="27432">
                    <a:solidFill>
                      <a:srgbClr val="FFFFFF"/>
                    </a:solidFill>
                  </a:tcPr>
                </a:tc>
                <a:tc>
                  <a:txBody>
                    <a:bodyPr/>
                    <a:lstStyle/>
                    <a:p>
                      <a:r>
                        <a:rPr sz="850" b="0">
                          <a:solidFill>
                            <a:srgbClr val="4B4B4B"/>
                          </a:solidFill>
                          <a:latin typeface="Arial"/>
                        </a:rPr>
                        <a:t>Data owner</a:t>
                      </a:r>
                    </a:p>
                  </a:txBody>
                  <a:tcPr marL="54864" marR="54864" marT="27432" marB="27432">
                    <a:solidFill>
                      <a:srgbClr val="FFFFFF"/>
                    </a:solidFill>
                  </a:tcPr>
                </a:tc>
                <a:tc>
                  <a:txBody>
                    <a:bodyPr/>
                    <a:lstStyle/>
                    <a:p>
                      <a:r>
                        <a:rPr sz="850" b="0">
                          <a:solidFill>
                            <a:srgbClr val="4B4B4B"/>
                          </a:solidFill>
                          <a:latin typeface="Arial"/>
                        </a:rPr>
                        <a:t>G1 approved and G2 not yet signed</a:t>
                      </a:r>
                    </a:p>
                  </a:txBody>
                  <a:tcPr marL="54864" marR="54864" marT="27432" marB="27432">
                    <a:solidFill>
                      <a:srgbClr val="FFFFFF"/>
                    </a:solidFill>
                  </a:tcPr>
                </a:tc>
                <a:tc>
                  <a:txBody>
                    <a:bodyPr/>
                    <a:lstStyle/>
                    <a:p>
                      <a:r>
                        <a:rPr sz="850" b="0">
                          <a:solidFill>
                            <a:srgbClr val="4B4B4B"/>
                          </a:solidFill>
                          <a:latin typeface="Arial"/>
                        </a:rPr>
                        <a:t>Signs gate G2: the layouts of the object are frozen and every code map its columns use has an approved version</a:t>
                      </a:r>
                    </a:p>
                  </a:txBody>
                  <a:tcPr marL="54864" marR="54864" marT="27432" marB="27432">
                    <a:solidFill>
                      <a:srgbClr val="FFFFFF"/>
                    </a:solidFill>
                  </a:tcPr>
                </a:tc>
                <a:tc>
                  <a:txBody>
                    <a:bodyPr/>
                    <a:lstStyle/>
                    <a:p>
                      <a:r>
                        <a:rPr sz="850" b="0">
                          <a:solidFill>
                            <a:srgbClr val="4B4B4B"/>
                          </a:solidFill>
                          <a:latin typeface="Arial"/>
                        </a:rPr>
                        <a:t>G2 signed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Latest batch link</a:t>
                      </a:r>
                    </a:p>
                  </a:txBody>
                  <a:tcPr marL="54864" marR="54864" marT="27432" marB="27432">
                    <a:solidFill>
                      <a:srgbClr val="E5F5FF"/>
                    </a:solidFill>
                  </a:tcPr>
                </a:tc>
                <a:tc>
                  <a:txBody>
                    <a:bodyPr/>
                    <a:lstStyle/>
                    <a:p>
                      <a:r>
                        <a:rPr sz="850" b="0">
                          <a:solidFill>
                            <a:srgbClr val="4B4B4B"/>
                          </a:solidFill>
                          <a:latin typeface="Arial"/>
                        </a:rPr>
                        <a:t>Every migration role</a:t>
                      </a:r>
                    </a:p>
                  </a:txBody>
                  <a:tcPr marL="54864" marR="54864" marT="27432" marB="27432">
                    <a:solidFill>
                      <a:srgbClr val="E5F5FF"/>
                    </a:solidFill>
                  </a:tcPr>
                </a:tc>
                <a:tc>
                  <a:txBody>
                    <a:bodyPr/>
                    <a:lstStyle/>
                    <a:p>
                      <a:r>
                        <a:rPr sz="850" b="0">
                          <a:solidFill>
                            <a:srgbClr val="4B4B4B"/>
                          </a:solidFill>
                          <a:latin typeface="Arial"/>
                        </a:rPr>
                        <a:t>A batch exists</a:t>
                      </a:r>
                    </a:p>
                  </a:txBody>
                  <a:tcPr marL="54864" marR="54864" marT="27432" marB="27432">
                    <a:solidFill>
                      <a:srgbClr val="E5F5FF"/>
                    </a:solidFill>
                  </a:tcPr>
                </a:tc>
                <a:tc>
                  <a:txBody>
                    <a:bodyPr/>
                    <a:lstStyle/>
                    <a:p>
                      <a:r>
                        <a:rPr sz="850" b="0">
                          <a:solidFill>
                            <a:srgbClr val="4B4B4B"/>
                          </a:solidFill>
                          <a:latin typeface="Arial"/>
                        </a:rPr>
                        <a:t>Opens the batch page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250</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Gates are signed in order; a gate refused returns the object to the step of that gate (FR-DM-003).</a:t>
                      </a:r>
                    </a:p>
                  </a:txBody>
                  <a:tcPr marL="54864" marR="54864" marT="27432" marB="27432">
                    <a:solidFill>
                      <a:srgbClr val="FFFFFF"/>
                    </a:solidFill>
                  </a:tcPr>
                </a:tc>
              </a:tr>
              <a:tr h="243840">
                <a:tc>
                  <a:txBody>
                    <a:bodyPr/>
                    <a:lstStyle/>
                    <a:p>
                      <a:r>
                        <a:rPr sz="1000" b="0">
                          <a:solidFill>
                            <a:srgbClr val="4B4B4B"/>
                          </a:solidFill>
                          <a:latin typeface="Arial"/>
                        </a:rPr>
                        <a:t>The mapping is signed only when the layouts are frozen and every map used has an approved version (FR-DM-003).</a:t>
                      </a:r>
                    </a:p>
                  </a:txBody>
                  <a:tcPr marL="54864" marR="54864" marT="27432" marB="27432">
                    <a:solidFill>
                      <a:srgbClr val="E5F5FF"/>
                    </a:solidFill>
                  </a:tcPr>
                </a:tc>
              </a:tr>
            </a:tbl>
          </a:graphicData>
        </a:graphic>
      </p:graphicFrame>
    </p:spTree>
  </p:cSld>
  <p:clrMapOvr>
    <a:masterClrMapping/>
  </p:clrMapOvr>
</p:sld>
</file>

<file path=ppt/slides/slide2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SCR-DM-10 Sign-off: Read-only or locked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1.png"/>
          <p:cNvPicPr>
            <a:picLocks noChangeAspect="1"/>
          </p:cNvPicPr>
          <p:nvPr/>
        </p:nvPicPr>
        <p:blipFill>
          <a:blip r:embed="rId3"/>
          <a:stretch>
            <a:fillRect/>
          </a:stretch>
        </p:blipFill>
        <p:spPr>
          <a:xfrm>
            <a:off x="548640" y="1261872"/>
            <a:ext cx="11094415" cy="380782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Gate matrix per object with the signer and date of each gate (part 1 of 2)</a:t>
            </a:r>
          </a:p>
        </p:txBody>
      </p:sp>
    </p:spTree>
  </p:cSld>
  <p:clrMapOvr>
    <a:masterClrMapping/>
  </p:clrMapOvr>
</p:sld>
</file>

<file path=ppt/slides/slide2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SCR-DM-10 Sign-off: Read-only or locked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252</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42.png"/>
          <p:cNvPicPr>
            <a:picLocks noChangeAspect="1"/>
          </p:cNvPicPr>
          <p:nvPr/>
        </p:nvPicPr>
        <p:blipFill>
          <a:blip r:embed="rId3"/>
          <a:stretch>
            <a:fillRect/>
          </a:stretch>
        </p:blipFill>
        <p:spPr>
          <a:xfrm>
            <a:off x="548640" y="1261872"/>
            <a:ext cx="11094415" cy="40898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Gate matrix per object with the signer and date of each gate (part 2 of 2)</a:t>
            </a:r>
          </a:p>
        </p:txBody>
      </p:sp>
    </p:spTree>
  </p:cSld>
  <p:clrMapOvr>
    <a:masterClrMapping/>
  </p:clrMapOvr>
</p:sld>
</file>

<file path=ppt/slides/slide2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SCR-DM-11 Opening-Balance Adjustments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253</a:t>
            </a:r>
          </a:p>
        </p:txBody>
      </p:sp>
      <p:graphicFrame>
        <p:nvGraphicFramePr>
          <p:cNvPr id="9" name="Table 8"/>
          <p:cNvGraphicFramePr>
            <a:graphicFrameLocks noGrp="1"/>
          </p:cNvGraphicFramePr>
          <p:nvPr/>
        </p:nvGraphicFramePr>
        <p:xfrm>
          <a:off x="548640" y="1307592"/>
          <a:ext cx="6434760" cy="310134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Cut-over, adjustments and run-off</a:t>
                      </a:r>
                    </a:p>
                  </a:txBody>
                  <a:tcPr marL="54864" marR="54864" marT="27432" marB="27432">
                    <a:solidFill>
                      <a:srgbClr val="FFFFFF"/>
                    </a:solidFill>
                  </a:tcPr>
                </a:tc>
              </a:tr>
              <a:tr h="110490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FY2027 closing and audit adjustments of the legacy books after go-live (year-end option A). The Comptrollership GL lead prepares an adjustment on a validated batch of the adjustment journals (object G03) and the legacy trial balance of the same version (object G01); the Head of Comptrollership approves or returns it. The load of the batch posts the opening-balance adjustment journals into the opening period (value date 1 January 2028) and adjusts the open legacy items; the adjustment is then reconciled to the legacy trial balances and signed.</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Opening Adjustments</a:t>
                      </a:r>
                    </a:p>
                    <a:p>
                      <a:r>
                        <a:rPr sz="950" b="0">
                          <a:solidFill>
                            <a:srgbClr val="4B4B4B"/>
                          </a:solidFill>
                          <a:latin typeface="Arial"/>
                        </a:rPr>
                        <a:t>Sidebar › Data Migration › Opening Adjustments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19.2.1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FR-DM-022, FR-DM-023, FR-DM-024</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Every FY2027 adjustment made in legacy after the freeze is in the BIBS opening balances, approved and reconciled.</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SCR-DM-11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254</a:t>
            </a:r>
          </a:p>
        </p:txBody>
      </p:sp>
      <p:graphicFrame>
        <p:nvGraphicFramePr>
          <p:cNvPr id="9" name="Table 8"/>
          <p:cNvGraphicFramePr>
            <a:graphicFrameLocks noGrp="1"/>
          </p:cNvGraphicFramePr>
          <p:nvPr/>
        </p:nvGraphicFramePr>
        <p:xfrm>
          <a:off x="548640" y="1325880"/>
          <a:ext cx="11094411" cy="3246102"/>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Adjustment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Reference MIG-TU-n; as-of date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Batches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Adjustment batch; trial balance batch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Posted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Journals and items adjusted; date and time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Prepared / Approved / Signed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Pill</a:t>
                      </a:r>
                    </a:p>
                  </a:txBody>
                  <a:tcPr marL="54864" marR="54864" marT="27432" marB="27432">
                    <a:solidFill>
                      <a:srgbClr val="FFFFFF"/>
                    </a:solidFill>
                  </a:tcPr>
                </a:tc>
                <a:tc>
                  <a:txBody>
                    <a:bodyPr/>
                    <a:lstStyle/>
                    <a:p>
                      <a:r>
                        <a:rPr sz="850" b="0">
                          <a:solidFill>
                            <a:srgbClr val="4B4B4B"/>
                          </a:solidFill>
                          <a:latin typeface="Arial"/>
                        </a:rPr>
                        <a:t>Prepared, For approval, Approved, Posted, Reconciled, Signed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Prepare Adjustment</a:t>
                      </a:r>
                    </a:p>
                  </a:txBody>
                  <a:tcPr marL="54864" marR="54864" marT="27432" marB="27432">
                    <a:solidFill>
                      <a:srgbClr val="E5F5FF"/>
                    </a:solidFill>
                  </a:tcPr>
                </a:tc>
                <a:tc>
                  <a:txBody>
                    <a:bodyPr/>
                    <a:lstStyle/>
                    <a:p>
                      <a:r>
                        <a:rPr sz="850" b="0">
                          <a:solidFill>
                            <a:srgbClr val="4B4B4B"/>
                          </a:solidFill>
                          <a:latin typeface="Arial"/>
                        </a:rPr>
                        <a:t>Adjustment</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1 after the legacy year-end close, 2 interim, 3 interim, F final after the audited statements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yet prepared</a:t>
                      </a:r>
                    </a:p>
                  </a:txBody>
                  <a:tcPr marL="54864" marR="54864" marT="27432" marB="27432">
                    <a:solidFill>
                      <a:srgbClr val="E5F5FF"/>
                    </a:solidFill>
                  </a:tcPr>
                </a:tc>
                <a:tc>
                  <a:txBody>
                    <a:bodyPr/>
                    <a:lstStyle/>
                    <a:p>
                      <a:r>
                        <a:rPr sz="850" b="0">
                          <a:solidFill>
                            <a:srgbClr val="4B4B4B"/>
                          </a:solidFill>
                          <a:latin typeface="Arial"/>
                        </a:rPr>
                        <a:t>Opening-balance adjustment &lt;no&gt; already exists</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Prepare Adjustment</a:t>
                      </a:r>
                    </a:p>
                  </a:txBody>
                  <a:tcPr marL="54864" marR="54864" marT="27432" marB="27432">
                    <a:solidFill>
                      <a:srgbClr val="FFFFFF"/>
                    </a:solidFill>
                  </a:tcPr>
                </a:tc>
                <a:tc>
                  <a:txBody>
                    <a:bodyPr/>
                    <a:lstStyle/>
                    <a:p>
                      <a:r>
                        <a:rPr sz="850" b="0">
                          <a:solidFill>
                            <a:srgbClr val="4B4B4B"/>
                          </a:solidFill>
                          <a:latin typeface="Arial"/>
                        </a:rPr>
                        <a:t>Legacy Trial Balance As Of</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Prepare Adjustment</a:t>
                      </a:r>
                    </a:p>
                  </a:txBody>
                  <a:tcPr marL="54864" marR="54864" marT="27432" marB="27432">
                    <a:solidFill>
                      <a:srgbClr val="E5F5FF"/>
                    </a:solidFill>
                  </a:tcPr>
                </a:tc>
                <a:tc>
                  <a:txBody>
                    <a:bodyPr/>
                    <a:lstStyle/>
                    <a:p>
                      <a:r>
                        <a:rPr sz="850" b="0">
                          <a:solidFill>
                            <a:srgbClr val="4B4B4B"/>
                          </a:solidFill>
                          <a:latin typeface="Arial"/>
                        </a:rPr>
                        <a:t>Adjustment Batch</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 validated batch of the adjustment journals (G03)</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batch of the adjustment object</a:t>
                      </a:r>
                    </a:p>
                  </a:txBody>
                  <a:tcPr marL="54864" marR="54864" marT="27432" marB="27432">
                    <a:solidFill>
                      <a:srgbClr val="E5F5FF"/>
                    </a:solidFill>
                  </a:tcPr>
                </a:tc>
                <a:tc>
                  <a:txBody>
                    <a:bodyPr/>
                    <a:lstStyle/>
                    <a:p>
                      <a:r>
                        <a:rPr sz="850" b="0">
                          <a:solidFill>
                            <a:srgbClr val="4B4B4B"/>
                          </a:solidFill>
                          <a:latin typeface="Arial"/>
                        </a:rPr>
                        <a:t>Batch &lt;batch no&gt; is not a batch of object &lt;object&gt;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Prepare Adjustment</a:t>
                      </a:r>
                    </a:p>
                  </a:txBody>
                  <a:tcPr marL="54864" marR="54864" marT="27432" marB="27432">
                    <a:solidFill>
                      <a:srgbClr val="FFFFFF"/>
                    </a:solidFill>
                  </a:tcPr>
                </a:tc>
                <a:tc>
                  <a:txBody>
                    <a:bodyPr/>
                    <a:lstStyle/>
                    <a:p>
                      <a:r>
                        <a:rPr sz="850" b="0">
                          <a:solidFill>
                            <a:srgbClr val="4B4B4B"/>
                          </a:solidFill>
                          <a:latin typeface="Arial"/>
                        </a:rPr>
                        <a:t>Legacy Trial Balance Batch</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The trial balance of the same version (G01), or None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SCR-DM-11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255</a:t>
            </a:r>
          </a:p>
        </p:txBody>
      </p:sp>
      <p:graphicFrame>
        <p:nvGraphicFramePr>
          <p:cNvPr id="9" name="Table 8"/>
          <p:cNvGraphicFramePr>
            <a:graphicFrameLocks noGrp="1"/>
          </p:cNvGraphicFramePr>
          <p:nvPr/>
        </p:nvGraphicFramePr>
        <p:xfrm>
          <a:off x="548640" y="1325880"/>
          <a:ext cx="11094412" cy="180593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Prepare Adjustment</a:t>
                      </a:r>
                    </a:p>
                  </a:txBody>
                  <a:tcPr marL="54864" marR="54864" marT="27432" marB="27432">
                    <a:solidFill>
                      <a:srgbClr val="FFFFFF"/>
                    </a:solidFill>
                  </a:tcPr>
                </a:tc>
                <a:tc>
                  <a:txBody>
                    <a:bodyPr/>
                    <a:lstStyle/>
                    <a:p>
                      <a:r>
                        <a:rPr sz="850" b="0">
                          <a:solidFill>
                            <a:srgbClr val="4B4B4B"/>
                          </a:solidFill>
                          <a:latin typeface="Arial"/>
                        </a:rPr>
                        <a:t>Comptrollership GL lead</a:t>
                      </a:r>
                    </a:p>
                  </a:txBody>
                  <a:tcPr marL="54864" marR="54864" marT="27432" marB="27432">
                    <a:solidFill>
                      <a:srgbClr val="FFFFFF"/>
                    </a:solidFill>
                  </a:tcPr>
                </a:tc>
                <a:tc>
                  <a:txBody>
                    <a:bodyPr/>
                    <a:lstStyle/>
                    <a:p>
                      <a:r>
                        <a:rPr sz="850" b="0">
                          <a:solidFill>
                            <a:srgbClr val="4B4B4B"/>
                          </a:solidFill>
                          <a:latin typeface="Arial"/>
                        </a:rPr>
                        <a:t>Year-end option A</a:t>
                      </a:r>
                    </a:p>
                  </a:txBody>
                  <a:tcPr marL="54864" marR="54864" marT="27432" marB="27432">
                    <a:solidFill>
                      <a:srgbClr val="FFFFFF"/>
                    </a:solidFill>
                  </a:tcPr>
                </a:tc>
                <a:tc>
                  <a:txBody>
                    <a:bodyPr/>
                    <a:lstStyle/>
                    <a:p>
                      <a:r>
                        <a:rPr sz="850" b="0">
                          <a:solidFill>
                            <a:srgbClr val="4B4B4B"/>
                          </a:solidFill>
                          <a:latin typeface="Arial"/>
                        </a:rPr>
                        <a:t>Prepares the adjustment on the chosen batches</a:t>
                      </a:r>
                    </a:p>
                  </a:txBody>
                  <a:tcPr marL="54864" marR="54864" marT="27432" marB="27432">
                    <a:solidFill>
                      <a:srgbClr val="FFFFFF"/>
                    </a:solidFill>
                  </a:tcPr>
                </a:tc>
                <a:tc>
                  <a:txBody>
                    <a:bodyPr/>
                    <a:lstStyle/>
                    <a:p>
                      <a:r>
                        <a:rPr sz="850" b="0">
                          <a:solidFill>
                            <a:srgbClr val="4B4B4B"/>
                          </a:solidFill>
                          <a:latin typeface="Arial"/>
                        </a:rPr>
                        <a:t>Prepared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Submit</a:t>
                      </a:r>
                    </a:p>
                  </a:txBody>
                  <a:tcPr marL="54864" marR="54864" marT="27432" marB="27432">
                    <a:solidFill>
                      <a:srgbClr val="E5F5FF"/>
                    </a:solidFill>
                  </a:tcPr>
                </a:tc>
                <a:tc>
                  <a:txBody>
                    <a:bodyPr/>
                    <a:lstStyle/>
                    <a:p>
                      <a:r>
                        <a:rPr sz="850" b="0">
                          <a:solidFill>
                            <a:srgbClr val="4B4B4B"/>
                          </a:solidFill>
                          <a:latin typeface="Arial"/>
                        </a:rPr>
                        <a:t>Comptrollership GL lead</a:t>
                      </a:r>
                    </a:p>
                  </a:txBody>
                  <a:tcPr marL="54864" marR="54864" marT="27432" marB="27432">
                    <a:solidFill>
                      <a:srgbClr val="E5F5FF"/>
                    </a:solidFill>
                  </a:tcPr>
                </a:tc>
                <a:tc>
                  <a:txBody>
                    <a:bodyPr/>
                    <a:lstStyle/>
                    <a:p>
                      <a:r>
                        <a:rPr sz="850" b="0">
                          <a:solidFill>
                            <a:srgbClr val="4B4B4B"/>
                          </a:solidFill>
                          <a:latin typeface="Arial"/>
                        </a:rPr>
                        <a:t>Prepared</a:t>
                      </a:r>
                    </a:p>
                  </a:txBody>
                  <a:tcPr marL="54864" marR="54864" marT="27432" marB="27432">
                    <a:solidFill>
                      <a:srgbClr val="E5F5FF"/>
                    </a:solidFill>
                  </a:tcPr>
                </a:tc>
                <a:tc>
                  <a:txBody>
                    <a:bodyPr/>
                    <a:lstStyle/>
                    <a:p>
                      <a:r>
                        <a:rPr sz="850" b="0">
                          <a:solidFill>
                            <a:srgbClr val="4B4B4B"/>
                          </a:solidFill>
                          <a:latin typeface="Arial"/>
                        </a:rPr>
                        <a:t>Sends the adjustment to the Head of Comptrollership</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a:t>
                      </a:r>
                    </a:p>
                  </a:txBody>
                  <a:tcPr marL="54864" marR="54864" marT="27432" marB="27432">
                    <a:solidFill>
                      <a:srgbClr val="FFFFFF"/>
                    </a:solidFill>
                  </a:tcPr>
                </a:tc>
                <a:tc>
                  <a:txBody>
                    <a:bodyPr/>
                    <a:lstStyle/>
                    <a:p>
                      <a:r>
                        <a:rPr sz="850" b="0">
                          <a:solidFill>
                            <a:srgbClr val="4B4B4B"/>
                          </a:solidFill>
                          <a:latin typeface="Arial"/>
                        </a:rPr>
                        <a:t>Head, Comptrollership</a:t>
                      </a:r>
                    </a:p>
                  </a:txBody>
                  <a:tcPr marL="54864" marR="54864" marT="27432" marB="27432">
                    <a:solidFill>
                      <a:srgbClr val="FFFFFF"/>
                    </a:solidFill>
                  </a:tcPr>
                </a:tc>
                <a:tc>
                  <a:txBody>
                    <a:bodyPr/>
                    <a:lstStyle/>
                    <a:p>
                      <a:r>
                        <a:rPr sz="850" b="0">
                          <a:solidFill>
                            <a:srgbClr val="4B4B4B"/>
                          </a:solidFill>
                          <a:latin typeface="Arial"/>
                        </a:rPr>
                        <a:t>For approval, prepared by another user</a:t>
                      </a:r>
                    </a:p>
                  </a:txBody>
                  <a:tcPr marL="54864" marR="54864" marT="27432" marB="27432">
                    <a:solidFill>
                      <a:srgbClr val="FFFFFF"/>
                    </a:solidFill>
                  </a:tcPr>
                </a:tc>
                <a:tc>
                  <a:txBody>
                    <a:bodyPr/>
                    <a:lstStyle/>
                    <a:p>
                      <a:r>
                        <a:rPr sz="850" b="0">
                          <a:solidFill>
                            <a:srgbClr val="4B4B4B"/>
                          </a:solidFill>
                          <a:latin typeface="Arial"/>
                        </a:rPr>
                        <a:t>Allows the adjustment batch to be loaded; its journals post into the opening period</a:t>
                      </a:r>
                    </a:p>
                  </a:txBody>
                  <a:tcPr marL="54864" marR="54864" marT="27432" marB="27432">
                    <a:solidFill>
                      <a:srgbClr val="FFFFFF"/>
                    </a:solidFill>
                  </a:tcPr>
                </a:tc>
                <a:tc>
                  <a:txBody>
                    <a:bodyPr/>
                    <a:lstStyle/>
                    <a:p>
                      <a:r>
                        <a:rPr sz="850" b="0">
                          <a:solidFill>
                            <a:srgbClr val="4B4B4B"/>
                          </a:solidFill>
                          <a:latin typeface="Arial"/>
                        </a:rPr>
                        <a:t>Approved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Return</a:t>
                      </a:r>
                    </a:p>
                  </a:txBody>
                  <a:tcPr marL="54864" marR="54864" marT="27432" marB="27432">
                    <a:solidFill>
                      <a:srgbClr val="E5F5FF"/>
                    </a:solidFill>
                  </a:tcPr>
                </a:tc>
                <a:tc>
                  <a:txBody>
                    <a:bodyPr/>
                    <a:lstStyle/>
                    <a:p>
                      <a:r>
                        <a:rPr sz="850" b="0">
                          <a:solidFill>
                            <a:srgbClr val="4B4B4B"/>
                          </a:solidFill>
                          <a:latin typeface="Arial"/>
                        </a:rPr>
                        <a:t>Head, Comptrollership</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Returns the adjustment to the preparer with the reason</a:t>
                      </a:r>
                    </a:p>
                  </a:txBody>
                  <a:tcPr marL="54864" marR="54864" marT="27432" marB="27432">
                    <a:solidFill>
                      <a:srgbClr val="E5F5FF"/>
                    </a:solidFill>
                  </a:tcPr>
                </a:tc>
                <a:tc>
                  <a:txBody>
                    <a:bodyPr/>
                    <a:lstStyle/>
                    <a:p>
                      <a:r>
                        <a:rPr sz="850" b="0">
                          <a:solidFill>
                            <a:srgbClr val="4B4B4B"/>
                          </a:solidFill>
                          <a:latin typeface="Arial"/>
                        </a:rPr>
                        <a:t>Prepared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Reconcile</a:t>
                      </a:r>
                    </a:p>
                  </a:txBody>
                  <a:tcPr marL="54864" marR="54864" marT="27432" marB="27432">
                    <a:solidFill>
                      <a:srgbClr val="FFFFFF"/>
                    </a:solidFill>
                  </a:tcPr>
                </a:tc>
                <a:tc>
                  <a:txBody>
                    <a:bodyPr/>
                    <a:lstStyle/>
                    <a:p>
                      <a:r>
                        <a:rPr sz="850" b="0">
                          <a:solidFill>
                            <a:srgbClr val="4B4B4B"/>
                          </a:solidFill>
                          <a:latin typeface="Arial"/>
                        </a:rPr>
                        <a:t>Comptrollership GL lead or Head, Comptrollership</a:t>
                      </a:r>
                    </a:p>
                  </a:txBody>
                  <a:tcPr marL="54864" marR="54864" marT="27432" marB="27432">
                    <a:solidFill>
                      <a:srgbClr val="FFFFFF"/>
                    </a:solidFill>
                  </a:tcPr>
                </a:tc>
                <a:tc>
                  <a:txBody>
                    <a:bodyPr/>
                    <a:lstStyle/>
                    <a:p>
                      <a:r>
                        <a:rPr sz="850" b="0">
                          <a:solidFill>
                            <a:srgbClr val="4B4B4B"/>
                          </a:solidFill>
                          <a:latin typeface="Arial"/>
                        </a:rPr>
                        <a:t>Posted or Reconciled</a:t>
                      </a:r>
                    </a:p>
                  </a:txBody>
                  <a:tcPr marL="54864" marR="54864" marT="27432" marB="27432">
                    <a:solidFill>
                      <a:srgbClr val="FFFFFF"/>
                    </a:solidFill>
                  </a:tcPr>
                </a:tc>
                <a:tc>
                  <a:txBody>
                    <a:bodyPr/>
                    <a:lstStyle/>
                    <a:p>
                      <a:r>
                        <a:rPr sz="850" b="0">
                          <a:solidFill>
                            <a:srgbClr val="4B4B4B"/>
                          </a:solidFill>
                          <a:latin typeface="Arial"/>
                        </a:rPr>
                        <a:t>Compares the adjustment with the legacy trial balances and checks that Migration Clearing is zero</a:t>
                      </a:r>
                    </a:p>
                  </a:txBody>
                  <a:tcPr marL="54864" marR="54864" marT="27432" marB="27432">
                    <a:solidFill>
                      <a:srgbClr val="FFFFFF"/>
                    </a:solidFill>
                  </a:tcPr>
                </a:tc>
                <a:tc>
                  <a:txBody>
                    <a:bodyPr/>
                    <a:lstStyle/>
                    <a:p>
                      <a:r>
                        <a:rPr sz="850" b="0">
                          <a:solidFill>
                            <a:srgbClr val="4B4B4B"/>
                          </a:solidFill>
                          <a:latin typeface="Arial"/>
                        </a:rPr>
                        <a:t>Reconciled when every check is met</a:t>
                      </a:r>
                    </a:p>
                  </a:txBody>
                  <a:tcPr marL="54864" marR="54864" marT="27432" marB="27432">
                    <a:solidFill>
                      <a:srgbClr val="FFFFFF"/>
                    </a:solidFill>
                  </a:tcPr>
                </a:tc>
                <a:tc>
                  <a:txBody>
                    <a:bodyPr/>
                    <a:lstStyle/>
                    <a:p>
                      <a:r>
                        <a:rPr sz="850" b="0">
                          <a:solidFill>
                            <a:srgbClr val="4B4B4B"/>
                          </a:solidFill>
                          <a:latin typeface="Arial"/>
                        </a:rPr>
                        <a:t>Alert when a check breaks</a:t>
                      </a:r>
                    </a:p>
                  </a:txBody>
                  <a:tcPr marL="54864" marR="54864" marT="27432" marB="27432">
                    <a:solidFill>
                      <a:srgbClr val="FFFFFF"/>
                    </a:solidFill>
                  </a:tcPr>
                </a:tc>
              </a:tr>
              <a:tr h="220979">
                <a:tc>
                  <a:txBody>
                    <a:bodyPr/>
                    <a:lstStyle/>
                    <a:p>
                      <a:r>
                        <a:rPr sz="850" b="0">
                          <a:solidFill>
                            <a:srgbClr val="4B4B4B"/>
                          </a:solidFill>
                          <a:latin typeface="Arial"/>
                        </a:rPr>
                        <a:t>Sign</a:t>
                      </a:r>
                    </a:p>
                  </a:txBody>
                  <a:tcPr marL="54864" marR="54864" marT="27432" marB="27432">
                    <a:solidFill>
                      <a:srgbClr val="E5F5FF"/>
                    </a:solidFill>
                  </a:tcPr>
                </a:tc>
                <a:tc>
                  <a:txBody>
                    <a:bodyPr/>
                    <a:lstStyle/>
                    <a:p>
                      <a:r>
                        <a:rPr sz="850" b="0">
                          <a:solidFill>
                            <a:srgbClr val="4B4B4B"/>
                          </a:solidFill>
                          <a:latin typeface="Arial"/>
                        </a:rPr>
                        <a:t>Head, Comptrollership</a:t>
                      </a:r>
                    </a:p>
                  </a:txBody>
                  <a:tcPr marL="54864" marR="54864" marT="27432" marB="27432">
                    <a:solidFill>
                      <a:srgbClr val="E5F5FF"/>
                    </a:solidFill>
                  </a:tcPr>
                </a:tc>
                <a:tc>
                  <a:txBody>
                    <a:bodyPr/>
                    <a:lstStyle/>
                    <a:p>
                      <a:r>
                        <a:rPr sz="850" b="0">
                          <a:solidFill>
                            <a:srgbClr val="4B4B4B"/>
                          </a:solidFill>
                          <a:latin typeface="Arial"/>
                        </a:rPr>
                        <a:t>Reconciled</a:t>
                      </a:r>
                    </a:p>
                  </a:txBody>
                  <a:tcPr marL="54864" marR="54864" marT="27432" marB="27432">
                    <a:solidFill>
                      <a:srgbClr val="E5F5FF"/>
                    </a:solidFill>
                  </a:tcPr>
                </a:tc>
                <a:tc>
                  <a:txBody>
                    <a:bodyPr/>
                    <a:lstStyle/>
                    <a:p>
                      <a:r>
                        <a:rPr sz="850" b="0">
                          <a:solidFill>
                            <a:srgbClr val="4B4B4B"/>
                          </a:solidFill>
                          <a:latin typeface="Arial"/>
                        </a:rPr>
                        <a:t>Signs the reconciled adjustment</a:t>
                      </a:r>
                    </a:p>
                  </a:txBody>
                  <a:tcPr marL="54864" marR="54864" marT="27432" marB="27432">
                    <a:solidFill>
                      <a:srgbClr val="E5F5FF"/>
                    </a:solidFill>
                  </a:tcPr>
                </a:tc>
                <a:tc>
                  <a:txBody>
                    <a:bodyPr/>
                    <a:lstStyle/>
                    <a:p>
                      <a:r>
                        <a:rPr sz="850" b="0">
                          <a:solidFill>
                            <a:srgbClr val="4B4B4B"/>
                          </a:solidFill>
                          <a:latin typeface="Arial"/>
                        </a:rPr>
                        <a:t>Signed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SCR-DM-11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256</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Only journals dated in FY2027, posted in legacy after the freeze and entered in the FY2027 adjustment register are accepted (FR-DM-023).</a:t>
                      </a:r>
                    </a:p>
                  </a:txBody>
                  <a:tcPr marL="54864" marR="54864" marT="27432" marB="27432">
                    <a:solidFill>
                      <a:srgbClr val="FFFFFF"/>
                    </a:solidFill>
                  </a:tcPr>
                </a:tc>
              </a:tr>
              <a:tr h="243840">
                <a:tc>
                  <a:txBody>
                    <a:bodyPr/>
                    <a:lstStyle/>
                    <a:p>
                      <a:r>
                        <a:rPr sz="1000" b="0">
                          <a:solidFill>
                            <a:srgbClr val="4B4B4B"/>
                          </a:solidFill>
                          <a:latin typeface="Arial"/>
                        </a:rPr>
                        <a:t>FY2027 profit and loss lines post to retained earnings; lines on legacy control accounts post to Migration Clearing with their open-item detail (FR-DM-023).</a:t>
                      </a:r>
                    </a:p>
                  </a:txBody>
                  <a:tcPr marL="54864" marR="54864" marT="27432" marB="27432">
                    <a:solidFill>
                      <a:srgbClr val="E5F5FF"/>
                    </a:solidFill>
                  </a:tcPr>
                </a:tc>
              </a:tr>
              <a:tr h="243840">
                <a:tc>
                  <a:txBody>
                    <a:bodyPr/>
                    <a:lstStyle/>
                    <a:p>
                      <a:r>
                        <a:rPr sz="1000" b="0">
                          <a:solidFill>
                            <a:srgbClr val="4B4B4B"/>
                          </a:solidFill>
                          <a:latin typeface="Arial"/>
                        </a:rPr>
                        <a:t>The preparer never approves; a wrong adjustment is corrected by the next adjustment, never by changing a posted journal (FR-DM-023).</a:t>
                      </a:r>
                    </a:p>
                  </a:txBody>
                  <a:tcPr marL="54864" marR="54864" marT="27432" marB="27432">
                    <a:solidFill>
                      <a:srgbClr val="FFFFFF"/>
                    </a:solidFill>
                  </a:tcPr>
                </a:tc>
              </a:tr>
              <a:tr h="243840">
                <a:tc>
                  <a:txBody>
                    <a:bodyPr/>
                    <a:lstStyle/>
                    <a:p>
                      <a:r>
                        <a:rPr sz="1000" b="0">
                          <a:solidFill>
                            <a:srgbClr val="4B4B4B"/>
                          </a:solidFill>
                          <a:latin typeface="Arial"/>
                        </a:rPr>
                        <a:t>An adjustment is signed only when the cut-off, movement, balance, clearing and opening-period checks are met (FR-DM-024).</a:t>
                      </a:r>
                    </a:p>
                  </a:txBody>
                  <a:tcPr marL="54864" marR="54864" marT="27432" marB="27432">
                    <a:solidFill>
                      <a:srgbClr val="E5F5FF"/>
                    </a:solidFill>
                  </a:tcPr>
                </a:tc>
              </a:tr>
            </a:tbl>
          </a:graphicData>
        </a:graphic>
      </p:graphicFrame>
    </p:spTree>
  </p:cSld>
  <p:clrMapOvr>
    <a:masterClrMapping/>
  </p:clrMapOvr>
</p:sld>
</file>

<file path=ppt/slides/slide2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SCR-DM-11 Opening-Balance Adjustments: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1-01-list.png"/>
          <p:cNvPicPr>
            <a:picLocks noChangeAspect="1"/>
          </p:cNvPicPr>
          <p:nvPr/>
        </p:nvPicPr>
        <p:blipFill>
          <a:blip r:embed="rId3"/>
          <a:stretch>
            <a:fillRect/>
          </a:stretch>
        </p:blipFill>
        <p:spPr>
          <a:xfrm>
            <a:off x="548640" y="1261872"/>
            <a:ext cx="11094415" cy="411258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Opening-balance adjustments with their batches and status</a:t>
            </a:r>
          </a:p>
        </p:txBody>
      </p:sp>
    </p:spTree>
  </p:cSld>
  <p:clrMapOvr>
    <a:masterClrMapping/>
  </p:clrMapOvr>
</p:sld>
</file>

<file path=ppt/slides/slide2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SCR-DM-11 Opening-Balance Adjustments: Filled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Filled</a:t>
            </a:r>
          </a:p>
        </p:txBody>
      </p:sp>
      <p:pic>
        <p:nvPicPr>
          <p:cNvPr id="10" name="Picture 9" descr="scr-dm-11-02-prepare.png"/>
          <p:cNvPicPr>
            <a:picLocks noChangeAspect="1"/>
          </p:cNvPicPr>
          <p:nvPr/>
        </p:nvPicPr>
        <p:blipFill>
          <a:blip r:embed="rId3"/>
          <a:stretch>
            <a:fillRect/>
          </a:stretch>
        </p:blipFill>
        <p:spPr>
          <a:xfrm>
            <a:off x="548640" y="1261872"/>
            <a:ext cx="11094415" cy="427877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Prepare Adjustment dialog</a:t>
            </a:r>
          </a:p>
        </p:txBody>
      </p:sp>
    </p:spTree>
  </p:cSld>
  <p:clrMapOvr>
    <a:masterClrMapping/>
  </p:clrMapOvr>
</p:sld>
</file>

<file path=ppt/slides/slide2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259</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CHG-DM-2.1-02</a:t>
            </a:r>
          </a:p>
        </p:txBody>
      </p:sp>
      <p:graphicFrame>
        <p:nvGraphicFramePr>
          <p:cNvPr id="10" name="Table 9"/>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Cut-over, adjustments and run-off</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mock runs, the dress rehearsal and the production cut-over, each a plan with its runbook of tasks planned from the go-live date, the twelve go / no-go criteria and the decisions of the board. Task owners start, complete or block their tasks; the criteria are measured by BIBS or recorded with their evidence; the board decides GO or NO-GO. The runbook downloads as a workbook.</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Cutover</a:t>
                      </a:r>
                    </a:p>
                    <a:p>
                      <a:r>
                        <a:rPr sz="950" b="0">
                          <a:solidFill>
                            <a:srgbClr val="4B4B4B"/>
                          </a:solidFill>
                          <a:latin typeface="Arial"/>
                        </a:rPr>
                        <a:t>Migration Home › Next cut-over tasks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19.2.2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FR-DM-120, FR-DM-121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cut-over follows a rehearsed plan and go-live is decided on measured criteria.</a:t>
                      </a:r>
                    </a:p>
                  </a:txBody>
                  <a:tcPr marL="54864" marR="54864" marT="27432" marB="27432">
                    <a:solidFill>
                      <a:srgbClr val="FFFFFF"/>
                    </a:solidFill>
                  </a:tcPr>
                </a:tc>
              </a:tr>
            </a:tbl>
          </a:graphicData>
        </a:graphic>
      </p:graphicFrame>
      <p:sp>
        <p:nvSpPr>
          <p:cNvPr id="11" name="TextBox 10"/>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2" name="Table 11"/>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SCR-DM-12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260</a:t>
            </a:r>
          </a:p>
        </p:txBody>
      </p:sp>
      <p:graphicFrame>
        <p:nvGraphicFramePr>
          <p:cNvPr id="9" name="Table 8"/>
          <p:cNvGraphicFramePr>
            <a:graphicFrameLocks noGrp="1"/>
          </p:cNvGraphicFramePr>
          <p:nvPr/>
        </p:nvGraphicFramePr>
        <p:xfrm>
          <a:off x="548640" y="1325880"/>
          <a:ext cx="11094411" cy="329944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Plans</a:t>
                      </a:r>
                    </a:p>
                  </a:txBody>
                  <a:tcPr marL="54864" marR="54864" marT="27432" marB="27432">
                    <a:solidFill>
                      <a:srgbClr val="FFFFFF"/>
                    </a:solidFill>
                  </a:tcPr>
                </a:tc>
                <a:tc>
                  <a:txBody>
                    <a:bodyPr/>
                    <a:lstStyle/>
                    <a:p>
                      <a:r>
                        <a:rPr sz="850" b="0">
                          <a:solidFill>
                            <a:srgbClr val="4B4B4B"/>
                          </a:solidFill>
                          <a:latin typeface="Arial"/>
                        </a:rPr>
                        <a:t>Plan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plan number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Plans</a:t>
                      </a:r>
                    </a:p>
                  </a:txBody>
                  <a:tcPr marL="54864" marR="54864" marT="27432" marB="27432">
                    <a:solidFill>
                      <a:srgbClr val="E5F5FF"/>
                    </a:solidFill>
                  </a:tcPr>
                </a:tc>
                <a:tc>
                  <a:txBody>
                    <a:bodyPr/>
                    <a:lstStyle/>
                    <a:p>
                      <a:r>
                        <a:rPr sz="850" b="0">
                          <a:solidFill>
                            <a:srgbClr val="4B4B4B"/>
                          </a:solidFill>
                          <a:latin typeface="Arial"/>
                        </a:rPr>
                        <a:t>Kind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Mock run with its number, Dress rehearsal, Production cut-over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Plans</a:t>
                      </a:r>
                    </a:p>
                  </a:txBody>
                  <a:tcPr marL="54864" marR="54864" marT="27432" marB="27432">
                    <a:solidFill>
                      <a:srgbClr val="FFFFFF"/>
                    </a:solidFill>
                  </a:tcPr>
                </a:tc>
                <a:tc>
                  <a:txBody>
                    <a:bodyPr/>
                    <a:lstStyle/>
                    <a:p>
                      <a:r>
                        <a:rPr sz="850" b="0">
                          <a:solidFill>
                            <a:srgbClr val="4B4B4B"/>
                          </a:solidFill>
                          <a:latin typeface="Arial"/>
                        </a:rPr>
                        <a:t>Environment, Go-live, Status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SIT, UAT, PERF or PROD; dd-MMM-yyyy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New Cutover Plan</a:t>
                      </a:r>
                    </a:p>
                  </a:txBody>
                  <a:tcPr marL="54864" marR="54864" marT="27432" marB="27432">
                    <a:solidFill>
                      <a:srgbClr val="E5F5FF"/>
                    </a:solidFill>
                  </a:tcPr>
                </a:tc>
                <a:tc>
                  <a:txBody>
                    <a:bodyPr/>
                    <a:lstStyle/>
                    <a:p>
                      <a:r>
                        <a:rPr sz="850" b="0">
                          <a:solidFill>
                            <a:srgbClr val="4B4B4B"/>
                          </a:solidFill>
                          <a:latin typeface="Arial"/>
                        </a:rPr>
                        <a:t>Name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120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New Cutover Plan</a:t>
                      </a:r>
                    </a:p>
                  </a:txBody>
                  <a:tcPr marL="54864" marR="54864" marT="27432" marB="27432">
                    <a:solidFill>
                      <a:srgbClr val="FFFFFF"/>
                    </a:solidFill>
                  </a:tcPr>
                </a:tc>
                <a:tc>
                  <a:txBody>
                    <a:bodyPr/>
                    <a:lstStyle/>
                    <a:p>
                      <a:r>
                        <a:rPr sz="850" b="0">
                          <a:solidFill>
                            <a:srgbClr val="4B4B4B"/>
                          </a:solidFill>
                          <a:latin typeface="Arial"/>
                        </a:rPr>
                        <a:t>Kind</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Mock run, Dress rehearsal, Production cut-over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Cutover Plan</a:t>
                      </a:r>
                    </a:p>
                  </a:txBody>
                  <a:tcPr marL="54864" marR="54864" marT="27432" marB="27432">
                    <a:solidFill>
                      <a:srgbClr val="E5F5FF"/>
                    </a:solidFill>
                  </a:tcPr>
                </a:tc>
                <a:tc>
                  <a:txBody>
                    <a:bodyPr/>
                    <a:lstStyle/>
                    <a:p>
                      <a:r>
                        <a:rPr sz="850" b="0">
                          <a:solidFill>
                            <a:srgbClr val="4B4B4B"/>
                          </a:solidFill>
                          <a:latin typeface="Arial"/>
                        </a:rPr>
                        <a:t>Mock No.</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1 or more</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For a mock run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Cutover Plan</a:t>
                      </a:r>
                    </a:p>
                  </a:txBody>
                  <a:tcPr marL="54864" marR="54864" marT="27432" marB="27432">
                    <a:solidFill>
                      <a:srgbClr val="FFFFFF"/>
                    </a:solidFill>
                  </a:tcPr>
                </a:tc>
                <a:tc>
                  <a:txBody>
                    <a:bodyPr/>
                    <a:lstStyle/>
                    <a:p>
                      <a:r>
                        <a:rPr sz="850" b="0">
                          <a:solidFill>
                            <a:srgbClr val="4B4B4B"/>
                          </a:solidFill>
                          <a:latin typeface="Arial"/>
                        </a:rPr>
                        <a:t>Environment</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SIT, UAT, PERF or PROD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New Cutover Plan</a:t>
                      </a:r>
                    </a:p>
                  </a:txBody>
                  <a:tcPr marL="54864" marR="54864" marT="27432" marB="27432">
                    <a:solidFill>
                      <a:srgbClr val="E5F5FF"/>
                    </a:solidFill>
                  </a:tcPr>
                </a:tc>
                <a:tc>
                  <a:txBody>
                    <a:bodyPr/>
                    <a:lstStyle/>
                    <a:p>
                      <a:r>
                        <a:rPr sz="850" b="0">
                          <a:solidFill>
                            <a:srgbClr val="4B4B4B"/>
                          </a:solidFill>
                          <a:latin typeface="Arial"/>
                        </a:rPr>
                        <a:t>Go-live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Give the go-live date of the plan</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Runbook</a:t>
                      </a:r>
                    </a:p>
                  </a:txBody>
                  <a:tcPr marL="54864" marR="54864" marT="27432" marB="27432">
                    <a:solidFill>
                      <a:srgbClr val="FFFFFF"/>
                    </a:solidFill>
                  </a:tcPr>
                </a:tc>
                <a:tc>
                  <a:txBody>
                    <a:bodyPr/>
                    <a:lstStyle/>
                    <a:p>
                      <a:r>
                        <a:rPr sz="850" b="0">
                          <a:solidFill>
                            <a:srgbClr val="4B4B4B"/>
                          </a:solidFill>
                          <a:latin typeface="Arial"/>
                        </a:rPr>
                        <a:t>No., Task, Owner, After, Planned, Actual,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Phase under the task; object under the owner; reason under the status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Go / No-Go Criteria</a:t>
                      </a:r>
                    </a:p>
                  </a:txBody>
                  <a:tcPr marL="54864" marR="54864" marT="27432" marB="27432">
                    <a:solidFill>
                      <a:srgbClr val="E5F5FF"/>
                    </a:solidFill>
                  </a:tcPr>
                </a:tc>
                <a:tc>
                  <a:txBody>
                    <a:bodyPr/>
                    <a:lstStyle/>
                    <a:p>
                      <a:r>
                        <a:rPr sz="850" b="0">
                          <a:solidFill>
                            <a:srgbClr val="4B4B4B"/>
                          </a:solidFill>
                          <a:latin typeface="Arial"/>
                        </a:rPr>
                        <a:t>No., Criterion, Kind, Measured, Result</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Threshold under the criterion; Measured or Recorded; Open, Met, Not met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Decisions</a:t>
                      </a:r>
                    </a:p>
                  </a:txBody>
                  <a:tcPr marL="54864" marR="54864" marT="27432" marB="27432">
                    <a:solidFill>
                      <a:srgbClr val="FFFFFF"/>
                    </a:solidFill>
                  </a:tcPr>
                </a:tc>
                <a:tc>
                  <a:txBody>
                    <a:bodyPr/>
                    <a:lstStyle/>
                    <a:p>
                      <a:r>
                        <a:rPr sz="850" b="0">
                          <a:solidFill>
                            <a:srgbClr val="4B4B4B"/>
                          </a:solidFill>
                          <a:latin typeface="Arial"/>
                        </a:rPr>
                        <a:t>Decision, Criteria met, Decided by, At, Comment</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GO or NO-GO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261</a:t>
            </a:r>
          </a:p>
        </p:txBody>
      </p:sp>
      <p:graphicFrame>
        <p:nvGraphicFramePr>
          <p:cNvPr id="9" name="Table 8"/>
          <p:cNvGraphicFramePr>
            <a:graphicFrameLocks noGrp="1"/>
          </p:cNvGraphicFramePr>
          <p:nvPr/>
        </p:nvGraphicFramePr>
        <p:xfrm>
          <a:off x="548640" y="1325880"/>
          <a:ext cx="11094412" cy="302512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New Plan</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Creates a plan; its runbook tasks and the twelve criteria are created from the go-live date</a:t>
                      </a:r>
                    </a:p>
                  </a:txBody>
                  <a:tcPr marL="54864" marR="54864" marT="27432" marB="27432">
                    <a:solidFill>
                      <a:srgbClr val="FFFFFF"/>
                    </a:solidFill>
                  </a:tcPr>
                </a:tc>
                <a:tc>
                  <a:txBody>
                    <a:bodyPr/>
                    <a:lstStyle/>
                    <a:p>
                      <a:r>
                        <a:rPr sz="850" b="0">
                          <a:solidFill>
                            <a:srgbClr val="4B4B4B"/>
                          </a:solidFill>
                          <a:latin typeface="Arial"/>
                        </a:rPr>
                        <a:t>Planned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609596">
                <a:tc>
                  <a:txBody>
                    <a:bodyPr/>
                    <a:lstStyle/>
                    <a:p>
                      <a:r>
                        <a:rPr sz="850" b="0">
                          <a:solidFill>
                            <a:srgbClr val="4B4B4B"/>
                          </a:solidFill>
                          <a:latin typeface="Arial"/>
                        </a:rPr>
                        <a:t>Create</a:t>
                      </a:r>
                    </a:p>
                  </a:txBody>
                  <a:tcPr marL="54864" marR="54864" marT="27432" marB="27432">
                    <a:solidFill>
                      <a:srgbClr val="E5F5FF"/>
                    </a:solidFill>
                  </a:tcPr>
                </a:tc>
                <a:tc>
                  <a:txBody>
                    <a:bodyPr/>
                    <a:lstStyle/>
                    <a:p>
                      <a:r>
                        <a:rPr sz="850" b="0">
                          <a:solidFill>
                            <a:srgbClr val="4B4B4B"/>
                          </a:solidFill>
                          <a:latin typeface="Arial"/>
                        </a:rPr>
                        <a:t>Data Migration Lead</a:t>
                      </a:r>
                    </a:p>
                  </a:txBody>
                  <a:tcPr marL="54864" marR="54864" marT="27432" marB="27432">
                    <a:solidFill>
                      <a:srgbClr val="E5F5FF"/>
                    </a:solidFill>
                  </a:tcPr>
                </a:tc>
                <a:tc>
                  <a:txBody>
                    <a:bodyPr/>
                    <a:lstStyle/>
                    <a:p>
                      <a:r>
                        <a:rPr sz="850" b="0">
                          <a:solidFill>
                            <a:srgbClr val="4B4B4B"/>
                          </a:solidFill>
                          <a:latin typeface="Arial"/>
                        </a:rPr>
                        <a:t>Name, environment and go-live date given (until then the dialog says what is still needed)</a:t>
                      </a:r>
                    </a:p>
                  </a:txBody>
                  <a:tcPr marL="54864" marR="54864" marT="27432" marB="27432">
                    <a:solidFill>
                      <a:srgbClr val="E5F5FF"/>
                    </a:solidFill>
                  </a:tcPr>
                </a:tc>
                <a:tc>
                  <a:txBody>
                    <a:bodyPr/>
                    <a:lstStyle/>
                    <a:p>
                      <a:r>
                        <a:rPr sz="850" b="0">
                          <a:solidFill>
                            <a:srgbClr val="4B4B4B"/>
                          </a:solidFill>
                          <a:latin typeface="Arial"/>
                        </a:rPr>
                        <a:t>Creates the plan of the New Cutover Plan dialog</a:t>
                      </a:r>
                    </a:p>
                  </a:txBody>
                  <a:tcPr marL="54864" marR="54864" marT="27432" marB="27432">
                    <a:solidFill>
                      <a:srgbClr val="E5F5FF"/>
                    </a:solidFill>
                  </a:tcPr>
                </a:tc>
                <a:tc>
                  <a:txBody>
                    <a:bodyPr/>
                    <a:lstStyle/>
                    <a:p>
                      <a:r>
                        <a:rPr sz="850" b="0">
                          <a:solidFill>
                            <a:srgbClr val="4B4B4B"/>
                          </a:solidFill>
                          <a:latin typeface="Arial"/>
                        </a:rPr>
                        <a:t>Planned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Runbook</a:t>
                      </a:r>
                    </a:p>
                  </a:txBody>
                  <a:tcPr marL="54864" marR="54864" marT="27432" marB="27432">
                    <a:solidFill>
                      <a:srgbClr val="FFFFFF"/>
                    </a:solidFill>
                  </a:tcPr>
                </a:tc>
                <a:tc>
                  <a:txBody>
                    <a:bodyPr/>
                    <a:lstStyle/>
                    <a:p>
                      <a:r>
                        <a:rPr sz="850" b="0">
                          <a:solidFill>
                            <a:srgbClr val="4B4B4B"/>
                          </a:solidFill>
                          <a:latin typeface="Arial"/>
                        </a:rPr>
                        <a:t>Every migration role</a:t>
                      </a:r>
                    </a:p>
                  </a:txBody>
                  <a:tcPr marL="54864" marR="54864" marT="27432" marB="27432">
                    <a:solidFill>
                      <a:srgbClr val="FFFFFF"/>
                    </a:solidFill>
                  </a:tcPr>
                </a:tc>
                <a:tc>
                  <a:txBody>
                    <a:bodyPr/>
                    <a:lstStyle/>
                    <a:p>
                      <a:r>
                        <a:rPr sz="850" b="0">
                          <a:solidFill>
                            <a:srgbClr val="4B4B4B"/>
                          </a:solidFill>
                          <a:latin typeface="Arial"/>
                        </a:rPr>
                        <a:t>A plan is open</a:t>
                      </a:r>
                    </a:p>
                  </a:txBody>
                  <a:tcPr marL="54864" marR="54864" marT="27432" marB="27432">
                    <a:solidFill>
                      <a:srgbClr val="FFFFFF"/>
                    </a:solidFill>
                  </a:tcPr>
                </a:tc>
                <a:tc>
                  <a:txBody>
                    <a:bodyPr/>
                    <a:lstStyle/>
                    <a:p>
                      <a:r>
                        <a:rPr sz="850" b="0">
                          <a:solidFill>
                            <a:srgbClr val="4B4B4B"/>
                          </a:solidFill>
                          <a:latin typeface="Arial"/>
                        </a:rPr>
                        <a:t>Downloads the runbook workbook of the plan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Measure Criteria</a:t>
                      </a:r>
                    </a:p>
                  </a:txBody>
                  <a:tcPr marL="54864" marR="54864" marT="27432" marB="27432">
                    <a:solidFill>
                      <a:srgbClr val="E5F5FF"/>
                    </a:solidFill>
                  </a:tcPr>
                </a:tc>
                <a:tc>
                  <a:txBody>
                    <a:bodyPr/>
                    <a:lstStyle/>
                    <a:p>
                      <a:r>
                        <a:rPr sz="850" b="0">
                          <a:solidFill>
                            <a:srgbClr val="4B4B4B"/>
                          </a:solidFill>
                          <a:latin typeface="Arial"/>
                        </a:rPr>
                        <a:t>Data Migration Lead or the board</a:t>
                      </a:r>
                    </a:p>
                  </a:txBody>
                  <a:tcPr marL="54864" marR="54864" marT="27432" marB="27432">
                    <a:solidFill>
                      <a:srgbClr val="E5F5FF"/>
                    </a:solidFill>
                  </a:tcPr>
                </a:tc>
                <a:tc>
                  <a:txBody>
                    <a:bodyPr/>
                    <a:lstStyle/>
                    <a:p>
                      <a:r>
                        <a:rPr sz="850" b="0">
                          <a:solidFill>
                            <a:srgbClr val="4B4B4B"/>
                          </a:solidFill>
                          <a:latin typeface="Arial"/>
                        </a:rPr>
                        <a:t>A plan is open</a:t>
                      </a:r>
                    </a:p>
                  </a:txBody>
                  <a:tcPr marL="54864" marR="54864" marT="27432" marB="27432">
                    <a:solidFill>
                      <a:srgbClr val="E5F5FF"/>
                    </a:solidFill>
                  </a:tcPr>
                </a:tc>
                <a:tc>
                  <a:txBody>
                    <a:bodyPr/>
                    <a:lstStyle/>
                    <a:p>
                      <a:r>
                        <a:rPr sz="850" b="0">
                          <a:solidFill>
                            <a:srgbClr val="4B4B4B"/>
                          </a:solidFill>
                          <a:latin typeface="Arial"/>
                        </a:rPr>
                        <a:t>Measures the criteria that BIBS measures (acceptance, counts, financial rejects, amounts, clearing, legacy accounts, client queue)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Start, Done, Block</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Task not started, in progress or blocked</a:t>
                      </a:r>
                    </a:p>
                  </a:txBody>
                  <a:tcPr marL="54864" marR="54864" marT="27432" marB="27432">
                    <a:solidFill>
                      <a:srgbClr val="FFFFFF"/>
                    </a:solidFill>
                  </a:tcPr>
                </a:tc>
                <a:tc>
                  <a:txBody>
                    <a:bodyPr/>
                    <a:lstStyle/>
                    <a:p>
                      <a:r>
                        <a:rPr sz="850" b="0">
                          <a:solidFill>
                            <a:srgbClr val="4B4B4B"/>
                          </a:solidFill>
                          <a:latin typeface="Arial"/>
                        </a:rPr>
                        <a:t>Records the actual start or end; a block needs its reason</a:t>
                      </a:r>
                    </a:p>
                  </a:txBody>
                  <a:tcPr marL="54864" marR="54864" marT="27432" marB="27432">
                    <a:solidFill>
                      <a:srgbClr val="FFFFFF"/>
                    </a:solidFill>
                  </a:tcPr>
                </a:tc>
                <a:tc>
                  <a:txBody>
                    <a:bodyPr/>
                    <a:lstStyle/>
                    <a:p>
                      <a:r>
                        <a:rPr sz="850" b="0">
                          <a:solidFill>
                            <a:srgbClr val="4B4B4B"/>
                          </a:solidFill>
                          <a:latin typeface="Arial"/>
                        </a:rPr>
                        <a:t>In progress, Done, Blocked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Met, Not met</a:t>
                      </a:r>
                    </a:p>
                  </a:txBody>
                  <a:tcPr marL="54864" marR="54864" marT="27432" marB="27432">
                    <a:solidFill>
                      <a:srgbClr val="E5F5FF"/>
                    </a:solidFill>
                  </a:tcPr>
                </a:tc>
                <a:tc>
                  <a:txBody>
                    <a:bodyPr/>
                    <a:lstStyle/>
                    <a:p>
                      <a:r>
                        <a:rPr sz="850" b="0">
                          <a:solidFill>
                            <a:srgbClr val="4B4B4B"/>
                          </a:solidFill>
                          <a:latin typeface="Arial"/>
                        </a:rPr>
                        <a:t>Data Migration Lead</a:t>
                      </a:r>
                    </a:p>
                  </a:txBody>
                  <a:tcPr marL="54864" marR="54864" marT="27432" marB="27432">
                    <a:solidFill>
                      <a:srgbClr val="E5F5FF"/>
                    </a:solidFill>
                  </a:tcPr>
                </a:tc>
                <a:tc>
                  <a:txBody>
                    <a:bodyPr/>
                    <a:lstStyle/>
                    <a:p>
                      <a:r>
                        <a:rPr sz="850" b="0">
                          <a:solidFill>
                            <a:srgbClr val="4B4B4B"/>
                          </a:solidFill>
                          <a:latin typeface="Arial"/>
                        </a:rPr>
                        <a:t>Recorded criterion</a:t>
                      </a:r>
                    </a:p>
                  </a:txBody>
                  <a:tcPr marL="54864" marR="54864" marT="27432" marB="27432">
                    <a:solidFill>
                      <a:srgbClr val="E5F5FF"/>
                    </a:solidFill>
                  </a:tcPr>
                </a:tc>
                <a:tc>
                  <a:txBody>
                    <a:bodyPr/>
                    <a:lstStyle/>
                    <a:p>
                      <a:r>
                        <a:rPr sz="850" b="0">
                          <a:solidFill>
                            <a:srgbClr val="4B4B4B"/>
                          </a:solidFill>
                          <a:latin typeface="Arial"/>
                        </a:rPr>
                        <a:t>Records a criterion that BIBS does not measure, with its evidence</a:t>
                      </a:r>
                    </a:p>
                  </a:txBody>
                  <a:tcPr marL="54864" marR="54864" marT="27432" marB="27432">
                    <a:solidFill>
                      <a:srgbClr val="E5F5FF"/>
                    </a:solidFill>
                  </a:tcPr>
                </a:tc>
                <a:tc>
                  <a:txBody>
                    <a:bodyPr/>
                    <a:lstStyle/>
                    <a:p>
                      <a:r>
                        <a:rPr sz="850" b="0">
                          <a:solidFill>
                            <a:srgbClr val="4B4B4B"/>
                          </a:solidFill>
                          <a:latin typeface="Arial"/>
                        </a:rPr>
                        <a:t>Met or Not met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GO</a:t>
                      </a:r>
                    </a:p>
                  </a:txBody>
                  <a:tcPr marL="54864" marR="54864" marT="27432" marB="27432">
                    <a:solidFill>
                      <a:srgbClr val="FFFFFF"/>
                    </a:solidFill>
                  </a:tcPr>
                </a:tc>
                <a:tc>
                  <a:txBody>
                    <a:bodyPr/>
                    <a:lstStyle/>
                    <a:p>
                      <a:r>
                        <a:rPr sz="850" b="0">
                          <a:solidFill>
                            <a:srgbClr val="4B4B4B"/>
                          </a:solidFill>
                          <a:latin typeface="Arial"/>
                        </a:rPr>
                        <a:t>Go / no-go board</a:t>
                      </a:r>
                    </a:p>
                  </a:txBody>
                  <a:tcPr marL="54864" marR="54864" marT="27432" marB="27432">
                    <a:solidFill>
                      <a:srgbClr val="FFFFFF"/>
                    </a:solidFill>
                  </a:tcPr>
                </a:tc>
                <a:tc>
                  <a:txBody>
                    <a:bodyPr/>
                    <a:lstStyle/>
                    <a:p>
                      <a:r>
                        <a:rPr sz="850" b="0">
                          <a:solidFill>
                            <a:srgbClr val="4B4B4B"/>
                          </a:solidFill>
                          <a:latin typeface="Arial"/>
                        </a:rPr>
                        <a:t>A plan is open</a:t>
                      </a:r>
                    </a:p>
                  </a:txBody>
                  <a:tcPr marL="54864" marR="54864" marT="27432" marB="27432">
                    <a:solidFill>
                      <a:srgbClr val="FFFFFF"/>
                    </a:solidFill>
                  </a:tcPr>
                </a:tc>
                <a:tc>
                  <a:txBody>
                    <a:bodyPr/>
                    <a:lstStyle/>
                    <a:p>
                      <a:r>
                        <a:rPr sz="850" b="0">
                          <a:solidFill>
                            <a:srgbClr val="4B4B4B"/>
                          </a:solidFill>
                          <a:latin typeface="Arial"/>
                        </a:rPr>
                        <a:t>Records GO; when a criterion is not met the justification is mandatory; on the production plan it signs gate G7</a:t>
                      </a:r>
                    </a:p>
                  </a:txBody>
                  <a:tcPr marL="54864" marR="54864" marT="27432" marB="27432">
                    <a:solidFill>
                      <a:srgbClr val="FFFFFF"/>
                    </a:solidFill>
                  </a:tcPr>
                </a:tc>
                <a:tc>
                  <a:txBody>
                    <a:bodyPr/>
                    <a:lstStyle/>
                    <a:p>
                      <a:r>
                        <a:rPr sz="850" b="0">
                          <a:solidFill>
                            <a:srgbClr val="4B4B4B"/>
                          </a:solidFill>
                          <a:latin typeface="Arial"/>
                        </a:rPr>
                        <a:t>GO</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NO-GO</a:t>
                      </a:r>
                    </a:p>
                  </a:txBody>
                  <a:tcPr marL="54864" marR="54864" marT="27432" marB="27432">
                    <a:solidFill>
                      <a:srgbClr val="E5F5FF"/>
                    </a:solidFill>
                  </a:tcPr>
                </a:tc>
                <a:tc>
                  <a:txBody>
                    <a:bodyPr/>
                    <a:lstStyle/>
                    <a:p>
                      <a:r>
                        <a:rPr sz="850" b="0">
                          <a:solidFill>
                            <a:srgbClr val="4B4B4B"/>
                          </a:solidFill>
                          <a:latin typeface="Arial"/>
                        </a:rPr>
                        <a:t>Go / no-go board</a:t>
                      </a:r>
                    </a:p>
                  </a:txBody>
                  <a:tcPr marL="54864" marR="54864" marT="27432" marB="27432">
                    <a:solidFill>
                      <a:srgbClr val="E5F5FF"/>
                    </a:solidFill>
                  </a:tcPr>
                </a:tc>
                <a:tc>
                  <a:txBody>
                    <a:bodyPr/>
                    <a:lstStyle/>
                    <a:p>
                      <a:r>
                        <a:rPr sz="850" b="0">
                          <a:solidFill>
                            <a:srgbClr val="4B4B4B"/>
                          </a:solidFill>
                          <a:latin typeface="Arial"/>
                        </a:rPr>
                        <a:t>A plan is open</a:t>
                      </a:r>
                    </a:p>
                  </a:txBody>
                  <a:tcPr marL="54864" marR="54864" marT="27432" marB="27432">
                    <a:solidFill>
                      <a:srgbClr val="E5F5FF"/>
                    </a:solidFill>
                  </a:tcPr>
                </a:tc>
                <a:tc>
                  <a:txBody>
                    <a:bodyPr/>
                    <a:lstStyle/>
                    <a:p>
                      <a:r>
                        <a:rPr sz="850" b="0">
                          <a:solidFill>
                            <a:srgbClr val="4B4B4B"/>
                          </a:solidFill>
                          <a:latin typeface="Arial"/>
                        </a:rPr>
                        <a:t>Records NO-GO with the reason; the cut-over stops and rolls back to the snapshot</a:t>
                      </a:r>
                    </a:p>
                  </a:txBody>
                  <a:tcPr marL="54864" marR="54864" marT="27432" marB="27432">
                    <a:solidFill>
                      <a:srgbClr val="E5F5FF"/>
                    </a:solidFill>
                  </a:tcPr>
                </a:tc>
                <a:tc>
                  <a:txBody>
                    <a:bodyPr/>
                    <a:lstStyle/>
                    <a:p>
                      <a:r>
                        <a:rPr sz="850" b="0">
                          <a:solidFill>
                            <a:srgbClr val="4B4B4B"/>
                          </a:solidFill>
                          <a:latin typeface="Arial"/>
                        </a:rPr>
                        <a:t>NO-GO</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262</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task starts only when the tasks it depends on are done (FR-DM-120).</a:t>
                      </a:r>
                    </a:p>
                  </a:txBody>
                  <a:tcPr marL="54864" marR="54864" marT="27432" marB="27432">
                    <a:solidFill>
                      <a:srgbClr val="FFFFFF"/>
                    </a:solidFill>
                  </a:tcPr>
                </a:tc>
              </a:tr>
              <a:tr h="243840">
                <a:tc>
                  <a:txBody>
                    <a:bodyPr/>
                    <a:lstStyle/>
                    <a:p>
                      <a:r>
                        <a:rPr sz="1000" b="0">
                          <a:solidFill>
                            <a:srgbClr val="4B4B4B"/>
                          </a:solidFill>
                          <a:latin typeface="Arial"/>
                        </a:rPr>
                        <a:t>Criteria measured by BIBS cannot be recorded by hand (FR-DM-121).</a:t>
                      </a:r>
                    </a:p>
                  </a:txBody>
                  <a:tcPr marL="54864" marR="54864" marT="27432" marB="27432">
                    <a:solidFill>
                      <a:srgbClr val="E5F5FF"/>
                    </a:solidFill>
                  </a:tcPr>
                </a:tc>
              </a:tr>
              <a:tr h="243840">
                <a:tc>
                  <a:txBody>
                    <a:bodyPr/>
                    <a:lstStyle/>
                    <a:p>
                      <a:r>
                        <a:rPr sz="1000" b="0">
                          <a:solidFill>
                            <a:srgbClr val="4B4B4B"/>
                          </a:solidFill>
                          <a:latin typeface="Arial"/>
                        </a:rPr>
                        <a:t>A GO with criteria not met needs the board's justification; the financial and clearing criteria of the go-live decision are never waived (FR-DM-121).</a:t>
                      </a:r>
                    </a:p>
                  </a:txBody>
                  <a:tcPr marL="54864" marR="54864" marT="27432" marB="27432">
                    <a:solidFill>
                      <a:srgbClr val="FFFFFF"/>
                    </a:solidFill>
                  </a:tcPr>
                </a:tc>
              </a:tr>
              <a:tr h="243840">
                <a:tc>
                  <a:txBody>
                    <a:bodyPr/>
                    <a:lstStyle/>
                    <a:p>
                      <a:r>
                        <a:rPr sz="1000" b="0">
                          <a:solidFill>
                            <a:srgbClr val="4B4B4B"/>
                          </a:solidFill>
                          <a:latin typeface="Arial"/>
                        </a:rPr>
                        <a:t>Until the go / no-go decision the rollback restores the snapshot taken before the production load (FR-DM-121).</a:t>
                      </a:r>
                    </a:p>
                  </a:txBody>
                  <a:tcPr marL="54864" marR="54864" marT="27432" marB="27432">
                    <a:solidFill>
                      <a:srgbClr val="E5F5FF"/>
                    </a:solidFill>
                  </a:tcPr>
                </a:tc>
              </a:tr>
            </a:tbl>
          </a:graphicData>
        </a:graphic>
      </p:graphicFrame>
    </p:spTree>
  </p:cSld>
  <p:clrMapOvr>
    <a:masterClrMapping/>
  </p:clrMapOvr>
</p:sld>
</file>

<file path=ppt/slides/slide2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 (1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3.png"/>
          <p:cNvPicPr>
            <a:picLocks noChangeAspect="1"/>
          </p:cNvPicPr>
          <p:nvPr/>
        </p:nvPicPr>
        <p:blipFill>
          <a:blip r:embed="rId3"/>
          <a:stretch>
            <a:fillRect/>
          </a:stretch>
        </p:blipFill>
        <p:spPr>
          <a:xfrm>
            <a:off x="548640" y="1261872"/>
            <a:ext cx="11094415" cy="426082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Cut-over plans and the runbook of a mock run (part 1 of 5)</a:t>
            </a:r>
          </a:p>
        </p:txBody>
      </p:sp>
    </p:spTree>
  </p:cSld>
  <p:clrMapOvr>
    <a:masterClrMapping/>
  </p:clrMapOvr>
</p:sld>
</file>

<file path=ppt/slides/slide2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 (2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4.png"/>
          <p:cNvPicPr>
            <a:picLocks noChangeAspect="1"/>
          </p:cNvPicPr>
          <p:nvPr/>
        </p:nvPicPr>
        <p:blipFill>
          <a:blip r:embed="rId3"/>
          <a:stretch>
            <a:fillRect/>
          </a:stretch>
        </p:blipFill>
        <p:spPr>
          <a:xfrm>
            <a:off x="548640" y="1261872"/>
            <a:ext cx="11094415" cy="4174751"/>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Cut-over plans and the runbook of a mock run (part 2 of 5)</a:t>
            </a:r>
          </a:p>
        </p:txBody>
      </p:sp>
    </p:spTree>
  </p:cSld>
  <p:clrMapOvr>
    <a:masterClrMapping/>
  </p:clrMapOvr>
</p:sld>
</file>

<file path=ppt/slides/slide2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 (3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5.png"/>
          <p:cNvPicPr>
            <a:picLocks noChangeAspect="1"/>
          </p:cNvPicPr>
          <p:nvPr/>
        </p:nvPicPr>
        <p:blipFill>
          <a:blip r:embed="rId3"/>
          <a:stretch>
            <a:fillRect/>
          </a:stretch>
        </p:blipFill>
        <p:spPr>
          <a:xfrm>
            <a:off x="548640" y="1261872"/>
            <a:ext cx="11094415" cy="447602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Cut-over plans and the runbook of a mock run (part 3 of 5)</a:t>
            </a:r>
          </a:p>
        </p:txBody>
      </p:sp>
    </p:spTree>
  </p:cSld>
  <p:clrMapOvr>
    <a:masterClrMapping/>
  </p:clrMapOvr>
</p:sld>
</file>

<file path=ppt/slides/slide2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 (4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Cut-over plans and the runbook of a mock run (part 4 of 5)</a:t>
            </a:r>
          </a:p>
        </p:txBody>
      </p:sp>
    </p:spTree>
  </p:cSld>
  <p:clrMapOvr>
    <a:masterClrMapping/>
  </p:clrMapOvr>
</p:sld>
</file>

<file path=ppt/slides/slide2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 (5 of 5)</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47.png"/>
          <p:cNvPicPr>
            <a:picLocks noChangeAspect="1"/>
          </p:cNvPicPr>
          <p:nvPr/>
        </p:nvPicPr>
        <p:blipFill>
          <a:blip r:embed="rId3"/>
          <a:stretch>
            <a:fillRect/>
          </a:stretch>
        </p:blipFill>
        <p:spPr>
          <a:xfrm>
            <a:off x="548640" y="1261872"/>
            <a:ext cx="11094415" cy="90859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Cut-over plans and the runbook of a mock run (part 5 of 5)</a:t>
            </a:r>
          </a:p>
        </p:txBody>
      </p:sp>
    </p:spTree>
  </p:cSld>
  <p:clrMapOvr>
    <a:masterClrMapping/>
  </p:clrMapOvr>
</p:sld>
</file>

<file path=ppt/slides/slide2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268</a:t>
            </a:r>
          </a:p>
        </p:txBody>
      </p:sp>
      <p:sp>
        <p:nvSpPr>
          <p:cNvPr id="9" name="Rounded Rectangle 8"/>
          <p:cNvSpPr/>
          <p:nvPr/>
        </p:nvSpPr>
        <p:spPr>
          <a:xfrm>
            <a:off x="8479231" y="896112"/>
            <a:ext cx="3163824"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Changed in this issue: CHG-DM-2.1-02</a:t>
            </a:r>
          </a:p>
        </p:txBody>
      </p:sp>
      <p:sp>
        <p:nvSpPr>
          <p:cNvPr id="10" name="Rounded Rectangle 9"/>
          <p:cNvSpPr/>
          <p:nvPr/>
        </p:nvSpPr>
        <p:spPr>
          <a:xfrm>
            <a:off x="7199071"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1" name="Picture 10" descr="scr-dm-12-03-new.png"/>
          <p:cNvPicPr>
            <a:picLocks noChangeAspect="1"/>
          </p:cNvPicPr>
          <p:nvPr/>
        </p:nvPicPr>
        <p:blipFill>
          <a:blip r:embed="rId3"/>
          <a:stretch>
            <a:fillRect/>
          </a:stretch>
        </p:blipFill>
        <p:spPr>
          <a:xfrm>
            <a:off x="667072" y="1261872"/>
            <a:ext cx="10857550" cy="4736592"/>
          </a:xfrm>
          <a:prstGeom prst="rect">
            <a:avLst/>
          </a:prstGeom>
          <a:ln w="9525">
            <a:solidFill>
              <a:srgbClr val="C2C2C1"/>
            </a:solidFill>
          </a:ln>
        </p:spPr>
      </p:pic>
      <p:sp>
        <p:nvSpPr>
          <p:cNvPr id="12" name="TextBox 11"/>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New Cutover Plan dialog</a:t>
            </a:r>
          </a:p>
        </p:txBody>
      </p:sp>
    </p:spTree>
  </p:cSld>
  <p:clrMapOvr>
    <a:masterClrMapping/>
  </p:clrMapOvr>
</p:sld>
</file>

<file path=ppt/slides/slide2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Pending approval (1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269</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48.png"/>
          <p:cNvPicPr>
            <a:picLocks noChangeAspect="1"/>
          </p:cNvPicPr>
          <p:nvPr/>
        </p:nvPicPr>
        <p:blipFill>
          <a:blip r:embed="rId3"/>
          <a:stretch>
            <a:fillRect/>
          </a:stretch>
        </p:blipFill>
        <p:spPr>
          <a:xfrm>
            <a:off x="548640" y="1261872"/>
            <a:ext cx="11094415" cy="42560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Go / No-Go Criteria and Decisions of a plan (part 1 of 4)</a:t>
            </a:r>
          </a:p>
        </p:txBody>
      </p:sp>
    </p:spTree>
  </p:cSld>
  <p:clrMapOvr>
    <a:masterClrMapping/>
  </p:clrMapOvr>
</p:sld>
</file>

<file path=ppt/slides/slide2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Pending approval (2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270</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49.png"/>
          <p:cNvPicPr>
            <a:picLocks noChangeAspect="1"/>
          </p:cNvPicPr>
          <p:nvPr/>
        </p:nvPicPr>
        <p:blipFill>
          <a:blip r:embed="rId3"/>
          <a:stretch>
            <a:fillRect/>
          </a:stretch>
        </p:blipFill>
        <p:spPr>
          <a:xfrm>
            <a:off x="548640" y="1261872"/>
            <a:ext cx="11094415" cy="458122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Go / No-Go Criteria and Decisions of a plan (part 2 of 4)</a:t>
            </a:r>
          </a:p>
        </p:txBody>
      </p:sp>
    </p:spTree>
  </p:cSld>
  <p:clrMapOvr>
    <a:masterClrMapping/>
  </p:clrMapOvr>
</p:sld>
</file>

<file path=ppt/slides/slide2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Pending approval (3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271</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0.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Go / No-Go Criteria and Decisions of a plan (part 3 of 4)</a:t>
            </a:r>
          </a:p>
        </p:txBody>
      </p:sp>
    </p:spTree>
  </p:cSld>
  <p:clrMapOvr>
    <a:masterClrMapping/>
  </p:clrMapOvr>
</p:sld>
</file>

<file path=ppt/slides/slide2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SCR-DM-12 Cutover: Pending approval (4 of 4)</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272</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lice-00151.png"/>
          <p:cNvPicPr>
            <a:picLocks noChangeAspect="1"/>
          </p:cNvPicPr>
          <p:nvPr/>
        </p:nvPicPr>
        <p:blipFill>
          <a:blip r:embed="rId3"/>
          <a:stretch>
            <a:fillRect/>
          </a:stretch>
        </p:blipFill>
        <p:spPr>
          <a:xfrm>
            <a:off x="548640" y="1261872"/>
            <a:ext cx="11094415" cy="3825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Go / No-Go Criteria and Decisions of a plan (part 4 of 4)</a:t>
            </a:r>
          </a:p>
        </p:txBody>
      </p:sp>
    </p:spTree>
  </p:cSld>
  <p:clrMapOvr>
    <a:masterClrMapping/>
  </p:clrMapOvr>
</p:sld>
</file>

<file path=ppt/slides/slide27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SCR-DM-13 Run-off and Decommissioning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273</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Cut-over, adjustments and run-off</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monthly run-off of the legacy policies in force at go-live by expiry month and source system (renewed in BIBS, not renewed, lapsed, still open), and the checklists that close each legacy system and, once every legacy item is settled, the legacy context of BIBS.</a:t>
                      </a:r>
                    </a:p>
                  </a:txBody>
                  <a:tcPr marL="54864" marR="54864" marT="27432" marB="27432">
                    <a:solidFill>
                      <a:srgbClr val="FFFFFF"/>
                    </a:solidFill>
                  </a:tcPr>
                </a:tc>
              </a:tr>
              <a:tr h="52578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Data Migration Lead, Data Steward, Data owner (business owner of an object), Migration Operator, Reconciliation approver (Head of Comptrollership), Go / no-go board, Comptrollership GL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Data Migration › Run-off and Decommissioning</a:t>
                      </a:r>
                    </a:p>
                    <a:p>
                      <a:r>
                        <a:rPr sz="950" b="0">
                          <a:solidFill>
                            <a:srgbClr val="4B4B4B"/>
                          </a:solidFill>
                          <a:latin typeface="Arial"/>
                        </a:rPr>
                        <a:t>Migration Home › Run-off of the legacy policies</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19.2.3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FR-DM-122, FR-DM-123</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run-off of the legacy policies is visible month by month and each legacy system is closed against a signed checklist.</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SCR-DM-13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274</a:t>
            </a:r>
          </a:p>
        </p:txBody>
      </p:sp>
      <p:graphicFrame>
        <p:nvGraphicFramePr>
          <p:cNvPr id="9" name="Table 8"/>
          <p:cNvGraphicFramePr>
            <a:graphicFrameLocks noGrp="1"/>
          </p:cNvGraphicFramePr>
          <p:nvPr/>
        </p:nvGraphicFramePr>
        <p:xfrm>
          <a:off x="548640" y="1325880"/>
          <a:ext cx="11094411" cy="2766045"/>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Run-off</a:t>
                      </a:r>
                    </a:p>
                  </a:txBody>
                  <a:tcPr marL="54864" marR="54864" marT="27432" marB="27432">
                    <a:solidFill>
                      <a:srgbClr val="FFFFFF"/>
                    </a:solidFill>
                  </a:tcPr>
                </a:tc>
                <a:tc>
                  <a:txBody>
                    <a:bodyPr/>
                    <a:lstStyle/>
                    <a:p>
                      <a:r>
                        <a:rPr sz="850" b="0">
                          <a:solidFill>
                            <a:srgbClr val="4B4B4B"/>
                          </a:solidFill>
                          <a:latin typeface="Arial"/>
                        </a:rPr>
                        <a:t>Expiry Month, System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yyyy-MM; EBIX, QPS, ISYS, CMS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Run-off</a:t>
                      </a:r>
                    </a:p>
                  </a:txBody>
                  <a:tcPr marL="54864" marR="54864" marT="27432" marB="27432">
                    <a:solidFill>
                      <a:srgbClr val="E5F5FF"/>
                    </a:solidFill>
                  </a:tcPr>
                </a:tc>
                <a:tc>
                  <a:txBody>
                    <a:bodyPr/>
                    <a:lstStyle/>
                    <a:p>
                      <a:r>
                        <a:rPr sz="850" b="0">
                          <a:solidFill>
                            <a:srgbClr val="4B4B4B"/>
                          </a:solidFill>
                          <a:latin typeface="Arial"/>
                        </a:rPr>
                        <a:t>In Force, Premium in Force</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Count;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Run-off</a:t>
                      </a:r>
                    </a:p>
                  </a:txBody>
                  <a:tcPr marL="54864" marR="54864" marT="27432" marB="27432">
                    <a:solidFill>
                      <a:srgbClr val="FFFFFF"/>
                    </a:solidFill>
                  </a:tcPr>
                </a:tc>
                <a:tc>
                  <a:txBody>
                    <a:bodyPr/>
                    <a:lstStyle/>
                    <a:p>
                      <a:r>
                        <a:rPr sz="850" b="0">
                          <a:solidFill>
                            <a:srgbClr val="4B4B4B"/>
                          </a:solidFill>
                          <a:latin typeface="Arial"/>
                        </a:rPr>
                        <a:t>Renewed, Not Renewed, Lapsed, Still Open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Decommissioning Checklists</a:t>
                      </a:r>
                    </a:p>
                  </a:txBody>
                  <a:tcPr marL="54864" marR="54864" marT="27432" marB="27432">
                    <a:solidFill>
                      <a:srgbClr val="E5F5FF"/>
                    </a:solidFill>
                  </a:tcPr>
                </a:tc>
                <a:tc>
                  <a:txBody>
                    <a:bodyPr/>
                    <a:lstStyle/>
                    <a:p>
                      <a:r>
                        <a:rPr sz="850" b="0">
                          <a:solidFill>
                            <a:srgbClr val="4B4B4B"/>
                          </a:solidFill>
                          <a:latin typeface="Arial"/>
                        </a:rPr>
                        <a:t>Legacy System</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EBIX, QPS, ISYS, CMS without an open checklist</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The checklist of &lt;system&gt; is already open</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Decommissioning Checklists</a:t>
                      </a:r>
                    </a:p>
                  </a:txBody>
                  <a:tcPr marL="54864" marR="54864" marT="27432" marB="27432">
                    <a:solidFill>
                      <a:srgbClr val="FFFFFF"/>
                    </a:solidFill>
                  </a:tcPr>
                </a:tc>
                <a:tc>
                  <a:txBody>
                    <a:bodyPr/>
                    <a:lstStyle/>
                    <a:p>
                      <a:r>
                        <a:rPr sz="850" b="0">
                          <a:solidFill>
                            <a:srgbClr val="4B4B4B"/>
                          </a:solidFill>
                          <a:latin typeface="Arial"/>
                        </a:rPr>
                        <a:t>System</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System, or Legacy context; the milestone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Decommissioning Checklists</a:t>
                      </a:r>
                    </a:p>
                  </a:txBody>
                  <a:tcPr marL="54864" marR="54864" marT="27432" marB="27432">
                    <a:solidFill>
                      <a:srgbClr val="E5F5FF"/>
                    </a:solidFill>
                  </a:tcPr>
                </a:tc>
                <a:tc>
                  <a:txBody>
                    <a:bodyPr/>
                    <a:lstStyle/>
                    <a:p>
                      <a:r>
                        <a:rPr sz="850" b="0">
                          <a:solidFill>
                            <a:srgbClr val="4B4B4B"/>
                          </a:solidFill>
                          <a:latin typeface="Arial"/>
                        </a:rPr>
                        <a:t>Criterion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Name; description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Decommissioning Checklists</a:t>
                      </a:r>
                    </a:p>
                  </a:txBody>
                  <a:tcPr marL="54864" marR="54864" marT="27432" marB="27432">
                    <a:solidFill>
                      <a:srgbClr val="FFFFFF"/>
                    </a:solidFill>
                  </a:tcPr>
                </a:tc>
                <a:tc>
                  <a:txBody>
                    <a:bodyPr/>
                    <a:lstStyle/>
                    <a:p>
                      <a:r>
                        <a:rPr sz="850" b="0">
                          <a:solidFill>
                            <a:srgbClr val="4B4B4B"/>
                          </a:solidFill>
                          <a:latin typeface="Arial"/>
                        </a:rPr>
                        <a:t>Evidence</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Text; who signed and when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Evidence given</a:t>
                      </a:r>
                    </a:p>
                  </a:txBody>
                  <a:tcPr marL="54864" marR="54864" marT="27432" marB="27432">
                    <a:solidFill>
                      <a:srgbClr val="FFFFFF"/>
                    </a:solidFill>
                  </a:tcPr>
                </a:tc>
                <a:tc>
                  <a:txBody>
                    <a:bodyPr/>
                    <a:lstStyle/>
                    <a:p>
                      <a:r>
                        <a:rPr sz="850" b="0">
                          <a:solidFill>
                            <a:srgbClr val="4B4B4B"/>
                          </a:solidFill>
                          <a:latin typeface="Arial"/>
                        </a:rPr>
                        <a:t>Give the evidence of the criterion</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Decommissioning Checklists</a:t>
                      </a:r>
                    </a:p>
                  </a:txBody>
                  <a:tcPr marL="54864" marR="54864" marT="27432" marB="27432">
                    <a:solidFill>
                      <a:srgbClr val="E5F5FF"/>
                    </a:solidFill>
                  </a:tcPr>
                </a:tc>
                <a:tc>
                  <a:txBody>
                    <a:bodyPr/>
                    <a:lstStyle/>
                    <a:p>
                      <a:r>
                        <a:rPr sz="850" b="0">
                          <a:solidFill>
                            <a:srgbClr val="4B4B4B"/>
                          </a:solidFill>
                          <a:latin typeface="Arial"/>
                        </a:rPr>
                        <a:t>Status</a:t>
                      </a:r>
                    </a:p>
                  </a:txBody>
                  <a:tcPr marL="54864" marR="54864" marT="27432" marB="27432">
                    <a:solidFill>
                      <a:srgbClr val="E5F5FF"/>
                    </a:solidFill>
                  </a:tcPr>
                </a:tc>
                <a:tc>
                  <a:txBody>
                    <a:bodyPr/>
                    <a:lstStyle/>
                    <a:p>
                      <a:r>
                        <a:rPr sz="850" b="0">
                          <a:solidFill>
                            <a:srgbClr val="4B4B4B"/>
                          </a:solidFill>
                          <a:latin typeface="Arial"/>
                        </a:rPr>
                        <a:t>Pill</a:t>
                      </a:r>
                    </a:p>
                  </a:txBody>
                  <a:tcPr marL="54864" marR="54864" marT="27432" marB="27432">
                    <a:solidFill>
                      <a:srgbClr val="E5F5FF"/>
                    </a:solidFill>
                  </a:tcPr>
                </a:tc>
                <a:tc>
                  <a:txBody>
                    <a:bodyPr/>
                    <a:lstStyle/>
                    <a:p>
                      <a:r>
                        <a:rPr sz="850" b="0">
                          <a:solidFill>
                            <a:srgbClr val="4B4B4B"/>
                          </a:solidFill>
                          <a:latin typeface="Arial"/>
                        </a:rPr>
                        <a:t>Open, Met, Signed, Not applicable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7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SCR-DM-13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275</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Take Snapshot</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Takes the run-off snapshot of today (it is also taken on the first of each month)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Open Checklist</a:t>
                      </a:r>
                    </a:p>
                  </a:txBody>
                  <a:tcPr marL="54864" marR="54864" marT="27432" marB="27432">
                    <a:solidFill>
                      <a:srgbClr val="E5F5FF"/>
                    </a:solidFill>
                  </a:tcPr>
                </a:tc>
                <a:tc>
                  <a:txBody>
                    <a:bodyPr/>
                    <a:lstStyle/>
                    <a:p>
                      <a:r>
                        <a:rPr sz="850" b="0">
                          <a:solidFill>
                            <a:srgbClr val="4B4B4B"/>
                          </a:solidFill>
                          <a:latin typeface="Arial"/>
                        </a:rPr>
                        <a:t>Data Migration Lead</a:t>
                      </a:r>
                    </a:p>
                  </a:txBody>
                  <a:tcPr marL="54864" marR="54864" marT="27432" marB="27432">
                    <a:solidFill>
                      <a:srgbClr val="E5F5FF"/>
                    </a:solidFill>
                  </a:tcPr>
                </a:tc>
                <a:tc>
                  <a:txBody>
                    <a:bodyPr/>
                    <a:lstStyle/>
                    <a:p>
                      <a:r>
                        <a:rPr sz="850" b="0">
                          <a:solidFill>
                            <a:srgbClr val="4B4B4B"/>
                          </a:solidFill>
                          <a:latin typeface="Arial"/>
                        </a:rPr>
                        <a:t>The system has no checklist</a:t>
                      </a:r>
                    </a:p>
                  </a:txBody>
                  <a:tcPr marL="54864" marR="54864" marT="27432" marB="27432">
                    <a:solidFill>
                      <a:srgbClr val="E5F5FF"/>
                    </a:solidFill>
                  </a:tcPr>
                </a:tc>
                <a:tc>
                  <a:txBody>
                    <a:bodyPr/>
                    <a:lstStyle/>
                    <a:p>
                      <a:r>
                        <a:rPr sz="850" b="0">
                          <a:solidFill>
                            <a:srgbClr val="4B4B4B"/>
                          </a:solidFill>
                          <a:latin typeface="Arial"/>
                        </a:rPr>
                        <a:t>Opens the decommissioning checklist of the system</a:t>
                      </a:r>
                    </a:p>
                  </a:txBody>
                  <a:tcPr marL="54864" marR="54864" marT="27432" marB="27432">
                    <a:solidFill>
                      <a:srgbClr val="E5F5FF"/>
                    </a:solidFill>
                  </a:tcPr>
                </a:tc>
                <a:tc>
                  <a:txBody>
                    <a:bodyPr/>
                    <a:lstStyle/>
                    <a:p>
                      <a:r>
                        <a:rPr sz="850" b="0">
                          <a:solidFill>
                            <a:srgbClr val="4B4B4B"/>
                          </a:solidFill>
                          <a:latin typeface="Arial"/>
                        </a:rPr>
                        <a:t>Open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Met, Sign, Not applicable</a:t>
                      </a:r>
                    </a:p>
                  </a:txBody>
                  <a:tcPr marL="54864" marR="54864" marT="27432" marB="27432">
                    <a:solidFill>
                      <a:srgbClr val="FFFFFF"/>
                    </a:solidFill>
                  </a:tcPr>
                </a:tc>
                <a:tc>
                  <a:txBody>
                    <a:bodyPr/>
                    <a:lstStyle/>
                    <a:p>
                      <a:r>
                        <a:rPr sz="850" b="0">
                          <a:solidFill>
                            <a:srgbClr val="4B4B4B"/>
                          </a:solidFill>
                          <a:latin typeface="Arial"/>
                        </a:rPr>
                        <a:t>Data Migration Lead</a:t>
                      </a:r>
                    </a:p>
                  </a:txBody>
                  <a:tcPr marL="54864" marR="54864" marT="27432" marB="27432">
                    <a:solidFill>
                      <a:srgbClr val="FFFFFF"/>
                    </a:solidFill>
                  </a:tcPr>
                </a:tc>
                <a:tc>
                  <a:txBody>
                    <a:bodyPr/>
                    <a:lstStyle/>
                    <a:p>
                      <a:r>
                        <a:rPr sz="850" b="0">
                          <a:solidFill>
                            <a:srgbClr val="4B4B4B"/>
                          </a:solidFill>
                          <a:latin typeface="Arial"/>
                        </a:rPr>
                        <a:t>Criterion open or met</a:t>
                      </a:r>
                    </a:p>
                  </a:txBody>
                  <a:tcPr marL="54864" marR="54864" marT="27432" marB="27432">
                    <a:solidFill>
                      <a:srgbClr val="FFFFFF"/>
                    </a:solidFill>
                  </a:tcPr>
                </a:tc>
                <a:tc>
                  <a:txBody>
                    <a:bodyPr/>
                    <a:lstStyle/>
                    <a:p>
                      <a:r>
                        <a:rPr sz="850" b="0">
                          <a:solidFill>
                            <a:srgbClr val="4B4B4B"/>
                          </a:solidFill>
                          <a:latin typeface="Arial"/>
                        </a:rPr>
                        <a:t>Records the criterion with its evidence</a:t>
                      </a:r>
                    </a:p>
                  </a:txBody>
                  <a:tcPr marL="54864" marR="54864" marT="27432" marB="27432">
                    <a:solidFill>
                      <a:srgbClr val="FFFFFF"/>
                    </a:solidFill>
                  </a:tcPr>
                </a:tc>
                <a:tc>
                  <a:txBody>
                    <a:bodyPr/>
                    <a:lstStyle/>
                    <a:p>
                      <a:r>
                        <a:rPr sz="850" b="0">
                          <a:solidFill>
                            <a:srgbClr val="4B4B4B"/>
                          </a:solidFill>
                          <a:latin typeface="Arial"/>
                        </a:rPr>
                        <a:t>Met, Signed or Not applicable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7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SCR-DM-13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276</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legacy system is decommissioned only when every criterion of its checklist is signed (FR-DM-123).</a:t>
                      </a:r>
                    </a:p>
                  </a:txBody>
                  <a:tcPr marL="54864" marR="54864" marT="27432" marB="27432">
                    <a:solidFill>
                      <a:srgbClr val="FFFFFF"/>
                    </a:solidFill>
                  </a:tcPr>
                </a:tc>
              </a:tr>
              <a:tr h="243840">
                <a:tc>
                  <a:txBody>
                    <a:bodyPr/>
                    <a:lstStyle/>
                    <a:p>
                      <a:r>
                        <a:rPr sz="1000" b="0">
                          <a:solidFill>
                            <a:srgbClr val="4B4B4B"/>
                          </a:solidFill>
                          <a:latin typeface="Arial"/>
                        </a:rPr>
                        <a:t>The legacy context closes when no legacy invoice or unapplied payment is open and the legacy accounts and Migration Clearing are at 0.00 (FR-DM-123).</a:t>
                      </a:r>
                    </a:p>
                  </a:txBody>
                  <a:tcPr marL="54864" marR="54864" marT="27432" marB="27432">
                    <a:solidFill>
                      <a:srgbClr val="E5F5FF"/>
                    </a:solidFill>
                  </a:tcPr>
                </a:tc>
              </a:tr>
            </a:tbl>
          </a:graphicData>
        </a:graphic>
      </p:graphicFrame>
    </p:spTree>
  </p:cSld>
  <p:clrMapOvr>
    <a:masterClrMapping/>
  </p:clrMapOvr>
</p:sld>
</file>

<file path=ppt/slides/slide27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SCR-DM-13 Run-off and Decommissioning: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2.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Run-off by expiry month and the decommissioning checklists (part 1 of 3)</a:t>
            </a:r>
          </a:p>
        </p:txBody>
      </p:sp>
    </p:spTree>
  </p:cSld>
  <p:clrMapOvr>
    <a:masterClrMapping/>
  </p:clrMapOvr>
</p:sld>
</file>

<file path=ppt/slides/slide27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SCR-DM-13 Run-off and Decommissioning: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278</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3.png"/>
          <p:cNvPicPr>
            <a:picLocks noChangeAspect="1"/>
          </p:cNvPicPr>
          <p:nvPr/>
        </p:nvPicPr>
        <p:blipFill>
          <a:blip r:embed="rId3"/>
          <a:stretch>
            <a:fillRect/>
          </a:stretch>
        </p:blipFill>
        <p:spPr>
          <a:xfrm>
            <a:off x="548640" y="1261872"/>
            <a:ext cx="11094415" cy="42273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Run-off by expiry month and the decommissioning checklists (part 2 of 3)</a:t>
            </a:r>
          </a:p>
        </p:txBody>
      </p:sp>
    </p:spTree>
  </p:cSld>
  <p:clrMapOvr>
    <a:masterClrMapping/>
  </p:clrMapOvr>
</p:sld>
</file>

<file path=ppt/slides/slide27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SCR-DM-13 Run-off and Decommissioning: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279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4.png"/>
          <p:cNvPicPr>
            <a:picLocks noChangeAspect="1"/>
          </p:cNvPicPr>
          <p:nvPr/>
        </p:nvPicPr>
        <p:blipFill>
          <a:blip r:embed="rId3"/>
          <a:stretch>
            <a:fillRect/>
          </a:stretch>
        </p:blipFill>
        <p:spPr>
          <a:xfrm>
            <a:off x="548640" y="1261872"/>
            <a:ext cx="11094415" cy="144418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Run-off by expiry month and the decommissioning checklists (part 3 of 3)</a:t>
            </a:r>
          </a:p>
        </p:txBody>
      </p:sp>
    </p:spTree>
  </p:cSld>
  <p:clrMapOvr>
    <a:masterClrMapping/>
  </p:clrMapOvr>
</p:sld>
</file>

<file path=ppt/slides/slide28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280</a:t>
            </a:r>
          </a:p>
        </p:txBody>
      </p:sp>
      <p:graphicFrame>
        <p:nvGraphicFramePr>
          <p:cNvPr id="9" name="Table 8"/>
          <p:cNvGraphicFramePr>
            <a:graphicFrameLocks noGrp="1"/>
          </p:cNvGraphicFramePr>
          <p:nvPr/>
        </p:nvGraphicFramePr>
        <p:xfrm>
          <a:off x="548640" y="1307592"/>
          <a:ext cx="6434760" cy="252222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Legacy Inquiry</a:t>
                      </a:r>
                    </a:p>
                  </a:txBody>
                  <a:tcPr marL="54864" marR="54864" marT="27432" marB="27432">
                    <a:solidFill>
                      <a:srgbClr val="FFFFFF"/>
                    </a:solidFill>
                  </a:tcPr>
                </a:tc>
              </a:tr>
              <a:tr h="81534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The read-only archive of the legacy systems for Audit and Compliance: closed clients, policies, invoices, receipts, remittances, endorsements, claims, GL journals, renewal advices and letters with their documents. The user gives the reason of the inquiry once per session; each search, view, download and export is logged with it. A record opens read-only with all its legacy columns and documents.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Audit / Compliance user</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Legacy Inquiry › Legacy Inquiry</a:t>
                      </a:r>
                    </a:p>
                    <a:p>
                      <a:r>
                        <a:rPr sz="950" b="0">
                          <a:solidFill>
                            <a:srgbClr val="4B4B4B"/>
                          </a:solidFill>
                          <a:latin typeface="Arial"/>
                        </a:rPr>
                        <a:t>Sidebar › Data Migration › Legacy Inquiry</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19.3.1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FR-DM-110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Legacy history stays retrievable with its documents, and every access is logged with its reason.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(4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SCR-DM-14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281</a:t>
            </a:r>
          </a:p>
        </p:txBody>
      </p:sp>
      <p:graphicFrame>
        <p:nvGraphicFramePr>
          <p:cNvPr id="9" name="Table 8"/>
          <p:cNvGraphicFramePr>
            <a:graphicFrameLocks noGrp="1"/>
          </p:cNvGraphicFramePr>
          <p:nvPr/>
        </p:nvGraphicFramePr>
        <p:xfrm>
          <a:off x="548640" y="1325880"/>
          <a:ext cx="11094411" cy="4777713"/>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Reason of the Inquiry</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Reasons of the list</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Give the reason for opening the legacy archive</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Reason of the Inquiry</a:t>
                      </a:r>
                    </a:p>
                  </a:txBody>
                  <a:tcPr marL="54864" marR="54864" marT="27432" marB="27432">
                    <a:solidFill>
                      <a:srgbClr val="E5F5FF"/>
                    </a:solidFill>
                  </a:tcPr>
                </a:tc>
                <a:tc>
                  <a:txBody>
                    <a:bodyPr/>
                    <a:lstStyle/>
                    <a:p>
                      <a:r>
                        <a:rPr sz="850" b="0">
                          <a:solidFill>
                            <a:srgbClr val="4B4B4B"/>
                          </a:solidFill>
                          <a:latin typeface="Arial"/>
                        </a:rPr>
                        <a:t>Details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Audit reference, request or case; up to 500 characters</a:t>
                      </a:r>
                    </a:p>
                  </a:txBody>
                  <a:tcPr marL="54864" marR="54864" marT="27432" marB="27432">
                    <a:solidFill>
                      <a:srgbClr val="E5F5FF"/>
                    </a:solidFill>
                  </a:tcPr>
                </a:tc>
                <a:tc>
                  <a:txBody>
                    <a:bodyPr/>
                    <a:lstStyle/>
                    <a:p>
                      <a:r>
                        <a:rPr sz="850" b="0">
                          <a:solidFill>
                            <a:srgbClr val="4B4B4B"/>
                          </a:solidFill>
                          <a:latin typeface="Arial"/>
                        </a:rPr>
                        <a:t>C</a:t>
                      </a:r>
                    </a:p>
                  </a:txBody>
                  <a:tcPr marL="54864" marR="54864" marT="27432" marB="27432">
                    <a:solidFill>
                      <a:srgbClr val="E5F5FF"/>
                    </a:solidFill>
                  </a:tcPr>
                </a:tc>
                <a:tc>
                  <a:txBody>
                    <a:bodyPr/>
                    <a:lstStyle/>
                    <a:p>
                      <a:r>
                        <a:rPr sz="850" b="0">
                          <a:solidFill>
                            <a:srgbClr val="4B4B4B"/>
                          </a:solidFill>
                          <a:latin typeface="Arial"/>
                        </a:rPr>
                        <a:t>Mandatory for the reason Other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Client Name or No., Policy / Cover No., Invoice No., Receipt No., Claim No.</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C</a:t>
                      </a:r>
                    </a:p>
                  </a:txBody>
                  <a:tcPr marL="54864" marR="54864" marT="27432" marB="27432">
                    <a:solidFill>
                      <a:srgbClr val="FFFFFF"/>
                    </a:solidFill>
                  </a:tcPr>
                </a:tc>
                <a:tc>
                  <a:txBody>
                    <a:bodyPr/>
                    <a:lstStyle/>
                    <a:p>
                      <a:r>
                        <a:rPr sz="850" b="0">
                          <a:solidFill>
                            <a:srgbClr val="4B4B4B"/>
                          </a:solidFill>
                          <a:latin typeface="Arial"/>
                        </a:rPr>
                        <a:t>At least one criterion</a:t>
                      </a:r>
                    </a:p>
                  </a:txBody>
                  <a:tcPr marL="54864" marR="54864" marT="27432" marB="27432">
                    <a:solidFill>
                      <a:srgbClr val="FFFFFF"/>
                    </a:solidFill>
                  </a:tcPr>
                </a:tc>
                <a:tc>
                  <a:txBody>
                    <a:bodyPr/>
                    <a:lstStyle/>
                    <a:p>
                      <a:r>
                        <a:rPr sz="850" b="0">
                          <a:solidFill>
                            <a:srgbClr val="4B4B4B"/>
                          </a:solidFill>
                          <a:latin typeface="Arial"/>
                        </a:rPr>
                        <a:t>Give a client, policy, invoice, receipt or claim, a record type or a date range</a:t>
                      </a:r>
                    </a:p>
                  </a:txBody>
                  <a:tcPr marL="54864" marR="54864" marT="27432" marB="27432">
                    <a:solidFill>
                      <a:srgbClr val="FFFFFF"/>
                    </a:solidFill>
                  </a:tcPr>
                </a:tc>
              </a:tr>
              <a:tr h="609596">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Record Type</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client, policy, invoice, receipt, remittance, endorsement, claim, GL journal, renewal advice, letter, other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Search</a:t>
                      </a:r>
                    </a:p>
                  </a:txBody>
                  <a:tcPr marL="54864" marR="54864" marT="27432" marB="27432">
                    <a:solidFill>
                      <a:srgbClr val="FFFFFF"/>
                    </a:solidFill>
                  </a:tcPr>
                </a:tc>
                <a:tc>
                  <a:txBody>
                    <a:bodyPr/>
                    <a:lstStyle/>
                    <a:p>
                      <a:r>
                        <a:rPr sz="850" b="0">
                          <a:solidFill>
                            <a:srgbClr val="4B4B4B"/>
                          </a:solidFill>
                          <a:latin typeface="Arial"/>
                        </a:rPr>
                        <a:t>Date From, Date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Valid dates</a:t>
                      </a:r>
                    </a:p>
                  </a:txBody>
                  <a:tcPr marL="54864" marR="54864" marT="27432" marB="27432">
                    <a:solidFill>
                      <a:srgbClr val="FFFFFF"/>
                    </a:solidFill>
                  </a:tcPr>
                </a:tc>
                <a:tc>
                  <a:txBody>
                    <a:bodyPr/>
                    <a:lstStyle/>
                    <a:p>
                      <a:r>
                        <a:rPr sz="850" b="0">
                          <a:solidFill>
                            <a:srgbClr val="4B4B4B"/>
                          </a:solidFill>
                          <a:latin typeface="Arial"/>
                        </a:rPr>
                        <a:t>Give the date as yyyy-MM-dd: &lt;value&gt;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Legacy Records</a:t>
                      </a:r>
                    </a:p>
                  </a:txBody>
                  <a:tcPr marL="54864" marR="54864" marT="27432" marB="27432">
                    <a:solidFill>
                      <a:srgbClr val="E5F5FF"/>
                    </a:solidFill>
                  </a:tcPr>
                </a:tc>
                <a:tc>
                  <a:txBody>
                    <a:bodyPr/>
                    <a:lstStyle/>
                    <a:p>
                      <a:r>
                        <a:rPr sz="850" b="0">
                          <a:solidFill>
                            <a:srgbClr val="4B4B4B"/>
                          </a:solidFill>
                          <a:latin typeface="Arial"/>
                        </a:rPr>
                        <a:t>Record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Legacy key; source system and record type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Legacy Records</a:t>
                      </a:r>
                    </a:p>
                  </a:txBody>
                  <a:tcPr marL="54864" marR="54864" marT="27432" marB="27432">
                    <a:solidFill>
                      <a:srgbClr val="FFFFFF"/>
                    </a:solidFill>
                  </a:tcPr>
                </a:tc>
                <a:tc>
                  <a:txBody>
                    <a:bodyPr/>
                    <a:lstStyle/>
                    <a:p>
                      <a:r>
                        <a:rPr sz="850" b="0">
                          <a:solidFill>
                            <a:srgbClr val="4B4B4B"/>
                          </a:solidFill>
                          <a:latin typeface="Arial"/>
                        </a:rPr>
                        <a:t>Client</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legacy client number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Legacy Records</a:t>
                      </a:r>
                    </a:p>
                  </a:txBody>
                  <a:tcPr marL="54864" marR="54864" marT="27432" marB="27432">
                    <a:solidFill>
                      <a:srgbClr val="E5F5FF"/>
                    </a:solidFill>
                  </a:tcPr>
                </a:tc>
                <a:tc>
                  <a:txBody>
                    <a:bodyPr/>
                    <a:lstStyle/>
                    <a:p>
                      <a:r>
                        <a:rPr sz="850" b="0">
                          <a:solidFill>
                            <a:srgbClr val="4B4B4B"/>
                          </a:solidFill>
                          <a:latin typeface="Arial"/>
                        </a:rPr>
                        <a:t>Policy / Invoice / Receipt</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Policy; invoice, receipt and claim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Legacy Records</a:t>
                      </a:r>
                    </a:p>
                  </a:txBody>
                  <a:tcPr marL="54864" marR="54864" marT="27432" marB="27432">
                    <a:solidFill>
                      <a:srgbClr val="FFFFFF"/>
                    </a:solidFill>
                  </a:tcPr>
                </a:tc>
                <a:tc>
                  <a:txBody>
                    <a:bodyPr/>
                    <a:lstStyle/>
                    <a:p>
                      <a:r>
                        <a:rPr sz="850" b="0">
                          <a:solidFill>
                            <a:srgbClr val="4B4B4B"/>
                          </a:solidFill>
                          <a:latin typeface="Arial"/>
                        </a:rPr>
                        <a:t>Date, Amount, Legacy Status, Documents</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dd-MMM-yyyy; currency and amount; status; count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Record</a:t>
                      </a:r>
                    </a:p>
                  </a:txBody>
                  <a:tcPr marL="54864" marR="54864" marT="27432" marB="27432">
                    <a:solidFill>
                      <a:srgbClr val="E5F5FF"/>
                    </a:solidFill>
                  </a:tcPr>
                </a:tc>
                <a:tc>
                  <a:txBody>
                    <a:bodyPr/>
                    <a:lstStyle/>
                    <a:p>
                      <a:r>
                        <a:rPr sz="850" b="0">
                          <a:solidFill>
                            <a:srgbClr val="4B4B4B"/>
                          </a:solidFill>
                          <a:latin typeface="Arial"/>
                        </a:rPr>
                        <a:t>Legacy system, Client, Policy / cover, Invoice, Receipt, Claim</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Record</a:t>
                      </a:r>
                    </a:p>
                  </a:txBody>
                  <a:tcPr marL="54864" marR="54864" marT="27432" marB="27432">
                    <a:solidFill>
                      <a:srgbClr val="FFFFFF"/>
                    </a:solidFill>
                  </a:tcPr>
                </a:tc>
                <a:tc>
                  <a:txBody>
                    <a:bodyPr/>
                    <a:lstStyle/>
                    <a:p>
                      <a:r>
                        <a:rPr sz="850" b="0">
                          <a:solidFill>
                            <a:srgbClr val="4B4B4B"/>
                          </a:solidFill>
                          <a:latin typeface="Arial"/>
                        </a:rPr>
                        <a:t>Date, Period, Amount, Legacy status, Archived</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dd-MMM-yyyy; amounts with 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Record</a:t>
                      </a:r>
                    </a:p>
                  </a:txBody>
                  <a:tcPr marL="54864" marR="54864" marT="27432" marB="27432">
                    <a:solidFill>
                      <a:srgbClr val="E5F5FF"/>
                    </a:solidFill>
                  </a:tcPr>
                </a:tc>
                <a:tc>
                  <a:txBody>
                    <a:bodyPr/>
                    <a:lstStyle/>
                    <a:p>
                      <a:r>
                        <a:rPr sz="850" b="0">
                          <a:solidFill>
                            <a:srgbClr val="4B4B4B"/>
                          </a:solidFill>
                          <a:latin typeface="Arial"/>
                        </a:rPr>
                        <a:t>Legacy details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Every legacy column with its label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Record</a:t>
                      </a:r>
                    </a:p>
                  </a:txBody>
                  <a:tcPr marL="54864" marR="54864" marT="27432" marB="27432">
                    <a:solidFill>
                      <a:srgbClr val="FFFFFF"/>
                    </a:solidFill>
                  </a:tcPr>
                </a:tc>
                <a:tc>
                  <a:txBody>
                    <a:bodyPr/>
                    <a:lstStyle/>
                    <a:p>
                      <a:r>
                        <a:rPr sz="850" b="0">
                          <a:solidFill>
                            <a:srgbClr val="4B4B4B"/>
                          </a:solidFill>
                          <a:latin typeface="Arial"/>
                        </a:rPr>
                        <a:t>File, Document, Size</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Documents archived with the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282</a:t>
            </a:r>
          </a:p>
        </p:txBody>
      </p:sp>
      <p:graphicFrame>
        <p:nvGraphicFramePr>
          <p:cNvPr id="9" name="Table 8"/>
          <p:cNvGraphicFramePr>
            <a:graphicFrameLocks noGrp="1"/>
          </p:cNvGraphicFramePr>
          <p:nvPr/>
        </p:nvGraphicFramePr>
        <p:xfrm>
          <a:off x="548640" y="1325880"/>
          <a:ext cx="11094412" cy="1714491"/>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Continue</a:t>
                      </a:r>
                    </a:p>
                  </a:txBody>
                  <a:tcPr marL="54864" marR="54864" marT="27432" marB="27432">
                    <a:solidFill>
                      <a:srgbClr val="FFFFFF"/>
                    </a:solidFill>
                  </a:tcPr>
                </a:tc>
                <a:tc>
                  <a:txBody>
                    <a:bodyPr/>
                    <a:lstStyle/>
                    <a:p>
                      <a:r>
                        <a:rPr sz="850" b="0">
                          <a:solidFill>
                            <a:srgbClr val="4B4B4B"/>
                          </a:solidFill>
                          <a:latin typeface="Arial"/>
                        </a:rPr>
                        <a:t>Audit / Compliance user</a:t>
                      </a:r>
                    </a:p>
                  </a:txBody>
                  <a:tcPr marL="54864" marR="54864" marT="27432" marB="27432">
                    <a:solidFill>
                      <a:srgbClr val="FFFFFF"/>
                    </a:solidFill>
                  </a:tcPr>
                </a:tc>
                <a:tc>
                  <a:txBody>
                    <a:bodyPr/>
                    <a:lstStyle/>
                    <a:p>
                      <a:r>
                        <a:rPr sz="850" b="0">
                          <a:solidFill>
                            <a:srgbClr val="4B4B4B"/>
                          </a:solidFill>
                          <a:latin typeface="Arial"/>
                        </a:rPr>
                        <a:t>A reason is chosen (and details for Other)</a:t>
                      </a:r>
                    </a:p>
                  </a:txBody>
                  <a:tcPr marL="54864" marR="54864" marT="27432" marB="27432">
                    <a:solidFill>
                      <a:srgbClr val="FFFFFF"/>
                    </a:solidFill>
                  </a:tcPr>
                </a:tc>
                <a:tc>
                  <a:txBody>
                    <a:bodyPr/>
                    <a:lstStyle/>
                    <a:p>
                      <a:r>
                        <a:rPr sz="850" b="0">
                          <a:solidFill>
                            <a:srgbClr val="4B4B4B"/>
                          </a:solidFill>
                          <a:latin typeface="Arial"/>
                        </a:rPr>
                        <a:t>Keeps the reason for the session and opens the search</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Search</a:t>
                      </a:r>
                    </a:p>
                  </a:txBody>
                  <a:tcPr marL="54864" marR="54864" marT="27432" marB="27432">
                    <a:solidFill>
                      <a:srgbClr val="E5F5FF"/>
                    </a:solidFill>
                  </a:tcPr>
                </a:tc>
                <a:tc>
                  <a:txBody>
                    <a:bodyPr/>
                    <a:lstStyle/>
                    <a:p>
                      <a:r>
                        <a:rPr sz="850" b="0">
                          <a:solidFill>
                            <a:srgbClr val="4B4B4B"/>
                          </a:solidFill>
                          <a:latin typeface="Arial"/>
                        </a:rPr>
                        <a:t>Audit / Compliance user</a:t>
                      </a:r>
                    </a:p>
                  </a:txBody>
                  <a:tcPr marL="54864" marR="54864" marT="27432" marB="27432">
                    <a:solidFill>
                      <a:srgbClr val="E5F5FF"/>
                    </a:solidFill>
                  </a:tcPr>
                </a:tc>
                <a:tc>
                  <a:txBody>
                    <a:bodyPr/>
                    <a:lstStyle/>
                    <a:p>
                      <a:r>
                        <a:rPr sz="850" b="0">
                          <a:solidFill>
                            <a:srgbClr val="4B4B4B"/>
                          </a:solidFill>
                          <a:latin typeface="Arial"/>
                        </a:rPr>
                        <a:t>At least one criterion</a:t>
                      </a:r>
                    </a:p>
                  </a:txBody>
                  <a:tcPr marL="54864" marR="54864" marT="27432" marB="27432">
                    <a:solidFill>
                      <a:srgbClr val="E5F5FF"/>
                    </a:solidFill>
                  </a:tcPr>
                </a:tc>
                <a:tc>
                  <a:txBody>
                    <a:bodyPr/>
                    <a:lstStyle/>
                    <a:p>
                      <a:r>
                        <a:rPr sz="850" b="0">
                          <a:solidFill>
                            <a:srgbClr val="4B4B4B"/>
                          </a:solidFill>
                          <a:latin typeface="Arial"/>
                        </a:rPr>
                        <a:t>Lists the matching records; the search is logged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Export</a:t>
                      </a:r>
                    </a:p>
                  </a:txBody>
                  <a:tcPr marL="54864" marR="54864" marT="27432" marB="27432">
                    <a:solidFill>
                      <a:srgbClr val="FFFFFF"/>
                    </a:solidFill>
                  </a:tcPr>
                </a:tc>
                <a:tc>
                  <a:txBody>
                    <a:bodyPr/>
                    <a:lstStyle/>
                    <a:p>
                      <a:r>
                        <a:rPr sz="850" b="0">
                          <a:solidFill>
                            <a:srgbClr val="4B4B4B"/>
                          </a:solidFill>
                          <a:latin typeface="Arial"/>
                        </a:rPr>
                        <a:t>Audit / Compliance user with the export right</a:t>
                      </a:r>
                    </a:p>
                  </a:txBody>
                  <a:tcPr marL="54864" marR="54864" marT="27432" marB="27432">
                    <a:solidFill>
                      <a:srgbClr val="FFFFFF"/>
                    </a:solidFill>
                  </a:tcPr>
                </a:tc>
                <a:tc>
                  <a:txBody>
                    <a:bodyPr/>
                    <a:lstStyle/>
                    <a:p>
                      <a:r>
                        <a:rPr sz="850" b="0">
                          <a:solidFill>
                            <a:srgbClr val="4B4B4B"/>
                          </a:solidFill>
                          <a:latin typeface="Arial"/>
                        </a:rPr>
                        <a:t>Records found</a:t>
                      </a:r>
                    </a:p>
                  </a:txBody>
                  <a:tcPr marL="54864" marR="54864" marT="27432" marB="27432">
                    <a:solidFill>
                      <a:srgbClr val="FFFFFF"/>
                    </a:solidFill>
                  </a:tcPr>
                </a:tc>
                <a:tc>
                  <a:txBody>
                    <a:bodyPr/>
                    <a:lstStyle/>
                    <a:p>
                      <a:r>
                        <a:rPr sz="850" b="0">
                          <a:solidFill>
                            <a:srgbClr val="4B4B4B"/>
                          </a:solidFill>
                          <a:latin typeface="Arial"/>
                        </a:rPr>
                        <a:t>Exports the records to Excel, up to 1,000 at a time; the export is logged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Alert Unusual access when a user exports more than 5,000 records in a day</a:t>
                      </a:r>
                    </a:p>
                  </a:txBody>
                  <a:tcPr marL="54864" marR="54864" marT="27432" marB="27432">
                    <a:solidFill>
                      <a:srgbClr val="FFFFFF"/>
                    </a:solidFill>
                  </a:tcPr>
                </a:tc>
              </a:tr>
              <a:tr h="220979">
                <a:tc>
                  <a:txBody>
                    <a:bodyPr/>
                    <a:lstStyle/>
                    <a:p>
                      <a:r>
                        <a:rPr sz="850" b="0">
                          <a:solidFill>
                            <a:srgbClr val="4B4B4B"/>
                          </a:solidFill>
                          <a:latin typeface="Arial"/>
                        </a:rPr>
                        <a:t>Download a document</a:t>
                      </a:r>
                    </a:p>
                  </a:txBody>
                  <a:tcPr marL="54864" marR="54864" marT="27432" marB="27432">
                    <a:solidFill>
                      <a:srgbClr val="E5F5FF"/>
                    </a:solidFill>
                  </a:tcPr>
                </a:tc>
                <a:tc>
                  <a:txBody>
                    <a:bodyPr/>
                    <a:lstStyle/>
                    <a:p>
                      <a:r>
                        <a:rPr sz="850" b="0">
                          <a:solidFill>
                            <a:srgbClr val="4B4B4B"/>
                          </a:solidFill>
                          <a:latin typeface="Arial"/>
                        </a:rPr>
                        <a:t>Audit / Compliance user</a:t>
                      </a:r>
                    </a:p>
                  </a:txBody>
                  <a:tcPr marL="54864" marR="54864" marT="27432" marB="27432">
                    <a:solidFill>
                      <a:srgbClr val="E5F5FF"/>
                    </a:solidFill>
                  </a:tcPr>
                </a:tc>
                <a:tc>
                  <a:txBody>
                    <a:bodyPr/>
                    <a:lstStyle/>
                    <a:p>
                      <a:r>
                        <a:rPr sz="850" b="0">
                          <a:solidFill>
                            <a:srgbClr val="4B4B4B"/>
                          </a:solidFill>
                          <a:latin typeface="Arial"/>
                        </a:rPr>
                        <a:t>Record open</a:t>
                      </a:r>
                    </a:p>
                  </a:txBody>
                  <a:tcPr marL="54864" marR="54864" marT="27432" marB="27432">
                    <a:solidFill>
                      <a:srgbClr val="E5F5FF"/>
                    </a:solidFill>
                  </a:tcPr>
                </a:tc>
                <a:tc>
                  <a:txBody>
                    <a:bodyPr/>
                    <a:lstStyle/>
                    <a:p>
                      <a:r>
                        <a:rPr sz="850" b="0">
                          <a:solidFill>
                            <a:srgbClr val="4B4B4B"/>
                          </a:solidFill>
                          <a:latin typeface="Arial"/>
                        </a:rPr>
                        <a:t>Downloads the document; the download is logged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Close</a:t>
                      </a:r>
                    </a:p>
                  </a:txBody>
                  <a:tcPr marL="54864" marR="54864" marT="27432" marB="27432">
                    <a:solidFill>
                      <a:srgbClr val="FFFFFF"/>
                    </a:solidFill>
                  </a:tcPr>
                </a:tc>
                <a:tc>
                  <a:txBody>
                    <a:bodyPr/>
                    <a:lstStyle/>
                    <a:p>
                      <a:r>
                        <a:rPr sz="850" b="0">
                          <a:solidFill>
                            <a:srgbClr val="4B4B4B"/>
                          </a:solidFill>
                          <a:latin typeface="Arial"/>
                        </a:rPr>
                        <a:t>Audit / Compliance user</a:t>
                      </a:r>
                    </a:p>
                  </a:txBody>
                  <a:tcPr marL="54864" marR="54864" marT="27432" marB="27432">
                    <a:solidFill>
                      <a:srgbClr val="FFFFFF"/>
                    </a:solidFill>
                  </a:tcPr>
                </a:tc>
                <a:tc>
                  <a:txBody>
                    <a:bodyPr/>
                    <a:lstStyle/>
                    <a:p>
                      <a:r>
                        <a:rPr sz="850" b="0">
                          <a:solidFill>
                            <a:srgbClr val="4B4B4B"/>
                          </a:solidFill>
                          <a:latin typeface="Arial"/>
                        </a:rPr>
                        <a:t>Record open</a:t>
                      </a:r>
                    </a:p>
                  </a:txBody>
                  <a:tcPr marL="54864" marR="54864" marT="27432" marB="27432">
                    <a:solidFill>
                      <a:srgbClr val="FFFFFF"/>
                    </a:solidFill>
                  </a:tcPr>
                </a:tc>
                <a:tc>
                  <a:txBody>
                    <a:bodyPr/>
                    <a:lstStyle/>
                    <a:p>
                      <a:r>
                        <a:rPr sz="850" b="0">
                          <a:solidFill>
                            <a:srgbClr val="4B4B4B"/>
                          </a:solidFill>
                          <a:latin typeface="Arial"/>
                        </a:rPr>
                        <a:t>Closes the record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8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283</a:t>
            </a:r>
          </a:p>
        </p:txBody>
      </p:sp>
      <p:graphicFrame>
        <p:nvGraphicFramePr>
          <p:cNvPr id="9" name="Table 8"/>
          <p:cNvGraphicFramePr>
            <a:graphicFrameLocks noGrp="1"/>
          </p:cNvGraphicFramePr>
          <p:nvPr/>
        </p:nvGraphicFramePr>
        <p:xfrm>
          <a:off x="548640" y="1325880"/>
          <a:ext cx="11094415" cy="121920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legacy archive is read-only; no record or document is changed (FR-DM-110).</a:t>
                      </a:r>
                    </a:p>
                  </a:txBody>
                  <a:tcPr marL="54864" marR="54864" marT="27432" marB="27432">
                    <a:solidFill>
                      <a:srgbClr val="FFFFFF"/>
                    </a:solidFill>
                  </a:tcPr>
                </a:tc>
              </a:tr>
              <a:tr h="243840">
                <a:tc>
                  <a:txBody>
                    <a:bodyPr/>
                    <a:lstStyle/>
                    <a:p>
                      <a:r>
                        <a:rPr sz="1000" b="0">
                          <a:solidFill>
                            <a:srgbClr val="4B4B4B"/>
                          </a:solidFill>
                          <a:latin typeface="Arial"/>
                        </a:rPr>
                        <a:t>A reason is required before the archive is searched and is written with every search, view, download and export (FR-DM-110).</a:t>
                      </a:r>
                    </a:p>
                  </a:txBody>
                  <a:tcPr marL="54864" marR="54864" marT="27432" marB="27432">
                    <a:solidFill>
                      <a:srgbClr val="E5F5FF"/>
                    </a:solidFill>
                  </a:tcPr>
                </a:tc>
              </a:tr>
              <a:tr h="243840">
                <a:tc>
                  <a:txBody>
                    <a:bodyPr/>
                    <a:lstStyle/>
                    <a:p>
                      <a:r>
                        <a:rPr sz="1000" b="0">
                          <a:solidFill>
                            <a:srgbClr val="4B4B4B"/>
                          </a:solidFill>
                          <a:latin typeface="Arial"/>
                        </a:rPr>
                        <a:t>An export is limited to 1,000 records; a narrower search is asked for above it (FR-DM-110).</a:t>
                      </a:r>
                    </a:p>
                  </a:txBody>
                  <a:tcPr marL="54864" marR="54864" marT="27432" marB="27432">
                    <a:solidFill>
                      <a:srgbClr val="FFFFFF"/>
                    </a:solidFill>
                  </a:tcPr>
                </a:tc>
              </a:tr>
              <a:tr h="243840">
                <a:tc>
                  <a:txBody>
                    <a:bodyPr/>
                    <a:lstStyle/>
                    <a:p>
                      <a:r>
                        <a:rPr sz="1000" b="0">
                          <a:solidFill>
                            <a:srgbClr val="4B4B4B"/>
                          </a:solidFill>
                          <a:latin typeface="Arial"/>
                        </a:rPr>
                        <a:t>The addresses of the read-only legacy applications are shown to the users who still need them until each system is decommissioned (FR-DM-110).</a:t>
                      </a:r>
                    </a:p>
                  </a:txBody>
                  <a:tcPr marL="54864" marR="54864" marT="27432" marB="27432">
                    <a:solidFill>
                      <a:srgbClr val="E5F5FF"/>
                    </a:solidFill>
                  </a:tcPr>
                </a:tc>
              </a:tr>
            </a:tbl>
          </a:graphicData>
        </a:graphic>
      </p:graphicFrame>
    </p:spTree>
  </p:cSld>
  <p:clrMapOvr>
    <a:masterClrMapping/>
  </p:clrMapOvr>
</p:sld>
</file>

<file path=ppt/slides/slide28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4-01-reason.png"/>
          <p:cNvPicPr>
            <a:picLocks noChangeAspect="1"/>
          </p:cNvPicPr>
          <p:nvPr/>
        </p:nvPicPr>
        <p:blipFill>
          <a:blip r:embed="rId3"/>
          <a:stretch>
            <a:fillRect/>
          </a:stretch>
        </p:blipFill>
        <p:spPr>
          <a:xfrm>
            <a:off x="2504922" y="1261872"/>
            <a:ext cx="7181850" cy="2866548"/>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Reason of the Inquiry asked once per session</a:t>
            </a:r>
          </a:p>
        </p:txBody>
      </p:sp>
    </p:spTree>
  </p:cSld>
  <p:clrMapOvr>
    <a:masterClrMapping/>
  </p:clrMapOvr>
</p:sld>
</file>

<file path=ppt/slides/slide28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Search criteria and the legacy records found (part 1 of 2)</a:t>
            </a:r>
          </a:p>
        </p:txBody>
      </p:sp>
    </p:spTree>
  </p:cSld>
  <p:clrMapOvr>
    <a:masterClrMapping/>
  </p:clrMapOvr>
</p:sld>
</file>

<file path=ppt/slides/slide28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56.png"/>
          <p:cNvPicPr>
            <a:picLocks noChangeAspect="1"/>
          </p:cNvPicPr>
          <p:nvPr/>
        </p:nvPicPr>
        <p:blipFill>
          <a:blip r:embed="rId3"/>
          <a:stretch>
            <a:fillRect/>
          </a:stretch>
        </p:blipFill>
        <p:spPr>
          <a:xfrm>
            <a:off x="548640" y="1261872"/>
            <a:ext cx="11094415" cy="246755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Search criteria and the legacy records found (part 2 of 2)</a:t>
            </a:r>
          </a:p>
        </p:txBody>
      </p:sp>
    </p:spTree>
  </p:cSld>
  <p:clrMapOvr>
    <a:masterClrMapping/>
  </p:clrMapOvr>
</p:sld>
</file>

<file path=ppt/slides/slide28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 Empty list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287</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57.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legacy record (part 1 of 2)</a:t>
            </a:r>
          </a:p>
        </p:txBody>
      </p:sp>
    </p:spTree>
  </p:cSld>
  <p:clrMapOvr>
    <a:masterClrMapping/>
  </p:clrMapOvr>
</p:sld>
</file>

<file path=ppt/slides/slide28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SCR-DM-14 Legacy Inquiry: Empty list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288</a:t>
            </a:r>
          </a:p>
        </p:txBody>
      </p:sp>
      <p:sp>
        <p:nvSpPr>
          <p:cNvPr id="9" name="Rounded Rectangle 8"/>
          <p:cNvSpPr/>
          <p:nvPr/>
        </p:nvSpPr>
        <p:spPr>
          <a:xfrm>
            <a:off x="10408615" y="896112"/>
            <a:ext cx="123444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Empty list</a:t>
            </a:r>
          </a:p>
        </p:txBody>
      </p:sp>
      <p:pic>
        <p:nvPicPr>
          <p:cNvPr id="10" name="Picture 9" descr="slice-00158.png"/>
          <p:cNvPicPr>
            <a:picLocks noChangeAspect="1"/>
          </p:cNvPicPr>
          <p:nvPr/>
        </p:nvPicPr>
        <p:blipFill>
          <a:blip r:embed="rId3"/>
          <a:stretch>
            <a:fillRect/>
          </a:stretch>
        </p:blipFill>
        <p:spPr>
          <a:xfrm>
            <a:off x="548640" y="1261872"/>
            <a:ext cx="11094415" cy="32422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search that finds no legacy record (part 2 of 2)</a:t>
            </a:r>
          </a:p>
        </p:txBody>
      </p:sp>
    </p:spTree>
  </p:cSld>
  <p:clrMapOvr>
    <a:masterClrMapping/>
  </p:clrMapOvr>
</p:sld>
</file>

<file path=ppt/slides/slide28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SCR-DM-14 Legacy Inquiry: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289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59.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legacy record with its legacy details and documents (part 1 of 3)</a:t>
            </a:r>
          </a:p>
        </p:txBody>
      </p:sp>
    </p:spTree>
  </p:cSld>
  <p:clrMapOvr>
    <a:masterClrMapping/>
  </p:clrMapOvr>
</p:sld>
</file>

<file path=ppt/slides/slide29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SCR-DM-14 Legacy Inquiry: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290</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0.png"/>
          <p:cNvPicPr>
            <a:picLocks noChangeAspect="1"/>
          </p:cNvPicPr>
          <p:nvPr/>
        </p:nvPicPr>
        <p:blipFill>
          <a:blip r:embed="rId3"/>
          <a:stretch>
            <a:fillRect/>
          </a:stretch>
        </p:blipFill>
        <p:spPr>
          <a:xfrm>
            <a:off x="548640" y="1261872"/>
            <a:ext cx="11094415" cy="4724690"/>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legacy record with its legacy details and documents (part 2 of 3)</a:t>
            </a:r>
          </a:p>
        </p:txBody>
      </p:sp>
    </p:spTree>
  </p:cSld>
  <p:clrMapOvr>
    <a:masterClrMapping/>
  </p:clrMapOvr>
</p:sld>
</file>

<file path=ppt/slides/slide29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SCR-DM-14 Legacy Inquiry: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291</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1.png"/>
          <p:cNvPicPr>
            <a:picLocks noChangeAspect="1"/>
          </p:cNvPicPr>
          <p:nvPr/>
        </p:nvPicPr>
        <p:blipFill>
          <a:blip r:embed="rId3"/>
          <a:stretch>
            <a:fillRect/>
          </a:stretch>
        </p:blipFill>
        <p:spPr>
          <a:xfrm>
            <a:off x="548640" y="1261872"/>
            <a:ext cx="11094415" cy="379696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legacy record with its legacy details and documents (part 3 of 3)</a:t>
            </a:r>
          </a:p>
        </p:txBody>
      </p:sp>
    </p:spTree>
  </p:cSld>
  <p:clrMapOvr>
    <a:masterClrMapping/>
  </p:clrMapOvr>
</p:sld>
</file>

<file path=ppt/slides/slide29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SCR-DM-15 Access Log</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292</a:t>
            </a:r>
          </a:p>
        </p:txBody>
      </p:sp>
      <p:graphicFrame>
        <p:nvGraphicFramePr>
          <p:cNvPr id="9" name="Table 8"/>
          <p:cNvGraphicFramePr>
            <a:graphicFrameLocks noGrp="1"/>
          </p:cNvGraphicFramePr>
          <p:nvPr/>
        </p:nvGraphicFramePr>
        <p:xfrm>
          <a:off x="548640" y="1307592"/>
          <a:ext cx="6434760" cy="208788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Legacy Inquiry</a:t>
                      </a:r>
                    </a:p>
                  </a:txBody>
                  <a:tcPr marL="54864" marR="54864" marT="27432" marB="27432">
                    <a:solidFill>
                      <a:srgbClr val="FFFFFF"/>
                    </a:solidFill>
                  </a:tcPr>
                </a:tc>
              </a:tr>
              <a:tr h="52578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Every access to the legacy archive with the user, the time and address, the action, the criteria, the records and the reason, for the Compliance reviewer. The log cannot be changed or deleted; a monthly digest is sent to the reviewers.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Compliance reviewer of the access log</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Data Migration › Legacy Inquiry › Access Log</a:t>
                      </a:r>
                    </a:p>
                    <a:p>
                      <a:r>
                        <a:rPr sz="950" b="0">
                          <a:solidFill>
                            <a:srgbClr val="4B4B4B"/>
                          </a:solidFill>
                          <a:latin typeface="Arial"/>
                        </a:rPr>
                        <a:t>Sidebar › Data Migration › Access Log</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19.3.2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FR-DM-111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Compliance sees who looked at which legacy records, when and why.</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SCR-DM-15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293</a:t>
            </a:r>
          </a:p>
        </p:txBody>
      </p:sp>
      <p:graphicFrame>
        <p:nvGraphicFramePr>
          <p:cNvPr id="9" name="Table 8"/>
          <p:cNvGraphicFramePr>
            <a:graphicFrameLocks noGrp="1"/>
          </p:cNvGraphicFramePr>
          <p:nvPr/>
        </p:nvGraphicFramePr>
        <p:xfrm>
          <a:off x="548640" y="1325880"/>
          <a:ext cx="11094411" cy="2285988"/>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User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User name</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Filters</a:t>
                      </a:r>
                    </a:p>
                  </a:txBody>
                  <a:tcPr marL="54864" marR="54864" marT="27432" marB="27432">
                    <a:solidFill>
                      <a:srgbClr val="E5F5FF"/>
                    </a:solidFill>
                  </a:tcPr>
                </a:tc>
                <a:tc>
                  <a:txBody>
                    <a:bodyPr/>
                    <a:lstStyle/>
                    <a:p>
                      <a:r>
                        <a:rPr sz="850" b="0">
                          <a:solidFill>
                            <a:srgbClr val="4B4B4B"/>
                          </a:solidFill>
                          <a:latin typeface="Arial"/>
                        </a:rPr>
                        <a:t>Action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Search, View, Download, Export</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From, To</a:t>
                      </a:r>
                    </a:p>
                  </a:txBody>
                  <a:tcPr marL="54864" marR="54864" marT="27432" marB="27432">
                    <a:solidFill>
                      <a:srgbClr val="FFFFFF"/>
                    </a:solidFill>
                  </a:tcPr>
                </a:tc>
                <a:tc>
                  <a:txBody>
                    <a:bodyPr/>
                    <a:lstStyle/>
                    <a:p>
                      <a:r>
                        <a:rPr sz="850" b="0">
                          <a:solidFill>
                            <a:srgbClr val="4B4B4B"/>
                          </a:solidFill>
                          <a:latin typeface="Arial"/>
                        </a:rPr>
                        <a:t>Date</a:t>
                      </a:r>
                    </a:p>
                  </a:txBody>
                  <a:tcPr marL="54864" marR="54864" marT="27432" marB="27432">
                    <a:solidFill>
                      <a:srgbClr val="FFFFFF"/>
                    </a:solidFill>
                  </a:tcPr>
                </a:tc>
                <a:tc>
                  <a:txBody>
                    <a:bodyPr/>
                    <a:lstStyle/>
                    <a:p>
                      <a:r>
                        <a:rPr sz="850" b="0">
                          <a:solidFill>
                            <a:srgbClr val="4B4B4B"/>
                          </a:solidFill>
                          <a:latin typeface="Arial"/>
                        </a:rPr>
                        <a:t>dd-MMM-yyyy</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Log</a:t>
                      </a:r>
                    </a:p>
                  </a:txBody>
                  <a:tcPr marL="54864" marR="54864" marT="27432" marB="27432">
                    <a:solidFill>
                      <a:srgbClr val="E5F5FF"/>
                    </a:solidFill>
                  </a:tcPr>
                </a:tc>
                <a:tc>
                  <a:txBody>
                    <a:bodyPr/>
                    <a:lstStyle/>
                    <a:p>
                      <a:r>
                        <a:rPr sz="850" b="0">
                          <a:solidFill>
                            <a:srgbClr val="4B4B4B"/>
                          </a:solidFill>
                          <a:latin typeface="Arial"/>
                        </a:rPr>
                        <a:t>When</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dd-MMM-yyyy HH:mm; source address under it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Log</a:t>
                      </a:r>
                    </a:p>
                  </a:txBody>
                  <a:tcPr marL="54864" marR="54864" marT="27432" marB="27432">
                    <a:solidFill>
                      <a:srgbClr val="FFFFFF"/>
                    </a:solidFill>
                  </a:tcPr>
                </a:tc>
                <a:tc>
                  <a:txBody>
                    <a:bodyPr/>
                    <a:lstStyle/>
                    <a:p>
                      <a:r>
                        <a:rPr sz="850" b="0">
                          <a:solidFill>
                            <a:srgbClr val="4B4B4B"/>
                          </a:solidFill>
                          <a:latin typeface="Arial"/>
                        </a:rPr>
                        <a:t>User, Action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Name; Search, View, Download or Export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Log</a:t>
                      </a:r>
                    </a:p>
                  </a:txBody>
                  <a:tcPr marL="54864" marR="54864" marT="27432" marB="27432">
                    <a:solidFill>
                      <a:srgbClr val="E5F5FF"/>
                    </a:solidFill>
                  </a:tcPr>
                </a:tc>
                <a:tc>
                  <a:txBody>
                    <a:bodyPr/>
                    <a:lstStyle/>
                    <a:p>
                      <a:r>
                        <a:rPr sz="850" b="0">
                          <a:solidFill>
                            <a:srgbClr val="4B4B4B"/>
                          </a:solidFill>
                          <a:latin typeface="Arial"/>
                        </a:rPr>
                        <a:t>Criteria / Records</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Search criteria; record keys under them</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Log</a:t>
                      </a:r>
                    </a:p>
                  </a:txBody>
                  <a:tcPr marL="54864" marR="54864" marT="27432" marB="27432">
                    <a:solidFill>
                      <a:srgbClr val="FFFFFF"/>
                    </a:solidFill>
                  </a:tcPr>
                </a:tc>
                <a:tc>
                  <a:txBody>
                    <a:bodyPr/>
                    <a:lstStyle/>
                    <a:p>
                      <a:r>
                        <a:rPr sz="850" b="0">
                          <a:solidFill>
                            <a:srgbClr val="4B4B4B"/>
                          </a:solidFill>
                          <a:latin typeface="Arial"/>
                        </a:rPr>
                        <a:t>Count, Reason</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Records returned; reason and details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SCR-DM-15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294</a:t>
            </a:r>
          </a:p>
        </p:txBody>
      </p:sp>
      <p:graphicFrame>
        <p:nvGraphicFramePr>
          <p:cNvPr id="9" name="Table 8"/>
          <p:cNvGraphicFramePr>
            <a:graphicFrameLocks noGrp="1"/>
          </p:cNvGraphicFramePr>
          <p:nvPr/>
        </p:nvGraphicFramePr>
        <p:xfrm>
          <a:off x="548640" y="1325880"/>
          <a:ext cx="11094412" cy="441958"/>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Filters</a:t>
                      </a:r>
                    </a:p>
                  </a:txBody>
                  <a:tcPr marL="54864" marR="54864" marT="27432" marB="27432">
                    <a:solidFill>
                      <a:srgbClr val="FFFFFF"/>
                    </a:solidFill>
                  </a:tcPr>
                </a:tc>
                <a:tc>
                  <a:txBody>
                    <a:bodyPr/>
                    <a:lstStyle/>
                    <a:p>
                      <a:r>
                        <a:rPr sz="850" b="0">
                          <a:solidFill>
                            <a:srgbClr val="4B4B4B"/>
                          </a:solidFill>
                          <a:latin typeface="Arial"/>
                        </a:rPr>
                        <a:t>Compliance reviewer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Narrows the log</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SCR-DM-15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295</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No entry of the access log can be changed or deleted (FR-DM-111).</a:t>
                      </a:r>
                    </a:p>
                  </a:txBody>
                  <a:tcPr marL="54864" marR="54864" marT="27432" marB="27432">
                    <a:solidFill>
                      <a:srgbClr val="FFFFFF"/>
                    </a:solidFill>
                  </a:tcPr>
                </a:tc>
              </a:tr>
              <a:tr h="243840">
                <a:tc>
                  <a:txBody>
                    <a:bodyPr/>
                    <a:lstStyle/>
                    <a:p>
                      <a:r>
                        <a:rPr sz="1000" b="0">
                          <a:solidFill>
                            <a:srgbClr val="4B4B4B"/>
                          </a:solidFill>
                          <a:latin typeface="Arial"/>
                        </a:rPr>
                        <a:t>The reviewers receive a monthly digest of the log (FR-DM-111).</a:t>
                      </a:r>
                    </a:p>
                  </a:txBody>
                  <a:tcPr marL="54864" marR="54864" marT="27432" marB="27432">
                    <a:solidFill>
                      <a:srgbClr val="E5F5FF"/>
                    </a:solidFill>
                  </a:tcPr>
                </a:tc>
              </a:tr>
            </a:tbl>
          </a:graphicData>
        </a:graphic>
      </p:graphicFrame>
    </p:spTree>
  </p:cSld>
  <p:clrMapOvr>
    <a:masterClrMapping/>
  </p:clrMapOvr>
</p:sld>
</file>

<file path=ppt/slides/slide29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SCR-DM-15 Access Log: Read-only or locked</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296</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cr-dm-15-01-log.png"/>
          <p:cNvPicPr>
            <a:picLocks noChangeAspect="1"/>
          </p:cNvPicPr>
          <p:nvPr/>
        </p:nvPicPr>
        <p:blipFill>
          <a:blip r:embed="rId3"/>
          <a:stretch>
            <a:fillRect/>
          </a:stretch>
        </p:blipFill>
        <p:spPr>
          <a:xfrm>
            <a:off x="1803311" y="1261872"/>
            <a:ext cx="8585073"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Access Log with its filters</a:t>
            </a:r>
          </a:p>
        </p:txBody>
      </p:sp>
    </p:spTree>
  </p:cSld>
  <p:clrMapOvr>
    <a:masterClrMapping/>
  </p:clrMapOvr>
</p:sld>
</file>

<file path=ppt/slides/slide29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SCR-DM-16 LEGACY badge and Origin filter on the lists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297</a:t>
            </a:r>
          </a:p>
        </p:txBody>
      </p:sp>
      <p:graphicFrame>
        <p:nvGraphicFramePr>
          <p:cNvPr id="9" name="Table 8"/>
          <p:cNvGraphicFramePr>
            <a:graphicFrameLocks noGrp="1"/>
          </p:cNvGraphicFramePr>
          <p:nvPr/>
        </p:nvGraphicFramePr>
        <p:xfrm>
          <a:off x="548640" y="1307592"/>
          <a:ext cx="6434760" cy="33909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Migrated data on the business screens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Records migrated from a legacy system are used with the normal BIBS screens. They are told apart from records created in BIBS by a LEGACY badge next to their number on the lists and records (Clients, Accounts, Invoice Search, Unapplied Payments, the PR Worklist and its accounts, Products, Insurers, Payees), with the source system, the legacy reference and the migration batch in its tooltip, and by the Origin filter of the lists that hold migrated records.</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Comptrollership GL lead, Cashiering user, Cashiering team lead, Commission user, Commission team lead, Marketing Account Officer</a:t>
                      </a:r>
                    </a:p>
                  </a:txBody>
                  <a:tcPr marL="54864" marR="54864" marT="27432" marB="27432">
                    <a:solidFill>
                      <a:srgbClr val="FFFFFF"/>
                    </a:solidFill>
                  </a:tcPr>
                </a:tc>
              </a:tr>
              <a:tr h="96012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Client &amp; Policy › Clients › Clients</a:t>
                      </a:r>
                    </a:p>
                    <a:p>
                      <a:r>
                        <a:rPr sz="950" b="0">
                          <a:solidFill>
                            <a:srgbClr val="4B4B4B"/>
                          </a:solidFill>
                          <a:latin typeface="Arial"/>
                        </a:rPr>
                        <a:t>Client &amp; Policy › Clients › Clients</a:t>
                      </a:r>
                    </a:p>
                    <a:p>
                      <a:r>
                        <a:rPr sz="950" b="0">
                          <a:solidFill>
                            <a:srgbClr val="4B4B4B"/>
                          </a:solidFill>
                          <a:latin typeface="Arial"/>
                        </a:rPr>
                        <a:t>Client &amp; Policy › Accounts &amp; Placement › Accounts</a:t>
                      </a:r>
                    </a:p>
                    <a:p>
                      <a:r>
                        <a:rPr sz="950" b="0">
                          <a:solidFill>
                            <a:srgbClr val="4B4B4B"/>
                          </a:solidFill>
                          <a:latin typeface="Arial"/>
                        </a:rPr>
                        <a:t>Operations › Operations › Invoice Search</a:t>
                      </a:r>
                    </a:p>
                    <a:p>
                      <a:r>
                        <a:rPr sz="950" b="0">
                          <a:solidFill>
                            <a:srgbClr val="4B4B4B"/>
                          </a:solidFill>
                          <a:latin typeface="Arial"/>
                        </a:rPr>
                        <a:t>Finance › Cashiering › Unapplied Payments</a:t>
                      </a:r>
                    </a:p>
                    <a:p>
                      <a:r>
                        <a:rPr sz="950" b="0">
                          <a:solidFill>
                            <a:srgbClr val="4B4B4B"/>
                          </a:solidFill>
                          <a:latin typeface="Arial"/>
                        </a:rPr>
                        <a:t>Finance › Collections › PR Worklist</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19.4.1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FR-DM-032, FR-DM-033, FR-DM-040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Users work migrated and new records on the same screens and always know which is which.</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(2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29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SCR-DM-16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298</a:t>
            </a:r>
          </a:p>
        </p:txBody>
      </p:sp>
      <p:graphicFrame>
        <p:nvGraphicFramePr>
          <p:cNvPr id="9" name="Table 8"/>
          <p:cNvGraphicFramePr>
            <a:graphicFrameLocks noGrp="1"/>
          </p:cNvGraphicFramePr>
          <p:nvPr/>
        </p:nvGraphicFramePr>
        <p:xfrm>
          <a:off x="548640" y="1325880"/>
          <a:ext cx="11094411" cy="175259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480057">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Every list with migrated records</a:t>
                      </a:r>
                    </a:p>
                  </a:txBody>
                  <a:tcPr marL="54864" marR="54864" marT="27432" marB="27432">
                    <a:solidFill>
                      <a:srgbClr val="FFFFFF"/>
                    </a:solidFill>
                  </a:tcPr>
                </a:tc>
                <a:tc>
                  <a:txBody>
                    <a:bodyPr/>
                    <a:lstStyle/>
                    <a:p>
                      <a:r>
                        <a:rPr sz="850" b="0">
                          <a:solidFill>
                            <a:srgbClr val="4B4B4B"/>
                          </a:solidFill>
                          <a:latin typeface="Arial"/>
                        </a:rPr>
                        <a:t>LEGACY</a:t>
                      </a:r>
                    </a:p>
                  </a:txBody>
                  <a:tcPr marL="54864" marR="54864" marT="27432" marB="27432">
                    <a:solidFill>
                      <a:srgbClr val="FFFFFF"/>
                    </a:solidFill>
                  </a:tcPr>
                </a:tc>
                <a:tc>
                  <a:txBody>
                    <a:bodyPr/>
                    <a:lstStyle/>
                    <a:p>
                      <a:r>
                        <a:rPr sz="850" b="0">
                          <a:solidFill>
                            <a:srgbClr val="4B4B4B"/>
                          </a:solidFill>
                          <a:latin typeface="Arial"/>
                        </a:rPr>
                        <a:t>Badge</a:t>
                      </a:r>
                    </a:p>
                  </a:txBody>
                  <a:tcPr marL="54864" marR="54864" marT="27432" marB="27432">
                    <a:solidFill>
                      <a:srgbClr val="FFFFFF"/>
                    </a:solidFill>
                  </a:tcPr>
                </a:tc>
                <a:tc>
                  <a:txBody>
                    <a:bodyPr/>
                    <a:lstStyle/>
                    <a:p>
                      <a:r>
                        <a:rPr sz="850" b="0">
                          <a:solidFill>
                            <a:srgbClr val="4B4B4B"/>
                          </a:solidFill>
                          <a:latin typeface="Arial"/>
                        </a:rPr>
                        <a:t>Next to the number; tooltip: Migrated from &lt;system&gt;, legacy reference &lt;ref&gt;, batch &lt;batch&gt;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Lists with the Origin filter</a:t>
                      </a:r>
                    </a:p>
                  </a:txBody>
                  <a:tcPr marL="54864" marR="54864" marT="27432" marB="27432">
                    <a:solidFill>
                      <a:srgbClr val="E5F5FF"/>
                    </a:solidFill>
                  </a:tcPr>
                </a:tc>
                <a:tc>
                  <a:txBody>
                    <a:bodyPr/>
                    <a:lstStyle/>
                    <a:p>
                      <a:r>
                        <a:rPr sz="850" b="0">
                          <a:solidFill>
                            <a:srgbClr val="4B4B4B"/>
                          </a:solidFill>
                          <a:latin typeface="Arial"/>
                        </a:rPr>
                        <a:t>Origin</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All origins, BIBS, Migrated</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Client search</a:t>
                      </a:r>
                    </a:p>
                  </a:txBody>
                  <a:tcPr marL="54864" marR="54864" marT="27432" marB="27432">
                    <a:solidFill>
                      <a:srgbClr val="FFFFFF"/>
                    </a:solidFill>
                  </a:tcPr>
                </a:tc>
                <a:tc>
                  <a:txBody>
                    <a:bodyPr/>
                    <a:lstStyle/>
                    <a:p>
                      <a:r>
                        <a:rPr sz="850" b="0">
                          <a:solidFill>
                            <a:srgbClr val="4B4B4B"/>
                          </a:solidFill>
                          <a:latin typeface="Arial"/>
                        </a:rPr>
                        <a:t>Legacy client number</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 legacy client number finds the BIBS client it was merged into</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Account search</a:t>
                      </a:r>
                    </a:p>
                  </a:txBody>
                  <a:tcPr marL="54864" marR="54864" marT="27432" marB="27432">
                    <a:solidFill>
                      <a:srgbClr val="E5F5FF"/>
                    </a:solidFill>
                  </a:tcPr>
                </a:tc>
                <a:tc>
                  <a:txBody>
                    <a:bodyPr/>
                    <a:lstStyle/>
                    <a:p>
                      <a:r>
                        <a:rPr sz="850" b="0">
                          <a:solidFill>
                            <a:srgbClr val="4B4B4B"/>
                          </a:solidFill>
                          <a:latin typeface="Arial"/>
                        </a:rPr>
                        <a:t>Legacy policy reference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 legacy policy number finds the migrated policy header</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29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SCR-DM-16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299</a:t>
            </a:r>
          </a:p>
        </p:txBody>
      </p:sp>
      <p:graphicFrame>
        <p:nvGraphicFramePr>
          <p:cNvPr id="9" name="Table 8"/>
          <p:cNvGraphicFramePr>
            <a:graphicFrameLocks noGrp="1"/>
          </p:cNvGraphicFramePr>
          <p:nvPr/>
        </p:nvGraphicFramePr>
        <p:xfrm>
          <a:off x="548640" y="1325880"/>
          <a:ext cx="11094412" cy="571497"/>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Search and filters</a:t>
                      </a:r>
                    </a:p>
                  </a:txBody>
                  <a:tcPr marL="54864" marR="54864" marT="27432" marB="27432">
                    <a:solidFill>
                      <a:srgbClr val="FFFFFF"/>
                    </a:solidFill>
                  </a:tcPr>
                </a:tc>
                <a:tc>
                  <a:txBody>
                    <a:bodyPr/>
                    <a:lstStyle/>
                    <a:p>
                      <a:r>
                        <a:rPr sz="850" b="0">
                          <a:solidFill>
                            <a:srgbClr val="4B4B4B"/>
                          </a:solidFill>
                          <a:latin typeface="Arial"/>
                        </a:rPr>
                        <a:t>Users of each list</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Find migrated records by their BIBS or legacy number, or only the migrated or BIBS records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SCR-DM-16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300</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Every migrated record keeps the origin Migrated, its source system, legacy reference and migration batch (FR-DM-032).</a:t>
                      </a:r>
                    </a:p>
                  </a:txBody>
                  <a:tcPr marL="54864" marR="54864" marT="27432" marB="27432">
                    <a:solidFill>
                      <a:srgbClr val="FFFFFF"/>
                    </a:solidFill>
                  </a:tcPr>
                </a:tc>
              </a:tr>
              <a:tr h="243840">
                <a:tc>
                  <a:txBody>
                    <a:bodyPr/>
                    <a:lstStyle/>
                    <a:p>
                      <a:r>
                        <a:rPr sz="1000" b="0">
                          <a:solidFill>
                            <a:srgbClr val="4B4B4B"/>
                          </a:solidFill>
                          <a:latin typeface="Arial"/>
                        </a:rPr>
                        <a:t>Migrated records raise no notification to clients or insurers and no outbound integration message (FR-DM-014).</a:t>
                      </a:r>
                    </a:p>
                  </a:txBody>
                  <a:tcPr marL="54864" marR="54864" marT="27432" marB="27432">
                    <a:solidFill>
                      <a:srgbClr val="E5F5FF"/>
                    </a:solidFill>
                  </a:tcPr>
                </a:tc>
              </a:tr>
              <a:tr h="243840">
                <a:tc>
                  <a:txBody>
                    <a:bodyPr/>
                    <a:lstStyle/>
                    <a:p>
                      <a:r>
                        <a:rPr sz="1000" b="0">
                          <a:solidFill>
                            <a:srgbClr val="4B4B4B"/>
                          </a:solidFill>
                          <a:latin typeface="Arial"/>
                        </a:rPr>
                        <a:t>A migrated client is found by any of its legacy client numbers (FR-DM-033).</a:t>
                      </a:r>
                    </a:p>
                  </a:txBody>
                  <a:tcPr marL="54864" marR="54864" marT="27432" marB="27432">
                    <a:solidFill>
                      <a:srgbClr val="FFFFFF"/>
                    </a:solidFill>
                  </a:tcPr>
                </a:tc>
              </a:tr>
            </a:tbl>
          </a:graphicData>
        </a:graphic>
      </p:graphicFrame>
    </p:spTree>
  </p:cSld>
  <p:clrMapOvr>
    <a:masterClrMapping/>
  </p:clrMapOvr>
</p:sld>
</file>

<file path=ppt/slides/slide30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SCR-DM-16 LEGACY badge and Origin filter on the lists: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6-01-clients.png"/>
          <p:cNvPicPr>
            <a:picLocks noChangeAspect="1"/>
          </p:cNvPicPr>
          <p:nvPr/>
        </p:nvPicPr>
        <p:blipFill>
          <a:blip r:embed="rId3"/>
          <a:stretch>
            <a:fillRect/>
          </a:stretch>
        </p:blipFill>
        <p:spPr>
          <a:xfrm>
            <a:off x="1127993" y="1261872"/>
            <a:ext cx="9935708"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Clients list with a migrated client marked LEGACY</a:t>
            </a:r>
          </a:p>
        </p:txBody>
      </p:sp>
    </p:spTree>
  </p:cSld>
  <p:clrMapOvr>
    <a:masterClrMapping/>
  </p:clrMapOvr>
</p:sld>
</file>

<file path=ppt/slides/slide30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SCR-DM-16 LEGACY badge and Origin filter on the lists: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302</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6-02-unapplied.png"/>
          <p:cNvPicPr>
            <a:picLocks noChangeAspect="1"/>
          </p:cNvPicPr>
          <p:nvPr/>
        </p:nvPicPr>
        <p:blipFill>
          <a:blip r:embed="rId3"/>
          <a:stretch>
            <a:fillRect/>
          </a:stretch>
        </p:blipFill>
        <p:spPr>
          <a:xfrm>
            <a:off x="802546" y="1261872"/>
            <a:ext cx="10586602"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Payments with the Origin filter set to Migrated</a:t>
            </a:r>
          </a:p>
        </p:txBody>
      </p:sp>
    </p:spTree>
  </p:cSld>
  <p:clrMapOvr>
    <a:masterClrMapping/>
  </p:clrMapOvr>
</p:sld>
</file>

<file path=ppt/slides/slide30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SCR-DM-17 Legacy invoice on Invoice 360</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303</a:t>
            </a:r>
          </a:p>
        </p:txBody>
      </p:sp>
      <p:graphicFrame>
        <p:nvGraphicFramePr>
          <p:cNvPr id="9" name="Table 8"/>
          <p:cNvGraphicFramePr>
            <a:graphicFrameLocks noGrp="1"/>
          </p:cNvGraphicFramePr>
          <p:nvPr/>
        </p:nvGraphicFramePr>
        <p:xfrm>
          <a:off x="548640" y="1307592"/>
          <a:ext cx="6434760" cy="29565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Migrated data on the business screens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An open legacy invoice is carried into the BIBS Operations ledger with its open balances and processed like a BIBS invoice. Invoice 360 shows its LEGACY badge and legacy invoice number, and a Legacy Invoice card with the source system, the legacy reference, the migration batch and the values at cut-over, kept as loaded: the original gross premium, commission and VAT, and per component what was booked, adjusted, paid and remitted in legacy, written off and open at cut-over.</a:t>
                      </a:r>
                    </a:p>
                  </a:txBody>
                  <a:tcPr marL="54864" marR="54864" marT="27432" marB="27432">
                    <a:solidFill>
                      <a:srgbClr val="FFFFFF"/>
                    </a:solidFill>
                  </a:tcPr>
                </a:tc>
              </a:tr>
              <a:tr h="38100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Comptrollership GL lead, Cashiering user, Cashiering team lead, Commission user, Commission team lead, Marketing Account Officer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Operations › Operations › Invoice Search › Invoice 360</a:t>
                      </a:r>
                    </a:p>
                    <a:p>
                      <a:r>
                        <a:rPr sz="950" b="0">
                          <a:solidFill>
                            <a:srgbClr val="4B4B4B"/>
                          </a:solidFill>
                          <a:latin typeface="Arial"/>
                        </a:rPr>
                        <a:t>Operations › Operations › Invoice Search › a legacy invoice</a:t>
                      </a:r>
                    </a:p>
                    <a:p>
                      <a:r>
                        <a:rPr sz="950" b="0">
                          <a:solidFill>
                            <a:srgbClr val="4B4B4B"/>
                          </a:solidFill>
                          <a:latin typeface="Arial"/>
                        </a:rPr>
                        <a:t>PR Worklist › a legacy item</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19.4.2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FR-DM-050, FR-DM-051, FR-DM-060, FR-DM-100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user sees what was open at cut-over and what has happened in BIBS since, on one screen.</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SCR-DM-17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304</a:t>
            </a:r>
          </a:p>
        </p:txBody>
      </p:sp>
      <p:graphicFrame>
        <p:nvGraphicFramePr>
          <p:cNvPr id="9" name="Table 8"/>
          <p:cNvGraphicFramePr>
            <a:graphicFrameLocks noGrp="1"/>
          </p:cNvGraphicFramePr>
          <p:nvPr/>
        </p:nvGraphicFramePr>
        <p:xfrm>
          <a:off x="548640" y="1325880"/>
          <a:ext cx="11094411" cy="2895584"/>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Header</a:t>
                      </a:r>
                    </a:p>
                  </a:txBody>
                  <a:tcPr marL="54864" marR="54864" marT="27432" marB="27432">
                    <a:solidFill>
                      <a:srgbClr val="FFFFFF"/>
                    </a:solidFill>
                  </a:tcPr>
                </a:tc>
                <a:tc>
                  <a:txBody>
                    <a:bodyPr/>
                    <a:lstStyle/>
                    <a:p>
                      <a:r>
                        <a:rPr sz="850" b="0">
                          <a:solidFill>
                            <a:srgbClr val="4B4B4B"/>
                          </a:solidFill>
                          <a:latin typeface="Arial"/>
                        </a:rPr>
                        <a:t>LEGACY</a:t>
                      </a:r>
                    </a:p>
                  </a:txBody>
                  <a:tcPr marL="54864" marR="54864" marT="27432" marB="27432">
                    <a:solidFill>
                      <a:srgbClr val="FFFFFF"/>
                    </a:solidFill>
                  </a:tcPr>
                </a:tc>
                <a:tc>
                  <a:txBody>
                    <a:bodyPr/>
                    <a:lstStyle/>
                    <a:p>
                      <a:r>
                        <a:rPr sz="850" b="0">
                          <a:solidFill>
                            <a:srgbClr val="4B4B4B"/>
                          </a:solidFill>
                          <a:latin typeface="Arial"/>
                        </a:rPr>
                        <a:t>Badge</a:t>
                      </a:r>
                    </a:p>
                  </a:txBody>
                  <a:tcPr marL="54864" marR="54864" marT="27432" marB="27432">
                    <a:solidFill>
                      <a:srgbClr val="FFFFFF"/>
                    </a:solidFill>
                  </a:tcPr>
                </a:tc>
                <a:tc>
                  <a:txBody>
                    <a:bodyPr/>
                    <a:lstStyle/>
                    <a:p>
                      <a:r>
                        <a:rPr sz="850" b="0">
                          <a:solidFill>
                            <a:srgbClr val="4B4B4B"/>
                          </a:solidFill>
                          <a:latin typeface="Arial"/>
                        </a:rPr>
                        <a:t>Next to the invoice number</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Header</a:t>
                      </a:r>
                    </a:p>
                  </a:txBody>
                  <a:tcPr marL="54864" marR="54864" marT="27432" marB="27432">
                    <a:solidFill>
                      <a:srgbClr val="E5F5FF"/>
                    </a:solidFill>
                  </a:tcPr>
                </a:tc>
                <a:tc>
                  <a:txBody>
                    <a:bodyPr/>
                    <a:lstStyle/>
                    <a:p>
                      <a:r>
                        <a:rPr sz="850" b="0">
                          <a:solidFill>
                            <a:srgbClr val="4B4B4B"/>
                          </a:solidFill>
                          <a:latin typeface="Arial"/>
                        </a:rPr>
                        <a:t>Legacy Invoice</a:t>
                      </a:r>
                    </a:p>
                  </a:txBody>
                  <a:tcPr marL="54864" marR="54864" marT="27432" marB="27432">
                    <a:solidFill>
                      <a:srgbClr val="E5F5FF"/>
                    </a:solidFill>
                  </a:tcPr>
                </a:tc>
                <a:tc>
                  <a:txBody>
                    <a:bodyPr/>
                    <a:lstStyle/>
                    <a:p>
                      <a:r>
                        <a:rPr sz="850" b="0">
                          <a:solidFill>
                            <a:srgbClr val="4B4B4B"/>
                          </a:solidFill>
                          <a:latin typeface="Arial"/>
                        </a:rPr>
                        <a:t>Chip</a:t>
                      </a:r>
                    </a:p>
                  </a:txBody>
                  <a:tcPr marL="54864" marR="54864" marT="27432" marB="27432">
                    <a:solidFill>
                      <a:srgbClr val="E5F5FF"/>
                    </a:solidFill>
                  </a:tcPr>
                </a:tc>
                <a:tc>
                  <a:txBody>
                    <a:bodyPr/>
                    <a:lstStyle/>
                    <a:p>
                      <a:r>
                        <a:rPr sz="850" b="0">
                          <a:solidFill>
                            <a:srgbClr val="4B4B4B"/>
                          </a:solidFill>
                          <a:latin typeface="Arial"/>
                        </a:rPr>
                        <a:t>Legacy invoice number when it differs from the BIBS number</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Legacy Invoice</a:t>
                      </a:r>
                    </a:p>
                  </a:txBody>
                  <a:tcPr marL="54864" marR="54864" marT="27432" marB="27432">
                    <a:solidFill>
                      <a:srgbClr val="FFFFFF"/>
                    </a:solidFill>
                  </a:tcPr>
                </a:tc>
                <a:tc>
                  <a:txBody>
                    <a:bodyPr/>
                    <a:lstStyle/>
                    <a:p>
                      <a:r>
                        <a:rPr sz="850" b="0">
                          <a:solidFill>
                            <a:srgbClr val="4B4B4B"/>
                          </a:solidFill>
                          <a:latin typeface="Arial"/>
                        </a:rPr>
                        <a:t>Source System, Legacy Invoice No., Legacy Reference, Legacy Service Invoice</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Legacy Invoice</a:t>
                      </a:r>
                    </a:p>
                  </a:txBody>
                  <a:tcPr marL="54864" marR="54864" marT="27432" marB="27432">
                    <a:solidFill>
                      <a:srgbClr val="E5F5FF"/>
                    </a:solidFill>
                  </a:tcPr>
                </a:tc>
                <a:tc>
                  <a:txBody>
                    <a:bodyPr/>
                    <a:lstStyle/>
                    <a:p>
                      <a:r>
                        <a:rPr sz="850" b="0">
                          <a:solidFill>
                            <a:srgbClr val="4B4B4B"/>
                          </a:solidFill>
                          <a:latin typeface="Arial"/>
                        </a:rPr>
                        <a:t>Invoice Date, Due Date</a:t>
                      </a:r>
                    </a:p>
                  </a:txBody>
                  <a:tcPr marL="54864" marR="54864" marT="27432" marB="27432">
                    <a:solidFill>
                      <a:srgbClr val="E5F5FF"/>
                    </a:solidFill>
                  </a:tcPr>
                </a:tc>
                <a:tc>
                  <a:txBody>
                    <a:bodyPr/>
                    <a:lstStyle/>
                    <a:p>
                      <a:r>
                        <a:rPr sz="850" b="0">
                          <a:solidFill>
                            <a:srgbClr val="4B4B4B"/>
                          </a:solidFill>
                          <a:latin typeface="Arial"/>
                        </a:rPr>
                        <a:t>Date</a:t>
                      </a:r>
                    </a:p>
                  </a:txBody>
                  <a:tcPr marL="54864" marR="54864" marT="27432" marB="27432">
                    <a:solidFill>
                      <a:srgbClr val="E5F5FF"/>
                    </a:solidFill>
                  </a:tcPr>
                </a:tc>
                <a:tc>
                  <a:txBody>
                    <a:bodyPr/>
                    <a:lstStyle/>
                    <a:p>
                      <a:r>
                        <a:rPr sz="850" b="0">
                          <a:solidFill>
                            <a:srgbClr val="4B4B4B"/>
                          </a:solidFill>
                          <a:latin typeface="Arial"/>
                        </a:rPr>
                        <a:t>dd-MMM-yyyy</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Legacy Invoice</a:t>
                      </a:r>
                    </a:p>
                  </a:txBody>
                  <a:tcPr marL="54864" marR="54864" marT="27432" marB="27432">
                    <a:solidFill>
                      <a:srgbClr val="FFFFFF"/>
                    </a:solidFill>
                  </a:tcPr>
                </a:tc>
                <a:tc>
                  <a:txBody>
                    <a:bodyPr/>
                    <a:lstStyle/>
                    <a:p>
                      <a:r>
                        <a:rPr sz="850" b="0">
                          <a:solidFill>
                            <a:srgbClr val="4B4B4B"/>
                          </a:solidFill>
                          <a:latin typeface="Arial"/>
                        </a:rPr>
                        <a:t>Original Gross Premium, Original Commission / VAT</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Two decimals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Legacy Invoice</a:t>
                      </a:r>
                    </a:p>
                  </a:txBody>
                  <a:tcPr marL="54864" marR="54864" marT="27432" marB="27432">
                    <a:solidFill>
                      <a:srgbClr val="E5F5FF"/>
                    </a:solidFill>
                  </a:tcPr>
                </a:tc>
                <a:tc>
                  <a:txBody>
                    <a:bodyPr/>
                    <a:lstStyle/>
                    <a:p>
                      <a:r>
                        <a:rPr sz="850" b="0">
                          <a:solidFill>
                            <a:srgbClr val="4B4B4B"/>
                          </a:solidFill>
                          <a:latin typeface="Arial"/>
                        </a:rPr>
                        <a:t>Commission Realised in Legacy, Deferred VAT Open</a:t>
                      </a:r>
                    </a:p>
                  </a:txBody>
                  <a:tcPr marL="54864" marR="54864" marT="27432" marB="27432">
                    <a:solidFill>
                      <a:srgbClr val="E5F5FF"/>
                    </a:solidFill>
                  </a:tcPr>
                </a:tc>
                <a:tc>
                  <a:txBody>
                    <a:bodyPr/>
                    <a:lstStyle/>
                    <a:p>
                      <a:r>
                        <a:rPr sz="850" b="0">
                          <a:solidFill>
                            <a:srgbClr val="4B4B4B"/>
                          </a:solidFill>
                          <a:latin typeface="Arial"/>
                        </a:rPr>
                        <a:t>Amount</a:t>
                      </a:r>
                    </a:p>
                  </a:txBody>
                  <a:tcPr marL="54864" marR="54864" marT="27432" marB="27432">
                    <a:solidFill>
                      <a:srgbClr val="E5F5FF"/>
                    </a:solidFill>
                  </a:tcPr>
                </a:tc>
                <a:tc>
                  <a:txBody>
                    <a:bodyPr/>
                    <a:lstStyle/>
                    <a:p>
                      <a:r>
                        <a:rPr sz="850" b="0">
                          <a:solidFill>
                            <a:srgbClr val="4B4B4B"/>
                          </a:solidFill>
                          <a:latin typeface="Arial"/>
                        </a:rPr>
                        <a:t>Two decimals</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Legacy Invoice</a:t>
                      </a:r>
                    </a:p>
                  </a:txBody>
                  <a:tcPr marL="54864" marR="54864" marT="27432" marB="27432">
                    <a:solidFill>
                      <a:srgbClr val="FFFFFF"/>
                    </a:solidFill>
                  </a:tcPr>
                </a:tc>
                <a:tc>
                  <a:txBody>
                    <a:bodyPr/>
                    <a:lstStyle/>
                    <a:p>
                      <a:r>
                        <a:rPr sz="850" b="0">
                          <a:solidFill>
                            <a:srgbClr val="4B4B4B"/>
                          </a:solidFill>
                          <a:latin typeface="Arial"/>
                        </a:rPr>
                        <a:t>Insurer Shares, Migration Batch</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Legacy positions at cut-over</a:t>
                      </a:r>
                    </a:p>
                  </a:txBody>
                  <a:tcPr marL="54864" marR="54864" marT="27432" marB="27432">
                    <a:solidFill>
                      <a:srgbClr val="E5F5FF"/>
                    </a:solidFill>
                  </a:tcPr>
                </a:tc>
                <a:tc>
                  <a:txBody>
                    <a:bodyPr/>
                    <a:lstStyle/>
                    <a:p>
                      <a:r>
                        <a:rPr sz="850" b="0">
                          <a:solidFill>
                            <a:srgbClr val="4B4B4B"/>
                          </a:solidFill>
                          <a:latin typeface="Arial"/>
                        </a:rPr>
                        <a:t>Component, Booked, Adjusted, Paid in Legacy, Remitted in Legacy, Written Off, Open at Cut-over</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One row per component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bl>
          </a:graphicData>
        </a:graphic>
      </p:graphicFrame>
    </p:spTree>
  </p:cSld>
  <p:clrMapOvr>
    <a:masterClrMapping/>
  </p:clrMapOvr>
</p:sld>
</file>

<file path=ppt/slides/slide30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SCR-DM-17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305</a:t>
            </a:r>
          </a:p>
        </p:txBody>
      </p:sp>
      <p:graphicFrame>
        <p:nvGraphicFramePr>
          <p:cNvPr id="9" name="Table 8"/>
          <p:cNvGraphicFramePr>
            <a:graphicFrameLocks noGrp="1"/>
          </p:cNvGraphicFramePr>
          <p:nvPr/>
        </p:nvGraphicFramePr>
        <p:xfrm>
          <a:off x="548640" y="1325880"/>
          <a:ext cx="11094412" cy="701036"/>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480057">
                <a:tc>
                  <a:txBody>
                    <a:bodyPr/>
                    <a:lstStyle/>
                    <a:p>
                      <a:r>
                        <a:rPr sz="850" b="0">
                          <a:solidFill>
                            <a:srgbClr val="4B4B4B"/>
                          </a:solidFill>
                          <a:latin typeface="Arial"/>
                        </a:rPr>
                        <a:t>The actions of Invoice 360</a:t>
                      </a:r>
                    </a:p>
                  </a:txBody>
                  <a:tcPr marL="54864" marR="54864" marT="27432" marB="27432">
                    <a:solidFill>
                      <a:srgbClr val="FFFFFF"/>
                    </a:solidFill>
                  </a:tcPr>
                </a:tc>
                <a:tc>
                  <a:txBody>
                    <a:bodyPr/>
                    <a:lstStyle/>
                    <a:p>
                      <a:r>
                        <a:rPr sz="850" b="0">
                          <a:solidFill>
                            <a:srgbClr val="4B4B4B"/>
                          </a:solidFill>
                          <a:latin typeface="Arial"/>
                        </a:rPr>
                        <a:t>Users of Invoice 360</a:t>
                      </a:r>
                    </a:p>
                  </a:txBody>
                  <a:tcPr marL="54864" marR="54864" marT="27432" marB="27432">
                    <a:solidFill>
                      <a:srgbClr val="FFFFFF"/>
                    </a:solidFill>
                  </a:tcPr>
                </a:tc>
                <a:tc>
                  <a:txBody>
                    <a:bodyPr/>
                    <a:lstStyle/>
                    <a:p>
                      <a:r>
                        <a:rPr sz="850" b="0">
                          <a:solidFill>
                            <a:srgbClr val="4B4B4B"/>
                          </a:solidFill>
                          <a:latin typeface="Arial"/>
                        </a:rPr>
                        <a:t>As for a BIBS invoice</a:t>
                      </a:r>
                    </a:p>
                  </a:txBody>
                  <a:tcPr marL="54864" marR="54864" marT="27432" marB="27432">
                    <a:solidFill>
                      <a:srgbClr val="FFFFFF"/>
                    </a:solidFill>
                  </a:tcPr>
                </a:tc>
                <a:tc>
                  <a:txBody>
                    <a:bodyPr/>
                    <a:lstStyle/>
                    <a:p>
                      <a:r>
                        <a:rPr sz="850" b="0">
                          <a:solidFill>
                            <a:srgbClr val="4B4B4B"/>
                          </a:solidFill>
                          <a:latin typeface="Arial"/>
                        </a:rPr>
                        <a:t>Payments, automatch, refunds, reclassifications, remittance and endorsements work on the legacy invoice; its postings go to the legacy accounts</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0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SCR-DM-17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306</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A legacy invoice is not re-booked; it keeps its legacy number and its postings go to the legacy control accounts (FR-DM-050).</a:t>
                      </a:r>
                    </a:p>
                  </a:txBody>
                  <a:tcPr marL="54864" marR="54864" marT="27432" marB="27432">
                    <a:solidFill>
                      <a:srgbClr val="FFFFFF"/>
                    </a:solidFill>
                  </a:tcPr>
                </a:tc>
              </a:tr>
              <a:tr h="243840">
                <a:tc>
                  <a:txBody>
                    <a:bodyPr/>
                    <a:lstStyle/>
                    <a:p>
                      <a:r>
                        <a:rPr sz="1000" b="0">
                          <a:solidFill>
                            <a:srgbClr val="4B4B4B"/>
                          </a:solidFill>
                          <a:latin typeface="Arial"/>
                        </a:rPr>
                        <a:t>The values at cut-over are never changed; the report Changes to Legacy Invoices compares every later change with them (FR-DM-100).</a:t>
                      </a:r>
                    </a:p>
                  </a:txBody>
                  <a:tcPr marL="54864" marR="54864" marT="27432" marB="27432">
                    <a:solidFill>
                      <a:srgbClr val="E5F5FF"/>
                    </a:solidFill>
                  </a:tcPr>
                </a:tc>
              </a:tr>
              <a:tr h="243840">
                <a:tc>
                  <a:txBody>
                    <a:bodyPr/>
                    <a:lstStyle/>
                    <a:p>
                      <a:r>
                        <a:rPr sz="1000" b="0">
                          <a:solidFill>
                            <a:srgbClr val="4B4B4B"/>
                          </a:solidFill>
                          <a:latin typeface="Arial"/>
                        </a:rPr>
                        <a:t>When legacy could give only the open balances, the card says so and the original amounts are blank (FR-DM-050).</a:t>
                      </a:r>
                    </a:p>
                  </a:txBody>
                  <a:tcPr marL="54864" marR="54864" marT="27432" marB="27432">
                    <a:solidFill>
                      <a:srgbClr val="FFFFFF"/>
                    </a:solidFill>
                  </a:tcPr>
                </a:tc>
              </a:tr>
            </a:tbl>
          </a:graphicData>
        </a:graphic>
      </p:graphicFrame>
    </p:spTree>
  </p:cSld>
  <p:clrMapOvr>
    <a:masterClrMapping/>
  </p:clrMapOvr>
</p:sld>
</file>

<file path=ppt/slides/slide30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SCR-DM-17 Legacy invoice on Invoice 360: Read-only or locked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307</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2.png"/>
          <p:cNvPicPr>
            <a:picLocks noChangeAspect="1"/>
          </p:cNvPicPr>
          <p:nvPr/>
        </p:nvPicPr>
        <p:blipFill>
          <a:blip r:embed="rId3"/>
          <a:stretch>
            <a:fillRect/>
          </a:stretch>
        </p:blipFill>
        <p:spPr>
          <a:xfrm>
            <a:off x="548640" y="1261872"/>
            <a:ext cx="11094415" cy="394478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legacy invoice with the Legacy Invoice card (part 1 of 3)</a:t>
            </a:r>
          </a:p>
        </p:txBody>
      </p:sp>
    </p:spTree>
  </p:cSld>
  <p:clrMapOvr>
    <a:masterClrMapping/>
  </p:clrMapOvr>
</p:sld>
</file>

<file path=ppt/slides/slide30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SCR-DM-17 Legacy invoice on Invoice 360: Read-only or locked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308</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3.png"/>
          <p:cNvPicPr>
            <a:picLocks noChangeAspect="1"/>
          </p:cNvPicPr>
          <p:nvPr/>
        </p:nvPicPr>
        <p:blipFill>
          <a:blip r:embed="rId3"/>
          <a:stretch>
            <a:fillRect/>
          </a:stretch>
        </p:blipFill>
        <p:spPr>
          <a:xfrm>
            <a:off x="548640" y="1261872"/>
            <a:ext cx="11094415" cy="473374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legacy invoice with the Legacy Invoice card (part 2 of 3)</a:t>
            </a:r>
          </a:p>
        </p:txBody>
      </p:sp>
    </p:spTree>
  </p:cSld>
  <p:clrMapOvr>
    <a:masterClrMapping/>
  </p:clrMapOvr>
</p:sld>
</file>

<file path=ppt/slides/slide30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SCR-DM-17 Legacy invoice on Invoice 360: Read-only or locked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309</a:t>
            </a:r>
          </a:p>
        </p:txBody>
      </p:sp>
      <p:sp>
        <p:nvSpPr>
          <p:cNvPr id="9" name="Rounded Rectangle 8"/>
          <p:cNvSpPr/>
          <p:nvPr/>
        </p:nvSpPr>
        <p:spPr>
          <a:xfrm>
            <a:off x="9626803" y="896112"/>
            <a:ext cx="2016252" cy="274320"/>
          </a:xfrm>
          <a:prstGeom prst="roundRect">
            <a:avLst/>
          </a:prstGeom>
          <a:solidFill>
            <a:srgbClr val="F6F6F6"/>
          </a:solidFill>
          <a:ln w="12700">
            <a:solidFill>
              <a:srgbClr val="656565"/>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656565"/>
                </a:solidFill>
                <a:latin typeface="Arial"/>
              </a:rPr>
              <a:t>Read-only or locked</a:t>
            </a:r>
          </a:p>
        </p:txBody>
      </p:sp>
      <p:pic>
        <p:nvPicPr>
          <p:cNvPr id="10" name="Picture 9" descr="slice-00164.png"/>
          <p:cNvPicPr>
            <a:picLocks noChangeAspect="1"/>
          </p:cNvPicPr>
          <p:nvPr/>
        </p:nvPicPr>
        <p:blipFill>
          <a:blip r:embed="rId3"/>
          <a:stretch>
            <a:fillRect/>
          </a:stretch>
        </p:blipFill>
        <p:spPr>
          <a:xfrm>
            <a:off x="548640" y="1261872"/>
            <a:ext cx="11094415" cy="2141457"/>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Invoice 360 of a legacy invoice with the Legacy Invoice card (part 3 of 3)</a:t>
            </a:r>
          </a:p>
        </p:txBody>
      </p:sp>
    </p:spTree>
  </p:cSld>
  <p:clrMapOvr>
    <a:masterClrMapping/>
  </p:clrMapOvr>
</p:sld>
</file>

<file path=ppt/slides/slide3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SCR-DM-18 Unapplied to Income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310</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Legacy batches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Batches of old unapplied payments, new and legacy, reclassified to other income (unclaimed collections). A Cashiering user opens a batch with its reason and currency and adds the unapplied payments received at least a chosen number of days ago; the Cashiering team lead approves, then top management; after the second approval each line posts on its own and the payment closes. Legacy items come from Unapplied Collections - Legacy, new ones from Unapplied Collections.</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Cashiering user, Cashiering team lead, Top management approver</a:t>
                      </a:r>
                    </a:p>
                  </a:txBody>
                  <a:tcPr marL="54864" marR="54864" marT="27432" marB="27432">
                    <a:solidFill>
                      <a:srgbClr val="FFFFFF"/>
                    </a:solidFill>
                  </a:tcPr>
                </a:tc>
              </a:tr>
              <a:tr h="52578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Unapplied to Income</a:t>
                      </a:r>
                    </a:p>
                    <a:p>
                      <a:r>
                        <a:rPr sz="950" b="0">
                          <a:solidFill>
                            <a:srgbClr val="4B4B4B"/>
                          </a:solidFill>
                          <a:latin typeface="Arial"/>
                        </a:rPr>
                        <a:t>Finance › Cashiering › Unapplied to Income</a:t>
                      </a:r>
                    </a:p>
                    <a:p>
                      <a:r>
                        <a:rPr sz="950" b="0">
                          <a:solidFill>
                            <a:srgbClr val="4B4B4B"/>
                          </a:solidFill>
                          <a:latin typeface="Arial"/>
                        </a:rPr>
                        <a:t>Unapplied Payments › an old item</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19.5.1</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FR-DM-055</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Old unapplied payments are taken to income under two approvals, line by line.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(3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2 images</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1 image</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SCR-DM-18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311</a:t>
            </a:r>
          </a:p>
        </p:txBody>
      </p:sp>
      <p:graphicFrame>
        <p:nvGraphicFramePr>
          <p:cNvPr id="9" name="Table 8"/>
          <p:cNvGraphicFramePr>
            <a:graphicFrameLocks noGrp="1"/>
          </p:cNvGraphicFramePr>
          <p:nvPr/>
        </p:nvGraphicFramePr>
        <p:xfrm>
          <a:off x="548640" y="1325880"/>
          <a:ext cx="11094411" cy="4000479"/>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Batch number; reason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Lines, Total</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Count; amount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Requested / Approved</a:t>
                      </a:r>
                    </a:p>
                  </a:txBody>
                  <a:tcPr marL="54864" marR="54864" marT="27432" marB="27432">
                    <a:solidFill>
                      <a:srgbClr val="FFFFFF"/>
                    </a:solidFill>
                  </a:tcPr>
                </a:tc>
                <a:tc>
                  <a:txBody>
                    <a:bodyPr/>
                    <a:lstStyle/>
                    <a:p>
                      <a:r>
                        <a:rPr sz="850" b="0">
                          <a:solidFill>
                            <a:srgbClr val="4B4B4B"/>
                          </a:solidFill>
                          <a:latin typeface="Arial"/>
                        </a:rPr>
                        <a:t>Column</a:t>
                      </a:r>
                    </a:p>
                  </a:txBody>
                  <a:tcPr marL="54864" marR="54864" marT="27432" marB="27432">
                    <a:solidFill>
                      <a:srgbClr val="FFFFFF"/>
                    </a:solidFill>
                  </a:tcPr>
                </a:tc>
                <a:tc>
                  <a:txBody>
                    <a:bodyPr/>
                    <a:lstStyle/>
                    <a:p>
                      <a:r>
                        <a:rPr sz="850" b="0">
                          <a:solidFill>
                            <a:srgbClr val="4B4B4B"/>
                          </a:solidFill>
                          <a:latin typeface="Arial"/>
                        </a:rPr>
                        <a:t>Requester; approvers under it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List</a:t>
                      </a:r>
                    </a:p>
                  </a:txBody>
                  <a:tcPr marL="54864" marR="54864" marT="27432" marB="27432">
                    <a:solidFill>
                      <a:srgbClr val="E5F5FF"/>
                    </a:solidFill>
                  </a:tcPr>
                </a:tc>
                <a:tc>
                  <a:txBody>
                    <a:bodyPr/>
                    <a:lstStyle/>
                    <a:p>
                      <a:r>
                        <a:rPr sz="850" b="0">
                          <a:solidFill>
                            <a:srgbClr val="4B4B4B"/>
                          </a:solidFill>
                          <a:latin typeface="Arial"/>
                        </a:rPr>
                        <a:t>Posted</a:t>
                      </a:r>
                    </a:p>
                  </a:txBody>
                  <a:tcPr marL="54864" marR="54864" marT="27432" marB="27432">
                    <a:solidFill>
                      <a:srgbClr val="E5F5FF"/>
                    </a:solidFill>
                  </a:tcPr>
                </a:tc>
                <a:tc>
                  <a:txBody>
                    <a:bodyPr/>
                    <a:lstStyle/>
                    <a:p>
                      <a:r>
                        <a:rPr sz="850" b="0">
                          <a:solidFill>
                            <a:srgbClr val="4B4B4B"/>
                          </a:solidFill>
                          <a:latin typeface="Arial"/>
                        </a:rPr>
                        <a:t>Column</a:t>
                      </a:r>
                    </a:p>
                  </a:txBody>
                  <a:tcPr marL="54864" marR="54864" marT="27432" marB="27432">
                    <a:solidFill>
                      <a:srgbClr val="E5F5FF"/>
                    </a:solidFill>
                  </a:tcPr>
                </a:tc>
                <a:tc>
                  <a:txBody>
                    <a:bodyPr/>
                    <a:lstStyle/>
                    <a:p>
                      <a:r>
                        <a:rPr sz="850" b="0">
                          <a:solidFill>
                            <a:srgbClr val="4B4B4B"/>
                          </a:solidFill>
                          <a:latin typeface="Arial"/>
                        </a:rPr>
                        <a:t>Lines posted and refused; date and time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List</a:t>
                      </a:r>
                    </a:p>
                  </a:txBody>
                  <a:tcPr marL="54864" marR="54864" marT="27432" marB="27432">
                    <a:solidFill>
                      <a:srgbClr val="FFFFFF"/>
                    </a:solidFill>
                  </a:tcPr>
                </a:tc>
                <a:tc>
                  <a:txBody>
                    <a:bodyPr/>
                    <a:lstStyle/>
                    <a:p>
                      <a:r>
                        <a:rPr sz="850" b="0">
                          <a:solidFill>
                            <a:srgbClr val="4B4B4B"/>
                          </a:solidFill>
                          <a:latin typeface="Arial"/>
                        </a:rPr>
                        <a:t>Status</a:t>
                      </a:r>
                    </a:p>
                  </a:txBody>
                  <a:tcPr marL="54864" marR="54864" marT="27432" marB="27432">
                    <a:solidFill>
                      <a:srgbClr val="FFFFFF"/>
                    </a:solidFill>
                  </a:tcPr>
                </a:tc>
                <a:tc>
                  <a:txBody>
                    <a:bodyPr/>
                    <a:lstStyle/>
                    <a:p>
                      <a:r>
                        <a:rPr sz="850" b="0">
                          <a:solidFill>
                            <a:srgbClr val="4B4B4B"/>
                          </a:solidFill>
                          <a:latin typeface="Arial"/>
                        </a:rPr>
                        <a:t>Pill</a:t>
                      </a:r>
                    </a:p>
                  </a:txBody>
                  <a:tcPr marL="54864" marR="54864" marT="27432" marB="27432">
                    <a:solidFill>
                      <a:srgbClr val="FFFFFF"/>
                    </a:solidFill>
                  </a:tcPr>
                </a:tc>
                <a:tc>
                  <a:txBody>
                    <a:bodyPr/>
                    <a:lstStyle/>
                    <a:p>
                      <a:r>
                        <a:rPr sz="850" b="0">
                          <a:solidFill>
                            <a:srgbClr val="4B4B4B"/>
                          </a:solidFill>
                          <a:latin typeface="Arial"/>
                        </a:rPr>
                        <a:t>Draft, For approval, For top management, Posted, Returned, 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6</a:t>
                      </a:r>
                    </a:p>
                  </a:txBody>
                  <a:tcPr marL="54864" marR="54864" marT="27432" marB="27432">
                    <a:solidFill>
                      <a:srgbClr val="E5F5FF"/>
                    </a:solidFill>
                  </a:tcPr>
                </a:tc>
                <a:tc>
                  <a:txBody>
                    <a:bodyPr/>
                    <a:lstStyle/>
                    <a:p>
                      <a:r>
                        <a:rPr sz="850" b="0">
                          <a:solidFill>
                            <a:srgbClr val="4B4B4B"/>
                          </a:solidFill>
                          <a:latin typeface="Arial"/>
                        </a:rPr>
                        <a:t>New Batch</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Text area</a:t>
                      </a:r>
                    </a:p>
                  </a:txBody>
                  <a:tcPr marL="54864" marR="54864" marT="27432" marB="27432">
                    <a:solidFill>
                      <a:srgbClr val="E5F5FF"/>
                    </a:solidFill>
                  </a:tcPr>
                </a:tc>
                <a:tc>
                  <a:txBody>
                    <a:bodyPr/>
                    <a:lstStyle/>
                    <a:p>
                      <a:r>
                        <a:rPr sz="850" b="0">
                          <a:solidFill>
                            <a:srgbClr val="4B4B4B"/>
                          </a:solidFill>
                          <a:latin typeface="Arial"/>
                        </a:rPr>
                        <a:t>Up to 500 characters</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Not blank</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7</a:t>
                      </a:r>
                    </a:p>
                  </a:txBody>
                  <a:tcPr marL="54864" marR="54864" marT="27432" marB="27432">
                    <a:solidFill>
                      <a:srgbClr val="FFFFFF"/>
                    </a:solidFill>
                  </a:tcPr>
                </a:tc>
                <a:tc>
                  <a:txBody>
                    <a:bodyPr/>
                    <a:lstStyle/>
                    <a:p>
                      <a:r>
                        <a:rPr sz="850" b="0">
                          <a:solidFill>
                            <a:srgbClr val="4B4B4B"/>
                          </a:solidFill>
                          <a:latin typeface="Arial"/>
                        </a:rPr>
                        <a:t>New Batch</a:t>
                      </a:r>
                    </a:p>
                  </a:txBody>
                  <a:tcPr marL="54864" marR="54864" marT="27432" marB="27432">
                    <a:solidFill>
                      <a:srgbClr val="FFFFFF"/>
                    </a:solidFill>
                  </a:tcPr>
                </a:tc>
                <a:tc>
                  <a:txBody>
                    <a:bodyPr/>
                    <a:lstStyle/>
                    <a:p>
                      <a:r>
                        <a:rPr sz="850" b="0">
                          <a:solidFill>
                            <a:srgbClr val="4B4B4B"/>
                          </a:solidFill>
                          <a:latin typeface="Arial"/>
                        </a:rPr>
                        <a:t>Currency</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PHP, USD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8</a:t>
                      </a:r>
                    </a:p>
                  </a:txBody>
                  <a:tcPr marL="54864" marR="54864" marT="27432" marB="27432">
                    <a:solidFill>
                      <a:srgbClr val="E5F5FF"/>
                    </a:solidFill>
                  </a:tcPr>
                </a:tc>
                <a:tc>
                  <a:txBody>
                    <a:bodyPr/>
                    <a:lstStyle/>
                    <a:p>
                      <a:r>
                        <a:rPr sz="850" b="0">
                          <a:solidFill>
                            <a:srgbClr val="4B4B4B"/>
                          </a:solidFill>
                          <a:latin typeface="Arial"/>
                        </a:rPr>
                        <a:t>Batch</a:t>
                      </a:r>
                    </a:p>
                  </a:txBody>
                  <a:tcPr marL="54864" marR="54864" marT="27432" marB="27432">
                    <a:solidFill>
                      <a:srgbClr val="E5F5FF"/>
                    </a:solidFill>
                  </a:tcPr>
                </a:tc>
                <a:tc>
                  <a:txBody>
                    <a:bodyPr/>
                    <a:lstStyle/>
                    <a:p>
                      <a:r>
                        <a:rPr sz="850" b="0">
                          <a:solidFill>
                            <a:srgbClr val="4B4B4B"/>
                          </a:solidFill>
                          <a:latin typeface="Arial"/>
                        </a:rPr>
                        <a:t>Status, Reason, Total, Lines, Requested By, Submitted, Approved By, Posted, Returned Because</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480057">
                <a:tc>
                  <a:txBody>
                    <a:bodyPr/>
                    <a:lstStyle/>
                    <a:p>
                      <a:r>
                        <a:rPr sz="850" b="0">
                          <a:solidFill>
                            <a:srgbClr val="4B4B4B"/>
                          </a:solidFill>
                          <a:latin typeface="Arial"/>
                        </a:rPr>
                        <a:t>9</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 Unapplied Payment, Amount, Result,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LEGACY tag on a legacy item; age in days under it; journal or refusal message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10</a:t>
                      </a:r>
                    </a:p>
                  </a:txBody>
                  <a:tcPr marL="54864" marR="54864" marT="27432" marB="27432">
                    <a:solidFill>
                      <a:srgbClr val="E5F5FF"/>
                    </a:solidFill>
                  </a:tcPr>
                </a:tc>
                <a:tc>
                  <a:txBody>
                    <a:bodyPr/>
                    <a:lstStyle/>
                    <a:p>
                      <a:r>
                        <a:rPr sz="850" b="0">
                          <a:solidFill>
                            <a:srgbClr val="4B4B4B"/>
                          </a:solidFill>
                          <a:latin typeface="Arial"/>
                        </a:rPr>
                        <a:t>Add Unapplied Payments</a:t>
                      </a:r>
                    </a:p>
                  </a:txBody>
                  <a:tcPr marL="54864" marR="54864" marT="27432" marB="27432">
                    <a:solidFill>
                      <a:srgbClr val="E5F5FF"/>
                    </a:solidFill>
                  </a:tcPr>
                </a:tc>
                <a:tc>
                  <a:txBody>
                    <a:bodyPr/>
                    <a:lstStyle/>
                    <a:p>
                      <a:r>
                        <a:rPr sz="850" b="0">
                          <a:solidFill>
                            <a:srgbClr val="4B4B4B"/>
                          </a:solidFill>
                          <a:latin typeface="Arial"/>
                        </a:rPr>
                        <a:t>Received At Least (days ago)</a:t>
                      </a:r>
                    </a:p>
                  </a:txBody>
                  <a:tcPr marL="54864" marR="54864" marT="27432" marB="27432">
                    <a:solidFill>
                      <a:srgbClr val="E5F5FF"/>
                    </a:solidFill>
                  </a:tcPr>
                </a:tc>
                <a:tc>
                  <a:txBody>
                    <a:bodyPr/>
                    <a:lstStyle/>
                    <a:p>
                      <a:r>
                        <a:rPr sz="850" b="0">
                          <a:solidFill>
                            <a:srgbClr val="4B4B4B"/>
                          </a:solidFill>
                          <a:latin typeface="Arial"/>
                        </a:rPr>
                        <a:t>Number</a:t>
                      </a:r>
                    </a:p>
                  </a:txBody>
                  <a:tcPr marL="54864" marR="54864" marT="27432" marB="27432">
                    <a:solidFill>
                      <a:srgbClr val="E5F5FF"/>
                    </a:solidFill>
                  </a:tcPr>
                </a:tc>
                <a:tc>
                  <a:txBody>
                    <a:bodyPr/>
                    <a:lstStyle/>
                    <a:p>
                      <a:r>
                        <a:rPr sz="850" b="0">
                          <a:solidFill>
                            <a:srgbClr val="4B4B4B"/>
                          </a:solidFill>
                          <a:latin typeface="Arial"/>
                        </a:rPr>
                        <a:t>Days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11</a:t>
                      </a:r>
                    </a:p>
                  </a:txBody>
                  <a:tcPr marL="54864" marR="54864" marT="27432" marB="27432">
                    <a:solidFill>
                      <a:srgbClr val="FFFFFF"/>
                    </a:solidFill>
                  </a:tcPr>
                </a:tc>
                <a:tc>
                  <a:txBody>
                    <a:bodyPr/>
                    <a:lstStyle/>
                    <a:p>
                      <a:r>
                        <a:rPr sz="850" b="0">
                          <a:solidFill>
                            <a:srgbClr val="4B4B4B"/>
                          </a:solidFill>
                          <a:latin typeface="Arial"/>
                        </a:rPr>
                        <a:t>Add Unapplied Payments</a:t>
                      </a:r>
                    </a:p>
                  </a:txBody>
                  <a:tcPr marL="54864" marR="54864" marT="27432" marB="27432">
                    <a:solidFill>
                      <a:srgbClr val="FFFFFF"/>
                    </a:solidFill>
                  </a:tcPr>
                </a:tc>
                <a:tc>
                  <a:txBody>
                    <a:bodyPr/>
                    <a:lstStyle/>
                    <a:p>
                      <a:r>
                        <a:rPr sz="850" b="0">
                          <a:solidFill>
                            <a:srgbClr val="4B4B4B"/>
                          </a:solidFill>
                          <a:latin typeface="Arial"/>
                        </a:rPr>
                        <a:t>Origin</a:t>
                      </a:r>
                    </a:p>
                  </a:txBody>
                  <a:tcPr marL="54864" marR="54864" marT="27432" marB="27432">
                    <a:solidFill>
                      <a:srgbClr val="FFFFFF"/>
                    </a:solidFill>
                  </a:tcPr>
                </a:tc>
                <a:tc>
                  <a:txBody>
                    <a:bodyPr/>
                    <a:lstStyle/>
                    <a:p>
                      <a:r>
                        <a:rPr sz="850" b="0">
                          <a:solidFill>
                            <a:srgbClr val="4B4B4B"/>
                          </a:solidFill>
                          <a:latin typeface="Arial"/>
                        </a:rPr>
                        <a:t>Drop-down</a:t>
                      </a:r>
                    </a:p>
                  </a:txBody>
                  <a:tcPr marL="54864" marR="54864" marT="27432" marB="27432">
                    <a:solidFill>
                      <a:srgbClr val="FFFFFF"/>
                    </a:solidFill>
                  </a:tcPr>
                </a:tc>
                <a:tc>
                  <a:txBody>
                    <a:bodyPr/>
                    <a:lstStyle/>
                    <a:p>
                      <a:r>
                        <a:rPr sz="850" b="0">
                          <a:solidFill>
                            <a:srgbClr val="4B4B4B"/>
                          </a:solidFill>
                          <a:latin typeface="Arial"/>
                        </a:rPr>
                        <a:t>All origins, BIBS, Migrated</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12</a:t>
                      </a:r>
                    </a:p>
                  </a:txBody>
                  <a:tcPr marL="54864" marR="54864" marT="27432" marB="27432">
                    <a:solidFill>
                      <a:srgbClr val="E5F5FF"/>
                    </a:solidFill>
                  </a:tcPr>
                </a:tc>
                <a:tc>
                  <a:txBody>
                    <a:bodyPr/>
                    <a:lstStyle/>
                    <a:p>
                      <a:r>
                        <a:rPr sz="850" b="0">
                          <a:solidFill>
                            <a:srgbClr val="4B4B4B"/>
                          </a:solidFill>
                          <a:latin typeface="Arial"/>
                        </a:rPr>
                        <a:t>Add Unapplied Payments</a:t>
                      </a:r>
                    </a:p>
                  </a:txBody>
                  <a:tcPr marL="54864" marR="54864" marT="27432" marB="27432">
                    <a:solidFill>
                      <a:srgbClr val="E5F5FF"/>
                    </a:solidFill>
                  </a:tcPr>
                </a:tc>
                <a:tc>
                  <a:txBody>
                    <a:bodyPr/>
                    <a:lstStyle/>
                    <a:p>
                      <a:r>
                        <a:rPr sz="850" b="0">
                          <a:solidFill>
                            <a:srgbClr val="4B4B4B"/>
                          </a:solidFill>
                          <a:latin typeface="Arial"/>
                        </a:rPr>
                        <a:t>Reason for the Lines</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250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13</a:t>
                      </a:r>
                    </a:p>
                  </a:txBody>
                  <a:tcPr marL="54864" marR="54864" marT="27432" marB="27432">
                    <a:solidFill>
                      <a:srgbClr val="FFFFFF"/>
                    </a:solidFill>
                  </a:tcPr>
                </a:tc>
                <a:tc>
                  <a:txBody>
                    <a:bodyPr/>
                    <a:lstStyle/>
                    <a:p>
                      <a:r>
                        <a:rPr sz="850" b="0">
                          <a:solidFill>
                            <a:srgbClr val="4B4B4B"/>
                          </a:solidFill>
                          <a:latin typeface="Arial"/>
                        </a:rPr>
                        <a:t>Add Unapplied Payments</a:t>
                      </a:r>
                    </a:p>
                  </a:txBody>
                  <a:tcPr marL="54864" marR="54864" marT="27432" marB="27432">
                    <a:solidFill>
                      <a:srgbClr val="FFFFFF"/>
                    </a:solidFill>
                  </a:tcPr>
                </a:tc>
                <a:tc>
                  <a:txBody>
                    <a:bodyPr/>
                    <a:lstStyle/>
                    <a:p>
                      <a:r>
                        <a:rPr sz="850" b="0">
                          <a:solidFill>
                            <a:srgbClr val="4B4B4B"/>
                          </a:solidFill>
                          <a:latin typeface="Arial"/>
                        </a:rPr>
                        <a:t>Unapplied Payment, Payor / Client, Age (days), Stage, Balance</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Legacy AR number under a legacy item</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SCR-DM-18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312</a:t>
            </a:r>
          </a:p>
        </p:txBody>
      </p:sp>
      <p:graphicFrame>
        <p:nvGraphicFramePr>
          <p:cNvPr id="9" name="Table 8"/>
          <p:cNvGraphicFramePr>
            <a:graphicFrameLocks noGrp="1"/>
          </p:cNvGraphicFramePr>
          <p:nvPr/>
        </p:nvGraphicFramePr>
        <p:xfrm>
          <a:off x="548640" y="1325880"/>
          <a:ext cx="11094412" cy="2026910"/>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New Batch</a:t>
                      </a:r>
                    </a:p>
                  </a:txBody>
                  <a:tcPr marL="54864" marR="54864" marT="27432" marB="27432">
                    <a:solidFill>
                      <a:srgbClr val="FFFFFF"/>
                    </a:solidFill>
                  </a:tcPr>
                </a:tc>
                <a:tc>
                  <a:txBody>
                    <a:bodyPr/>
                    <a:lstStyle/>
                    <a:p>
                      <a:r>
                        <a:rPr sz="850" b="0">
                          <a:solidFill>
                            <a:srgbClr val="4B4B4B"/>
                          </a:solidFill>
                          <a:latin typeface="Arial"/>
                        </a:rPr>
                        <a:t>Cashiering user</a:t>
                      </a:r>
                    </a:p>
                  </a:txBody>
                  <a:tcPr marL="54864" marR="54864" marT="27432" marB="27432">
                    <a:solidFill>
                      <a:srgbClr val="FFFFFF"/>
                    </a:solidFill>
                  </a:tcPr>
                </a:tc>
                <a:tc>
                  <a:txBody>
                    <a:bodyPr/>
                    <a:lstStyle/>
                    <a:p>
                      <a:r>
                        <a:rPr sz="850" b="0">
                          <a:solidFill>
                            <a:srgbClr val="4B4B4B"/>
                          </a:solidFill>
                          <a:latin typeface="Arial"/>
                        </a:rPr>
                        <a:t>Always</a:t>
                      </a:r>
                    </a:p>
                  </a:txBody>
                  <a:tcPr marL="54864" marR="54864" marT="27432" marB="27432">
                    <a:solidFill>
                      <a:srgbClr val="FFFFFF"/>
                    </a:solidFill>
                  </a:tcPr>
                </a:tc>
                <a:tc>
                  <a:txBody>
                    <a:bodyPr/>
                    <a:lstStyle/>
                    <a:p>
                      <a:r>
                        <a:rPr sz="850" b="0">
                          <a:solidFill>
                            <a:srgbClr val="4B4B4B"/>
                          </a:solidFill>
                          <a:latin typeface="Arial"/>
                        </a:rPr>
                        <a:t>Opens a draft batch</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Add</a:t>
                      </a:r>
                    </a:p>
                  </a:txBody>
                  <a:tcPr marL="54864" marR="54864" marT="27432" marB="27432">
                    <a:solidFill>
                      <a:srgbClr val="E5F5FF"/>
                    </a:solidFill>
                  </a:tcPr>
                </a:tc>
                <a:tc>
                  <a:txBody>
                    <a:bodyPr/>
                    <a:lstStyle/>
                    <a:p>
                      <a:r>
                        <a:rPr sz="850" b="0">
                          <a:solidFill>
                            <a:srgbClr val="4B4B4B"/>
                          </a:solidFill>
                          <a:latin typeface="Arial"/>
                        </a:rPr>
                        <a:t>Cashiering user</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Adds the payment as a line</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Remove</a:t>
                      </a:r>
                    </a:p>
                  </a:txBody>
                  <a:tcPr marL="54864" marR="54864" marT="27432" marB="27432">
                    <a:solidFill>
                      <a:srgbClr val="FFFFFF"/>
                    </a:solidFill>
                  </a:tcPr>
                </a:tc>
                <a:tc>
                  <a:txBody>
                    <a:bodyPr/>
                    <a:lstStyle/>
                    <a:p>
                      <a:r>
                        <a:rPr sz="850" b="0">
                          <a:solidFill>
                            <a:srgbClr val="4B4B4B"/>
                          </a:solidFill>
                          <a:latin typeface="Arial"/>
                        </a:rPr>
                        <a:t>Cashiering user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Removes a line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Submit</a:t>
                      </a:r>
                    </a:p>
                  </a:txBody>
                  <a:tcPr marL="54864" marR="54864" marT="27432" marB="27432">
                    <a:solidFill>
                      <a:srgbClr val="E5F5FF"/>
                    </a:solidFill>
                  </a:tcPr>
                </a:tc>
                <a:tc>
                  <a:txBody>
                    <a:bodyPr/>
                    <a:lstStyle/>
                    <a:p>
                      <a:r>
                        <a:rPr sz="850" b="0">
                          <a:solidFill>
                            <a:srgbClr val="4B4B4B"/>
                          </a:solidFill>
                          <a:latin typeface="Arial"/>
                        </a:rPr>
                        <a:t>Cashiering user</a:t>
                      </a:r>
                    </a:p>
                  </a:txBody>
                  <a:tcPr marL="54864" marR="54864" marT="27432" marB="27432">
                    <a:solidFill>
                      <a:srgbClr val="E5F5FF"/>
                    </a:solidFill>
                  </a:tcPr>
                </a:tc>
                <a:tc>
                  <a:txBody>
                    <a:bodyPr/>
                    <a:lstStyle/>
                    <a:p>
                      <a:r>
                        <a:rPr sz="850" b="0">
                          <a:solidFill>
                            <a:srgbClr val="4B4B4B"/>
                          </a:solidFill>
                          <a:latin typeface="Arial"/>
                        </a:rPr>
                        <a:t>Draft with lines</a:t>
                      </a:r>
                    </a:p>
                  </a:txBody>
                  <a:tcPr marL="54864" marR="54864" marT="27432" marB="27432">
                    <a:solidFill>
                      <a:srgbClr val="E5F5FF"/>
                    </a:solidFill>
                  </a:tcPr>
                </a:tc>
                <a:tc>
                  <a:txBody>
                    <a:bodyPr/>
                    <a:lstStyle/>
                    <a:p>
                      <a:r>
                        <a:rPr sz="850" b="0">
                          <a:solidFill>
                            <a:srgbClr val="4B4B4B"/>
                          </a:solidFill>
                          <a:latin typeface="Arial"/>
                        </a:rPr>
                        <a:t>Sends the batch to the Cashiering team lead</a:t>
                      </a:r>
                    </a:p>
                  </a:txBody>
                  <a:tcPr marL="54864" marR="54864" marT="27432" marB="27432">
                    <a:solidFill>
                      <a:srgbClr val="E5F5FF"/>
                    </a:solidFill>
                  </a:tcPr>
                </a:tc>
                <a:tc>
                  <a:txBody>
                    <a:bodyPr/>
                    <a:lstStyle/>
                    <a:p>
                      <a:r>
                        <a:rPr sz="850" b="0">
                          <a:solidFill>
                            <a:srgbClr val="4B4B4B"/>
                          </a:solidFill>
                          <a:latin typeface="Arial"/>
                        </a:rPr>
                        <a:t>For approval</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Cancel Batch</a:t>
                      </a:r>
                    </a:p>
                  </a:txBody>
                  <a:tcPr marL="54864" marR="54864" marT="27432" marB="27432">
                    <a:solidFill>
                      <a:srgbClr val="FFFFFF"/>
                    </a:solidFill>
                  </a:tcPr>
                </a:tc>
                <a:tc>
                  <a:txBody>
                    <a:bodyPr/>
                    <a:lstStyle/>
                    <a:p>
                      <a:r>
                        <a:rPr sz="850" b="0">
                          <a:solidFill>
                            <a:srgbClr val="4B4B4B"/>
                          </a:solidFill>
                          <a:latin typeface="Arial"/>
                        </a:rPr>
                        <a:t>Cashiering user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Closes the batch without posting; its lines may be taken again</a:t>
                      </a:r>
                    </a:p>
                  </a:txBody>
                  <a:tcPr marL="54864" marR="54864" marT="27432" marB="27432">
                    <a:solidFill>
                      <a:srgbClr val="FFFFFF"/>
                    </a:solidFill>
                  </a:tcPr>
                </a:tc>
                <a:tc>
                  <a:txBody>
                    <a:bodyPr/>
                    <a:lstStyle/>
                    <a:p>
                      <a:r>
                        <a:rPr sz="850" b="0">
                          <a:solidFill>
                            <a:srgbClr val="4B4B4B"/>
                          </a:solidFill>
                          <a:latin typeface="Arial"/>
                        </a:rPr>
                        <a:t>Cancelled</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Approve</a:t>
                      </a:r>
                    </a:p>
                  </a:txBody>
                  <a:tcPr marL="54864" marR="54864" marT="27432" marB="27432">
                    <a:solidFill>
                      <a:srgbClr val="E5F5FF"/>
                    </a:solidFill>
                  </a:tcPr>
                </a:tc>
                <a:tc>
                  <a:txBody>
                    <a:bodyPr/>
                    <a:lstStyle/>
                    <a:p>
                      <a:r>
                        <a:rPr sz="850" b="0">
                          <a:solidFill>
                            <a:srgbClr val="4B4B4B"/>
                          </a:solidFill>
                          <a:latin typeface="Arial"/>
                        </a:rPr>
                        <a:t>Cashiering team lead, then top management</a:t>
                      </a:r>
                    </a:p>
                  </a:txBody>
                  <a:tcPr marL="54864" marR="54864" marT="27432" marB="27432">
                    <a:solidFill>
                      <a:srgbClr val="E5F5FF"/>
                    </a:solidFill>
                  </a:tcPr>
                </a:tc>
                <a:tc>
                  <a:txBody>
                    <a:bodyPr/>
                    <a:lstStyle/>
                    <a:p>
                      <a:r>
                        <a:rPr sz="850" b="0">
                          <a:solidFill>
                            <a:srgbClr val="4B4B4B"/>
                          </a:solidFill>
                          <a:latin typeface="Arial"/>
                        </a:rPr>
                        <a:t>For approval, For top management; never the requester</a:t>
                      </a:r>
                    </a:p>
                  </a:txBody>
                  <a:tcPr marL="54864" marR="54864" marT="27432" marB="27432">
                    <a:solidFill>
                      <a:srgbClr val="E5F5FF"/>
                    </a:solidFill>
                  </a:tcPr>
                </a:tc>
                <a:tc>
                  <a:txBody>
                    <a:bodyPr/>
                    <a:lstStyle/>
                    <a:p>
                      <a:r>
                        <a:rPr sz="850" b="0">
                          <a:solidFill>
                            <a:srgbClr val="4B4B4B"/>
                          </a:solidFill>
                          <a:latin typeface="Arial"/>
                        </a:rPr>
                        <a:t>First approval sends the batch to top management; the second posts each line in its own transaction</a:t>
                      </a:r>
                    </a:p>
                  </a:txBody>
                  <a:tcPr marL="54864" marR="54864" marT="27432" marB="27432">
                    <a:solidFill>
                      <a:srgbClr val="E5F5FF"/>
                    </a:solidFill>
                  </a:tcPr>
                </a:tc>
                <a:tc>
                  <a:txBody>
                    <a:bodyPr/>
                    <a:lstStyle/>
                    <a:p>
                      <a:r>
                        <a:rPr sz="850" b="0">
                          <a:solidFill>
                            <a:srgbClr val="4B4B4B"/>
                          </a:solidFill>
                          <a:latin typeface="Arial"/>
                        </a:rPr>
                        <a:t>For top management, Posted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Return</a:t>
                      </a:r>
                    </a:p>
                  </a:txBody>
                  <a:tcPr marL="54864" marR="54864" marT="27432" marB="27432">
                    <a:solidFill>
                      <a:srgbClr val="FFFFFF"/>
                    </a:solidFill>
                  </a:tcPr>
                </a:tc>
                <a:tc>
                  <a:txBody>
                    <a:bodyPr/>
                    <a:lstStyle/>
                    <a:p>
                      <a:r>
                        <a:rPr sz="850" b="0">
                          <a:solidFill>
                            <a:srgbClr val="4B4B4B"/>
                          </a:solidFill>
                          <a:latin typeface="Arial"/>
                        </a:rPr>
                        <a:t>Approver of the step</a:t>
                      </a:r>
                    </a:p>
                  </a:txBody>
                  <a:tcPr marL="54864" marR="54864" marT="27432" marB="27432">
                    <a:solidFill>
                      <a:srgbClr val="FFFFFF"/>
                    </a:solidFill>
                  </a:tcPr>
                </a:tc>
                <a:tc>
                  <a:txBody>
                    <a:bodyPr/>
                    <a:lstStyle/>
                    <a:p>
                      <a:r>
                        <a:rPr sz="850" b="0">
                          <a:solidFill>
                            <a:srgbClr val="4B4B4B"/>
                          </a:solidFill>
                          <a:latin typeface="Arial"/>
                        </a:rPr>
                        <a:t>For approval, For top management</a:t>
                      </a:r>
                    </a:p>
                  </a:txBody>
                  <a:tcPr marL="54864" marR="54864" marT="27432" marB="27432">
                    <a:solidFill>
                      <a:srgbClr val="FFFFFF"/>
                    </a:solidFill>
                  </a:tcPr>
                </a:tc>
                <a:tc>
                  <a:txBody>
                    <a:bodyPr/>
                    <a:lstStyle/>
                    <a:p>
                      <a:r>
                        <a:rPr sz="850" b="0">
                          <a:solidFill>
                            <a:srgbClr val="4B4B4B"/>
                          </a:solidFill>
                          <a:latin typeface="Arial"/>
                        </a:rPr>
                        <a:t>Returns the batch to its requester as a draft with the reason</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SCR-DM-18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313</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Two approvals by two different people, the Cashiering team lead and then top management; the requester approves neither (FR-DM-055).</a:t>
                      </a:r>
                    </a:p>
                  </a:txBody>
                  <a:tcPr marL="54864" marR="54864" marT="27432" marB="27432">
                    <a:solidFill>
                      <a:srgbClr val="FFFFFF"/>
                    </a:solidFill>
                  </a:tcPr>
                </a:tc>
              </a:tr>
              <a:tr h="243840">
                <a:tc>
                  <a:txBody>
                    <a:bodyPr/>
                    <a:lstStyle/>
                    <a:p>
                      <a:r>
                        <a:rPr sz="1000" b="0">
                          <a:solidFill>
                            <a:srgbClr val="4B4B4B"/>
                          </a:solidFill>
                          <a:latin typeface="Arial"/>
                        </a:rPr>
                        <a:t>A line whose payment changed since it was added is refused at posting; the other lines still post (FR-DM-055).</a:t>
                      </a:r>
                    </a:p>
                  </a:txBody>
                  <a:tcPr marL="54864" marR="54864" marT="27432" marB="27432">
                    <a:solidFill>
                      <a:srgbClr val="E5F5FF"/>
                    </a:solidFill>
                  </a:tcPr>
                </a:tc>
              </a:tr>
              <a:tr h="243840">
                <a:tc>
                  <a:txBody>
                    <a:bodyPr/>
                    <a:lstStyle/>
                    <a:p>
                      <a:r>
                        <a:rPr sz="1000" b="0">
                          <a:solidFill>
                            <a:srgbClr val="4B4B4B"/>
                          </a:solidFill>
                          <a:latin typeface="Arial"/>
                        </a:rPr>
                        <a:t>Legacy payments post from Unapplied Collections - Legacy, new ones from Unapplied Collections, to other income - unclaimed collections (FR-DM-055).</a:t>
                      </a:r>
                    </a:p>
                  </a:txBody>
                  <a:tcPr marL="54864" marR="54864" marT="27432" marB="27432">
                    <a:solidFill>
                      <a:srgbClr val="FFFFFF"/>
                    </a:solidFill>
                  </a:tcPr>
                </a:tc>
              </a:tr>
            </a:tbl>
          </a:graphicData>
        </a:graphic>
      </p:graphicFrame>
    </p:spTree>
  </p:cSld>
  <p:clrMapOvr>
    <a:masterClrMapping/>
  </p:clrMapOvr>
</p:sld>
</file>

<file path=ppt/slides/slide3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SCR-DM-18 Unapplied to Income: Default</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cr-dm-18-01-list.png"/>
          <p:cNvPicPr>
            <a:picLocks noChangeAspect="1"/>
          </p:cNvPicPr>
          <p:nvPr/>
        </p:nvPicPr>
        <p:blipFill>
          <a:blip r:embed="rId3"/>
          <a:stretch>
            <a:fillRect/>
          </a:stretch>
        </p:blipFill>
        <p:spPr>
          <a:xfrm>
            <a:off x="548640" y="1261872"/>
            <a:ext cx="11094415" cy="330919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Unapplied to Income batches</a:t>
            </a:r>
          </a:p>
        </p:txBody>
      </p:sp>
    </p:spTree>
  </p:cSld>
  <p:clrMapOvr>
    <a:masterClrMapping/>
  </p:clrMapOvr>
</p:sld>
</file>

<file path=ppt/slides/slide3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SCR-DM-18 Unapplied to Income: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315</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5.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its lines and the payments that may be added (part 1 of 3)</a:t>
            </a:r>
          </a:p>
        </p:txBody>
      </p:sp>
    </p:spTree>
  </p:cSld>
  <p:clrMapOvr>
    <a:masterClrMapping/>
  </p:clrMapOvr>
</p:sld>
</file>

<file path=ppt/slides/slide3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SCR-DM-18 Unapplied to Income: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316</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6.png"/>
          <p:cNvPicPr>
            <a:picLocks noChangeAspect="1"/>
          </p:cNvPicPr>
          <p:nvPr/>
        </p:nvPicPr>
        <p:blipFill>
          <a:blip r:embed="rId3"/>
          <a:stretch>
            <a:fillRect/>
          </a:stretch>
        </p:blipFill>
        <p:spPr>
          <a:xfrm>
            <a:off x="548640" y="1261872"/>
            <a:ext cx="11094415" cy="4734254"/>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its lines and the payments that may be added (part 2 of 3)</a:t>
            </a:r>
          </a:p>
        </p:txBody>
      </p:sp>
    </p:spTree>
  </p:cSld>
  <p:clrMapOvr>
    <a:masterClrMapping/>
  </p:clrMapOvr>
</p:sld>
</file>

<file path=ppt/slides/slide3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SCR-DM-18 Unapplied to Income: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317</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7.png"/>
          <p:cNvPicPr>
            <a:picLocks noChangeAspect="1"/>
          </p:cNvPicPr>
          <p:nvPr/>
        </p:nvPicPr>
        <p:blipFill>
          <a:blip r:embed="rId3"/>
          <a:stretch>
            <a:fillRect/>
          </a:stretch>
        </p:blipFill>
        <p:spPr>
          <a:xfrm>
            <a:off x="548640" y="1261872"/>
            <a:ext cx="11094415" cy="3443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its lines and the payments that may be added (part 3 of 3)</a:t>
            </a:r>
          </a:p>
        </p:txBody>
      </p:sp>
    </p:spTree>
  </p:cSld>
  <p:clrMapOvr>
    <a:masterClrMapping/>
  </p:clrMapOvr>
</p:sld>
</file>

<file path=ppt/slides/slide3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SCR-DM-18 Unapplied to Income: Pending approval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318</a:t>
            </a:r>
          </a:p>
        </p:txBody>
      </p:sp>
      <p:sp>
        <p:nvSpPr>
          <p:cNvPr id="9" name="Rounded Rectangle 8"/>
          <p:cNvSpPr/>
          <p:nvPr/>
        </p:nvSpPr>
        <p:spPr>
          <a:xfrm>
            <a:off x="9887407" y="896112"/>
            <a:ext cx="1755648" cy="274320"/>
          </a:xfrm>
          <a:prstGeom prst="roundRect">
            <a:avLst/>
          </a:prstGeom>
          <a:solidFill>
            <a:srgbClr val="FFF4D6"/>
          </a:solidFill>
          <a:ln w="12700">
            <a:solidFill>
              <a:srgbClr val="8A5A00"/>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8A5A00"/>
                </a:solidFill>
                <a:latin typeface="Arial"/>
              </a:rPr>
              <a:t>Pending approval</a:t>
            </a:r>
          </a:p>
        </p:txBody>
      </p:sp>
      <p:pic>
        <p:nvPicPr>
          <p:cNvPr id="10" name="Picture 9" descr="scr-dm-18-03-approve.png"/>
          <p:cNvPicPr>
            <a:picLocks noChangeAspect="1"/>
          </p:cNvPicPr>
          <p:nvPr/>
        </p:nvPicPr>
        <p:blipFill>
          <a:blip r:embed="rId3"/>
          <a:stretch>
            <a:fillRect/>
          </a:stretch>
        </p:blipFill>
        <p:spPr>
          <a:xfrm>
            <a:off x="719677" y="1261872"/>
            <a:ext cx="10752341" cy="47365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batch waiting for top management</a:t>
            </a:r>
          </a:p>
        </p:txBody>
      </p:sp>
    </p:spTree>
  </p:cSld>
  <p:clrMapOvr>
    <a:masterClrMapping/>
  </p:clrMapOvr>
</p:sld>
</file>

<file path=ppt/slides/slide3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SCR-DM-19 Legacy PR 2307 Reversal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319</a:t>
            </a:r>
          </a:p>
        </p:txBody>
      </p:sp>
      <p:graphicFrame>
        <p:nvGraphicFramePr>
          <p:cNvPr id="9" name="Table 8"/>
          <p:cNvGraphicFramePr>
            <a:graphicFrameLocks noGrp="1"/>
          </p:cNvGraphicFramePr>
          <p:nvPr/>
        </p:nvGraphicFramePr>
        <p:xfrm>
          <a:off x="548640" y="1307592"/>
          <a:ext cx="6434760" cy="223266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Legacy batches</a:t>
                      </a:r>
                    </a:p>
                  </a:txBody>
                  <a:tcPr marL="54864" marR="54864" marT="27432" marB="27432">
                    <a:solidFill>
                      <a:srgbClr val="FFFFFF"/>
                    </a:solidFill>
                  </a:tcPr>
                </a:tc>
              </a:tr>
              <a:tr h="67056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Batches that settle the PR 2307 balance of legacy invoices against the amount due to the insurer. A Cashiering user adds each legacy invoice with the amount to reverse; when the PR 2307 is short, the premium receivable needed is first moved to PR 2307. The Cashiering team lead approves and each line posts on its own.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Cashiering user, Cashiering team lead, Commission user, Commission team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Cashiering › Legacy PR 2307 Reversal</a:t>
                      </a:r>
                    </a:p>
                    <a:p>
                      <a:r>
                        <a:rPr sz="950" b="0">
                          <a:solidFill>
                            <a:srgbClr val="4B4B4B"/>
                          </a:solidFill>
                          <a:latin typeface="Arial"/>
                        </a:rPr>
                        <a:t>Finance › Cashiering › Legacy PR 2307 Reversal</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19.5.2</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FR-DM-071</a:t>
                      </a:r>
                    </a:p>
                  </a:txBody>
                  <a:tcPr marL="54864" marR="54864" marT="27432" marB="27432">
                    <a:solidFill>
                      <a:srgbClr val="FFFFFF"/>
                    </a:solidFill>
                  </a:tcPr>
                </a:tc>
              </a:tr>
              <a:tr h="23622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The PR 2307 balances of legacy invoices are settled against the insurer, line by line.</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SCR-DM-19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320</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350518">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New Batch</a:t>
                      </a:r>
                    </a:p>
                  </a:txBody>
                  <a:tcPr marL="54864" marR="54864" marT="27432" marB="27432">
                    <a:solidFill>
                      <a:srgbClr val="FFFFFF"/>
                    </a:solidFill>
                  </a:tcPr>
                </a:tc>
                <a:tc>
                  <a:txBody>
                    <a:bodyPr/>
                    <a:lstStyle/>
                    <a:p>
                      <a:r>
                        <a:rPr sz="850" b="0">
                          <a:solidFill>
                            <a:srgbClr val="4B4B4B"/>
                          </a:solidFill>
                          <a:latin typeface="Arial"/>
                        </a:rPr>
                        <a:t>Reason, Currency</a:t>
                      </a:r>
                    </a:p>
                  </a:txBody>
                  <a:tcPr marL="54864" marR="54864" marT="27432" marB="27432">
                    <a:solidFill>
                      <a:srgbClr val="FFFFFF"/>
                    </a:solidFill>
                  </a:tcPr>
                </a:tc>
                <a:tc>
                  <a:txBody>
                    <a:bodyPr/>
                    <a:lstStyle/>
                    <a:p>
                      <a:r>
                        <a:rPr sz="850" b="0">
                          <a:solidFill>
                            <a:srgbClr val="4B4B4B"/>
                          </a:solidFill>
                          <a:latin typeface="Arial"/>
                        </a:rPr>
                        <a:t>Text area; Drop-down</a:t>
                      </a:r>
                    </a:p>
                  </a:txBody>
                  <a:tcPr marL="54864" marR="54864" marT="27432" marB="27432">
                    <a:solidFill>
                      <a:srgbClr val="FFFFFF"/>
                    </a:solidFill>
                  </a:tcPr>
                </a:tc>
                <a:tc>
                  <a:txBody>
                    <a:bodyPr/>
                    <a:lstStyle/>
                    <a:p>
                      <a:r>
                        <a:rPr sz="850" b="0">
                          <a:solidFill>
                            <a:srgbClr val="4B4B4B"/>
                          </a:solidFill>
                          <a:latin typeface="Arial"/>
                        </a:rPr>
                        <a:t>Up to 500 characters; PHP or USD</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Add a Legacy Invoice</a:t>
                      </a:r>
                    </a:p>
                  </a:txBody>
                  <a:tcPr marL="54864" marR="54864" marT="27432" marB="27432">
                    <a:solidFill>
                      <a:srgbClr val="E5F5FF"/>
                    </a:solidFill>
                  </a:tcPr>
                </a:tc>
                <a:tc>
                  <a:txBody>
                    <a:bodyPr/>
                    <a:lstStyle/>
                    <a:p>
                      <a:r>
                        <a:rPr sz="850" b="0">
                          <a:solidFill>
                            <a:srgbClr val="4B4B4B"/>
                          </a:solidFill>
                          <a:latin typeface="Arial"/>
                        </a:rPr>
                        <a:t>Invoice No.</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Legacy invoice number</a:t>
                      </a:r>
                    </a:p>
                  </a:txBody>
                  <a:tcPr marL="54864" marR="54864" marT="27432" marB="27432">
                    <a:solidFill>
                      <a:srgbClr val="E5F5FF"/>
                    </a:solidFill>
                  </a:tcPr>
                </a:tc>
                <a:tc>
                  <a:txBody>
                    <a:bodyPr/>
                    <a:lstStyle/>
                    <a:p>
                      <a:r>
                        <a:rPr sz="850" b="0">
                          <a:solidFill>
                            <a:srgbClr val="4B4B4B"/>
                          </a:solidFill>
                          <a:latin typeface="Arial"/>
                        </a:rPr>
                        <a:t>Y</a:t>
                      </a:r>
                    </a:p>
                  </a:txBody>
                  <a:tcPr marL="54864" marR="54864" marT="27432" marB="27432">
                    <a:solidFill>
                      <a:srgbClr val="E5F5FF"/>
                    </a:solidFill>
                  </a:tcPr>
                </a:tc>
                <a:tc>
                  <a:txBody>
                    <a:bodyPr/>
                    <a:lstStyle/>
                    <a:p>
                      <a:r>
                        <a:rPr sz="850" b="0">
                          <a:solidFill>
                            <a:srgbClr val="4B4B4B"/>
                          </a:solidFill>
                          <a:latin typeface="Arial"/>
                        </a:rPr>
                        <a:t>A legacy invoice with an open PR 2307</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Add a Legacy Invoice</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Amount</a:t>
                      </a:r>
                    </a:p>
                  </a:txBody>
                  <a:tcPr marL="54864" marR="54864" marT="27432" marB="27432">
                    <a:solidFill>
                      <a:srgbClr val="FFFFFF"/>
                    </a:solidFill>
                  </a:tcPr>
                </a:tc>
                <a:tc>
                  <a:txBody>
                    <a:bodyPr/>
                    <a:lstStyle/>
                    <a:p>
                      <a:r>
                        <a:rPr sz="850" b="0">
                          <a:solidFill>
                            <a:srgbClr val="4B4B4B"/>
                          </a:solidFill>
                          <a:latin typeface="Arial"/>
                        </a:rPr>
                        <a:t>Within the open PR 2307 and the due to insurer</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Above 0</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220979">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Add a Legacy Invoice</a:t>
                      </a:r>
                    </a:p>
                  </a:txBody>
                  <a:tcPr marL="54864" marR="54864" marT="27432" marB="27432">
                    <a:solidFill>
                      <a:srgbClr val="E5F5FF"/>
                    </a:solidFill>
                  </a:tcPr>
                </a:tc>
                <a:tc>
                  <a:txBody>
                    <a:bodyPr/>
                    <a:lstStyle/>
                    <a:p>
                      <a:r>
                        <a:rPr sz="850" b="0">
                          <a:solidFill>
                            <a:srgbClr val="4B4B4B"/>
                          </a:solidFill>
                          <a:latin typeface="Arial"/>
                        </a:rPr>
                        <a:t>Reason</a:t>
                      </a:r>
                    </a:p>
                  </a:txBody>
                  <a:tcPr marL="54864" marR="54864" marT="27432" marB="27432">
                    <a:solidFill>
                      <a:srgbClr val="E5F5FF"/>
                    </a:solidFill>
                  </a:tcPr>
                </a:tc>
                <a:tc>
                  <a:txBody>
                    <a:bodyPr/>
                    <a:lstStyle/>
                    <a:p>
                      <a:r>
                        <a:rPr sz="850" b="0">
                          <a:solidFill>
                            <a:srgbClr val="4B4B4B"/>
                          </a:solidFill>
                          <a:latin typeface="Arial"/>
                        </a:rPr>
                        <a:t>Text</a:t>
                      </a:r>
                    </a:p>
                  </a:txBody>
                  <a:tcPr marL="54864" marR="54864" marT="27432" marB="27432">
                    <a:solidFill>
                      <a:srgbClr val="E5F5FF"/>
                    </a:solidFill>
                  </a:tcPr>
                </a:tc>
                <a:tc>
                  <a:txBody>
                    <a:bodyPr/>
                    <a:lstStyle/>
                    <a:p>
                      <a:r>
                        <a:rPr sz="850" b="0">
                          <a:solidFill>
                            <a:srgbClr val="4B4B4B"/>
                          </a:solidFill>
                          <a:latin typeface="Arial"/>
                        </a:rPr>
                        <a:t>Up to 250 characters</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 Invoice, Amount, Result,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LEGACY tag; journal or refusal message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SCR-DM-19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321</a:t>
            </a:r>
          </a:p>
        </p:txBody>
      </p:sp>
      <p:graphicFrame>
        <p:nvGraphicFramePr>
          <p:cNvPr id="9" name="Table 8"/>
          <p:cNvGraphicFramePr>
            <a:graphicFrameLocks noGrp="1"/>
          </p:cNvGraphicFramePr>
          <p:nvPr/>
        </p:nvGraphicFramePr>
        <p:xfrm>
          <a:off x="548640" y="1325880"/>
          <a:ext cx="11094412" cy="1272533"/>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350518">
                <a:tc>
                  <a:txBody>
                    <a:bodyPr/>
                    <a:lstStyle/>
                    <a:p>
                      <a:r>
                        <a:rPr sz="850" b="0">
                          <a:solidFill>
                            <a:srgbClr val="4B4B4B"/>
                          </a:solidFill>
                          <a:latin typeface="Arial"/>
                        </a:rPr>
                        <a:t>Add Invoice</a:t>
                      </a:r>
                    </a:p>
                  </a:txBody>
                  <a:tcPr marL="54864" marR="54864" marT="27432" marB="27432">
                    <a:solidFill>
                      <a:srgbClr val="FFFFFF"/>
                    </a:solidFill>
                  </a:tcPr>
                </a:tc>
                <a:tc>
                  <a:txBody>
                    <a:bodyPr/>
                    <a:lstStyle/>
                    <a:p>
                      <a:r>
                        <a:rPr sz="850" b="0">
                          <a:solidFill>
                            <a:srgbClr val="4B4B4B"/>
                          </a:solidFill>
                          <a:latin typeface="Arial"/>
                        </a:rPr>
                        <a:t>Cashiering user</a:t>
                      </a:r>
                    </a:p>
                  </a:txBody>
                  <a:tcPr marL="54864" marR="54864" marT="27432" marB="27432">
                    <a:solidFill>
                      <a:srgbClr val="FFFFFF"/>
                    </a:solidFill>
                  </a:tcPr>
                </a:tc>
                <a:tc>
                  <a:txBody>
                    <a:bodyPr/>
                    <a:lstStyle/>
                    <a:p>
                      <a:r>
                        <a:rPr sz="850" b="0">
                          <a:solidFill>
                            <a:srgbClr val="4B4B4B"/>
                          </a:solidFill>
                          <a:latin typeface="Arial"/>
                        </a:rPr>
                        <a:t>Draft; invoice and amount given</a:t>
                      </a:r>
                    </a:p>
                  </a:txBody>
                  <a:tcPr marL="54864" marR="54864" marT="27432" marB="27432">
                    <a:solidFill>
                      <a:srgbClr val="FFFFFF"/>
                    </a:solidFill>
                  </a:tcPr>
                </a:tc>
                <a:tc>
                  <a:txBody>
                    <a:bodyPr/>
                    <a:lstStyle/>
                    <a:p>
                      <a:r>
                        <a:rPr sz="850" b="0">
                          <a:solidFill>
                            <a:srgbClr val="4B4B4B"/>
                          </a:solidFill>
                          <a:latin typeface="Arial"/>
                        </a:rPr>
                        <a:t>Adds the line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Cancel Batch</a:t>
                      </a:r>
                    </a:p>
                  </a:txBody>
                  <a:tcPr marL="54864" marR="54864" marT="27432" marB="27432">
                    <a:solidFill>
                      <a:srgbClr val="E5F5FF"/>
                    </a:solidFill>
                  </a:tcPr>
                </a:tc>
                <a:tc>
                  <a:txBody>
                    <a:bodyPr/>
                    <a:lstStyle/>
                    <a:p>
                      <a:r>
                        <a:rPr sz="850" b="0">
                          <a:solidFill>
                            <a:srgbClr val="4B4B4B"/>
                          </a:solidFill>
                          <a:latin typeface="Arial"/>
                        </a:rPr>
                        <a:t>Cashiering user</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Sends the batch for approval, or closes it without posting</a:t>
                      </a:r>
                    </a:p>
                  </a:txBody>
                  <a:tcPr marL="54864" marR="54864" marT="27432" marB="27432">
                    <a:solidFill>
                      <a:srgbClr val="E5F5FF"/>
                    </a:solidFill>
                  </a:tcPr>
                </a:tc>
                <a:tc>
                  <a:txBody>
                    <a:bodyPr/>
                    <a:lstStyle/>
                    <a:p>
                      <a:r>
                        <a:rPr sz="850" b="0">
                          <a:solidFill>
                            <a:srgbClr val="4B4B4B"/>
                          </a:solidFill>
                          <a:latin typeface="Arial"/>
                        </a:rPr>
                        <a:t>For approval,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 Return</a:t>
                      </a:r>
                    </a:p>
                  </a:txBody>
                  <a:tcPr marL="54864" marR="54864" marT="27432" marB="27432">
                    <a:solidFill>
                      <a:srgbClr val="FFFFFF"/>
                    </a:solidFill>
                  </a:tcPr>
                </a:tc>
                <a:tc>
                  <a:txBody>
                    <a:bodyPr/>
                    <a:lstStyle/>
                    <a:p>
                      <a:r>
                        <a:rPr sz="850" b="0">
                          <a:solidFill>
                            <a:srgbClr val="4B4B4B"/>
                          </a:solidFill>
                          <a:latin typeface="Arial"/>
                        </a:rPr>
                        <a:t>Cashiering team lead</a:t>
                      </a:r>
                    </a:p>
                  </a:txBody>
                  <a:tcPr marL="54864" marR="54864" marT="27432" marB="27432">
                    <a:solidFill>
                      <a:srgbClr val="FFFFFF"/>
                    </a:solidFill>
                  </a:tcPr>
                </a:tc>
                <a:tc>
                  <a:txBody>
                    <a:bodyPr/>
                    <a:lstStyle/>
                    <a:p>
                      <a:r>
                        <a:rPr sz="850" b="0">
                          <a:solidFill>
                            <a:srgbClr val="4B4B4B"/>
                          </a:solidFill>
                          <a:latin typeface="Arial"/>
                        </a:rPr>
                        <a:t>For approval; never the requester</a:t>
                      </a:r>
                    </a:p>
                  </a:txBody>
                  <a:tcPr marL="54864" marR="54864" marT="27432" marB="27432">
                    <a:solidFill>
                      <a:srgbClr val="FFFFFF"/>
                    </a:solidFill>
                  </a:tcPr>
                </a:tc>
                <a:tc>
                  <a:txBody>
                    <a:bodyPr/>
                    <a:lstStyle/>
                    <a:p>
                      <a:r>
                        <a:rPr sz="850" b="0">
                          <a:solidFill>
                            <a:srgbClr val="4B4B4B"/>
                          </a:solidFill>
                          <a:latin typeface="Arial"/>
                        </a:rPr>
                        <a:t>Posts each line in its own transaction, or returns the batch with the reason</a:t>
                      </a:r>
                    </a:p>
                  </a:txBody>
                  <a:tcPr marL="54864" marR="54864" marT="27432" marB="27432">
                    <a:solidFill>
                      <a:srgbClr val="FFFFFF"/>
                    </a:solidFill>
                  </a:tcPr>
                </a:tc>
                <a:tc>
                  <a:txBody>
                    <a:bodyPr/>
                    <a:lstStyle/>
                    <a:p>
                      <a:r>
                        <a:rPr sz="850" b="0">
                          <a:solidFill>
                            <a:srgbClr val="4B4B4B"/>
                          </a:solidFill>
                          <a:latin typeface="Arial"/>
                        </a:rPr>
                        <a:t>Posted, 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SCR-DM-19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322</a:t>
            </a:r>
          </a:p>
        </p:txBody>
      </p:sp>
      <p:graphicFrame>
        <p:nvGraphicFramePr>
          <p:cNvPr id="9" name="Table 8"/>
          <p:cNvGraphicFramePr>
            <a:graphicFrameLocks noGrp="1"/>
          </p:cNvGraphicFramePr>
          <p:nvPr/>
        </p:nvGraphicFramePr>
        <p:xfrm>
          <a:off x="548640" y="1325880"/>
          <a:ext cx="11094415" cy="73152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amount of a line is within the open PR 2307 (after the move from the premium receivable) and the due to insurer of the invoice (FR-DM-071).</a:t>
                      </a:r>
                    </a:p>
                  </a:txBody>
                  <a:tcPr marL="54864" marR="54864" marT="27432" marB="27432">
                    <a:solidFill>
                      <a:srgbClr val="FFFFFF"/>
                    </a:solidFill>
                  </a:tcPr>
                </a:tc>
              </a:tr>
              <a:tr h="243840">
                <a:tc>
                  <a:txBody>
                    <a:bodyPr/>
                    <a:lstStyle/>
                    <a:p>
                      <a:r>
                        <a:rPr sz="1000" b="0">
                          <a:solidFill>
                            <a:srgbClr val="4B4B4B"/>
                          </a:solidFill>
                          <a:latin typeface="Arial"/>
                        </a:rPr>
                        <a:t>The Cashiering team lead approves; the requester never approves (FR-DM-071).</a:t>
                      </a:r>
                    </a:p>
                  </a:txBody>
                  <a:tcPr marL="54864" marR="54864" marT="27432" marB="27432">
                    <a:solidFill>
                      <a:srgbClr val="E5F5FF"/>
                    </a:solidFill>
                  </a:tcPr>
                </a:tc>
              </a:tr>
            </a:tbl>
          </a:graphicData>
        </a:graphic>
      </p:graphicFrame>
    </p:spTree>
  </p:cSld>
  <p:clrMapOvr>
    <a:masterClrMapping/>
  </p:clrMapOvr>
</p:sld>
</file>

<file path=ppt/slides/slide32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SCR-DM-19 Legacy PR 2307 Reversal: Default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323</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8.png"/>
          <p:cNvPicPr>
            <a:picLocks noChangeAspect="1"/>
          </p:cNvPicPr>
          <p:nvPr/>
        </p:nvPicPr>
        <p:blipFill>
          <a:blip r:embed="rId3"/>
          <a:stretch>
            <a:fillRect/>
          </a:stretch>
        </p:blipFill>
        <p:spPr>
          <a:xfrm>
            <a:off x="548640" y="1261872"/>
            <a:ext cx="11094415" cy="4523843"/>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PR 2307 reversal batch with the legacy invoice to add (part 1 of 2)</a:t>
            </a:r>
          </a:p>
        </p:txBody>
      </p:sp>
    </p:spTree>
  </p:cSld>
  <p:clrMapOvr>
    <a:masterClrMapping/>
  </p:clrMapOvr>
</p:sld>
</file>

<file path=ppt/slides/slide32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SCR-DM-19 Legacy PR 2307 Reversal: Default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324</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69.png"/>
          <p:cNvPicPr>
            <a:picLocks noChangeAspect="1"/>
          </p:cNvPicPr>
          <p:nvPr/>
        </p:nvPicPr>
        <p:blipFill>
          <a:blip r:embed="rId3"/>
          <a:stretch>
            <a:fillRect/>
          </a:stretch>
        </p:blipFill>
        <p:spPr>
          <a:xfrm>
            <a:off x="548640" y="1261872"/>
            <a:ext cx="11094415" cy="389260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PR 2307 reversal batch with the legacy invoice to add (part 2 of 2)</a:t>
            </a:r>
          </a:p>
        </p:txBody>
      </p:sp>
    </p:spTree>
  </p:cSld>
  <p:clrMapOvr>
    <a:masterClrMapping/>
  </p:clrMapOvr>
</p:sld>
</file>

<file path=ppt/slides/slide32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SCR-DM-20 DP PR Legacy Reversal</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325</a:t>
            </a:r>
          </a:p>
        </p:txBody>
      </p:sp>
      <p:graphicFrame>
        <p:nvGraphicFramePr>
          <p:cNvPr id="9" name="Table 8"/>
          <p:cNvGraphicFramePr>
            <a:graphicFrameLocks noGrp="1"/>
          </p:cNvGraphicFramePr>
          <p:nvPr/>
        </p:nvGraphicFramePr>
        <p:xfrm>
          <a:off x="548640" y="1307592"/>
          <a:ext cx="6434760" cy="2667000"/>
        </p:xfrm>
        <a:graphic>
          <a:graphicData uri="http://schemas.openxmlformats.org/drawingml/2006/table">
            <a:tbl>
              <a:tblPr bandRow="1">
                <a:tableStyleId>{5C22544A-7EE6-4342-B048-85BDC9FD1C3A}</a:tableStyleId>
              </a:tblPr>
              <a:tblGrid>
                <a:gridCol w="1371600"/>
                <a:gridCol w="5063160"/>
              </a:tblGrid>
              <a:tr h="236220">
                <a:tc>
                  <a:txBody>
                    <a:bodyPr/>
                    <a:lstStyle/>
                    <a:p>
                      <a:r>
                        <a:rPr sz="950" b="1">
                          <a:solidFill>
                            <a:srgbClr val="004EA8"/>
                          </a:solidFill>
                          <a:latin typeface="Arial"/>
                        </a:rPr>
                        <a:t>Area</a:t>
                      </a:r>
                    </a:p>
                  </a:txBody>
                  <a:tcPr marL="54864" marR="54864" marT="27432" marB="27432">
                    <a:solidFill>
                      <a:srgbClr val="E5F5FF"/>
                    </a:solidFill>
                  </a:tcPr>
                </a:tc>
                <a:tc>
                  <a:txBody>
                    <a:bodyPr/>
                    <a:lstStyle/>
                    <a:p>
                      <a:r>
                        <a:rPr sz="950" b="0">
                          <a:solidFill>
                            <a:srgbClr val="4B4B4B"/>
                          </a:solidFill>
                          <a:latin typeface="Arial"/>
                        </a:rPr>
                        <a:t>Legacy batches</a:t>
                      </a:r>
                    </a:p>
                  </a:txBody>
                  <a:tcPr marL="54864" marR="54864" marT="27432" marB="27432">
                    <a:solidFill>
                      <a:srgbClr val="FFFFFF"/>
                    </a:solidFill>
                  </a:tcPr>
                </a:tc>
              </a:tr>
              <a:tr h="960120">
                <a:tc>
                  <a:txBody>
                    <a:bodyPr/>
                    <a:lstStyle/>
                    <a:p>
                      <a:r>
                        <a:rPr sz="950" b="1">
                          <a:solidFill>
                            <a:srgbClr val="004EA8"/>
                          </a:solidFill>
                          <a:latin typeface="Arial"/>
                        </a:rPr>
                        <a:t>Purpose</a:t>
                      </a:r>
                    </a:p>
                  </a:txBody>
                  <a:tcPr marL="54864" marR="54864" marT="27432" marB="27432">
                    <a:solidFill>
                      <a:srgbClr val="E5F5FF"/>
                    </a:solidFill>
                  </a:tcPr>
                </a:tc>
                <a:tc>
                  <a:txBody>
                    <a:bodyPr/>
                    <a:lstStyle/>
                    <a:p>
                      <a:r>
                        <a:rPr sz="950" b="0">
                          <a:solidFill>
                            <a:srgbClr val="4B4B4B"/>
                          </a:solidFill>
                          <a:latin typeface="Arial"/>
                        </a:rPr>
                        <a:t>Batches that reverse the open premium receivable of legacy invoices paid directly to the insurer, with the same amount of the due to insurer; what was collected through the broker stays to remit. The candidates are the legacy invoices that Collections tagged "DP PR for reversal", or any legacy invoice with an open premium. A Commission user prepares the batch, the Commission team lead approves it and each invoice posts on its own.</a:t>
                      </a:r>
                    </a:p>
                  </a:txBody>
                  <a:tcPr marL="54864" marR="54864" marT="27432" marB="27432">
                    <a:solidFill>
                      <a:srgbClr val="FFFFFF"/>
                    </a:solidFill>
                  </a:tcPr>
                </a:tc>
              </a:tr>
              <a:tr h="236220">
                <a:tc>
                  <a:txBody>
                    <a:bodyPr/>
                    <a:lstStyle/>
                    <a:p>
                      <a:r>
                        <a:rPr sz="950" b="1">
                          <a:solidFill>
                            <a:srgbClr val="004EA8"/>
                          </a:solidFill>
                          <a:latin typeface="Arial"/>
                        </a:rPr>
                        <a:t>Personas</a:t>
                      </a:r>
                    </a:p>
                  </a:txBody>
                  <a:tcPr marL="54864" marR="54864" marT="27432" marB="27432">
                    <a:solidFill>
                      <a:srgbClr val="E5F5FF"/>
                    </a:solidFill>
                  </a:tcPr>
                </a:tc>
                <a:tc>
                  <a:txBody>
                    <a:bodyPr/>
                    <a:lstStyle/>
                    <a:p>
                      <a:r>
                        <a:rPr sz="950" b="0">
                          <a:solidFill>
                            <a:srgbClr val="4B4B4B"/>
                          </a:solidFill>
                          <a:latin typeface="Arial"/>
                        </a:rPr>
                        <a:t>Cashiering user, Cashiering team lead, Commission user, Commission team lead</a:t>
                      </a:r>
                    </a:p>
                  </a:txBody>
                  <a:tcPr marL="54864" marR="54864" marT="27432" marB="27432">
                    <a:solidFill>
                      <a:srgbClr val="FFFFFF"/>
                    </a:solidFill>
                  </a:tcPr>
                </a:tc>
              </a:tr>
              <a:tr h="381000">
                <a:tc>
                  <a:txBody>
                    <a:bodyPr/>
                    <a:lstStyle/>
                    <a:p>
                      <a:r>
                        <a:rPr sz="950" b="1">
                          <a:solidFill>
                            <a:srgbClr val="004EA8"/>
                          </a:solidFill>
                          <a:latin typeface="Arial"/>
                        </a:rPr>
                        <a:t>Ways in</a:t>
                      </a:r>
                    </a:p>
                  </a:txBody>
                  <a:tcPr marL="54864" marR="54864" marT="27432" marB="27432">
                    <a:solidFill>
                      <a:srgbClr val="E5F5FF"/>
                    </a:solidFill>
                  </a:tcPr>
                </a:tc>
                <a:tc>
                  <a:txBody>
                    <a:bodyPr/>
                    <a:lstStyle/>
                    <a:p>
                      <a:r>
                        <a:rPr sz="950" b="0">
                          <a:solidFill>
                            <a:srgbClr val="4B4B4B"/>
                          </a:solidFill>
                          <a:latin typeface="Arial"/>
                        </a:rPr>
                        <a:t>Menu: Finance › Commission Receivables › DP PR Legacy Reversal</a:t>
                      </a:r>
                    </a:p>
                    <a:p>
                      <a:r>
                        <a:rPr sz="950" b="0">
                          <a:solidFill>
                            <a:srgbClr val="4B4B4B"/>
                          </a:solidFill>
                          <a:latin typeface="Arial"/>
                        </a:rPr>
                        <a:t>Finance › Commission Receivables › DP PR Legacy Reversal</a:t>
                      </a:r>
                    </a:p>
                  </a:txBody>
                  <a:tcPr marL="54864" marR="54864" marT="27432" marB="27432">
                    <a:solidFill>
                      <a:srgbClr val="FFFFFF"/>
                    </a:solidFill>
                  </a:tcPr>
                </a:tc>
              </a:tr>
              <a:tr h="236220">
                <a:tc>
                  <a:txBody>
                    <a:bodyPr/>
                    <a:lstStyle/>
                    <a:p>
                      <a:r>
                        <a:rPr sz="950" b="1">
                          <a:solidFill>
                            <a:srgbClr val="004EA8"/>
                          </a:solidFill>
                          <a:latin typeface="Arial"/>
                        </a:rPr>
                        <a:t>Data Migration Handbook section</a:t>
                      </a:r>
                    </a:p>
                  </a:txBody>
                  <a:tcPr marL="54864" marR="54864" marT="27432" marB="27432">
                    <a:solidFill>
                      <a:srgbClr val="E5F5FF"/>
                    </a:solidFill>
                  </a:tcPr>
                </a:tc>
                <a:tc>
                  <a:txBody>
                    <a:bodyPr/>
                    <a:lstStyle/>
                    <a:p>
                      <a:r>
                        <a:rPr sz="950" b="0">
                          <a:solidFill>
                            <a:srgbClr val="4B4B4B"/>
                          </a:solidFill>
                          <a:latin typeface="Arial"/>
                        </a:rPr>
                        <a:t>19.5.3</a:t>
                      </a:r>
                    </a:p>
                  </a:txBody>
                  <a:tcPr marL="54864" marR="54864" marT="27432" marB="27432">
                    <a:solidFill>
                      <a:srgbClr val="FFFFFF"/>
                    </a:solidFill>
                  </a:tcPr>
                </a:tc>
              </a:tr>
              <a:tr h="236220">
                <a:tc>
                  <a:txBody>
                    <a:bodyPr/>
                    <a:lstStyle/>
                    <a:p>
                      <a:r>
                        <a:rPr sz="950" b="1">
                          <a:solidFill>
                            <a:srgbClr val="004EA8"/>
                          </a:solidFill>
                          <a:latin typeface="Arial"/>
                        </a:rPr>
                        <a:t>Requirements</a:t>
                      </a:r>
                    </a:p>
                  </a:txBody>
                  <a:tcPr marL="54864" marR="54864" marT="27432" marB="27432">
                    <a:solidFill>
                      <a:srgbClr val="E5F5FF"/>
                    </a:solidFill>
                  </a:tcPr>
                </a:tc>
                <a:tc>
                  <a:txBody>
                    <a:bodyPr/>
                    <a:lstStyle/>
                    <a:p>
                      <a:r>
                        <a:rPr sz="950" b="0">
                          <a:solidFill>
                            <a:srgbClr val="4B4B4B"/>
                          </a:solidFill>
                          <a:latin typeface="Arial"/>
                        </a:rPr>
                        <a:t>FR-DM-070</a:t>
                      </a:r>
                    </a:p>
                  </a:txBody>
                  <a:tcPr marL="54864" marR="54864" marT="27432" marB="27432">
                    <a:solidFill>
                      <a:srgbClr val="FFFFFF"/>
                    </a:solidFill>
                  </a:tcPr>
                </a:tc>
              </a:tr>
              <a:tr h="381000">
                <a:tc>
                  <a:txBody>
                    <a:bodyPr/>
                    <a:lstStyle/>
                    <a:p>
                      <a:r>
                        <a:rPr sz="950" b="1">
                          <a:solidFill>
                            <a:srgbClr val="004EA8"/>
                          </a:solidFill>
                          <a:latin typeface="Arial"/>
                        </a:rPr>
                        <a:t>Outcome</a:t>
                      </a:r>
                    </a:p>
                  </a:txBody>
                  <a:tcPr marL="54864" marR="54864" marT="27432" marB="27432">
                    <a:solidFill>
                      <a:srgbClr val="E5F5FF"/>
                    </a:solidFill>
                  </a:tcPr>
                </a:tc>
                <a:tc>
                  <a:txBody>
                    <a:bodyPr/>
                    <a:lstStyle/>
                    <a:p>
                      <a:r>
                        <a:rPr sz="950" b="0">
                          <a:solidFill>
                            <a:srgbClr val="4B4B4B"/>
                          </a:solidFill>
                          <a:latin typeface="Arial"/>
                        </a:rPr>
                        <a:t>Legacy invoices paid directly to the insurer leave the legacy receivable and payable in one approved batch.</a:t>
                      </a:r>
                    </a:p>
                  </a:txBody>
                  <a:tcPr marL="54864" marR="54864" marT="27432" marB="27432">
                    <a:solidFill>
                      <a:srgbClr val="FFFFFF"/>
                    </a:solidFill>
                  </a:tcPr>
                </a:tc>
              </a:tr>
            </a:tbl>
          </a:graphicData>
        </a:graphic>
      </p:graphicFrame>
      <p:sp>
        <p:nvSpPr>
          <p:cNvPr id="10" name="TextBox 9"/>
          <p:cNvSpPr txBox="1"/>
          <p:nvPr/>
        </p:nvSpPr>
        <p:spPr>
          <a:xfrm>
            <a:off x="7212000" y="1261872"/>
            <a:ext cx="4431054" cy="274320"/>
          </a:xfrm>
          <a:prstGeom prst="rect">
            <a:avLst/>
          </a:prstGeom>
          <a:noFill/>
        </p:spPr>
        <p:txBody>
          <a:bodyPr wrap="square" anchor="t" lIns="45720" rIns="45720">
            <a:spAutoFit/>
          </a:bodyPr>
          <a:lstStyle/>
          <a:p>
            <a:r>
              <a:rPr sz="1200" b="1" i="0">
                <a:solidFill>
                  <a:srgbClr val="004EA8"/>
                </a:solidFill>
                <a:latin typeface="Arial"/>
              </a:rPr>
              <a:t>States shown (1 images)</a:t>
            </a:r>
          </a:p>
        </p:txBody>
      </p:sp>
      <p:graphicFrame>
        <p:nvGraphicFramePr>
          <p:cNvPr id="11" name="Table 10"/>
          <p:cNvGraphicFramePr>
            <a:graphicFrameLocks noGrp="1"/>
          </p:cNvGraphicFramePr>
          <p:nvPr/>
        </p:nvGraphicFramePr>
        <p:xfrm>
          <a:off x="7212000.699999999" y="1581912"/>
          <a:ext cx="4431053" cy="2743200"/>
        </p:xfrm>
        <a:graphic>
          <a:graphicData uri="http://schemas.openxmlformats.org/drawingml/2006/table">
            <a:tbl>
              <a:tblPr firstRow="1" bandRow="1">
                <a:tableStyleId>{5C22544A-7EE6-4342-B048-85BDC9FD1C3A}</a:tableStyleId>
              </a:tblPr>
              <a:tblGrid>
                <a:gridCol w="2747253"/>
                <a:gridCol w="1683800"/>
              </a:tblGrid>
              <a:tr h="274320">
                <a:tc>
                  <a:txBody>
                    <a:bodyPr/>
                    <a:lstStyle/>
                    <a:p>
                      <a:r>
                        <a:rPr sz="950" b="1">
                          <a:solidFill>
                            <a:srgbClr val="FFFFFF"/>
                          </a:solidFill>
                          <a:latin typeface="Arial"/>
                        </a:rPr>
                        <a:t>State</a:t>
                      </a:r>
                    </a:p>
                  </a:txBody>
                  <a:tcPr marL="54864" marR="54864" marT="27432" marB="27432">
                    <a:solidFill>
                      <a:srgbClr val="004EA8"/>
                    </a:solidFill>
                  </a:tcPr>
                </a:tc>
                <a:tc>
                  <a:txBody>
                    <a:bodyPr/>
                    <a:lstStyle/>
                    <a:p>
                      <a:r>
                        <a:rPr sz="950" b="1">
                          <a:solidFill>
                            <a:srgbClr val="FFFFFF"/>
                          </a:solidFill>
                          <a:latin typeface="Arial"/>
                        </a:rPr>
                        <a:t>Images</a:t>
                      </a:r>
                    </a:p>
                  </a:txBody>
                  <a:tcPr marL="54864" marR="54864" marT="27432" marB="27432">
                    <a:solidFill>
                      <a:srgbClr val="004EA8"/>
                    </a:solidFill>
                  </a:tcPr>
                </a:tc>
              </a:tr>
              <a:tr h="274320">
                <a:tc>
                  <a:txBody>
                    <a:bodyPr/>
                    <a:lstStyle/>
                    <a:p>
                      <a:r>
                        <a:rPr sz="950" b="0">
                          <a:solidFill>
                            <a:srgbClr val="4B4B4B"/>
                          </a:solidFill>
                          <a:latin typeface="Arial"/>
                        </a:rPr>
                        <a:t>Default</a:t>
                      </a:r>
                    </a:p>
                  </a:txBody>
                  <a:tcPr marL="54864" marR="54864" marT="27432" marB="27432">
                    <a:solidFill>
                      <a:srgbClr val="FFFFFF"/>
                    </a:solidFill>
                  </a:tcPr>
                </a:tc>
                <a:tc>
                  <a:txBody>
                    <a:bodyPr/>
                    <a:lstStyle/>
                    <a:p>
                      <a:r>
                        <a:rPr sz="950" b="0">
                          <a:solidFill>
                            <a:srgbClr val="4B4B4B"/>
                          </a:solidFill>
                          <a:latin typeface="Arial"/>
                        </a:rPr>
                        <a:t>1 image</a:t>
                      </a:r>
                    </a:p>
                  </a:txBody>
                  <a:tcPr marL="54864" marR="54864" marT="27432" marB="27432">
                    <a:solidFill>
                      <a:srgbClr val="FFFFFF"/>
                    </a:solidFill>
                  </a:tcPr>
                </a:tc>
              </a:tr>
              <a:tr h="274320">
                <a:tc>
                  <a:txBody>
                    <a:bodyPr/>
                    <a:lstStyle/>
                    <a:p>
                      <a:r>
                        <a:rPr sz="950" b="0">
                          <a:solidFill>
                            <a:srgbClr val="4B4B4B"/>
                          </a:solidFill>
                          <a:latin typeface="Arial"/>
                        </a:rPr>
                        <a:t>Filled</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Validation error</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Confirmation with reason</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Success message</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Empty list</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Read-only or locked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r h="274320">
                <a:tc>
                  <a:txBody>
                    <a:bodyPr/>
                    <a:lstStyle/>
                    <a:p>
                      <a:r>
                        <a:rPr sz="950" b="0">
                          <a:solidFill>
                            <a:srgbClr val="4B4B4B"/>
                          </a:solidFill>
                          <a:latin typeface="Arial"/>
                        </a:rPr>
                        <a:t>Pending approval</a:t>
                      </a:r>
                    </a:p>
                  </a:txBody>
                  <a:tcPr marL="54864" marR="54864" marT="27432" marB="27432">
                    <a:solidFill>
                      <a:srgbClr val="E5F5FF"/>
                    </a:solidFill>
                  </a:tcPr>
                </a:tc>
                <a:tc>
                  <a:txBody>
                    <a:bodyPr/>
                    <a:lstStyle/>
                    <a:p>
                      <a:r>
                        <a:rPr sz="950" b="0">
                          <a:solidFill>
                            <a:srgbClr val="4B4B4B"/>
                          </a:solidFill>
                          <a:latin typeface="Arial"/>
                        </a:rPr>
                        <a:t>-</a:t>
                      </a:r>
                    </a:p>
                  </a:txBody>
                  <a:tcPr marL="54864" marR="54864" marT="27432" marB="27432">
                    <a:solidFill>
                      <a:srgbClr val="E5F5FF"/>
                    </a:solidFill>
                  </a:tcPr>
                </a:tc>
              </a:tr>
              <a:tr h="274320">
                <a:tc>
                  <a:txBody>
                    <a:bodyPr/>
                    <a:lstStyle/>
                    <a:p>
                      <a:r>
                        <a:rPr sz="950" b="0">
                          <a:solidFill>
                            <a:srgbClr val="4B4B4B"/>
                          </a:solidFill>
                          <a:latin typeface="Arial"/>
                        </a:rPr>
                        <a:t>Rejected or returned</a:t>
                      </a:r>
                    </a:p>
                  </a:txBody>
                  <a:tcPr marL="54864" marR="54864" marT="27432" marB="27432">
                    <a:solidFill>
                      <a:srgbClr val="FFFFFF"/>
                    </a:solidFill>
                  </a:tcPr>
                </a:tc>
                <a:tc>
                  <a:txBody>
                    <a:bodyPr/>
                    <a:lstStyle/>
                    <a:p>
                      <a:r>
                        <a:rPr sz="9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1700" b="1" i="0">
                <a:solidFill>
                  <a:srgbClr val="004EA8"/>
                </a:solidFill>
                <a:latin typeface="Arial"/>
              </a:rPr>
              <a:t>SCR-DM-20 fields and columns (No. = callout on the first image)</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326</a:t>
            </a:r>
          </a:p>
        </p:txBody>
      </p:sp>
      <p:graphicFrame>
        <p:nvGraphicFramePr>
          <p:cNvPr id="9" name="Table 8"/>
          <p:cNvGraphicFramePr>
            <a:graphicFrameLocks noGrp="1"/>
          </p:cNvGraphicFramePr>
          <p:nvPr/>
        </p:nvGraphicFramePr>
        <p:xfrm>
          <a:off x="548640" y="1325880"/>
          <a:ext cx="11094411" cy="1844030"/>
        </p:xfrm>
        <a:graphic>
          <a:graphicData uri="http://schemas.openxmlformats.org/drawingml/2006/table">
            <a:tbl>
              <a:tblPr firstRow="1" bandRow="1">
                <a:tableStyleId>{5C22544A-7EE6-4342-B048-85BDC9FD1C3A}</a:tableStyleId>
              </a:tblPr>
              <a:tblGrid>
                <a:gridCol w="413970"/>
                <a:gridCol w="1324706"/>
                <a:gridCol w="1821471"/>
                <a:gridCol w="993529"/>
                <a:gridCol w="1987059"/>
                <a:gridCol w="579558"/>
                <a:gridCol w="1987059"/>
                <a:gridCol w="1987059"/>
              </a:tblGrid>
              <a:tr h="220979">
                <a:tc>
                  <a:txBody>
                    <a:bodyPr/>
                    <a:lstStyle/>
                    <a:p>
                      <a:r>
                        <a:rPr sz="850" b="1">
                          <a:solidFill>
                            <a:srgbClr val="FFFFFF"/>
                          </a:solidFill>
                          <a:latin typeface="Arial"/>
                        </a:rPr>
                        <a:t>No.</a:t>
                      </a:r>
                    </a:p>
                  </a:txBody>
                  <a:tcPr marL="54864" marR="54864" marT="27432" marB="27432">
                    <a:solidFill>
                      <a:srgbClr val="004EA8"/>
                    </a:solidFill>
                  </a:tcPr>
                </a:tc>
                <a:tc>
                  <a:txBody>
                    <a:bodyPr/>
                    <a:lstStyle/>
                    <a:p>
                      <a:r>
                        <a:rPr sz="850" b="1">
                          <a:solidFill>
                            <a:srgbClr val="FFFFFF"/>
                          </a:solidFill>
                          <a:latin typeface="Arial"/>
                        </a:rPr>
                        <a:t>Section</a:t>
                      </a:r>
                    </a:p>
                  </a:txBody>
                  <a:tcPr marL="54864" marR="54864" marT="27432" marB="27432">
                    <a:solidFill>
                      <a:srgbClr val="004EA8"/>
                    </a:solidFill>
                  </a:tcPr>
                </a:tc>
                <a:tc>
                  <a:txBody>
                    <a:bodyPr/>
                    <a:lstStyle/>
                    <a:p>
                      <a:r>
                        <a:rPr sz="850" b="1">
                          <a:solidFill>
                            <a:srgbClr val="FFFFFF"/>
                          </a:solidFill>
                          <a:latin typeface="Arial"/>
                        </a:rPr>
                        <a:t>Field</a:t>
                      </a:r>
                    </a:p>
                  </a:txBody>
                  <a:tcPr marL="54864" marR="54864" marT="27432" marB="27432">
                    <a:solidFill>
                      <a:srgbClr val="004EA8"/>
                    </a:solidFill>
                  </a:tcPr>
                </a:tc>
                <a:tc>
                  <a:txBody>
                    <a:bodyPr/>
                    <a:lstStyle/>
                    <a:p>
                      <a:r>
                        <a:rPr sz="850" b="1">
                          <a:solidFill>
                            <a:srgbClr val="FFFFFF"/>
                          </a:solidFill>
                          <a:latin typeface="Arial"/>
                        </a:rPr>
                        <a:t>Type</a:t>
                      </a:r>
                    </a:p>
                  </a:txBody>
                  <a:tcPr marL="54864" marR="54864" marT="27432" marB="27432">
                    <a:solidFill>
                      <a:srgbClr val="004EA8"/>
                    </a:solidFill>
                  </a:tcPr>
                </a:tc>
                <a:tc>
                  <a:txBody>
                    <a:bodyPr/>
                    <a:lstStyle/>
                    <a:p>
                      <a:r>
                        <a:rPr sz="850" b="1">
                          <a:solidFill>
                            <a:srgbClr val="FFFFFF"/>
                          </a:solidFill>
                          <a:latin typeface="Arial"/>
                        </a:rPr>
                        <a:t>Length / format</a:t>
                      </a:r>
                    </a:p>
                  </a:txBody>
                  <a:tcPr marL="54864" marR="54864" marT="27432" marB="27432">
                    <a:solidFill>
                      <a:srgbClr val="004EA8"/>
                    </a:solidFill>
                  </a:tcPr>
                </a:tc>
                <a:tc>
                  <a:txBody>
                    <a:bodyPr/>
                    <a:lstStyle/>
                    <a:p>
                      <a:r>
                        <a:rPr sz="850" b="1">
                          <a:solidFill>
                            <a:srgbClr val="FFFFFF"/>
                          </a:solidFill>
                          <a:latin typeface="Arial"/>
                        </a:rPr>
                        <a:t>Mand.</a:t>
                      </a:r>
                    </a:p>
                  </a:txBody>
                  <a:tcPr marL="54864" marR="54864" marT="27432" marB="27432">
                    <a:solidFill>
                      <a:srgbClr val="004EA8"/>
                    </a:solidFill>
                  </a:tcPr>
                </a:tc>
                <a:tc>
                  <a:txBody>
                    <a:bodyPr/>
                    <a:lstStyle/>
                    <a:p>
                      <a:r>
                        <a:rPr sz="850" b="1">
                          <a:solidFill>
                            <a:srgbClr val="FFFFFF"/>
                          </a:solidFill>
                          <a:latin typeface="Arial"/>
                        </a:rPr>
                        <a:t>Validation</a:t>
                      </a:r>
                    </a:p>
                  </a:txBody>
                  <a:tcPr marL="54864" marR="54864" marT="27432" marB="27432">
                    <a:solidFill>
                      <a:srgbClr val="004EA8"/>
                    </a:solidFill>
                  </a:tcPr>
                </a:tc>
                <a:tc>
                  <a:txBody>
                    <a:bodyPr/>
                    <a:lstStyle/>
                    <a:p>
                      <a:r>
                        <a:rPr sz="850" b="1">
                          <a:solidFill>
                            <a:srgbClr val="FFFFFF"/>
                          </a:solidFill>
                          <a:latin typeface="Arial"/>
                        </a:rPr>
                        <a:t>Message when it fails</a:t>
                      </a:r>
                    </a:p>
                  </a:txBody>
                  <a:tcPr marL="54864" marR="54864" marT="27432" marB="27432">
                    <a:solidFill>
                      <a:srgbClr val="004EA8"/>
                    </a:solidFill>
                  </a:tcPr>
                </a:tc>
              </a:tr>
              <a:tr h="220979">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New Batch</a:t>
                      </a:r>
                    </a:p>
                  </a:txBody>
                  <a:tcPr marL="54864" marR="54864" marT="27432" marB="27432">
                    <a:solidFill>
                      <a:srgbClr val="FFFFFF"/>
                    </a:solidFill>
                  </a:tcPr>
                </a:tc>
                <a:tc>
                  <a:txBody>
                    <a:bodyPr/>
                    <a:lstStyle/>
                    <a:p>
                      <a:r>
                        <a:rPr sz="850" b="0">
                          <a:solidFill>
                            <a:srgbClr val="4B4B4B"/>
                          </a:solidFill>
                          <a:latin typeface="Arial"/>
                        </a:rPr>
                        <a:t>Reason</a:t>
                      </a:r>
                    </a:p>
                  </a:txBody>
                  <a:tcPr marL="54864" marR="54864" marT="27432" marB="27432">
                    <a:solidFill>
                      <a:srgbClr val="FFFFFF"/>
                    </a:solidFill>
                  </a:tcPr>
                </a:tc>
                <a:tc>
                  <a:txBody>
                    <a:bodyPr/>
                    <a:lstStyle/>
                    <a:p>
                      <a:r>
                        <a:rPr sz="850" b="0">
                          <a:solidFill>
                            <a:srgbClr val="4B4B4B"/>
                          </a:solidFill>
                          <a:latin typeface="Arial"/>
                        </a:rPr>
                        <a:t>Text area</a:t>
                      </a:r>
                    </a:p>
                  </a:txBody>
                  <a:tcPr marL="54864" marR="54864" marT="27432" marB="27432">
                    <a:solidFill>
                      <a:srgbClr val="FFFFFF"/>
                    </a:solidFill>
                  </a:tcPr>
                </a:tc>
                <a:tc>
                  <a:txBody>
                    <a:bodyPr/>
                    <a:lstStyle/>
                    <a:p>
                      <a:r>
                        <a:rPr sz="850" b="0">
                          <a:solidFill>
                            <a:srgbClr val="4B4B4B"/>
                          </a:solidFill>
                          <a:latin typeface="Arial"/>
                        </a:rPr>
                        <a:t>Up to 500 characters</a:t>
                      </a:r>
                    </a:p>
                  </a:txBody>
                  <a:tcPr marL="54864" marR="54864" marT="27432" marB="27432">
                    <a:solidFill>
                      <a:srgbClr val="FFFFFF"/>
                    </a:solidFill>
                  </a:tcPr>
                </a:tc>
                <a:tc>
                  <a:txBody>
                    <a:bodyPr/>
                    <a:lstStyle/>
                    <a:p>
                      <a:r>
                        <a:rPr sz="850" b="0">
                          <a:solidFill>
                            <a:srgbClr val="4B4B4B"/>
                          </a:solidFill>
                          <a:latin typeface="Arial"/>
                        </a:rPr>
                        <a:t>Y</a:t>
                      </a:r>
                    </a:p>
                  </a:txBody>
                  <a:tcPr marL="54864" marR="54864" marT="27432" marB="27432">
                    <a:solidFill>
                      <a:srgbClr val="FFFFFF"/>
                    </a:solidFill>
                  </a:tcPr>
                </a:tc>
                <a:tc>
                  <a:txBody>
                    <a:bodyPr/>
                    <a:lstStyle/>
                    <a:p>
                      <a:r>
                        <a:rPr sz="850" b="0">
                          <a:solidFill>
                            <a:srgbClr val="4B4B4B"/>
                          </a:solidFill>
                          <a:latin typeface="Arial"/>
                        </a:rPr>
                        <a:t>Not blank</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480057">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Add Legacy Invoices</a:t>
                      </a:r>
                    </a:p>
                  </a:txBody>
                  <a:tcPr marL="54864" marR="54864" marT="27432" marB="27432">
                    <a:solidFill>
                      <a:srgbClr val="E5F5FF"/>
                    </a:solidFill>
                  </a:tcPr>
                </a:tc>
                <a:tc>
                  <a:txBody>
                    <a:bodyPr/>
                    <a:lstStyle/>
                    <a:p>
                      <a:r>
                        <a:rPr sz="850" b="0">
                          <a:solidFill>
                            <a:srgbClr val="4B4B4B"/>
                          </a:solidFill>
                          <a:latin typeface="Arial"/>
                        </a:rPr>
                        <a:t>Show</a:t>
                      </a:r>
                    </a:p>
                  </a:txBody>
                  <a:tcPr marL="54864" marR="54864" marT="27432" marB="27432">
                    <a:solidFill>
                      <a:srgbClr val="E5F5FF"/>
                    </a:solidFill>
                  </a:tcPr>
                </a:tc>
                <a:tc>
                  <a:txBody>
                    <a:bodyPr/>
                    <a:lstStyle/>
                    <a:p>
                      <a:r>
                        <a:rPr sz="850" b="0">
                          <a:solidFill>
                            <a:srgbClr val="4B4B4B"/>
                          </a:solidFill>
                          <a:latin typeface="Arial"/>
                        </a:rPr>
                        <a:t>Drop-down</a:t>
                      </a:r>
                    </a:p>
                  </a:txBody>
                  <a:tcPr marL="54864" marR="54864" marT="27432" marB="27432">
                    <a:solidFill>
                      <a:srgbClr val="E5F5FF"/>
                    </a:solidFill>
                  </a:tcPr>
                </a:tc>
                <a:tc>
                  <a:txBody>
                    <a:bodyPr/>
                    <a:lstStyle/>
                    <a:p>
                      <a:r>
                        <a:rPr sz="850" b="0">
                          <a:solidFill>
                            <a:srgbClr val="4B4B4B"/>
                          </a:solidFill>
                          <a:latin typeface="Arial"/>
                        </a:rPr>
                        <a:t>Tagged DP PR for reversal by Collections, Every legacy invoice with open premium</a:t>
                      </a:r>
                    </a:p>
                  </a:txBody>
                  <a:tcPr marL="54864" marR="54864" marT="27432" marB="27432">
                    <a:solidFill>
                      <a:srgbClr val="E5F5FF"/>
                    </a:solidFill>
                  </a:tcPr>
                </a:tc>
                <a:tc>
                  <a:txBody>
                    <a:bodyPr/>
                    <a:lstStyle/>
                    <a:p>
                      <a:r>
                        <a:rPr sz="850" b="0">
                          <a:solidFill>
                            <a:srgbClr val="4B4B4B"/>
                          </a:solidFill>
                          <a:latin typeface="Arial"/>
                        </a:rPr>
                        <a:t>N</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220979">
                <a:tc>
                  <a:txBody>
                    <a:bodyPr/>
                    <a:lstStyle/>
                    <a:p>
                      <a:r>
                        <a:rPr sz="850" b="0">
                          <a:solidFill>
                            <a:srgbClr val="4B4B4B"/>
                          </a:solidFill>
                          <a:latin typeface="Arial"/>
                        </a:rPr>
                        <a:t>3</a:t>
                      </a:r>
                    </a:p>
                  </a:txBody>
                  <a:tcPr marL="54864" marR="54864" marT="27432" marB="27432">
                    <a:solidFill>
                      <a:srgbClr val="FFFFFF"/>
                    </a:solidFill>
                  </a:tcPr>
                </a:tc>
                <a:tc>
                  <a:txBody>
                    <a:bodyPr/>
                    <a:lstStyle/>
                    <a:p>
                      <a:r>
                        <a:rPr sz="850" b="0">
                          <a:solidFill>
                            <a:srgbClr val="4B4B4B"/>
                          </a:solidFill>
                          <a:latin typeface="Arial"/>
                        </a:rPr>
                        <a:t>Add Legacy Invoices</a:t>
                      </a:r>
                    </a:p>
                  </a:txBody>
                  <a:tcPr marL="54864" marR="54864" marT="27432" marB="27432">
                    <a:solidFill>
                      <a:srgbClr val="FFFFFF"/>
                    </a:solidFill>
                  </a:tcPr>
                </a:tc>
                <a:tc>
                  <a:txBody>
                    <a:bodyPr/>
                    <a:lstStyle/>
                    <a:p>
                      <a:r>
                        <a:rPr sz="850" b="0">
                          <a:solidFill>
                            <a:srgbClr val="4B4B4B"/>
                          </a:solidFill>
                          <a:latin typeface="Arial"/>
                        </a:rPr>
                        <a:t>Reason for the Lines</a:t>
                      </a:r>
                    </a:p>
                  </a:txBody>
                  <a:tcPr marL="54864" marR="54864" marT="27432" marB="27432">
                    <a:solidFill>
                      <a:srgbClr val="FFFFFF"/>
                    </a:solidFill>
                  </a:tcPr>
                </a:tc>
                <a:tc>
                  <a:txBody>
                    <a:bodyPr/>
                    <a:lstStyle/>
                    <a:p>
                      <a:r>
                        <a:rPr sz="850" b="0">
                          <a:solidFill>
                            <a:srgbClr val="4B4B4B"/>
                          </a:solidFill>
                          <a:latin typeface="Arial"/>
                        </a:rPr>
                        <a:t>Text</a:t>
                      </a:r>
                    </a:p>
                  </a:txBody>
                  <a:tcPr marL="54864" marR="54864" marT="27432" marB="27432">
                    <a:solidFill>
                      <a:srgbClr val="FFFFFF"/>
                    </a:solidFill>
                  </a:tcPr>
                </a:tc>
                <a:tc>
                  <a:txBody>
                    <a:bodyPr/>
                    <a:lstStyle/>
                    <a:p>
                      <a:r>
                        <a:rPr sz="850" b="0">
                          <a:solidFill>
                            <a:srgbClr val="4B4B4B"/>
                          </a:solidFill>
                          <a:latin typeface="Arial"/>
                        </a:rPr>
                        <a:t>Up to 250 characters</a:t>
                      </a:r>
                    </a:p>
                  </a:txBody>
                  <a:tcPr marL="54864" marR="54864" marT="27432" marB="27432">
                    <a:solidFill>
                      <a:srgbClr val="FFFFFF"/>
                    </a:solidFill>
                  </a:tcPr>
                </a:tc>
                <a:tc>
                  <a:txBody>
                    <a:bodyPr/>
                    <a:lstStyle/>
                    <a:p>
                      <a:r>
                        <a:rPr sz="850" b="0">
                          <a:solidFill>
                            <a:srgbClr val="4B4B4B"/>
                          </a:solidFill>
                          <a:latin typeface="Arial"/>
                        </a:rPr>
                        <a:t>N</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Add Legacy Invoices</a:t>
                      </a:r>
                    </a:p>
                  </a:txBody>
                  <a:tcPr marL="54864" marR="54864" marT="27432" marB="27432">
                    <a:solidFill>
                      <a:srgbClr val="E5F5FF"/>
                    </a:solidFill>
                  </a:tcPr>
                </a:tc>
                <a:tc>
                  <a:txBody>
                    <a:bodyPr/>
                    <a:lstStyle/>
                    <a:p>
                      <a:r>
                        <a:rPr sz="850" b="0">
                          <a:solidFill>
                            <a:srgbClr val="4B4B4B"/>
                          </a:solidFill>
                          <a:latin typeface="Arial"/>
                        </a:rPr>
                        <a:t>Invoice, Client / Insurer, Policy, Tagged, Open Premium</a:t>
                      </a:r>
                    </a:p>
                  </a:txBody>
                  <a:tcPr marL="54864" marR="54864" marT="27432" marB="27432">
                    <a:solidFill>
                      <a:srgbClr val="E5F5FF"/>
                    </a:solidFill>
                  </a:tcPr>
                </a:tc>
                <a:tc>
                  <a:txBody>
                    <a:bodyPr/>
                    <a:lstStyle/>
                    <a:p>
                      <a:r>
                        <a:rPr sz="850" b="0">
                          <a:solidFill>
                            <a:srgbClr val="4B4B4B"/>
                          </a:solidFill>
                          <a:latin typeface="Arial"/>
                        </a:rPr>
                        <a:t>Columns</a:t>
                      </a:r>
                    </a:p>
                  </a:txBody>
                  <a:tcPr marL="54864" marR="54864" marT="27432" marB="27432">
                    <a:solidFill>
                      <a:srgbClr val="E5F5FF"/>
                    </a:solidFill>
                  </a:tcPr>
                </a:tc>
                <a:tc>
                  <a:txBody>
                    <a:bodyPr/>
                    <a:lstStyle/>
                    <a:p>
                      <a:r>
                        <a:rPr sz="850" b="0">
                          <a:solidFill>
                            <a:srgbClr val="4B4B4B"/>
                          </a:solidFill>
                          <a:latin typeface="Arial"/>
                        </a:rPr>
                        <a:t>LEGACY tag; source system and legacy number under the invoice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Lines</a:t>
                      </a:r>
                    </a:p>
                  </a:txBody>
                  <a:tcPr marL="54864" marR="54864" marT="27432" marB="27432">
                    <a:solidFill>
                      <a:srgbClr val="FFFFFF"/>
                    </a:solidFill>
                  </a:tcPr>
                </a:tc>
                <a:tc>
                  <a:txBody>
                    <a:bodyPr/>
                    <a:lstStyle/>
                    <a:p>
                      <a:r>
                        <a:rPr sz="850" b="0">
                          <a:solidFill>
                            <a:srgbClr val="4B4B4B"/>
                          </a:solidFill>
                          <a:latin typeface="Arial"/>
                        </a:rPr>
                        <a:t>#, Invoice, Amount, Result, Status</a:t>
                      </a:r>
                    </a:p>
                  </a:txBody>
                  <a:tcPr marL="54864" marR="54864" marT="27432" marB="27432">
                    <a:solidFill>
                      <a:srgbClr val="FFFFFF"/>
                    </a:solidFill>
                  </a:tcPr>
                </a:tc>
                <a:tc>
                  <a:txBody>
                    <a:bodyPr/>
                    <a:lstStyle/>
                    <a:p>
                      <a:r>
                        <a:rPr sz="850" b="0">
                          <a:solidFill>
                            <a:srgbClr val="4B4B4B"/>
                          </a:solidFill>
                          <a:latin typeface="Arial"/>
                        </a:rPr>
                        <a:t>Columns</a:t>
                      </a:r>
                    </a:p>
                  </a:txBody>
                  <a:tcPr marL="54864" marR="54864" marT="27432" marB="27432">
                    <a:solidFill>
                      <a:srgbClr val="FFFFFF"/>
                    </a:solidFill>
                  </a:tcPr>
                </a:tc>
                <a:tc>
                  <a:txBody>
                    <a:bodyPr/>
                    <a:lstStyle/>
                    <a:p>
                      <a:r>
                        <a:rPr sz="850" b="0">
                          <a:solidFill>
                            <a:srgbClr val="4B4B4B"/>
                          </a:solidFill>
                          <a:latin typeface="Arial"/>
                        </a:rPr>
                        <a:t>The whole open premium receivable of the invoice</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SCR-DM-20 actions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327</a:t>
            </a:r>
          </a:p>
        </p:txBody>
      </p:sp>
      <p:graphicFrame>
        <p:nvGraphicFramePr>
          <p:cNvPr id="9" name="Table 8"/>
          <p:cNvGraphicFramePr>
            <a:graphicFrameLocks noGrp="1"/>
          </p:cNvGraphicFramePr>
          <p:nvPr/>
        </p:nvGraphicFramePr>
        <p:xfrm>
          <a:off x="548640" y="1325880"/>
          <a:ext cx="11094412" cy="1142994"/>
        </p:xfrm>
        <a:graphic>
          <a:graphicData uri="http://schemas.openxmlformats.org/drawingml/2006/table">
            <a:tbl>
              <a:tblPr firstRow="1" bandRow="1">
                <a:tableStyleId>{5C22544A-7EE6-4342-B048-85BDC9FD1C3A}</a:tableStyleId>
              </a:tblPr>
              <a:tblGrid>
                <a:gridCol w="1501499"/>
                <a:gridCol w="1668333"/>
                <a:gridCol w="1668333"/>
                <a:gridCol w="3503499"/>
                <a:gridCol w="1251249"/>
                <a:gridCol w="1501499"/>
              </a:tblGrid>
              <a:tr h="220979">
                <a:tc>
                  <a:txBody>
                    <a:bodyPr/>
                    <a:lstStyle/>
                    <a:p>
                      <a:r>
                        <a:rPr sz="850" b="1">
                          <a:solidFill>
                            <a:srgbClr val="FFFFFF"/>
                          </a:solidFill>
                          <a:latin typeface="Arial"/>
                        </a:rPr>
                        <a:t>Button</a:t>
                      </a:r>
                    </a:p>
                  </a:txBody>
                  <a:tcPr marL="54864" marR="54864" marT="27432" marB="27432">
                    <a:solidFill>
                      <a:srgbClr val="004EA8"/>
                    </a:solidFill>
                  </a:tcPr>
                </a:tc>
                <a:tc>
                  <a:txBody>
                    <a:bodyPr/>
                    <a:lstStyle/>
                    <a:p>
                      <a:r>
                        <a:rPr sz="850" b="1">
                          <a:solidFill>
                            <a:srgbClr val="FFFFFF"/>
                          </a:solidFill>
                          <a:latin typeface="Arial"/>
                        </a:rPr>
                        <a:t>Who</a:t>
                      </a:r>
                    </a:p>
                  </a:txBody>
                  <a:tcPr marL="54864" marR="54864" marT="27432" marB="27432">
                    <a:solidFill>
                      <a:srgbClr val="004EA8"/>
                    </a:solidFill>
                  </a:tcPr>
                </a:tc>
                <a:tc>
                  <a:txBody>
                    <a:bodyPr/>
                    <a:lstStyle/>
                    <a:p>
                      <a:r>
                        <a:rPr sz="850" b="1">
                          <a:solidFill>
                            <a:srgbClr val="FFFFFF"/>
                          </a:solidFill>
                          <a:latin typeface="Arial"/>
                        </a:rPr>
                        <a:t>Enabled when</a:t>
                      </a:r>
                    </a:p>
                  </a:txBody>
                  <a:tcPr marL="54864" marR="54864" marT="27432" marB="27432">
                    <a:solidFill>
                      <a:srgbClr val="004EA8"/>
                    </a:solidFill>
                  </a:tcPr>
                </a:tc>
                <a:tc>
                  <a:txBody>
                    <a:bodyPr/>
                    <a:lstStyle/>
                    <a:p>
                      <a:r>
                        <a:rPr sz="850" b="1">
                          <a:solidFill>
                            <a:srgbClr val="FFFFFF"/>
                          </a:solidFill>
                          <a:latin typeface="Arial"/>
                        </a:rPr>
                        <a:t>What happens</a:t>
                      </a:r>
                    </a:p>
                  </a:txBody>
                  <a:tcPr marL="54864" marR="54864" marT="27432" marB="27432">
                    <a:solidFill>
                      <a:srgbClr val="004EA8"/>
                    </a:solidFill>
                  </a:tcPr>
                </a:tc>
                <a:tc>
                  <a:txBody>
                    <a:bodyPr/>
                    <a:lstStyle/>
                    <a:p>
                      <a:r>
                        <a:rPr sz="850" b="1">
                          <a:solidFill>
                            <a:srgbClr val="FFFFFF"/>
                          </a:solidFill>
                          <a:latin typeface="Arial"/>
                        </a:rPr>
                        <a:t>Resulting status</a:t>
                      </a:r>
                    </a:p>
                  </a:txBody>
                  <a:tcPr marL="54864" marR="54864" marT="27432" marB="27432">
                    <a:solidFill>
                      <a:srgbClr val="004EA8"/>
                    </a:solidFill>
                  </a:tcPr>
                </a:tc>
                <a:tc>
                  <a:txBody>
                    <a:bodyPr/>
                    <a:lstStyle/>
                    <a:p>
                      <a:r>
                        <a:rPr sz="850" b="1">
                          <a:solidFill>
                            <a:srgbClr val="FFFFFF"/>
                          </a:solidFill>
                          <a:latin typeface="Arial"/>
                        </a:rPr>
                        <a:t>Notification</a:t>
                      </a:r>
                    </a:p>
                  </a:txBody>
                  <a:tcPr marL="54864" marR="54864" marT="27432" marB="27432">
                    <a:solidFill>
                      <a:srgbClr val="004EA8"/>
                    </a:solidFill>
                  </a:tcPr>
                </a:tc>
              </a:tr>
              <a:tr h="220979">
                <a:tc>
                  <a:txBody>
                    <a:bodyPr/>
                    <a:lstStyle/>
                    <a:p>
                      <a:r>
                        <a:rPr sz="850" b="0">
                          <a:solidFill>
                            <a:srgbClr val="4B4B4B"/>
                          </a:solidFill>
                          <a:latin typeface="Arial"/>
                        </a:rPr>
                        <a:t>Add</a:t>
                      </a:r>
                    </a:p>
                  </a:txBody>
                  <a:tcPr marL="54864" marR="54864" marT="27432" marB="27432">
                    <a:solidFill>
                      <a:srgbClr val="FFFFFF"/>
                    </a:solidFill>
                  </a:tcPr>
                </a:tc>
                <a:tc>
                  <a:txBody>
                    <a:bodyPr/>
                    <a:lstStyle/>
                    <a:p>
                      <a:r>
                        <a:rPr sz="850" b="0">
                          <a:solidFill>
                            <a:srgbClr val="4B4B4B"/>
                          </a:solidFill>
                          <a:latin typeface="Arial"/>
                        </a:rPr>
                        <a:t>Commission user</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Adds the invoice as a line</a:t>
                      </a:r>
                    </a:p>
                  </a:txBody>
                  <a:tcPr marL="54864" marR="54864" marT="27432" marB="27432">
                    <a:solidFill>
                      <a:srgbClr val="FFFFFF"/>
                    </a:solidFill>
                  </a:tcPr>
                </a:tc>
                <a:tc>
                  <a:txBody>
                    <a:bodyPr/>
                    <a:lstStyle/>
                    <a:p>
                      <a:r>
                        <a:rPr sz="850" b="0">
                          <a:solidFill>
                            <a:srgbClr val="4B4B4B"/>
                          </a:solidFill>
                          <a:latin typeface="Arial"/>
                        </a:rPr>
                        <a:t>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r h="350518">
                <a:tc>
                  <a:txBody>
                    <a:bodyPr/>
                    <a:lstStyle/>
                    <a:p>
                      <a:r>
                        <a:rPr sz="850" b="0">
                          <a:solidFill>
                            <a:srgbClr val="4B4B4B"/>
                          </a:solidFill>
                          <a:latin typeface="Arial"/>
                        </a:rPr>
                        <a:t>Submit, Cancel Batch</a:t>
                      </a:r>
                    </a:p>
                  </a:txBody>
                  <a:tcPr marL="54864" marR="54864" marT="27432" marB="27432">
                    <a:solidFill>
                      <a:srgbClr val="E5F5FF"/>
                    </a:solidFill>
                  </a:tcPr>
                </a:tc>
                <a:tc>
                  <a:txBody>
                    <a:bodyPr/>
                    <a:lstStyle/>
                    <a:p>
                      <a:r>
                        <a:rPr sz="850" b="0">
                          <a:solidFill>
                            <a:srgbClr val="4B4B4B"/>
                          </a:solidFill>
                          <a:latin typeface="Arial"/>
                        </a:rPr>
                        <a:t>Commission user</a:t>
                      </a:r>
                    </a:p>
                  </a:txBody>
                  <a:tcPr marL="54864" marR="54864" marT="27432" marB="27432">
                    <a:solidFill>
                      <a:srgbClr val="E5F5FF"/>
                    </a:solidFill>
                  </a:tcPr>
                </a:tc>
                <a:tc>
                  <a:txBody>
                    <a:bodyPr/>
                    <a:lstStyle/>
                    <a:p>
                      <a:r>
                        <a:rPr sz="850" b="0">
                          <a:solidFill>
                            <a:srgbClr val="4B4B4B"/>
                          </a:solidFill>
                          <a:latin typeface="Arial"/>
                        </a:rPr>
                        <a:t>Draft</a:t>
                      </a:r>
                    </a:p>
                  </a:txBody>
                  <a:tcPr marL="54864" marR="54864" marT="27432" marB="27432">
                    <a:solidFill>
                      <a:srgbClr val="E5F5FF"/>
                    </a:solidFill>
                  </a:tcPr>
                </a:tc>
                <a:tc>
                  <a:txBody>
                    <a:bodyPr/>
                    <a:lstStyle/>
                    <a:p>
                      <a:r>
                        <a:rPr sz="850" b="0">
                          <a:solidFill>
                            <a:srgbClr val="4B4B4B"/>
                          </a:solidFill>
                          <a:latin typeface="Arial"/>
                        </a:rPr>
                        <a:t>Sends the batch for approval, or closes it without posting</a:t>
                      </a:r>
                    </a:p>
                  </a:txBody>
                  <a:tcPr marL="54864" marR="54864" marT="27432" marB="27432">
                    <a:solidFill>
                      <a:srgbClr val="E5F5FF"/>
                    </a:solidFill>
                  </a:tcPr>
                </a:tc>
                <a:tc>
                  <a:txBody>
                    <a:bodyPr/>
                    <a:lstStyle/>
                    <a:p>
                      <a:r>
                        <a:rPr sz="850" b="0">
                          <a:solidFill>
                            <a:srgbClr val="4B4B4B"/>
                          </a:solidFill>
                          <a:latin typeface="Arial"/>
                        </a:rPr>
                        <a:t>For approval, Cancelled</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r>
              <a:tr h="350518">
                <a:tc>
                  <a:txBody>
                    <a:bodyPr/>
                    <a:lstStyle/>
                    <a:p>
                      <a:r>
                        <a:rPr sz="850" b="0">
                          <a:solidFill>
                            <a:srgbClr val="4B4B4B"/>
                          </a:solidFill>
                          <a:latin typeface="Arial"/>
                        </a:rPr>
                        <a:t>Approve, Return</a:t>
                      </a:r>
                    </a:p>
                  </a:txBody>
                  <a:tcPr marL="54864" marR="54864" marT="27432" marB="27432">
                    <a:solidFill>
                      <a:srgbClr val="FFFFFF"/>
                    </a:solidFill>
                  </a:tcPr>
                </a:tc>
                <a:tc>
                  <a:txBody>
                    <a:bodyPr/>
                    <a:lstStyle/>
                    <a:p>
                      <a:r>
                        <a:rPr sz="850" b="0">
                          <a:solidFill>
                            <a:srgbClr val="4B4B4B"/>
                          </a:solidFill>
                          <a:latin typeface="Arial"/>
                        </a:rPr>
                        <a:t>Commission team lead</a:t>
                      </a:r>
                    </a:p>
                  </a:txBody>
                  <a:tcPr marL="54864" marR="54864" marT="27432" marB="27432">
                    <a:solidFill>
                      <a:srgbClr val="FFFFFF"/>
                    </a:solidFill>
                  </a:tcPr>
                </a:tc>
                <a:tc>
                  <a:txBody>
                    <a:bodyPr/>
                    <a:lstStyle/>
                    <a:p>
                      <a:r>
                        <a:rPr sz="850" b="0">
                          <a:solidFill>
                            <a:srgbClr val="4B4B4B"/>
                          </a:solidFill>
                          <a:latin typeface="Arial"/>
                        </a:rPr>
                        <a:t>For approval; never the requester</a:t>
                      </a:r>
                    </a:p>
                  </a:txBody>
                  <a:tcPr marL="54864" marR="54864" marT="27432" marB="27432">
                    <a:solidFill>
                      <a:srgbClr val="FFFFFF"/>
                    </a:solidFill>
                  </a:tcPr>
                </a:tc>
                <a:tc>
                  <a:txBody>
                    <a:bodyPr/>
                    <a:lstStyle/>
                    <a:p>
                      <a:r>
                        <a:rPr sz="850" b="0">
                          <a:solidFill>
                            <a:srgbClr val="4B4B4B"/>
                          </a:solidFill>
                          <a:latin typeface="Arial"/>
                        </a:rPr>
                        <a:t>Posts each invoice on its own, or returns the batch with the reason</a:t>
                      </a:r>
                    </a:p>
                  </a:txBody>
                  <a:tcPr marL="54864" marR="54864" marT="27432" marB="27432">
                    <a:solidFill>
                      <a:srgbClr val="FFFFFF"/>
                    </a:solidFill>
                  </a:tcPr>
                </a:tc>
                <a:tc>
                  <a:txBody>
                    <a:bodyPr/>
                    <a:lstStyle/>
                    <a:p>
                      <a:r>
                        <a:rPr sz="850" b="0">
                          <a:solidFill>
                            <a:srgbClr val="4B4B4B"/>
                          </a:solidFill>
                          <a:latin typeface="Arial"/>
                        </a:rPr>
                        <a:t>Posted, Draft</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r>
            </a:tbl>
          </a:graphicData>
        </a:graphic>
      </p:graphicFrame>
    </p:spTree>
  </p:cSld>
  <p:clrMapOvr>
    <a:masterClrMapping/>
  </p:clrMapOvr>
</p:sld>
</file>

<file path=ppt/slides/slide3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SCR-DM-20 rules the user meets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328</a:t>
            </a:r>
          </a:p>
        </p:txBody>
      </p:sp>
      <p:graphicFrame>
        <p:nvGraphicFramePr>
          <p:cNvPr id="9" name="Table 8"/>
          <p:cNvGraphicFramePr>
            <a:graphicFrameLocks noGrp="1"/>
          </p:cNvGraphicFramePr>
          <p:nvPr/>
        </p:nvGraphicFramePr>
        <p:xfrm>
          <a:off x="548640" y="1325880"/>
          <a:ext cx="11094415" cy="975360"/>
        </p:xfrm>
        <a:graphic>
          <a:graphicData uri="http://schemas.openxmlformats.org/drawingml/2006/table">
            <a:tbl>
              <a:tblPr firstRow="1" bandRow="1">
                <a:tableStyleId>{5C22544A-7EE6-4342-B048-85BDC9FD1C3A}</a:tableStyleId>
              </a:tblPr>
              <a:tblGrid>
                <a:gridCol w="11094415"/>
              </a:tblGrid>
              <a:tr h="243840">
                <a:tc>
                  <a:txBody>
                    <a:bodyPr/>
                    <a:lstStyle/>
                    <a:p>
                      <a:r>
                        <a:rPr sz="1000" b="1">
                          <a:solidFill>
                            <a:srgbClr val="FFFFFF"/>
                          </a:solidFill>
                          <a:latin typeface="Arial"/>
                        </a:rPr>
                        <a:t>Rule</a:t>
                      </a:r>
                    </a:p>
                  </a:txBody>
                  <a:tcPr marL="54864" marR="54864" marT="27432" marB="27432">
                    <a:solidFill>
                      <a:srgbClr val="004EA8"/>
                    </a:solidFill>
                  </a:tcPr>
                </a:tc>
              </a:tr>
              <a:tr h="243840">
                <a:tc>
                  <a:txBody>
                    <a:bodyPr/>
                    <a:lstStyle/>
                    <a:p>
                      <a:r>
                        <a:rPr sz="1000" b="0">
                          <a:solidFill>
                            <a:srgbClr val="4B4B4B"/>
                          </a:solidFill>
                          <a:latin typeface="Arial"/>
                        </a:rPr>
                        <a:t>The line amount is the whole open premium receivable of the invoice (FR-DM-070).</a:t>
                      </a:r>
                    </a:p>
                  </a:txBody>
                  <a:tcPr marL="54864" marR="54864" marT="27432" marB="27432">
                    <a:solidFill>
                      <a:srgbClr val="FFFFFF"/>
                    </a:solidFill>
                  </a:tcPr>
                </a:tc>
              </a:tr>
              <a:tr h="243840">
                <a:tc>
                  <a:txBody>
                    <a:bodyPr/>
                    <a:lstStyle/>
                    <a:p>
                      <a:r>
                        <a:rPr sz="1000" b="0">
                          <a:solidFill>
                            <a:srgbClr val="4B4B4B"/>
                          </a:solidFill>
                          <a:latin typeface="Arial"/>
                        </a:rPr>
                        <a:t>An invoice whose balance changed since it was added is refused at posting; the other lines still post (FR-DM-070).</a:t>
                      </a:r>
                    </a:p>
                  </a:txBody>
                  <a:tcPr marL="54864" marR="54864" marT="27432" marB="27432">
                    <a:solidFill>
                      <a:srgbClr val="E5F5FF"/>
                    </a:solidFill>
                  </a:tcPr>
                </a:tc>
              </a:tr>
              <a:tr h="243840">
                <a:tc>
                  <a:txBody>
                    <a:bodyPr/>
                    <a:lstStyle/>
                    <a:p>
                      <a:r>
                        <a:rPr sz="1000" b="0">
                          <a:solidFill>
                            <a:srgbClr val="4B4B4B"/>
                          </a:solidFill>
                          <a:latin typeface="Arial"/>
                        </a:rPr>
                        <a:t>The Commission team lead approves; the requester never approves (FR-DM-070).</a:t>
                      </a:r>
                    </a:p>
                  </a:txBody>
                  <a:tcPr marL="54864" marR="54864" marT="27432" marB="27432">
                    <a:solidFill>
                      <a:srgbClr val="FFFFFF"/>
                    </a:solidFill>
                  </a:tcPr>
                </a:tc>
              </a:tr>
            </a:tbl>
          </a:graphicData>
        </a:graphic>
      </p:graphicFrame>
    </p:spTree>
  </p:cSld>
  <p:clrMapOvr>
    <a:masterClrMapping/>
  </p:clrMapOvr>
</p:sld>
</file>

<file path=ppt/slides/slide3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SCR-DM-20 DP PR Legacy Reversal: Default (1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329</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0.png"/>
          <p:cNvPicPr>
            <a:picLocks noChangeAspect="1"/>
          </p:cNvPicPr>
          <p:nvPr/>
        </p:nvPicPr>
        <p:blipFill>
          <a:blip r:embed="rId3"/>
          <a:stretch>
            <a:fillRect/>
          </a:stretch>
        </p:blipFill>
        <p:spPr>
          <a:xfrm>
            <a:off x="548640" y="1261872"/>
            <a:ext cx="11094415" cy="4676869"/>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the tagged legacy invoices to add (part 1 of 3)</a:t>
            </a:r>
          </a:p>
        </p:txBody>
      </p:sp>
    </p:spTree>
  </p:cSld>
  <p:clrMapOvr>
    <a:masterClrMapping/>
  </p:clrMapOvr>
</p:sld>
</file>

<file path=ppt/slides/slide3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SCR-DM-20 DP PR Legacy Reversal: Default (2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330</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1.png"/>
          <p:cNvPicPr>
            <a:picLocks noChangeAspect="1"/>
          </p:cNvPicPr>
          <p:nvPr/>
        </p:nvPicPr>
        <p:blipFill>
          <a:blip r:embed="rId3"/>
          <a:stretch>
            <a:fillRect/>
          </a:stretch>
        </p:blipFill>
        <p:spPr>
          <a:xfrm>
            <a:off x="548640" y="1261872"/>
            <a:ext cx="11094415" cy="4083892"/>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the tagged legacy invoices to add (part 2 of 3)</a:t>
            </a:r>
          </a:p>
        </p:txBody>
      </p:sp>
    </p:spTree>
  </p:cSld>
  <p:clrMapOvr>
    <a:masterClrMapping/>
  </p:clrMapOvr>
</p:sld>
</file>

<file path=ppt/slides/slide3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SCR-DM-20 DP PR Legacy Reversal: Default (3 of 3)</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331</a:t>
            </a:r>
          </a:p>
        </p:txBody>
      </p:sp>
      <p:sp>
        <p:nvSpPr>
          <p:cNvPr id="9" name="Rounded Rectangle 8"/>
          <p:cNvSpPr/>
          <p:nvPr/>
        </p:nvSpPr>
        <p:spPr>
          <a:xfrm>
            <a:off x="10454335" y="896112"/>
            <a:ext cx="1188720" cy="274320"/>
          </a:xfrm>
          <a:prstGeom prst="roundRect">
            <a:avLst/>
          </a:prstGeom>
          <a:solidFill>
            <a:srgbClr val="E5F5FF"/>
          </a:solidFill>
          <a:ln w="12700">
            <a:solidFill>
              <a:srgbClr val="004EA8"/>
            </a:solidFill>
          </a:ln>
          <a:effectLst/>
        </p:spPr>
        <p:style>
          <a:lnRef idx="1">
            <a:schemeClr val="accent1"/>
          </a:lnRef>
          <a:fillRef idx="3">
            <a:schemeClr val="accent1"/>
          </a:fillRef>
          <a:effectRef idx="2">
            <a:schemeClr val="accent1"/>
          </a:effectRef>
          <a:fontRef idx="minor">
            <a:schemeClr val="lt1"/>
          </a:fontRef>
        </p:style>
        <p:txBody>
          <a:bodyPr rtlCol="0" anchor="ctr" lIns="45720" rIns="45720" tIns="0" bIns="0"/>
          <a:lstStyle/>
          <a:p>
            <a:pPr algn="ctr"/>
            <a:r>
              <a:rPr sz="1000" b="1">
                <a:solidFill>
                  <a:srgbClr val="004EA8"/>
                </a:solidFill>
                <a:latin typeface="Arial"/>
              </a:rPr>
              <a:t>Default</a:t>
            </a:r>
          </a:p>
        </p:txBody>
      </p:sp>
      <p:pic>
        <p:nvPicPr>
          <p:cNvPr id="10" name="Picture 9" descr="slice-00172.png"/>
          <p:cNvPicPr>
            <a:picLocks noChangeAspect="1"/>
          </p:cNvPicPr>
          <p:nvPr/>
        </p:nvPicPr>
        <p:blipFill>
          <a:blip r:embed="rId3"/>
          <a:stretch>
            <a:fillRect/>
          </a:stretch>
        </p:blipFill>
        <p:spPr>
          <a:xfrm>
            <a:off x="548640" y="1261872"/>
            <a:ext cx="11094415" cy="1836316"/>
          </a:xfrm>
          <a:prstGeom prst="rect">
            <a:avLst/>
          </a:prstGeom>
          <a:ln w="9525">
            <a:solidFill>
              <a:srgbClr val="C2C2C1"/>
            </a:solidFill>
          </a:ln>
        </p:spPr>
      </p:pic>
      <p:sp>
        <p:nvSpPr>
          <p:cNvPr id="11" name="TextBox 10"/>
          <p:cNvSpPr txBox="1"/>
          <p:nvPr/>
        </p:nvSpPr>
        <p:spPr>
          <a:xfrm>
            <a:off x="548640" y="5998464"/>
            <a:ext cx="11094415" cy="292608"/>
          </a:xfrm>
          <a:prstGeom prst="rect">
            <a:avLst/>
          </a:prstGeom>
          <a:noFill/>
        </p:spPr>
        <p:txBody>
          <a:bodyPr wrap="square" anchor="t" lIns="45720" rIns="45720">
            <a:spAutoFit/>
          </a:bodyPr>
          <a:lstStyle/>
          <a:p>
            <a:pPr algn="ctr"/>
            <a:r>
              <a:rPr sz="1100" b="0" i="1">
                <a:solidFill>
                  <a:srgbClr val="656565"/>
                </a:solidFill>
                <a:latin typeface="Arial"/>
              </a:rPr>
              <a:t>A draft batch with the tagged legacy invoices to add (part 3 of 3)</a:t>
            </a:r>
          </a:p>
        </p:txBody>
      </p:sp>
    </p:spTree>
  </p:cSld>
  <p:clrMapOvr>
    <a:masterClrMapping/>
  </p:clrMapOvr>
</p:sld>
</file>

<file path=ppt/slides/slide3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Outputs</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Documents, e-mails and notifications, and the exports as the user receives them</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3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Notifications and e-mails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333</a:t>
            </a:r>
          </a:p>
        </p:txBody>
      </p:sp>
      <p:graphicFrame>
        <p:nvGraphicFramePr>
          <p:cNvPr id="9" name="Table 8"/>
          <p:cNvGraphicFramePr>
            <a:graphicFrameLocks noGrp="1"/>
          </p:cNvGraphicFramePr>
          <p:nvPr/>
        </p:nvGraphicFramePr>
        <p:xfrm>
          <a:off x="548640" y="1325880"/>
          <a:ext cx="11094413" cy="3985237"/>
        </p:xfrm>
        <a:graphic>
          <a:graphicData uri="http://schemas.openxmlformats.org/drawingml/2006/table">
            <a:tbl>
              <a:tblPr firstRow="1" bandRow="1">
                <a:tableStyleId>{5C22544A-7EE6-4342-B048-85BDC9FD1C3A}</a:tableStyleId>
              </a:tblPr>
              <a:tblGrid>
                <a:gridCol w="682733"/>
                <a:gridCol w="1109441"/>
                <a:gridCol w="2730932"/>
                <a:gridCol w="2218883"/>
                <a:gridCol w="4352424"/>
              </a:tblGrid>
              <a:tr h="220979">
                <a:tc>
                  <a:txBody>
                    <a:bodyPr/>
                    <a:lstStyle/>
                    <a:p>
                      <a:r>
                        <a:rPr sz="850" b="1">
                          <a:solidFill>
                            <a:srgbClr val="FFFFFF"/>
                          </a:solidFill>
                          <a:latin typeface="Arial"/>
                        </a:rPr>
                        <a:t>ID</a:t>
                      </a:r>
                    </a:p>
                  </a:txBody>
                  <a:tcPr marL="54864" marR="54864" marT="27432" marB="27432">
                    <a:solidFill>
                      <a:srgbClr val="004EA8"/>
                    </a:solidFill>
                  </a:tcPr>
                </a:tc>
                <a:tc>
                  <a:txBody>
                    <a:bodyPr/>
                    <a:lstStyle/>
                    <a:p>
                      <a:r>
                        <a:rPr sz="850" b="1">
                          <a:solidFill>
                            <a:srgbClr val="FFFFFF"/>
                          </a:solidFill>
                          <a:latin typeface="Arial"/>
                        </a:rPr>
                        <a:t>Channel</a:t>
                      </a:r>
                    </a:p>
                  </a:txBody>
                  <a:tcPr marL="54864" marR="54864" marT="27432" marB="27432">
                    <a:solidFill>
                      <a:srgbClr val="004EA8"/>
                    </a:solidFill>
                  </a:tcPr>
                </a:tc>
                <a:tc>
                  <a:txBody>
                    <a:bodyPr/>
                    <a:lstStyle/>
                    <a:p>
                      <a:r>
                        <a:rPr sz="850" b="1">
                          <a:solidFill>
                            <a:srgbClr val="FFFFFF"/>
                          </a:solidFill>
                          <a:latin typeface="Arial"/>
                        </a:rPr>
                        <a:t>Trigger</a:t>
                      </a:r>
                    </a:p>
                  </a:txBody>
                  <a:tcPr marL="54864" marR="54864" marT="27432" marB="27432">
                    <a:solidFill>
                      <a:srgbClr val="004EA8"/>
                    </a:solidFill>
                  </a:tcPr>
                </a:tc>
                <a:tc>
                  <a:txBody>
                    <a:bodyPr/>
                    <a:lstStyle/>
                    <a:p>
                      <a:r>
                        <a:rPr sz="850" b="1">
                          <a:solidFill>
                            <a:srgbClr val="FFFFFF"/>
                          </a:solidFill>
                          <a:latin typeface="Arial"/>
                        </a:rPr>
                        <a:t>Recipient</a:t>
                      </a:r>
                    </a:p>
                  </a:txBody>
                  <a:tcPr marL="54864" marR="54864" marT="27432" marB="27432">
                    <a:solidFill>
                      <a:srgbClr val="004EA8"/>
                    </a:solidFill>
                  </a:tcPr>
                </a:tc>
                <a:tc>
                  <a:txBody>
                    <a:bodyPr/>
                    <a:lstStyle/>
                    <a:p>
                      <a:r>
                        <a:rPr sz="850" b="1">
                          <a:solidFill>
                            <a:srgbClr val="FFFFFF"/>
                          </a:solidFill>
                          <a:latin typeface="Arial"/>
                        </a:rPr>
                        <a:t>Content</a:t>
                      </a:r>
                    </a:p>
                  </a:txBody>
                  <a:tcPr marL="54864" marR="54864" marT="27432" marB="27432">
                    <a:solidFill>
                      <a:srgbClr val="004EA8"/>
                    </a:solidFill>
                  </a:tcPr>
                </a:tc>
              </a:tr>
              <a:tr h="480057">
                <a:tc>
                  <a:txBody>
                    <a:bodyPr/>
                    <a:lstStyle/>
                    <a:p>
                      <a:r>
                        <a:rPr sz="850" b="0">
                          <a:solidFill>
                            <a:srgbClr val="4B4B4B"/>
                          </a:solidFill>
                          <a:latin typeface="Arial"/>
                        </a:rPr>
                        <a:t>NT-01</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An extract does not agree with its control file (checksum, header, row count, amount totals or hash total) and is rejected</a:t>
                      </a:r>
                    </a:p>
                  </a:txBody>
                  <a:tcPr marL="54864" marR="54864" marT="27432" marB="27432">
                    <a:solidFill>
                      <a:srgbClr val="FFFFFF"/>
                    </a:solidFill>
                  </a:tcPr>
                </a:tc>
                <a:tc>
                  <a:txBody>
                    <a:bodyPr/>
                    <a:lstStyle/>
                    <a:p>
                      <a:r>
                        <a:rPr sz="850" b="0">
                          <a:solidFill>
                            <a:srgbClr val="4B4B4B"/>
                          </a:solidFill>
                          <a:latin typeface="Arial"/>
                        </a:rPr>
                        <a:t>Data Migration Lead and the Migration Operators</a:t>
                      </a:r>
                    </a:p>
                  </a:txBody>
                  <a:tcPr marL="54864" marR="54864" marT="27432" marB="27432">
                    <a:solidFill>
                      <a:srgbClr val="FFFFFF"/>
                    </a:solidFill>
                  </a:tcPr>
                </a:tc>
                <a:tc>
                  <a:txBody>
                    <a:bodyPr/>
                    <a:lstStyle/>
                    <a:p>
                      <a:r>
                        <a:rPr sz="850" b="0">
                          <a:solidFill>
                            <a:srgbClr val="4B4B4B"/>
                          </a:solidFill>
                          <a:latin typeface="Arial"/>
                        </a:rPr>
                        <a:t>Migration extract rejected (severity Medium). Text: Extract &lt;file name&gt; rejected: &lt;reason&gt;</a:t>
                      </a:r>
                    </a:p>
                  </a:txBody>
                  <a:tcPr marL="54864" marR="54864" marT="27432" marB="27432">
                    <a:solidFill>
                      <a:srgbClr val="FFFFFF"/>
                    </a:solidFill>
                  </a:tcPr>
                </a:tc>
              </a:tr>
              <a:tr h="350518">
                <a:tc>
                  <a:txBody>
                    <a:bodyPr/>
                    <a:lstStyle/>
                    <a:p>
                      <a:r>
                        <a:rPr sz="850" b="0">
                          <a:solidFill>
                            <a:srgbClr val="4B4B4B"/>
                          </a:solidFill>
                          <a:latin typeface="Arial"/>
                        </a:rPr>
                        <a:t>NT-02</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batch stops, or loads with rejected rows</a:t>
                      </a:r>
                    </a:p>
                  </a:txBody>
                  <a:tcPr marL="54864" marR="54864" marT="27432" marB="27432">
                    <a:solidFill>
                      <a:srgbClr val="E5F5FF"/>
                    </a:solidFill>
                  </a:tcPr>
                </a:tc>
                <a:tc>
                  <a:txBody>
                    <a:bodyPr/>
                    <a:lstStyle/>
                    <a:p>
                      <a:r>
                        <a:rPr sz="850" b="0">
                          <a:solidFill>
                            <a:srgbClr val="4B4B4B"/>
                          </a:solidFill>
                          <a:latin typeface="Arial"/>
                        </a:rPr>
                        <a:t>Data Migration Lead and the Migration Operators</a:t>
                      </a:r>
                    </a:p>
                  </a:txBody>
                  <a:tcPr marL="54864" marR="54864" marT="27432" marB="27432">
                    <a:solidFill>
                      <a:srgbClr val="E5F5FF"/>
                    </a:solidFill>
                  </a:tcPr>
                </a:tc>
                <a:tc>
                  <a:txBody>
                    <a:bodyPr/>
                    <a:lstStyle/>
                    <a:p>
                      <a:r>
                        <a:rPr sz="850" b="0">
                          <a:solidFill>
                            <a:srgbClr val="4B4B4B"/>
                          </a:solidFill>
                          <a:latin typeface="Arial"/>
                        </a:rPr>
                        <a:t>Migration load failed (severity High). Text: Batch &lt;batch no&gt; stopped. / Batch &lt;batch no&gt; loaded with rejects. &lt;counts&gt;</a:t>
                      </a:r>
                    </a:p>
                  </a:txBody>
                  <a:tcPr marL="54864" marR="54864" marT="27432" marB="27432">
                    <a:solidFill>
                      <a:srgbClr val="E5F5FF"/>
                    </a:solidFill>
                  </a:tcPr>
                </a:tc>
              </a:tr>
              <a:tr h="350518">
                <a:tc>
                  <a:txBody>
                    <a:bodyPr/>
                    <a:lstStyle/>
                    <a:p>
                      <a:r>
                        <a:rPr sz="850" b="0">
                          <a:solidFill>
                            <a:srgbClr val="4B4B4B"/>
                          </a:solidFill>
                          <a:latin typeface="Arial"/>
                        </a:rPr>
                        <a:t>NT-03</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Validation finds legacy codes without an approved code map entry</a:t>
                      </a:r>
                    </a:p>
                  </a:txBody>
                  <a:tcPr marL="54864" marR="54864" marT="27432" marB="27432">
                    <a:solidFill>
                      <a:srgbClr val="FFFFFF"/>
                    </a:solidFill>
                  </a:tcPr>
                </a:tc>
                <a:tc>
                  <a:txBody>
                    <a:bodyPr/>
                    <a:lstStyle/>
                    <a:p>
                      <a:r>
                        <a:rPr sz="850" b="0">
                          <a:solidFill>
                            <a:srgbClr val="4B4B4B"/>
                          </a:solidFill>
                          <a:latin typeface="Arial"/>
                        </a:rPr>
                        <a:t>Data Steward and the Data Migration Lead</a:t>
                      </a:r>
                    </a:p>
                  </a:txBody>
                  <a:tcPr marL="54864" marR="54864" marT="27432" marB="27432">
                    <a:solidFill>
                      <a:srgbClr val="FFFFFF"/>
                    </a:solidFill>
                  </a:tcPr>
                </a:tc>
                <a:tc>
                  <a:txBody>
                    <a:bodyPr/>
                    <a:lstStyle/>
                    <a:p>
                      <a:r>
                        <a:rPr sz="850" b="0">
                          <a:solidFill>
                            <a:srgbClr val="4B4B4B"/>
                          </a:solidFill>
                          <a:latin typeface="Arial"/>
                        </a:rPr>
                        <a:t>Unmapped legacy codes (severity Medium). Text: Batch &lt;batch no&gt; has &lt;n&gt; unmapped legacy codes</a:t>
                      </a:r>
                    </a:p>
                  </a:txBody>
                  <a:tcPr marL="54864" marR="54864" marT="27432" marB="27432">
                    <a:solidFill>
                      <a:srgbClr val="FFFFFF"/>
                    </a:solidFill>
                  </a:tcPr>
                </a:tc>
              </a:tr>
              <a:tr h="350518">
                <a:tc>
                  <a:txBody>
                    <a:bodyPr/>
                    <a:lstStyle/>
                    <a:p>
                      <a:r>
                        <a:rPr sz="850" b="0">
                          <a:solidFill>
                            <a:srgbClr val="4B4B4B"/>
                          </a:solidFill>
                          <a:latin typeface="Arial"/>
                        </a:rPr>
                        <a:t>NT-04</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reconciliation run has lines that do not match</a:t>
                      </a:r>
                    </a:p>
                  </a:txBody>
                  <a:tcPr marL="54864" marR="54864" marT="27432" marB="27432">
                    <a:solidFill>
                      <a:srgbClr val="E5F5FF"/>
                    </a:solidFill>
                  </a:tcPr>
                </a:tc>
                <a:tc>
                  <a:txBody>
                    <a:bodyPr/>
                    <a:lstStyle/>
                    <a:p>
                      <a:r>
                        <a:rPr sz="850" b="0">
                          <a:solidFill>
                            <a:srgbClr val="4B4B4B"/>
                          </a:solidFill>
                          <a:latin typeface="Arial"/>
                        </a:rPr>
                        <a:t>Reconciliation approver and the Data Migration Lead</a:t>
                      </a:r>
                    </a:p>
                  </a:txBody>
                  <a:tcPr marL="54864" marR="54864" marT="27432" marB="27432">
                    <a:solidFill>
                      <a:srgbClr val="E5F5FF"/>
                    </a:solidFill>
                  </a:tcPr>
                </a:tc>
                <a:tc>
                  <a:txBody>
                    <a:bodyPr/>
                    <a:lstStyle/>
                    <a:p>
                      <a:r>
                        <a:rPr sz="850" b="0">
                          <a:solidFill>
                            <a:srgbClr val="4B4B4B"/>
                          </a:solidFill>
                          <a:latin typeface="Arial"/>
                        </a:rPr>
                        <a:t>Migration reconciliation break (severity High). Text: Reconciliation &lt;run no&gt; of batch &lt;batch no&gt; has &lt;n&gt; open breaks</a:t>
                      </a:r>
                    </a:p>
                  </a:txBody>
                  <a:tcPr marL="54864" marR="54864" marT="27432" marB="27432">
                    <a:solidFill>
                      <a:srgbClr val="E5F5FF"/>
                    </a:solidFill>
                  </a:tcPr>
                </a:tc>
              </a:tr>
              <a:tr h="350518">
                <a:tc>
                  <a:txBody>
                    <a:bodyPr/>
                    <a:lstStyle/>
                    <a:p>
                      <a:r>
                        <a:rPr sz="850" b="0">
                          <a:solidFill>
                            <a:srgbClr val="4B4B4B"/>
                          </a:solidFill>
                          <a:latin typeface="Arial"/>
                        </a:rPr>
                        <a:t>NT-05</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Migration Clearing is not 0.00 for a branch and currency after an opening load</a:t>
                      </a:r>
                    </a:p>
                  </a:txBody>
                  <a:tcPr marL="54864" marR="54864" marT="27432" marB="27432">
                    <a:solidFill>
                      <a:srgbClr val="FFFFFF"/>
                    </a:solidFill>
                  </a:tcPr>
                </a:tc>
                <a:tc>
                  <a:txBody>
                    <a:bodyPr/>
                    <a:lstStyle/>
                    <a:p>
                      <a:r>
                        <a:rPr sz="850" b="0">
                          <a:solidFill>
                            <a:srgbClr val="4B4B4B"/>
                          </a:solidFill>
                          <a:latin typeface="Arial"/>
                        </a:rPr>
                        <a:t>Head of Comptrollership (reconciliation approver) and the Data Migration Lead</a:t>
                      </a:r>
                    </a:p>
                  </a:txBody>
                  <a:tcPr marL="54864" marR="54864" marT="27432" marB="27432">
                    <a:solidFill>
                      <a:srgbClr val="FFFFFF"/>
                    </a:solidFill>
                  </a:tcPr>
                </a:tc>
                <a:tc>
                  <a:txBody>
                    <a:bodyPr/>
                    <a:lstStyle/>
                    <a:p>
                      <a:r>
                        <a:rPr sz="850" b="0">
                          <a:solidFill>
                            <a:srgbClr val="4B4B4B"/>
                          </a:solidFill>
                          <a:latin typeface="Arial"/>
                        </a:rPr>
                        <a:t>Migration clearing not zero (severity Critical). Text: Migration Clearing of &lt;branch&gt; &lt;currency&gt; is &lt;amount&gt;</a:t>
                      </a:r>
                    </a:p>
                  </a:txBody>
                  <a:tcPr marL="54864" marR="54864" marT="27432" marB="27432">
                    <a:solidFill>
                      <a:srgbClr val="FFFFFF"/>
                    </a:solidFill>
                  </a:tcPr>
                </a:tc>
              </a:tr>
              <a:tr h="350518">
                <a:tc>
                  <a:txBody>
                    <a:bodyPr/>
                    <a:lstStyle/>
                    <a:p>
                      <a:r>
                        <a:rPr sz="850" b="0">
                          <a:solidFill>
                            <a:srgbClr val="4B4B4B"/>
                          </a:solidFill>
                          <a:latin typeface="Arial"/>
                        </a:rPr>
                        <a:t>NT-06</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An accepted or rolled-back batch still holds staging data after its purge date (daily check)</a:t>
                      </a:r>
                    </a:p>
                  </a:txBody>
                  <a:tcPr marL="54864" marR="54864" marT="27432" marB="27432">
                    <a:solidFill>
                      <a:srgbClr val="E5F5FF"/>
                    </a:solidFill>
                  </a:tcPr>
                </a:tc>
                <a:tc>
                  <a:txBody>
                    <a:bodyPr/>
                    <a:lstStyle/>
                    <a:p>
                      <a:r>
                        <a:rPr sz="850" b="0">
                          <a:solidFill>
                            <a:srgbClr val="4B4B4B"/>
                          </a:solidFill>
                          <a:latin typeface="Arial"/>
                        </a:rPr>
                        <a:t>Data Migration Lead and Compliance</a:t>
                      </a:r>
                    </a:p>
                  </a:txBody>
                  <a:tcPr marL="54864" marR="54864" marT="27432" marB="27432">
                    <a:solidFill>
                      <a:srgbClr val="E5F5FF"/>
                    </a:solidFill>
                  </a:tcPr>
                </a:tc>
                <a:tc>
                  <a:txBody>
                    <a:bodyPr/>
                    <a:lstStyle/>
                    <a:p>
                      <a:r>
                        <a:rPr sz="850" b="0">
                          <a:solidFill>
                            <a:srgbClr val="4B4B4B"/>
                          </a:solidFill>
                          <a:latin typeface="Arial"/>
                        </a:rPr>
                        <a:t>Migration staging not purged (severity High). Text: Staging data of batch &lt;batch no&gt; is kept past its purge date &lt;date&gt;</a:t>
                      </a:r>
                    </a:p>
                  </a:txBody>
                  <a:tcPr marL="54864" marR="54864" marT="27432" marB="27432">
                    <a:solidFill>
                      <a:srgbClr val="E5F5FF"/>
                    </a:solidFill>
                  </a:tcPr>
                </a:tc>
              </a:tr>
              <a:tr h="350518">
                <a:tc>
                  <a:txBody>
                    <a:bodyPr/>
                    <a:lstStyle/>
                    <a:p>
                      <a:r>
                        <a:rPr sz="850" b="0">
                          <a:solidFill>
                            <a:srgbClr val="4B4B4B"/>
                          </a:solidFill>
                          <a:latin typeface="Arial"/>
                        </a:rPr>
                        <a:t>NT-07</a:t>
                      </a:r>
                    </a:p>
                  </a:txBody>
                  <a:tcPr marL="54864" marR="54864" marT="27432" marB="27432">
                    <a:solidFill>
                      <a:srgbClr val="FFFFFF"/>
                    </a:solidFill>
                  </a:tcPr>
                </a:tc>
                <a:tc>
                  <a:txBody>
                    <a:bodyPr/>
                    <a:lstStyle/>
                    <a:p>
                      <a:r>
                        <a:rPr sz="850" b="0">
                          <a:solidFill>
                            <a:srgbClr val="4B4B4B"/>
                          </a:solidFill>
                          <a:latin typeface="Arial"/>
                        </a:rPr>
                        <a:t>Alert</a:t>
                      </a:r>
                    </a:p>
                  </a:txBody>
                  <a:tcPr marL="54864" marR="54864" marT="27432" marB="27432">
                    <a:solidFill>
                      <a:srgbClr val="FFFFFF"/>
                    </a:solidFill>
                  </a:tcPr>
                </a:tc>
                <a:tc>
                  <a:txBody>
                    <a:bodyPr/>
                    <a:lstStyle/>
                    <a:p>
                      <a:r>
                        <a:rPr sz="850" b="0">
                          <a:solidFill>
                            <a:srgbClr val="4B4B4B"/>
                          </a:solidFill>
                          <a:latin typeface="Arial"/>
                        </a:rPr>
                        <a:t>A user exports more legacy archive records in a day than the alert limit (5,000)</a:t>
                      </a:r>
                    </a:p>
                  </a:txBody>
                  <a:tcPr marL="54864" marR="54864" marT="27432" marB="27432">
                    <a:solidFill>
                      <a:srgbClr val="FFFFFF"/>
                    </a:solidFill>
                  </a:tcPr>
                </a:tc>
                <a:tc>
                  <a:txBody>
                    <a:bodyPr/>
                    <a:lstStyle/>
                    <a:p>
                      <a:r>
                        <a:rPr sz="850" b="0">
                          <a:solidFill>
                            <a:srgbClr val="4B4B4B"/>
                          </a:solidFill>
                          <a:latin typeface="Arial"/>
                        </a:rPr>
                        <a:t>Compliance reviewers of the access log</a:t>
                      </a:r>
                    </a:p>
                  </a:txBody>
                  <a:tcPr marL="54864" marR="54864" marT="27432" marB="27432">
                    <a:solidFill>
                      <a:srgbClr val="FFFFFF"/>
                    </a:solidFill>
                  </a:tcPr>
                </a:tc>
                <a:tc>
                  <a:txBody>
                    <a:bodyPr/>
                    <a:lstStyle/>
                    <a:p>
                      <a:r>
                        <a:rPr sz="850" b="0">
                          <a:solidFill>
                            <a:srgbClr val="4B4B4B"/>
                          </a:solidFill>
                          <a:latin typeface="Arial"/>
                        </a:rPr>
                        <a:t>Unusual legacy archive access (severity High). Text: User &lt;user&gt; exported &lt;n&gt; legacy archive records today (limit &lt;limit&gt;)</a:t>
                      </a:r>
                    </a:p>
                  </a:txBody>
                  <a:tcPr marL="54864" marR="54864" marT="27432" marB="27432">
                    <a:solidFill>
                      <a:srgbClr val="FFFFFF"/>
                    </a:solidFill>
                  </a:tcPr>
                </a:tc>
              </a:tr>
              <a:tr h="350518">
                <a:tc>
                  <a:txBody>
                    <a:bodyPr/>
                    <a:lstStyle/>
                    <a:p>
                      <a:r>
                        <a:rPr sz="850" b="0">
                          <a:solidFill>
                            <a:srgbClr val="4B4B4B"/>
                          </a:solidFill>
                          <a:latin typeface="Arial"/>
                        </a:rPr>
                        <a:t>NT-08</a:t>
                      </a:r>
                    </a:p>
                  </a:txBody>
                  <a:tcPr marL="54864" marR="54864" marT="27432" marB="27432">
                    <a:solidFill>
                      <a:srgbClr val="E5F5FF"/>
                    </a:solidFill>
                  </a:tcPr>
                </a:tc>
                <a:tc>
                  <a:txBody>
                    <a:bodyPr/>
                    <a:lstStyle/>
                    <a:p>
                      <a:r>
                        <a:rPr sz="850" b="0">
                          <a:solidFill>
                            <a:srgbClr val="4B4B4B"/>
                          </a:solidFill>
                          <a:latin typeface="Arial"/>
                        </a:rPr>
                        <a:t>Alert</a:t>
                      </a:r>
                    </a:p>
                  </a:txBody>
                  <a:tcPr marL="54864" marR="54864" marT="27432" marB="27432">
                    <a:solidFill>
                      <a:srgbClr val="E5F5FF"/>
                    </a:solidFill>
                  </a:tcPr>
                </a:tc>
                <a:tc>
                  <a:txBody>
                    <a:bodyPr/>
                    <a:lstStyle/>
                    <a:p>
                      <a:r>
                        <a:rPr sz="850" b="0">
                          <a:solidFill>
                            <a:srgbClr val="4B4B4B"/>
                          </a:solidFill>
                          <a:latin typeface="Arial"/>
                        </a:rPr>
                        <a:t>A check of the reconciliation of an opening-balance adjustment fails</a:t>
                      </a:r>
                    </a:p>
                  </a:txBody>
                  <a:tcPr marL="54864" marR="54864" marT="27432" marB="27432">
                    <a:solidFill>
                      <a:srgbClr val="E5F5FF"/>
                    </a:solidFill>
                  </a:tcPr>
                </a:tc>
                <a:tc>
                  <a:txBody>
                    <a:bodyPr/>
                    <a:lstStyle/>
                    <a:p>
                      <a:r>
                        <a:rPr sz="850" b="0">
                          <a:solidFill>
                            <a:srgbClr val="4B4B4B"/>
                          </a:solidFill>
                          <a:latin typeface="Arial"/>
                        </a:rPr>
                        <a:t>Head of Comptrollership and the Comptrollership GL lead</a:t>
                      </a:r>
                    </a:p>
                  </a:txBody>
                  <a:tcPr marL="54864" marR="54864" marT="27432" marB="27432">
                    <a:solidFill>
                      <a:srgbClr val="E5F5FF"/>
                    </a:solidFill>
                  </a:tcPr>
                </a:tc>
                <a:tc>
                  <a:txBody>
                    <a:bodyPr/>
                    <a:lstStyle/>
                    <a:p>
                      <a:r>
                        <a:rPr sz="850" b="0">
                          <a:solidFill>
                            <a:srgbClr val="4B4B4B"/>
                          </a:solidFill>
                          <a:latin typeface="Arial"/>
                        </a:rPr>
                        <a:t>Opening-balance adjustment break (severity Critical). Text: Opening-balance adjustment &lt;reference&gt; has &lt;n&gt; reconciliation break(s)</a:t>
                      </a:r>
                    </a:p>
                  </a:txBody>
                  <a:tcPr marL="54864" marR="54864" marT="27432" marB="27432">
                    <a:solidFill>
                      <a:srgbClr val="E5F5FF"/>
                    </a:solidFill>
                  </a:tcPr>
                </a:tc>
              </a:tr>
              <a:tr h="350518">
                <a:tc>
                  <a:txBody>
                    <a:bodyPr/>
                    <a:lstStyle/>
                    <a:p>
                      <a:r>
                        <a:rPr sz="850" b="0">
                          <a:solidFill>
                            <a:srgbClr val="4B4B4B"/>
                          </a:solidFill>
                          <a:latin typeface="Arial"/>
                        </a:rPr>
                        <a:t>NT-09</a:t>
                      </a:r>
                    </a:p>
                  </a:txBody>
                  <a:tcPr marL="54864" marR="54864" marT="27432" marB="27432">
                    <a:solidFill>
                      <a:srgbClr val="FFFFFF"/>
                    </a:solidFill>
                  </a:tcPr>
                </a:tc>
                <a:tc>
                  <a:txBody>
                    <a:bodyPr/>
                    <a:lstStyle/>
                    <a:p>
                      <a:r>
                        <a:rPr sz="850" b="0">
                          <a:solidFill>
                            <a:srgbClr val="4B4B4B"/>
                          </a:solidFill>
                          <a:latin typeface="Arial"/>
                        </a:rPr>
                        <a:t>E-mail</a:t>
                      </a:r>
                    </a:p>
                  </a:txBody>
                  <a:tcPr marL="54864" marR="54864" marT="27432" marB="27432">
                    <a:solidFill>
                      <a:srgbClr val="FFFFFF"/>
                    </a:solidFill>
                  </a:tcPr>
                </a:tc>
                <a:tc>
                  <a:txBody>
                    <a:bodyPr/>
                    <a:lstStyle/>
                    <a:p>
                      <a:r>
                        <a:rPr sz="850" b="0">
                          <a:solidFill>
                            <a:srgbClr val="4B4B4B"/>
                          </a:solidFill>
                          <a:latin typeface="Arial"/>
                        </a:rPr>
                        <a:t>First day of each month</a:t>
                      </a:r>
                    </a:p>
                  </a:txBody>
                  <a:tcPr marL="54864" marR="54864" marT="27432" marB="27432">
                    <a:solidFill>
                      <a:srgbClr val="FFFFFF"/>
                    </a:solidFill>
                  </a:tcPr>
                </a:tc>
                <a:tc>
                  <a:txBody>
                    <a:bodyPr/>
                    <a:lstStyle/>
                    <a:p>
                      <a:r>
                        <a:rPr sz="850" b="0">
                          <a:solidFill>
                            <a:srgbClr val="4B4B4B"/>
                          </a:solidFill>
                          <a:latin typeface="Arial"/>
                        </a:rPr>
                        <a:t>Compliance reviewers of the access log</a:t>
                      </a:r>
                    </a:p>
                  </a:txBody>
                  <a:tcPr marL="54864" marR="54864" marT="27432" marB="27432">
                    <a:solidFill>
                      <a:srgbClr val="FFFFFF"/>
                    </a:solidFill>
                  </a:tcPr>
                </a:tc>
                <a:tc>
                  <a:txBody>
                    <a:bodyPr/>
                    <a:lstStyle/>
                    <a:p>
                      <a:r>
                        <a:rPr sz="850" b="0">
                          <a:solidFill>
                            <a:srgbClr val="4B4B4B"/>
                          </a:solidFill>
                          <a:latin typeface="Arial"/>
                        </a:rPr>
                        <a:t>Monthly digest of the legacy archive access log: searches, views, downloads and exports of the previous month per user, with the reasons given</a:t>
                      </a:r>
                    </a:p>
                  </a:txBody>
                  <a:tcPr marL="54864" marR="54864" marT="27432" marB="27432">
                    <a:solidFill>
                      <a:srgbClr val="FFFFFF"/>
                    </a:solidFill>
                  </a:tcPr>
                </a:tc>
              </a:tr>
              <a:tr h="480057">
                <a:tc>
                  <a:txBody>
                    <a:bodyPr/>
                    <a:lstStyle/>
                    <a:p>
                      <a:r>
                        <a:rPr sz="850" b="0">
                          <a:solidFill>
                            <a:srgbClr val="4B4B4B"/>
                          </a:solidFill>
                          <a:latin typeface="Arial"/>
                        </a:rPr>
                        <a:t>NT-10</a:t>
                      </a:r>
                    </a:p>
                  </a:txBody>
                  <a:tcPr marL="54864" marR="54864" marT="27432" marB="27432">
                    <a:solidFill>
                      <a:srgbClr val="E5F5FF"/>
                    </a:solidFill>
                  </a:tcPr>
                </a:tc>
                <a:tc>
                  <a:txBody>
                    <a:bodyPr/>
                    <a:lstStyle/>
                    <a:p>
                      <a:r>
                        <a:rPr sz="850" b="0">
                          <a:solidFill>
                            <a:srgbClr val="4B4B4B"/>
                          </a:solidFill>
                          <a:latin typeface="Arial"/>
                        </a:rPr>
                        <a:t>None</a:t>
                      </a:r>
                    </a:p>
                  </a:txBody>
                  <a:tcPr marL="54864" marR="54864" marT="27432" marB="27432">
                    <a:solidFill>
                      <a:srgbClr val="E5F5FF"/>
                    </a:solidFill>
                  </a:tcPr>
                </a:tc>
                <a:tc>
                  <a:txBody>
                    <a:bodyPr/>
                    <a:lstStyle/>
                    <a:p>
                      <a:r>
                        <a:rPr sz="850" b="0">
                          <a:solidFill>
                            <a:srgbClr val="4B4B4B"/>
                          </a:solidFill>
                          <a:latin typeface="Arial"/>
                        </a:rPr>
                        <a:t>Any record created by a migration load (client, account, invoice, unapplied payment, insurer, product, payee)</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No notification to clients, insurers or users and no outbound integration message is sent for a migrated record</a:t>
                      </a:r>
                    </a:p>
                  </a:txBody>
                  <a:tcPr marL="54864" marR="54864" marT="27432" marB="27432">
                    <a:solidFill>
                      <a:srgbClr val="E5F5FF"/>
                    </a:solidFill>
                  </a:tcPr>
                </a:tc>
              </a:tr>
            </a:tbl>
          </a:graphicData>
        </a:graphic>
      </p:graphicFrame>
    </p:spTree>
  </p:cSld>
  <p:clrMapOvr>
    <a:masterClrMapping/>
  </p:clrMapOvr>
</p:sld>
</file>

<file path=ppt/slides/slide3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Exports and downloads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334</a:t>
            </a:r>
          </a:p>
        </p:txBody>
      </p:sp>
      <p:graphicFrame>
        <p:nvGraphicFramePr>
          <p:cNvPr id="9" name="Table 8"/>
          <p:cNvGraphicFramePr>
            <a:graphicFrameLocks noGrp="1"/>
          </p:cNvGraphicFramePr>
          <p:nvPr/>
        </p:nvGraphicFramePr>
        <p:xfrm>
          <a:off x="548640" y="1325880"/>
          <a:ext cx="11094413" cy="3383280"/>
        </p:xfrm>
        <a:graphic>
          <a:graphicData uri="http://schemas.openxmlformats.org/drawingml/2006/table">
            <a:tbl>
              <a:tblPr firstRow="1" bandRow="1">
                <a:tableStyleId>{5C22544A-7EE6-4342-B048-85BDC9FD1C3A}</a:tableStyleId>
              </a:tblPr>
              <a:tblGrid>
                <a:gridCol w="1194783"/>
                <a:gridCol w="2048199"/>
                <a:gridCol w="2560249"/>
                <a:gridCol w="5291182"/>
              </a:tblGrid>
              <a:tr h="228600">
                <a:tc>
                  <a:txBody>
                    <a:bodyPr/>
                    <a:lstStyle/>
                    <a:p>
                      <a:r>
                        <a:rPr sz="900" b="1">
                          <a:solidFill>
                            <a:srgbClr val="FFFFFF"/>
                          </a:solidFill>
                          <a:latin typeface="Arial"/>
                        </a:rPr>
                        <a:t>Screen</a:t>
                      </a:r>
                    </a:p>
                  </a:txBody>
                  <a:tcPr marL="54864" marR="54864" marT="27432" marB="27432">
                    <a:solidFill>
                      <a:srgbClr val="004EA8"/>
                    </a:solidFill>
                  </a:tcPr>
                </a:tc>
                <a:tc>
                  <a:txBody>
                    <a:bodyPr/>
                    <a:lstStyle/>
                    <a:p>
                      <a:r>
                        <a:rPr sz="900" b="1">
                          <a:solidFill>
                            <a:srgbClr val="FFFFFF"/>
                          </a:solidFill>
                          <a:latin typeface="Arial"/>
                        </a:rPr>
                        <a:t>Button</a:t>
                      </a:r>
                    </a:p>
                  </a:txBody>
                  <a:tcPr marL="54864" marR="54864" marT="27432" marB="27432">
                    <a:solidFill>
                      <a:srgbClr val="004EA8"/>
                    </a:solidFill>
                  </a:tcPr>
                </a:tc>
                <a:tc>
                  <a:txBody>
                    <a:bodyPr/>
                    <a:lstStyle/>
                    <a:p>
                      <a:r>
                        <a:rPr sz="900" b="1">
                          <a:solidFill>
                            <a:srgbClr val="FFFFFF"/>
                          </a:solidFill>
                          <a:latin typeface="Arial"/>
                        </a:rPr>
                        <a:t>Who</a:t>
                      </a:r>
                    </a:p>
                  </a:txBody>
                  <a:tcPr marL="54864" marR="54864" marT="27432" marB="27432">
                    <a:solidFill>
                      <a:srgbClr val="004EA8"/>
                    </a:solidFill>
                  </a:tcPr>
                </a:tc>
                <a:tc>
                  <a:txBody>
                    <a:bodyPr/>
                    <a:lstStyle/>
                    <a:p>
                      <a:r>
                        <a:rPr sz="900" b="1">
                          <a:solidFill>
                            <a:srgbClr val="FFFFFF"/>
                          </a:solidFill>
                          <a:latin typeface="Arial"/>
                        </a:rPr>
                        <a:t>What the user receives</a:t>
                      </a:r>
                    </a:p>
                  </a:txBody>
                  <a:tcPr marL="54864" marR="54864" marT="27432" marB="27432">
                    <a:solidFill>
                      <a:srgbClr val="004EA8"/>
                    </a:solidFill>
                  </a:tcPr>
                </a:tc>
              </a:tr>
              <a:tr h="365760">
                <a:tc>
                  <a:txBody>
                    <a:bodyPr/>
                    <a:lstStyle/>
                    <a:p>
                      <a:r>
                        <a:rPr sz="900" b="0">
                          <a:solidFill>
                            <a:srgbClr val="4B4B4B"/>
                          </a:solidFill>
                          <a:latin typeface="Arial"/>
                        </a:rPr>
                        <a:t>SCR-DM-02</a:t>
                      </a:r>
                    </a:p>
                  </a:txBody>
                  <a:tcPr marL="54864" marR="54864" marT="27432" marB="27432">
                    <a:solidFill>
                      <a:srgbClr val="FFFFFF"/>
                    </a:solidFill>
                  </a:tcPr>
                </a:tc>
                <a:tc>
                  <a:txBody>
                    <a:bodyPr/>
                    <a:lstStyle/>
                    <a:p>
                      <a:r>
                        <a:rPr sz="900" b="0">
                          <a:solidFill>
                            <a:srgbClr val="4B4B4B"/>
                          </a:solidFill>
                          <a:latin typeface="Arial"/>
                        </a:rPr>
                        <a:t>All Load Templates</a:t>
                      </a:r>
                    </a:p>
                  </a:txBody>
                  <a:tcPr marL="54864" marR="54864" marT="27432" marB="27432">
                    <a:solidFill>
                      <a:srgbClr val="FFFFFF"/>
                    </a:solidFill>
                  </a:tcPr>
                </a:tc>
                <a:tc>
                  <a:txBody>
                    <a:bodyPr/>
                    <a:lstStyle/>
                    <a:p>
                      <a:r>
                        <a:rPr sz="900" b="0">
                          <a:solidFill>
                            <a:srgbClr val="4B4B4B"/>
                          </a:solidFill>
                          <a:latin typeface="Arial"/>
                        </a:rPr>
                        <a:t>Every migration role</a:t>
                      </a:r>
                    </a:p>
                  </a:txBody>
                  <a:tcPr marL="54864" marR="54864" marT="27432" marB="27432">
                    <a:solidFill>
                      <a:srgbClr val="FFFFFF"/>
                    </a:solidFill>
                  </a:tcPr>
                </a:tc>
                <a:tc>
                  <a:txBody>
                    <a:bodyPr/>
                    <a:lstStyle/>
                    <a:p>
                      <a:r>
                        <a:rPr sz="900" b="0">
                          <a:solidFill>
                            <a:srgbClr val="4B4B4B"/>
                          </a:solidFill>
                          <a:latin typeface="Arial"/>
                        </a:rPr>
                        <a:t>Downloads the workbook of every load template with the columns, the control file and the How to fill rules</a:t>
                      </a:r>
                    </a:p>
                  </a:txBody>
                  <a:tcPr marL="54864" marR="54864" marT="27432" marB="27432">
                    <a:solidFill>
                      <a:srgbClr val="FFFFFF"/>
                    </a:solidFill>
                  </a:tcPr>
                </a:tc>
              </a:tr>
              <a:tr h="228600">
                <a:tc>
                  <a:txBody>
                    <a:bodyPr/>
                    <a:lstStyle/>
                    <a:p>
                      <a:r>
                        <a:rPr sz="900" b="0">
                          <a:solidFill>
                            <a:srgbClr val="4B4B4B"/>
                          </a:solidFill>
                          <a:latin typeface="Arial"/>
                        </a:rPr>
                        <a:t>SCR-DM-02</a:t>
                      </a:r>
                    </a:p>
                  </a:txBody>
                  <a:tcPr marL="54864" marR="54864" marT="27432" marB="27432">
                    <a:solidFill>
                      <a:srgbClr val="E5F5FF"/>
                    </a:solidFill>
                  </a:tcPr>
                </a:tc>
                <a:tc>
                  <a:txBody>
                    <a:bodyPr/>
                    <a:lstStyle/>
                    <a:p>
                      <a:r>
                        <a:rPr sz="900" b="0">
                          <a:solidFill>
                            <a:srgbClr val="4B4B4B"/>
                          </a:solidFill>
                          <a:latin typeface="Arial"/>
                        </a:rPr>
                        <a:t>Download on a row</a:t>
                      </a:r>
                    </a:p>
                  </a:txBody>
                  <a:tcPr marL="54864" marR="54864" marT="27432" marB="27432">
                    <a:solidFill>
                      <a:srgbClr val="E5F5FF"/>
                    </a:solidFill>
                  </a:tcPr>
                </a:tc>
                <a:tc>
                  <a:txBody>
                    <a:bodyPr/>
                    <a:lstStyle/>
                    <a:p>
                      <a:r>
                        <a:rPr sz="900" b="0">
                          <a:solidFill>
                            <a:srgbClr val="4B4B4B"/>
                          </a:solidFill>
                          <a:latin typeface="Arial"/>
                        </a:rPr>
                        <a:t>Every migration role</a:t>
                      </a:r>
                    </a:p>
                  </a:txBody>
                  <a:tcPr marL="54864" marR="54864" marT="27432" marB="27432">
                    <a:solidFill>
                      <a:srgbClr val="E5F5FF"/>
                    </a:solidFill>
                  </a:tcPr>
                </a:tc>
                <a:tc>
                  <a:txBody>
                    <a:bodyPr/>
                    <a:lstStyle/>
                    <a:p>
                      <a:r>
                        <a:rPr sz="900" b="0">
                          <a:solidFill>
                            <a:srgbClr val="4B4B4B"/>
                          </a:solidFill>
                          <a:latin typeface="Arial"/>
                        </a:rPr>
                        <a:t>Downloads the load template workbook of the object</a:t>
                      </a:r>
                    </a:p>
                  </a:txBody>
                  <a:tcPr marL="54864" marR="54864" marT="27432" marB="27432">
                    <a:solidFill>
                      <a:srgbClr val="E5F5FF"/>
                    </a:solidFill>
                  </a:tcPr>
                </a:tc>
              </a:tr>
              <a:tr h="228600">
                <a:tc>
                  <a:txBody>
                    <a:bodyPr/>
                    <a:lstStyle/>
                    <a:p>
                      <a:r>
                        <a:rPr sz="900" b="0">
                          <a:solidFill>
                            <a:srgbClr val="4B4B4B"/>
                          </a:solidFill>
                          <a:latin typeface="Arial"/>
                        </a:rPr>
                        <a:t>SCR-DM-03</a:t>
                      </a:r>
                    </a:p>
                  </a:txBody>
                  <a:tcPr marL="54864" marR="54864" marT="27432" marB="27432">
                    <a:solidFill>
                      <a:srgbClr val="FFFFFF"/>
                    </a:solidFill>
                  </a:tcPr>
                </a:tc>
                <a:tc>
                  <a:txBody>
                    <a:bodyPr/>
                    <a:lstStyle/>
                    <a:p>
                      <a:r>
                        <a:rPr sz="900" b="0">
                          <a:solidFill>
                            <a:srgbClr val="4B4B4B"/>
                          </a:solidFill>
                          <a:latin typeface="Arial"/>
                        </a:rPr>
                        <a:t>Export</a:t>
                      </a:r>
                    </a:p>
                  </a:txBody>
                  <a:tcPr marL="54864" marR="54864" marT="27432" marB="27432">
                    <a:solidFill>
                      <a:srgbClr val="FFFFFF"/>
                    </a:solidFill>
                  </a:tcPr>
                </a:tc>
                <a:tc>
                  <a:txBody>
                    <a:bodyPr/>
                    <a:lstStyle/>
                    <a:p>
                      <a:r>
                        <a:rPr sz="900" b="0">
                          <a:solidFill>
                            <a:srgbClr val="4B4B4B"/>
                          </a:solidFill>
                          <a:latin typeface="Arial"/>
                        </a:rPr>
                        <a:t>Every migration role</a:t>
                      </a:r>
                    </a:p>
                  </a:txBody>
                  <a:tcPr marL="54864" marR="54864" marT="27432" marB="27432">
                    <a:solidFill>
                      <a:srgbClr val="FFFFFF"/>
                    </a:solidFill>
                  </a:tcPr>
                </a:tc>
                <a:tc>
                  <a:txBody>
                    <a:bodyPr/>
                    <a:lstStyle/>
                    <a:p>
                      <a:r>
                        <a:rPr sz="900" b="0">
                          <a:solidFill>
                            <a:srgbClr val="4B4B4B"/>
                          </a:solidFill>
                          <a:latin typeface="Arial"/>
                        </a:rPr>
                        <a:t>Downloads the entries of the version in Excel</a:t>
                      </a:r>
                    </a:p>
                  </a:txBody>
                  <a:tcPr marL="54864" marR="54864" marT="27432" marB="27432">
                    <a:solidFill>
                      <a:srgbClr val="FFFFFF"/>
                    </a:solidFill>
                  </a:tcPr>
                </a:tc>
              </a:tr>
              <a:tr h="228600">
                <a:tc>
                  <a:txBody>
                    <a:bodyPr/>
                    <a:lstStyle/>
                    <a:p>
                      <a:r>
                        <a:rPr sz="900" b="0">
                          <a:solidFill>
                            <a:srgbClr val="4B4B4B"/>
                          </a:solidFill>
                          <a:latin typeface="Arial"/>
                        </a:rPr>
                        <a:t>SCR-DM-04</a:t>
                      </a:r>
                    </a:p>
                  </a:txBody>
                  <a:tcPr marL="54864" marR="54864" marT="27432" marB="27432">
                    <a:solidFill>
                      <a:srgbClr val="E5F5FF"/>
                    </a:solidFill>
                  </a:tcPr>
                </a:tc>
                <a:tc>
                  <a:txBody>
                    <a:bodyPr/>
                    <a:lstStyle/>
                    <a:p>
                      <a:r>
                        <a:rPr sz="900" b="0">
                          <a:solidFill>
                            <a:srgbClr val="4B4B4B"/>
                          </a:solidFill>
                          <a:latin typeface="Arial"/>
                        </a:rPr>
                        <a:t>Control File Template</a:t>
                      </a:r>
                    </a:p>
                  </a:txBody>
                  <a:tcPr marL="54864" marR="54864" marT="27432" marB="27432">
                    <a:solidFill>
                      <a:srgbClr val="E5F5FF"/>
                    </a:solidFill>
                  </a:tcPr>
                </a:tc>
                <a:tc>
                  <a:txBody>
                    <a:bodyPr/>
                    <a:lstStyle/>
                    <a:p>
                      <a:r>
                        <a:rPr sz="900" b="0">
                          <a:solidFill>
                            <a:srgbClr val="4B4B4B"/>
                          </a:solidFill>
                          <a:latin typeface="Arial"/>
                        </a:rPr>
                        <a:t>Every migration role</a:t>
                      </a:r>
                    </a:p>
                  </a:txBody>
                  <a:tcPr marL="54864" marR="54864" marT="27432" marB="27432">
                    <a:solidFill>
                      <a:srgbClr val="E5F5FF"/>
                    </a:solidFill>
                  </a:tcPr>
                </a:tc>
                <a:tc>
                  <a:txBody>
                    <a:bodyPr/>
                    <a:lstStyle/>
                    <a:p>
                      <a:r>
                        <a:rPr sz="900" b="0">
                          <a:solidFill>
                            <a:srgbClr val="4B4B4B"/>
                          </a:solidFill>
                          <a:latin typeface="Arial"/>
                        </a:rPr>
                        <a:t>Downloads the header of the control file (CONTROL_template.ctl.csv)</a:t>
                      </a:r>
                    </a:p>
                  </a:txBody>
                  <a:tcPr marL="54864" marR="54864" marT="27432" marB="27432">
                    <a:solidFill>
                      <a:srgbClr val="E5F5FF"/>
                    </a:solidFill>
                  </a:tcPr>
                </a:tc>
              </a:tr>
              <a:tr h="365760">
                <a:tc>
                  <a:txBody>
                    <a:bodyPr/>
                    <a:lstStyle/>
                    <a:p>
                      <a:r>
                        <a:rPr sz="900" b="0">
                          <a:solidFill>
                            <a:srgbClr val="4B4B4B"/>
                          </a:solidFill>
                          <a:latin typeface="Arial"/>
                        </a:rPr>
                        <a:t>SCR-DM-04</a:t>
                      </a:r>
                    </a:p>
                  </a:txBody>
                  <a:tcPr marL="54864" marR="54864" marT="27432" marB="27432">
                    <a:solidFill>
                      <a:srgbClr val="FFFFFF"/>
                    </a:solidFill>
                  </a:tcPr>
                </a:tc>
                <a:tc>
                  <a:txBody>
                    <a:bodyPr/>
                    <a:lstStyle/>
                    <a:p>
                      <a:r>
                        <a:rPr sz="900" b="0">
                          <a:solidFill>
                            <a:srgbClr val="4B4B4B"/>
                          </a:solidFill>
                          <a:latin typeface="Arial"/>
                        </a:rPr>
                        <a:t>Load Templates Workbook</a:t>
                      </a:r>
                    </a:p>
                  </a:txBody>
                  <a:tcPr marL="54864" marR="54864" marT="27432" marB="27432">
                    <a:solidFill>
                      <a:srgbClr val="FFFFFF"/>
                    </a:solidFill>
                  </a:tcPr>
                </a:tc>
                <a:tc>
                  <a:txBody>
                    <a:bodyPr/>
                    <a:lstStyle/>
                    <a:p>
                      <a:r>
                        <a:rPr sz="900" b="0">
                          <a:solidFill>
                            <a:srgbClr val="4B4B4B"/>
                          </a:solidFill>
                          <a:latin typeface="Arial"/>
                        </a:rPr>
                        <a:t>Every migration role</a:t>
                      </a:r>
                    </a:p>
                  </a:txBody>
                  <a:tcPr marL="54864" marR="54864" marT="27432" marB="27432">
                    <a:solidFill>
                      <a:srgbClr val="FFFFFF"/>
                    </a:solidFill>
                  </a:tcPr>
                </a:tc>
                <a:tc>
                  <a:txBody>
                    <a:bodyPr/>
                    <a:lstStyle/>
                    <a:p>
                      <a:r>
                        <a:rPr sz="900" b="0">
                          <a:solidFill>
                            <a:srgbClr val="4B4B4B"/>
                          </a:solidFill>
                          <a:latin typeface="Arial"/>
                        </a:rPr>
                        <a:t>Downloads one workbook with a Start here sheet (the rules of a delivery and the order) and one guided sheet per layout (a guide above every column)</a:t>
                      </a:r>
                    </a:p>
                  </a:txBody>
                  <a:tcPr marL="54864" marR="54864" marT="27432" marB="27432">
                    <a:solidFill>
                      <a:srgbClr val="FFFFFF"/>
                    </a:solidFill>
                  </a:tcPr>
                </a:tc>
              </a:tr>
              <a:tr h="228600">
                <a:tc>
                  <a:txBody>
                    <a:bodyPr/>
                    <a:lstStyle/>
                    <a:p>
                      <a:r>
                        <a:rPr sz="900" b="0">
                          <a:solidFill>
                            <a:srgbClr val="4B4B4B"/>
                          </a:solidFill>
                          <a:latin typeface="Arial"/>
                        </a:rPr>
                        <a:t>SCR-DM-04</a:t>
                      </a:r>
                    </a:p>
                  </a:txBody>
                  <a:tcPr marL="54864" marR="54864" marT="27432" marB="27432">
                    <a:solidFill>
                      <a:srgbClr val="E5F5FF"/>
                    </a:solidFill>
                  </a:tcPr>
                </a:tc>
                <a:tc>
                  <a:txBody>
                    <a:bodyPr/>
                    <a:lstStyle/>
                    <a:p>
                      <a:r>
                        <a:rPr sz="900" b="0">
                          <a:solidFill>
                            <a:srgbClr val="4B4B4B"/>
                          </a:solidFill>
                          <a:latin typeface="Arial"/>
                        </a:rPr>
                        <a:t>Download on a layout row</a:t>
                      </a:r>
                    </a:p>
                  </a:txBody>
                  <a:tcPr marL="54864" marR="54864" marT="27432" marB="27432">
                    <a:solidFill>
                      <a:srgbClr val="E5F5FF"/>
                    </a:solidFill>
                  </a:tcPr>
                </a:tc>
                <a:tc>
                  <a:txBody>
                    <a:bodyPr/>
                    <a:lstStyle/>
                    <a:p>
                      <a:r>
                        <a:rPr sz="900" b="0">
                          <a:solidFill>
                            <a:srgbClr val="4B4B4B"/>
                          </a:solidFill>
                          <a:latin typeface="Arial"/>
                        </a:rPr>
                        <a:t>Every migration role</a:t>
                      </a:r>
                    </a:p>
                  </a:txBody>
                  <a:tcPr marL="54864" marR="54864" marT="27432" marB="27432">
                    <a:solidFill>
                      <a:srgbClr val="E5F5FF"/>
                    </a:solidFill>
                  </a:tcPr>
                </a:tc>
                <a:tc>
                  <a:txBody>
                    <a:bodyPr/>
                    <a:lstStyle/>
                    <a:p>
                      <a:r>
                        <a:rPr sz="900" b="0">
                          <a:solidFill>
                            <a:srgbClr val="4B4B4B"/>
                          </a:solidFill>
                          <a:latin typeface="Arial"/>
                        </a:rPr>
                        <a:t>Downloads the CSV template of the layout (header row only)</a:t>
                      </a:r>
                    </a:p>
                  </a:txBody>
                  <a:tcPr marL="54864" marR="54864" marT="27432" marB="27432">
                    <a:solidFill>
                      <a:srgbClr val="E5F5FF"/>
                    </a:solidFill>
                  </a:tcPr>
                </a:tc>
              </a:tr>
              <a:tr h="228600">
                <a:tc>
                  <a:txBody>
                    <a:bodyPr/>
                    <a:lstStyle/>
                    <a:p>
                      <a:r>
                        <a:rPr sz="900" b="0">
                          <a:solidFill>
                            <a:srgbClr val="4B4B4B"/>
                          </a:solidFill>
                          <a:latin typeface="Arial"/>
                        </a:rPr>
                        <a:t>SCR-DM-04</a:t>
                      </a:r>
                    </a:p>
                  </a:txBody>
                  <a:tcPr marL="54864" marR="54864" marT="27432" marB="27432">
                    <a:solidFill>
                      <a:srgbClr val="FFFFFF"/>
                    </a:solidFill>
                  </a:tcPr>
                </a:tc>
                <a:tc>
                  <a:txBody>
                    <a:bodyPr/>
                    <a:lstStyle/>
                    <a:p>
                      <a:r>
                        <a:rPr sz="900" b="0">
                          <a:solidFill>
                            <a:srgbClr val="4B4B4B"/>
                          </a:solidFill>
                          <a:latin typeface="Arial"/>
                        </a:rPr>
                        <a:t>Object Workbook</a:t>
                      </a:r>
                    </a:p>
                  </a:txBody>
                  <a:tcPr marL="54864" marR="54864" marT="27432" marB="27432">
                    <a:solidFill>
                      <a:srgbClr val="FFFFFF"/>
                    </a:solidFill>
                  </a:tcPr>
                </a:tc>
                <a:tc>
                  <a:txBody>
                    <a:bodyPr/>
                    <a:lstStyle/>
                    <a:p>
                      <a:r>
                        <a:rPr sz="900" b="0">
                          <a:solidFill>
                            <a:srgbClr val="4B4B4B"/>
                          </a:solidFill>
                          <a:latin typeface="Arial"/>
                        </a:rPr>
                        <a:t>Every migration role</a:t>
                      </a:r>
                    </a:p>
                  </a:txBody>
                  <a:tcPr marL="54864" marR="54864" marT="27432" marB="27432">
                    <a:solidFill>
                      <a:srgbClr val="FFFFFF"/>
                    </a:solidFill>
                  </a:tcPr>
                </a:tc>
                <a:tc>
                  <a:txBody>
                    <a:bodyPr/>
                    <a:lstStyle/>
                    <a:p>
                      <a:r>
                        <a:rPr sz="900" b="0">
                          <a:solidFill>
                            <a:srgbClr val="4B4B4B"/>
                          </a:solidFill>
                          <a:latin typeface="Arial"/>
                        </a:rPr>
                        <a:t>Downloads the workbook of the object of the layout</a:t>
                      </a:r>
                    </a:p>
                  </a:txBody>
                  <a:tcPr marL="54864" marR="54864" marT="27432" marB="27432">
                    <a:solidFill>
                      <a:srgbClr val="FFFFFF"/>
                    </a:solidFill>
                  </a:tcPr>
                </a:tc>
              </a:tr>
              <a:tr h="228600">
                <a:tc>
                  <a:txBody>
                    <a:bodyPr/>
                    <a:lstStyle/>
                    <a:p>
                      <a:r>
                        <a:rPr sz="900" b="0">
                          <a:solidFill>
                            <a:srgbClr val="4B4B4B"/>
                          </a:solidFill>
                          <a:latin typeface="Arial"/>
                        </a:rPr>
                        <a:t>SCR-DM-05</a:t>
                      </a:r>
                    </a:p>
                  </a:txBody>
                  <a:tcPr marL="54864" marR="54864" marT="27432" marB="27432">
                    <a:solidFill>
                      <a:srgbClr val="E5F5FF"/>
                    </a:solidFill>
                  </a:tcPr>
                </a:tc>
                <a:tc>
                  <a:txBody>
                    <a:bodyPr/>
                    <a:lstStyle/>
                    <a:p>
                      <a:r>
                        <a:rPr sz="900" b="0">
                          <a:solidFill>
                            <a:srgbClr val="4B4B4B"/>
                          </a:solidFill>
                          <a:latin typeface="Arial"/>
                        </a:rPr>
                        <a:t>Download on a row</a:t>
                      </a:r>
                    </a:p>
                  </a:txBody>
                  <a:tcPr marL="54864" marR="54864" marT="27432" marB="27432">
                    <a:solidFill>
                      <a:srgbClr val="E5F5FF"/>
                    </a:solidFill>
                  </a:tcPr>
                </a:tc>
                <a:tc>
                  <a:txBody>
                    <a:bodyPr/>
                    <a:lstStyle/>
                    <a:p>
                      <a:r>
                        <a:rPr sz="900" b="0">
                          <a:solidFill>
                            <a:srgbClr val="4B4B4B"/>
                          </a:solidFill>
                          <a:latin typeface="Arial"/>
                        </a:rPr>
                        <a:t>Migration Operator</a:t>
                      </a:r>
                    </a:p>
                  </a:txBody>
                  <a:tcPr marL="54864" marR="54864" marT="27432" marB="27432">
                    <a:solidFill>
                      <a:srgbClr val="E5F5FF"/>
                    </a:solidFill>
                  </a:tcPr>
                </a:tc>
                <a:tc>
                  <a:txBody>
                    <a:bodyPr/>
                    <a:lstStyle/>
                    <a:p>
                      <a:r>
                        <a:rPr sz="900" b="0">
                          <a:solidFill>
                            <a:srgbClr val="4B4B4B"/>
                          </a:solidFill>
                          <a:latin typeface="Arial"/>
                        </a:rPr>
                        <a:t>Downloads the data file as received</a:t>
                      </a:r>
                    </a:p>
                  </a:txBody>
                  <a:tcPr marL="54864" marR="54864" marT="27432" marB="27432">
                    <a:solidFill>
                      <a:srgbClr val="E5F5FF"/>
                    </a:solidFill>
                  </a:tcPr>
                </a:tc>
              </a:tr>
              <a:tr h="228600">
                <a:tc>
                  <a:txBody>
                    <a:bodyPr/>
                    <a:lstStyle/>
                    <a:p>
                      <a:r>
                        <a:rPr sz="900" b="0">
                          <a:solidFill>
                            <a:srgbClr val="4B4B4B"/>
                          </a:solidFill>
                          <a:latin typeface="Arial"/>
                        </a:rPr>
                        <a:t>SCR-DM-07</a:t>
                      </a:r>
                    </a:p>
                  </a:txBody>
                  <a:tcPr marL="54864" marR="54864" marT="27432" marB="27432">
                    <a:solidFill>
                      <a:srgbClr val="FFFFFF"/>
                    </a:solidFill>
                  </a:tcPr>
                </a:tc>
                <a:tc>
                  <a:txBody>
                    <a:bodyPr/>
                    <a:lstStyle/>
                    <a:p>
                      <a:r>
                        <a:rPr sz="900" b="0">
                          <a:solidFill>
                            <a:srgbClr val="4B4B4B"/>
                          </a:solidFill>
                          <a:latin typeface="Arial"/>
                        </a:rPr>
                        <a:t>Rejects</a:t>
                      </a:r>
                    </a:p>
                  </a:txBody>
                  <a:tcPr marL="54864" marR="54864" marT="27432" marB="27432">
                    <a:solidFill>
                      <a:srgbClr val="FFFFFF"/>
                    </a:solidFill>
                  </a:tcPr>
                </a:tc>
                <a:tc>
                  <a:txBody>
                    <a:bodyPr/>
                    <a:lstStyle/>
                    <a:p>
                      <a:r>
                        <a:rPr sz="900" b="0">
                          <a:solidFill>
                            <a:srgbClr val="4B4B4B"/>
                          </a:solidFill>
                          <a:latin typeface="Arial"/>
                        </a:rPr>
                        <a:t>Every migration role</a:t>
                      </a:r>
                    </a:p>
                  </a:txBody>
                  <a:tcPr marL="54864" marR="54864" marT="27432" marB="27432">
                    <a:solidFill>
                      <a:srgbClr val="FFFFFF"/>
                    </a:solidFill>
                  </a:tcPr>
                </a:tc>
                <a:tc>
                  <a:txBody>
                    <a:bodyPr/>
                    <a:lstStyle/>
                    <a:p>
                      <a:r>
                        <a:rPr sz="900" b="0">
                          <a:solidFill>
                            <a:srgbClr val="4B4B4B"/>
                          </a:solidFill>
                          <a:latin typeface="Arial"/>
                        </a:rPr>
                        <a:t>Downloads the rejected rows with their messages and the correction columns</a:t>
                      </a:r>
                    </a:p>
                  </a:txBody>
                  <a:tcPr marL="54864" marR="54864" marT="27432" marB="27432">
                    <a:solidFill>
                      <a:srgbClr val="FFFFFF"/>
                    </a:solidFill>
                  </a:tcPr>
                </a:tc>
              </a:tr>
              <a:tr h="228600">
                <a:tc>
                  <a:txBody>
                    <a:bodyPr/>
                    <a:lstStyle/>
                    <a:p>
                      <a:r>
                        <a:rPr sz="900" b="0">
                          <a:solidFill>
                            <a:srgbClr val="4B4B4B"/>
                          </a:solidFill>
                          <a:latin typeface="Arial"/>
                        </a:rPr>
                        <a:t>SCR-DM-12</a:t>
                      </a:r>
                    </a:p>
                  </a:txBody>
                  <a:tcPr marL="54864" marR="54864" marT="27432" marB="27432">
                    <a:solidFill>
                      <a:srgbClr val="E5F5FF"/>
                    </a:solidFill>
                  </a:tcPr>
                </a:tc>
                <a:tc>
                  <a:txBody>
                    <a:bodyPr/>
                    <a:lstStyle/>
                    <a:p>
                      <a:r>
                        <a:rPr sz="900" b="0">
                          <a:solidFill>
                            <a:srgbClr val="4B4B4B"/>
                          </a:solidFill>
                          <a:latin typeface="Arial"/>
                        </a:rPr>
                        <a:t>Runbook</a:t>
                      </a:r>
                    </a:p>
                  </a:txBody>
                  <a:tcPr marL="54864" marR="54864" marT="27432" marB="27432">
                    <a:solidFill>
                      <a:srgbClr val="E5F5FF"/>
                    </a:solidFill>
                  </a:tcPr>
                </a:tc>
                <a:tc>
                  <a:txBody>
                    <a:bodyPr/>
                    <a:lstStyle/>
                    <a:p>
                      <a:r>
                        <a:rPr sz="900" b="0">
                          <a:solidFill>
                            <a:srgbClr val="4B4B4B"/>
                          </a:solidFill>
                          <a:latin typeface="Arial"/>
                        </a:rPr>
                        <a:t>Every migration role</a:t>
                      </a:r>
                    </a:p>
                  </a:txBody>
                  <a:tcPr marL="54864" marR="54864" marT="27432" marB="27432">
                    <a:solidFill>
                      <a:srgbClr val="E5F5FF"/>
                    </a:solidFill>
                  </a:tcPr>
                </a:tc>
                <a:tc>
                  <a:txBody>
                    <a:bodyPr/>
                    <a:lstStyle/>
                    <a:p>
                      <a:r>
                        <a:rPr sz="900" b="0">
                          <a:solidFill>
                            <a:srgbClr val="4B4B4B"/>
                          </a:solidFill>
                          <a:latin typeface="Arial"/>
                        </a:rPr>
                        <a:t>Downloads the runbook workbook of the plan</a:t>
                      </a:r>
                    </a:p>
                  </a:txBody>
                  <a:tcPr marL="54864" marR="54864" marT="27432" marB="27432">
                    <a:solidFill>
                      <a:srgbClr val="E5F5FF"/>
                    </a:solidFill>
                  </a:tcPr>
                </a:tc>
              </a:tr>
              <a:tr h="365760">
                <a:tc>
                  <a:txBody>
                    <a:bodyPr/>
                    <a:lstStyle/>
                    <a:p>
                      <a:r>
                        <a:rPr sz="900" b="0">
                          <a:solidFill>
                            <a:srgbClr val="4B4B4B"/>
                          </a:solidFill>
                          <a:latin typeface="Arial"/>
                        </a:rPr>
                        <a:t>SCR-DM-14</a:t>
                      </a:r>
                    </a:p>
                  </a:txBody>
                  <a:tcPr marL="54864" marR="54864" marT="27432" marB="27432">
                    <a:solidFill>
                      <a:srgbClr val="FFFFFF"/>
                    </a:solidFill>
                  </a:tcPr>
                </a:tc>
                <a:tc>
                  <a:txBody>
                    <a:bodyPr/>
                    <a:lstStyle/>
                    <a:p>
                      <a:r>
                        <a:rPr sz="900" b="0">
                          <a:solidFill>
                            <a:srgbClr val="4B4B4B"/>
                          </a:solidFill>
                          <a:latin typeface="Arial"/>
                        </a:rPr>
                        <a:t>Export</a:t>
                      </a:r>
                    </a:p>
                  </a:txBody>
                  <a:tcPr marL="54864" marR="54864" marT="27432" marB="27432">
                    <a:solidFill>
                      <a:srgbClr val="FFFFFF"/>
                    </a:solidFill>
                  </a:tcPr>
                </a:tc>
                <a:tc>
                  <a:txBody>
                    <a:bodyPr/>
                    <a:lstStyle/>
                    <a:p>
                      <a:r>
                        <a:rPr sz="900" b="0">
                          <a:solidFill>
                            <a:srgbClr val="4B4B4B"/>
                          </a:solidFill>
                          <a:latin typeface="Arial"/>
                        </a:rPr>
                        <a:t>Audit / Compliance user with the export right</a:t>
                      </a:r>
                    </a:p>
                  </a:txBody>
                  <a:tcPr marL="54864" marR="54864" marT="27432" marB="27432">
                    <a:solidFill>
                      <a:srgbClr val="FFFFFF"/>
                    </a:solidFill>
                  </a:tcPr>
                </a:tc>
                <a:tc>
                  <a:txBody>
                    <a:bodyPr/>
                    <a:lstStyle/>
                    <a:p>
                      <a:r>
                        <a:rPr sz="900" b="0">
                          <a:solidFill>
                            <a:srgbClr val="4B4B4B"/>
                          </a:solidFill>
                          <a:latin typeface="Arial"/>
                        </a:rPr>
                        <a:t>Exports the records to Excel, up to 1,000 at a time; the export is logged</a:t>
                      </a:r>
                    </a:p>
                  </a:txBody>
                  <a:tcPr marL="54864" marR="54864" marT="27432" marB="27432">
                    <a:solidFill>
                      <a:srgbClr val="FFFFFF"/>
                    </a:solidFill>
                  </a:tcPr>
                </a:tc>
              </a:tr>
              <a:tr h="228600">
                <a:tc>
                  <a:txBody>
                    <a:bodyPr/>
                    <a:lstStyle/>
                    <a:p>
                      <a:r>
                        <a:rPr sz="900" b="0">
                          <a:solidFill>
                            <a:srgbClr val="4B4B4B"/>
                          </a:solidFill>
                          <a:latin typeface="Arial"/>
                        </a:rPr>
                        <a:t>SCR-DM-14</a:t>
                      </a:r>
                    </a:p>
                  </a:txBody>
                  <a:tcPr marL="54864" marR="54864" marT="27432" marB="27432">
                    <a:solidFill>
                      <a:srgbClr val="E5F5FF"/>
                    </a:solidFill>
                  </a:tcPr>
                </a:tc>
                <a:tc>
                  <a:txBody>
                    <a:bodyPr/>
                    <a:lstStyle/>
                    <a:p>
                      <a:r>
                        <a:rPr sz="900" b="0">
                          <a:solidFill>
                            <a:srgbClr val="4B4B4B"/>
                          </a:solidFill>
                          <a:latin typeface="Arial"/>
                        </a:rPr>
                        <a:t>Download a document</a:t>
                      </a:r>
                    </a:p>
                  </a:txBody>
                  <a:tcPr marL="54864" marR="54864" marT="27432" marB="27432">
                    <a:solidFill>
                      <a:srgbClr val="E5F5FF"/>
                    </a:solidFill>
                  </a:tcPr>
                </a:tc>
                <a:tc>
                  <a:txBody>
                    <a:bodyPr/>
                    <a:lstStyle/>
                    <a:p>
                      <a:r>
                        <a:rPr sz="900" b="0">
                          <a:solidFill>
                            <a:srgbClr val="4B4B4B"/>
                          </a:solidFill>
                          <a:latin typeface="Arial"/>
                        </a:rPr>
                        <a:t>Audit / Compliance user</a:t>
                      </a:r>
                    </a:p>
                  </a:txBody>
                  <a:tcPr marL="54864" marR="54864" marT="27432" marB="27432">
                    <a:solidFill>
                      <a:srgbClr val="E5F5FF"/>
                    </a:solidFill>
                  </a:tcPr>
                </a:tc>
                <a:tc>
                  <a:txBody>
                    <a:bodyPr/>
                    <a:lstStyle/>
                    <a:p>
                      <a:r>
                        <a:rPr sz="900" b="0">
                          <a:solidFill>
                            <a:srgbClr val="4B4B4B"/>
                          </a:solidFill>
                          <a:latin typeface="Arial"/>
                        </a:rPr>
                        <a:t>Downloads the document; the download is logged</a:t>
                      </a:r>
                    </a:p>
                  </a:txBody>
                  <a:tcPr marL="54864" marR="54864" marT="27432" marB="27432">
                    <a:solidFill>
                      <a:srgbClr val="E5F5FF"/>
                    </a:solidFill>
                  </a:tcPr>
                </a:tc>
              </a:tr>
            </a:tbl>
          </a:graphicData>
        </a:graphic>
      </p:graphicFrame>
    </p:spTree>
  </p:cSld>
  <p:clrMapOvr>
    <a:masterClrMapping/>
  </p:clrMapOvr>
</p:sld>
</file>

<file path=ppt/slides/slide3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UX points for confirmation</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Presentation items to confirm, screen observations, accessibility and the desktop assumptions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3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Presentation items of the clarifications chapter</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336</a:t>
            </a:r>
          </a:p>
        </p:txBody>
      </p:sp>
      <p:graphicFrame>
        <p:nvGraphicFramePr>
          <p:cNvPr id="9" name="Table 8"/>
          <p:cNvGraphicFramePr>
            <a:graphicFrameLocks noGrp="1"/>
          </p:cNvGraphicFramePr>
          <p:nvPr/>
        </p:nvGraphicFramePr>
        <p:xfrm>
          <a:off x="548640" y="1325880"/>
          <a:ext cx="11094413" cy="2926080"/>
        </p:xfrm>
        <a:graphic>
          <a:graphicData uri="http://schemas.openxmlformats.org/drawingml/2006/table">
            <a:tbl>
              <a:tblPr firstRow="1" bandRow="1">
                <a:tableStyleId>{5C22544A-7EE6-4342-B048-85BDC9FD1C3A}</a:tableStyleId>
              </a:tblPr>
              <a:tblGrid>
                <a:gridCol w="1024099"/>
                <a:gridCol w="2048199"/>
                <a:gridCol w="5120499"/>
                <a:gridCol w="2901616"/>
              </a:tblGrid>
              <a:tr h="228600">
                <a:tc>
                  <a:txBody>
                    <a:bodyPr/>
                    <a:lstStyle/>
                    <a:p>
                      <a:r>
                        <a:rPr sz="900" b="1">
                          <a:solidFill>
                            <a:srgbClr val="FFFFFF"/>
                          </a:solidFill>
                          <a:latin typeface="Arial"/>
                        </a:rPr>
                        <a:t>Ref</a:t>
                      </a:r>
                    </a:p>
                  </a:txBody>
                  <a:tcPr marL="54864" marR="54864" marT="27432" marB="27432">
                    <a:solidFill>
                      <a:srgbClr val="004EA8"/>
                    </a:solidFill>
                  </a:tcPr>
                </a:tc>
                <a:tc>
                  <a:txBody>
                    <a:bodyPr/>
                    <a:lstStyle/>
                    <a:p>
                      <a:r>
                        <a:rPr sz="900" b="1">
                          <a:solidFill>
                            <a:srgbClr val="FFFFFF"/>
                          </a:solidFill>
                          <a:latin typeface="Arial"/>
                        </a:rPr>
                        <a:t>Topic</a:t>
                      </a:r>
                    </a:p>
                  </a:txBody>
                  <a:tcPr marL="54864" marR="54864" marT="27432" marB="27432">
                    <a:solidFill>
                      <a:srgbClr val="004EA8"/>
                    </a:solidFill>
                  </a:tcPr>
                </a:tc>
                <a:tc>
                  <a:txBody>
                    <a:bodyPr/>
                    <a:lstStyle/>
                    <a:p>
                      <a:r>
                        <a:rPr sz="900" b="1">
                          <a:solidFill>
                            <a:srgbClr val="FFFFFF"/>
                          </a:solidFill>
                          <a:latin typeface="Arial"/>
                        </a:rPr>
                        <a:t>Proposed</a:t>
                      </a:r>
                    </a:p>
                  </a:txBody>
                  <a:tcPr marL="54864" marR="54864" marT="27432" marB="27432">
                    <a:solidFill>
                      <a:srgbClr val="004EA8"/>
                    </a:solidFill>
                  </a:tcPr>
                </a:tc>
                <a:tc>
                  <a:txBody>
                    <a:bodyPr/>
                    <a:lstStyle/>
                    <a:p>
                      <a:r>
                        <a:rPr sz="900" b="1">
                          <a:solidFill>
                            <a:srgbClr val="FFFFFF"/>
                          </a:solidFill>
                          <a:latin typeface="Arial"/>
                        </a:rPr>
                        <a:t>To confirm</a:t>
                      </a:r>
                    </a:p>
                  </a:txBody>
                  <a:tcPr marL="54864" marR="54864" marT="27432" marB="27432">
                    <a:solidFill>
                      <a:srgbClr val="004EA8"/>
                    </a:solidFill>
                  </a:tcPr>
                </a:tc>
              </a:tr>
              <a:tr h="640080">
                <a:tc>
                  <a:txBody>
                    <a:bodyPr/>
                    <a:lstStyle/>
                    <a:p>
                      <a:r>
                        <a:rPr sz="900" b="0">
                          <a:solidFill>
                            <a:srgbClr val="4B4B4B"/>
                          </a:solidFill>
                          <a:latin typeface="Arial"/>
                        </a:rPr>
                        <a:t>PR-DM-04</a:t>
                      </a:r>
                    </a:p>
                  </a:txBody>
                  <a:tcPr marL="54864" marR="54864" marT="27432" marB="27432">
                    <a:solidFill>
                      <a:srgbClr val="FFFFFF"/>
                    </a:solidFill>
                  </a:tcPr>
                </a:tc>
                <a:tc>
                  <a:txBody>
                    <a:bodyPr/>
                    <a:lstStyle/>
                    <a:p>
                      <a:r>
                        <a:rPr sz="900" b="0">
                          <a:solidFill>
                            <a:srgbClr val="4B4B4B"/>
                          </a:solidFill>
                          <a:latin typeface="Arial"/>
                        </a:rPr>
                        <a:t>Legacy document folder and read-only links</a:t>
                      </a:r>
                    </a:p>
                  </a:txBody>
                  <a:tcPr marL="54864" marR="54864" marT="27432" marB="27432">
                    <a:solidFill>
                      <a:srgbClr val="FFFFFF"/>
                    </a:solidFill>
                  </a:tcPr>
                </a:tc>
                <a:tc>
                  <a:txBody>
                    <a:bodyPr/>
                    <a:lstStyle/>
                    <a:p>
                      <a:r>
                        <a:rPr sz="900" b="0">
                          <a:solidFill>
                            <a:srgbClr val="4B4B4B"/>
                          </a:solidFill>
                          <a:latin typeface="Arial"/>
                        </a:rPr>
                        <a:t>Legacy documents (policies, SOAs, ORs, certificates, letters, KYC files) are copied by BDOI IT into a transfer folder with an index file (layout H02) and a SHA-256 per file; BIBS archives them with their record. Each legacy application stays available read-only until it is decommissioned; its address is shown in Legacy Inquiry for the users who still need it</a:t>
                      </a:r>
                    </a:p>
                  </a:txBody>
                  <a:tcPr marL="54864" marR="54864" marT="27432" marB="27432">
                    <a:solidFill>
                      <a:srgbClr val="FFFFFF"/>
                    </a:solidFill>
                  </a:tcPr>
                </a:tc>
                <a:tc>
                  <a:txBody>
                    <a:bodyPr/>
                    <a:lstStyle/>
                    <a:p>
                      <a:r>
                        <a:rPr sz="900" b="0">
                          <a:solidFill>
                            <a:srgbClr val="4B4B4B"/>
                          </a:solidFill>
                          <a:latin typeface="Arial"/>
                        </a:rPr>
                        <a:t>BDOI IT names the transfer folder and the read-only address of EBIX and QPS; Audit / Compliance confirms per system whether history is archived in BIBS or read in legacy until decommissioning</a:t>
                      </a:r>
                    </a:p>
                  </a:txBody>
                  <a:tcPr marL="54864" marR="54864" marT="27432" marB="27432">
                    <a:solidFill>
                      <a:srgbClr val="FFFFFF"/>
                    </a:solidFill>
                  </a:tcPr>
                </a:tc>
              </a:tr>
              <a:tr h="777240">
                <a:tc>
                  <a:txBody>
                    <a:bodyPr/>
                    <a:lstStyle/>
                    <a:p>
                      <a:r>
                        <a:rPr sz="900" b="0">
                          <a:solidFill>
                            <a:srgbClr val="4B4B4B"/>
                          </a:solidFill>
                          <a:latin typeface="Arial"/>
                        </a:rPr>
                        <a:t>PR-DM-06</a:t>
                      </a:r>
                    </a:p>
                  </a:txBody>
                  <a:tcPr marL="54864" marR="54864" marT="27432" marB="27432">
                    <a:solidFill>
                      <a:srgbClr val="E5F5FF"/>
                    </a:solidFill>
                  </a:tcPr>
                </a:tc>
                <a:tc>
                  <a:txBody>
                    <a:bodyPr/>
                    <a:lstStyle/>
                    <a:p>
                      <a:r>
                        <a:rPr sz="900" b="0">
                          <a:solidFill>
                            <a:srgbClr val="4B4B4B"/>
                          </a:solidFill>
                          <a:latin typeface="Arial"/>
                        </a:rPr>
                        <a:t>Approval levels of the legacy batches</a:t>
                      </a:r>
                    </a:p>
                  </a:txBody>
                  <a:tcPr marL="54864" marR="54864" marT="27432" marB="27432">
                    <a:solidFill>
                      <a:srgbClr val="E5F5FF"/>
                    </a:solidFill>
                  </a:tcPr>
                </a:tc>
                <a:tc>
                  <a:txBody>
                    <a:bodyPr/>
                    <a:lstStyle/>
                    <a:p>
                      <a:r>
                        <a:rPr sz="900" b="0">
                          <a:solidFill>
                            <a:srgbClr val="4B4B4B"/>
                          </a:solidFill>
                          <a:latin typeface="Arial"/>
                        </a:rPr>
                        <a:t>Unapplied to Income: requested by a Cashiering user, approved by the Cashiering team lead and then by top management (two different people). Legacy PR 2307 Reversal: requested by a Cashiering user, approved by the Cashiering team lead. DP PR Legacy Reversal: requested by a Commission user, approved by the Commission team lead. In every batch the requester never approves</a:t>
                      </a:r>
                    </a:p>
                  </a:txBody>
                  <a:tcPr marL="54864" marR="54864" marT="27432" marB="27432">
                    <a:solidFill>
                      <a:srgbClr val="E5F5FF"/>
                    </a:solidFill>
                  </a:tcPr>
                </a:tc>
                <a:tc>
                  <a:txBody>
                    <a:bodyPr/>
                    <a:lstStyle/>
                    <a:p>
                      <a:r>
                        <a:rPr sz="900" b="0">
                          <a:solidFill>
                            <a:srgbClr val="4B4B4B"/>
                          </a:solidFill>
                          <a:latin typeface="Arial"/>
                        </a:rPr>
                        <a:t>Comptrollership confirms the approvers per batch, names top management, and gives the income account and the minimum age of an unapplied payment for the reclassification</a:t>
                      </a:r>
                    </a:p>
                  </a:txBody>
                  <a:tcPr marL="54864" marR="54864" marT="27432" marB="27432">
                    <a:solidFill>
                      <a:srgbClr val="E5F5FF"/>
                    </a:solidFill>
                  </a:tcPr>
                </a:tc>
              </a:tr>
              <a:tr h="777240">
                <a:tc>
                  <a:txBody>
                    <a:bodyPr/>
                    <a:lstStyle/>
                    <a:p>
                      <a:r>
                        <a:rPr sz="900" b="0">
                          <a:solidFill>
                            <a:srgbClr val="4B4B4B"/>
                          </a:solidFill>
                          <a:latin typeface="Arial"/>
                        </a:rPr>
                        <a:t>PR-DM-09</a:t>
                      </a:r>
                    </a:p>
                  </a:txBody>
                  <a:tcPr marL="54864" marR="54864" marT="27432" marB="27432">
                    <a:solidFill>
                      <a:srgbClr val="FFFFFF"/>
                    </a:solidFill>
                  </a:tcPr>
                </a:tc>
                <a:tc>
                  <a:txBody>
                    <a:bodyPr/>
                    <a:lstStyle/>
                    <a:p>
                      <a:r>
                        <a:rPr sz="900" b="0">
                          <a:solidFill>
                            <a:srgbClr val="4B4B4B"/>
                          </a:solidFill>
                          <a:latin typeface="Arial"/>
                        </a:rPr>
                        <a:t>Client matching keys and thresholds</a:t>
                      </a:r>
                    </a:p>
                  </a:txBody>
                  <a:tcPr marL="54864" marR="54864" marT="27432" marB="27432">
                    <a:solidFill>
                      <a:srgbClr val="FFFFFF"/>
                    </a:solidFill>
                  </a:tcPr>
                </a:tc>
                <a:tc>
                  <a:txBody>
                    <a:bodyPr/>
                    <a:lstStyle/>
                    <a:p>
                      <a:r>
                        <a:rPr sz="900" b="0">
                          <a:solidFill>
                            <a:srgbClr val="4B4B4B"/>
                          </a:solidFill>
                          <a:latin typeface="Arial"/>
                        </a:rPr>
                        <a:t>Keys: TIN; ID type and number; name and birth date; corporate name with registration number; bank CIF if confirmed; e-mail and mobile as soft keys. Pairs scoring 90 or more merge; 60 to 89 go to the Data Steward's review queue; the client load waits until the queue is empty. Per field the first non-blank value wins by source priority (QPS for contact data, EBIX for billing data)</a:t>
                      </a:r>
                    </a:p>
                  </a:txBody>
                  <a:tcPr marL="54864" marR="54864" marT="27432" marB="27432">
                    <a:solidFill>
                      <a:srgbClr val="FFFFFF"/>
                    </a:solidFill>
                  </a:tcPr>
                </a:tc>
                <a:tc>
                  <a:txBody>
                    <a:bodyPr/>
                    <a:lstStyle/>
                    <a:p>
                      <a:r>
                        <a:rPr sz="900" b="0">
                          <a:solidFill>
                            <a:srgbClr val="4B4B4B"/>
                          </a:solidFill>
                          <a:latin typeface="Arial"/>
                        </a:rPr>
                        <a:t>The Product Owner of MBS confirms the keys (is the bank CIF a key?), the thresholds and the source priority</a:t>
                      </a:r>
                    </a:p>
                  </a:txBody>
                  <a:tcPr marL="54864" marR="54864" marT="27432" marB="27432">
                    <a:solidFill>
                      <a:srgbClr val="FFFFFF"/>
                    </a:solidFill>
                  </a:tcPr>
                </a:tc>
              </a:tr>
              <a:tr h="502920">
                <a:tc>
                  <a:txBody>
                    <a:bodyPr/>
                    <a:lstStyle/>
                    <a:p>
                      <a:r>
                        <a:rPr sz="900" b="0">
                          <a:solidFill>
                            <a:srgbClr val="4B4B4B"/>
                          </a:solidFill>
                          <a:latin typeface="Arial"/>
                        </a:rPr>
                        <a:t>PR-DM-10</a:t>
                      </a:r>
                    </a:p>
                  </a:txBody>
                  <a:tcPr marL="54864" marR="54864" marT="27432" marB="27432">
                    <a:solidFill>
                      <a:srgbClr val="E5F5FF"/>
                    </a:solidFill>
                  </a:tcPr>
                </a:tc>
                <a:tc>
                  <a:txBody>
                    <a:bodyPr/>
                    <a:lstStyle/>
                    <a:p>
                      <a:r>
                        <a:rPr sz="900" b="0">
                          <a:solidFill>
                            <a:srgbClr val="4B4B4B"/>
                          </a:solidFill>
                          <a:latin typeface="Arial"/>
                        </a:rPr>
                        <a:t>Loading thresholds</a:t>
                      </a:r>
                    </a:p>
                  </a:txBody>
                  <a:tcPr marL="54864" marR="54864" marT="27432" marB="27432">
                    <a:solidFill>
                      <a:srgbClr val="E5F5FF"/>
                    </a:solidFill>
                  </a:tcPr>
                </a:tc>
                <a:tc>
                  <a:txBody>
                    <a:bodyPr/>
                    <a:lstStyle/>
                    <a:p>
                      <a:r>
                        <a:rPr sz="900" b="0">
                          <a:solidFill>
                            <a:srgbClr val="4B4B4B"/>
                          </a:solidFill>
                          <a:latin typeface="Arial"/>
                        </a:rPr>
                        <a:t>Master data may be loaded with at most 0.5 percent of rows rejected or waived; open invoices, unapplied payments and the trial balance only with no error, or with each excluded row approved by its owner with a manual-entry plan</a:t>
                      </a:r>
                    </a:p>
                  </a:txBody>
                  <a:tcPr marL="54864" marR="54864" marT="27432" marB="27432">
                    <a:solidFill>
                      <a:srgbClr val="E5F5FF"/>
                    </a:solidFill>
                  </a:tcPr>
                </a:tc>
                <a:tc>
                  <a:txBody>
                    <a:bodyPr/>
                    <a:lstStyle/>
                    <a:p>
                      <a:r>
                        <a:rPr sz="900" b="0">
                          <a:solidFill>
                            <a:srgbClr val="4B4B4B"/>
                          </a:solidFill>
                          <a:latin typeface="Arial"/>
                        </a:rPr>
                        <a:t>Comptrollership and the data owners confirm the two thresholds</a:t>
                      </a:r>
                    </a:p>
                  </a:txBody>
                  <a:tcPr marL="54864" marR="54864" marT="27432" marB="27432">
                    <a:solidFill>
                      <a:srgbClr val="E5F5FF"/>
                    </a:solidFill>
                  </a:tcPr>
                </a:tc>
              </a:tr>
            </a:tbl>
          </a:graphicData>
        </a:graphic>
      </p:graphicFrame>
    </p:spTree>
  </p:cSld>
  <p:clrMapOvr>
    <a:masterClrMapping/>
  </p:clrMapOvr>
</p:sld>
</file>

<file path=ppt/slides/slide3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Accessibility notes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337</a:t>
            </a:r>
          </a:p>
        </p:txBody>
      </p:sp>
      <p:graphicFrame>
        <p:nvGraphicFramePr>
          <p:cNvPr id="9" name="Table 8"/>
          <p:cNvGraphicFramePr>
            <a:graphicFrameLocks noGrp="1"/>
          </p:cNvGraphicFramePr>
          <p:nvPr/>
        </p:nvGraphicFramePr>
        <p:xfrm>
          <a:off x="548640" y="1325880"/>
          <a:ext cx="11094414" cy="2377440"/>
        </p:xfrm>
        <a:graphic>
          <a:graphicData uri="http://schemas.openxmlformats.org/drawingml/2006/table">
            <a:tbl>
              <a:tblPr firstRow="1" bandRow="1">
                <a:tableStyleId>{5C22544A-7EE6-4342-B048-85BDC9FD1C3A}</a:tableStyleId>
              </a:tblPr>
              <a:tblGrid>
                <a:gridCol w="1706833"/>
                <a:gridCol w="5120499"/>
                <a:gridCol w="4267082"/>
              </a:tblGrid>
              <a:tr h="243840">
                <a:tc>
                  <a:txBody>
                    <a:bodyPr/>
                    <a:lstStyle/>
                    <a:p>
                      <a:r>
                        <a:rPr sz="1000" b="1">
                          <a:solidFill>
                            <a:srgbClr val="FFFFFF"/>
                          </a:solidFill>
                          <a:latin typeface="Arial"/>
                        </a:rPr>
                        <a:t>Topic</a:t>
                      </a:r>
                    </a:p>
                  </a:txBody>
                  <a:tcPr marL="54864" marR="54864" marT="27432" marB="27432">
                    <a:solidFill>
                      <a:srgbClr val="004EA8"/>
                    </a:solidFill>
                  </a:tcPr>
                </a:tc>
                <a:tc>
                  <a:txBody>
                    <a:bodyPr/>
                    <a:lstStyle/>
                    <a:p>
                      <a:r>
                        <a:rPr sz="1000" b="1">
                          <a:solidFill>
                            <a:srgbClr val="FFFFFF"/>
                          </a:solidFill>
                          <a:latin typeface="Arial"/>
                        </a:rPr>
                        <a:t>What the screens do</a:t>
                      </a:r>
                    </a:p>
                  </a:txBody>
                  <a:tcPr marL="54864" marR="54864" marT="27432" marB="27432">
                    <a:solidFill>
                      <a:srgbClr val="004EA8"/>
                    </a:solidFill>
                  </a:tcPr>
                </a:tc>
                <a:tc>
                  <a:txBody>
                    <a:bodyPr/>
                    <a:lstStyle/>
                    <a:p>
                      <a:r>
                        <a:rPr sz="1000" b="1">
                          <a:solidFill>
                            <a:srgbClr val="FFFFFF"/>
                          </a:solidFill>
                          <a:latin typeface="Arial"/>
                        </a:rPr>
                        <a:t>For the UX Design team</a:t>
                      </a:r>
                    </a:p>
                  </a:txBody>
                  <a:tcPr marL="54864" marR="54864" marT="27432" marB="27432">
                    <a:solidFill>
                      <a:srgbClr val="004EA8"/>
                    </a:solidFill>
                  </a:tcPr>
                </a:tc>
              </a:tr>
              <a:tr h="396240">
                <a:tc>
                  <a:txBody>
                    <a:bodyPr/>
                    <a:lstStyle/>
                    <a:p>
                      <a:r>
                        <a:rPr sz="1000" b="0">
                          <a:solidFill>
                            <a:srgbClr val="4B4B4B"/>
                          </a:solidFill>
                          <a:latin typeface="Arial"/>
                        </a:rPr>
                        <a:t>Keyboard</a:t>
                      </a:r>
                    </a:p>
                  </a:txBody>
                  <a:tcPr marL="54864" marR="54864" marT="27432" marB="27432">
                    <a:solidFill>
                      <a:srgbClr val="FFFFFF"/>
                    </a:solidFill>
                  </a:tcPr>
                </a:tc>
                <a:tc>
                  <a:txBody>
                    <a:bodyPr/>
                    <a:lstStyle/>
                    <a:p>
                      <a:r>
                        <a:rPr sz="1000" b="0">
                          <a:solidFill>
                            <a:srgbClr val="4B4B4B"/>
                          </a:solidFill>
                          <a:latin typeface="Arial"/>
                        </a:rPr>
                        <a:t>Tabs move with the arrow keys, Home and End; table rows open with Enter; tree tables expand and collapse with the arrow keys; dialogs close with Escape</a:t>
                      </a:r>
                    </a:p>
                  </a:txBody>
                  <a:tcPr marL="54864" marR="54864" marT="27432" marB="27432">
                    <a:solidFill>
                      <a:srgbClr val="FFFFFF"/>
                    </a:solidFill>
                  </a:tcPr>
                </a:tc>
                <a:tc>
                  <a:txBody>
                    <a:bodyPr/>
                    <a:lstStyle/>
                    <a:p>
                      <a:r>
                        <a:rPr sz="1000" b="0">
                          <a:solidFill>
                            <a:srgbClr val="4B4B4B"/>
                          </a:solidFill>
                          <a:latin typeface="Arial"/>
                        </a:rPr>
                        <a:t>Keep every action reachable without a mouse; keep the order of the tabs and fields</a:t>
                      </a:r>
                    </a:p>
                  </a:txBody>
                  <a:tcPr marL="54864" marR="54864" marT="27432" marB="27432">
                    <a:solidFill>
                      <a:srgbClr val="FFFFFF"/>
                    </a:solidFill>
                  </a:tcPr>
                </a:tc>
              </a:tr>
              <a:tr h="396240">
                <a:tc>
                  <a:txBody>
                    <a:bodyPr/>
                    <a:lstStyle/>
                    <a:p>
                      <a:r>
                        <a:rPr sz="1000" b="0">
                          <a:solidFill>
                            <a:srgbClr val="4B4B4B"/>
                          </a:solidFill>
                          <a:latin typeface="Arial"/>
                        </a:rPr>
                        <a:t>Focus</a:t>
                      </a:r>
                    </a:p>
                  </a:txBody>
                  <a:tcPr marL="54864" marR="54864" marT="27432" marB="27432">
                    <a:solidFill>
                      <a:srgbClr val="E5F5FF"/>
                    </a:solidFill>
                  </a:tcPr>
                </a:tc>
                <a:tc>
                  <a:txBody>
                    <a:bodyPr/>
                    <a:lstStyle/>
                    <a:p>
                      <a:r>
                        <a:rPr sz="1000" b="0">
                          <a:solidFill>
                            <a:srgbClr val="4B4B4B"/>
                          </a:solidFill>
                          <a:latin typeface="Arial"/>
                        </a:rPr>
                        <a:t>A visible focus ring (3 px CTA Blue halo) on every control; a dialog takes the focus and returns it to the button that opened it</a:t>
                      </a:r>
                    </a:p>
                  </a:txBody>
                  <a:tcPr marL="54864" marR="54864" marT="27432" marB="27432">
                    <a:solidFill>
                      <a:srgbClr val="E5F5FF"/>
                    </a:solidFill>
                  </a:tcPr>
                </a:tc>
                <a:tc>
                  <a:txBody>
                    <a:bodyPr/>
                    <a:lstStyle/>
                    <a:p>
                      <a:r>
                        <a:rPr sz="1000" b="0">
                          <a:solidFill>
                            <a:srgbClr val="4B4B4B"/>
                          </a:solidFill>
                          <a:latin typeface="Arial"/>
                        </a:rPr>
                        <a:t>Never hide the focus ring; show it in the designs</a:t>
                      </a:r>
                    </a:p>
                  </a:txBody>
                  <a:tcPr marL="54864" marR="54864" marT="27432" marB="27432">
                    <a:solidFill>
                      <a:srgbClr val="E5F5FF"/>
                    </a:solidFill>
                  </a:tcPr>
                </a:tc>
              </a:tr>
              <a:tr h="396240">
                <a:tc>
                  <a:txBody>
                    <a:bodyPr/>
                    <a:lstStyle/>
                    <a:p>
                      <a:r>
                        <a:rPr sz="1000" b="0">
                          <a:solidFill>
                            <a:srgbClr val="4B4B4B"/>
                          </a:solidFill>
                          <a:latin typeface="Arial"/>
                        </a:rPr>
                        <a:t>Contrast</a:t>
                      </a:r>
                    </a:p>
                  </a:txBody>
                  <a:tcPr marL="54864" marR="54864" marT="27432" marB="27432">
                    <a:solidFill>
                      <a:srgbClr val="FFFFFF"/>
                    </a:solidFill>
                  </a:tcPr>
                </a:tc>
                <a:tc>
                  <a:txBody>
                    <a:bodyPr/>
                    <a:lstStyle/>
                    <a:p>
                      <a:r>
                        <a:rPr sz="1000" b="0">
                          <a:solidFill>
                            <a:srgbClr val="4B4B4B"/>
                          </a:solidFill>
                          <a:latin typeface="Arial"/>
                        </a:rPr>
                        <a:t>Text and pills meet AA contrast; no dark text on a dark fill or light text on a light fill; yellow only as an accent</a:t>
                      </a:r>
                    </a:p>
                  </a:txBody>
                  <a:tcPr marL="54864" marR="54864" marT="27432" marB="27432">
                    <a:solidFill>
                      <a:srgbClr val="FFFFFF"/>
                    </a:solidFill>
                  </a:tcPr>
                </a:tc>
                <a:tc>
                  <a:txBody>
                    <a:bodyPr/>
                    <a:lstStyle/>
                    <a:p>
                      <a:r>
                        <a:rPr sz="1000" b="0">
                          <a:solidFill>
                            <a:srgbClr val="4B4B4B"/>
                          </a:solidFill>
                          <a:latin typeface="Arial"/>
                        </a:rPr>
                        <a:t>Check new colours of pills, tags and charts for AA</a:t>
                      </a:r>
                    </a:p>
                  </a:txBody>
                  <a:tcPr marL="54864" marR="54864" marT="27432" marB="27432">
                    <a:solidFill>
                      <a:srgbClr val="FFFFFF"/>
                    </a:solidFill>
                  </a:tcPr>
                </a:tc>
              </a:tr>
              <a:tr h="548640">
                <a:tc>
                  <a:txBody>
                    <a:bodyPr/>
                    <a:lstStyle/>
                    <a:p>
                      <a:r>
                        <a:rPr sz="1000" b="0">
                          <a:solidFill>
                            <a:srgbClr val="4B4B4B"/>
                          </a:solidFill>
                          <a:latin typeface="Arial"/>
                        </a:rPr>
                        <a:t>Error identification</a:t>
                      </a:r>
                    </a:p>
                  </a:txBody>
                  <a:tcPr marL="54864" marR="54864" marT="27432" marB="27432">
                    <a:solidFill>
                      <a:srgbClr val="E5F5FF"/>
                    </a:solidFill>
                  </a:tcPr>
                </a:tc>
                <a:tc>
                  <a:txBody>
                    <a:bodyPr/>
                    <a:lstStyle/>
                    <a:p>
                      <a:r>
                        <a:rPr sz="1000" b="0">
                          <a:solidFill>
                            <a:srgbClr val="4B4B4B"/>
                          </a:solidFill>
                          <a:latin typeface="Arial"/>
                        </a:rPr>
                        <a:t>Errors are named in words under the field with the field outlined; a long form lists its errors at the top with a link to the first field; colour is never the only sign</a:t>
                      </a:r>
                    </a:p>
                  </a:txBody>
                  <a:tcPr marL="54864" marR="54864" marT="27432" marB="27432">
                    <a:solidFill>
                      <a:srgbClr val="E5F5FF"/>
                    </a:solidFill>
                  </a:tcPr>
                </a:tc>
                <a:tc>
                  <a:txBody>
                    <a:bodyPr/>
                    <a:lstStyle/>
                    <a:p>
                      <a:r>
                        <a:rPr sz="1000" b="0">
                          <a:solidFill>
                            <a:srgbClr val="4B4B4B"/>
                          </a:solidFill>
                          <a:latin typeface="Arial"/>
                        </a:rPr>
                        <a:t>Keep the text of the message with its icon and title</a:t>
                      </a:r>
                    </a:p>
                  </a:txBody>
                  <a:tcPr marL="54864" marR="54864" marT="27432" marB="27432">
                    <a:solidFill>
                      <a:srgbClr val="E5F5FF"/>
                    </a:solidFill>
                  </a:tcPr>
                </a:tc>
              </a:tr>
              <a:tr h="396240">
                <a:tc>
                  <a:txBody>
                    <a:bodyPr/>
                    <a:lstStyle/>
                    <a:p>
                      <a:r>
                        <a:rPr sz="1000" b="0">
                          <a:solidFill>
                            <a:srgbClr val="4B4B4B"/>
                          </a:solidFill>
                          <a:latin typeface="Arial"/>
                        </a:rPr>
                        <a:t>Labels and names</a:t>
                      </a:r>
                    </a:p>
                  </a:txBody>
                  <a:tcPr marL="54864" marR="54864" marT="27432" marB="27432">
                    <a:solidFill>
                      <a:srgbClr val="FFFFFF"/>
                    </a:solidFill>
                  </a:tcPr>
                </a:tc>
                <a:tc>
                  <a:txBody>
                    <a:bodyPr/>
                    <a:lstStyle/>
                    <a:p>
                      <a:r>
                        <a:rPr sz="1000" b="0">
                          <a:solidFill>
                            <a:srgbClr val="4B4B4B"/>
                          </a:solidFill>
                          <a:latin typeface="Arial"/>
                        </a:rPr>
                        <a:t>Every field has a visible label above it; icons have a text label or a tooltip; users are named by their names</a:t>
                      </a:r>
                    </a:p>
                  </a:txBody>
                  <a:tcPr marL="54864" marR="54864" marT="27432" marB="27432">
                    <a:solidFill>
                      <a:srgbClr val="FFFFFF"/>
                    </a:solidFill>
                  </a:tcPr>
                </a:tc>
                <a:tc>
                  <a:txBody>
                    <a:bodyPr/>
                    <a:lstStyle/>
                    <a:p>
                      <a:r>
                        <a:rPr sz="1000" b="0">
                          <a:solidFill>
                            <a:srgbClr val="4B4B4B"/>
                          </a:solidFill>
                          <a:latin typeface="Arial"/>
                        </a:rPr>
                        <a:t>No placeholder as the only label</a:t>
                      </a:r>
                    </a:p>
                  </a:txBody>
                  <a:tcPr marL="54864" marR="54864" marT="27432" marB="27432">
                    <a:solidFill>
                      <a:srgbClr val="FFFFFF"/>
                    </a:solidFill>
                  </a:tcPr>
                </a:tc>
              </a:tr>
            </a:tbl>
          </a:graphicData>
        </a:graphic>
      </p:graphicFrame>
    </p:spTree>
  </p:cSld>
  <p:clrMapOvr>
    <a:masterClrMapping/>
  </p:clrMapOvr>
</p:sld>
</file>

<file path=ppt/slides/slide3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600" b="1" i="0">
                <a:solidFill>
                  <a:srgbClr val="004EA8"/>
                </a:solidFill>
                <a:latin typeface="Arial"/>
              </a:rPr>
              <a:t>Desktop and responsive assumptions</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338</a:t>
            </a:r>
          </a:p>
        </p:txBody>
      </p:sp>
      <p:sp>
        <p:nvSpPr>
          <p:cNvPr id="9" name="TextBox 8"/>
          <p:cNvSpPr txBox="1"/>
          <p:nvPr/>
        </p:nvSpPr>
        <p:spPr>
          <a:xfrm>
            <a:off x="548640" y="1371600"/>
            <a:ext cx="11094415" cy="4754880"/>
          </a:xfrm>
          <a:prstGeom prst="rect">
            <a:avLst/>
          </a:prstGeom>
          <a:noFill/>
        </p:spPr>
        <p:txBody>
          <a:bodyPr wrap="square">
            <a:spAutoFit/>
          </a:bodyPr>
          <a:lstStyle/>
          <a:p>
            <a:pPr>
              <a:spcAft>
                <a:spcPts val="600"/>
              </a:spcAft>
            </a:pPr>
            <a:r>
              <a:rPr sz="1500">
                <a:solidFill>
                  <a:srgbClr val="004EA8"/>
                </a:solidFill>
                <a:latin typeface="Arial"/>
              </a:rPr>
              <a:t>•  </a:t>
            </a:r>
            <a:r>
              <a:rPr sz="1500">
                <a:solidFill>
                  <a:srgbClr val="4B4B4B"/>
                </a:solidFill>
                <a:latin typeface="Arial"/>
              </a:rPr>
              <a:t>BIBS is a desktop web application used in the office; the designs are for 1440 x 900 at 100 % zoom and work from 1280 px wide</a:t>
            </a:r>
          </a:p>
          <a:p>
            <a:pPr>
              <a:spcAft>
                <a:spcPts val="600"/>
              </a:spcAft>
            </a:pPr>
            <a:r>
              <a:rPr sz="1500">
                <a:solidFill>
                  <a:srgbClr val="004EA8"/>
                </a:solidFill>
                <a:latin typeface="Arial"/>
              </a:rPr>
              <a:t>•  </a:t>
            </a:r>
            <a:r>
              <a:rPr sz="1500">
                <a:solidFill>
                  <a:srgbClr val="4B4B4B"/>
                </a:solidFill>
                <a:latin typeface="Arial"/>
              </a:rPr>
              <a:t>The images of this deck are taken at 1440 x 900 at twice the screen resolution</a:t>
            </a:r>
          </a:p>
          <a:p>
            <a:pPr>
              <a:spcAft>
                <a:spcPts val="600"/>
              </a:spcAft>
            </a:pPr>
            <a:r>
              <a:rPr sz="1500">
                <a:solidFill>
                  <a:srgbClr val="004EA8"/>
                </a:solidFill>
                <a:latin typeface="Arial"/>
              </a:rPr>
              <a:t>•  </a:t>
            </a:r>
            <a:r>
              <a:rPr sz="1500">
                <a:solidFill>
                  <a:srgbClr val="4B4B4B"/>
                </a:solidFill>
                <a:latin typeface="Arial"/>
              </a:rPr>
              <a:t>Narrow widths: the menu collapses; the workflow step bar keeps the first, the last and the current stage and its neighbours; tables scroll inside their card with the header row in view</a:t>
            </a:r>
          </a:p>
          <a:p>
            <a:pPr>
              <a:spcAft>
                <a:spcPts val="600"/>
              </a:spcAft>
            </a:pPr>
            <a:r>
              <a:rPr sz="1500">
                <a:solidFill>
                  <a:srgbClr val="004EA8"/>
                </a:solidFill>
                <a:latin typeface="Arial"/>
              </a:rPr>
              <a:t>•  </a:t>
            </a:r>
            <a:r>
              <a:rPr sz="1500">
                <a:solidFill>
                  <a:srgbClr val="4B4B4B"/>
                </a:solidFill>
                <a:latin typeface="Arial"/>
              </a:rPr>
              <a:t>No phone or tablet layout is in scope; printing uses the BDO print layout (A4 landscape, no menu or buttons)</a:t>
            </a:r>
          </a:p>
          <a:p>
            <a:pPr>
              <a:spcAft>
                <a:spcPts val="600"/>
              </a:spcAft>
            </a:pPr>
            <a:r>
              <a:rPr sz="1500">
                <a:solidFill>
                  <a:srgbClr val="004EA8"/>
                </a:solidFill>
                <a:latin typeface="Arial"/>
              </a:rPr>
              <a:t>•  </a:t>
            </a:r>
            <a:r>
              <a:rPr sz="1500">
                <a:solidFill>
                  <a:srgbClr val="4B4B4B"/>
                </a:solidFill>
                <a:latin typeface="Arial"/>
              </a:rPr>
              <a:t>Browser zoom up to 200 % keeps every function usable</a:t>
            </a:r>
          </a:p>
        </p:txBody>
      </p:sp>
    </p:spTree>
  </p:cSld>
  <p:clrMapOvr>
    <a:masterClrMapping/>
  </p:clrMapOvr>
</p:sld>
</file>

<file path=ppt/slides/slide3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04EA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2377440"/>
            <a:ext cx="10515600" cy="1188720"/>
          </a:xfrm>
          <a:prstGeom prst="rect">
            <a:avLst/>
          </a:prstGeom>
          <a:noFill/>
        </p:spPr>
        <p:txBody>
          <a:bodyPr wrap="square" anchor="b" lIns="45720" rIns="45720">
            <a:spAutoFit/>
          </a:bodyPr>
          <a:lstStyle/>
          <a:p>
            <a:r>
              <a:rPr sz="3800" b="1" i="0">
                <a:solidFill>
                  <a:srgbClr val="FFFFFF"/>
                </a:solidFill>
                <a:latin typeface="Arial"/>
              </a:rPr>
              <a:t>Appendix</a:t>
            </a:r>
          </a:p>
        </p:txBody>
      </p:sp>
      <p:sp>
        <p:nvSpPr>
          <p:cNvPr id="4" name="Rectangle 3"/>
          <p:cNvSpPr/>
          <p:nvPr/>
        </p:nvSpPr>
        <p:spPr>
          <a:xfrm>
            <a:off x="548640" y="3703320"/>
            <a:ext cx="1463040" cy="508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48640" y="3886200"/>
            <a:ext cx="10515600" cy="731520"/>
          </a:xfrm>
          <a:prstGeom prst="rect">
            <a:avLst/>
          </a:prstGeom>
          <a:noFill/>
        </p:spPr>
        <p:txBody>
          <a:bodyPr wrap="square" anchor="t" lIns="45720" rIns="45720">
            <a:spAutoFit/>
          </a:bodyPr>
          <a:lstStyle/>
          <a:p>
            <a:r>
              <a:rPr sz="1800" b="0" i="0">
                <a:solidFill>
                  <a:srgbClr val="E5F5FF"/>
                </a:solidFill>
                <a:latin typeface="Arial"/>
              </a:rPr>
              <a:t>Screen ID, FRS section and requirements</a:t>
            </a:r>
          </a:p>
        </p:txBody>
      </p:sp>
      <p:sp>
        <p:nvSpPr>
          <p:cNvPr id="6" name="TextBox 5"/>
          <p:cNvSpPr txBox="1"/>
          <p:nvPr/>
        </p:nvSpPr>
        <p:spPr>
          <a:xfrm>
            <a:off x="548640" y="6309360"/>
            <a:ext cx="5486400" cy="320040"/>
          </a:xfrm>
          <a:prstGeom prst="rect">
            <a:avLst/>
          </a:prstGeom>
          <a:noFill/>
        </p:spPr>
        <p:txBody>
          <a:bodyPr wrap="square" anchor="t" lIns="45720" rIns="45720">
            <a:spAutoFit/>
          </a:bodyPr>
          <a:lstStyle/>
          <a:p>
            <a:r>
              <a:rPr sz="900" b="0" i="0">
                <a:solidFill>
                  <a:srgbClr val="99C1E7"/>
                </a:solidFill>
                <a:latin typeface="Arial"/>
              </a:rPr>
              <a:t>Confidential – BDOI | UX Screen Deck BRD-13 Data Migration</a:t>
            </a:r>
          </a:p>
        </p:txBody>
      </p:sp>
    </p:spTree>
  </p:cSld>
  <p:clrMapOvr>
    <a:masterClrMapping/>
  </p:clrMapOvr>
</p:sld>
</file>

<file path=ppt/slides/slide3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(1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340</a:t>
            </a:r>
          </a:p>
        </p:txBody>
      </p:sp>
      <p:graphicFrame>
        <p:nvGraphicFramePr>
          <p:cNvPr id="9" name="Table 8"/>
          <p:cNvGraphicFramePr>
            <a:graphicFrameLocks noGrp="1"/>
          </p:cNvGraphicFramePr>
          <p:nvPr/>
        </p:nvGraphicFramePr>
        <p:xfrm>
          <a:off x="548640" y="1325880"/>
          <a:ext cx="11094412" cy="4808197"/>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480057">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Data Migration Handbook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SCR-DM-01</a:t>
                      </a:r>
                    </a:p>
                  </a:txBody>
                  <a:tcPr marL="54864" marR="54864" marT="27432" marB="27432">
                    <a:solidFill>
                      <a:srgbClr val="FFFFFF"/>
                    </a:solidFill>
                  </a:tcPr>
                </a:tc>
                <a:tc>
                  <a:txBody>
                    <a:bodyPr/>
                    <a:lstStyle/>
                    <a:p>
                      <a:r>
                        <a:rPr sz="850" b="0">
                          <a:solidFill>
                            <a:srgbClr val="4B4B4B"/>
                          </a:solidFill>
                          <a:latin typeface="Arial"/>
                        </a:rPr>
                        <a:t>Migration Home</a:t>
                      </a:r>
                    </a:p>
                  </a:txBody>
                  <a:tcPr marL="54864" marR="54864" marT="27432" marB="27432">
                    <a:solidFill>
                      <a:srgbClr val="FFFFFF"/>
                    </a:solidFill>
                  </a:tcPr>
                </a:tc>
                <a:tc>
                  <a:txBody>
                    <a:bodyPr/>
                    <a:lstStyle/>
                    <a:p>
                      <a:r>
                        <a:rPr sz="850" b="0">
                          <a:solidFill>
                            <a:srgbClr val="4B4B4B"/>
                          </a:solidFill>
                          <a:latin typeface="Arial"/>
                        </a:rPr>
                        <a:t>19.1.1</a:t>
                      </a:r>
                    </a:p>
                  </a:txBody>
                  <a:tcPr marL="54864" marR="54864" marT="27432" marB="27432">
                    <a:solidFill>
                      <a:srgbClr val="FFFFFF"/>
                    </a:solidFill>
                  </a:tcPr>
                </a:tc>
                <a:tc>
                  <a:txBody>
                    <a:bodyPr/>
                    <a:lstStyle/>
                    <a:p>
                      <a:r>
                        <a:rPr sz="850" b="0">
                          <a:solidFill>
                            <a:srgbClr val="4B4B4B"/>
                          </a:solidFill>
                          <a:latin typeface="Arial"/>
                        </a:rPr>
                        <a:t>FR-DM-003, FR-DM-120, FR-DM-122</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SCR-DM-02</a:t>
                      </a:r>
                    </a:p>
                  </a:txBody>
                  <a:tcPr marL="54864" marR="54864" marT="27432" marB="27432">
                    <a:solidFill>
                      <a:srgbClr val="E5F5FF"/>
                    </a:solidFill>
                  </a:tcPr>
                </a:tc>
                <a:tc>
                  <a:txBody>
                    <a:bodyPr/>
                    <a:lstStyle/>
                    <a:p>
                      <a:r>
                        <a:rPr sz="850" b="0">
                          <a:solidFill>
                            <a:srgbClr val="4B4B4B"/>
                          </a:solidFill>
                          <a:latin typeface="Arial"/>
                        </a:rPr>
                        <a:t>Data Objects and the decision of an object</a:t>
                      </a:r>
                    </a:p>
                  </a:txBody>
                  <a:tcPr marL="54864" marR="54864" marT="27432" marB="27432">
                    <a:solidFill>
                      <a:srgbClr val="E5F5FF"/>
                    </a:solidFill>
                  </a:tcPr>
                </a:tc>
                <a:tc>
                  <a:txBody>
                    <a:bodyPr/>
                    <a:lstStyle/>
                    <a:p>
                      <a:r>
                        <a:rPr sz="850" b="0">
                          <a:solidFill>
                            <a:srgbClr val="4B4B4B"/>
                          </a:solidFill>
                          <a:latin typeface="Arial"/>
                        </a:rPr>
                        <a:t>19.1.2</a:t>
                      </a:r>
                    </a:p>
                  </a:txBody>
                  <a:tcPr marL="54864" marR="54864" marT="27432" marB="27432">
                    <a:solidFill>
                      <a:srgbClr val="E5F5FF"/>
                    </a:solidFill>
                  </a:tcPr>
                </a:tc>
                <a:tc>
                  <a:txBody>
                    <a:bodyPr/>
                    <a:lstStyle/>
                    <a:p>
                      <a:r>
                        <a:rPr sz="850" b="0">
                          <a:solidFill>
                            <a:srgbClr val="4B4B4B"/>
                          </a:solidFill>
                          <a:latin typeface="Arial"/>
                        </a:rPr>
                        <a:t>FR-DM-001, FR-DM-002, FR-DM-003</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SCR-DM-03</a:t>
                      </a:r>
                    </a:p>
                  </a:txBody>
                  <a:tcPr marL="54864" marR="54864" marT="27432" marB="27432">
                    <a:solidFill>
                      <a:srgbClr val="FFFFFF"/>
                    </a:solidFill>
                  </a:tcPr>
                </a:tc>
                <a:tc>
                  <a:txBody>
                    <a:bodyPr/>
                    <a:lstStyle/>
                    <a:p>
                      <a:r>
                        <a:rPr sz="850" b="0">
                          <a:solidFill>
                            <a:srgbClr val="4B4B4B"/>
                          </a:solidFill>
                          <a:latin typeface="Arial"/>
                        </a:rPr>
                        <a:t>Code Maps and the versions of a code map</a:t>
                      </a:r>
                    </a:p>
                  </a:txBody>
                  <a:tcPr marL="54864" marR="54864" marT="27432" marB="27432">
                    <a:solidFill>
                      <a:srgbClr val="FFFFFF"/>
                    </a:solidFill>
                  </a:tcPr>
                </a:tc>
                <a:tc>
                  <a:txBody>
                    <a:bodyPr/>
                    <a:lstStyle/>
                    <a:p>
                      <a:r>
                        <a:rPr sz="850" b="0">
                          <a:solidFill>
                            <a:srgbClr val="4B4B4B"/>
                          </a:solidFill>
                          <a:latin typeface="Arial"/>
                        </a:rPr>
                        <a:t>19.1.3</a:t>
                      </a:r>
                    </a:p>
                  </a:txBody>
                  <a:tcPr marL="54864" marR="54864" marT="27432" marB="27432">
                    <a:solidFill>
                      <a:srgbClr val="FFFFFF"/>
                    </a:solidFill>
                  </a:tcPr>
                </a:tc>
                <a:tc>
                  <a:txBody>
                    <a:bodyPr/>
                    <a:lstStyle/>
                    <a:p>
                      <a:r>
                        <a:rPr sz="850" b="0">
                          <a:solidFill>
                            <a:srgbClr val="4B4B4B"/>
                          </a:solidFill>
                          <a:latin typeface="Arial"/>
                        </a:rPr>
                        <a:t>FR-DM-011, FR-DM-012, FR-DM-034</a:t>
                      </a:r>
                    </a:p>
                  </a:txBody>
                  <a:tcPr marL="54864" marR="54864" marT="27432" marB="27432">
                    <a:solidFill>
                      <a:srgbClr val="FFFFFF"/>
                    </a:solidFill>
                  </a:tcPr>
                </a:tc>
                <a:tc>
                  <a:txBody>
                    <a:bodyPr/>
                    <a:lstStyle/>
                    <a:p>
                      <a:r>
                        <a:rPr sz="850" b="0">
                          <a:solidFill>
                            <a:srgbClr val="4B4B4B"/>
                          </a:solidFill>
                          <a:latin typeface="Arial"/>
                        </a:rPr>
                        <a:t>4</a:t>
                      </a:r>
                    </a:p>
                  </a:txBody>
                  <a:tcPr marL="54864" marR="54864" marT="27432" marB="27432">
                    <a:solidFill>
                      <a:srgbClr val="FFFFFF"/>
                    </a:solidFill>
                  </a:tcPr>
                </a:tc>
                <a:tc>
                  <a:txBody>
                    <a:bodyPr/>
                    <a:lstStyle/>
                    <a:p>
                      <a:r>
                        <a:rPr sz="850" b="0">
                          <a:solidFill>
                            <a:srgbClr val="4B4B4B"/>
                          </a:solidFill>
                          <a:latin typeface="Arial"/>
                        </a:rPr>
                        <a:t>Default, Filled, Success message</a:t>
                      </a:r>
                    </a:p>
                  </a:txBody>
                  <a:tcPr marL="54864" marR="54864" marT="27432" marB="27432">
                    <a:solidFill>
                      <a:srgbClr val="FFFFFF"/>
                    </a:solidFill>
                  </a:tcPr>
                </a:tc>
              </a:tr>
              <a:tr h="220979">
                <a:tc>
                  <a:txBody>
                    <a:bodyPr/>
                    <a:lstStyle/>
                    <a:p>
                      <a:r>
                        <a:rPr sz="850" b="0">
                          <a:solidFill>
                            <a:srgbClr val="4B4B4B"/>
                          </a:solidFill>
                          <a:latin typeface="Arial"/>
                        </a:rPr>
                        <a:t>SCR-DM-04</a:t>
                      </a:r>
                    </a:p>
                  </a:txBody>
                  <a:tcPr marL="54864" marR="54864" marT="27432" marB="27432">
                    <a:solidFill>
                      <a:srgbClr val="E5F5FF"/>
                    </a:solidFill>
                  </a:tcPr>
                </a:tc>
                <a:tc>
                  <a:txBody>
                    <a:bodyPr/>
                    <a:lstStyle/>
                    <a:p>
                      <a:r>
                        <a:rPr sz="850" b="0">
                          <a:solidFill>
                            <a:srgbClr val="4B4B4B"/>
                          </a:solidFill>
                          <a:latin typeface="Arial"/>
                        </a:rPr>
                        <a:t>Layouts and Rules</a:t>
                      </a:r>
                    </a:p>
                  </a:txBody>
                  <a:tcPr marL="54864" marR="54864" marT="27432" marB="27432">
                    <a:solidFill>
                      <a:srgbClr val="E5F5FF"/>
                    </a:solidFill>
                  </a:tcPr>
                </a:tc>
                <a:tc>
                  <a:txBody>
                    <a:bodyPr/>
                    <a:lstStyle/>
                    <a:p>
                      <a:r>
                        <a:rPr sz="850" b="0">
                          <a:solidFill>
                            <a:srgbClr val="4B4B4B"/>
                          </a:solidFill>
                          <a:latin typeface="Arial"/>
                        </a:rPr>
                        <a:t>19.1.4</a:t>
                      </a:r>
                    </a:p>
                  </a:txBody>
                  <a:tcPr marL="54864" marR="54864" marT="27432" marB="27432">
                    <a:solidFill>
                      <a:srgbClr val="E5F5FF"/>
                    </a:solidFill>
                  </a:tcPr>
                </a:tc>
                <a:tc>
                  <a:txBody>
                    <a:bodyPr/>
                    <a:lstStyle/>
                    <a:p>
                      <a:r>
                        <a:rPr sz="850" b="0">
                          <a:solidFill>
                            <a:srgbClr val="4B4B4B"/>
                          </a:solidFill>
                          <a:latin typeface="Arial"/>
                        </a:rPr>
                        <a:t>FR-DM-010, FR-DM-013, FR-DM-003</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SCR-DM-05</a:t>
                      </a:r>
                    </a:p>
                  </a:txBody>
                  <a:tcPr marL="54864" marR="54864" marT="27432" marB="27432">
                    <a:solidFill>
                      <a:srgbClr val="FFFFFF"/>
                    </a:solidFill>
                  </a:tcPr>
                </a:tc>
                <a:tc>
                  <a:txBody>
                    <a:bodyPr/>
                    <a:lstStyle/>
                    <a:p>
                      <a:r>
                        <a:rPr sz="850" b="0">
                          <a:solidFill>
                            <a:srgbClr val="4B4B4B"/>
                          </a:solidFill>
                          <a:latin typeface="Arial"/>
                        </a:rPr>
                        <a:t>Extracts</a:t>
                      </a:r>
                    </a:p>
                  </a:txBody>
                  <a:tcPr marL="54864" marR="54864" marT="27432" marB="27432">
                    <a:solidFill>
                      <a:srgbClr val="FFFFFF"/>
                    </a:solidFill>
                  </a:tcPr>
                </a:tc>
                <a:tc>
                  <a:txBody>
                    <a:bodyPr/>
                    <a:lstStyle/>
                    <a:p>
                      <a:r>
                        <a:rPr sz="850" b="0">
                          <a:solidFill>
                            <a:srgbClr val="4B4B4B"/>
                          </a:solidFill>
                          <a:latin typeface="Arial"/>
                        </a:rPr>
                        <a:t>19.1.5</a:t>
                      </a:r>
                    </a:p>
                  </a:txBody>
                  <a:tcPr marL="54864" marR="54864" marT="27432" marB="27432">
                    <a:solidFill>
                      <a:srgbClr val="FFFFFF"/>
                    </a:solidFill>
                  </a:tcPr>
                </a:tc>
                <a:tc>
                  <a:txBody>
                    <a:bodyPr/>
                    <a:lstStyle/>
                    <a:p>
                      <a:r>
                        <a:rPr sz="850" b="0">
                          <a:solidFill>
                            <a:srgbClr val="4B4B4B"/>
                          </a:solidFill>
                          <a:latin typeface="Arial"/>
                        </a:rPr>
                        <a:t>FR-DM-010</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Validation error</a:t>
                      </a:r>
                    </a:p>
                  </a:txBody>
                  <a:tcPr marL="54864" marR="54864" marT="27432" marB="27432">
                    <a:solidFill>
                      <a:srgbClr val="FFFFFF"/>
                    </a:solidFill>
                  </a:tcPr>
                </a:tc>
              </a:tr>
              <a:tr h="220979">
                <a:tc>
                  <a:txBody>
                    <a:bodyPr/>
                    <a:lstStyle/>
                    <a:p>
                      <a:r>
                        <a:rPr sz="850" b="0">
                          <a:solidFill>
                            <a:srgbClr val="4B4B4B"/>
                          </a:solidFill>
                          <a:latin typeface="Arial"/>
                        </a:rPr>
                        <a:t>SCR-DM-06</a:t>
                      </a:r>
                    </a:p>
                  </a:txBody>
                  <a:tcPr marL="54864" marR="54864" marT="27432" marB="27432">
                    <a:solidFill>
                      <a:srgbClr val="E5F5FF"/>
                    </a:solidFill>
                  </a:tcPr>
                </a:tc>
                <a:tc>
                  <a:txBody>
                    <a:bodyPr/>
                    <a:lstStyle/>
                    <a:p>
                      <a:r>
                        <a:rPr sz="850" b="0">
                          <a:solidFill>
                            <a:srgbClr val="4B4B4B"/>
                          </a:solidFill>
                          <a:latin typeface="Arial"/>
                        </a:rPr>
                        <a:t>Batches and resubmissions</a:t>
                      </a:r>
                    </a:p>
                  </a:txBody>
                  <a:tcPr marL="54864" marR="54864" marT="27432" marB="27432">
                    <a:solidFill>
                      <a:srgbClr val="E5F5FF"/>
                    </a:solidFill>
                  </a:tcPr>
                </a:tc>
                <a:tc>
                  <a:txBody>
                    <a:bodyPr/>
                    <a:lstStyle/>
                    <a:p>
                      <a:r>
                        <a:rPr sz="850" b="0">
                          <a:solidFill>
                            <a:srgbClr val="4B4B4B"/>
                          </a:solidFill>
                          <a:latin typeface="Arial"/>
                        </a:rPr>
                        <a:t>19.1.6</a:t>
                      </a:r>
                    </a:p>
                  </a:txBody>
                  <a:tcPr marL="54864" marR="54864" marT="27432" marB="27432">
                    <a:solidFill>
                      <a:srgbClr val="E5F5FF"/>
                    </a:solidFill>
                  </a:tcPr>
                </a:tc>
                <a:tc>
                  <a:txBody>
                    <a:bodyPr/>
                    <a:lstStyle/>
                    <a:p>
                      <a:r>
                        <a:rPr sz="850" b="0">
                          <a:solidFill>
                            <a:srgbClr val="4B4B4B"/>
                          </a:solidFill>
                          <a:latin typeface="Arial"/>
                        </a:rPr>
                        <a:t>FR-DM-014, FR-DM-015, FR-DM-125</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Filled, Pending approval</a:t>
                      </a:r>
                    </a:p>
                  </a:txBody>
                  <a:tcPr marL="54864" marR="54864" marT="27432" marB="27432">
                    <a:solidFill>
                      <a:srgbClr val="E5F5FF"/>
                    </a:solidFill>
                  </a:tcPr>
                </a:tc>
              </a:tr>
              <a:tr h="350518">
                <a:tc>
                  <a:txBody>
                    <a:bodyPr/>
                    <a:lstStyle/>
                    <a:p>
                      <a:r>
                        <a:rPr sz="850" b="0">
                          <a:solidFill>
                            <a:srgbClr val="4B4B4B"/>
                          </a:solidFill>
                          <a:latin typeface="Arial"/>
                        </a:rPr>
                        <a:t>SCR-DM-07</a:t>
                      </a:r>
                    </a:p>
                  </a:txBody>
                  <a:tcPr marL="54864" marR="54864" marT="27432" marB="27432">
                    <a:solidFill>
                      <a:srgbClr val="FFFFFF"/>
                    </a:solidFill>
                  </a:tcPr>
                </a:tc>
                <a:tc>
                  <a:txBody>
                    <a:bodyPr/>
                    <a:lstStyle/>
                    <a:p>
                      <a:r>
                        <a:rPr sz="850" b="0">
                          <a:solidFill>
                            <a:srgbClr val="4B4B4B"/>
                          </a:solidFill>
                          <a:latin typeface="Arial"/>
                        </a:rPr>
                        <a:t>Batch</a:t>
                      </a:r>
                    </a:p>
                  </a:txBody>
                  <a:tcPr marL="54864" marR="54864" marT="27432" marB="27432">
                    <a:solidFill>
                      <a:srgbClr val="FFFFFF"/>
                    </a:solidFill>
                  </a:tcPr>
                </a:tc>
                <a:tc>
                  <a:txBody>
                    <a:bodyPr/>
                    <a:lstStyle/>
                    <a:p>
                      <a:r>
                        <a:rPr sz="850" b="0">
                          <a:solidFill>
                            <a:srgbClr val="4B4B4B"/>
                          </a:solidFill>
                          <a:latin typeface="Arial"/>
                        </a:rPr>
                        <a:t>19.1.7</a:t>
                      </a:r>
                    </a:p>
                  </a:txBody>
                  <a:tcPr marL="54864" marR="54864" marT="27432" marB="27432">
                    <a:solidFill>
                      <a:srgbClr val="FFFFFF"/>
                    </a:solidFill>
                  </a:tcPr>
                </a:tc>
                <a:tc>
                  <a:txBody>
                    <a:bodyPr/>
                    <a:lstStyle/>
                    <a:p>
                      <a:r>
                        <a:rPr sz="850" b="0">
                          <a:solidFill>
                            <a:srgbClr val="4B4B4B"/>
                          </a:solidFill>
                          <a:latin typeface="Arial"/>
                        </a:rPr>
                        <a:t>FR-DM-013, FR-DM-014, FR-DM-015, FR-DM-003, FR-DM-020</a:t>
                      </a:r>
                    </a:p>
                  </a:txBody>
                  <a:tcPr marL="54864" marR="54864" marT="27432" marB="27432">
                    <a:solidFill>
                      <a:srgbClr val="FFFFFF"/>
                    </a:solidFill>
                  </a:tcPr>
                </a:tc>
                <a:tc>
                  <a:txBody>
                    <a:bodyPr/>
                    <a:lstStyle/>
                    <a:p>
                      <a:r>
                        <a:rPr sz="850" b="0">
                          <a:solidFill>
                            <a:srgbClr val="4B4B4B"/>
                          </a:solidFill>
                          <a:latin typeface="Arial"/>
                        </a:rPr>
                        <a:t>5</a:t>
                      </a:r>
                    </a:p>
                  </a:txBody>
                  <a:tcPr marL="54864" marR="54864" marT="27432" marB="27432">
                    <a:solidFill>
                      <a:srgbClr val="FFFFFF"/>
                    </a:solidFill>
                  </a:tcPr>
                </a:tc>
                <a:tc>
                  <a:txBody>
                    <a:bodyPr/>
                    <a:lstStyle/>
                    <a:p>
                      <a:r>
                        <a:rPr sz="850" b="0">
                          <a:solidFill>
                            <a:srgbClr val="4B4B4B"/>
                          </a:solidFill>
                          <a:latin typeface="Arial"/>
                        </a:rPr>
                        <a:t>Default, Confirmation with reason, Read-only or locked</a:t>
                      </a:r>
                    </a:p>
                  </a:txBody>
                  <a:tcPr marL="54864" marR="54864" marT="27432" marB="27432">
                    <a:solidFill>
                      <a:srgbClr val="FFFFFF"/>
                    </a:solidFill>
                  </a:tcPr>
                </a:tc>
              </a:tr>
              <a:tr h="220979">
                <a:tc>
                  <a:txBody>
                    <a:bodyPr/>
                    <a:lstStyle/>
                    <a:p>
                      <a:r>
                        <a:rPr sz="850" b="0">
                          <a:solidFill>
                            <a:srgbClr val="4B4B4B"/>
                          </a:solidFill>
                          <a:latin typeface="Arial"/>
                        </a:rPr>
                        <a:t>SCR-DM-08</a:t>
                      </a:r>
                    </a:p>
                  </a:txBody>
                  <a:tcPr marL="54864" marR="54864" marT="27432" marB="27432">
                    <a:solidFill>
                      <a:srgbClr val="E5F5FF"/>
                    </a:solidFill>
                  </a:tcPr>
                </a:tc>
                <a:tc>
                  <a:txBody>
                    <a:bodyPr/>
                    <a:lstStyle/>
                    <a:p>
                      <a:r>
                        <a:rPr sz="850" b="0">
                          <a:solidFill>
                            <a:srgbClr val="4B4B4B"/>
                          </a:solidFill>
                          <a:latin typeface="Arial"/>
                        </a:rPr>
                        <a:t>Client Matching</a:t>
                      </a:r>
                    </a:p>
                  </a:txBody>
                  <a:tcPr marL="54864" marR="54864" marT="27432" marB="27432">
                    <a:solidFill>
                      <a:srgbClr val="E5F5FF"/>
                    </a:solidFill>
                  </a:tcPr>
                </a:tc>
                <a:tc>
                  <a:txBody>
                    <a:bodyPr/>
                    <a:lstStyle/>
                    <a:p>
                      <a:r>
                        <a:rPr sz="850" b="0">
                          <a:solidFill>
                            <a:srgbClr val="4B4B4B"/>
                          </a:solidFill>
                          <a:latin typeface="Arial"/>
                        </a:rPr>
                        <a:t>19.1.8</a:t>
                      </a:r>
                    </a:p>
                  </a:txBody>
                  <a:tcPr marL="54864" marR="54864" marT="27432" marB="27432">
                    <a:solidFill>
                      <a:srgbClr val="E5F5FF"/>
                    </a:solidFill>
                  </a:tcPr>
                </a:tc>
                <a:tc>
                  <a:txBody>
                    <a:bodyPr/>
                    <a:lstStyle/>
                    <a:p>
                      <a:r>
                        <a:rPr sz="850" b="0">
                          <a:solidFill>
                            <a:srgbClr val="4B4B4B"/>
                          </a:solidFill>
                          <a:latin typeface="Arial"/>
                        </a:rPr>
                        <a:t>FR-DM-030, FR-DM-031</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SCR-DM-09</a:t>
                      </a:r>
                    </a:p>
                  </a:txBody>
                  <a:tcPr marL="54864" marR="54864" marT="27432" marB="27432">
                    <a:solidFill>
                      <a:srgbClr val="FFFFFF"/>
                    </a:solidFill>
                  </a:tcPr>
                </a:tc>
                <a:tc>
                  <a:txBody>
                    <a:bodyPr/>
                    <a:lstStyle/>
                    <a:p>
                      <a:r>
                        <a:rPr sz="850" b="0">
                          <a:solidFill>
                            <a:srgbClr val="4B4B4B"/>
                          </a:solidFill>
                          <a:latin typeface="Arial"/>
                        </a:rPr>
                        <a:t>Reconciliation</a:t>
                      </a:r>
                    </a:p>
                  </a:txBody>
                  <a:tcPr marL="54864" marR="54864" marT="27432" marB="27432">
                    <a:solidFill>
                      <a:srgbClr val="FFFFFF"/>
                    </a:solidFill>
                  </a:tcPr>
                </a:tc>
                <a:tc>
                  <a:txBody>
                    <a:bodyPr/>
                    <a:lstStyle/>
                    <a:p>
                      <a:r>
                        <a:rPr sz="850" b="0">
                          <a:solidFill>
                            <a:srgbClr val="4B4B4B"/>
                          </a:solidFill>
                          <a:latin typeface="Arial"/>
                        </a:rPr>
                        <a:t>19.1.9</a:t>
                      </a:r>
                    </a:p>
                  </a:txBody>
                  <a:tcPr marL="54864" marR="54864" marT="27432" marB="27432">
                    <a:solidFill>
                      <a:srgbClr val="FFFFFF"/>
                    </a:solidFill>
                  </a:tcPr>
                </a:tc>
                <a:tc>
                  <a:txBody>
                    <a:bodyPr/>
                    <a:lstStyle/>
                    <a:p>
                      <a:r>
                        <a:rPr sz="850" b="0">
                          <a:solidFill>
                            <a:srgbClr val="4B4B4B"/>
                          </a:solidFill>
                          <a:latin typeface="Arial"/>
                        </a:rPr>
                        <a:t>FR-DM-020, FR-DM-021</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Confirmation with reason</a:t>
                      </a:r>
                    </a:p>
                  </a:txBody>
                  <a:tcPr marL="54864" marR="54864" marT="27432" marB="27432">
                    <a:solidFill>
                      <a:srgbClr val="FFFFFF"/>
                    </a:solidFill>
                  </a:tcPr>
                </a:tc>
              </a:tr>
              <a:tr h="220979">
                <a:tc>
                  <a:txBody>
                    <a:bodyPr/>
                    <a:lstStyle/>
                    <a:p>
                      <a:r>
                        <a:rPr sz="850" b="0">
                          <a:solidFill>
                            <a:srgbClr val="4B4B4B"/>
                          </a:solidFill>
                          <a:latin typeface="Arial"/>
                        </a:rPr>
                        <a:t>SCR-DM-10</a:t>
                      </a:r>
                    </a:p>
                  </a:txBody>
                  <a:tcPr marL="54864" marR="54864" marT="27432" marB="27432">
                    <a:solidFill>
                      <a:srgbClr val="E5F5FF"/>
                    </a:solidFill>
                  </a:tcPr>
                </a:tc>
                <a:tc>
                  <a:txBody>
                    <a:bodyPr/>
                    <a:lstStyle/>
                    <a:p>
                      <a:r>
                        <a:rPr sz="850" b="0">
                          <a:solidFill>
                            <a:srgbClr val="4B4B4B"/>
                          </a:solidFill>
                          <a:latin typeface="Arial"/>
                        </a:rPr>
                        <a:t>Sign-off</a:t>
                      </a:r>
                    </a:p>
                  </a:txBody>
                  <a:tcPr marL="54864" marR="54864" marT="27432" marB="27432">
                    <a:solidFill>
                      <a:srgbClr val="E5F5FF"/>
                    </a:solidFill>
                  </a:tcPr>
                </a:tc>
                <a:tc>
                  <a:txBody>
                    <a:bodyPr/>
                    <a:lstStyle/>
                    <a:p>
                      <a:r>
                        <a:rPr sz="850" b="0">
                          <a:solidFill>
                            <a:srgbClr val="4B4B4B"/>
                          </a:solidFill>
                          <a:latin typeface="Arial"/>
                        </a:rPr>
                        <a:t>19.1.10</a:t>
                      </a:r>
                    </a:p>
                  </a:txBody>
                  <a:tcPr marL="54864" marR="54864" marT="27432" marB="27432">
                    <a:solidFill>
                      <a:srgbClr val="E5F5FF"/>
                    </a:solidFill>
                  </a:tcPr>
                </a:tc>
                <a:tc>
                  <a:txBody>
                    <a:bodyPr/>
                    <a:lstStyle/>
                    <a:p>
                      <a:r>
                        <a:rPr sz="850" b="0">
                          <a:solidFill>
                            <a:srgbClr val="4B4B4B"/>
                          </a:solidFill>
                          <a:latin typeface="Arial"/>
                        </a:rPr>
                        <a:t>FR-DM-003</a:t>
                      </a:r>
                    </a:p>
                  </a:txBody>
                  <a:tcPr marL="54864" marR="54864" marT="27432" marB="27432">
                    <a:solidFill>
                      <a:srgbClr val="E5F5FF"/>
                    </a:solidFill>
                  </a:tcPr>
                </a:tc>
                <a:tc>
                  <a:txBody>
                    <a:bodyPr/>
                    <a:lstStyle/>
                    <a:p>
                      <a:r>
                        <a:rPr sz="850" b="0">
                          <a:solidFill>
                            <a:srgbClr val="4B4B4B"/>
                          </a:solidFill>
                          <a:latin typeface="Arial"/>
                        </a:rPr>
                        <a:t>1</a:t>
                      </a:r>
                    </a:p>
                  </a:txBody>
                  <a:tcPr marL="54864" marR="54864" marT="27432" marB="27432">
                    <a:solidFill>
                      <a:srgbClr val="E5F5FF"/>
                    </a:solidFill>
                  </a:tcPr>
                </a:tc>
                <a:tc>
                  <a:txBody>
                    <a:bodyPr/>
                    <a:lstStyle/>
                    <a:p>
                      <a:r>
                        <a:rPr sz="850" b="0">
                          <a:solidFill>
                            <a:srgbClr val="4B4B4B"/>
                          </a:solidFill>
                          <a:latin typeface="Arial"/>
                        </a:rPr>
                        <a:t>Read-only or locked</a:t>
                      </a:r>
                    </a:p>
                  </a:txBody>
                  <a:tcPr marL="54864" marR="54864" marT="27432" marB="27432">
                    <a:solidFill>
                      <a:srgbClr val="E5F5FF"/>
                    </a:solidFill>
                  </a:tcPr>
                </a:tc>
              </a:tr>
              <a:tr h="220979">
                <a:tc>
                  <a:txBody>
                    <a:bodyPr/>
                    <a:lstStyle/>
                    <a:p>
                      <a:r>
                        <a:rPr sz="850" b="0">
                          <a:solidFill>
                            <a:srgbClr val="4B4B4B"/>
                          </a:solidFill>
                          <a:latin typeface="Arial"/>
                        </a:rPr>
                        <a:t>SCR-DM-11</a:t>
                      </a:r>
                    </a:p>
                  </a:txBody>
                  <a:tcPr marL="54864" marR="54864" marT="27432" marB="27432">
                    <a:solidFill>
                      <a:srgbClr val="FFFFFF"/>
                    </a:solidFill>
                  </a:tcPr>
                </a:tc>
                <a:tc>
                  <a:txBody>
                    <a:bodyPr/>
                    <a:lstStyle/>
                    <a:p>
                      <a:r>
                        <a:rPr sz="850" b="0">
                          <a:solidFill>
                            <a:srgbClr val="4B4B4B"/>
                          </a:solidFill>
                          <a:latin typeface="Arial"/>
                        </a:rPr>
                        <a:t>Opening-Balance Adjustments</a:t>
                      </a:r>
                    </a:p>
                  </a:txBody>
                  <a:tcPr marL="54864" marR="54864" marT="27432" marB="27432">
                    <a:solidFill>
                      <a:srgbClr val="FFFFFF"/>
                    </a:solidFill>
                  </a:tcPr>
                </a:tc>
                <a:tc>
                  <a:txBody>
                    <a:bodyPr/>
                    <a:lstStyle/>
                    <a:p>
                      <a:r>
                        <a:rPr sz="850" b="0">
                          <a:solidFill>
                            <a:srgbClr val="4B4B4B"/>
                          </a:solidFill>
                          <a:latin typeface="Arial"/>
                        </a:rPr>
                        <a:t>19.2.1</a:t>
                      </a:r>
                    </a:p>
                  </a:txBody>
                  <a:tcPr marL="54864" marR="54864" marT="27432" marB="27432">
                    <a:solidFill>
                      <a:srgbClr val="FFFFFF"/>
                    </a:solidFill>
                  </a:tcPr>
                </a:tc>
                <a:tc>
                  <a:txBody>
                    <a:bodyPr/>
                    <a:lstStyle/>
                    <a:p>
                      <a:r>
                        <a:rPr sz="850" b="0">
                          <a:solidFill>
                            <a:srgbClr val="4B4B4B"/>
                          </a:solidFill>
                          <a:latin typeface="Arial"/>
                        </a:rPr>
                        <a:t>FR-DM-022, FR-DM-023, FR-DM-024</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Default, Filled</a:t>
                      </a:r>
                    </a:p>
                  </a:txBody>
                  <a:tcPr marL="54864" marR="54864" marT="27432" marB="27432">
                    <a:solidFill>
                      <a:srgbClr val="FFFFFF"/>
                    </a:solidFill>
                  </a:tcPr>
                </a:tc>
              </a:tr>
              <a:tr h="220979">
                <a:tc>
                  <a:txBody>
                    <a:bodyPr/>
                    <a:lstStyle/>
                    <a:p>
                      <a:r>
                        <a:rPr sz="850" b="0">
                          <a:solidFill>
                            <a:srgbClr val="4B4B4B"/>
                          </a:solidFill>
                          <a:latin typeface="Arial"/>
                        </a:rPr>
                        <a:t>SCR-DM-12</a:t>
                      </a:r>
                    </a:p>
                  </a:txBody>
                  <a:tcPr marL="54864" marR="54864" marT="27432" marB="27432">
                    <a:solidFill>
                      <a:srgbClr val="E5F5FF"/>
                    </a:solidFill>
                  </a:tcPr>
                </a:tc>
                <a:tc>
                  <a:txBody>
                    <a:bodyPr/>
                    <a:lstStyle/>
                    <a:p>
                      <a:r>
                        <a:rPr sz="850" b="0">
                          <a:solidFill>
                            <a:srgbClr val="4B4B4B"/>
                          </a:solidFill>
                          <a:latin typeface="Arial"/>
                        </a:rPr>
                        <a:t>Cutover</a:t>
                      </a:r>
                    </a:p>
                  </a:txBody>
                  <a:tcPr marL="54864" marR="54864" marT="27432" marB="27432">
                    <a:solidFill>
                      <a:srgbClr val="E5F5FF"/>
                    </a:solidFill>
                  </a:tcPr>
                </a:tc>
                <a:tc>
                  <a:txBody>
                    <a:bodyPr/>
                    <a:lstStyle/>
                    <a:p>
                      <a:r>
                        <a:rPr sz="850" b="0">
                          <a:solidFill>
                            <a:srgbClr val="4B4B4B"/>
                          </a:solidFill>
                          <a:latin typeface="Arial"/>
                        </a:rPr>
                        <a:t>19.2.2</a:t>
                      </a:r>
                    </a:p>
                  </a:txBody>
                  <a:tcPr marL="54864" marR="54864" marT="27432" marB="27432">
                    <a:solidFill>
                      <a:srgbClr val="E5F5FF"/>
                    </a:solidFill>
                  </a:tcPr>
                </a:tc>
                <a:tc>
                  <a:txBody>
                    <a:bodyPr/>
                    <a:lstStyle/>
                    <a:p>
                      <a:r>
                        <a:rPr sz="850" b="0">
                          <a:solidFill>
                            <a:srgbClr val="4B4B4B"/>
                          </a:solidFill>
                          <a:latin typeface="Arial"/>
                        </a:rPr>
                        <a:t>FR-DM-120, FR-DM-121</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SCR-DM-13</a:t>
                      </a:r>
                    </a:p>
                  </a:txBody>
                  <a:tcPr marL="54864" marR="54864" marT="27432" marB="27432">
                    <a:solidFill>
                      <a:srgbClr val="FFFFFF"/>
                    </a:solidFill>
                  </a:tcPr>
                </a:tc>
                <a:tc>
                  <a:txBody>
                    <a:bodyPr/>
                    <a:lstStyle/>
                    <a:p>
                      <a:r>
                        <a:rPr sz="850" b="0">
                          <a:solidFill>
                            <a:srgbClr val="4B4B4B"/>
                          </a:solidFill>
                          <a:latin typeface="Arial"/>
                        </a:rPr>
                        <a:t>Run-off and Decommissioning</a:t>
                      </a:r>
                    </a:p>
                  </a:txBody>
                  <a:tcPr marL="54864" marR="54864" marT="27432" marB="27432">
                    <a:solidFill>
                      <a:srgbClr val="FFFFFF"/>
                    </a:solidFill>
                  </a:tcPr>
                </a:tc>
                <a:tc>
                  <a:txBody>
                    <a:bodyPr/>
                    <a:lstStyle/>
                    <a:p>
                      <a:r>
                        <a:rPr sz="850" b="0">
                          <a:solidFill>
                            <a:srgbClr val="4B4B4B"/>
                          </a:solidFill>
                          <a:latin typeface="Arial"/>
                        </a:rPr>
                        <a:t>19.2.3</a:t>
                      </a:r>
                    </a:p>
                  </a:txBody>
                  <a:tcPr marL="54864" marR="54864" marT="27432" marB="27432">
                    <a:solidFill>
                      <a:srgbClr val="FFFFFF"/>
                    </a:solidFill>
                  </a:tcPr>
                </a:tc>
                <a:tc>
                  <a:txBody>
                    <a:bodyPr/>
                    <a:lstStyle/>
                    <a:p>
                      <a:r>
                        <a:rPr sz="850" b="0">
                          <a:solidFill>
                            <a:srgbClr val="4B4B4B"/>
                          </a:solidFill>
                          <a:latin typeface="Arial"/>
                        </a:rPr>
                        <a:t>FR-DM-122, FR-DM-123</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SCR-DM-14</a:t>
                      </a:r>
                    </a:p>
                  </a:txBody>
                  <a:tcPr marL="54864" marR="54864" marT="27432" marB="27432">
                    <a:solidFill>
                      <a:srgbClr val="E5F5FF"/>
                    </a:solidFill>
                  </a:tcPr>
                </a:tc>
                <a:tc>
                  <a:txBody>
                    <a:bodyPr/>
                    <a:lstStyle/>
                    <a:p>
                      <a:r>
                        <a:rPr sz="850" b="0">
                          <a:solidFill>
                            <a:srgbClr val="4B4B4B"/>
                          </a:solidFill>
                          <a:latin typeface="Arial"/>
                        </a:rPr>
                        <a:t>Legacy Inquiry</a:t>
                      </a:r>
                    </a:p>
                  </a:txBody>
                  <a:tcPr marL="54864" marR="54864" marT="27432" marB="27432">
                    <a:solidFill>
                      <a:srgbClr val="E5F5FF"/>
                    </a:solidFill>
                  </a:tcPr>
                </a:tc>
                <a:tc>
                  <a:txBody>
                    <a:bodyPr/>
                    <a:lstStyle/>
                    <a:p>
                      <a:r>
                        <a:rPr sz="850" b="0">
                          <a:solidFill>
                            <a:srgbClr val="4B4B4B"/>
                          </a:solidFill>
                          <a:latin typeface="Arial"/>
                        </a:rPr>
                        <a:t>19.3.1</a:t>
                      </a:r>
                    </a:p>
                  </a:txBody>
                  <a:tcPr marL="54864" marR="54864" marT="27432" marB="27432">
                    <a:solidFill>
                      <a:srgbClr val="E5F5FF"/>
                    </a:solidFill>
                  </a:tcPr>
                </a:tc>
                <a:tc>
                  <a:txBody>
                    <a:bodyPr/>
                    <a:lstStyle/>
                    <a:p>
                      <a:r>
                        <a:rPr sz="850" b="0">
                          <a:solidFill>
                            <a:srgbClr val="4B4B4B"/>
                          </a:solidFill>
                          <a:latin typeface="Arial"/>
                        </a:rPr>
                        <a:t>FR-DM-110</a:t>
                      </a:r>
                    </a:p>
                  </a:txBody>
                  <a:tcPr marL="54864" marR="54864" marT="27432" marB="27432">
                    <a:solidFill>
                      <a:srgbClr val="E5F5FF"/>
                    </a:solidFill>
                  </a:tcPr>
                </a:tc>
                <a:tc>
                  <a:txBody>
                    <a:bodyPr/>
                    <a:lstStyle/>
                    <a:p>
                      <a:r>
                        <a:rPr sz="850" b="0">
                          <a:solidFill>
                            <a:srgbClr val="4B4B4B"/>
                          </a:solidFill>
                          <a:latin typeface="Arial"/>
                        </a:rPr>
                        <a:t>4</a:t>
                      </a:r>
                    </a:p>
                  </a:txBody>
                  <a:tcPr marL="54864" marR="54864" marT="27432" marB="27432">
                    <a:solidFill>
                      <a:srgbClr val="E5F5FF"/>
                    </a:solidFill>
                  </a:tcPr>
                </a:tc>
                <a:tc>
                  <a:txBody>
                    <a:bodyPr/>
                    <a:lstStyle/>
                    <a:p>
                      <a:r>
                        <a:rPr sz="850" b="0">
                          <a:solidFill>
                            <a:srgbClr val="4B4B4B"/>
                          </a:solidFill>
                          <a:latin typeface="Arial"/>
                        </a:rPr>
                        <a:t>Default, Empty list, Read-only or locked</a:t>
                      </a:r>
                    </a:p>
                  </a:txBody>
                  <a:tcPr marL="54864" marR="54864" marT="27432" marB="27432">
                    <a:solidFill>
                      <a:srgbClr val="E5F5FF"/>
                    </a:solidFill>
                  </a:tcPr>
                </a:tc>
              </a:tr>
              <a:tr h="220979">
                <a:tc>
                  <a:txBody>
                    <a:bodyPr/>
                    <a:lstStyle/>
                    <a:p>
                      <a:r>
                        <a:rPr sz="850" b="0">
                          <a:solidFill>
                            <a:srgbClr val="4B4B4B"/>
                          </a:solidFill>
                          <a:latin typeface="Arial"/>
                        </a:rPr>
                        <a:t>SCR-DM-15</a:t>
                      </a:r>
                    </a:p>
                  </a:txBody>
                  <a:tcPr marL="54864" marR="54864" marT="27432" marB="27432">
                    <a:solidFill>
                      <a:srgbClr val="FFFFFF"/>
                    </a:solidFill>
                  </a:tcPr>
                </a:tc>
                <a:tc>
                  <a:txBody>
                    <a:bodyPr/>
                    <a:lstStyle/>
                    <a:p>
                      <a:r>
                        <a:rPr sz="850" b="0">
                          <a:solidFill>
                            <a:srgbClr val="4B4B4B"/>
                          </a:solidFill>
                          <a:latin typeface="Arial"/>
                        </a:rPr>
                        <a:t>Access Log</a:t>
                      </a:r>
                    </a:p>
                  </a:txBody>
                  <a:tcPr marL="54864" marR="54864" marT="27432" marB="27432">
                    <a:solidFill>
                      <a:srgbClr val="FFFFFF"/>
                    </a:solidFill>
                  </a:tcPr>
                </a:tc>
                <a:tc>
                  <a:txBody>
                    <a:bodyPr/>
                    <a:lstStyle/>
                    <a:p>
                      <a:r>
                        <a:rPr sz="850" b="0">
                          <a:solidFill>
                            <a:srgbClr val="4B4B4B"/>
                          </a:solidFill>
                          <a:latin typeface="Arial"/>
                        </a:rPr>
                        <a:t>19.3.2</a:t>
                      </a:r>
                    </a:p>
                  </a:txBody>
                  <a:tcPr marL="54864" marR="54864" marT="27432" marB="27432">
                    <a:solidFill>
                      <a:srgbClr val="FFFFFF"/>
                    </a:solidFill>
                  </a:tcPr>
                </a:tc>
                <a:tc>
                  <a:txBody>
                    <a:bodyPr/>
                    <a:lstStyle/>
                    <a:p>
                      <a:r>
                        <a:rPr sz="850" b="0">
                          <a:solidFill>
                            <a:srgbClr val="4B4B4B"/>
                          </a:solidFill>
                          <a:latin typeface="Arial"/>
                        </a:rPr>
                        <a:t>FR-DM-111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r h="220979">
                <a:tc>
                  <a:txBody>
                    <a:bodyPr/>
                    <a:lstStyle/>
                    <a:p>
                      <a:r>
                        <a:rPr sz="850" b="0">
                          <a:solidFill>
                            <a:srgbClr val="4B4B4B"/>
                          </a:solidFill>
                          <a:latin typeface="Arial"/>
                        </a:rPr>
                        <a:t>SCR-DM-16</a:t>
                      </a:r>
                    </a:p>
                  </a:txBody>
                  <a:tcPr marL="54864" marR="54864" marT="27432" marB="27432">
                    <a:solidFill>
                      <a:srgbClr val="E5F5FF"/>
                    </a:solidFill>
                  </a:tcPr>
                </a:tc>
                <a:tc>
                  <a:txBody>
                    <a:bodyPr/>
                    <a:lstStyle/>
                    <a:p>
                      <a:r>
                        <a:rPr sz="850" b="0">
                          <a:solidFill>
                            <a:srgbClr val="4B4B4B"/>
                          </a:solidFill>
                          <a:latin typeface="Arial"/>
                        </a:rPr>
                        <a:t>LEGACY badge and Origin filter on the lists</a:t>
                      </a:r>
                    </a:p>
                  </a:txBody>
                  <a:tcPr marL="54864" marR="54864" marT="27432" marB="27432">
                    <a:solidFill>
                      <a:srgbClr val="E5F5FF"/>
                    </a:solidFill>
                  </a:tcPr>
                </a:tc>
                <a:tc>
                  <a:txBody>
                    <a:bodyPr/>
                    <a:lstStyle/>
                    <a:p>
                      <a:r>
                        <a:rPr sz="850" b="0">
                          <a:solidFill>
                            <a:srgbClr val="4B4B4B"/>
                          </a:solidFill>
                          <a:latin typeface="Arial"/>
                        </a:rPr>
                        <a:t>19.4.1</a:t>
                      </a:r>
                    </a:p>
                  </a:txBody>
                  <a:tcPr marL="54864" marR="54864" marT="27432" marB="27432">
                    <a:solidFill>
                      <a:srgbClr val="E5F5FF"/>
                    </a:solidFill>
                  </a:tcPr>
                </a:tc>
                <a:tc>
                  <a:txBody>
                    <a:bodyPr/>
                    <a:lstStyle/>
                    <a:p>
                      <a:r>
                        <a:rPr sz="850" b="0">
                          <a:solidFill>
                            <a:srgbClr val="4B4B4B"/>
                          </a:solidFill>
                          <a:latin typeface="Arial"/>
                        </a:rPr>
                        <a:t>FR-DM-032, FR-DM-033, FR-DM-040</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Default</a:t>
                      </a:r>
                    </a:p>
                  </a:txBody>
                  <a:tcPr marL="54864" marR="54864" marT="27432" marB="27432">
                    <a:solidFill>
                      <a:srgbClr val="E5F5FF"/>
                    </a:solidFill>
                  </a:tcPr>
                </a:tc>
              </a:tr>
              <a:tr h="220979">
                <a:tc>
                  <a:txBody>
                    <a:bodyPr/>
                    <a:lstStyle/>
                    <a:p>
                      <a:r>
                        <a:rPr sz="850" b="0">
                          <a:solidFill>
                            <a:srgbClr val="4B4B4B"/>
                          </a:solidFill>
                          <a:latin typeface="Arial"/>
                        </a:rPr>
                        <a:t>SCR-DM-17</a:t>
                      </a:r>
                    </a:p>
                  </a:txBody>
                  <a:tcPr marL="54864" marR="54864" marT="27432" marB="27432">
                    <a:solidFill>
                      <a:srgbClr val="FFFFFF"/>
                    </a:solidFill>
                  </a:tcPr>
                </a:tc>
                <a:tc>
                  <a:txBody>
                    <a:bodyPr/>
                    <a:lstStyle/>
                    <a:p>
                      <a:r>
                        <a:rPr sz="850" b="0">
                          <a:solidFill>
                            <a:srgbClr val="4B4B4B"/>
                          </a:solidFill>
                          <a:latin typeface="Arial"/>
                        </a:rPr>
                        <a:t>Legacy invoice on Invoice 360</a:t>
                      </a:r>
                    </a:p>
                  </a:txBody>
                  <a:tcPr marL="54864" marR="54864" marT="27432" marB="27432">
                    <a:solidFill>
                      <a:srgbClr val="FFFFFF"/>
                    </a:solidFill>
                  </a:tcPr>
                </a:tc>
                <a:tc>
                  <a:txBody>
                    <a:bodyPr/>
                    <a:lstStyle/>
                    <a:p>
                      <a:r>
                        <a:rPr sz="850" b="0">
                          <a:solidFill>
                            <a:srgbClr val="4B4B4B"/>
                          </a:solidFill>
                          <a:latin typeface="Arial"/>
                        </a:rPr>
                        <a:t>19.4.2</a:t>
                      </a:r>
                    </a:p>
                  </a:txBody>
                  <a:tcPr marL="54864" marR="54864" marT="27432" marB="27432">
                    <a:solidFill>
                      <a:srgbClr val="FFFFFF"/>
                    </a:solidFill>
                  </a:tcPr>
                </a:tc>
                <a:tc>
                  <a:txBody>
                    <a:bodyPr/>
                    <a:lstStyle/>
                    <a:p>
                      <a:r>
                        <a:rPr sz="850" b="0">
                          <a:solidFill>
                            <a:srgbClr val="4B4B4B"/>
                          </a:solidFill>
                          <a:latin typeface="Arial"/>
                        </a:rPr>
                        <a:t>FR-DM-050, FR-DM-051, FR-DM-060, FR-DM-100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Read-only or locked</a:t>
                      </a:r>
                    </a:p>
                  </a:txBody>
                  <a:tcPr marL="54864" marR="54864" marT="27432" marB="27432">
                    <a:solidFill>
                      <a:srgbClr val="FFFFFF"/>
                    </a:solidFill>
                  </a:tcPr>
                </a:tc>
              </a:tr>
              <a:tr h="220979">
                <a:tc>
                  <a:txBody>
                    <a:bodyPr/>
                    <a:lstStyle/>
                    <a:p>
                      <a:r>
                        <a:rPr sz="850" b="0">
                          <a:solidFill>
                            <a:srgbClr val="4B4B4B"/>
                          </a:solidFill>
                          <a:latin typeface="Arial"/>
                        </a:rPr>
                        <a:t>SCR-DM-18</a:t>
                      </a:r>
                    </a:p>
                  </a:txBody>
                  <a:tcPr marL="54864" marR="54864" marT="27432" marB="27432">
                    <a:solidFill>
                      <a:srgbClr val="E5F5FF"/>
                    </a:solidFill>
                  </a:tcPr>
                </a:tc>
                <a:tc>
                  <a:txBody>
                    <a:bodyPr/>
                    <a:lstStyle/>
                    <a:p>
                      <a:r>
                        <a:rPr sz="850" b="0">
                          <a:solidFill>
                            <a:srgbClr val="4B4B4B"/>
                          </a:solidFill>
                          <a:latin typeface="Arial"/>
                        </a:rPr>
                        <a:t>Unapplied to Income</a:t>
                      </a:r>
                    </a:p>
                  </a:txBody>
                  <a:tcPr marL="54864" marR="54864" marT="27432" marB="27432">
                    <a:solidFill>
                      <a:srgbClr val="E5F5FF"/>
                    </a:solidFill>
                  </a:tcPr>
                </a:tc>
                <a:tc>
                  <a:txBody>
                    <a:bodyPr/>
                    <a:lstStyle/>
                    <a:p>
                      <a:r>
                        <a:rPr sz="850" b="0">
                          <a:solidFill>
                            <a:srgbClr val="4B4B4B"/>
                          </a:solidFill>
                          <a:latin typeface="Arial"/>
                        </a:rPr>
                        <a:t>19.5.1</a:t>
                      </a:r>
                    </a:p>
                  </a:txBody>
                  <a:tcPr marL="54864" marR="54864" marT="27432" marB="27432">
                    <a:solidFill>
                      <a:srgbClr val="E5F5FF"/>
                    </a:solidFill>
                  </a:tcPr>
                </a:tc>
                <a:tc>
                  <a:txBody>
                    <a:bodyPr/>
                    <a:lstStyle/>
                    <a:p>
                      <a:r>
                        <a:rPr sz="850" b="0">
                          <a:solidFill>
                            <a:srgbClr val="4B4B4B"/>
                          </a:solidFill>
                          <a:latin typeface="Arial"/>
                        </a:rPr>
                        <a:t>FR-DM-055</a:t>
                      </a:r>
                    </a:p>
                  </a:txBody>
                  <a:tcPr marL="54864" marR="54864" marT="27432" marB="27432">
                    <a:solidFill>
                      <a:srgbClr val="E5F5FF"/>
                    </a:solidFill>
                  </a:tcPr>
                </a:tc>
                <a:tc>
                  <a:txBody>
                    <a:bodyPr/>
                    <a:lstStyle/>
                    <a:p>
                      <a:r>
                        <a:rPr sz="850" b="0">
                          <a:solidFill>
                            <a:srgbClr val="4B4B4B"/>
                          </a:solidFill>
                          <a:latin typeface="Arial"/>
                        </a:rPr>
                        <a:t>3</a:t>
                      </a:r>
                    </a:p>
                  </a:txBody>
                  <a:tcPr marL="54864" marR="54864" marT="27432" marB="27432">
                    <a:solidFill>
                      <a:srgbClr val="E5F5FF"/>
                    </a:solidFill>
                  </a:tcPr>
                </a:tc>
                <a:tc>
                  <a:txBody>
                    <a:bodyPr/>
                    <a:lstStyle/>
                    <a:p>
                      <a:r>
                        <a:rPr sz="850" b="0">
                          <a:solidFill>
                            <a:srgbClr val="4B4B4B"/>
                          </a:solidFill>
                          <a:latin typeface="Arial"/>
                        </a:rPr>
                        <a:t>Default, Pending approval</a:t>
                      </a:r>
                    </a:p>
                  </a:txBody>
                  <a:tcPr marL="54864" marR="54864" marT="27432" marB="27432">
                    <a:solidFill>
                      <a:srgbClr val="E5F5FF"/>
                    </a:solidFill>
                  </a:tcPr>
                </a:tc>
              </a:tr>
              <a:tr h="220979">
                <a:tc>
                  <a:txBody>
                    <a:bodyPr/>
                    <a:lstStyle/>
                    <a:p>
                      <a:r>
                        <a:rPr sz="850" b="0">
                          <a:solidFill>
                            <a:srgbClr val="4B4B4B"/>
                          </a:solidFill>
                          <a:latin typeface="Arial"/>
                        </a:rPr>
                        <a:t>SCR-DM-19</a:t>
                      </a:r>
                    </a:p>
                  </a:txBody>
                  <a:tcPr marL="54864" marR="54864" marT="27432" marB="27432">
                    <a:solidFill>
                      <a:srgbClr val="FFFFFF"/>
                    </a:solidFill>
                  </a:tcPr>
                </a:tc>
                <a:tc>
                  <a:txBody>
                    <a:bodyPr/>
                    <a:lstStyle/>
                    <a:p>
                      <a:r>
                        <a:rPr sz="850" b="0">
                          <a:solidFill>
                            <a:srgbClr val="4B4B4B"/>
                          </a:solidFill>
                          <a:latin typeface="Arial"/>
                        </a:rPr>
                        <a:t>Legacy PR 2307 Reversal</a:t>
                      </a:r>
                    </a:p>
                  </a:txBody>
                  <a:tcPr marL="54864" marR="54864" marT="27432" marB="27432">
                    <a:solidFill>
                      <a:srgbClr val="FFFFFF"/>
                    </a:solidFill>
                  </a:tcPr>
                </a:tc>
                <a:tc>
                  <a:txBody>
                    <a:bodyPr/>
                    <a:lstStyle/>
                    <a:p>
                      <a:r>
                        <a:rPr sz="850" b="0">
                          <a:solidFill>
                            <a:srgbClr val="4B4B4B"/>
                          </a:solidFill>
                          <a:latin typeface="Arial"/>
                        </a:rPr>
                        <a:t>19.5.2</a:t>
                      </a:r>
                    </a:p>
                  </a:txBody>
                  <a:tcPr marL="54864" marR="54864" marT="27432" marB="27432">
                    <a:solidFill>
                      <a:srgbClr val="FFFFFF"/>
                    </a:solidFill>
                  </a:tcPr>
                </a:tc>
                <a:tc>
                  <a:txBody>
                    <a:bodyPr/>
                    <a:lstStyle/>
                    <a:p>
                      <a:r>
                        <a:rPr sz="850" b="0">
                          <a:solidFill>
                            <a:srgbClr val="4B4B4B"/>
                          </a:solidFill>
                          <a:latin typeface="Arial"/>
                        </a:rPr>
                        <a:t>FR-DM-071</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bl>
          </a:graphicData>
        </a:graphic>
      </p:graphicFrame>
    </p:spTree>
  </p:cSld>
  <p:clrMapOvr>
    <a:masterClrMapping/>
  </p:clrMapOvr>
</p:sld>
</file>

<file path=ppt/slides/slide3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548640" y="320040"/>
            <a:ext cx="9509760" cy="731520"/>
          </a:xfrm>
          <a:prstGeom prst="rect">
            <a:avLst/>
          </a:prstGeom>
          <a:noFill/>
        </p:spPr>
        <p:txBody>
          <a:bodyPr wrap="square" anchor="ctr" lIns="45720" rIns="45720">
            <a:spAutoFit/>
          </a:bodyPr>
          <a:lstStyle/>
          <a:p>
            <a:r>
              <a:rPr sz="2000" b="1" i="0">
                <a:solidFill>
                  <a:srgbClr val="004EA8"/>
                </a:solidFill>
                <a:latin typeface="Arial"/>
              </a:rPr>
              <a:t>Screen ID, FRS section and requirements (2 of 2)</a:t>
            </a:r>
          </a:p>
        </p:txBody>
      </p:sp>
      <p:sp>
        <p:nvSpPr>
          <p:cNvPr id="3" name="Rectangle 2"/>
          <p:cNvSpPr/>
          <p:nvPr/>
        </p:nvSpPr>
        <p:spPr>
          <a:xfrm>
            <a:off x="548640" y="1097280"/>
            <a:ext cx="11094415" cy="25400"/>
          </a:xfrm>
          <a:prstGeom prst="rect">
            <a:avLst/>
          </a:prstGeom>
          <a:solidFill>
            <a:srgbClr val="FDB91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4" name="Picture 3" descr="client-logo.png"/>
          <p:cNvPicPr>
            <a:picLocks noChangeAspect="1"/>
          </p:cNvPicPr>
          <p:nvPr/>
        </p:nvPicPr>
        <p:blipFill>
          <a:blip r:embed="rId2"/>
          <a:stretch>
            <a:fillRect/>
          </a:stretch>
        </p:blipFill>
        <p:spPr>
          <a:xfrm>
            <a:off x="9997135" y="457200"/>
            <a:ext cx="1645920" cy="335280"/>
          </a:xfrm>
          <a:prstGeom prst="rect">
            <a:avLst/>
          </a:prstGeom>
        </p:spPr>
      </p:pic>
      <p:sp>
        <p:nvSpPr>
          <p:cNvPr id="5" name="Rectangle 4"/>
          <p:cNvSpPr/>
          <p:nvPr/>
        </p:nvSpPr>
        <p:spPr>
          <a:xfrm>
            <a:off x="548640" y="6355080"/>
            <a:ext cx="11094415" cy="9525"/>
          </a:xfrm>
          <a:prstGeom prst="rect">
            <a:avLst/>
          </a:prstGeom>
          <a:solidFill>
            <a:srgbClr val="C2C2C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48640" y="6400800"/>
            <a:ext cx="3657600" cy="320040"/>
          </a:xfrm>
          <a:prstGeom prst="rect">
            <a:avLst/>
          </a:prstGeom>
          <a:noFill/>
        </p:spPr>
        <p:txBody>
          <a:bodyPr wrap="square" anchor="t" lIns="45720" rIns="45720">
            <a:spAutoFit/>
          </a:bodyPr>
          <a:lstStyle/>
          <a:p>
            <a:r>
              <a:rPr sz="900" b="0" i="0">
                <a:solidFill>
                  <a:srgbClr val="656565"/>
                </a:solidFill>
                <a:latin typeface="Arial"/>
              </a:rPr>
              <a:t>Confidential – BDOI</a:t>
            </a:r>
          </a:p>
        </p:txBody>
      </p:sp>
      <p:sp>
        <p:nvSpPr>
          <p:cNvPr id="7" name="TextBox 6"/>
          <p:cNvSpPr txBox="1"/>
          <p:nvPr/>
        </p:nvSpPr>
        <p:spPr>
          <a:xfrm>
            <a:off x="4297680" y="6400800"/>
            <a:ext cx="3657600" cy="320040"/>
          </a:xfrm>
          <a:prstGeom prst="rect">
            <a:avLst/>
          </a:prstGeom>
          <a:noFill/>
        </p:spPr>
        <p:txBody>
          <a:bodyPr wrap="square" anchor="t" lIns="45720" rIns="45720">
            <a:spAutoFit/>
          </a:bodyPr>
          <a:lstStyle/>
          <a:p>
            <a:pPr algn="ctr"/>
            <a:r>
              <a:rPr sz="900" b="0" i="0">
                <a:solidFill>
                  <a:srgbClr val="656565"/>
                </a:solidFill>
                <a:latin typeface="Arial"/>
              </a:rPr>
              <a:t>UX Screen Deck BRD-13 Data Migration | v2.0</a:t>
            </a:r>
          </a:p>
        </p:txBody>
      </p:sp>
      <p:sp>
        <p:nvSpPr>
          <p:cNvPr id="8" name="TextBox 7"/>
          <p:cNvSpPr txBox="1"/>
          <p:nvPr/>
        </p:nvSpPr>
        <p:spPr>
          <a:xfrm>
            <a:off x="10271455" y="6400800"/>
            <a:ext cx="1371600" cy="320040"/>
          </a:xfrm>
          <a:prstGeom prst="rect">
            <a:avLst/>
          </a:prstGeom>
          <a:noFill/>
        </p:spPr>
        <p:txBody>
          <a:bodyPr wrap="square" anchor="t" lIns="45720" rIns="45720">
            <a:spAutoFit/>
          </a:bodyPr>
          <a:lstStyle/>
          <a:p>
            <a:pPr algn="r"/>
            <a:r>
              <a:rPr sz="900" b="0" i="0">
                <a:solidFill>
                  <a:srgbClr val="656565"/>
                </a:solidFill>
                <a:latin typeface="Arial"/>
              </a:rPr>
              <a:t>341</a:t>
            </a:r>
          </a:p>
        </p:txBody>
      </p:sp>
      <p:graphicFrame>
        <p:nvGraphicFramePr>
          <p:cNvPr id="9" name="Table 8"/>
          <p:cNvGraphicFramePr>
            <a:graphicFrameLocks noGrp="1"/>
          </p:cNvGraphicFramePr>
          <p:nvPr/>
        </p:nvGraphicFramePr>
        <p:xfrm>
          <a:off x="548640" y="1325880"/>
          <a:ext cx="11094412" cy="4404338"/>
        </p:xfrm>
        <a:graphic>
          <a:graphicData uri="http://schemas.openxmlformats.org/drawingml/2006/table">
            <a:tbl>
              <a:tblPr firstRow="1" bandRow="1">
                <a:tableStyleId>{5C22544A-7EE6-4342-B048-85BDC9FD1C3A}</a:tableStyleId>
              </a:tblPr>
              <a:tblGrid>
                <a:gridCol w="1109441"/>
                <a:gridCol w="2816274"/>
                <a:gridCol w="938758"/>
                <a:gridCol w="2560249"/>
                <a:gridCol w="682733"/>
                <a:gridCol w="2986957"/>
              </a:tblGrid>
              <a:tr h="480057">
                <a:tc>
                  <a:txBody>
                    <a:bodyPr/>
                    <a:lstStyle/>
                    <a:p>
                      <a:r>
                        <a:rPr sz="850" b="1">
                          <a:solidFill>
                            <a:srgbClr val="FFFFFF"/>
                          </a:solidFill>
                          <a:latin typeface="Arial"/>
                        </a:rPr>
                        <a:t>Screen ID</a:t>
                      </a:r>
                    </a:p>
                  </a:txBody>
                  <a:tcPr marL="54864" marR="54864" marT="27432" marB="27432">
                    <a:solidFill>
                      <a:srgbClr val="004EA8"/>
                    </a:solidFill>
                  </a:tcPr>
                </a:tc>
                <a:tc>
                  <a:txBody>
                    <a:bodyPr/>
                    <a:lstStyle/>
                    <a:p>
                      <a:r>
                        <a:rPr sz="850" b="1">
                          <a:solidFill>
                            <a:srgbClr val="FFFFFF"/>
                          </a:solidFill>
                          <a:latin typeface="Arial"/>
                        </a:rPr>
                        <a:t>Screen</a:t>
                      </a:r>
                    </a:p>
                  </a:txBody>
                  <a:tcPr marL="54864" marR="54864" marT="27432" marB="27432">
                    <a:solidFill>
                      <a:srgbClr val="004EA8"/>
                    </a:solidFill>
                  </a:tcPr>
                </a:tc>
                <a:tc>
                  <a:txBody>
                    <a:bodyPr/>
                    <a:lstStyle/>
                    <a:p>
                      <a:r>
                        <a:rPr sz="850" b="1">
                          <a:solidFill>
                            <a:srgbClr val="FFFFFF"/>
                          </a:solidFill>
                          <a:latin typeface="Arial"/>
                        </a:rPr>
                        <a:t>Data Migration Handbook section</a:t>
                      </a:r>
                    </a:p>
                  </a:txBody>
                  <a:tcPr marL="54864" marR="54864" marT="27432" marB="27432">
                    <a:solidFill>
                      <a:srgbClr val="004EA8"/>
                    </a:solidFill>
                  </a:tcPr>
                </a:tc>
                <a:tc>
                  <a:txBody>
                    <a:bodyPr/>
                    <a:lstStyle/>
                    <a:p>
                      <a:r>
                        <a:rPr sz="850" b="1">
                          <a:solidFill>
                            <a:srgbClr val="FFFFFF"/>
                          </a:solidFill>
                          <a:latin typeface="Arial"/>
                        </a:rPr>
                        <a:t>Requirements</a:t>
                      </a:r>
                    </a:p>
                  </a:txBody>
                  <a:tcPr marL="54864" marR="54864" marT="27432" marB="27432">
                    <a:solidFill>
                      <a:srgbClr val="004EA8"/>
                    </a:solidFill>
                  </a:tcPr>
                </a:tc>
                <a:tc>
                  <a:txBody>
                    <a:bodyPr/>
                    <a:lstStyle/>
                    <a:p>
                      <a:r>
                        <a:rPr sz="850" b="1">
                          <a:solidFill>
                            <a:srgbClr val="FFFFFF"/>
                          </a:solidFill>
                          <a:latin typeface="Arial"/>
                        </a:rPr>
                        <a:t>Images</a:t>
                      </a:r>
                    </a:p>
                  </a:txBody>
                  <a:tcPr marL="54864" marR="54864" marT="27432" marB="27432">
                    <a:solidFill>
                      <a:srgbClr val="004EA8"/>
                    </a:solidFill>
                  </a:tcPr>
                </a:tc>
                <a:tc>
                  <a:txBody>
                    <a:bodyPr/>
                    <a:lstStyle/>
                    <a:p>
                      <a:r>
                        <a:rPr sz="850" b="1">
                          <a:solidFill>
                            <a:srgbClr val="FFFFFF"/>
                          </a:solidFill>
                          <a:latin typeface="Arial"/>
                        </a:rPr>
                        <a:t>States</a:t>
                      </a:r>
                    </a:p>
                  </a:txBody>
                  <a:tcPr marL="54864" marR="54864" marT="27432" marB="27432">
                    <a:solidFill>
                      <a:srgbClr val="004EA8"/>
                    </a:solidFill>
                  </a:tcPr>
                </a:tc>
              </a:tr>
              <a:tr h="220979">
                <a:tc>
                  <a:txBody>
                    <a:bodyPr/>
                    <a:lstStyle/>
                    <a:p>
                      <a:r>
                        <a:rPr sz="850" b="0">
                          <a:solidFill>
                            <a:srgbClr val="4B4B4B"/>
                          </a:solidFill>
                          <a:latin typeface="Arial"/>
                        </a:rPr>
                        <a:t>SCR-DM-20</a:t>
                      </a:r>
                    </a:p>
                  </a:txBody>
                  <a:tcPr marL="54864" marR="54864" marT="27432" marB="27432">
                    <a:solidFill>
                      <a:srgbClr val="FFFFFF"/>
                    </a:solidFill>
                  </a:tcPr>
                </a:tc>
                <a:tc>
                  <a:txBody>
                    <a:bodyPr/>
                    <a:lstStyle/>
                    <a:p>
                      <a:r>
                        <a:rPr sz="850" b="0">
                          <a:solidFill>
                            <a:srgbClr val="4B4B4B"/>
                          </a:solidFill>
                          <a:latin typeface="Arial"/>
                        </a:rPr>
                        <a:t>DP PR Legacy Reversal</a:t>
                      </a:r>
                    </a:p>
                  </a:txBody>
                  <a:tcPr marL="54864" marR="54864" marT="27432" marB="27432">
                    <a:solidFill>
                      <a:srgbClr val="FFFFFF"/>
                    </a:solidFill>
                  </a:tcPr>
                </a:tc>
                <a:tc>
                  <a:txBody>
                    <a:bodyPr/>
                    <a:lstStyle/>
                    <a:p>
                      <a:r>
                        <a:rPr sz="850" b="0">
                          <a:solidFill>
                            <a:srgbClr val="4B4B4B"/>
                          </a:solidFill>
                          <a:latin typeface="Arial"/>
                        </a:rPr>
                        <a:t>19.5.3</a:t>
                      </a:r>
                    </a:p>
                  </a:txBody>
                  <a:tcPr marL="54864" marR="54864" marT="27432" marB="27432">
                    <a:solidFill>
                      <a:srgbClr val="FFFFFF"/>
                    </a:solidFill>
                  </a:tcPr>
                </a:tc>
                <a:tc>
                  <a:txBody>
                    <a:bodyPr/>
                    <a:lstStyle/>
                    <a:p>
                      <a:r>
                        <a:rPr sz="850" b="0">
                          <a:solidFill>
                            <a:srgbClr val="4B4B4B"/>
                          </a:solidFill>
                          <a:latin typeface="Arial"/>
                        </a:rPr>
                        <a:t>FR-DM-070</a:t>
                      </a:r>
                    </a:p>
                  </a:txBody>
                  <a:tcPr marL="54864" marR="54864" marT="27432" marB="27432">
                    <a:solidFill>
                      <a:srgbClr val="FFFFFF"/>
                    </a:solidFill>
                  </a:tcPr>
                </a:tc>
                <a:tc>
                  <a:txBody>
                    <a:bodyPr/>
                    <a:lstStyle/>
                    <a:p>
                      <a:r>
                        <a:rPr sz="850" b="0">
                          <a:solidFill>
                            <a:srgbClr val="4B4B4B"/>
                          </a:solidFill>
                          <a:latin typeface="Arial"/>
                        </a:rPr>
                        <a:t>1</a:t>
                      </a:r>
                    </a:p>
                  </a:txBody>
                  <a:tcPr marL="54864" marR="54864" marT="27432" marB="27432">
                    <a:solidFill>
                      <a:srgbClr val="FFFFFF"/>
                    </a:solidFill>
                  </a:tcPr>
                </a:tc>
                <a:tc>
                  <a:txBody>
                    <a:bodyPr/>
                    <a:lstStyle/>
                    <a:p>
                      <a:r>
                        <a:rPr sz="850" b="0">
                          <a:solidFill>
                            <a:srgbClr val="4B4B4B"/>
                          </a:solidFill>
                          <a:latin typeface="Arial"/>
                        </a:rPr>
                        <a:t>Default</a:t>
                      </a:r>
                    </a:p>
                  </a:txBody>
                  <a:tcPr marL="54864" marR="54864" marT="27432" marB="27432">
                    <a:solidFill>
                      <a:srgbClr val="FFFFFF"/>
                    </a:solidFill>
                  </a:tcPr>
                </a:tc>
              </a:tr>
              <a:tr h="220979">
                <a:tc>
                  <a:txBody>
                    <a:bodyPr/>
                    <a:lstStyle/>
                    <a:p>
                      <a:r>
                        <a:rPr sz="850" b="0">
                          <a:solidFill>
                            <a:srgbClr val="4B4B4B"/>
                          </a:solidFill>
                          <a:latin typeface="Arial"/>
                        </a:rPr>
                        <a:t>NAV-DM-01</a:t>
                      </a:r>
                    </a:p>
                  </a:txBody>
                  <a:tcPr marL="54864" marR="54864" marT="27432" marB="27432">
                    <a:solidFill>
                      <a:srgbClr val="E5F5FF"/>
                    </a:solidFill>
                  </a:tcPr>
                </a:tc>
                <a:tc>
                  <a:txBody>
                    <a:bodyPr/>
                    <a:lstStyle/>
                    <a:p>
                      <a:r>
                        <a:rPr sz="850" b="0">
                          <a:solidFill>
                            <a:srgbClr val="4B4B4B"/>
                          </a:solidFill>
                          <a:latin typeface="Arial"/>
                        </a:rPr>
                        <a:t>Landing page and menu: Data Migration Lead</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NAV-DM-02</a:t>
                      </a:r>
                    </a:p>
                  </a:txBody>
                  <a:tcPr marL="54864" marR="54864" marT="27432" marB="27432">
                    <a:solidFill>
                      <a:srgbClr val="FFFFFF"/>
                    </a:solidFill>
                  </a:tcPr>
                </a:tc>
                <a:tc>
                  <a:txBody>
                    <a:bodyPr/>
                    <a:lstStyle/>
                    <a:p>
                      <a:r>
                        <a:rPr sz="850" b="0">
                          <a:solidFill>
                            <a:srgbClr val="4B4B4B"/>
                          </a:solidFill>
                          <a:latin typeface="Arial"/>
                        </a:rPr>
                        <a:t>Landing page and menu: Data Steward</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NAV-DM-03</a:t>
                      </a:r>
                    </a:p>
                  </a:txBody>
                  <a:tcPr marL="54864" marR="54864" marT="27432" marB="27432">
                    <a:solidFill>
                      <a:srgbClr val="E5F5FF"/>
                    </a:solidFill>
                  </a:tcPr>
                </a:tc>
                <a:tc>
                  <a:txBody>
                    <a:bodyPr/>
                    <a:lstStyle/>
                    <a:p>
                      <a:r>
                        <a:rPr sz="850" b="0">
                          <a:solidFill>
                            <a:srgbClr val="4B4B4B"/>
                          </a:solidFill>
                          <a:latin typeface="Arial"/>
                        </a:rPr>
                        <a:t>Landing page and menu: Data owner (business owner of an object)</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NAV-DM-04</a:t>
                      </a:r>
                    </a:p>
                  </a:txBody>
                  <a:tcPr marL="54864" marR="54864" marT="27432" marB="27432">
                    <a:solidFill>
                      <a:srgbClr val="FFFFFF"/>
                    </a:solidFill>
                  </a:tcPr>
                </a:tc>
                <a:tc>
                  <a:txBody>
                    <a:bodyPr/>
                    <a:lstStyle/>
                    <a:p>
                      <a:r>
                        <a:rPr sz="850" b="0">
                          <a:solidFill>
                            <a:srgbClr val="4B4B4B"/>
                          </a:solidFill>
                          <a:latin typeface="Arial"/>
                        </a:rPr>
                        <a:t>Landing page and menu: Migration Operator</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NAV-DM-05</a:t>
                      </a:r>
                    </a:p>
                  </a:txBody>
                  <a:tcPr marL="54864" marR="54864" marT="27432" marB="27432">
                    <a:solidFill>
                      <a:srgbClr val="E5F5FF"/>
                    </a:solidFill>
                  </a:tcPr>
                </a:tc>
                <a:tc>
                  <a:txBody>
                    <a:bodyPr/>
                    <a:lstStyle/>
                    <a:p>
                      <a:r>
                        <a:rPr sz="850" b="0">
                          <a:solidFill>
                            <a:srgbClr val="4B4B4B"/>
                          </a:solidFill>
                          <a:latin typeface="Arial"/>
                        </a:rPr>
                        <a:t>Landing page and menu: Reconciliation approver (Head of Comptrollership)</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NAV-DM-06</a:t>
                      </a:r>
                    </a:p>
                  </a:txBody>
                  <a:tcPr marL="54864" marR="54864" marT="27432" marB="27432">
                    <a:solidFill>
                      <a:srgbClr val="FFFFFF"/>
                    </a:solidFill>
                  </a:tcPr>
                </a:tc>
                <a:tc>
                  <a:txBody>
                    <a:bodyPr/>
                    <a:lstStyle/>
                    <a:p>
                      <a:r>
                        <a:rPr sz="850" b="0">
                          <a:solidFill>
                            <a:srgbClr val="4B4B4B"/>
                          </a:solidFill>
                          <a:latin typeface="Arial"/>
                        </a:rPr>
                        <a:t>Landing page and menu: Go / no-go board</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NAV-DM-07</a:t>
                      </a:r>
                    </a:p>
                  </a:txBody>
                  <a:tcPr marL="54864" marR="54864" marT="27432" marB="27432">
                    <a:solidFill>
                      <a:srgbClr val="E5F5FF"/>
                    </a:solidFill>
                  </a:tcPr>
                </a:tc>
                <a:tc>
                  <a:txBody>
                    <a:bodyPr/>
                    <a:lstStyle/>
                    <a:p>
                      <a:r>
                        <a:rPr sz="850" b="0">
                          <a:solidFill>
                            <a:srgbClr val="4B4B4B"/>
                          </a:solidFill>
                          <a:latin typeface="Arial"/>
                        </a:rPr>
                        <a:t>Landing page and menu: Comptrollership GL lead</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NAV-DM-08</a:t>
                      </a:r>
                    </a:p>
                  </a:txBody>
                  <a:tcPr marL="54864" marR="54864" marT="27432" marB="27432">
                    <a:solidFill>
                      <a:srgbClr val="FFFFFF"/>
                    </a:solidFill>
                  </a:tcPr>
                </a:tc>
                <a:tc>
                  <a:txBody>
                    <a:bodyPr/>
                    <a:lstStyle/>
                    <a:p>
                      <a:r>
                        <a:rPr sz="850" b="0">
                          <a:solidFill>
                            <a:srgbClr val="4B4B4B"/>
                          </a:solidFill>
                          <a:latin typeface="Arial"/>
                        </a:rPr>
                        <a:t>Landing page and menu: Audit / Compliance user</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350518">
                <a:tc>
                  <a:txBody>
                    <a:bodyPr/>
                    <a:lstStyle/>
                    <a:p>
                      <a:r>
                        <a:rPr sz="850" b="0">
                          <a:solidFill>
                            <a:srgbClr val="4B4B4B"/>
                          </a:solidFill>
                          <a:latin typeface="Arial"/>
                        </a:rPr>
                        <a:t>NAV-DM-09</a:t>
                      </a:r>
                    </a:p>
                  </a:txBody>
                  <a:tcPr marL="54864" marR="54864" marT="27432" marB="27432">
                    <a:solidFill>
                      <a:srgbClr val="E5F5FF"/>
                    </a:solidFill>
                  </a:tcPr>
                </a:tc>
                <a:tc>
                  <a:txBody>
                    <a:bodyPr/>
                    <a:lstStyle/>
                    <a:p>
                      <a:r>
                        <a:rPr sz="850" b="0">
                          <a:solidFill>
                            <a:srgbClr val="4B4B4B"/>
                          </a:solidFill>
                          <a:latin typeface="Arial"/>
                        </a:rPr>
                        <a:t>Landing page and menu: Compliance reviewer of the access log</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NAV-DM-10</a:t>
                      </a:r>
                    </a:p>
                  </a:txBody>
                  <a:tcPr marL="54864" marR="54864" marT="27432" marB="27432">
                    <a:solidFill>
                      <a:srgbClr val="FFFFFF"/>
                    </a:solidFill>
                  </a:tcPr>
                </a:tc>
                <a:tc>
                  <a:txBody>
                    <a:bodyPr/>
                    <a:lstStyle/>
                    <a:p>
                      <a:r>
                        <a:rPr sz="850" b="0">
                          <a:solidFill>
                            <a:srgbClr val="4B4B4B"/>
                          </a:solidFill>
                          <a:latin typeface="Arial"/>
                        </a:rPr>
                        <a:t>Landing page and menu: Cashiering user</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NAV-DM-11</a:t>
                      </a:r>
                    </a:p>
                  </a:txBody>
                  <a:tcPr marL="54864" marR="54864" marT="27432" marB="27432">
                    <a:solidFill>
                      <a:srgbClr val="E5F5FF"/>
                    </a:solidFill>
                  </a:tcPr>
                </a:tc>
                <a:tc>
                  <a:txBody>
                    <a:bodyPr/>
                    <a:lstStyle/>
                    <a:p>
                      <a:r>
                        <a:rPr sz="850" b="0">
                          <a:solidFill>
                            <a:srgbClr val="4B4B4B"/>
                          </a:solidFill>
                          <a:latin typeface="Arial"/>
                        </a:rPr>
                        <a:t>Landing page and menu: Cashiering team lead</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NAV-DM-12</a:t>
                      </a:r>
                    </a:p>
                  </a:txBody>
                  <a:tcPr marL="54864" marR="54864" marT="27432" marB="27432">
                    <a:solidFill>
                      <a:srgbClr val="FFFFFF"/>
                    </a:solidFill>
                  </a:tcPr>
                </a:tc>
                <a:tc>
                  <a:txBody>
                    <a:bodyPr/>
                    <a:lstStyle/>
                    <a:p>
                      <a:r>
                        <a:rPr sz="850" b="0">
                          <a:solidFill>
                            <a:srgbClr val="4B4B4B"/>
                          </a:solidFill>
                          <a:latin typeface="Arial"/>
                        </a:rPr>
                        <a:t>Landing page and menu: Top management approver</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NAV-DM-13</a:t>
                      </a:r>
                    </a:p>
                  </a:txBody>
                  <a:tcPr marL="54864" marR="54864" marT="27432" marB="27432">
                    <a:solidFill>
                      <a:srgbClr val="E5F5FF"/>
                    </a:solidFill>
                  </a:tcPr>
                </a:tc>
                <a:tc>
                  <a:txBody>
                    <a:bodyPr/>
                    <a:lstStyle/>
                    <a:p>
                      <a:r>
                        <a:rPr sz="850" b="0">
                          <a:solidFill>
                            <a:srgbClr val="4B4B4B"/>
                          </a:solidFill>
                          <a:latin typeface="Arial"/>
                        </a:rPr>
                        <a:t>Landing page and menu: Commission user</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r h="220979">
                <a:tc>
                  <a:txBody>
                    <a:bodyPr/>
                    <a:lstStyle/>
                    <a:p>
                      <a:r>
                        <a:rPr sz="850" b="0">
                          <a:solidFill>
                            <a:srgbClr val="4B4B4B"/>
                          </a:solidFill>
                          <a:latin typeface="Arial"/>
                        </a:rPr>
                        <a:t>NAV-DM-14</a:t>
                      </a:r>
                    </a:p>
                  </a:txBody>
                  <a:tcPr marL="54864" marR="54864" marT="27432" marB="27432">
                    <a:solidFill>
                      <a:srgbClr val="FFFFFF"/>
                    </a:solidFill>
                  </a:tcPr>
                </a:tc>
                <a:tc>
                  <a:txBody>
                    <a:bodyPr/>
                    <a:lstStyle/>
                    <a:p>
                      <a:r>
                        <a:rPr sz="850" b="0">
                          <a:solidFill>
                            <a:srgbClr val="4B4B4B"/>
                          </a:solidFill>
                          <a:latin typeface="Arial"/>
                        </a:rPr>
                        <a:t>Landing page and menu: Commission team lead</a:t>
                      </a:r>
                    </a:p>
                  </a:txBody>
                  <a:tcPr marL="54864" marR="54864" marT="27432" marB="27432">
                    <a:solidFill>
                      <a:srgbClr val="FFFFFF"/>
                    </a:solidFill>
                  </a:tcPr>
                </a:tc>
                <a:tc>
                  <a:txBody>
                    <a:bodyPr/>
                    <a:lstStyle/>
                    <a:p>
                      <a:r>
                        <a:rPr sz="850" b="0">
                          <a:solidFill>
                            <a:srgbClr val="4B4B4B"/>
                          </a:solidFill>
                          <a:latin typeface="Arial"/>
                        </a:rPr>
                        <a:t>17.4</a:t>
                      </a:r>
                    </a:p>
                  </a:txBody>
                  <a:tcPr marL="54864" marR="54864" marT="27432" marB="27432">
                    <a:solidFill>
                      <a:srgbClr val="FFFFFF"/>
                    </a:solidFill>
                  </a:tcPr>
                </a:tc>
                <a:tc>
                  <a:txBody>
                    <a:bodyPr/>
                    <a:lstStyle/>
                    <a:p>
                      <a:r>
                        <a:rPr sz="850" b="0">
                          <a:solidFill>
                            <a:srgbClr val="4B4B4B"/>
                          </a:solidFill>
                          <a:latin typeface="Arial"/>
                        </a:rPr>
                        <a:t>-</a:t>
                      </a:r>
                    </a:p>
                  </a:txBody>
                  <a:tcPr marL="54864" marR="54864" marT="27432" marB="27432">
                    <a:solidFill>
                      <a:srgbClr val="FFFFFF"/>
                    </a:solidFill>
                  </a:tcPr>
                </a:tc>
                <a:tc>
                  <a:txBody>
                    <a:bodyPr/>
                    <a:lstStyle/>
                    <a:p>
                      <a:r>
                        <a:rPr sz="850" b="0">
                          <a:solidFill>
                            <a:srgbClr val="4B4B4B"/>
                          </a:solidFill>
                          <a:latin typeface="Arial"/>
                        </a:rPr>
                        <a:t>2</a:t>
                      </a:r>
                    </a:p>
                  </a:txBody>
                  <a:tcPr marL="54864" marR="54864" marT="27432" marB="27432">
                    <a:solidFill>
                      <a:srgbClr val="FFFFFF"/>
                    </a:solidFill>
                  </a:tcPr>
                </a:tc>
                <a:tc>
                  <a:txBody>
                    <a:bodyPr/>
                    <a:lstStyle/>
                    <a:p>
                      <a:r>
                        <a:rPr sz="850" b="0">
                          <a:solidFill>
                            <a:srgbClr val="4B4B4B"/>
                          </a:solidFill>
                          <a:latin typeface="Arial"/>
                        </a:rPr>
                        <a:t>Landing page, Menu</a:t>
                      </a:r>
                    </a:p>
                  </a:txBody>
                  <a:tcPr marL="54864" marR="54864" marT="27432" marB="27432">
                    <a:solidFill>
                      <a:srgbClr val="FFFFFF"/>
                    </a:solidFill>
                  </a:tcPr>
                </a:tc>
              </a:tr>
              <a:tr h="220979">
                <a:tc>
                  <a:txBody>
                    <a:bodyPr/>
                    <a:lstStyle/>
                    <a:p>
                      <a:r>
                        <a:rPr sz="850" b="0">
                          <a:solidFill>
                            <a:srgbClr val="4B4B4B"/>
                          </a:solidFill>
                          <a:latin typeface="Arial"/>
                        </a:rPr>
                        <a:t>NAV-DM-15</a:t>
                      </a:r>
                    </a:p>
                  </a:txBody>
                  <a:tcPr marL="54864" marR="54864" marT="27432" marB="27432">
                    <a:solidFill>
                      <a:srgbClr val="E5F5FF"/>
                    </a:solidFill>
                  </a:tcPr>
                </a:tc>
                <a:tc>
                  <a:txBody>
                    <a:bodyPr/>
                    <a:lstStyle/>
                    <a:p>
                      <a:r>
                        <a:rPr sz="850" b="0">
                          <a:solidFill>
                            <a:srgbClr val="4B4B4B"/>
                          </a:solidFill>
                          <a:latin typeface="Arial"/>
                        </a:rPr>
                        <a:t>Landing page and menu: Marketing Account Officer</a:t>
                      </a:r>
                    </a:p>
                  </a:txBody>
                  <a:tcPr marL="54864" marR="54864" marT="27432" marB="27432">
                    <a:solidFill>
                      <a:srgbClr val="E5F5FF"/>
                    </a:solidFill>
                  </a:tcPr>
                </a:tc>
                <a:tc>
                  <a:txBody>
                    <a:bodyPr/>
                    <a:lstStyle/>
                    <a:p>
                      <a:r>
                        <a:rPr sz="850" b="0">
                          <a:solidFill>
                            <a:srgbClr val="4B4B4B"/>
                          </a:solidFill>
                          <a:latin typeface="Arial"/>
                        </a:rPr>
                        <a:t>17.4</a:t>
                      </a:r>
                    </a:p>
                  </a:txBody>
                  <a:tcPr marL="54864" marR="54864" marT="27432" marB="27432">
                    <a:solidFill>
                      <a:srgbClr val="E5F5FF"/>
                    </a:solidFill>
                  </a:tcPr>
                </a:tc>
                <a:tc>
                  <a:txBody>
                    <a:bodyPr/>
                    <a:lstStyle/>
                    <a:p>
                      <a:r>
                        <a:rPr sz="850" b="0">
                          <a:solidFill>
                            <a:srgbClr val="4B4B4B"/>
                          </a:solidFill>
                          <a:latin typeface="Arial"/>
                        </a:rPr>
                        <a:t>-</a:t>
                      </a:r>
                    </a:p>
                  </a:txBody>
                  <a:tcPr marL="54864" marR="54864" marT="27432" marB="27432">
                    <a:solidFill>
                      <a:srgbClr val="E5F5FF"/>
                    </a:solidFill>
                  </a:tcPr>
                </a:tc>
                <a:tc>
                  <a:txBody>
                    <a:bodyPr/>
                    <a:lstStyle/>
                    <a:p>
                      <a:r>
                        <a:rPr sz="850" b="0">
                          <a:solidFill>
                            <a:srgbClr val="4B4B4B"/>
                          </a:solidFill>
                          <a:latin typeface="Arial"/>
                        </a:rPr>
                        <a:t>2</a:t>
                      </a:r>
                    </a:p>
                  </a:txBody>
                  <a:tcPr marL="54864" marR="54864" marT="27432" marB="27432">
                    <a:solidFill>
                      <a:srgbClr val="E5F5FF"/>
                    </a:solidFill>
                  </a:tcPr>
                </a:tc>
                <a:tc>
                  <a:txBody>
                    <a:bodyPr/>
                    <a:lstStyle/>
                    <a:p>
                      <a:r>
                        <a:rPr sz="850" b="0">
                          <a:solidFill>
                            <a:srgbClr val="4B4B4B"/>
                          </a:solidFill>
                          <a:latin typeface="Arial"/>
                        </a:rPr>
                        <a:t>Landing page, Menu</a:t>
                      </a:r>
                    </a:p>
                  </a:txBody>
                  <a:tcPr marL="54864" marR="54864" marT="27432" marB="27432">
                    <a:solidFill>
                      <a:srgbClr val="E5F5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UX Screen Deck BRD-13 Data Migration</dc:title>
  <dc:subject>BIBS – BDOI Broker System</dc:subject>
  <dc:creator>iorta TechNXT</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