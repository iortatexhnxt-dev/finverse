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BRD-13 Data Migration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(BRD-13 approval pages p.15-16 (draft V0.01, not yet signed));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(BRD-13 approval pages p.15-16 (draft V0.01, not yet signed));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BRD-2: 6; BRD-2 / BRD-4: 2; BRD-3: 1; BRD-4: 10; BRD-5: 26;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menu entries in all; entries of the other BRDs: Platform: 3.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NAV-DM-12_menu.png.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Migration Lead. Menu and landing page: NAV-DM-01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Steward. Menu and landing page: NAV-DM-02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owner (business owner of an object). Menu and landing page: NAV-DM-03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Migration Operator. Menu and landing page: NAV-DM-04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Reconciliation approver (Head of Comptrollership). Menu and landing page: NAV-DM-05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 no-go board. Menu and landing page: NAV-DM-06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GL lead. Menu and landing page: NAV-DM-07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 Compliance user. Menu and landing page: NAV-DM-08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reviewer of the access log. Menu and landing page: NAV-DM-09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user. Menu and landing page: NAV-DM-10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 Menu and landing page: NAV-DM-11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management approver. Menu and landing page: NAV-DM-12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user. Menu and landing page: NAV-DM-13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team lead. Menu and landing page: NAV-DM-14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NAV-DM-15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Migration Lead proposes the class of an object and its business owner decides it; the Data Steward maps the legacy codes and the owner signs the mapping; the operator receives the extract, plans and validates a batch; the steward reviews the doubtful client pairs; the owner waives the rows that may load; the batch is loaded and reconciled, the breaks explained, and the owner and the lead accept the object.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Data Migration Lead: Opens Data Objects, finds the object and submits the proposed class for decision</a:t>
            </a:r>
          </a:p>
          <a:p>
            <a:r>
              <a:t>2. Data owner (business owner of an object): Opens the object, reads the four criteria and the rationale and clicks Approve</a:t>
            </a:r>
          </a:p>
          <a:p>
            <a:r>
              <a:t>3. Data Steward: Opens the code map, creates a draft version and adds the legacy codes with their BIBS values</a:t>
            </a:r>
          </a:p>
          <a:p>
            <a:r>
              <a:t>4. Data Steward: Opens Unmapped Codes to see the legacy codes of the extracts that have no entry yet</a:t>
            </a:r>
          </a:p>
          <a:p>
            <a:r>
              <a:t>5. Data owner (business owner of an object): Approves the code map version and signs the mapping of the object</a:t>
            </a:r>
          </a:p>
          <a:p>
            <a:r>
              <a:t>6. Migration Operator: Uploads the extract with its control file and clicks Upload and Check</a:t>
            </a:r>
          </a:p>
          <a:p>
            <a:r>
              <a:t>7. Migration Operator: Uploads a file whose control file announces more rows than the file holds</a:t>
            </a:r>
          </a:p>
          <a:p>
            <a:r>
              <a:t>8. Migration Operator: Clicks Plan Batch, chooses the object and the staged extracts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Migration Operator: Clicks Validate on the planned batch</a:t>
            </a:r>
          </a:p>
          <a:p>
            <a:r>
              <a:t>10. Data Steward: Opens the doubtful client pair and merges it or keeps the clients separate</a:t>
            </a:r>
          </a:p>
          <a:p>
            <a:r>
              <a:t>11. Data owner (business owner of an object): Selects failing rows on the Rows tab and clicks Waive Rows with the reason</a:t>
            </a:r>
          </a:p>
          <a:p>
            <a:r>
              <a:t>12. Reconciliation approver (Head of Comptrollership): After the load, opens the reconciliation of the batch by level</a:t>
            </a:r>
          </a:p>
          <a:p>
            <a:r>
              <a:t>13. Data Steward: Explains a break with its reason</a:t>
            </a:r>
          </a:p>
          <a:p>
            <a:r>
              <a:t>14. Data Migration Lead: After the reconciliation is signed, accepts the object as Migration Lead, after the owner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a:t>
            </a:r>
          </a:p>
          <a:p>
            <a:r>
              <a:t>Persona does: Opens Data Objects, finds the object and submits the proposed class for decision</a:t>
            </a:r>
          </a:p>
          <a:p>
            <a:r>
              <a:t>System does: Shows the decision as For decision and notifies the business owner</a:t>
            </a:r>
          </a:p>
          <a:p>
            <a:r>
              <a:t>Shown: The object in the register with its class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SCR-DM-03_entry.png.</a:t>
            </a:r>
          </a:p>
          <a:p>
            <a:r>
              <a:t>Persona does: Opens the code map, creates a draft version and adds the legacy codes with their BIBS values</a:t>
            </a:r>
          </a:p>
          <a:p>
            <a:r>
              <a:t>System does: Keeps the draft; Submit sends it to the owner after a confirmation</a:t>
            </a:r>
          </a:p>
          <a:p>
            <a:r>
              <a:t>Shown: The Add Entry dialog with the legacy code, the action and the BIBS value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SCR-DM-03_unmapped.png.</a:t>
            </a:r>
          </a:p>
          <a:p>
            <a:r>
              <a:t>Persona does: Opens Unmapped Codes to see the legacy codes of the extracts that have no entry yet</a:t>
            </a:r>
          </a:p>
          <a:p>
            <a:r>
              <a:t>System does: Lists each unmapped code with the extract and the count of rows</a:t>
            </a:r>
          </a:p>
          <a:p>
            <a:r>
              <a:t>Shown: The unmapped codes to add before the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a:t>
            </a:r>
          </a:p>
          <a:p>
            <a:r>
              <a:t>Persona does: Approves the code map version and signs the mapping of the object</a:t>
            </a:r>
          </a:p>
          <a:p>
            <a:r>
              <a:t>System does: Signs gate G2: the layouts are frozen and every code map is approved</a:t>
            </a:r>
          </a:p>
          <a:p>
            <a:r>
              <a:t>Shown: The gate matrix with the signer and date of G1 and G2</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a:t>
            </a:r>
          </a:p>
          <a:p>
            <a:r>
              <a:t>Persona does: Uploads the extract with its control file and clicks Upload and Check</a:t>
            </a:r>
          </a:p>
          <a:p>
            <a:r>
              <a:t>System does: Runs the intake checks (name, checksum, header, row count, totals) and stages the file</a:t>
            </a:r>
          </a:p>
          <a:p>
            <a:r>
              <a:t>Shown: The extract listed as Staged with its rows and the masking applied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a:t>
            </a:r>
          </a:p>
          <a:p>
            <a:r>
              <a:t>Persona does: Uploads the extract with its control file and clicks Upload and Check</a:t>
            </a:r>
          </a:p>
          <a:p>
            <a:r>
              <a:t>System does: Runs the intake checks (name, checksum, header, row count, totals) and stages the file</a:t>
            </a:r>
          </a:p>
          <a:p>
            <a:r>
              <a:t>Shown: The extract listed as Staged with its rows and the masking applied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SCR-DM-06_plan.png.</a:t>
            </a:r>
          </a:p>
          <a:p>
            <a:r>
              <a:t>Persona does: Clicks Plan Batch, chooses the object and the staged extracts</a:t>
            </a:r>
          </a:p>
          <a:p>
            <a:r>
              <a:t>System does: Plans the batch and opens it</a:t>
            </a:r>
          </a:p>
          <a:p>
            <a:r>
              <a:t>Shown: The Plan Batch dialog with the staged extracts of the object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a:t>
            </a:r>
          </a:p>
          <a:p>
            <a:r>
              <a:t>Persona does: Clicks Validate on the planned batch</a:t>
            </a:r>
          </a:p>
          <a:p>
            <a:r>
              <a:t>System does: Maps the rows with the approved code maps and checks them against the data-quality rules</a:t>
            </a:r>
          </a:p>
          <a:p>
            <a:r>
              <a:t>Shown: The batch Validated with its counts, error rate and the Issues tab</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a:t>
            </a:r>
          </a:p>
          <a:p>
            <a:r>
              <a:t>Persona does: Clicks Validate on the planned batch</a:t>
            </a:r>
          </a:p>
          <a:p>
            <a:r>
              <a:t>System does: Maps the rows with the approved code maps and checks them against the data-quality rules</a:t>
            </a:r>
          </a:p>
          <a:p>
            <a:r>
              <a:t>Shown: The batch Validated with its counts, error rate and the Issues tab</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a:t>
            </a:r>
          </a:p>
          <a:p>
            <a:r>
              <a:t>Persona does: Opens the doubtful client pair and merges it or keeps the clients separate</a:t>
            </a:r>
          </a:p>
          <a:p>
            <a:r>
              <a:t>System does: Records the decision; the load waits until the queue is empty</a:t>
            </a:r>
          </a:p>
          <a:p>
            <a:r>
              <a:t>Shown: The two records side by side with the matched keys marked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a:t>
            </a:r>
          </a:p>
          <a:p>
            <a:r>
              <a:t>Persona does: Opens the doubtful client pair and merges it or keeps the clients separate</a:t>
            </a:r>
          </a:p>
          <a:p>
            <a:r>
              <a:t>System does: Records the decision; the load waits until the queue is empty</a:t>
            </a:r>
          </a:p>
          <a:p>
            <a:r>
              <a:t>Shown: The two records side by side with the matched keys marked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SCR-DM-07_waive.png.</a:t>
            </a:r>
          </a:p>
          <a:p>
            <a:r>
              <a:t>Persona does: Selects failing rows on the Rows tab and clicks Waive Rows with the reason</a:t>
            </a:r>
          </a:p>
          <a:p>
            <a:r>
              <a:t>System does: Loads the rows despite their errors, with the waiver kept on the batch</a:t>
            </a:r>
          </a:p>
          <a:p>
            <a:r>
              <a:t>Shown: The Waive Rows dialog with the count of rows and the mandatory reason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SCR-DM-09_explain.png.</a:t>
            </a:r>
          </a:p>
          <a:p>
            <a:r>
              <a:t>Persona does: Explains a break with its reason</a:t>
            </a:r>
          </a:p>
          <a:p>
            <a:r>
              <a:t>System does: Marks the line Explained for the approver</a:t>
            </a:r>
          </a:p>
          <a:p>
            <a:r>
              <a:t>Shown: The Explain Break dialog with the reason and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a:t>
            </a:r>
          </a:p>
          <a:p>
            <a:r>
              <a:t>Persona does: After the reconciliation is signed, accepts the object as Migration Lead, after the owner</a:t>
            </a:r>
          </a:p>
          <a:p>
            <a:r>
              <a:t>System does: Signs gate G6; with both acceptances the object is accepted</a:t>
            </a:r>
          </a:p>
          <a:p>
            <a:r>
              <a:t>Shown: The Sign-offs tab with every gate, its signer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a:t>
            </a:r>
          </a:p>
          <a:p>
            <a:r>
              <a:t>Persona does: After the reconciliation is signed, accepts the object as Migration Lead, after the owner</a:t>
            </a:r>
          </a:p>
          <a:p>
            <a:r>
              <a:t>System does: Signs gate G6; with both acceptances the object is accepted</a:t>
            </a:r>
          </a:p>
          <a:p>
            <a:r>
              <a:t>Shown: The Sign-offs tab with every gate, its signer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Migration Lead plans a mock run from the go-live date and follows its runbook; the go / no-go board measures the criteria and decides; after go-live Comptrollership brings the FY2027 closing adjustments as opening-balance adjustments, and the lead follows the run-off of the legacy policies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Data Migration Lead: Clicks New Plan, chooses the kind of run and the go-live date</a:t>
            </a:r>
          </a:p>
          <a:p>
            <a:r>
              <a:t>2. Data Migration Lead: Records the start and end of each runbook task, or blocks a task with its reason</a:t>
            </a:r>
          </a:p>
          <a:p>
            <a:r>
              <a:t>3. Go / no-go board: Clicks Measure Criteria, reads the criteria and records GO or NO-GO</a:t>
            </a:r>
          </a:p>
          <a:p>
            <a:r>
              <a:t>4. Comptrollership GL lead: After go-live, prepares an opening-balance adjustment on the validated adjustment batch</a:t>
            </a:r>
          </a:p>
          <a:p>
            <a:r>
              <a:t>5. Reconciliation approver (Head of Comptrollership): Approves the adjustment prepared by the GL lead, then signs it once reconciled</a:t>
            </a:r>
          </a:p>
          <a:p>
            <a:r>
              <a:t>6. Data Migration Lead: Opens Run-off and Decommissioning each month and records the checklist of a legacy system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SCR-DM-12_new.png.</a:t>
            </a:r>
          </a:p>
          <a:p>
            <a:r>
              <a:t>Persona does: Clicks New Plan, chooses the kind of run and the go-live date</a:t>
            </a:r>
          </a:p>
          <a:p>
            <a:r>
              <a:t>System does: Creates the plan with its runbook tasks and the twelve criteria planned from the go-live date</a:t>
            </a:r>
          </a:p>
          <a:p>
            <a:r>
              <a:t>Shown: The New Cutover Plan dialog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SCR-DM-11_prepare.png.</a:t>
            </a:r>
          </a:p>
          <a:p>
            <a:r>
              <a:t>Persona does: After go-live, prepares an opening-balance adjustment on the validated adjustment batch</a:t>
            </a:r>
          </a:p>
          <a:p>
            <a:r>
              <a:t>System does: Prepares the adjustment and sends it to the Head of Comptrollership on Submit</a:t>
            </a:r>
          </a:p>
          <a:p>
            <a:r>
              <a:t>Shown: The Prepare Adjustment dialog with the batches of the same version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SCR-DM-11_list.png.</a:t>
            </a:r>
          </a:p>
          <a:p>
            <a:r>
              <a:t>Persona does: Approves the adjustment prepared by the GL lead, then signs it once reconciled</a:t>
            </a:r>
          </a:p>
          <a:p>
            <a:r>
              <a:t>System does: Allows the load of the adjustment journals into the opening balances</a:t>
            </a:r>
          </a:p>
          <a:p>
            <a:r>
              <a:t>Shown: The adjustments with their batches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users find the migrated records on their usual screens, marked LEGACY; Cashiering and Commission settle the legacy items through their batches, each approved by a second user.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Searches the clients list for a migrated client</a:t>
            </a:r>
          </a:p>
          <a:p>
            <a:r>
              <a:t>2. Cashiering user: Sets the Origin filter of Unapplied Payments to Migrated</a:t>
            </a:r>
          </a:p>
          <a:p>
            <a:r>
              <a:t>3. Cashiering user: Opens a legacy invoice from Invoice Search</a:t>
            </a:r>
          </a:p>
          <a:p>
            <a:r>
              <a:t>4. Cashiering user: Opens a draft Unapplied to Income batch, adds old unapplied payments and clicks Submit</a:t>
            </a:r>
          </a:p>
          <a:p>
            <a:r>
              <a:t>5. Top management approver: After the team lead, approves the batch</a:t>
            </a:r>
          </a:p>
          <a:p>
            <a:r>
              <a:t>6. Cashiering user: Adds a legacy invoice with the PR 2307 amount to reverse and submits the batch</a:t>
            </a:r>
          </a:p>
          <a:p>
            <a:r>
              <a:t>7. Commission user: Adds the legacy invoices tagged DP PR for reversal and submits the batch</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a:t>
            </a:r>
          </a:p>
          <a:p>
            <a:r>
              <a:t>Persona does: Searches the clients list for a migrated client</a:t>
            </a:r>
          </a:p>
          <a:p>
            <a:r>
              <a:t>System does: Lists the client with the LEGACY badge and the legacy reference in its tooltip</a:t>
            </a:r>
          </a:p>
          <a:p>
            <a:r>
              <a:t>Shown: The Clients list with the LEGACY badge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SCR-DM-16_unapplied.png.</a:t>
            </a:r>
          </a:p>
          <a:p>
            <a:r>
              <a:t>Persona does: Sets the Origin filter of Unapplied Payments to Migrated</a:t>
            </a:r>
          </a:p>
          <a:p>
            <a:r>
              <a:t>System does: Lists only the migrated unapplied payments</a:t>
            </a:r>
          </a:p>
          <a:p>
            <a:r>
              <a:t>Shown: The Origin filter set to Migrated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a:t>
            </a:r>
          </a:p>
          <a:p>
            <a:r>
              <a:t>Persona does: Opens a legacy invoice from Invoice Search</a:t>
            </a:r>
          </a:p>
          <a:p>
            <a:r>
              <a:t>System does: Shows Invoice 360 with the LEGACY badge and the Legacy Invoice card with the values at cut-over</a:t>
            </a:r>
          </a:p>
          <a:p>
            <a:r>
              <a:t>Shown: The Legacy Invoice card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a:t>
            </a:r>
          </a:p>
          <a:p>
            <a:r>
              <a:t>Persona does: Opens a legacy invoice from Invoice Search</a:t>
            </a:r>
          </a:p>
          <a:p>
            <a:r>
              <a:t>System does: Shows Invoice 360 with the LEGACY badge and the Legacy Invoice card with the values at cut-over</a:t>
            </a:r>
          </a:p>
          <a:p>
            <a:r>
              <a:t>Shown: The Legacy Invoice card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a:t>
            </a:r>
          </a:p>
          <a:p>
            <a:r>
              <a:t>Persona does: Opens a draft Unapplied to Income batch, adds old unapplied payments and clicks Submit</a:t>
            </a:r>
          </a:p>
          <a:p>
            <a:r>
              <a:t>System does: Sends the batch to the Cashiering team lead</a:t>
            </a:r>
          </a:p>
          <a:p>
            <a:r>
              <a:t>Shown: The draft batch with its lines and the payments that may be added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a:t>
            </a:r>
          </a:p>
          <a:p>
            <a:r>
              <a:t>Persona does: Opens a draft Unapplied to Income batch, adds old unapplied payments and clicks Submit</a:t>
            </a:r>
          </a:p>
          <a:p>
            <a:r>
              <a:t>System does: Sends the batch to the Cashiering team lead</a:t>
            </a:r>
          </a:p>
          <a:p>
            <a:r>
              <a:t>Shown: The draft batch with its lines and the payments that may be added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SCR-DM-18_approve.png.</a:t>
            </a:r>
          </a:p>
          <a:p>
            <a:r>
              <a:t>Persona does: After the team lead, approves the batch</a:t>
            </a:r>
          </a:p>
          <a:p>
            <a:r>
              <a:t>System does: Posts each line on its own and closes the payments</a:t>
            </a:r>
          </a:p>
          <a:p>
            <a:r>
              <a:t>Shown: The batch waiting for top management with Approve and Return</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a:t>
            </a:r>
          </a:p>
          <a:p>
            <a:r>
              <a:t>Persona does: Adds a legacy invoice with the PR 2307 amount to reverse and submits the batch</a:t>
            </a:r>
          </a:p>
          <a:p>
            <a:r>
              <a:t>System does: Sends the batch to the team lead, who posts each line</a:t>
            </a:r>
          </a:p>
          <a:p>
            <a:r>
              <a:t>Shown: The draft PR 2307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a:t>
            </a:r>
          </a:p>
          <a:p>
            <a:r>
              <a:t>Persona does: Adds the legacy invoices tagged DP PR for reversal and submits the batch</a:t>
            </a:r>
          </a:p>
          <a:p>
            <a:r>
              <a:t>System does: Sends the batch to the Commission team lead, who posts each invoice</a:t>
            </a:r>
          </a:p>
          <a:p>
            <a:r>
              <a:t>Shown: The draft DP PR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a:t>
            </a:r>
          </a:p>
          <a:p>
            <a:r>
              <a:t>Persona does: Adds the legacy invoices tagged DP PR for reversal and submits the batch</a:t>
            </a:r>
          </a:p>
          <a:p>
            <a:r>
              <a:t>System does: Sends the batch to the Commission team lead, who posts each invoice</a:t>
            </a:r>
          </a:p>
          <a:p>
            <a:r>
              <a:t>Shown: The draft DP PR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Audit or Compliance user gives the reason of the inquiry once per session, searches and opens the closed legacy records read-only; every access is logged with the reason and reviewed by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 / Compliance user: Opens Legacy Inquiry and gives the reason of the inquiry</a:t>
            </a:r>
          </a:p>
          <a:p>
            <a:r>
              <a:t>2. Audit / Compliance user: Searches the closed invoices</a:t>
            </a:r>
          </a:p>
          <a:p>
            <a:r>
              <a:t>3. Audit / Compliance user: Opens a record and downloads a document</a:t>
            </a:r>
          </a:p>
          <a:p>
            <a:r>
              <a:t>4. Compliance reviewer of the access log: Opens the Access Log and filters it by user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SCR-DM-14_reason.png.</a:t>
            </a:r>
          </a:p>
          <a:p>
            <a:r>
              <a:t>Persona does: Opens Legacy Inquiry and gives the reason of the inquiry</a:t>
            </a:r>
          </a:p>
          <a:p>
            <a:r>
              <a:t>System does: Keeps the reason for the session</a:t>
            </a:r>
          </a:p>
          <a:p>
            <a:r>
              <a:t>Shown: The Reason of the Inquiry card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a:t>
            </a:r>
          </a:p>
          <a:p>
            <a:r>
              <a:t>Persona does: Searches the closed invoices</a:t>
            </a:r>
          </a:p>
          <a:p>
            <a:r>
              <a:t>System does: Lists the matching records and logs the search</a:t>
            </a:r>
          </a:p>
          <a:p>
            <a:r>
              <a:t>Shown: The search criteria and the records found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a:t>
            </a:r>
          </a:p>
          <a:p>
            <a:r>
              <a:t>Persona does: Opens a record and downloads a document</a:t>
            </a:r>
          </a:p>
          <a:p>
            <a:r>
              <a:t>System does: Shows the record read-only and logs the view and the download</a:t>
            </a:r>
          </a:p>
          <a:p>
            <a:r>
              <a:t>Shown: The legacy record with its legacy details and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a:t>
            </a:r>
          </a:p>
          <a:p>
            <a:r>
              <a:t>Persona does: Opens a record and downloads a document</a:t>
            </a:r>
          </a:p>
          <a:p>
            <a:r>
              <a:t>System does: Shows the record read-only and logs the view and the download</a:t>
            </a:r>
          </a:p>
          <a:p>
            <a:r>
              <a:t>Shown: The legacy record with its legacy details and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SCR-DM-15_log.png.</a:t>
            </a:r>
          </a:p>
          <a:p>
            <a:r>
              <a:t>Persona does: Opens the Access Log and filters it by user and date</a:t>
            </a:r>
          </a:p>
          <a:p>
            <a:r>
              <a:t>System does: Shows every access with the user, time, action, criteria and reason</a:t>
            </a:r>
          </a:p>
          <a:p>
            <a:r>
              <a:t>Shown: The access log, which cannot be changed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SCR-DM-01: SCR-DM-01_view.png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SCR-DM-02: SCR-DM-02_list.png, SCR-DM-02_object.png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SCR-DM-03: SCR-DM-03_list.png, SCR-DM-03_set.png, SCR-DM-03_entry.png, SCR-DM-03_unmapped.png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SCR-DM-03_unmapped.png; Data Migration Handbook section 19.1.3.</a:t>
            </a:r>
          </a:p>
          <a:p>
            <a:r>
              <a:t>Personas: Data Steward. Flows: UF-A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SCR-DM-03_entry.png; Data Migration Handbook section 19.1.3.</a:t>
            </a:r>
          </a:p>
          <a:p>
            <a:r>
              <a:t>Personas: Data Steward. Flows: UF-A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SCR-DM-04: SCR-DM-04_list.png, SCR-DM-04_columns.png, SCR-DM-04_rules.png, SCR-DM-04_masking.png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SCR-DM-05: SCR-DM-05_list.png, SCR-DM-05_rejected.png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SCR-DM-06: SCR-DM-06_list.png, SCR-DM-06_plan.png, SCR-DM-06_resubmissions.png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SCR-DM-06_plan.png; Data Migration Handbook section 19.1.6.</a:t>
            </a:r>
          </a:p>
          <a:p>
            <a:r>
              <a:t>Personas: Migration Operator. Flows: UF-A step 8.</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SCR-DM-06_resubmissions.png; Data Migration Handbook section 19.1.6.</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SCR-DM-07: SCR-DM-07_validated.png, SCR-DM-07_rows.png, SCR-DM-07_waive.png, SCR-DM-07_signoffs.png, SCR-DM-07_log.png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SCR-DM-07_waive.png; Data Migration Handbook section 19.1.7.</a:t>
            </a:r>
          </a:p>
          <a:p>
            <a:r>
              <a:t>Personas: Data owner (business owner of an object). Flows: UF-A step 11.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SCR-DM-08: SCR-DM-08_queue.png, SCR-DM-08_pair.png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SCR-DM-08_queue.png; Data Migration Handbook section 19.1.8.</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SCR-DM-09: SCR-DM-09_list.png, SCR-DM-09_explain.png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SCR-DM-09_explain.png; Data Migration Handbook section 19.1.9.</a:t>
            </a:r>
          </a:p>
          <a:p>
            <a:r>
              <a:t>Personas: Data Steward. Flows: UF-A step 13.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SCR-DM-10: SCR-DM-10_matrix.png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SCR-DM-11: SCR-DM-11_list.png, SCR-DM-11_prepare.png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SCR-DM-11_list.png; Data Migration Handbook section 19.2.1.</a:t>
            </a:r>
          </a:p>
          <a:p>
            <a:r>
              <a:t>Personas: Comptrollership GL lead. Flows: UF-B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SCR-DM-11_prepare.png; Data Migration Handbook section 19.2.1.</a:t>
            </a:r>
          </a:p>
          <a:p>
            <a:r>
              <a:t>Personas: Comptrollership GL lead. Flows: UF-B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SCR-DM-12: SCR-DM-12_plans.png, SCR-DM-12_criteria.png, SCR-DM-12_new.png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SCR-DM-12_new.png; Data Migration Handbook section 19.2.2.</a:t>
            </a:r>
          </a:p>
          <a:p>
            <a:r>
              <a:t>Personas: Data Migration Lead. Flows: UF-B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SCR-DM-13: SCR-DM-13_view.png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SCR-DM-14: SCR-DM-14_reason.png, SCR-DM-14_results.png, SCR-DM-14_record.png, SCR-DM-14_no-results.png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SCR-DM-14_reason.png; Data Migration Handbook section 19.3.1.</a:t>
            </a:r>
          </a:p>
          <a:p>
            <a:r>
              <a:t>Personas: Audit / Compliance user. Flows: UF-D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 Data Migration Handbook section 19.3.1.</a:t>
            </a:r>
          </a:p>
          <a:p>
            <a:r>
              <a:t>Personas: Audit / Compliance user. Flows: UF-D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 Data Migration Handbook section 19.3.1.</a:t>
            </a:r>
          </a:p>
          <a:p>
            <a:r>
              <a:t>Personas: Audit / Compliance user. Flows: UF-D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SCR-DM-14_no-results.png; Data Migration Handbook section 19.3.1.</a:t>
            </a:r>
          </a:p>
          <a:p>
            <a:r>
              <a:t>Personas: Audit / Compliance user.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SCR-DM-14_no-results.png; Data Migration Handbook section 19.3.1.</a:t>
            </a:r>
          </a:p>
          <a:p>
            <a:r>
              <a:t>Personas: Audit / Compliance user.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SCR-DM-15: SCR-DM-15_log.png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SCR-DM-15_log.png; Data Migration Handbook section 19.3.2.</a:t>
            </a:r>
          </a:p>
          <a:p>
            <a:r>
              <a:t>Personas: Compliance reviewer of the access log. Flows: UF-D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SCR-DM-16: SCR-DM-16_clients.png, SCR-DM-16_unapplied.png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 Data Migration Handbook section 19.4.1.</a:t>
            </a:r>
          </a:p>
          <a:p>
            <a:r>
              <a:t>Personas: Marketing Account Officer. Flows: UF-C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 Data Migration Handbook section 19.4.1.</a:t>
            </a:r>
          </a:p>
          <a:p>
            <a:r>
              <a:t>Personas: Marketing Account Officer. Flows: UF-C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SCR-DM-16_unapplied.png; Data Migration Handbook section 19.4.1.</a:t>
            </a:r>
          </a:p>
          <a:p>
            <a:r>
              <a:t>Personas: Cashiering user. Flows: UF-C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SCR-DM-17: SCR-DM-17_legacy.png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SCR-DM-18: SCR-DM-18_list.png, SCR-DM-18_draft.png, SCR-DM-18_approve.png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SCR-DM-18_list.png; Data Migration Handbook section 19.5.1.</a:t>
            </a:r>
          </a:p>
          <a:p>
            <a:r>
              <a:t>Personas: Cashiering user.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SCR-DM-18_approve.png; Data Migration Handbook section 19.5.1.</a:t>
            </a:r>
          </a:p>
          <a:p>
            <a:r>
              <a:t>Personas: Top management approver. Flows: UF-C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SCR-DM-19: SCR-DM-19_draft.png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 Data Migration Handbook section 19.5.2.</a:t>
            </a:r>
          </a:p>
          <a:p>
            <a:r>
              <a:t>Personas: Cashiering user. Flows: UF-C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 Data Migration Handbook section 19.5.2.</a:t>
            </a:r>
          </a:p>
          <a:p>
            <a:r>
              <a:t>Personas: Cashiering user. Flows: UF-C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SCR-DM-20: SCR-DM-20_draft.png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Data Migration Handbook (section 48).</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0.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5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5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5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5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5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5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6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6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6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6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65.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6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6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68.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6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7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7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7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7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7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7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7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7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7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8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8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8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8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8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8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8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8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9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9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9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9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9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9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9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9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9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20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20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20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20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20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20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0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0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09.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10.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1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1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3.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14.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1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16.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21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19.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20.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22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22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2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2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2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2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2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23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3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3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3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3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3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3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38.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24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4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4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4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4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4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46.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4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8.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249.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51.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5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25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5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5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5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59.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60.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6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6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263.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65.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6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68.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69.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70.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3.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5.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BRD-13 Data Migration as the Data Migration Handbook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20 screens, 75 screen images, 35 screen states, 15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 28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196596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594360">
                <a:tc>
                  <a:txBody>
                    <a:bodyPr/>
                    <a:lstStyle/>
                    <a:p>
                      <a:r>
                        <a:rPr sz="1100" b="0">
                          <a:solidFill>
                            <a:srgbClr val="4B4B4B"/>
                          </a:solidFill>
                          <a:latin typeface="Arial"/>
                        </a:rPr>
                        <a:t>CHG-DM-2.0-01</a:t>
                      </a:r>
                    </a:p>
                  </a:txBody>
                  <a:tcPr marL="54864" marR="54864" marT="27432" marB="27432">
                    <a:solidFill>
                      <a:srgbClr val="FFFFFF"/>
                    </a:solidFill>
                  </a:tcPr>
                </a:tc>
                <a:tc>
                  <a:txBody>
                    <a:bodyPr/>
                    <a:lstStyle/>
                    <a:p>
                      <a:r>
                        <a:rPr sz="1100" b="0">
                          <a:solidFill>
                            <a:srgbClr val="4B4B4B"/>
                          </a:solidFill>
                          <a:latin typeface="Arial"/>
                        </a:rPr>
                        <a:t>Users named by their names instead of their user IDs on the console: business owner and data steward of an object, decisions, code map versions, batch operators, issues and the sign-off matrix</a:t>
                      </a:r>
                    </a:p>
                  </a:txBody>
                  <a:tcPr marL="54864" marR="54864" marT="27432" marB="27432">
                    <a:solidFill>
                      <a:srgbClr val="FFFFFF"/>
                    </a:solidFill>
                  </a:tcPr>
                </a:tc>
                <a:tc>
                  <a:txBody>
                    <a:bodyPr/>
                    <a:lstStyle/>
                    <a:p>
                      <a:r>
                        <a:rPr sz="1100" b="0">
                          <a:solidFill>
                            <a:srgbClr val="4B4B4B"/>
                          </a:solidFill>
                          <a:latin typeface="Arial"/>
                        </a:rPr>
                        <a:t>SCR-DM-02, SCR-DM-03, SCR-DM-06, SCR-DM-07, SCR-DM-10, SCR-DM-11, SCR-DM-12</a:t>
                      </a:r>
                    </a:p>
                  </a:txBody>
                  <a:tcPr marL="54864" marR="54864" marT="27432" marB="27432">
                    <a:solidFill>
                      <a:srgbClr val="FFFFFF"/>
                    </a:solidFill>
                  </a:tcPr>
                </a:tc>
                <a:tc>
                  <a:txBody>
                    <a:bodyPr/>
                    <a:lstStyle/>
                    <a:p>
                      <a:r>
                        <a:rPr sz="1100" b="0">
                          <a:solidFill>
                            <a:srgbClr val="4B4B4B"/>
                          </a:solidFill>
                          <a:latin typeface="Arial"/>
                        </a:rPr>
                        <a:t>20</a:t>
                      </a:r>
                    </a:p>
                  </a:txBody>
                  <a:tcPr marL="54864" marR="54864" marT="27432" marB="27432">
                    <a:solidFill>
                      <a:srgbClr val="FFFFFF"/>
                    </a:solidFill>
                  </a:tcPr>
                </a:tc>
              </a:tr>
              <a:tr h="259080">
                <a:tc>
                  <a:txBody>
                    <a:bodyPr/>
                    <a:lstStyle/>
                    <a:p>
                      <a:r>
                        <a:rPr sz="1100" b="0">
                          <a:solidFill>
                            <a:srgbClr val="4B4B4B"/>
                          </a:solidFill>
                          <a:latin typeface="Arial"/>
                        </a:rPr>
                        <a:t>CHG-DM-2.0-02</a:t>
                      </a:r>
                    </a:p>
                  </a:txBody>
                  <a:tcPr marL="54864" marR="54864" marT="27432" marB="27432">
                    <a:solidFill>
                      <a:srgbClr val="E5F5FF"/>
                    </a:solidFill>
                  </a:tcPr>
                </a:tc>
                <a:tc>
                  <a:txBody>
                    <a:bodyPr/>
                    <a:lstStyle/>
                    <a:p>
                      <a:r>
                        <a:rPr sz="1100" b="0">
                          <a:solidFill>
                            <a:srgbClr val="4B4B4B"/>
                          </a:solidFill>
                          <a:latin typeface="Arial"/>
                        </a:rPr>
                        <a:t>Legacy Inquiry shows the legacy status and the record type in words</a:t>
                      </a:r>
                    </a:p>
                  </a:txBody>
                  <a:tcPr marL="54864" marR="54864" marT="27432" marB="27432">
                    <a:solidFill>
                      <a:srgbClr val="E5F5FF"/>
                    </a:solidFill>
                  </a:tcPr>
                </a:tc>
                <a:tc>
                  <a:txBody>
                    <a:bodyPr/>
                    <a:lstStyle/>
                    <a:p>
                      <a:r>
                        <a:rPr sz="1100" b="0">
                          <a:solidFill>
                            <a:srgbClr val="4B4B4B"/>
                          </a:solidFill>
                          <a:latin typeface="Arial"/>
                        </a:rPr>
                        <a:t>SCR-DM-14</a:t>
                      </a:r>
                    </a:p>
                  </a:txBody>
                  <a:tcPr marL="54864" marR="54864" marT="27432" marB="27432">
                    <a:solidFill>
                      <a:srgbClr val="E5F5FF"/>
                    </a:solidFill>
                  </a:tcPr>
                </a:tc>
                <a:tc>
                  <a:txBody>
                    <a:bodyPr/>
                    <a:lstStyle/>
                    <a:p>
                      <a:r>
                        <a:rPr sz="1100" b="0">
                          <a:solidFill>
                            <a:srgbClr val="4B4B4B"/>
                          </a:solidFill>
                          <a:latin typeface="Arial"/>
                        </a:rPr>
                        <a:t>4</a:t>
                      </a:r>
                    </a:p>
                  </a:txBody>
                  <a:tcPr marL="54864" marR="54864" marT="27432" marB="27432">
                    <a:solidFill>
                      <a:srgbClr val="E5F5FF"/>
                    </a:solidFill>
                  </a:tcPr>
                </a:tc>
              </a:tr>
              <a:tr h="594360">
                <a:tc>
                  <a:txBody>
                    <a:bodyPr/>
                    <a:lstStyle/>
                    <a:p>
                      <a:r>
                        <a:rPr sz="1100" b="0">
                          <a:solidFill>
                            <a:srgbClr val="4B4B4B"/>
                          </a:solidFill>
                          <a:latin typeface="Arial"/>
                        </a:rPr>
                        <a:t>CHG-DM-2.0-03</a:t>
                      </a:r>
                    </a:p>
                  </a:txBody>
                  <a:tcPr marL="54864" marR="54864" marT="27432" marB="27432">
                    <a:solidFill>
                      <a:srgbClr val="FFFFFF"/>
                    </a:solidFill>
                  </a:tcPr>
                </a:tc>
                <a:tc>
                  <a:txBody>
                    <a:bodyPr/>
                    <a:lstStyle/>
                    <a:p>
                      <a:r>
                        <a:rPr sz="1100" b="0">
                          <a:solidFill>
                            <a:srgbClr val="4B4B4B"/>
                          </a:solidFill>
                          <a:latin typeface="Arial"/>
                        </a:rPr>
                        <a:t>Counts in the right number (Waive Rows and Exclude Rows dialogs, staged rows, days old of a legacy batch line) and the wording of the data-quality rules</a:t>
                      </a:r>
                    </a:p>
                  </a:txBody>
                  <a:tcPr marL="54864" marR="54864" marT="27432" marB="27432">
                    <a:solidFill>
                      <a:srgbClr val="FFFFFF"/>
                    </a:solidFill>
                  </a:tcPr>
                </a:tc>
                <a:tc>
                  <a:txBody>
                    <a:bodyPr/>
                    <a:lstStyle/>
                    <a:p>
                      <a:r>
                        <a:rPr sz="1100" b="0">
                          <a:solidFill>
                            <a:srgbClr val="4B4B4B"/>
                          </a:solidFill>
                          <a:latin typeface="Arial"/>
                        </a:rPr>
                        <a:t>SCR-DM-04, SCR-DM-05, SCR-DM-07, SCR-DM-18, SCR-DM-19, SCR-DM-20</a:t>
                      </a:r>
                    </a:p>
                  </a:txBody>
                  <a:tcPr marL="54864" marR="54864" marT="27432" marB="27432">
                    <a:solidFill>
                      <a:srgbClr val="FFFFFF"/>
                    </a:solidFill>
                  </a:tcPr>
                </a:tc>
                <a:tc>
                  <a:txBody>
                    <a:bodyPr/>
                    <a:lstStyle/>
                    <a:p>
                      <a:r>
                        <a:rPr sz="1100" b="0">
                          <a:solidFill>
                            <a:srgbClr val="4B4B4B"/>
                          </a:solidFill>
                          <a:latin typeface="Arial"/>
                        </a:rPr>
                        <a:t>7</a:t>
                      </a:r>
                    </a:p>
                  </a:txBody>
                  <a:tcPr marL="54864" marR="54864" marT="27432" marB="27432">
                    <a:solidFill>
                      <a:srgbClr val="FFFFFF"/>
                    </a:solidFill>
                  </a:tcPr>
                </a:tc>
              </a:tr>
              <a:tr h="259080">
                <a:tc>
                  <a:txBody>
                    <a:bodyPr/>
                    <a:lstStyle/>
                    <a:p>
                      <a:r>
                        <a:rPr sz="1100" b="0">
                          <a:solidFill>
                            <a:srgbClr val="4B4B4B"/>
                          </a:solidFill>
                          <a:latin typeface="Arial"/>
                        </a:rPr>
                        <a:t>CHG-DM-2.0-04</a:t>
                      </a:r>
                    </a:p>
                  </a:txBody>
                  <a:tcPr marL="54864" marR="54864" marT="27432" marB="27432">
                    <a:solidFill>
                      <a:srgbClr val="E5F5FF"/>
                    </a:solidFill>
                  </a:tcPr>
                </a:tc>
                <a:tc>
                  <a:txBody>
                    <a:bodyPr/>
                    <a:lstStyle/>
                    <a:p>
                      <a:r>
                        <a:rPr sz="1100" b="0">
                          <a:solidFill>
                            <a:srgbClr val="4B4B4B"/>
                          </a:solidFill>
                          <a:latin typeface="Arial"/>
                        </a:rPr>
                        <a:t>Invoice 360 opens for a migrated invoice, with its Legacy Invoice card</a:t>
                      </a:r>
                    </a:p>
                  </a:txBody>
                  <a:tcPr marL="54864" marR="54864" marT="27432" marB="27432">
                    <a:solidFill>
                      <a:srgbClr val="E5F5FF"/>
                    </a:solidFill>
                  </a:tcPr>
                </a:tc>
                <a:tc>
                  <a:txBody>
                    <a:bodyPr/>
                    <a:lstStyle/>
                    <a:p>
                      <a:r>
                        <a:rPr sz="1100" b="0">
                          <a:solidFill>
                            <a:srgbClr val="4B4B4B"/>
                          </a:solidFill>
                          <a:latin typeface="Arial"/>
                        </a:rPr>
                        <a:t>SCR-DM-17</a:t>
                      </a:r>
                    </a:p>
                  </a:txBody>
                  <a:tcPr marL="54864" marR="54864" marT="27432" marB="27432">
                    <a:solidFill>
                      <a:srgbClr val="E5F5FF"/>
                    </a:solidFill>
                  </a:tcPr>
                </a:tc>
                <a:tc>
                  <a:txBody>
                    <a:bodyPr/>
                    <a:lstStyle/>
                    <a:p>
                      <a:r>
                        <a:rPr sz="1100" b="0">
                          <a:solidFill>
                            <a:srgbClr val="4B4B4B"/>
                          </a:solidFill>
                          <a:latin typeface="Arial"/>
                        </a:rPr>
                        <a:t>1</a:t>
                      </a:r>
                    </a:p>
                  </a:txBody>
                  <a:tcPr marL="54864" marR="54864" marT="27432" marB="27432">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7548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Migration Lead,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Data Migration Lead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Data owners of the objects (department representatives named per object)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Their objects, load templates, code maps and reconciliation</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 Comptrollership - Disbursement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Payees and open disbursements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 Comptrollership - FRBS and ACSL</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GL opening, legacy accounts and the subsidiary ledger</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Open invoices, unapplied payments, collection state and remittance</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Operations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Insurers, commission rates and policy headers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Analytics and Risk Management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KYC documents, the archive, Legacy Inquiry and its access log</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renewal advices already sent and the day-1 renewal queue</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and the sales organisation of Combank and Corbank</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Open items, GL opening, reconciliation and the opening-balance adjustments</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105156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and the sales organisation of Retail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Corporate and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and the sales organisation of Corporate Marketing</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004EA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#004EA8 Header Blue</a:t>
            </a:r>
          </a:p>
        </p:txBody>
      </p:sp>
      <p:sp>
        <p:nvSpPr>
          <p:cNvPr id="12" name="Rectangle 11"/>
          <p:cNvSpPr/>
          <p:nvPr/>
        </p:nvSpPr>
        <p:spPr>
          <a:xfrm>
            <a:off x="2159682" y="1261872"/>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#0072D8 CTA Blue</a:t>
            </a:r>
          </a:p>
        </p:txBody>
      </p:sp>
      <p:sp>
        <p:nvSpPr>
          <p:cNvPr id="15" name="Rectangle 14"/>
          <p:cNvSpPr/>
          <p:nvPr/>
        </p:nvSpPr>
        <p:spPr>
          <a:xfrm>
            <a:off x="3770724" y="1261872"/>
            <a:ext cx="1428162" cy="384048"/>
          </a:xfrm>
          <a:prstGeom prst="rect">
            <a:avLst/>
          </a:prstGeom>
          <a:solidFill>
            <a:srgbClr val="005FB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#005FB4 CTA hover / pressed</a:t>
            </a:r>
          </a:p>
        </p:txBody>
      </p:sp>
      <p:sp>
        <p:nvSpPr>
          <p:cNvPr id="18" name="Rectangle 17"/>
          <p:cNvSpPr/>
          <p:nvPr/>
        </p:nvSpPr>
        <p:spPr>
          <a:xfrm>
            <a:off x="5381766" y="1261872"/>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#E5F5FF Background Blue</a:t>
            </a:r>
          </a:p>
        </p:txBody>
      </p:sp>
      <p:sp>
        <p:nvSpPr>
          <p:cNvPr id="21" name="Rectangle 20"/>
          <p:cNvSpPr/>
          <p:nvPr/>
        </p:nvSpPr>
        <p:spPr>
          <a:xfrm>
            <a:off x="6992808" y="1261872"/>
            <a:ext cx="1428162" cy="384048"/>
          </a:xfrm>
          <a:prstGeom prst="rect">
            <a:avLst/>
          </a:prstGeom>
          <a:solidFill>
            <a:srgbClr val="99C1E7"/>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#99C1E7 Text Field Blue</a:t>
            </a:r>
          </a:p>
        </p:txBody>
      </p:sp>
      <p:sp>
        <p:nvSpPr>
          <p:cNvPr id="24" name="Rectangle 23"/>
          <p:cNvSpPr/>
          <p:nvPr/>
        </p:nvSpPr>
        <p:spPr>
          <a:xfrm>
            <a:off x="8603850" y="1261872"/>
            <a:ext cx="1428162" cy="384048"/>
          </a:xfrm>
          <a:prstGeom prst="rect">
            <a:avLst/>
          </a:prstGeom>
          <a:solidFill>
            <a:srgbClr val="FDB913"/>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#FDB913 Yellow</a:t>
            </a:r>
          </a:p>
        </p:txBody>
      </p:sp>
      <p:sp>
        <p:nvSpPr>
          <p:cNvPr id="27" name="Rectangle 26"/>
          <p:cNvSpPr/>
          <p:nvPr/>
        </p:nvSpPr>
        <p:spPr>
          <a:xfrm>
            <a:off x="10214892" y="1261872"/>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#E0A100 </a:t>
            </a:r>
          </a:p>
        </p:txBody>
      </p:sp>
      <p:sp>
        <p:nvSpPr>
          <p:cNvPr id="30" name="Rectangle 29"/>
          <p:cNvSpPr/>
          <p:nvPr/>
        </p:nvSpPr>
        <p:spPr>
          <a:xfrm>
            <a:off x="548640" y="2249424"/>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#FFF4D6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#0072D8 </a:t>
            </a:r>
          </a:p>
        </p:txBody>
      </p:sp>
      <p:sp>
        <p:nvSpPr>
          <p:cNvPr id="84" name="Rectangle 83"/>
          <p:cNvSpPr/>
          <p:nvPr/>
        </p:nvSpPr>
        <p:spPr>
          <a:xfrm>
            <a:off x="6992808" y="4224528"/>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#E5F5FF Typography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SCR-DM-07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SCR-DM-05, SCR-DM-07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SCR-DM-02, SCR-DM-05, SCR-DM-06, SCR-DM-18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SCR-DM-02, SCR-DM-07, SCR-DM-09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SCR-DM-02, SCR-DM-06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SCR-DM-05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SCR-DM-07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Maker-checker</a:t>
                      </a:r>
                    </a:p>
                  </a:txBody>
                  <a:tcPr marL="54864" marR="54864" marT="27432" marB="27432">
                    <a:solidFill>
                      <a:srgbClr val="E5F5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NAV-DM-01 The page Data Migration Lead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592302" y="1261872"/>
            <a:ext cx="3516630" cy="4643437"/>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8082762" y="1261872"/>
            <a:ext cx="3516630" cy="290369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NAV-DM-01 Every group of the menu open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NAV-DM-02 The page Data Steward sees after sign-in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4.png"/>
          <p:cNvPicPr>
            <a:picLocks noChangeAspect="1"/>
          </p:cNvPicPr>
          <p:nvPr/>
        </p:nvPicPr>
        <p:blipFill>
          <a:blip r:embed="rId3"/>
          <a:stretch>
            <a:fillRect/>
          </a:stretch>
        </p:blipFill>
        <p:spPr>
          <a:xfrm>
            <a:off x="592302" y="1261872"/>
            <a:ext cx="3516630" cy="4643437"/>
          </a:xfrm>
          <a:prstGeom prst="rect">
            <a:avLst/>
          </a:prstGeom>
          <a:ln w="9525">
            <a:solidFill>
              <a:srgbClr val="C2C2C1"/>
            </a:solidFill>
          </a:ln>
        </p:spPr>
      </p:pic>
      <p:pic>
        <p:nvPicPr>
          <p:cNvPr id="11" name="Picture 10" descr="slice-0000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6.png"/>
          <p:cNvPicPr>
            <a:picLocks noChangeAspect="1"/>
          </p:cNvPicPr>
          <p:nvPr/>
        </p:nvPicPr>
        <p:blipFill>
          <a:blip r:embed="rId5"/>
          <a:stretch>
            <a:fillRect/>
          </a:stretch>
        </p:blipFill>
        <p:spPr>
          <a:xfrm>
            <a:off x="8082762" y="1261872"/>
            <a:ext cx="3516630" cy="339899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NAV-DM-02 Every group of the menu open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Client Matching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Reconciliation</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Opening Adjustments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Cutover</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Run-off and Decommissioning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Sign-off</a:t>
                      </a:r>
                    </a:p>
                  </a:txBody>
                  <a:tcPr marL="54864" marR="54864"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owner (business owner of an object):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NAV-DM-03 The page Data owner (business owner of an object) sees after sign-in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owner (business owner of an object):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592302" y="1261872"/>
            <a:ext cx="3516630" cy="4643437"/>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8082762" y="1261872"/>
            <a:ext cx="3516630" cy="290369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NAV-DM-03 Every group of the menu open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owner (business owner of an object):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NAV-DM-04 The page Migration Operator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0.png"/>
          <p:cNvPicPr>
            <a:picLocks noChangeAspect="1"/>
          </p:cNvPicPr>
          <p:nvPr/>
        </p:nvPicPr>
        <p:blipFill>
          <a:blip r:embed="rId3"/>
          <a:stretch>
            <a:fillRect/>
          </a:stretch>
        </p:blipFill>
        <p:spPr>
          <a:xfrm>
            <a:off x="592302" y="1261872"/>
            <a:ext cx="3516630" cy="4637246"/>
          </a:xfrm>
          <a:prstGeom prst="rect">
            <a:avLst/>
          </a:prstGeom>
          <a:ln w="9525">
            <a:solidFill>
              <a:srgbClr val="C2C2C1"/>
            </a:solidFill>
          </a:ln>
        </p:spPr>
      </p:pic>
      <p:pic>
        <p:nvPicPr>
          <p:cNvPr id="11" name="Picture 10" descr="slice-00011.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12.png"/>
          <p:cNvPicPr>
            <a:picLocks noChangeAspect="1"/>
          </p:cNvPicPr>
          <p:nvPr/>
        </p:nvPicPr>
        <p:blipFill>
          <a:blip r:embed="rId5"/>
          <a:stretch>
            <a:fillRect/>
          </a:stretch>
        </p:blipFill>
        <p:spPr>
          <a:xfrm>
            <a:off x="8082762" y="1261872"/>
            <a:ext cx="3516630" cy="340518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NAV-DM-04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Extracts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Batches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Reconciliation</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Opening Adjustments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Cutover</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Run-off and Decommissioning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Sign-off</a:t>
                      </a:r>
                    </a:p>
                  </a:txBody>
                  <a:tcPr marL="54864" marR="54864"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Reconciliation approver (Head of 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NAV-DM-05 The page Reconciliation approver (Head of Comptrollership)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Reconciliation approver (Head of Comptrollership):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592302" y="1261872"/>
            <a:ext cx="3516630" cy="4643437"/>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8082762" y="1261872"/>
            <a:ext cx="3516630" cy="290369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NAV-DM-05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Reconciliation approver (Head of Comptrollership):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NAV-DM-06 The page Go / no-go board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592302" y="1261872"/>
            <a:ext cx="3516630" cy="4643437"/>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8082762" y="1261872"/>
            <a:ext cx="3516630" cy="290369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NAV-DM-06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The page Comptrollership GL lead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1 of 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2.png"/>
          <p:cNvPicPr>
            <a:picLocks noChangeAspect="1"/>
          </p:cNvPicPr>
          <p:nvPr/>
        </p:nvPicPr>
        <p:blipFill>
          <a:blip r:embed="rId3"/>
          <a:stretch>
            <a:fillRect/>
          </a:stretch>
        </p:blipFill>
        <p:spPr>
          <a:xfrm>
            <a:off x="592302" y="1261872"/>
            <a:ext cx="3516630" cy="4606290"/>
          </a:xfrm>
          <a:prstGeom prst="rect">
            <a:avLst/>
          </a:prstGeom>
          <a:ln w="9525">
            <a:solidFill>
              <a:srgbClr val="C2C2C1"/>
            </a:solidFill>
          </a:ln>
        </p:spPr>
      </p:pic>
      <p:pic>
        <p:nvPicPr>
          <p:cNvPr id="11" name="Picture 10" descr="slice-0002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4.png"/>
          <p:cNvPicPr>
            <a:picLocks noChangeAspect="1"/>
          </p:cNvPicPr>
          <p:nvPr/>
        </p:nvPicPr>
        <p:blipFill>
          <a:blip r:embed="rId5"/>
          <a:stretch>
            <a:fillRect/>
          </a:stretch>
        </p:blipFill>
        <p:spPr>
          <a:xfrm>
            <a:off x="8082762" y="1261872"/>
            <a:ext cx="3516630" cy="4451508"/>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2 of 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592302" y="1261872"/>
            <a:ext cx="3516630" cy="4668202"/>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7.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3 of 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8.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029.png"/>
          <p:cNvPicPr>
            <a:picLocks noChangeAspect="1"/>
          </p:cNvPicPr>
          <p:nvPr/>
        </p:nvPicPr>
        <p:blipFill>
          <a:blip r:embed="rId4"/>
          <a:stretch>
            <a:fillRect/>
          </a:stretch>
        </p:blipFill>
        <p:spPr>
          <a:xfrm>
            <a:off x="6210147" y="1261872"/>
            <a:ext cx="3516630" cy="299656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4 of 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NAV-DM-08 The page Audit / Compliance user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0.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1.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32.png"/>
          <p:cNvPicPr>
            <a:picLocks noChangeAspect="1"/>
          </p:cNvPicPr>
          <p:nvPr/>
        </p:nvPicPr>
        <p:blipFill>
          <a:blip r:embed="rId5"/>
          <a:stretch>
            <a:fillRect/>
          </a:stretch>
        </p:blipFill>
        <p:spPr>
          <a:xfrm>
            <a:off x="8082762" y="1261872"/>
            <a:ext cx="3516630" cy="177069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NAV-DM-08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Compliance reviewer of the access log: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NAV-DM-09 The page Compliance reviewer of the access log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Compliance reviewer of the access log: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3.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4.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35.png"/>
          <p:cNvPicPr>
            <a:picLocks noChangeAspect="1"/>
          </p:cNvPicPr>
          <p:nvPr/>
        </p:nvPicPr>
        <p:blipFill>
          <a:blip r:embed="rId5"/>
          <a:stretch>
            <a:fillRect/>
          </a:stretch>
        </p:blipFill>
        <p:spPr>
          <a:xfrm>
            <a:off x="8082762" y="1261872"/>
            <a:ext cx="3516630" cy="177069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NAV-DM-09 Every group of the menu open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Compliance reviewer of the access log: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c>
                  <a:txBody>
                    <a:bodyPr/>
                    <a:lstStyle/>
                    <a:p>
                      <a:r>
                        <a:rPr sz="1100" b="0">
                          <a:solidFill>
                            <a:srgbClr val="4B4B4B"/>
                          </a:solidFill>
                          <a:latin typeface="Arial"/>
                        </a:rPr>
                        <a:t>Access Log</a:t>
                      </a:r>
                    </a:p>
                  </a:txBody>
                  <a:tcPr marL="54864" marR="54864" marT="27432" marB="27432">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The page Cashiering user sees after sign-in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6.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7.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38.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1 of 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592302" y="1261872"/>
            <a:ext cx="3516630" cy="4600098"/>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8082762" y="1261872"/>
            <a:ext cx="3516630" cy="466820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2 of 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2.png"/>
          <p:cNvPicPr>
            <a:picLocks noChangeAspect="1"/>
          </p:cNvPicPr>
          <p:nvPr/>
        </p:nvPicPr>
        <p:blipFill>
          <a:blip r:embed="rId3"/>
          <a:stretch>
            <a:fillRect/>
          </a:stretch>
        </p:blipFill>
        <p:spPr>
          <a:xfrm>
            <a:off x="2464917" y="1261872"/>
            <a:ext cx="3516630" cy="4507230"/>
          </a:xfrm>
          <a:prstGeom prst="rect">
            <a:avLst/>
          </a:prstGeom>
          <a:ln w="9525">
            <a:solidFill>
              <a:srgbClr val="C2C2C1"/>
            </a:solidFill>
          </a:ln>
        </p:spPr>
      </p:pic>
      <p:pic>
        <p:nvPicPr>
          <p:cNvPr id="11" name="Picture 10" descr="slice-00043.png"/>
          <p:cNvPicPr>
            <a:picLocks noChangeAspect="1"/>
          </p:cNvPicPr>
          <p:nvPr/>
        </p:nvPicPr>
        <p:blipFill>
          <a:blip r:embed="rId4"/>
          <a:stretch>
            <a:fillRect/>
          </a:stretch>
        </p:blipFill>
        <p:spPr>
          <a:xfrm>
            <a:off x="6210147" y="1261872"/>
            <a:ext cx="3516630" cy="239601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3 of 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The page Cashiering team lead sees after sign-in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8082762" y="1261872"/>
            <a:ext cx="3516630" cy="467439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1 of 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8082762" y="1261872"/>
            <a:ext cx="3516630" cy="460629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2 of 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4337532" y="1261872"/>
            <a:ext cx="3516630" cy="4668202"/>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3 of 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55.png"/>
          <p:cNvPicPr>
            <a:picLocks noChangeAspect="1"/>
          </p:cNvPicPr>
          <p:nvPr/>
        </p:nvPicPr>
        <p:blipFill>
          <a:blip r:embed="rId5"/>
          <a:stretch>
            <a:fillRect/>
          </a:stretch>
        </p:blipFill>
        <p:spPr>
          <a:xfrm>
            <a:off x="8082762" y="1261872"/>
            <a:ext cx="3516630" cy="199977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4 of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Top management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NAV-DM-12 The page Top management approver sees after sign-in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Top management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6.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7.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58.png"/>
          <p:cNvPicPr>
            <a:picLocks noChangeAspect="1"/>
          </p:cNvPicPr>
          <p:nvPr/>
        </p:nvPicPr>
        <p:blipFill>
          <a:blip r:embed="rId5"/>
          <a:stretch>
            <a:fillRect/>
          </a:stretch>
        </p:blipFill>
        <p:spPr>
          <a:xfrm>
            <a:off x="8082762" y="1261872"/>
            <a:ext cx="3516630" cy="177069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NAV-DM-12 Every group of the menu open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The page Commission user sees after sign-in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9.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6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1.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Every group of the menu open (part 1 of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592302" y="1261872"/>
            <a:ext cx="3516630" cy="4593907"/>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4337532" y="1261872"/>
            <a:ext cx="3516630" cy="4507230"/>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8082762" y="1261872"/>
            <a:ext cx="3516630" cy="338661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Every group of the menu open (part 2 of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The page Commission team lead sees after sign-in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Every group of the menu open (part 1 of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8.png"/>
          <p:cNvPicPr>
            <a:picLocks noChangeAspect="1"/>
          </p:cNvPicPr>
          <p:nvPr/>
        </p:nvPicPr>
        <p:blipFill>
          <a:blip r:embed="rId3"/>
          <a:stretch>
            <a:fillRect/>
          </a:stretch>
        </p:blipFill>
        <p:spPr>
          <a:xfrm>
            <a:off x="592302" y="1261872"/>
            <a:ext cx="3516630" cy="4593907"/>
          </a:xfrm>
          <a:prstGeom prst="rect">
            <a:avLst/>
          </a:prstGeom>
          <a:ln w="9525">
            <a:solidFill>
              <a:srgbClr val="C2C2C1"/>
            </a:solidFill>
          </a:ln>
        </p:spPr>
      </p:pic>
      <p:pic>
        <p:nvPicPr>
          <p:cNvPr id="11" name="Picture 10" descr="slice-00069.png"/>
          <p:cNvPicPr>
            <a:picLocks noChangeAspect="1"/>
          </p:cNvPicPr>
          <p:nvPr/>
        </p:nvPicPr>
        <p:blipFill>
          <a:blip r:embed="rId4"/>
          <a:stretch>
            <a:fillRect/>
          </a:stretch>
        </p:blipFill>
        <p:spPr>
          <a:xfrm>
            <a:off x="4337532" y="1261872"/>
            <a:ext cx="3516630" cy="4507230"/>
          </a:xfrm>
          <a:prstGeom prst="rect">
            <a:avLst/>
          </a:prstGeom>
          <a:ln w="9525">
            <a:solidFill>
              <a:srgbClr val="C2C2C1"/>
            </a:solidFill>
          </a:ln>
        </p:spPr>
      </p:pic>
      <p:pic>
        <p:nvPicPr>
          <p:cNvPr id="12" name="Picture 11" descr="slice-00070.png"/>
          <p:cNvPicPr>
            <a:picLocks noChangeAspect="1"/>
          </p:cNvPicPr>
          <p:nvPr/>
        </p:nvPicPr>
        <p:blipFill>
          <a:blip r:embed="rId5"/>
          <a:stretch>
            <a:fillRect/>
          </a:stretch>
        </p:blipFill>
        <p:spPr>
          <a:xfrm>
            <a:off x="8082762" y="1261872"/>
            <a:ext cx="3516630" cy="388191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Every group of the menu open (part 2 of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The page Marketing Account Officer sees after sign-in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8082762" y="1261872"/>
            <a:ext cx="3516630" cy="467439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1 of 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2 of 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7.png"/>
          <p:cNvPicPr>
            <a:picLocks noChangeAspect="1"/>
          </p:cNvPicPr>
          <p:nvPr/>
        </p:nvPicPr>
        <p:blipFill>
          <a:blip r:embed="rId3"/>
          <a:stretch>
            <a:fillRect/>
          </a:stretch>
        </p:blipFill>
        <p:spPr>
          <a:xfrm>
            <a:off x="592302" y="1261872"/>
            <a:ext cx="3516630" cy="4562951"/>
          </a:xfrm>
          <a:prstGeom prst="rect">
            <a:avLst/>
          </a:prstGeom>
          <a:ln w="9525">
            <a:solidFill>
              <a:srgbClr val="C2C2C1"/>
            </a:solidFill>
          </a:ln>
        </p:spPr>
      </p:pic>
      <p:pic>
        <p:nvPicPr>
          <p:cNvPr id="11" name="Picture 10" descr="slice-0007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79.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3 of 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0.png"/>
          <p:cNvPicPr>
            <a:picLocks noChangeAspect="1"/>
          </p:cNvPicPr>
          <p:nvPr/>
        </p:nvPicPr>
        <p:blipFill>
          <a:blip r:embed="rId3"/>
          <a:stretch>
            <a:fillRect/>
          </a:stretch>
        </p:blipFill>
        <p:spPr>
          <a:xfrm>
            <a:off x="4337532" y="1261872"/>
            <a:ext cx="3516630" cy="7986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4 of 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Migration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BDOI lead of the migration, from the Business Project Services programme office</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Runs the migration on the BDOI side: object register and decisions, load approvals (G4), acceptance with the owners (G6), rollback requests, cut-over plans, decommissioning checklists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1, 14; UF-B steps 1, 2,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Steward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data specialist of the business unit that owns the legacy data (Operations, Marketing, Comptrollership)</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Code maps and layouts; data-quality issues; doubtful client matches; signs the validation (G3)</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3, 4, 10, 13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SCR-DM-08 Client Matching</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owner (business owner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the business unit accountable for a data object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Decides the class (G1), approves the code map versions and signs the mapping (G2), waives or excludes rows, accepts the object (G6)</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2, 5,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Migration Operator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migration team who runs the files and batches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Uploads extracts, plans, validates, loads and reconciles batches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6, 7, 8,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SCR-DM-05 Extracts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Reconciliation approver (Head of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Comptrollership, or the owner named for a non-financial object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break explanations, signs the reconciliation (G5), approves rollbacks and the opening-balance adjustments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12; UF-B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Go / no-go board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go / no-go board of the cut-over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Measures and records the criteria and decides GO or NO-GO (G7 on the production plan)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 GL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GL lead of Comptrollership who prepares the year-end adjustments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Prepares each opening-balance adjustment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UF-B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 / Compliance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Audit or Compliance officer who needs the closed legacy records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Searches, views, downloads and exports the legacy archive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UF-D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SCR-DM-14 Legacy Inquiry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Compliance reviewer of the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Compliance officer who reviews who opened the legacy archive and why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the access log of the archive and its monthly digest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SCR-DM-15 Access Log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Cashiering officer of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Unapplied to Income and Legacy PR 2307 Reversal batches; payments and dispositions on legacy items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2, 3, 4,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SCR-DM-18 Unapplied to Income</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Cashiering</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the Unapplied to Income and Legacy PR 2307 Reversal batches of the Cashiering users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SCR-DM-18 Unapplied to Income</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Top management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top management named for the reclassification of unapplied payments to income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Gives the second approval of an Unapplied to Income batch, or returns it with the reason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SCR-DM-18 Unapplied to Income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officer of Operations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PR Legacy Reversal batches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Commission</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the DP PR Legacy Reversal batches of the Commission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who serves the clients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Finds the migrated clients, policies and invoices on the usual screens, marked LEGACY, and works them like BIBS records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A data object from its decision to its acceptance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UF-A A data object from its decision to its acceptance</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Data Migration Lead proposes the class of an object and its business owner decides it; the Data Steward maps the legacy codes and the owner signs the mapping; the operator receives the extract, plans and validates a batch; the steward reviews the doubtful client pairs; the owner waives the rows that may load; the batch is loaded and reconciled, the breaks explained, and the owner and the lead accept the object.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Object C01 (clients) of the seed data, its code maps, extracts and batches</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Data Migration Lead, Data owner (business owner of an object), Data Steward, Migration Operator, Reconciliation approver (Head of Comptrollership)</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14 steps, 9 hand-offs, 4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Data owner (business owner of an object)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Data Steward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Migration Operator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Data Objects and the decision of an object</a:t>
            </a:r>
          </a:p>
        </p:txBody>
      </p:sp>
      <p:sp>
        <p:nvSpPr>
          <p:cNvPr id="22" name="Rounded Rectangle 21"/>
          <p:cNvSpPr/>
          <p:nvPr/>
        </p:nvSpPr>
        <p:spPr>
          <a:xfrm>
            <a:off x="3596220"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Data Objects and the decision of an object</a:t>
            </a:r>
          </a:p>
        </p:txBody>
      </p:sp>
      <p:sp>
        <p:nvSpPr>
          <p:cNvPr id="23" name="Rounded Rectangle 22"/>
          <p:cNvSpPr/>
          <p:nvPr/>
        </p:nvSpPr>
        <p:spPr>
          <a:xfrm>
            <a:off x="3845736"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4" name="Rounded Rectangle 23"/>
          <p:cNvSpPr/>
          <p:nvPr/>
        </p:nvSpPr>
        <p:spPr>
          <a:xfrm>
            <a:off x="4760136"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Code Maps and the versions of a code map</a:t>
            </a:r>
          </a:p>
        </p:txBody>
      </p:sp>
      <p:sp>
        <p:nvSpPr>
          <p:cNvPr id="25" name="Rounded Rectangle 24"/>
          <p:cNvSpPr/>
          <p:nvPr/>
        </p:nvSpPr>
        <p:spPr>
          <a:xfrm>
            <a:off x="5924052"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Code Maps and the versions of a code map</a:t>
            </a:r>
          </a:p>
        </p:txBody>
      </p:sp>
      <p:sp>
        <p:nvSpPr>
          <p:cNvPr id="26" name="Rounded Rectangle 25"/>
          <p:cNvSpPr/>
          <p:nvPr/>
        </p:nvSpPr>
        <p:spPr>
          <a:xfrm>
            <a:off x="7087968"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Sign-off</a:t>
            </a:r>
          </a:p>
        </p:txBody>
      </p:sp>
      <p:sp>
        <p:nvSpPr>
          <p:cNvPr id="27" name="Rounded Rectangle 26"/>
          <p:cNvSpPr/>
          <p:nvPr/>
        </p:nvSpPr>
        <p:spPr>
          <a:xfrm>
            <a:off x="7337484"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8" name="Rounded Rectangle 27"/>
          <p:cNvSpPr/>
          <p:nvPr/>
        </p:nvSpPr>
        <p:spPr>
          <a:xfrm>
            <a:off x="8251884"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Extracts</a:t>
            </a:r>
          </a:p>
        </p:txBody>
      </p:sp>
      <p:sp>
        <p:nvSpPr>
          <p:cNvPr id="29" name="Rounded Rectangle 28"/>
          <p:cNvSpPr/>
          <p:nvPr/>
        </p:nvSpPr>
        <p:spPr>
          <a:xfrm>
            <a:off x="9415800"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Extracts</a:t>
            </a:r>
          </a:p>
        </p:txBody>
      </p:sp>
      <p:sp>
        <p:nvSpPr>
          <p:cNvPr id="30" name="Rounded Rectangle 29"/>
          <p:cNvSpPr/>
          <p:nvPr/>
        </p:nvSpPr>
        <p:spPr>
          <a:xfrm>
            <a:off x="10579716"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Batches and resubmissions</a:t>
            </a:r>
          </a:p>
        </p:txBody>
      </p:sp>
      <p:cxnSp>
        <p:nvCxnSpPr>
          <p:cNvPr id="31" name="Connector 30"/>
          <p:cNvCxnSpPr/>
          <p:nvPr/>
        </p:nvCxnSpPr>
        <p:spPr>
          <a:xfrm>
            <a:off x="3395052"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8968"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22884" y="346100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86800"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0716" y="2592324"/>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214632" y="432968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378548" y="432968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Migration Operator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Data Steward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Data owner (business owner of an object)</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Reconciliation approver (Head of Comptrollership)</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62456"/>
            <a:ext cx="1350721"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Batch</a:t>
            </a:r>
          </a:p>
        </p:txBody>
      </p:sp>
      <p:sp>
        <p:nvSpPr>
          <p:cNvPr id="25" name="Rounded Rectangle 24"/>
          <p:cNvSpPr/>
          <p:nvPr/>
        </p:nvSpPr>
        <p:spPr>
          <a:xfrm>
            <a:off x="3069793"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6" name="Rounded Rectangle 25"/>
          <p:cNvSpPr/>
          <p:nvPr/>
        </p:nvSpPr>
        <p:spPr>
          <a:xfrm>
            <a:off x="3984193" y="2231136"/>
            <a:ext cx="1350721"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Client Matching</a:t>
            </a:r>
          </a:p>
        </p:txBody>
      </p:sp>
      <p:sp>
        <p:nvSpPr>
          <p:cNvPr id="27" name="Rounded Rectangle 26"/>
          <p:cNvSpPr/>
          <p:nvPr/>
        </p:nvSpPr>
        <p:spPr>
          <a:xfrm>
            <a:off x="5536082" y="3099816"/>
            <a:ext cx="1350721"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Batch</a:t>
            </a:r>
          </a:p>
        </p:txBody>
      </p:sp>
      <p:sp>
        <p:nvSpPr>
          <p:cNvPr id="28" name="Rounded Rectangle 27"/>
          <p:cNvSpPr/>
          <p:nvPr/>
        </p:nvSpPr>
        <p:spPr>
          <a:xfrm>
            <a:off x="7087971" y="3968496"/>
            <a:ext cx="1350721"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Reconciliation</a:t>
            </a:r>
          </a:p>
        </p:txBody>
      </p:sp>
      <p:sp>
        <p:nvSpPr>
          <p:cNvPr id="29" name="Rounded Rectangle 28"/>
          <p:cNvSpPr/>
          <p:nvPr/>
        </p:nvSpPr>
        <p:spPr>
          <a:xfrm>
            <a:off x="8639860" y="2231136"/>
            <a:ext cx="1350721"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Reconciliation</a:t>
            </a:r>
          </a:p>
        </p:txBody>
      </p:sp>
      <p:sp>
        <p:nvSpPr>
          <p:cNvPr id="30" name="Rounded Rectangle 29"/>
          <p:cNvSpPr/>
          <p:nvPr/>
        </p:nvSpPr>
        <p:spPr>
          <a:xfrm>
            <a:off x="10191749" y="4837176"/>
            <a:ext cx="1350721"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Batch</a:t>
            </a:r>
          </a:p>
        </p:txBody>
      </p:sp>
      <p:sp>
        <p:nvSpPr>
          <p:cNvPr id="31" name="Rounded Rectangle 30"/>
          <p:cNvSpPr/>
          <p:nvPr/>
        </p:nvSpPr>
        <p:spPr>
          <a:xfrm>
            <a:off x="10829238" y="479145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cxnSp>
        <p:nvCxnSpPr>
          <p:cNvPr id="32" name="Connector 31"/>
          <p:cNvCxnSpPr/>
          <p:nvPr/>
        </p:nvCxnSpPr>
        <p:spPr>
          <a:xfrm>
            <a:off x="3783025"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34914"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86803"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438692" y="2592324"/>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90581" y="2592324"/>
            <a:ext cx="201168" cy="26060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 of 14: Data Objects and the decision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2-01-list.png"/>
          <p:cNvPicPr>
            <a:picLocks noChangeAspect="1"/>
          </p:cNvPicPr>
          <p:nvPr/>
        </p:nvPicPr>
        <p:blipFill>
          <a:blip r:embed="rId3"/>
          <a:stretch>
            <a:fillRect/>
          </a:stretch>
        </p:blipFill>
        <p:spPr>
          <a:xfrm>
            <a:off x="1385466" y="1261872"/>
            <a:ext cx="5991763"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Data Objects register with the class and status of each object</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Opens Data Objects, finds the object and submits the proposed class for decision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decision as For decision and notifies the business owner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object in the register with its class and status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Data owner (business owner of an object) on Data Objects and the decision of an object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2 of 14: Data Objects and the decision of an object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81.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Opens the object, reads the four criteria and the rationale and clicks Approve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Decides the class (gate G1) and keeps the decision in the history</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the decision is approved; the history lists the decision with the name of the owner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Data Steward on Code Maps and the versions of a code map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2 of 14: Data Objects and the decision of an object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82.png"/>
          <p:cNvPicPr>
            <a:picLocks noChangeAspect="1"/>
          </p:cNvPicPr>
          <p:nvPr/>
        </p:nvPicPr>
        <p:blipFill>
          <a:blip r:embed="rId3"/>
          <a:stretch>
            <a:fillRect/>
          </a:stretch>
        </p:blipFill>
        <p:spPr>
          <a:xfrm>
            <a:off x="548640" y="1261872"/>
            <a:ext cx="7665415" cy="472149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2 of 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2 of 14: Data Objects and the decision of an object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83.png"/>
          <p:cNvPicPr>
            <a:picLocks noChangeAspect="1"/>
          </p:cNvPicPr>
          <p:nvPr/>
        </p:nvPicPr>
        <p:blipFill>
          <a:blip r:embed="rId3"/>
          <a:stretch>
            <a:fillRect/>
          </a:stretch>
        </p:blipFill>
        <p:spPr>
          <a:xfrm>
            <a:off x="548640" y="1261872"/>
            <a:ext cx="7665415" cy="40970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3 of 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3 of 14: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3-03-entry.png"/>
          <p:cNvPicPr>
            <a:picLocks noChangeAspect="1"/>
          </p:cNvPicPr>
          <p:nvPr/>
        </p:nvPicPr>
        <p:blipFill>
          <a:blip r:embed="rId3"/>
          <a:stretch>
            <a:fillRect/>
          </a:stretch>
        </p:blipFill>
        <p:spPr>
          <a:xfrm>
            <a:off x="548640" y="1261872"/>
            <a:ext cx="7665415" cy="364288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SCR-DM-03 Add Entry dialog of a draft version</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the code map, creates a draft version and adds the legacy codes with their BIBS values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draft; Submit sends it to the owner after a confirmation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Add Entry dialog with the legacy code, the action and the BIBS value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Data Steward on Code Maps and the versions of a code map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4 of 14: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3-04-unmapped.png"/>
          <p:cNvPicPr>
            <a:picLocks noChangeAspect="1"/>
          </p:cNvPicPr>
          <p:nvPr/>
        </p:nvPicPr>
        <p:blipFill>
          <a:blip r:embed="rId3"/>
          <a:stretch>
            <a:fillRect/>
          </a:stretch>
        </p:blipFill>
        <p:spPr>
          <a:xfrm>
            <a:off x="548640" y="1261872"/>
            <a:ext cx="7665415" cy="233927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SCR-DM-03 Unmapped Codes tab</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Unmapped Codes to see the legacy codes of the extracts that have no entry yet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each unmapped code with the extract and the count of rows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unmapped codes to add before the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Data owner (business owner of an object) on Sign-off</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5 of 14: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cr-dm-10-01-matrix.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SCR-DM-10 Gate matrix per object with the signer and date of each gate</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Approves the code map version and signs the mapping of the object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Signs gate G2: the layouts are frozen and every code map is 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gate matrix with the signer and date of G1 and G2</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Migration Operator on Extracts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6 of 14: Extracts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4.png"/>
          <p:cNvPicPr>
            <a:picLocks noChangeAspect="1"/>
          </p:cNvPicPr>
          <p:nvPr/>
        </p:nvPicPr>
        <p:blipFill>
          <a:blip r:embed="rId3"/>
          <a:stretch>
            <a:fillRect/>
          </a:stretch>
        </p:blipFill>
        <p:spPr>
          <a:xfrm>
            <a:off x="548640" y="1261872"/>
            <a:ext cx="7665415" cy="459924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Extracts with the upload card and the intake results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Uploads the extract with its control file and clicks Upload and Check</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Runs the intake checks (name, checksum, header, row count, totals) and stages the file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extract listed as Staged with its rows and the masking applied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Migration Operator on Extracts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6 of 14: Extracts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5.png"/>
          <p:cNvPicPr>
            <a:picLocks noChangeAspect="1"/>
          </p:cNvPicPr>
          <p:nvPr/>
        </p:nvPicPr>
        <p:blipFill>
          <a:blip r:embed="rId3"/>
          <a:stretch>
            <a:fillRect/>
          </a:stretch>
        </p:blipFill>
        <p:spPr>
          <a:xfrm>
            <a:off x="548640" y="1261872"/>
            <a:ext cx="7665415" cy="432831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Extracts with the upload card and the intake results (part 2 of 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6.png"/>
          <p:cNvPicPr>
            <a:picLocks noChangeAspect="1"/>
          </p:cNvPicPr>
          <p:nvPr/>
        </p:nvPicPr>
        <p:blipFill>
          <a:blip r:embed="rId3"/>
          <a:stretch>
            <a:fillRect/>
          </a:stretch>
        </p:blipFill>
        <p:spPr>
          <a:xfrm>
            <a:off x="548640" y="1261872"/>
            <a:ext cx="7665415" cy="456774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its reason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Uploads a file whose control file announces more rows than the file holds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Rejects the file as a whole with the reason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error notice with the reason of the rejection; the extract listed as Rejected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Migration Operator on Batches and resubmissions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7.png"/>
          <p:cNvPicPr>
            <a:picLocks noChangeAspect="1"/>
          </p:cNvPicPr>
          <p:nvPr/>
        </p:nvPicPr>
        <p:blipFill>
          <a:blip r:embed="rId3"/>
          <a:stretch>
            <a:fillRect/>
          </a:stretch>
        </p:blipFill>
        <p:spPr>
          <a:xfrm>
            <a:off x="548640" y="1261872"/>
            <a:ext cx="7665415" cy="429867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its reason (part 2 of 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8 of 14: Batches and resubmissions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6-02-plan.png"/>
          <p:cNvPicPr>
            <a:picLocks noChangeAspect="1"/>
          </p:cNvPicPr>
          <p:nvPr/>
        </p:nvPicPr>
        <p:blipFill>
          <a:blip r:embed="rId3"/>
          <a:stretch>
            <a:fillRect/>
          </a:stretch>
        </p:blipFill>
        <p:spPr>
          <a:xfrm>
            <a:off x="548640" y="1261872"/>
            <a:ext cx="7665415" cy="22778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SCR-DM-06 Plan Batch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Clicks Plan Batch, chooses the object and the staged extracts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Plans the batch and opens it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Plan Batch dialog with the staged extracts of the object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Migration Operator on Batch</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9 of 14: Batch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8.png"/>
          <p:cNvPicPr>
            <a:picLocks noChangeAspect="1"/>
          </p:cNvPicPr>
          <p:nvPr/>
        </p:nvPicPr>
        <p:blipFill>
          <a:blip r:embed="rId3"/>
          <a:stretch>
            <a:fillRect/>
          </a:stretch>
        </p:blipFill>
        <p:spPr>
          <a:xfrm>
            <a:off x="548640" y="1261872"/>
            <a:ext cx="7665415" cy="45596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A validated batch: steps, counts, facts and the Issues tab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Clicks Validate on the planned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Maps the rows with the approved code maps and checks them against the data-quality rules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Validated with its counts, error rate and the Issues tab</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Data Steward on Client Matching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9 of 14: Batch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9.png"/>
          <p:cNvPicPr>
            <a:picLocks noChangeAspect="1"/>
          </p:cNvPicPr>
          <p:nvPr/>
        </p:nvPicPr>
        <p:blipFill>
          <a:blip r:embed="rId3"/>
          <a:stretch>
            <a:fillRect/>
          </a:stretch>
        </p:blipFill>
        <p:spPr>
          <a:xfrm>
            <a:off x="548640" y="1261872"/>
            <a:ext cx="7665415" cy="291417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A validated batch: steps, counts, facts and the Issues tab (part 2 of 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10 of 14: Client Matching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0.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SCR-DM-08 A pair side by side with the matched keys marked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the doubtful client pair and merges it or keeps the clients separate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Records the decision; the load waits until the queue is empty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two records side by side with the matched keys marked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Data owner (business owner of an object) on Batch</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10 of 14: Client Matching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1.png"/>
          <p:cNvPicPr>
            <a:picLocks noChangeAspect="1"/>
          </p:cNvPicPr>
          <p:nvPr/>
        </p:nvPicPr>
        <p:blipFill>
          <a:blip r:embed="rId3"/>
          <a:stretch>
            <a:fillRect/>
          </a:stretch>
        </p:blipFill>
        <p:spPr>
          <a:xfrm>
            <a:off x="548640" y="1261872"/>
            <a:ext cx="7665415" cy="218398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SCR-DM-08 A pair side by side with the matched keys marked (part 2 of 2)</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11 of 14: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 CHG-DM-2.0-03</a:t>
            </a:r>
          </a:p>
        </p:txBody>
      </p:sp>
      <p:sp>
        <p:nvSpPr>
          <p:cNvPr id="10" name="Rounded Rectangle 9"/>
          <p:cNvSpPr/>
          <p:nvPr/>
        </p:nvSpPr>
        <p:spPr>
          <a:xfrm>
            <a:off x="477133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7-03-waive.png"/>
          <p:cNvPicPr>
            <a:picLocks noChangeAspect="1"/>
          </p:cNvPicPr>
          <p:nvPr/>
        </p:nvPicPr>
        <p:blipFill>
          <a:blip r:embed="rId3"/>
          <a:stretch>
            <a:fillRect/>
          </a:stretch>
        </p:blipFill>
        <p:spPr>
          <a:xfrm>
            <a:off x="548640" y="1261872"/>
            <a:ext cx="7665415" cy="289977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Waive Rows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Selects failing rows on the Rows tab and clicks Waive Rows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Loads the rows despite their errors, with the waiver kept on the batch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Waive Rows dialog with the count of rows and the mandatory reason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Reconciliation approver (Head of Comptrollership) on Reconciliation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2.png"/>
          <p:cNvPicPr>
            <a:picLocks noChangeAspect="1"/>
          </p:cNvPicPr>
          <p:nvPr/>
        </p:nvPicPr>
        <p:blipFill>
          <a:blip r:embed="rId3"/>
          <a:stretch>
            <a:fillRect/>
          </a:stretch>
        </p:blipFill>
        <p:spPr>
          <a:xfrm>
            <a:off x="548640" y="1261872"/>
            <a:ext cx="7665415" cy="463228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Reconciliation approver (Head of Comptrollership): After the load, opens the reconciliation of the batch by level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Compares counts, amounts, hash totals, fields and the general ledger between the source and BIBS</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lines by level with the breaks to explain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Data Steward on Reconciliation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3.png"/>
          <p:cNvPicPr>
            <a:picLocks noChangeAspect="1"/>
          </p:cNvPicPr>
          <p:nvPr/>
        </p:nvPicPr>
        <p:blipFill>
          <a:blip r:embed="rId3"/>
          <a:stretch>
            <a:fillRect/>
          </a:stretch>
        </p:blipFill>
        <p:spPr>
          <a:xfrm>
            <a:off x="548640" y="1261872"/>
            <a:ext cx="7665415" cy="459594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2 of 3)</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4.png"/>
          <p:cNvPicPr>
            <a:picLocks noChangeAspect="1"/>
          </p:cNvPicPr>
          <p:nvPr/>
        </p:nvPicPr>
        <p:blipFill>
          <a:blip r:embed="rId3"/>
          <a:stretch>
            <a:fillRect/>
          </a:stretch>
        </p:blipFill>
        <p:spPr>
          <a:xfrm>
            <a:off x="548640" y="1261872"/>
            <a:ext cx="7665415" cy="49230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3 of 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13 of 14: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dm-09-02-explain.png"/>
          <p:cNvPicPr>
            <a:picLocks noChangeAspect="1"/>
          </p:cNvPicPr>
          <p:nvPr/>
        </p:nvPicPr>
        <p:blipFill>
          <a:blip r:embed="rId3"/>
          <a:stretch>
            <a:fillRect/>
          </a:stretch>
        </p:blipFill>
        <p:spPr>
          <a:xfrm>
            <a:off x="548640" y="1261872"/>
            <a:ext cx="7665415" cy="289977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Explain Break dialog</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Explains a break with its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Marks the line Explained for the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Explain Break dialog with the reason and the explanation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Data Migration Lead on Batch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14 of 14: Batch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95.png"/>
          <p:cNvPicPr>
            <a:picLocks noChangeAspect="1"/>
          </p:cNvPicPr>
          <p:nvPr/>
        </p:nvPicPr>
        <p:blipFill>
          <a:blip r:embed="rId3"/>
          <a:stretch>
            <a:fillRect/>
          </a:stretch>
        </p:blipFill>
        <p:spPr>
          <a:xfrm>
            <a:off x="548640" y="1261872"/>
            <a:ext cx="7665415" cy="469837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Sign-offs tab of an accepted batch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After the reconciliation is signed, accepts the object as Migration Lead, after the owner</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Signs gate G6; with both acceptances the object is accepted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Sign-offs tab with every gate, its signer and date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14 of 14: Batch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96.png"/>
          <p:cNvPicPr>
            <a:picLocks noChangeAspect="1"/>
          </p:cNvPicPr>
          <p:nvPr/>
        </p:nvPicPr>
        <p:blipFill>
          <a:blip r:embed="rId3"/>
          <a:stretch>
            <a:fillRect/>
          </a:stretch>
        </p:blipFill>
        <p:spPr>
          <a:xfrm>
            <a:off x="548640" y="1261872"/>
            <a:ext cx="7665415" cy="344282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Sign-offs tab of an accepted batch (part 2 of 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The cut-over from the mock run to the go / no-go decision and the run-off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UF-B The cut-over from the mock run to the go / no-go decision and the run-off</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Data Migration Lead plans a mock run from the go-live date and follows its runbook; the go / no-go board measures the criteria and decides; after go-live Comptrollership brings the FY2027 closing adjustments as opening-balance adjustments, and the lead follows the run-off of the legacy policies and the decommissioning checklists.</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mock run plan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Data Migration Lead, Go / no-go board, Comptrollership GL lead, Reconciliation approver (Head of Comptrollership)</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4 hand-offs, 4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Go / no-go board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Comptrollership GL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Reconciliation approver (Head of Comptrollership)</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62456"/>
            <a:ext cx="1350721"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Cutover</a:t>
            </a:r>
          </a:p>
        </p:txBody>
      </p:sp>
      <p:sp>
        <p:nvSpPr>
          <p:cNvPr id="22" name="Rounded Rectangle 21"/>
          <p:cNvSpPr/>
          <p:nvPr/>
        </p:nvSpPr>
        <p:spPr>
          <a:xfrm>
            <a:off x="3069793"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3" name="Rounded Rectangle 22"/>
          <p:cNvSpPr/>
          <p:nvPr/>
        </p:nvSpPr>
        <p:spPr>
          <a:xfrm>
            <a:off x="3984193" y="1362456"/>
            <a:ext cx="1350721"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Cutover</a:t>
            </a:r>
          </a:p>
        </p:txBody>
      </p:sp>
      <p:sp>
        <p:nvSpPr>
          <p:cNvPr id="24" name="Rounded Rectangle 23"/>
          <p:cNvSpPr/>
          <p:nvPr/>
        </p:nvSpPr>
        <p:spPr>
          <a:xfrm>
            <a:off x="5536082" y="2231136"/>
            <a:ext cx="1350721"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Cutover</a:t>
            </a:r>
          </a:p>
        </p:txBody>
      </p:sp>
      <p:sp>
        <p:nvSpPr>
          <p:cNvPr id="25" name="Rounded Rectangle 24"/>
          <p:cNvSpPr/>
          <p:nvPr/>
        </p:nvSpPr>
        <p:spPr>
          <a:xfrm>
            <a:off x="6173571"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6" name="Rounded Rectangle 25"/>
          <p:cNvSpPr/>
          <p:nvPr/>
        </p:nvSpPr>
        <p:spPr>
          <a:xfrm>
            <a:off x="7087971" y="3099816"/>
            <a:ext cx="1350721"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Opening-Balance Adjustments</a:t>
            </a:r>
          </a:p>
        </p:txBody>
      </p:sp>
      <p:sp>
        <p:nvSpPr>
          <p:cNvPr id="27" name="Rounded Rectangle 26"/>
          <p:cNvSpPr/>
          <p:nvPr/>
        </p:nvSpPr>
        <p:spPr>
          <a:xfrm>
            <a:off x="7725460" y="30540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8" name="Rounded Rectangle 27"/>
          <p:cNvSpPr/>
          <p:nvPr/>
        </p:nvSpPr>
        <p:spPr>
          <a:xfrm>
            <a:off x="8639860" y="3968496"/>
            <a:ext cx="1350721"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Opening-Balance Adjustments</a:t>
            </a:r>
          </a:p>
        </p:txBody>
      </p:sp>
      <p:sp>
        <p:nvSpPr>
          <p:cNvPr id="29" name="Rounded Rectangle 28"/>
          <p:cNvSpPr/>
          <p:nvPr/>
        </p:nvSpPr>
        <p:spPr>
          <a:xfrm>
            <a:off x="9277349" y="392277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0" name="Rounded Rectangle 29"/>
          <p:cNvSpPr/>
          <p:nvPr/>
        </p:nvSpPr>
        <p:spPr>
          <a:xfrm>
            <a:off x="10191749" y="1362456"/>
            <a:ext cx="1350721"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Run-off and Decommissioning</a:t>
            </a:r>
          </a:p>
        </p:txBody>
      </p:sp>
      <p:cxnSp>
        <p:nvCxnSpPr>
          <p:cNvPr id="31" name="Connector 30"/>
          <p:cNvCxnSpPr/>
          <p:nvPr/>
        </p:nvCxnSpPr>
        <p:spPr>
          <a:xfrm>
            <a:off x="3783025"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34914"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3"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38692"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990581" y="1723644"/>
            <a:ext cx="201168" cy="26060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1 of 6: Cutover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2-03-new.png"/>
          <p:cNvPicPr>
            <a:picLocks noChangeAspect="1"/>
          </p:cNvPicPr>
          <p:nvPr/>
        </p:nvPicPr>
        <p:blipFill>
          <a:blip r:embed="rId3"/>
          <a:stretch>
            <a:fillRect/>
          </a:stretch>
        </p:blipFill>
        <p:spPr>
          <a:xfrm>
            <a:off x="548640" y="1261872"/>
            <a:ext cx="7665415" cy="334402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New Cutover Plan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Clicks New Plan, chooses the kind of run and the go-live date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Creates the plan with its runbook tasks and the twelve criteria planned from the go-live date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Cutover Plan dialog</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Data Migration Lead on Cutover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7.png"/>
          <p:cNvPicPr>
            <a:picLocks noChangeAspect="1"/>
          </p:cNvPicPr>
          <p:nvPr/>
        </p:nvPicPr>
        <p:blipFill>
          <a:blip r:embed="rId3"/>
          <a:stretch>
            <a:fillRect/>
          </a:stretch>
        </p:blipFill>
        <p:spPr>
          <a:xfrm>
            <a:off x="548640" y="1261872"/>
            <a:ext cx="7665415" cy="472480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Records the start and end of each runbook task, or blocks a task with its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actual times and the owner of each task</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plans and the runbook of the mock run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Go / no-go board on Cutover</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8.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2 of 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9.png"/>
          <p:cNvPicPr>
            <a:picLocks noChangeAspect="1"/>
          </p:cNvPicPr>
          <p:nvPr/>
        </p:nvPicPr>
        <p:blipFill>
          <a:blip r:embed="rId3"/>
          <a:stretch>
            <a:fillRect/>
          </a:stretch>
        </p:blipFill>
        <p:spPr>
          <a:xfrm>
            <a:off x="548640" y="1261872"/>
            <a:ext cx="7665415" cy="336022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3 of 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0.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Go / no-go board: Clicks Measure Criteria, reads the criteria and records GO or NO-GO</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Measures the criteria that BIBS measures; a GO with a criterion not met needs its justification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Go / No-Go Criteria and the Decisions of the plan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Comptrollership GL lead on Opening-Balance Adjustments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1.png"/>
          <p:cNvPicPr>
            <a:picLocks noChangeAspect="1"/>
          </p:cNvPicPr>
          <p:nvPr/>
        </p:nvPicPr>
        <p:blipFill>
          <a:blip r:embed="rId3"/>
          <a:stretch>
            <a:fillRect/>
          </a:stretch>
        </p:blipFill>
        <p:spPr>
          <a:xfrm>
            <a:off x="548640" y="1261872"/>
            <a:ext cx="7665415" cy="466863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2 of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4 of 6: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11-02-prepare.png"/>
          <p:cNvPicPr>
            <a:picLocks noChangeAspect="1"/>
          </p:cNvPicPr>
          <p:nvPr/>
        </p:nvPicPr>
        <p:blipFill>
          <a:blip r:embed="rId3"/>
          <a:stretch>
            <a:fillRect/>
          </a:stretch>
        </p:blipFill>
        <p:spPr>
          <a:xfrm>
            <a:off x="548640" y="1261872"/>
            <a:ext cx="7665415" cy="295631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SCR-DM-11 Prepare Adjustment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Comptrollership GL lead: After go-live, prepares an opening-balance adjustment on the validated adjustment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Prepares the adjustment and sends it to the Head of Comptrollership on Submit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Prepare Adjustment dialog with the batches of the same version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Reconciliation approver (Head of Comptrollership) on Opening-Balance Adjustments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5 of 6: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1-01-list.png"/>
          <p:cNvPicPr>
            <a:picLocks noChangeAspect="1"/>
          </p:cNvPicPr>
          <p:nvPr/>
        </p:nvPicPr>
        <p:blipFill>
          <a:blip r:embed="rId3"/>
          <a:stretch>
            <a:fillRect/>
          </a:stretch>
        </p:blipFill>
        <p:spPr>
          <a:xfrm>
            <a:off x="548640" y="1261872"/>
            <a:ext cx="7665415" cy="284149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SCR-DM-11 Opening-balance adjustments with their batches and status</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Reconciliation approver (Head of Comptrollership): Approves the adjustment prepared by the GL lead, then signs it once reconciled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Allows the load of the adjustment journals into the opening balances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adjustments with their batches and status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Data Migration Lead on Run-off and Decommissioning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6 of 6: Run-off and Decommissioning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2.png"/>
          <p:cNvPicPr>
            <a:picLocks noChangeAspect="1"/>
          </p:cNvPicPr>
          <p:nvPr/>
        </p:nvPicPr>
        <p:blipFill>
          <a:blip r:embed="rId3"/>
          <a:stretch>
            <a:fillRect/>
          </a:stretch>
        </p:blipFill>
        <p:spPr>
          <a:xfrm>
            <a:off x="548640" y="1261872"/>
            <a:ext cx="7665415" cy="428866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Opens Run-off and Decommissioning each month and records the checklist of a legacy system</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run-off by expiry month and source system and keeps the signed criteria</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run-off and the decommissioning checklists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6 of 6: Run-off and Decommissioning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3.png"/>
          <p:cNvPicPr>
            <a:picLocks noChangeAspect="1"/>
          </p:cNvPicPr>
          <p:nvPr/>
        </p:nvPicPr>
        <p:blipFill>
          <a:blip r:embed="rId3"/>
          <a:stretch>
            <a:fillRect/>
          </a:stretch>
        </p:blipFill>
        <p:spPr>
          <a:xfrm>
            <a:off x="548640" y="1261872"/>
            <a:ext cx="7665415" cy="290096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2 of 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Migrated records on the business screens and the legacy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UF-C Migrated records on the business screens and the legacy batches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business users find the migrated records on their usual screens, marked LEGACY; Cashiering and Commission settle the legacy items through their batches, each approved by a second user.</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migrated clients, invoices and unapplied payments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Cashiering user, Top management approver, Commission user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7 steps, 4 hand-offs, 1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Cashiering user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Top management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Commission user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62456"/>
            <a:ext cx="1129022"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LEGACY badge and Origin filter on the lists</a:t>
            </a:r>
          </a:p>
        </p:txBody>
      </p:sp>
      <p:sp>
        <p:nvSpPr>
          <p:cNvPr id="22" name="Rounded Rectangle 21"/>
          <p:cNvSpPr/>
          <p:nvPr/>
        </p:nvSpPr>
        <p:spPr>
          <a:xfrm>
            <a:off x="3762494" y="2231136"/>
            <a:ext cx="1129022"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LEGACY badge and Origin filter on the lists</a:t>
            </a:r>
          </a:p>
        </p:txBody>
      </p:sp>
      <p:sp>
        <p:nvSpPr>
          <p:cNvPr id="23" name="Rounded Rectangle 22"/>
          <p:cNvSpPr/>
          <p:nvPr/>
        </p:nvSpPr>
        <p:spPr>
          <a:xfrm>
            <a:off x="5092684" y="2231136"/>
            <a:ext cx="1129022"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Legacy invoice on Invoice 360</a:t>
            </a:r>
          </a:p>
        </p:txBody>
      </p:sp>
      <p:sp>
        <p:nvSpPr>
          <p:cNvPr id="24" name="Rounded Rectangle 23"/>
          <p:cNvSpPr/>
          <p:nvPr/>
        </p:nvSpPr>
        <p:spPr>
          <a:xfrm>
            <a:off x="6422874" y="2231136"/>
            <a:ext cx="1129022"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Unapplied to Income</a:t>
            </a:r>
          </a:p>
        </p:txBody>
      </p:sp>
      <p:sp>
        <p:nvSpPr>
          <p:cNvPr id="25" name="Rounded Rectangle 24"/>
          <p:cNvSpPr/>
          <p:nvPr/>
        </p:nvSpPr>
        <p:spPr>
          <a:xfrm>
            <a:off x="7753064" y="3099816"/>
            <a:ext cx="1129022"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Unapplied to Income</a:t>
            </a:r>
          </a:p>
        </p:txBody>
      </p:sp>
      <p:sp>
        <p:nvSpPr>
          <p:cNvPr id="26" name="Rounded Rectangle 25"/>
          <p:cNvSpPr/>
          <p:nvPr/>
        </p:nvSpPr>
        <p:spPr>
          <a:xfrm>
            <a:off x="8168854" y="30540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7" name="Rounded Rectangle 26"/>
          <p:cNvSpPr/>
          <p:nvPr/>
        </p:nvSpPr>
        <p:spPr>
          <a:xfrm>
            <a:off x="9083254" y="2231136"/>
            <a:ext cx="1129022"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Legacy PR 2307 Reversal</a:t>
            </a:r>
          </a:p>
        </p:txBody>
      </p:sp>
      <p:sp>
        <p:nvSpPr>
          <p:cNvPr id="28" name="Rounded Rectangle 27"/>
          <p:cNvSpPr/>
          <p:nvPr/>
        </p:nvSpPr>
        <p:spPr>
          <a:xfrm>
            <a:off x="10413444" y="3968496"/>
            <a:ext cx="1129022"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DP PR Legacy Reversal</a:t>
            </a:r>
          </a:p>
        </p:txBody>
      </p:sp>
      <p:cxnSp>
        <p:nvCxnSpPr>
          <p:cNvPr id="29" name="Connector 28"/>
          <p:cNvCxnSpPr/>
          <p:nvPr/>
        </p:nvCxnSpPr>
        <p:spPr>
          <a:xfrm>
            <a:off x="3561326"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891516" y="259232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21706" y="259232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51896"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882086"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12276" y="2592324"/>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1 of 7: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6-01-clients.png"/>
          <p:cNvPicPr>
            <a:picLocks noChangeAspect="1"/>
          </p:cNvPicPr>
          <p:nvPr/>
        </p:nvPicPr>
        <p:blipFill>
          <a:blip r:embed="rId3"/>
          <a:stretch>
            <a:fillRect/>
          </a:stretch>
        </p:blipFill>
        <p:spPr>
          <a:xfrm>
            <a:off x="548640" y="1261872"/>
            <a:ext cx="7665415" cy="462568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SCR-DM-16 Clients list with a migrated client marked LEGACY</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Searches the clients list for a migrated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the client with the LEGACY badge and the legacy reference in its tooltip</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Clients list with the LEGACY badge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Cashiering user on LEGACY badge and Origin filter on the lists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2 of 7: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6-02-unapplied.png"/>
          <p:cNvPicPr>
            <a:picLocks noChangeAspect="1"/>
          </p:cNvPicPr>
          <p:nvPr/>
        </p:nvPicPr>
        <p:blipFill>
          <a:blip r:embed="rId3"/>
          <a:stretch>
            <a:fillRect/>
          </a:stretch>
        </p:blipFill>
        <p:spPr>
          <a:xfrm>
            <a:off x="548640" y="1261872"/>
            <a:ext cx="7665415" cy="385253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SCR-DM-16 Unapplied Payments with the Origin filter set to Migrated</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Sets the Origin filter of Unapplied Payments to Migrated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only the migrated unapplied payments</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Origin filter set to Migrated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Cashiering user on Legacy invoice on Invoice 360</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3 of 7: Legacy invoice on Invoice 360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4.png"/>
          <p:cNvPicPr>
            <a:picLocks noChangeAspect="1"/>
          </p:cNvPicPr>
          <p:nvPr/>
        </p:nvPicPr>
        <p:blipFill>
          <a:blip r:embed="rId3"/>
          <a:stretch>
            <a:fillRect/>
          </a:stretch>
        </p:blipFill>
        <p:spPr>
          <a:xfrm>
            <a:off x="548640" y="1261872"/>
            <a:ext cx="7665415" cy="460466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SCR-DM-17 Invoice 360 of a legacy invoice with the Legacy Invoice card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Opens a legacy invoice from Invoice Search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Invoice 360 with the LEGACY badge and the Legacy Invoice card with the values at cut-over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Legacy Invoice card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user on Unapplied to Income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3 of 7: Legacy invoice on Invoice 360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5.png"/>
          <p:cNvPicPr>
            <a:picLocks noChangeAspect="1"/>
          </p:cNvPicPr>
          <p:nvPr/>
        </p:nvPicPr>
        <p:blipFill>
          <a:blip r:embed="rId3"/>
          <a:stretch>
            <a:fillRect/>
          </a:stretch>
        </p:blipFill>
        <p:spPr>
          <a:xfrm>
            <a:off x="548640" y="1261872"/>
            <a:ext cx="7665415" cy="291177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SCR-DM-17 Invoice 360 of a legacy invoice with the Legacy Invoice card (part 2 of 2)</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4 of 7: Unapplied to Income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6.png"/>
          <p:cNvPicPr>
            <a:picLocks noChangeAspect="1"/>
          </p:cNvPicPr>
          <p:nvPr/>
        </p:nvPicPr>
        <p:blipFill>
          <a:blip r:embed="rId3"/>
          <a:stretch>
            <a:fillRect/>
          </a:stretch>
        </p:blipFill>
        <p:spPr>
          <a:xfrm>
            <a:off x="548640" y="1261872"/>
            <a:ext cx="7665415" cy="440100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draft batch with its lines and the payments that may be added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Opens a draft Unapplied to Income batch, adds old unapplied payments and clicks Submit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Cashiering team lead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batch with its lines and the payments that may be added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Top management approver on Unapplied to Income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4 of 7: Unapplied to Income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7.png"/>
          <p:cNvPicPr>
            <a:picLocks noChangeAspect="1"/>
          </p:cNvPicPr>
          <p:nvPr/>
        </p:nvPicPr>
        <p:blipFill>
          <a:blip r:embed="rId3"/>
          <a:stretch>
            <a:fillRect/>
          </a:stretch>
        </p:blipFill>
        <p:spPr>
          <a:xfrm>
            <a:off x="548640" y="1261872"/>
            <a:ext cx="7665415" cy="241196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draft batch with its lines and the payments that may be added (part 2 of 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5 of 7: Unapplied to Income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18-03-approve.png"/>
          <p:cNvPicPr>
            <a:picLocks noChangeAspect="1"/>
          </p:cNvPicPr>
          <p:nvPr/>
        </p:nvPicPr>
        <p:blipFill>
          <a:blip r:embed="rId3"/>
          <a:stretch>
            <a:fillRect/>
          </a:stretch>
        </p:blipFill>
        <p:spPr>
          <a:xfrm>
            <a:off x="548640" y="1261872"/>
            <a:ext cx="7665415" cy="340317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batch waiting for top management</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Top management approver: After the team lead, approves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Posts each line on its own and closes the payments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waiting for top management with Approve and Return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Cashiering user on Legacy PR 2307 Reversal</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6 of 7: Legacy PR 2307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9-01-draft.png"/>
          <p:cNvPicPr>
            <a:picLocks noChangeAspect="1"/>
          </p:cNvPicPr>
          <p:nvPr/>
        </p:nvPicPr>
        <p:blipFill>
          <a:blip r:embed="rId3"/>
          <a:stretch>
            <a:fillRect/>
          </a:stretch>
        </p:blipFill>
        <p:spPr>
          <a:xfrm>
            <a:off x="1273629" y="1261872"/>
            <a:ext cx="6215437"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SCR-DM-19 A draft PR 2307 reversal batch with the legacy invoice to add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Adds a legacy invoice with the PR 2307 amount to reverse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team lead, who posts each line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PR 2307 reversal batch</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Commission user on DP PR Legacy Reversal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7 of 7: DP PR Legacy Reversal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8.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SCR-DM-20 A draft batch with the tagged legacy invoices to add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user: Adds the legacy invoices tagged DP PR for reversal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Commission team lead, who posts each invoice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DP PR reversal batch</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7 of 7: DP PR Legacy Reversal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9.png"/>
          <p:cNvPicPr>
            <a:picLocks noChangeAspect="1"/>
          </p:cNvPicPr>
          <p:nvPr/>
        </p:nvPicPr>
        <p:blipFill>
          <a:blip r:embed="rId3"/>
          <a:stretch>
            <a:fillRect/>
          </a:stretch>
        </p:blipFill>
        <p:spPr>
          <a:xfrm>
            <a:off x="548640" y="1261872"/>
            <a:ext cx="7665415" cy="261351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SCR-DM-20 A draft batch with the tagged legacy invoices to add (part 2 of 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A legacy archive inquiry and its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UF-D A legacy archive inquiry and its review</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An Audit or Compliance user gives the reason of the inquiry once per session, searches and opens the closed legacy records read-only; every access is logged with the reason and reviewed by Compliance.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legacy archive records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 / Compliance user, Compliance reviewer of the access log</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 / Compliance user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Compliance reviewer of the access log</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Legacy Inquiry</a:t>
            </a:r>
          </a:p>
        </p:txBody>
      </p:sp>
      <p:sp>
        <p:nvSpPr>
          <p:cNvPr id="16" name="Rounded Rectangle 15"/>
          <p:cNvSpPr/>
          <p:nvPr/>
        </p:nvSpPr>
        <p:spPr>
          <a:xfrm>
            <a:off x="4760137"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Legacy Inquiry</a:t>
            </a:r>
          </a:p>
        </p:txBody>
      </p:sp>
      <p:sp>
        <p:nvSpPr>
          <p:cNvPr id="17" name="Rounded Rectangle 16"/>
          <p:cNvSpPr/>
          <p:nvPr/>
        </p:nvSpPr>
        <p:spPr>
          <a:xfrm>
            <a:off x="7087970"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Legacy Inquiry</a:t>
            </a:r>
          </a:p>
        </p:txBody>
      </p:sp>
      <p:sp>
        <p:nvSpPr>
          <p:cNvPr id="18" name="Rounded Rectangle 17"/>
          <p:cNvSpPr/>
          <p:nvPr/>
        </p:nvSpPr>
        <p:spPr>
          <a:xfrm>
            <a:off x="9415803" y="223113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Log</a:t>
            </a:r>
          </a:p>
        </p:txBody>
      </p:sp>
      <p:cxnSp>
        <p:nvCxnSpPr>
          <p:cNvPr id="19" name="Connector 18"/>
          <p:cNvCxnSpPr/>
          <p:nvPr/>
        </p:nvCxnSpPr>
        <p:spPr>
          <a:xfrm>
            <a:off x="4558969"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214635"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1 of 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1-reason.png"/>
          <p:cNvPicPr>
            <a:picLocks noChangeAspect="1"/>
          </p:cNvPicPr>
          <p:nvPr/>
        </p:nvPicPr>
        <p:blipFill>
          <a:blip r:embed="rId3"/>
          <a:stretch>
            <a:fillRect/>
          </a:stretch>
        </p:blipFill>
        <p:spPr>
          <a:xfrm>
            <a:off x="790422" y="1261872"/>
            <a:ext cx="7181850" cy="286654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Reason of the Inquiry asked once per session</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Opens Legacy Inquiry and gives the reason of the inquiry</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reason for the session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Reason of the Inquiry card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 / Compliance user on Legacy Inquiry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2 of 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2-results.png"/>
          <p:cNvPicPr>
            <a:picLocks noChangeAspect="1"/>
          </p:cNvPicPr>
          <p:nvPr/>
        </p:nvPicPr>
        <p:blipFill>
          <a:blip r:embed="rId3"/>
          <a:stretch>
            <a:fillRect/>
          </a:stretch>
        </p:blipFill>
        <p:spPr>
          <a:xfrm>
            <a:off x="732977" y="1261872"/>
            <a:ext cx="7296741"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Search criteria and the legacy records found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Searches the closed invoices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the matching records and logs the search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search criteria and the records found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 / Compliance user on Legacy Inquiry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3 of 4: Legacy Inquiry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10.png"/>
          <p:cNvPicPr>
            <a:picLocks noChangeAspect="1"/>
          </p:cNvPicPr>
          <p:nvPr/>
        </p:nvPicPr>
        <p:blipFill>
          <a:blip r:embed="rId3"/>
          <a:stretch>
            <a:fillRect/>
          </a:stretch>
        </p:blipFill>
        <p:spPr>
          <a:xfrm>
            <a:off x="548640" y="1261872"/>
            <a:ext cx="7665415" cy="457281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A legacy record with its legacy details and documents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Opens a record and downloads a document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record read-only and logs the view and the download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legacy record with its legacy details and documents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Compliance reviewer of the access log on Access Log</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3 of 4: Legacy Inquiry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11.png"/>
          <p:cNvPicPr>
            <a:picLocks noChangeAspect="1"/>
          </p:cNvPicPr>
          <p:nvPr/>
        </p:nvPicPr>
        <p:blipFill>
          <a:blip r:embed="rId3"/>
          <a:stretch>
            <a:fillRect/>
          </a:stretch>
        </p:blipFill>
        <p:spPr>
          <a:xfrm>
            <a:off x="548640" y="1261872"/>
            <a:ext cx="7665415" cy="462568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A legacy record with its legacy details and documents (part 2 of 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4 of 4: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dm-15-01-log.png"/>
          <p:cNvPicPr>
            <a:picLocks noChangeAspect="1"/>
          </p:cNvPicPr>
          <p:nvPr/>
        </p:nvPicPr>
        <p:blipFill>
          <a:blip r:embed="rId3"/>
          <a:stretch>
            <a:fillRect/>
          </a:stretch>
        </p:blipFill>
        <p:spPr>
          <a:xfrm>
            <a:off x="548640" y="1261872"/>
            <a:ext cx="7665415" cy="422919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SCR-DM-15 Access Log with its filters</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Compliance reviewer of the access log: Opens the Access Log and filters it by user and 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every access with the user, time, action, criteria and reason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access log, which cannot be changed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Shows the progress of the migration at a glance: objects decided and waiting for a decision, batches in progress, failed or with rejects, open reconciliation breaks, unmapped legacy codes, open validation errors and client pairs to review, with the next cut-over tasks and the run-off of the legacy policies. Each tile opens the screen where the item is worked.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Migration Home</a:t>
                      </a:r>
                    </a:p>
                    <a:p>
                      <a:r>
                        <a:rPr sz="950" b="0">
                          <a:solidFill>
                            <a:srgbClr val="4B4B4B"/>
                          </a:solidFill>
                          <a:latin typeface="Arial"/>
                        </a:rPr>
                        <a:t>Sidebar › Data Migration › Migration Home</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FR-DM-003, FR-DM-120, FR-DM-122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Data Migration Lead sees what blocks the next gate and opens it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1" cy="29489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Objects decided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Objects waiting for a decision</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Proposed and For decision objects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Batches in progress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Planned, Validated, Load approved and Loading batches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Batches failed or with rejects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Needs attention when above 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Open reconciliation breaks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Needs attention when 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Unmapped legacy codes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Needs attention when above 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Open validation errors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Needs attention when 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Client pairs to review</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Next cut-over tasks</a:t>
                      </a:r>
                    </a:p>
                  </a:txBody>
                  <a:tcPr marL="54864" marR="54864" marT="27432" marB="27432">
                    <a:solidFill>
                      <a:srgbClr val="FFFFFF"/>
                    </a:solidFill>
                  </a:tcPr>
                </a:tc>
                <a:tc>
                  <a:txBody>
                    <a:bodyPr/>
                    <a:lstStyle/>
                    <a:p>
                      <a:r>
                        <a:rPr sz="850" b="0">
                          <a:solidFill>
                            <a:srgbClr val="4B4B4B"/>
                          </a:solidFill>
                          <a:latin typeface="Arial"/>
                        </a:rPr>
                        <a:t>Plan, Task, Owner, Planned start,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Run-off of the legacy policies</a:t>
                      </a:r>
                    </a:p>
                  </a:txBody>
                  <a:tcPr marL="54864" marR="54864" marT="27432" marB="27432">
                    <a:solidFill>
                      <a:srgbClr val="E5F5FF"/>
                    </a:solidFill>
                  </a:tcPr>
                </a:tc>
                <a:tc>
                  <a:txBody>
                    <a:bodyPr/>
                    <a:lstStyle/>
                    <a:p>
                      <a:r>
                        <a:rPr sz="850" b="0">
                          <a:solidFill>
                            <a:srgbClr val="4B4B4B"/>
                          </a:solidFill>
                          <a:latin typeface="Arial"/>
                        </a:rPr>
                        <a:t>Expiry month, In force, Renewed, Not renewed, Still open</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Month yyyy-MM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2" cy="110489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Load Templates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Layouts and Rules with the templates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batch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Upload Extract</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Extracts to upload a file with its control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tile</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screen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tile marked Needs attention has at least one item that blocks a gate: a failed batch, a break, an unmapped code or an open error (FR-DM-003).</a:t>
                      </a:r>
                    </a:p>
                  </a:txBody>
                  <a:tcPr marL="54864" marR="54864" marT="27432" marB="27432">
                    <a:solidFill>
                      <a:srgbClr val="FFFFFF"/>
                    </a:solidFill>
                  </a:tcPr>
                </a:tc>
              </a:tr>
              <a:tr h="243840">
                <a:tc>
                  <a:txBody>
                    <a:bodyPr/>
                    <a:lstStyle/>
                    <a:p>
                      <a:r>
                        <a:rPr sz="1000" b="0">
                          <a:solidFill>
                            <a:srgbClr val="4B4B4B"/>
                          </a:solidFill>
                          <a:latin typeface="Arial"/>
                        </a:rPr>
                        <a:t>The run-off table is the latest monthly snapshot of the legacy policies in force at go-live (FR-DM-122).</a:t>
                      </a:r>
                    </a:p>
                  </a:txBody>
                  <a:tcPr marL="54864" marR="54864" marT="27432" marB="27432">
                    <a:solidFill>
                      <a:srgbClr val="E5F5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3038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1 of 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2 of 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4.png"/>
          <p:cNvPicPr>
            <a:picLocks noChangeAspect="1"/>
          </p:cNvPicPr>
          <p:nvPr/>
        </p:nvPicPr>
        <p:blipFill>
          <a:blip r:embed="rId3"/>
          <a:stretch>
            <a:fillRect/>
          </a:stretch>
        </p:blipFill>
        <p:spPr>
          <a:xfrm>
            <a:off x="548640" y="1261872"/>
            <a:ext cx="11094415" cy="18554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3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the legacy data objects: what moves, in which class (migrate, carry forward, conditional, archive or excluded), from which systems, into which part of BIBS and in which load order. An object opens in a panel with the four criteria of the BRD, the owners, the rationale and the decision history; the Data Migration Lead submits the proposed class and the business owner approves or returns it (gate G1). The load template of each object downloads from its row.</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Data Objects</a:t>
                      </a:r>
                    </a:p>
                    <a:p>
                      <a:r>
                        <a:rPr sz="950" b="0">
                          <a:solidFill>
                            <a:srgbClr val="4B4B4B"/>
                          </a:solidFill>
                          <a:latin typeface="Arial"/>
                        </a:rPr>
                        <a:t>Migration Home › Objects decided</a:t>
                      </a:r>
                    </a:p>
                    <a:p>
                      <a:r>
                        <a:rPr sz="950" b="0">
                          <a:solidFill>
                            <a:srgbClr val="4B4B4B"/>
                          </a:solidFill>
                          <a:latin typeface="Arial"/>
                        </a:rPr>
                        <a:t>Sign-off › object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FR-DM-001, FR-DM-002, 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object has a decided class signed by its business owner (gate G1) and its load template.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graphicFrame>
        <p:nvGraphicFramePr>
          <p:cNvPr id="9" name="Table 8"/>
          <p:cNvGraphicFramePr>
            <a:graphicFrameLocks noGrp="1"/>
          </p:cNvGraphicFramePr>
          <p:nvPr/>
        </p:nvGraphicFramePr>
        <p:xfrm>
          <a:off x="548640" y="1325880"/>
          <a:ext cx="11094411" cy="46634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categories, Reference, Client, Policy, Open item, GL, History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Order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Load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name, category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Sources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systems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Class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Decided class, or the proposed class marked Proposed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Financial and After tags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Financial object; objects it loads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Business owner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Proposed, For decision, Decided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Category, Sources, Target in BIBS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Proposed class, Decided class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Migrate, Carry forward, Conditional, Archive, Excluded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Condition of a conditional object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Day-1 need, Compliance need, Archive option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Yes or No, with the note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Data trust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High, Medium, 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Business owner, Data steward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or the proposed role until named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Depends on, Load order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Objects and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Rationale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2,000 characters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Decision history</a:t>
                      </a:r>
                    </a:p>
                  </a:txBody>
                  <a:tcPr marL="54864" marR="54864" marT="27432" marB="27432">
                    <a:solidFill>
                      <a:srgbClr val="FFFFFF"/>
                    </a:solidFill>
                  </a:tcPr>
                </a:tc>
                <a:tc>
                  <a:txBody>
                    <a:bodyPr/>
                    <a:lstStyle/>
                    <a:p>
                      <a:r>
                        <a:rPr sz="850" b="0">
                          <a:solidFill>
                            <a:srgbClr val="4B4B4B"/>
                          </a:solidFill>
                          <a:latin typeface="Arial"/>
                        </a:rPr>
                        <a:t>Decision, Class, Submitted by, Submitted, Decided by, Return reason,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Decision number MGD-yyyy-nnnnnn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All Load Templates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workbook of every load template with the columns, the control file and the How to fill rules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on a row</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load template workbook of the object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Decision</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Object not waiting for a decision</a:t>
                      </a:r>
                    </a:p>
                  </a:txBody>
                  <a:tcPr marL="54864" marR="54864" marT="27432" marB="27432">
                    <a:solidFill>
                      <a:srgbClr val="FFFFFF"/>
                    </a:solidFill>
                  </a:tcPr>
                </a:tc>
                <a:tc>
                  <a:txBody>
                    <a:bodyPr/>
                    <a:lstStyle/>
                    <a:p>
                      <a:r>
                        <a:rPr sz="850" b="0">
                          <a:solidFill>
                            <a:srgbClr val="4B4B4B"/>
                          </a:solidFill>
                          <a:latin typeface="Arial"/>
                        </a:rPr>
                        <a:t>Sends the proposed class to the business owner after a confirmation</a:t>
                      </a:r>
                    </a:p>
                  </a:txBody>
                  <a:tcPr marL="54864" marR="54864" marT="27432" marB="27432">
                    <a:solidFill>
                      <a:srgbClr val="FFFFFF"/>
                    </a:solidFill>
                  </a:tcPr>
                </a:tc>
                <a:tc>
                  <a:txBody>
                    <a:bodyPr/>
                    <a:lstStyle/>
                    <a:p>
                      <a:r>
                        <a:rPr sz="850" b="0">
                          <a:solidFill>
                            <a:srgbClr val="4B4B4B"/>
                          </a:solidFill>
                          <a:latin typeface="Arial"/>
                        </a:rPr>
                        <a:t>For decision</a:t>
                      </a:r>
                    </a:p>
                  </a:txBody>
                  <a:tcPr marL="54864" marR="54864" marT="27432" marB="27432">
                    <a:solidFill>
                      <a:srgbClr val="FFFFFF"/>
                    </a:solidFill>
                  </a:tcPr>
                </a:tc>
                <a:tc>
                  <a:txBody>
                    <a:bodyPr/>
                    <a:lstStyle/>
                    <a:p>
                      <a:r>
                        <a:rPr sz="850" b="0">
                          <a:solidFill>
                            <a:srgbClr val="4B4B4B"/>
                          </a:solidFill>
                          <a:latin typeface="Arial"/>
                        </a:rPr>
                        <a:t>Alert to the business owner</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Data owner (business owner of the object)</a:t>
                      </a:r>
                    </a:p>
                  </a:txBody>
                  <a:tcPr marL="54864" marR="54864" marT="27432" marB="27432">
                    <a:solidFill>
                      <a:srgbClr val="E5F5FF"/>
                    </a:solidFill>
                  </a:tcPr>
                </a:tc>
                <a:tc>
                  <a:txBody>
                    <a:bodyPr/>
                    <a:lstStyle/>
                    <a:p>
                      <a:r>
                        <a:rPr sz="850" b="0">
                          <a:solidFill>
                            <a:srgbClr val="4B4B4B"/>
                          </a:solidFill>
                          <a:latin typeface="Arial"/>
                        </a:rPr>
                        <a:t>Decision For decision and submitted by another user</a:t>
                      </a:r>
                    </a:p>
                  </a:txBody>
                  <a:tcPr marL="54864" marR="54864" marT="27432" marB="27432">
                    <a:solidFill>
                      <a:srgbClr val="E5F5FF"/>
                    </a:solidFill>
                  </a:tcPr>
                </a:tc>
                <a:tc>
                  <a:txBody>
                    <a:bodyPr/>
                    <a:lstStyle/>
                    <a:p>
                      <a:r>
                        <a:rPr sz="850" b="0">
                          <a:solidFill>
                            <a:srgbClr val="4B4B4B"/>
                          </a:solidFill>
                          <a:latin typeface="Arial"/>
                        </a:rPr>
                        <a:t>Decides the class of the object (gate G1), with an optional comment</a:t>
                      </a:r>
                    </a:p>
                  </a:txBody>
                  <a:tcPr marL="54864" marR="54864" marT="27432" marB="27432">
                    <a:solidFill>
                      <a:srgbClr val="E5F5FF"/>
                    </a:solidFill>
                  </a:tcPr>
                </a:tc>
                <a:tc>
                  <a:txBody>
                    <a:bodyPr/>
                    <a:lstStyle/>
                    <a:p>
                      <a:r>
                        <a:rPr sz="850" b="0">
                          <a:solidFill>
                            <a:srgbClr val="4B4B4B"/>
                          </a:solidFill>
                          <a:latin typeface="Arial"/>
                        </a:rPr>
                        <a:t>Decided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Decision For decision and submitted by another user</a:t>
                      </a:r>
                    </a:p>
                  </a:txBody>
                  <a:tcPr marL="54864" marR="54864" marT="27432" marB="27432">
                    <a:solidFill>
                      <a:srgbClr val="FFFFFF"/>
                    </a:solidFill>
                  </a:tcPr>
                </a:tc>
                <a:tc>
                  <a:txBody>
                    <a:bodyPr/>
                    <a:lstStyle/>
                    <a:p>
                      <a:r>
                        <a:rPr sz="850" b="0">
                          <a:solidFill>
                            <a:srgbClr val="4B4B4B"/>
                          </a:solidFill>
                          <a:latin typeface="Arial"/>
                        </a:rPr>
                        <a:t>Returns the proposal to the Data Migration Lead with the reason</a:t>
                      </a:r>
                    </a:p>
                  </a:txBody>
                  <a:tcPr marL="54864" marR="54864" marT="27432" marB="27432">
                    <a:solidFill>
                      <a:srgbClr val="FFFFFF"/>
                    </a:solidFill>
                  </a:tcPr>
                </a:tc>
                <a:tc>
                  <a:txBody>
                    <a:bodyPr/>
                    <a:lstStyle/>
                    <a:p>
                      <a:r>
                        <a:rPr sz="850" b="0">
                          <a:solidFill>
                            <a:srgbClr val="4B4B4B"/>
                          </a:solidFill>
                          <a:latin typeface="Arial"/>
                        </a:rPr>
                        <a:t>Proposed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Close</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Closes the panel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object loads only after the objects it depends on are accepted in the same environment; its load order follows theirs (FR-DM-001).</a:t>
                      </a:r>
                    </a:p>
                  </a:txBody>
                  <a:tcPr marL="54864" marR="54864" marT="27432" marB="27432">
                    <a:solidFill>
                      <a:srgbClr val="FFFFFF"/>
                    </a:solidFill>
                  </a:tcPr>
                </a:tc>
              </a:tr>
              <a:tr h="243840">
                <a:tc>
                  <a:txBody>
                    <a:bodyPr/>
                    <a:lstStyle/>
                    <a:p>
                      <a:r>
                        <a:rPr sz="1000" b="0">
                          <a:solidFill>
                            <a:srgbClr val="4B4B4B"/>
                          </a:solidFill>
                          <a:latin typeface="Arial"/>
                        </a:rPr>
                        <a:t>The business owner of the object decides its class, never the user who submitted it (FR-DM-002).</a:t>
                      </a:r>
                    </a:p>
                  </a:txBody>
                  <a:tcPr marL="54864" marR="54864" marT="27432" marB="27432">
                    <a:solidFill>
                      <a:srgbClr val="E5F5FF"/>
                    </a:solidFill>
                  </a:tcPr>
                </a:tc>
              </a:tr>
              <a:tr h="243840">
                <a:tc>
                  <a:txBody>
                    <a:bodyPr/>
                    <a:lstStyle/>
                    <a:p>
                      <a:r>
                        <a:rPr sz="1000" b="0">
                          <a:solidFill>
                            <a:srgbClr val="4B4B4B"/>
                          </a:solidFill>
                          <a:latin typeface="Arial"/>
                        </a:rPr>
                        <a:t>The class of an object whose batches are loaded changes only after the batches are rolled back (FR-DM-002).</a:t>
                      </a:r>
                    </a:p>
                  </a:txBody>
                  <a:tcPr marL="54864" marR="54864" marT="27432" marB="27432">
                    <a:solidFill>
                      <a:srgbClr val="FFFFFF"/>
                    </a:solidFill>
                  </a:tcPr>
                </a:tc>
              </a:tr>
              <a:tr h="243840">
                <a:tc>
                  <a:txBody>
                    <a:bodyPr/>
                    <a:lstStyle/>
                    <a:p>
                      <a:r>
                        <a:rPr sz="1000" b="0">
                          <a:solidFill>
                            <a:srgbClr val="4B4B4B"/>
                          </a:solidFill>
                          <a:latin typeface="Arial"/>
                        </a:rPr>
                        <a:t>Only objects decided as Migrate, Carry forward or Conditional (with its condition met) can be planned in a batch; archive objects load into the legacy archive (FR-DM-002).</a:t>
                      </a:r>
                    </a:p>
                  </a:txBody>
                  <a:tcPr marL="54864" marR="54864" marT="27432" marB="27432">
                    <a:solidFill>
                      <a:srgbClr val="E5F5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1 of 2)</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6.png"/>
          <p:cNvPicPr>
            <a:picLocks noChangeAspect="1"/>
          </p:cNvPicPr>
          <p:nvPr/>
        </p:nvPicPr>
        <p:blipFill>
          <a:blip r:embed="rId3"/>
          <a:stretch>
            <a:fillRect/>
          </a:stretch>
        </p:blipFill>
        <p:spPr>
          <a:xfrm>
            <a:off x="548640" y="1261872"/>
            <a:ext cx="11094415" cy="40360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2 of 2)</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1 of 4)</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2 of 4)</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9.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3 of 4)</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Data Objects and the decision of an object: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20.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4 of 4)</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code maps that turn the legacy codes of each source system into BIBS values (lists of values, insurers, products, packages, branches, sales units, users, GL accounts, statuses and more). A code map opens with its versions and the entries of the chosen version. The Data Steward prepares a draft version on screen or in Excel and submits it; the business owner approves or returns it (gate G2). The Unmapped Codes tab lists the legacy codes found without an entry in the batches under validation.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Code Maps</a:t>
                      </a:r>
                    </a:p>
                    <a:p>
                      <a:r>
                        <a:rPr sz="950" b="0">
                          <a:solidFill>
                            <a:srgbClr val="4B4B4B"/>
                          </a:solidFill>
                          <a:latin typeface="Arial"/>
                        </a:rPr>
                        <a:t>Migration Home › Unmapped legacy codes</a:t>
                      </a:r>
                    </a:p>
                    <a:p>
                      <a:r>
                        <a:rPr sz="950" b="0">
                          <a:solidFill>
                            <a:srgbClr val="4B4B4B"/>
                          </a:solidFill>
                          <a:latin typeface="Arial"/>
                        </a:rPr>
                        <a:t>Batch › Issues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FR-DM-011, FR-DM-012, FR-DM-034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legacy code used by a record in scope has an approved entry, and every batch records the versions it used.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1" cy="47015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Search code map</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Code map</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Set code with its name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BIBS values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What the codes map to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Used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Layouts whose columns use the map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Approved version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vN, or None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Open version</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or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Comment, Prepared by, Approved by, Approved, Return reason,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Draft, Submitted, Approved,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Entries</a:t>
                      </a:r>
                    </a:p>
                  </a:txBody>
                  <a:tcPr marL="54864" marR="54864" marT="27432" marB="27432">
                    <a:solidFill>
                      <a:srgbClr val="E5F5FF"/>
                    </a:solidFill>
                  </a:tcPr>
                </a:tc>
                <a:tc>
                  <a:txBody>
                    <a:bodyPr/>
                    <a:lstStyle/>
                    <a:p>
                      <a:r>
                        <a:rPr sz="850" b="0">
                          <a:solidFill>
                            <a:srgbClr val="4B4B4B"/>
                          </a:solidFill>
                          <a:latin typeface="Arial"/>
                        </a:rPr>
                        <a:t>Source, Legacy code, Legacy description, Condition, Action, BIBS value, Remarks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Source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EBIX, QPS, ISYS, EXCEL, CMS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Legacy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80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source and condition in the version</a:t>
                      </a:r>
                    </a:p>
                  </a:txBody>
                  <a:tcPr marL="54864" marR="54864" marT="27432" marB="27432">
                    <a:solidFill>
                      <a:srgbClr val="E5F5FF"/>
                    </a:solidFill>
                  </a:tcPr>
                </a:tc>
                <a:tc>
                  <a:txBody>
                    <a:bodyPr/>
                    <a:lstStyle/>
                    <a:p>
                      <a:r>
                        <a:rPr sz="850" b="0">
                          <a:solidFill>
                            <a:srgbClr val="4B4B4B"/>
                          </a:solidFill>
                          <a:latin typeface="Arial"/>
                        </a:rPr>
                        <a:t>Legacy code &lt;legacy code&gt; of &lt;source system&gt; is mapped twice</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Legacy description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Map to a BIBS value, Create in BIBS, Use the default value, Reject the record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source system, the legacy code and the action</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BIBS value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value of the BIBS master</a:t>
                      </a:r>
                    </a:p>
                  </a:txBody>
                  <a:tcPr marL="54864" marR="54864" marT="27432" marB="27432">
                    <a:solidFill>
                      <a:srgbClr val="FFFFFF"/>
                    </a:solidFill>
                  </a:tcPr>
                </a:tc>
                <a:tc>
                  <a:txBody>
                    <a:bodyPr/>
                    <a:lstStyle/>
                    <a:p>
                      <a:r>
                        <a:rPr sz="850" b="0">
                          <a:solidFill>
                            <a:srgbClr val="4B4B4B"/>
                          </a:solidFill>
                          <a:latin typeface="Arial"/>
                        </a:rPr>
                        <a:t>C</a:t>
                      </a:r>
                    </a:p>
                  </a:txBody>
                  <a:tcPr marL="54864" marR="54864" marT="27432" marB="27432">
                    <a:solidFill>
                      <a:srgbClr val="FFFFFF"/>
                    </a:solidFill>
                  </a:tcPr>
                </a:tc>
                <a:tc>
                  <a:txBody>
                    <a:bodyPr/>
                    <a:lstStyle/>
                    <a:p>
                      <a:r>
                        <a:rPr sz="850" b="0">
                          <a:solidFill>
                            <a:srgbClr val="4B4B4B"/>
                          </a:solidFill>
                          <a:latin typeface="Arial"/>
                        </a:rPr>
                        <a:t>Mandatory for Map; the value exists in BIBS</a:t>
                      </a:r>
                    </a:p>
                  </a:txBody>
                  <a:tcPr marL="54864" marR="54864" marT="27432" marB="27432">
                    <a:solidFill>
                      <a:srgbClr val="FFFFFF"/>
                    </a:solidFill>
                  </a:tcPr>
                </a:tc>
                <a:tc>
                  <a:txBody>
                    <a:bodyPr/>
                    <a:lstStyle/>
                    <a:p>
                      <a:r>
                        <a:rPr sz="850" b="0">
                          <a:solidFill>
                            <a:srgbClr val="4B4B4B"/>
                          </a:solidFill>
                          <a:latin typeface="Arial"/>
                        </a:rPr>
                        <a:t>Enter the target code of legacy code &lt;legacy code&gt;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Condition column, Condition 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Column and value of a conditional entry, for example insurer_code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Unmapped Codes tab</a:t>
                      </a:r>
                    </a:p>
                  </a:txBody>
                  <a:tcPr marL="54864" marR="54864" marT="27432" marB="27432">
                    <a:solidFill>
                      <a:srgbClr val="FFFFFF"/>
                    </a:solidFill>
                  </a:tcPr>
                </a:tc>
                <a:tc>
                  <a:txBody>
                    <a:bodyPr/>
                    <a:lstStyle/>
                    <a:p>
                      <a:r>
                        <a:rPr sz="850" b="0">
                          <a:solidFill>
                            <a:srgbClr val="4B4B4B"/>
                          </a:solidFill>
                          <a:latin typeface="Arial"/>
                        </a:rPr>
                        <a:t>Code map, Source, Legacy code, Rows, Example records, Blocks the load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Blocks the load Yes for a mandatory 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graphicFrame>
        <p:nvGraphicFramePr>
          <p:cNvPr id="9" name="Table 8"/>
          <p:cNvGraphicFramePr>
            <a:graphicFrameLocks noGrp="1"/>
          </p:cNvGraphicFramePr>
          <p:nvPr/>
        </p:nvGraphicFramePr>
        <p:xfrm>
          <a:off x="548640" y="1325880"/>
          <a:ext cx="11094412" cy="254506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No version is being edited or waiting for approval</a:t>
                      </a:r>
                    </a:p>
                  </a:txBody>
                  <a:tcPr marL="54864" marR="54864" marT="27432" marB="27432">
                    <a:solidFill>
                      <a:srgbClr val="FFFFFF"/>
                    </a:solidFill>
                  </a:tcPr>
                </a:tc>
                <a:tc>
                  <a:txBody>
                    <a:bodyPr/>
                    <a:lstStyle/>
                    <a:p>
                      <a:r>
                        <a:rPr sz="850" b="0">
                          <a:solidFill>
                            <a:srgbClr val="4B4B4B"/>
                          </a:solidFill>
                          <a:latin typeface="Arial"/>
                        </a:rPr>
                        <a:t>Creates a draft from the approved version, with an optional comment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Import Excel</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No open version</a:t>
                      </a:r>
                    </a:p>
                  </a:txBody>
                  <a:tcPr marL="54864" marR="54864" marT="27432" marB="27432">
                    <a:solidFill>
                      <a:srgbClr val="E5F5FF"/>
                    </a:solidFill>
                  </a:tcPr>
                </a:tc>
                <a:tc>
                  <a:txBody>
                    <a:bodyPr/>
                    <a:lstStyle/>
                    <a:p>
                      <a:r>
                        <a:rPr sz="850" b="0">
                          <a:solidFill>
                            <a:srgbClr val="4B4B4B"/>
                          </a:solidFill>
                          <a:latin typeface="Arial"/>
                        </a:rPr>
                        <a:t>Creates a draft version from an Excel file with the columns source_system, legacy_code and action</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 version is chosen</a:t>
                      </a:r>
                    </a:p>
                  </a:txBody>
                  <a:tcPr marL="54864" marR="54864" marT="27432" marB="27432">
                    <a:solidFill>
                      <a:srgbClr val="FFFFFF"/>
                    </a:solidFill>
                  </a:tcPr>
                </a:tc>
                <a:tc>
                  <a:txBody>
                    <a:bodyPr/>
                    <a:lstStyle/>
                    <a:p>
                      <a:r>
                        <a:rPr sz="850" b="0">
                          <a:solidFill>
                            <a:srgbClr val="4B4B4B"/>
                          </a:solidFill>
                          <a:latin typeface="Arial"/>
                        </a:rPr>
                        <a:t>Downloads the entries of the version in Excel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Version is a draft</a:t>
                      </a:r>
                    </a:p>
                  </a:txBody>
                  <a:tcPr marL="54864" marR="54864" marT="27432" marB="27432">
                    <a:solidFill>
                      <a:srgbClr val="E5F5FF"/>
                    </a:solidFill>
                  </a:tcPr>
                </a:tc>
                <a:tc>
                  <a:txBody>
                    <a:bodyPr/>
                    <a:lstStyle/>
                    <a:p>
                      <a:r>
                        <a:rPr sz="850" b="0">
                          <a:solidFill>
                            <a:srgbClr val="4B4B4B"/>
                          </a:solidFill>
                          <a:latin typeface="Arial"/>
                        </a:rPr>
                        <a:t>Adds an entry; a row of a draft opens it for change; the bin removes it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Version is a draft with at least one entry</a:t>
                      </a:r>
                    </a:p>
                  </a:txBody>
                  <a:tcPr marL="54864" marR="54864" marT="27432" marB="27432">
                    <a:solidFill>
                      <a:srgbClr val="FFFFFF"/>
                    </a:solidFill>
                  </a:tcPr>
                </a:tc>
                <a:tc>
                  <a:txBody>
                    <a:bodyPr/>
                    <a:lstStyle/>
                    <a:p>
                      <a:r>
                        <a:rPr sz="850" b="0">
                          <a:solidFill>
                            <a:srgbClr val="4B4B4B"/>
                          </a:solidFill>
                          <a:latin typeface="Arial"/>
                        </a:rPr>
                        <a:t>Sends the version to the business owner after a confirmation</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Data owner</a:t>
                      </a:r>
                    </a:p>
                  </a:txBody>
                  <a:tcPr marL="54864" marR="54864" marT="27432" marB="27432">
                    <a:solidFill>
                      <a:srgbClr val="E5F5FF"/>
                    </a:solidFill>
                  </a:tcPr>
                </a:tc>
                <a:tc>
                  <a:txBody>
                    <a:bodyPr/>
                    <a:lstStyle/>
                    <a:p>
                      <a:r>
                        <a:rPr sz="850" b="0">
                          <a:solidFill>
                            <a:srgbClr val="4B4B4B"/>
                          </a:solidFill>
                          <a:latin typeface="Arial"/>
                        </a:rPr>
                        <a:t>Version submitted by another user</a:t>
                      </a:r>
                    </a:p>
                  </a:txBody>
                  <a:tcPr marL="54864" marR="54864" marT="27432" marB="27432">
                    <a:solidFill>
                      <a:srgbClr val="E5F5FF"/>
                    </a:solidFill>
                  </a:tcPr>
                </a:tc>
                <a:tc>
                  <a:txBody>
                    <a:bodyPr/>
                    <a:lstStyle/>
                    <a:p>
                      <a:r>
                        <a:rPr sz="850" b="0">
                          <a:solidFill>
                            <a:srgbClr val="4B4B4B"/>
                          </a:solidFill>
                          <a:latin typeface="Arial"/>
                        </a:rPr>
                        <a:t>Makes the version the approved one; values marked Create are created through the reference-data load</a:t>
                      </a:r>
                    </a:p>
                  </a:txBody>
                  <a:tcPr marL="54864" marR="54864" marT="27432" marB="27432">
                    <a:solidFill>
                      <a:srgbClr val="E5F5FF"/>
                    </a:solidFill>
                  </a:tcPr>
                </a:tc>
                <a:tc>
                  <a:txBody>
                    <a:bodyPr/>
                    <a:lstStyle/>
                    <a:p>
                      <a:r>
                        <a:rPr sz="850" b="0">
                          <a:solidFill>
                            <a:srgbClr val="4B4B4B"/>
                          </a:solidFill>
                          <a:latin typeface="Arial"/>
                        </a:rPr>
                        <a:t>Approved; the previous version Superseded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Version submitted by another user</a:t>
                      </a:r>
                    </a:p>
                  </a:txBody>
                  <a:tcPr marL="54864" marR="54864" marT="27432" marB="27432">
                    <a:solidFill>
                      <a:srgbClr val="FFFFFF"/>
                    </a:solidFill>
                  </a:tcPr>
                </a:tc>
                <a:tc>
                  <a:txBody>
                    <a:bodyPr/>
                    <a:lstStyle/>
                    <a:p>
                      <a:r>
                        <a:rPr sz="850" b="0">
                          <a:solidFill>
                            <a:srgbClr val="4B4B4B"/>
                          </a:solidFill>
                          <a:latin typeface="Arial"/>
                        </a:rPr>
                        <a:t>Returns the version to the Data Steward as a draft with the reason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approved version of a map is used by a batch, and the batch records the versions it used (FR-DM-011).</a:t>
                      </a:r>
                    </a:p>
                  </a:txBody>
                  <a:tcPr marL="54864" marR="54864" marT="27432" marB="27432">
                    <a:solidFill>
                      <a:srgbClr val="FFFFFF"/>
                    </a:solidFill>
                  </a:tcPr>
                </a:tc>
              </a:tr>
              <a:tr h="243840">
                <a:tc>
                  <a:txBody>
                    <a:bodyPr/>
                    <a:lstStyle/>
                    <a:p>
                      <a:r>
                        <a:rPr sz="1000" b="0">
                          <a:solidFill>
                            <a:srgbClr val="4B4B4B"/>
                          </a:solidFill>
                          <a:latin typeface="Arial"/>
                        </a:rPr>
                        <a:t>A map has one version being edited or waiting for approval at a time (FR-DM-011).</a:t>
                      </a:r>
                    </a:p>
                  </a:txBody>
                  <a:tcPr marL="54864" marR="54864" marT="27432" marB="27432">
                    <a:solidFill>
                      <a:srgbClr val="E5F5FF"/>
                    </a:solidFill>
                  </a:tcPr>
                </a:tc>
              </a:tr>
              <a:tr h="243840">
                <a:tc>
                  <a:txBody>
                    <a:bodyPr/>
                    <a:lstStyle/>
                    <a:p>
                      <a:r>
                        <a:rPr sz="1000" b="0">
                          <a:solidFill>
                            <a:srgbClr val="4B4B4B"/>
                          </a:solidFill>
                          <a:latin typeface="Arial"/>
                        </a:rPr>
                        <a:t>The business owner approves a version, never the Data Steward who submitted it (FR-DM-011).</a:t>
                      </a:r>
                    </a:p>
                  </a:txBody>
                  <a:tcPr marL="54864" marR="54864" marT="27432" marB="27432">
                    <a:solidFill>
                      <a:srgbClr val="FFFFFF"/>
                    </a:solidFill>
                  </a:tcPr>
                </a:tc>
              </a:tr>
              <a:tr h="243840">
                <a:tc>
                  <a:txBody>
                    <a:bodyPr/>
                    <a:lstStyle/>
                    <a:p>
                      <a:r>
                        <a:rPr sz="1000" b="0">
                          <a:solidFill>
                            <a:srgbClr val="4B4B4B"/>
                          </a:solidFill>
                          <a:latin typeface="Arial"/>
                        </a:rPr>
                        <a:t>A batch with an unmapped code in a mandatory column cannot be approved for load (FR-DM-012).</a:t>
                      </a:r>
                    </a:p>
                  </a:txBody>
                  <a:tcPr marL="54864" marR="54864" marT="27432" marB="27432">
                    <a:solidFill>
                      <a:srgbClr val="E5F5FF"/>
                    </a:solidFill>
                  </a:tcPr>
                </a:tc>
              </a:tr>
              <a:tr h="243840">
                <a:tc>
                  <a:txBody>
                    <a:bodyPr/>
                    <a:lstStyle/>
                    <a:p>
                      <a:r>
                        <a:rPr sz="1000" b="0">
                          <a:solidFill>
                            <a:srgbClr val="4B4B4B"/>
                          </a:solidFill>
                          <a:latin typeface="Arial"/>
                        </a:rPr>
                        <a:t>Legacy packages are mapped to package versions in the package code map, which Renewal uses at sanitation; the migration does not resolve packages on the policy headers (FR-DM-034).</a:t>
                      </a:r>
                    </a:p>
                  </a:txBody>
                  <a:tcPr marL="54864" marR="54864" marT="27432" marB="27432">
                    <a:solidFill>
                      <a:srgbClr val="FFFFFF"/>
                    </a:solidFill>
                  </a:tcPr>
                </a:tc>
              </a:tr>
            </a:tbl>
          </a:graphicData>
        </a:graphic>
      </p:graphicFrame>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1 of 4)</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2.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2 of 4)</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3 of 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4.png"/>
          <p:cNvPicPr>
            <a:picLocks noChangeAspect="1"/>
          </p:cNvPicPr>
          <p:nvPr/>
        </p:nvPicPr>
        <p:blipFill>
          <a:blip r:embed="rId3"/>
          <a:stretch>
            <a:fillRect/>
          </a:stretch>
        </p:blipFill>
        <p:spPr>
          <a:xfrm>
            <a:off x="548640" y="1261872"/>
            <a:ext cx="11094415" cy="8894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4 of 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3-04-unmapped.png"/>
          <p:cNvPicPr>
            <a:picLocks noChangeAspect="1"/>
          </p:cNvPicPr>
          <p:nvPr/>
        </p:nvPicPr>
        <p:blipFill>
          <a:blip r:embed="rId3"/>
          <a:stretch>
            <a:fillRect/>
          </a:stretch>
        </p:blipFill>
        <p:spPr>
          <a:xfrm>
            <a:off x="548640" y="1261872"/>
            <a:ext cx="11094415" cy="33857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Unmapped Codes tab</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3-03-entry.png"/>
          <p:cNvPicPr>
            <a:picLocks noChangeAspect="1"/>
          </p:cNvPicPr>
          <p:nvPr/>
        </p:nvPicPr>
        <p:blipFill>
          <a:blip r:embed="rId3"/>
          <a:stretch>
            <a:fillRect/>
          </a:stretch>
        </p:blipFill>
        <p:spPr>
          <a:xfrm>
            <a:off x="1112449" y="1261872"/>
            <a:ext cx="996679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Add Entry dialog of a draft version</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2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1 of 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Code Maps and the versions of a code map: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26.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2 of 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extract layouts in force with their columns: the single source of the load templates BDOI fills. A layout opens with its columns (name, description, type and length, mandatory, code map, format, example, validation). The screen downloads the CSV template of a layout, the workbook of an object, the workbook of all templates and the control-file template. The Data-Quality Rules tab lists the checks run on every row; the Masking Rules tab lists the personal data masked outside production.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Layouts and Rules</a:t>
                      </a:r>
                    </a:p>
                    <a:p>
                      <a:r>
                        <a:rPr sz="950" b="0">
                          <a:solidFill>
                            <a:srgbClr val="4B4B4B"/>
                          </a:solidFill>
                          <a:latin typeface="Arial"/>
                        </a:rPr>
                        <a:t>Migration Home › Load Templates</a:t>
                      </a:r>
                    </a:p>
                    <a:p>
                      <a:r>
                        <a:rPr sz="950" b="0">
                          <a:solidFill>
                            <a:srgbClr val="4B4B4B"/>
                          </a:solidFill>
                          <a:latin typeface="Arial"/>
                        </a:rPr>
                        <a:t>Data Objects › All Load Templates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FR-DM-010, FR-DM-013, 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BDOI IT and the stewards download the templates that match the layouts in force, and see every check a row must pass.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graphicFrame>
        <p:nvGraphicFramePr>
          <p:cNvPr id="9" name="Table 8"/>
          <p:cNvGraphicFramePr>
            <a:graphicFrameLocks noGrp="1"/>
          </p:cNvGraphicFramePr>
          <p:nvPr/>
        </p:nvGraphicFramePr>
        <p:xfrm>
          <a:off x="548640" y="1325880"/>
          <a:ext cx="11094411" cy="259840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Layout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version, title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Object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Object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Key columns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Legacy key of a row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Hash total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of distinct keys, Row count, Sum of the numeric part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Frozen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Frozen, Retired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 Column, Type, Mandatory, Code map, Format, Example, Validation</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Type with its length; description under the column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Data-Quality Rules tab</a:t>
                      </a:r>
                    </a:p>
                  </a:txBody>
                  <a:tcPr marL="54864" marR="54864" marT="27432" marB="27432">
                    <a:solidFill>
                      <a:srgbClr val="E5F5FF"/>
                    </a:solidFill>
                  </a:tcPr>
                </a:tc>
                <a:tc>
                  <a:txBody>
                    <a:bodyPr/>
                    <a:lstStyle/>
                    <a:p>
                      <a:r>
                        <a:rPr sz="850" b="0">
                          <a:solidFill>
                            <a:srgbClr val="4B4B4B"/>
                          </a:solidFill>
                          <a:latin typeface="Arial"/>
                        </a:rPr>
                        <a:t>Rule, Layouts, Columns, Check, Severity, Fixed by, Active</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Severity Error or Warning; the message under the check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Masking Rules tab</a:t>
                      </a:r>
                    </a:p>
                  </a:txBody>
                  <a:tcPr marL="54864" marR="54864" marT="27432" marB="27432">
                    <a:solidFill>
                      <a:srgbClr val="FFFFFF"/>
                    </a:solidFill>
                  </a:tcPr>
                </a:tc>
                <a:tc>
                  <a:txBody>
                    <a:bodyPr/>
                    <a:lstStyle/>
                    <a:p>
                      <a:r>
                        <a:rPr sz="850" b="0">
                          <a:solidFill>
                            <a:srgbClr val="4B4B4B"/>
                          </a:solidFill>
                          <a:latin typeface="Arial"/>
                        </a:rPr>
                        <a:t>Layout, Column, Masking, Active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Control File Template</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header of the control file (CONTROL_template.ctl.csv)</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Load Templates Workbook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one workbook with a sheet per layout, the Columns sheet, the Control file sheet and the How to fill rules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 on a layout row</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CSV template of the layout (header row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Object Workbook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layout is open</a:t>
                      </a:r>
                    </a:p>
                  </a:txBody>
                  <a:tcPr marL="54864" marR="54864" marT="27432" marB="27432">
                    <a:solidFill>
                      <a:srgbClr val="E5F5FF"/>
                    </a:solidFill>
                  </a:tcPr>
                </a:tc>
                <a:tc>
                  <a:txBody>
                    <a:bodyPr/>
                    <a:lstStyle/>
                    <a:p>
                      <a:r>
                        <a:rPr sz="850" b="0">
                          <a:solidFill>
                            <a:srgbClr val="4B4B4B"/>
                          </a:solidFill>
                          <a:latin typeface="Arial"/>
                        </a:rPr>
                        <a:t>Downloads the workbook of the object of the layout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Freeze</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Layout version is a draft</a:t>
                      </a:r>
                    </a:p>
                  </a:txBody>
                  <a:tcPr marL="54864" marR="54864" marT="27432" marB="27432">
                    <a:solidFill>
                      <a:srgbClr val="FFFFFF"/>
                    </a:solidFill>
                  </a:tcPr>
                </a:tc>
                <a:tc>
                  <a:txBody>
                    <a:bodyPr/>
                    <a:lstStyle/>
                    <a:p>
                      <a:r>
                        <a:rPr sz="850" b="0">
                          <a:solidFill>
                            <a:srgbClr val="4B4B4B"/>
                          </a:solidFill>
                          <a:latin typeface="Arial"/>
                        </a:rPr>
                        <a:t>Makes the version the one in force after a confirmation; extracts and templates follow it and the previous version is retired</a:t>
                      </a:r>
                    </a:p>
                  </a:txBody>
                  <a:tcPr marL="54864" marR="54864" marT="27432" marB="27432">
                    <a:solidFill>
                      <a:srgbClr val="FFFFFF"/>
                    </a:solidFill>
                  </a:tcPr>
                </a:tc>
                <a:tc>
                  <a:txBody>
                    <a:bodyPr/>
                    <a:lstStyle/>
                    <a:p>
                      <a:r>
                        <a:rPr sz="850" b="0">
                          <a:solidFill>
                            <a:srgbClr val="4B4B4B"/>
                          </a:solidFill>
                          <a:latin typeface="Arial"/>
                        </a:rPr>
                        <a:t>Frozen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file whose header does not match the layout version in force is rejected at intake (FR-DM-010).</a:t>
                      </a:r>
                    </a:p>
                  </a:txBody>
                  <a:tcPr marL="54864" marR="54864" marT="27432" marB="27432">
                    <a:solidFill>
                      <a:srgbClr val="FFFFFF"/>
                    </a:solidFill>
                  </a:tcPr>
                </a:tc>
              </a:tr>
              <a:tr h="243840">
                <a:tc>
                  <a:txBody>
                    <a:bodyPr/>
                    <a:lstStyle/>
                    <a:p>
                      <a:r>
                        <a:rPr sz="1000" b="0">
                          <a:solidFill>
                            <a:srgbClr val="4B4B4B"/>
                          </a:solidFill>
                          <a:latin typeface="Arial"/>
                        </a:rPr>
                        <a:t>The layouts of an object are frozen before its mapping is signed (gate G2) (FR-DM-003).</a:t>
                      </a:r>
                    </a:p>
                  </a:txBody>
                  <a:tcPr marL="54864" marR="54864" marT="27432" marB="27432">
                    <a:solidFill>
                      <a:srgbClr val="E5F5FF"/>
                    </a:solidFill>
                  </a:tcPr>
                </a:tc>
              </a:tr>
              <a:tr h="243840">
                <a:tc>
                  <a:txBody>
                    <a:bodyPr/>
                    <a:lstStyle/>
                    <a:p>
                      <a:r>
                        <a:rPr sz="1000" b="0">
                          <a:solidFill>
                            <a:srgbClr val="4B4B4B"/>
                          </a:solidFill>
                          <a:latin typeface="Arial"/>
                        </a:rPr>
                        <a:t>Outside production the columns listed on Masking Rules are masked before a row is staged (FR-DM-010).</a:t>
                      </a:r>
                    </a:p>
                  </a:txBody>
                  <a:tcPr marL="54864" marR="54864" marT="27432" marB="27432">
                    <a:solidFill>
                      <a:srgbClr val="FFFFFF"/>
                    </a:solidFill>
                  </a:tcPr>
                </a:tc>
              </a:tr>
              <a:tr h="243840">
                <a:tc>
                  <a:txBody>
                    <a:bodyPr/>
                    <a:lstStyle/>
                    <a:p>
                      <a:r>
                        <a:rPr sz="1000" b="0">
                          <a:solidFill>
                            <a:srgbClr val="4B4B4B"/>
                          </a:solidFill>
                          <a:latin typeface="Arial"/>
                        </a:rPr>
                        <a:t>An error stops the row; a warning loads it and reports it (FR-DM-013).</a:t>
                      </a:r>
                    </a:p>
                  </a:txBody>
                  <a:tcPr marL="54864" marR="54864" marT="27432" marB="27432">
                    <a:solidFill>
                      <a:srgbClr val="E5F5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6916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1 of 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37796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2 of 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6916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1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46258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2 of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4644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3 of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2.png"/>
          <p:cNvPicPr>
            <a:picLocks noChangeAspect="1"/>
          </p:cNvPicPr>
          <p:nvPr/>
        </p:nvPicPr>
        <p:blipFill>
          <a:blip r:embed="rId3"/>
          <a:stretch>
            <a:fillRect/>
          </a:stretch>
        </p:blipFill>
        <p:spPr>
          <a:xfrm>
            <a:off x="548640" y="1261872"/>
            <a:ext cx="11094415" cy="16641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4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3.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1 of 2)</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4.png"/>
          <p:cNvPicPr>
            <a:picLocks noChangeAspect="1"/>
          </p:cNvPicPr>
          <p:nvPr/>
        </p:nvPicPr>
        <p:blipFill>
          <a:blip r:embed="rId3"/>
          <a:stretch>
            <a:fillRect/>
          </a:stretch>
        </p:blipFill>
        <p:spPr>
          <a:xfrm>
            <a:off x="548640" y="1261872"/>
            <a:ext cx="11094415" cy="39021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2 of 2)</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1 of 2)</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6.png"/>
          <p:cNvPicPr>
            <a:picLocks noChangeAspect="1"/>
          </p:cNvPicPr>
          <p:nvPr/>
        </p:nvPicPr>
        <p:blipFill>
          <a:blip r:embed="rId3"/>
          <a:stretch>
            <a:fillRect/>
          </a:stretch>
        </p:blipFill>
        <p:spPr>
          <a:xfrm>
            <a:off x="548640" y="1261872"/>
            <a:ext cx="11094415" cy="39643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2 of 2)</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Receives each legacy extract with its control file and runs the intake checks: file name, checksum, header, row count, amount totals and hash total. A file that passes is staged (masked outside production); a file that fails is rejected as a whole with the reason. The list shows every extract with its layout, source, as-of date, rows, masking, who received it and its status.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Migration Operator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Extracts</a:t>
                      </a:r>
                    </a:p>
                    <a:p>
                      <a:r>
                        <a:rPr sz="950" b="0">
                          <a:solidFill>
                            <a:srgbClr val="4B4B4B"/>
                          </a:solidFill>
                          <a:latin typeface="Arial"/>
                        </a:rPr>
                        <a:t>Migration Home › Upload Extract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file BDOI sends is either staged exactly as extracted or rejected with the reason and the difference.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1" cy="390903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an extract</a:t>
                      </a:r>
                    </a:p>
                  </a:txBody>
                  <a:tcPr marL="54864" marR="54864" marT="27432" marB="27432">
                    <a:solidFill>
                      <a:srgbClr val="FFFFFF"/>
                    </a:solidFill>
                  </a:tcPr>
                </a:tc>
                <a:tc>
                  <a:txBody>
                    <a:bodyPr/>
                    <a:lstStyle/>
                    <a:p>
                      <a:r>
                        <a:rPr sz="850" b="0">
                          <a:solidFill>
                            <a:srgbClr val="4B4B4B"/>
                          </a:solidFill>
                          <a:latin typeface="Arial"/>
                        </a:rPr>
                        <a:t>Data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LAYOUT_SOURCE_yyyyMMdd_nn.csv or .xlsx</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Name, layout, source system and date of the name are valid; the object is decided</a:t>
                      </a:r>
                    </a:p>
                  </a:txBody>
                  <a:tcPr marL="54864" marR="54864" marT="27432" marB="27432">
                    <a:solidFill>
                      <a:srgbClr val="FFFFFF"/>
                    </a:solidFill>
                  </a:tcPr>
                </a:tc>
                <a:tc>
                  <a:txBody>
                    <a:bodyPr/>
                    <a:lstStyle/>
                    <a:p>
                      <a:r>
                        <a:rPr sz="850" b="0">
                          <a:solidFill>
                            <a:srgbClr val="4B4B4B"/>
                          </a:solidFill>
                          <a:latin typeface="Arial"/>
                        </a:rPr>
                        <a:t>Name the file &lt;LAYOUT&gt;_&lt;SOURCE&gt;_&lt;yyyyMMdd&gt;_&lt;nn&gt;.csv or .xlsx, for example F01C_EBIX_20271231_01.csv</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an extract</a:t>
                      </a:r>
                    </a:p>
                  </a:txBody>
                  <a:tcPr marL="54864" marR="54864" marT="27432" marB="27432">
                    <a:solidFill>
                      <a:srgbClr val="E5F5FF"/>
                    </a:solidFill>
                  </a:tcPr>
                </a:tc>
                <a:tc>
                  <a:txBody>
                    <a:bodyPr/>
                    <a:lstStyle/>
                    <a:p>
                      <a:r>
                        <a:rPr sz="850" b="0">
                          <a:solidFill>
                            <a:srgbClr val="4B4B4B"/>
                          </a:solidFill>
                          <a:latin typeface="Arial"/>
                        </a:rPr>
                        <a:t>Control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&lt;data file name&gt;.ctl.csv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Row count, hash total, amount totals and SHA-256 agree with the data file</a:t>
                      </a:r>
                    </a:p>
                  </a:txBody>
                  <a:tcPr marL="54864" marR="54864" marT="27432" marB="27432">
                    <a:solidFill>
                      <a:srgbClr val="E5F5FF"/>
                    </a:solidFill>
                  </a:tcPr>
                </a:tc>
                <a:tc>
                  <a:txBody>
                    <a:bodyPr/>
                    <a:lstStyle/>
                    <a:p>
                      <a:r>
                        <a:rPr sz="850" b="0">
                          <a:solidFill>
                            <a:srgbClr val="4B4B4B"/>
                          </a:solidFill>
                          <a:latin typeface="Arial"/>
                        </a:rPr>
                        <a:t>The file has &lt;n&gt; rows; the control file says &lt;m&gt;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an extract</a:t>
                      </a:r>
                    </a:p>
                  </a:txBody>
                  <a:tcPr marL="54864" marR="54864" marT="27432" marB="27432">
                    <a:solidFill>
                      <a:srgbClr val="FFFFFF"/>
                    </a:solidFill>
                  </a:tcPr>
                </a:tc>
                <a:tc>
                  <a:txBody>
                    <a:bodyPr/>
                    <a:lstStyle/>
                    <a:p>
                      <a:r>
                        <a:rPr sz="850" b="0">
                          <a:solidFill>
                            <a:srgbClr val="4B4B4B"/>
                          </a:solidFill>
                          <a:latin typeface="Arial"/>
                        </a:rPr>
                        <a:t>Mode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Full extract, Delta since the previous extract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delta is later than the previous extract of the layout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a:t>
                      </a:r>
                    </a:p>
                  </a:txBody>
                  <a:tcPr marL="54864" marR="54864" marT="27432" marB="27432">
                    <a:solidFill>
                      <a:srgbClr val="E5F5FF"/>
                    </a:solidFill>
                  </a:tcPr>
                </a:tc>
                <a:tc>
                  <a:txBody>
                    <a:bodyPr/>
                    <a:lstStyle/>
                    <a:p>
                      <a:r>
                        <a:rPr sz="850" b="0">
                          <a:solidFill>
                            <a:srgbClr val="4B4B4B"/>
                          </a:solidFill>
                          <a:latin typeface="Arial"/>
                        </a:rPr>
                        <a:t>Object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Object code, for example C01</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Extract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MGX-yyyy-nnnnnn with the file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Layout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Layout and version; source system and mode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Rows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Staged / declared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Masked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or No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Date and time, user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Rejection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Received, Checked, Staged, Rejected, Purged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Check</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 data file and a control file are chosen</a:t>
                      </a:r>
                    </a:p>
                  </a:txBody>
                  <a:tcPr marL="54864" marR="54864" marT="27432" marB="27432">
                    <a:solidFill>
                      <a:srgbClr val="FFFFFF"/>
                    </a:solidFill>
                  </a:tcPr>
                </a:tc>
                <a:tc>
                  <a:txBody>
                    <a:bodyPr/>
                    <a:lstStyle/>
                    <a:p>
                      <a:r>
                        <a:rPr sz="850" b="0">
                          <a:solidFill>
                            <a:srgbClr val="4B4B4B"/>
                          </a:solidFill>
                          <a:latin typeface="Arial"/>
                        </a:rPr>
                        <a:t>Receives the files and runs the intake checks; the message gives the extract number and the staged rows, or the rejection</a:t>
                      </a:r>
                    </a:p>
                  </a:txBody>
                  <a:tcPr marL="54864" marR="54864" marT="27432" marB="27432">
                    <a:solidFill>
                      <a:srgbClr val="FFFFFF"/>
                    </a:solidFill>
                  </a:tcPr>
                </a:tc>
                <a:tc>
                  <a:txBody>
                    <a:bodyPr/>
                    <a:lstStyle/>
                    <a:p>
                      <a:r>
                        <a:rPr sz="850" b="0">
                          <a:solidFill>
                            <a:srgbClr val="4B4B4B"/>
                          </a:solidFill>
                          <a:latin typeface="Arial"/>
                        </a:rPr>
                        <a:t>Staged or Rejected</a:t>
                      </a:r>
                    </a:p>
                  </a:txBody>
                  <a:tcPr marL="54864" marR="54864" marT="27432" marB="27432">
                    <a:solidFill>
                      <a:srgbClr val="FFFFFF"/>
                    </a:solidFill>
                  </a:tcPr>
                </a:tc>
                <a:tc>
                  <a:txBody>
                    <a:bodyPr/>
                    <a:lstStyle/>
                    <a:p>
                      <a:r>
                        <a:rPr sz="850" b="0">
                          <a:solidFill>
                            <a:srgbClr val="4B4B4B"/>
                          </a:solidFill>
                          <a:latin typeface="Arial"/>
                        </a:rPr>
                        <a:t>Alert Extract rejected to the Data Migration Lead</a:t>
                      </a:r>
                    </a:p>
                  </a:txBody>
                  <a:tcPr marL="54864" marR="54864" marT="27432" marB="27432">
                    <a:solidFill>
                      <a:srgbClr val="FFFFFF"/>
                    </a:solidFill>
                  </a:tcPr>
                </a:tc>
              </a:tr>
              <a:tr h="220979">
                <a:tc>
                  <a:txBody>
                    <a:bodyPr/>
                    <a:lstStyle/>
                    <a:p>
                      <a:r>
                        <a:rPr sz="850" b="0">
                          <a:solidFill>
                            <a:srgbClr val="4B4B4B"/>
                          </a:solidFill>
                          <a:latin typeface="Arial"/>
                        </a:rPr>
                        <a:t>Download on a row</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File not yet purged</a:t>
                      </a:r>
                    </a:p>
                  </a:txBody>
                  <a:tcPr marL="54864" marR="54864" marT="27432" marB="27432">
                    <a:solidFill>
                      <a:srgbClr val="E5F5FF"/>
                    </a:solidFill>
                  </a:tcPr>
                </a:tc>
                <a:tc>
                  <a:txBody>
                    <a:bodyPr/>
                    <a:lstStyle/>
                    <a:p>
                      <a:r>
                        <a:rPr sz="850" b="0">
                          <a:solidFill>
                            <a:srgbClr val="4B4B4B"/>
                          </a:solidFill>
                          <a:latin typeface="Arial"/>
                        </a:rPr>
                        <a:t>Downloads the data file as received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file name starts with the layout code, then the source system, the as-of date and the sequence of the day (FR-DM-010).</a:t>
                      </a:r>
                    </a:p>
                  </a:txBody>
                  <a:tcPr marL="54864" marR="54864" marT="27432" marB="27432">
                    <a:solidFill>
                      <a:srgbClr val="FFFFFF"/>
                    </a:solidFill>
                  </a:tcPr>
                </a:tc>
              </a:tr>
              <a:tr h="243840">
                <a:tc>
                  <a:txBody>
                    <a:bodyPr/>
                    <a:lstStyle/>
                    <a:p>
                      <a:r>
                        <a:rPr sz="1000" b="0">
                          <a:solidFill>
                            <a:srgbClr val="4B4B4B"/>
                          </a:solidFill>
                          <a:latin typeface="Arial"/>
                        </a:rPr>
                        <a:t>A file whose checksum, header, row count, amount totals or hash total do not agree with its control file is rejected; nothing of it is staged (FR-DM-010).</a:t>
                      </a:r>
                    </a:p>
                  </a:txBody>
                  <a:tcPr marL="54864" marR="54864" marT="27432" marB="27432">
                    <a:solidFill>
                      <a:srgbClr val="E5F5FF"/>
                    </a:solidFill>
                  </a:tcPr>
                </a:tc>
              </a:tr>
              <a:tr h="243840">
                <a:tc>
                  <a:txBody>
                    <a:bodyPr/>
                    <a:lstStyle/>
                    <a:p>
                      <a:r>
                        <a:rPr sz="1000" b="0">
                          <a:solidFill>
                            <a:srgbClr val="4B4B4B"/>
                          </a:solidFill>
                          <a:latin typeface="Arial"/>
                        </a:rPr>
                        <a:t>Extracts are received only for objects decided for migration (FR-DM-002).</a:t>
                      </a:r>
                    </a:p>
                  </a:txBody>
                  <a:tcPr marL="54864" marR="54864" marT="27432" marB="27432">
                    <a:solidFill>
                      <a:srgbClr val="FFFFFF"/>
                    </a:solidFill>
                  </a:tcPr>
                </a:tc>
              </a:tr>
              <a:tr h="243840">
                <a:tc>
                  <a:txBody>
                    <a:bodyPr/>
                    <a:lstStyle/>
                    <a:p>
                      <a:r>
                        <a:rPr sz="1000" b="0">
                          <a:solidFill>
                            <a:srgbClr val="4B4B4B"/>
                          </a:solidFill>
                          <a:latin typeface="Arial"/>
                        </a:rPr>
                        <a:t>Staged rows and files are purged 5 days after the batch is accepted or rolled back, or after the rejection (FR-DM-010).</a:t>
                      </a:r>
                    </a:p>
                  </a:txBody>
                  <a:tcPr marL="54864" marR="54864" marT="27432" marB="27432">
                    <a:solidFill>
                      <a:srgbClr val="E5F5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and the intake results (part 1 of 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and the intake results (part 2 of 3)</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9.png"/>
          <p:cNvPicPr>
            <a:picLocks noChangeAspect="1"/>
          </p:cNvPicPr>
          <p:nvPr/>
        </p:nvPicPr>
        <p:blipFill>
          <a:blip r:embed="rId3"/>
          <a:stretch>
            <a:fillRect/>
          </a:stretch>
        </p:blipFill>
        <p:spPr>
          <a:xfrm>
            <a:off x="548640" y="1261872"/>
            <a:ext cx="11094415" cy="345265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and the intake results (part 3 of 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0.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its reason (part 1 of 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1.png"/>
          <p:cNvPicPr>
            <a:picLocks noChangeAspect="1"/>
          </p:cNvPicPr>
          <p:nvPr/>
        </p:nvPicPr>
        <p:blipFill>
          <a:blip r:embed="rId3"/>
          <a:stretch>
            <a:fillRect/>
          </a:stretch>
        </p:blipFill>
        <p:spPr>
          <a:xfrm>
            <a:off x="548640" y="1261872"/>
            <a:ext cx="11094415" cy="46685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its reason (part 2 of 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2.png"/>
          <p:cNvPicPr>
            <a:picLocks noChangeAspect="1"/>
          </p:cNvPicPr>
          <p:nvPr/>
        </p:nvPicPr>
        <p:blipFill>
          <a:blip r:embed="rId3"/>
          <a:stretch>
            <a:fillRect/>
          </a:stretch>
        </p:blipFill>
        <p:spPr>
          <a:xfrm>
            <a:off x="548640" y="1261872"/>
            <a:ext cx="11094415" cy="34290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its reason (part 3 of 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load batch with its object, environment, counts, error rate and status. The Migration Operator plans a batch from the staged extracts of a decided object; a batch opens on its own page. The Resubmissions tab lists the corrected rejected rows that a maker has prepared and that a checker approves before they load (used for the renewal advices already sent, object P03).</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Batches</a:t>
                      </a:r>
                    </a:p>
                    <a:p>
                      <a:r>
                        <a:rPr sz="950" b="0">
                          <a:solidFill>
                            <a:srgbClr val="4B4B4B"/>
                          </a:solidFill>
                          <a:latin typeface="Arial"/>
                        </a:rPr>
                        <a:t>Migration Home › Batches</a:t>
                      </a:r>
                    </a:p>
                    <a:p>
                      <a:r>
                        <a:rPr sz="950" b="0">
                          <a:solidFill>
                            <a:srgbClr val="4B4B4B"/>
                          </a:solidFill>
                          <a:latin typeface="Arial"/>
                        </a:rPr>
                        <a:t>Extracts › Plan Batch</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FR-DM-014, FR-DM-015, FR-DM-125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object is loaded in batches that can be followed from planning to acceptance, and corrected rows load only after a checker approves them.</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1" cy="350518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MGB-yyyy-nnnnn; Full, Delta or Rerun of the parent batch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Object, Environment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Object code; SIT, UAT, performance or production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Staged, Loaded, Rejected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Error rate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Percent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Date and time; user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Planned, Validated, Load approved, Loading, Loaded, Loaded with rejects, Failed, Reconciled, Accepted, Rollback requested, Rolled back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Plan Batch</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Objects decided as Migrate, Carry forward or Conditional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object has a staged extract</a:t>
                      </a:r>
                    </a:p>
                  </a:txBody>
                  <a:tcPr marL="54864" marR="54864" marT="27432" marB="27432">
                    <a:solidFill>
                      <a:srgbClr val="FFFFFF"/>
                    </a:solidFill>
                  </a:tcPr>
                </a:tc>
                <a:tc>
                  <a:txBody>
                    <a:bodyPr/>
                    <a:lstStyle/>
                    <a:p>
                      <a:r>
                        <a:rPr sz="850" b="0">
                          <a:solidFill>
                            <a:srgbClr val="4B4B4B"/>
                          </a:solidFill>
                          <a:latin typeface="Arial"/>
                        </a:rPr>
                        <a:t>Object &lt;code&gt; has no staged extract to load</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Plan Batch</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Extract numbers separated by commas; empty for the latest staged extract of each layout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Same as-of date; staged; not in another batch</a:t>
                      </a:r>
                    </a:p>
                  </a:txBody>
                  <a:tcPr marL="54864" marR="54864" marT="27432" marB="27432">
                    <a:solidFill>
                      <a:srgbClr val="E5F5FF"/>
                    </a:solidFill>
                  </a:tcPr>
                </a:tc>
                <a:tc>
                  <a:txBody>
                    <a:bodyPr/>
                    <a:lstStyle/>
                    <a:p>
                      <a:r>
                        <a:rPr sz="850" b="0">
                          <a:solidFill>
                            <a:srgbClr val="4B4B4B"/>
                          </a:solidFill>
                          <a:latin typeface="Arial"/>
                        </a:rPr>
                        <a:t>The extracts of a batch must have the same as-of date: &lt;days&gt;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Resubmissions tab</a:t>
                      </a:r>
                    </a:p>
                  </a:txBody>
                  <a:tcPr marL="54864" marR="54864" marT="27432" marB="27432">
                    <a:solidFill>
                      <a:srgbClr val="FFFFFF"/>
                    </a:solidFill>
                  </a:tcPr>
                </a:tc>
                <a:tc>
                  <a:txBody>
                    <a:bodyPr/>
                    <a:lstStyle/>
                    <a:p>
                      <a:r>
                        <a:rPr sz="850" b="0">
                          <a:solidFill>
                            <a:srgbClr val="4B4B4B"/>
                          </a:solidFill>
                          <a:latin typeface="Arial"/>
                        </a:rPr>
                        <a:t>Resubmission, Object, Corrected rows, Prepared, Decided by, Note,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Prepared, Approved,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Plan Batch</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Plans a batch from the staged extracts and opens it</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batch row</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batch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Checker of the object (resubmission approval)</a:t>
                      </a:r>
                    </a:p>
                  </a:txBody>
                  <a:tcPr marL="54864" marR="54864" marT="27432" marB="27432">
                    <a:solidFill>
                      <a:srgbClr val="FFFFFF"/>
                    </a:solidFill>
                  </a:tcPr>
                </a:tc>
                <a:tc>
                  <a:txBody>
                    <a:bodyPr/>
                    <a:lstStyle/>
                    <a:p>
                      <a:r>
                        <a:rPr sz="850" b="0">
                          <a:solidFill>
                            <a:srgbClr val="4B4B4B"/>
                          </a:solidFill>
                          <a:latin typeface="Arial"/>
                        </a:rPr>
                        <a:t>Resubmission Prepared by another user</a:t>
                      </a:r>
                    </a:p>
                  </a:txBody>
                  <a:tcPr marL="54864" marR="54864" marT="27432" marB="27432">
                    <a:solidFill>
                      <a:srgbClr val="FFFFFF"/>
                    </a:solidFill>
                  </a:tcPr>
                </a:tc>
                <a:tc>
                  <a:txBody>
                    <a:bodyPr/>
                    <a:lstStyle/>
                    <a:p>
                      <a:r>
                        <a:rPr sz="850" b="0">
                          <a:solidFill>
                            <a:srgbClr val="4B4B4B"/>
                          </a:solidFill>
                          <a:latin typeface="Arial"/>
                        </a:rPr>
                        <a:t>Creates a rerun batch of the corrected rows, with an optional note</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Return</a:t>
                      </a:r>
                    </a:p>
                  </a:txBody>
                  <a:tcPr marL="54864" marR="54864" marT="27432" marB="27432">
                    <a:solidFill>
                      <a:srgbClr val="E5F5FF"/>
                    </a:solidFill>
                  </a:tcPr>
                </a:tc>
                <a:tc>
                  <a:txBody>
                    <a:bodyPr/>
                    <a:lstStyle/>
                    <a:p>
                      <a:r>
                        <a:rPr sz="850" b="0">
                          <a:solidFill>
                            <a:srgbClr val="4B4B4B"/>
                          </a:solidFill>
                          <a:latin typeface="Arial"/>
                        </a:rPr>
                        <a:t>Checker of the object</a:t>
                      </a:r>
                    </a:p>
                  </a:txBody>
                  <a:tcPr marL="54864" marR="54864" marT="27432" marB="27432">
                    <a:solidFill>
                      <a:srgbClr val="E5F5FF"/>
                    </a:solidFill>
                  </a:tcPr>
                </a:tc>
                <a:tc>
                  <a:txBody>
                    <a:bodyPr/>
                    <a:lstStyle/>
                    <a:p>
                      <a:r>
                        <a:rPr sz="850" b="0">
                          <a:solidFill>
                            <a:srgbClr val="4B4B4B"/>
                          </a:solidFill>
                          <a:latin typeface="Arial"/>
                        </a:rPr>
                        <a:t>Resubmission Prepared by another user</a:t>
                      </a:r>
                    </a:p>
                  </a:txBody>
                  <a:tcPr marL="54864" marR="54864" marT="27432" marB="27432">
                    <a:solidFill>
                      <a:srgbClr val="E5F5FF"/>
                    </a:solidFill>
                  </a:tcPr>
                </a:tc>
                <a:tc>
                  <a:txBody>
                    <a:bodyPr/>
                    <a:lstStyle/>
                    <a:p>
                      <a:r>
                        <a:rPr sz="850" b="0">
                          <a:solidFill>
                            <a:srgbClr val="4B4B4B"/>
                          </a:solidFill>
                          <a:latin typeface="Arial"/>
                        </a:rPr>
                        <a:t>Returns the corrected rows to the maker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extracts of one batch have the same as-of date and one layout each (FR-DM-010).</a:t>
                      </a:r>
                    </a:p>
                  </a:txBody>
                  <a:tcPr marL="54864" marR="54864" marT="27432" marB="27432">
                    <a:solidFill>
                      <a:srgbClr val="FFFFFF"/>
                    </a:solidFill>
                  </a:tcPr>
                </a:tc>
              </a:tr>
              <a:tr h="243840">
                <a:tc>
                  <a:txBody>
                    <a:bodyPr/>
                    <a:lstStyle/>
                    <a:p>
                      <a:r>
                        <a:rPr sz="1000" b="0">
                          <a:solidFill>
                            <a:srgbClr val="4B4B4B"/>
                          </a:solidFill>
                          <a:latin typeface="Arial"/>
                        </a:rPr>
                        <a:t>Resubmissions of the RA-sent file are accepted until the resubmission deadline (12:00 on the day before go-live) (FR-DM-125).</a:t>
                      </a:r>
                    </a:p>
                  </a:txBody>
                  <a:tcPr marL="54864" marR="54864" marT="27432" marB="27432">
                    <a:solidFill>
                      <a:srgbClr val="E5F5FF"/>
                    </a:solidFill>
                  </a:tcPr>
                </a:tc>
              </a:tr>
              <a:tr h="243840">
                <a:tc>
                  <a:txBody>
                    <a:bodyPr/>
                    <a:lstStyle/>
                    <a:p>
                      <a:r>
                        <a:rPr sz="1000" b="0">
                          <a:solidFill>
                            <a:srgbClr val="4B4B4B"/>
                          </a:solidFill>
                          <a:latin typeface="Arial"/>
                        </a:rPr>
                        <a:t>The checker of a resubmission is never its maker (FR-DM-125).</a:t>
                      </a:r>
                    </a:p>
                  </a:txBody>
                  <a:tcPr marL="54864" marR="54864" marT="27432" marB="27432">
                    <a:solidFill>
                      <a:srgbClr val="FFFF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1 of 2)</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4.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2 of 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6-02-pla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Plan Batch dialog</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06-03-resubmissions.png"/>
          <p:cNvPicPr>
            <a:picLocks noChangeAspect="1"/>
          </p:cNvPicPr>
          <p:nvPr/>
        </p:nvPicPr>
        <p:blipFill>
          <a:blip r:embed="rId3"/>
          <a:stretch>
            <a:fillRect/>
          </a:stretch>
        </p:blipFill>
        <p:spPr>
          <a:xfrm>
            <a:off x="761433" y="1261872"/>
            <a:ext cx="1066882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Resubmissions of corrected rows waiting for the checker</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 CHG-DM-2.0-03</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from validation to acceptance. The header shows the status and the actions allowed now: validate, sign the validation (G3), approve the load (G4), load, reconcile, rerun the rejected rows, sign the reconciliation (G5), accept the object as data owner and as Data Migration Lead (G6), request, approve or reject a rollback. The steps, the counts and the facts of the batch are followed by tabs for the issues, the rows (with waivers and exclusions), the reconciliation, the gates signed with their evidence and the run log.</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Batches › Batch</a:t>
                      </a:r>
                    </a:p>
                    <a:p>
                      <a:r>
                        <a:rPr sz="950" b="0">
                          <a:solidFill>
                            <a:srgbClr val="4B4B4B"/>
                          </a:solidFill>
                          <a:latin typeface="Arial"/>
                        </a:rPr>
                        <a:t>Batches › a batch row</a:t>
                      </a:r>
                    </a:p>
                    <a:p>
                      <a:r>
                        <a:rPr sz="950" b="0">
                          <a:solidFill>
                            <a:srgbClr val="4B4B4B"/>
                          </a:solidFill>
                          <a:latin typeface="Arial"/>
                        </a:rPr>
                        <a:t>Sign-off › Latest batch</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FR-DM-013, FR-DM-014, FR-DM-015, FR-DM-003, FR-DM-020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loaded, reconciled and accepted by its owner and the Data Migration Lead, or rolled back, with every step recorded.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Planned, Validated, Load approved, Loaded, Reconciled, Accepted</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Steps done are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Staged, Valid, Invalid, Loaded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Warnings, excluded and waived, unchanged and rejected under them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Extracts, Rerun of, Code map versions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Extract numbers; parent batch; map and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Error rate, Unmapped codes, Client pairs to review</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Percent;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Validated by, Load approved by, Loaded by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Load started, Load ended, Accepted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Rollback reason, Staging purged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Issues tab</a:t>
                      </a:r>
                    </a:p>
                  </a:txBody>
                  <a:tcPr marL="54864" marR="54864" marT="27432" marB="27432">
                    <a:solidFill>
                      <a:srgbClr val="E5F5FF"/>
                    </a:solidFill>
                  </a:tcPr>
                </a:tc>
                <a:tc>
                  <a:txBody>
                    <a:bodyPr/>
                    <a:lstStyle/>
                    <a:p>
                      <a:r>
                        <a:rPr sz="850" b="0">
                          <a:solidFill>
                            <a:srgbClr val="4B4B4B"/>
                          </a:solidFill>
                          <a:latin typeface="Arial"/>
                        </a:rPr>
                        <a:t>Rule, Severity, Field, Message, Resolution</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Error or Warning; the value under the field; Open, Fixed at source, Mapped, Waived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Rows tab</a:t>
                      </a:r>
                    </a:p>
                  </a:txBody>
                  <a:tcPr marL="54864" marR="54864" marT="27432" marB="27432">
                    <a:solidFill>
                      <a:srgbClr val="FFFFFF"/>
                    </a:solidFill>
                  </a:tcPr>
                </a:tc>
                <a:tc>
                  <a:txBody>
                    <a:bodyPr/>
                    <a:lstStyle/>
                    <a:p>
                      <a:r>
                        <a:rPr sz="850" b="0">
                          <a:solidFill>
                            <a:srgbClr val="4B4B4B"/>
                          </a:solidFill>
                          <a:latin typeface="Arial"/>
                        </a:rPr>
                        <a:t>Row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rows, Valid, Warning, Invalid, Loaded, Skipped, Rejected, Excluded, Waived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Rows tab</a:t>
                      </a:r>
                    </a:p>
                  </a:txBody>
                  <a:tcPr marL="54864" marR="54864" marT="27432" marB="27432">
                    <a:solidFill>
                      <a:srgbClr val="E5F5FF"/>
                    </a:solidFill>
                  </a:tcPr>
                </a:tc>
                <a:tc>
                  <a:txBody>
                    <a:bodyPr/>
                    <a:lstStyle/>
                    <a:p>
                      <a:r>
                        <a:rPr sz="850" b="0">
                          <a:solidFill>
                            <a:srgbClr val="4B4B4B"/>
                          </a:solidFill>
                          <a:latin typeface="Arial"/>
                        </a:rPr>
                        <a:t>Layout, Row, Legacy key, BIBS record, Message,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The BIBS record created, with its kind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Waive Rows / Exclude Rows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Record not needed in BIBS, Entered manually in BIBS after go-live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Waive Rows / Exclude Rows</a:t>
                      </a:r>
                    </a:p>
                  </a:txBody>
                  <a:tcPr marL="54864" marR="54864" marT="27432" marB="27432">
                    <a:solidFill>
                      <a:srgbClr val="E5F5FF"/>
                    </a:solidFill>
                  </a:tcPr>
                </a:tc>
                <a:tc>
                  <a:txBody>
                    <a:bodyPr/>
                    <a:lstStyle/>
                    <a:p>
                      <a:r>
                        <a:rPr sz="850" b="0">
                          <a:solidFill>
                            <a:srgbClr val="4B4B4B"/>
                          </a:solidFill>
                          <a:latin typeface="Arial"/>
                        </a:rPr>
                        <a:t>Note / Manual-entry plan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 and the manual-entry plan of the excluded rows</a:t>
                      </a:r>
                    </a:p>
                  </a:txBody>
                  <a:tcPr marL="54864" marR="54864" marT="27432" marB="27432">
                    <a:solidFill>
                      <a:srgbClr val="E5F5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Resubmit Corrected Rows</a:t>
                      </a:r>
                    </a:p>
                  </a:txBody>
                  <a:tcPr marL="54864" marR="54864" marT="27432" marB="27432">
                    <a:solidFill>
                      <a:srgbClr val="FFFFFF"/>
                    </a:solidFill>
                  </a:tcPr>
                </a:tc>
                <a:tc>
                  <a:txBody>
                    <a:bodyPr/>
                    <a:lstStyle/>
                    <a:p>
                      <a:r>
                        <a:rPr sz="850" b="0">
                          <a:solidFill>
                            <a:srgbClr val="4B4B4B"/>
                          </a:solidFill>
                          <a:latin typeface="Arial"/>
                        </a:rPr>
                        <a:t>Extract of the corrected rows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Extract number of the uploaded correction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Staged extract of the same object</a:t>
                      </a:r>
                    </a:p>
                  </a:txBody>
                  <a:tcPr marL="54864" marR="54864" marT="27432" marB="27432">
                    <a:solidFill>
                      <a:srgbClr val="FFFFFF"/>
                    </a:solidFill>
                  </a:tcPr>
                </a:tc>
                <a:tc>
                  <a:txBody>
                    <a:bodyPr/>
                    <a:lstStyle/>
                    <a:p>
                      <a:r>
                        <a:rPr sz="850" b="0">
                          <a:solidFill>
                            <a:srgbClr val="4B4B4B"/>
                          </a:solidFill>
                          <a:latin typeface="Arial"/>
                        </a:rPr>
                        <a:t>Extract &lt;extract no&gt; is not a staged extract of object &lt;object code&gt;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Sign-offs tab</a:t>
                      </a:r>
                    </a:p>
                  </a:txBody>
                  <a:tcPr marL="54864" marR="54864" marT="27432" marB="27432">
                    <a:solidFill>
                      <a:srgbClr val="E5F5FF"/>
                    </a:solidFill>
                  </a:tcPr>
                </a:tc>
                <a:tc>
                  <a:txBody>
                    <a:bodyPr/>
                    <a:lstStyle/>
                    <a:p>
                      <a:r>
                        <a:rPr sz="850" b="0">
                          <a:solidFill>
                            <a:srgbClr val="4B4B4B"/>
                          </a:solidFill>
                          <a:latin typeface="Arial"/>
                        </a:rPr>
                        <a:t>Gate, Role, Signed by, Signed, Comment, Decision, Evidence</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Gate and its name; evidence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Run Log tab</a:t>
                      </a:r>
                    </a:p>
                  </a:txBody>
                  <a:tcPr marL="54864" marR="54864" marT="27432" marB="27432">
                    <a:solidFill>
                      <a:srgbClr val="FFFFFF"/>
                    </a:solidFill>
                  </a:tcPr>
                </a:tc>
                <a:tc>
                  <a:txBody>
                    <a:bodyPr/>
                    <a:lstStyle/>
                    <a:p>
                      <a:r>
                        <a:rPr sz="850" b="0">
                          <a:solidFill>
                            <a:srgbClr val="4B4B4B"/>
                          </a:solidFill>
                          <a:latin typeface="Arial"/>
                        </a:rPr>
                        <a:t>Time, Step, Level, Message, Counts, By</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2" cy="486915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Maps the rows with the approved code maps and checks them against the data-quality rules</a:t>
                      </a:r>
                    </a:p>
                  </a:txBody>
                  <a:tcPr marL="54864" marR="54864" marT="27432" marB="27432">
                    <a:solidFill>
                      <a:srgbClr val="FFFFFF"/>
                    </a:solidFill>
                  </a:tcPr>
                </a:tc>
                <a:tc>
                  <a:txBody>
                    <a:bodyPr/>
                    <a:lstStyle/>
                    <a:p>
                      <a:r>
                        <a:rPr sz="850" b="0">
                          <a:solidFill>
                            <a:srgbClr val="4B4B4B"/>
                          </a:solidFill>
                          <a:latin typeface="Arial"/>
                        </a:rPr>
                        <a:t>Validated</a:t>
                      </a:r>
                    </a:p>
                  </a:txBody>
                  <a:tcPr marL="54864" marR="54864" marT="27432" marB="27432">
                    <a:solidFill>
                      <a:srgbClr val="FFFFFF"/>
                    </a:solidFill>
                  </a:tcPr>
                </a:tc>
                <a:tc>
                  <a:txBody>
                    <a:bodyPr/>
                    <a:lstStyle/>
                    <a:p>
                      <a:r>
                        <a:rPr sz="850" b="0">
                          <a:solidFill>
                            <a:srgbClr val="4B4B4B"/>
                          </a:solidFill>
                          <a:latin typeface="Arial"/>
                        </a:rPr>
                        <a:t>Alert Unmapped codes when a code has no entry</a:t>
                      </a:r>
                    </a:p>
                  </a:txBody>
                  <a:tcPr marL="54864" marR="54864" marT="27432" marB="27432">
                    <a:solidFill>
                      <a:srgbClr val="FFFFFF"/>
                    </a:solidFill>
                  </a:tcPr>
                </a:tc>
              </a:tr>
              <a:tr h="350518">
                <a:tc>
                  <a:txBody>
                    <a:bodyPr/>
                    <a:lstStyle/>
                    <a:p>
                      <a:r>
                        <a:rPr sz="850" b="0">
                          <a:solidFill>
                            <a:srgbClr val="4B4B4B"/>
                          </a:solidFill>
                          <a:latin typeface="Arial"/>
                        </a:rPr>
                        <a:t>Sign Validation</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Validated</a:t>
                      </a:r>
                    </a:p>
                  </a:txBody>
                  <a:tcPr marL="54864" marR="54864" marT="27432" marB="27432">
                    <a:solidFill>
                      <a:srgbClr val="E5F5FF"/>
                    </a:solidFill>
                  </a:tcPr>
                </a:tc>
                <a:tc>
                  <a:txBody>
                    <a:bodyPr/>
                    <a:lstStyle/>
                    <a:p>
                      <a:r>
                        <a:rPr sz="850" b="0">
                          <a:solidFill>
                            <a:srgbClr val="4B4B4B"/>
                          </a:solidFill>
                          <a:latin typeface="Arial"/>
                        </a:rPr>
                        <a:t>Signs gate G3: the error rate is within the limit, no mandatory code is unmapped and no client pair waits for review</a:t>
                      </a:r>
                    </a:p>
                  </a:txBody>
                  <a:tcPr marL="54864" marR="54864" marT="27432" marB="27432">
                    <a:solidFill>
                      <a:srgbClr val="E5F5FF"/>
                    </a:solidFill>
                  </a:tcPr>
                </a:tc>
                <a:tc>
                  <a:txBody>
                    <a:bodyPr/>
                    <a:lstStyle/>
                    <a:p>
                      <a:r>
                        <a:rPr sz="850" b="0">
                          <a:solidFill>
                            <a:srgbClr val="4B4B4B"/>
                          </a:solidFill>
                          <a:latin typeface="Arial"/>
                        </a:rPr>
                        <a:t>Validated (G3 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Load</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Validated, by a user other than the validator</a:t>
                      </a:r>
                    </a:p>
                  </a:txBody>
                  <a:tcPr marL="54864" marR="54864" marT="27432" marB="27432">
                    <a:solidFill>
                      <a:srgbClr val="FFFFFF"/>
                    </a:solidFill>
                  </a:tcPr>
                </a:tc>
                <a:tc>
                  <a:txBody>
                    <a:bodyPr/>
                    <a:lstStyle/>
                    <a:p>
                      <a:r>
                        <a:rPr sz="850" b="0">
                          <a:solidFill>
                            <a:srgbClr val="4B4B4B"/>
                          </a:solidFill>
                          <a:latin typeface="Arial"/>
                        </a:rPr>
                        <a:t>Signs gate G4: the batch may be loaded by an operator other than the approver</a:t>
                      </a:r>
                    </a:p>
                  </a:txBody>
                  <a:tcPr marL="54864" marR="54864" marT="27432" marB="27432">
                    <a:solidFill>
                      <a:srgbClr val="FFFFFF"/>
                    </a:solidFill>
                  </a:tcPr>
                </a:tc>
                <a:tc>
                  <a:txBody>
                    <a:bodyPr/>
                    <a:lstStyle/>
                    <a:p>
                      <a:r>
                        <a:rPr sz="850" b="0">
                          <a:solidFill>
                            <a:srgbClr val="4B4B4B"/>
                          </a:solidFill>
                          <a:latin typeface="Arial"/>
                        </a:rPr>
                        <a:t>Load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Load</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Load approved, by a user other than the approver</a:t>
                      </a:r>
                    </a:p>
                  </a:txBody>
                  <a:tcPr marL="54864" marR="54864" marT="27432" marB="27432">
                    <a:solidFill>
                      <a:srgbClr val="E5F5FF"/>
                    </a:solidFill>
                  </a:tcPr>
                </a:tc>
                <a:tc>
                  <a:txBody>
                    <a:bodyPr/>
                    <a:lstStyle/>
                    <a:p>
                      <a:r>
                        <a:rPr sz="850" b="0">
                          <a:solidFill>
                            <a:srgbClr val="4B4B4B"/>
                          </a:solidFill>
                          <a:latin typeface="Arial"/>
                        </a:rPr>
                        <a:t>Loads the valid rows through the BIBS services without notifications, then reconciles the batch</a:t>
                      </a:r>
                    </a:p>
                  </a:txBody>
                  <a:tcPr marL="54864" marR="54864" marT="27432" marB="27432">
                    <a:solidFill>
                      <a:srgbClr val="E5F5FF"/>
                    </a:solidFill>
                  </a:tcPr>
                </a:tc>
                <a:tc>
                  <a:txBody>
                    <a:bodyPr/>
                    <a:lstStyle/>
                    <a:p>
                      <a:r>
                        <a:rPr sz="850" b="0">
                          <a:solidFill>
                            <a:srgbClr val="4B4B4B"/>
                          </a:solidFill>
                          <a:latin typeface="Arial"/>
                        </a:rPr>
                        <a:t>Loaded or Loaded with rejects</a:t>
                      </a:r>
                    </a:p>
                  </a:txBody>
                  <a:tcPr marL="54864" marR="54864" marT="27432" marB="27432">
                    <a:solidFill>
                      <a:srgbClr val="E5F5FF"/>
                    </a:solidFill>
                  </a:tcPr>
                </a:tc>
                <a:tc>
                  <a:txBody>
                    <a:bodyPr/>
                    <a:lstStyle/>
                    <a:p>
                      <a:r>
                        <a:rPr sz="850" b="0">
                          <a:solidFill>
                            <a:srgbClr val="4B4B4B"/>
                          </a:solidFill>
                          <a:latin typeface="Arial"/>
                        </a:rPr>
                        <a:t>Alert Load failed when a chunk fails</a:t>
                      </a:r>
                    </a:p>
                  </a:txBody>
                  <a:tcPr marL="54864" marR="54864" marT="27432" marB="27432">
                    <a:solidFill>
                      <a:srgbClr val="E5F5FF"/>
                    </a:solidFill>
                  </a:tcPr>
                </a:tc>
              </a:tr>
              <a:tr h="350518">
                <a:tc>
                  <a:txBody>
                    <a:bodyPr/>
                    <a:lstStyle/>
                    <a:p>
                      <a:r>
                        <a:rPr sz="850" b="0">
                          <a:solidFill>
                            <a:srgbClr val="4B4B4B"/>
                          </a:solidFill>
                          <a:latin typeface="Arial"/>
                        </a:rPr>
                        <a:t>Reconcile</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Loaded, Loaded with rejects or Reconciled</a:t>
                      </a:r>
                    </a:p>
                  </a:txBody>
                  <a:tcPr marL="54864" marR="54864" marT="27432" marB="27432">
                    <a:solidFill>
                      <a:srgbClr val="FFFFFF"/>
                    </a:solidFill>
                  </a:tcPr>
                </a:tc>
                <a:tc>
                  <a:txBody>
                    <a:bodyPr/>
                    <a:lstStyle/>
                    <a:p>
                      <a:r>
                        <a:rPr sz="850" b="0">
                          <a:solidFill>
                            <a:srgbClr val="4B4B4B"/>
                          </a:solidFill>
                          <a:latin typeface="Arial"/>
                        </a:rPr>
                        <a:t>Compares counts, amounts, hash totals and fields again between the source, the staging and BIBS</a:t>
                      </a:r>
                    </a:p>
                  </a:txBody>
                  <a:tcPr marL="54864" marR="54864" marT="27432" marB="27432">
                    <a:solidFill>
                      <a:srgbClr val="FFFFFF"/>
                    </a:solidFill>
                  </a:tcPr>
                </a:tc>
                <a:tc>
                  <a:txBody>
                    <a:bodyPr/>
                    <a:lstStyle/>
                    <a:p>
                      <a:r>
                        <a:rPr sz="850" b="0">
                          <a:solidFill>
                            <a:srgbClr val="4B4B4B"/>
                          </a:solidFill>
                          <a:latin typeface="Arial"/>
                        </a:rPr>
                        <a:t>Reconciled when no break is open</a:t>
                      </a:r>
                    </a:p>
                  </a:txBody>
                  <a:tcPr marL="54864" marR="54864" marT="27432" marB="27432">
                    <a:solidFill>
                      <a:srgbClr val="FFFFFF"/>
                    </a:solidFill>
                  </a:tcPr>
                </a:tc>
                <a:tc>
                  <a:txBody>
                    <a:bodyPr/>
                    <a:lstStyle/>
                    <a:p>
                      <a:r>
                        <a:rPr sz="850" b="0">
                          <a:solidFill>
                            <a:srgbClr val="4B4B4B"/>
                          </a:solidFill>
                          <a:latin typeface="Arial"/>
                        </a:rPr>
                        <a:t>Alert Reconciliation break</a:t>
                      </a:r>
                    </a:p>
                  </a:txBody>
                  <a:tcPr marL="54864" marR="54864" marT="27432" marB="27432">
                    <a:solidFill>
                      <a:srgbClr val="FFFFFF"/>
                    </a:solidFill>
                  </a:tcPr>
                </a:tc>
              </a:tr>
              <a:tr h="220979">
                <a:tc>
                  <a:txBody>
                    <a:bodyPr/>
                    <a:lstStyle/>
                    <a:p>
                      <a:r>
                        <a:rPr sz="850" b="0">
                          <a:solidFill>
                            <a:srgbClr val="4B4B4B"/>
                          </a:solidFill>
                          <a:latin typeface="Arial"/>
                        </a:rPr>
                        <a:t>Rerun Rejects</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Rejected rows exist</a:t>
                      </a:r>
                    </a:p>
                  </a:txBody>
                  <a:tcPr marL="54864" marR="54864" marT="27432" marB="27432">
                    <a:solidFill>
                      <a:srgbClr val="E5F5FF"/>
                    </a:solidFill>
                  </a:tcPr>
                </a:tc>
                <a:tc>
                  <a:txBody>
                    <a:bodyPr/>
                    <a:lstStyle/>
                    <a:p>
                      <a:r>
                        <a:rPr sz="850" b="0">
                          <a:solidFill>
                            <a:srgbClr val="4B4B4B"/>
                          </a:solidFill>
                          <a:latin typeface="Arial"/>
                        </a:rPr>
                        <a:t>Plans a new batch of the rejected rows for validation and load</a:t>
                      </a:r>
                    </a:p>
                  </a:txBody>
                  <a:tcPr marL="54864" marR="54864" marT="27432" marB="27432">
                    <a:solidFill>
                      <a:srgbClr val="E5F5FF"/>
                    </a:solidFill>
                  </a:tcPr>
                </a:tc>
                <a:tc>
                  <a:txBody>
                    <a:bodyPr/>
                    <a:lstStyle/>
                    <a:p>
                      <a:r>
                        <a:rPr sz="850" b="0">
                          <a:solidFill>
                            <a:srgbClr val="4B4B4B"/>
                          </a:solidFill>
                          <a:latin typeface="Arial"/>
                        </a:rPr>
                        <a:t>Planned (rerun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Sign Reconciliation</a:t>
                      </a:r>
                    </a:p>
                  </a:txBody>
                  <a:tcPr marL="54864" marR="54864" marT="27432" marB="27432">
                    <a:solidFill>
                      <a:srgbClr val="FFFFFF"/>
                    </a:solidFill>
                  </a:tcPr>
                </a:tc>
                <a:tc>
                  <a:txBody>
                    <a:bodyPr/>
                    <a:lstStyle/>
                    <a:p>
                      <a:r>
                        <a:rPr sz="850" b="0">
                          <a:solidFill>
                            <a:srgbClr val="4B4B4B"/>
                          </a:solidFill>
                          <a:latin typeface="Arial"/>
                        </a:rPr>
                        <a:t>Reconciliation approver</a:t>
                      </a:r>
                    </a:p>
                  </a:txBody>
                  <a:tcPr marL="54864" marR="54864" marT="27432" marB="27432">
                    <a:solidFill>
                      <a:srgbClr val="FFFFFF"/>
                    </a:solidFill>
                  </a:tcPr>
                </a:tc>
                <a:tc>
                  <a:txBody>
                    <a:bodyPr/>
                    <a:lstStyle/>
                    <a:p>
                      <a:r>
                        <a:rPr sz="850" b="0">
                          <a:solidFill>
                            <a:srgbClr val="4B4B4B"/>
                          </a:solidFill>
                          <a:latin typeface="Arial"/>
                        </a:rPr>
                        <a:t>Loaded and every break explained and approved</a:t>
                      </a:r>
                    </a:p>
                  </a:txBody>
                  <a:tcPr marL="54864" marR="54864" marT="27432" marB="27432">
                    <a:solidFill>
                      <a:srgbClr val="FFFFFF"/>
                    </a:solidFill>
                  </a:tcPr>
                </a:tc>
                <a:tc>
                  <a:txBody>
                    <a:bodyPr/>
                    <a:lstStyle/>
                    <a:p>
                      <a:r>
                        <a:rPr sz="850" b="0">
                          <a:solidFill>
                            <a:srgbClr val="4B4B4B"/>
                          </a:solidFill>
                          <a:latin typeface="Arial"/>
                        </a:rPr>
                        <a:t>Signs gate G5</a:t>
                      </a:r>
                    </a:p>
                  </a:txBody>
                  <a:tcPr marL="54864" marR="54864" marT="27432" marB="27432">
                    <a:solidFill>
                      <a:srgbClr val="FFFFFF"/>
                    </a:solidFill>
                  </a:tcPr>
                </a:tc>
                <a:tc>
                  <a:txBody>
                    <a:bodyPr/>
                    <a:lstStyle/>
                    <a:p>
                      <a:r>
                        <a:rPr sz="850" b="0">
                          <a:solidFill>
                            <a:srgbClr val="4B4B4B"/>
                          </a:solidFill>
                          <a:latin typeface="Arial"/>
                        </a:rPr>
                        <a:t>Reconciled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Accept as Data Owner, Accept as Migration Lead</a:t>
                      </a:r>
                    </a:p>
                  </a:txBody>
                  <a:tcPr marL="54864" marR="54864" marT="27432" marB="27432">
                    <a:solidFill>
                      <a:srgbClr val="E5F5FF"/>
                    </a:solidFill>
                  </a:tcPr>
                </a:tc>
                <a:tc>
                  <a:txBody>
                    <a:bodyPr/>
                    <a:lstStyle/>
                    <a:p>
                      <a:r>
                        <a:rPr sz="850" b="0">
                          <a:solidFill>
                            <a:srgbClr val="4B4B4B"/>
                          </a:solidFill>
                          <a:latin typeface="Arial"/>
                        </a:rPr>
                        <a:t>Data owner; Data Migration Lead</a:t>
                      </a:r>
                    </a:p>
                  </a:txBody>
                  <a:tcPr marL="54864" marR="54864" marT="27432" marB="27432">
                    <a:solidFill>
                      <a:srgbClr val="E5F5FF"/>
                    </a:solidFill>
                  </a:tcPr>
                </a:tc>
                <a:tc>
                  <a:txBody>
                    <a:bodyPr/>
                    <a:lstStyle/>
                    <a:p>
                      <a:r>
                        <a:rPr sz="850" b="0">
                          <a:solidFill>
                            <a:srgbClr val="4B4B4B"/>
                          </a:solidFill>
                          <a:latin typeface="Arial"/>
                        </a:rPr>
                        <a:t>Reconciled</a:t>
                      </a:r>
                    </a:p>
                  </a:txBody>
                  <a:tcPr marL="54864" marR="54864" marT="27432" marB="27432">
                    <a:solidFill>
                      <a:srgbClr val="E5F5FF"/>
                    </a:solidFill>
                  </a:tcPr>
                </a:tc>
                <a:tc>
                  <a:txBody>
                    <a:bodyPr/>
                    <a:lstStyle/>
                    <a:p>
                      <a:r>
                        <a:rPr sz="850" b="0">
                          <a:solidFill>
                            <a:srgbClr val="4B4B4B"/>
                          </a:solidFill>
                          <a:latin typeface="Arial"/>
                        </a:rPr>
                        <a:t>Sign gate G6; with both acceptances the object is accepted and its staging data is purged after the retention days</a:t>
                      </a:r>
                    </a:p>
                  </a:txBody>
                  <a:tcPr marL="54864" marR="54864" marT="27432" marB="27432">
                    <a:solidFill>
                      <a:srgbClr val="E5F5FF"/>
                    </a:solidFill>
                  </a:tcPr>
                </a:tc>
                <a:tc>
                  <a:txBody>
                    <a:bodyPr/>
                    <a:lstStyle/>
                    <a:p>
                      <a:r>
                        <a:rPr sz="850" b="0">
                          <a:solidFill>
                            <a:srgbClr val="4B4B4B"/>
                          </a:solidFill>
                          <a:latin typeface="Arial"/>
                        </a:rPr>
                        <a:t>Accepted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Rollback</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Loaded, Reconciled, Accepted or Failed</a:t>
                      </a:r>
                    </a:p>
                  </a:txBody>
                  <a:tcPr marL="54864" marR="54864" marT="27432" marB="27432">
                    <a:solidFill>
                      <a:srgbClr val="FFFFFF"/>
                    </a:solidFill>
                  </a:tcPr>
                </a:tc>
                <a:tc>
                  <a:txBody>
                    <a:bodyPr/>
                    <a:lstStyle/>
                    <a:p>
                      <a:r>
                        <a:rPr sz="850" b="0">
                          <a:solidFill>
                            <a:srgbClr val="4B4B4B"/>
                          </a:solidFill>
                          <a:latin typeface="Arial"/>
                        </a:rPr>
                        <a:t>Asks for the records loaded by the batch to be undone, with the reason</a:t>
                      </a:r>
                    </a:p>
                  </a:txBody>
                  <a:tcPr marL="54864" marR="54864" marT="27432" marB="27432">
                    <a:solidFill>
                      <a:srgbClr val="FFFFFF"/>
                    </a:solidFill>
                  </a:tcPr>
                </a:tc>
                <a:tc>
                  <a:txBody>
                    <a:bodyPr/>
                    <a:lstStyle/>
                    <a:p>
                      <a:r>
                        <a:rPr sz="850" b="0">
                          <a:solidFill>
                            <a:srgbClr val="4B4B4B"/>
                          </a:solidFill>
                          <a:latin typeface="Arial"/>
                        </a:rPr>
                        <a:t>Rollback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 Rollback, Reject Rollback</a:t>
                      </a:r>
                    </a:p>
                  </a:txBody>
                  <a:tcPr marL="54864" marR="54864" marT="27432" marB="27432">
                    <a:solidFill>
                      <a:srgbClr val="E5F5FF"/>
                    </a:solidFill>
                  </a:tcPr>
                </a:tc>
                <a:tc>
                  <a:txBody>
                    <a:bodyPr/>
                    <a:lstStyle/>
                    <a:p>
                      <a:r>
                        <a:rPr sz="850" b="0">
                          <a:solidFill>
                            <a:srgbClr val="4B4B4B"/>
                          </a:solidFill>
                          <a:latin typeface="Arial"/>
                        </a:rPr>
                        <a:t>Reconciliation approver</a:t>
                      </a:r>
                    </a:p>
                  </a:txBody>
                  <a:tcPr marL="54864" marR="54864" marT="27432" marB="27432">
                    <a:solidFill>
                      <a:srgbClr val="E5F5FF"/>
                    </a:solidFill>
                  </a:tcPr>
                </a:tc>
                <a:tc>
                  <a:txBody>
                    <a:bodyPr/>
                    <a:lstStyle/>
                    <a:p>
                      <a:r>
                        <a:rPr sz="850" b="0">
                          <a:solidFill>
                            <a:srgbClr val="4B4B4B"/>
                          </a:solidFill>
                          <a:latin typeface="Arial"/>
                        </a:rPr>
                        <a:t>Rollback requested by another user</a:t>
                      </a:r>
                    </a:p>
                  </a:txBody>
                  <a:tcPr marL="54864" marR="54864" marT="27432" marB="27432">
                    <a:solidFill>
                      <a:srgbClr val="E5F5FF"/>
                    </a:solidFill>
                  </a:tcPr>
                </a:tc>
                <a:tc>
                  <a:txBody>
                    <a:bodyPr/>
                    <a:lstStyle/>
                    <a:p>
                      <a:r>
                        <a:rPr sz="850" b="0">
                          <a:solidFill>
                            <a:srgbClr val="4B4B4B"/>
                          </a:solidFill>
                          <a:latin typeface="Arial"/>
                        </a:rPr>
                        <a:t>Undoes the records loaded by the batch through the BIBS services, or keeps the batch loaded with the reason</a:t>
                      </a:r>
                    </a:p>
                  </a:txBody>
                  <a:tcPr marL="54864" marR="54864" marT="27432" marB="27432">
                    <a:solidFill>
                      <a:srgbClr val="E5F5FF"/>
                    </a:solidFill>
                  </a:tcPr>
                </a:tc>
                <a:tc>
                  <a:txBody>
                    <a:bodyPr/>
                    <a:lstStyle/>
                    <a:p>
                      <a:r>
                        <a:rPr sz="850" b="0">
                          <a:solidFill>
                            <a:srgbClr val="4B4B4B"/>
                          </a:solidFill>
                          <a:latin typeface="Arial"/>
                        </a:rPr>
                        <a:t>Rolled back, or the previous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The batch has rejected or invalid rows</a:t>
                      </a:r>
                    </a:p>
                  </a:txBody>
                  <a:tcPr marL="54864" marR="54864" marT="27432" marB="27432">
                    <a:solidFill>
                      <a:srgbClr val="FFFFFF"/>
                    </a:solidFill>
                  </a:tcPr>
                </a:tc>
                <a:tc>
                  <a:txBody>
                    <a:bodyPr/>
                    <a:lstStyle/>
                    <a:p>
                      <a:r>
                        <a:rPr sz="850" b="0">
                          <a:solidFill>
                            <a:srgbClr val="4B4B4B"/>
                          </a:solidFill>
                          <a:latin typeface="Arial"/>
                        </a:rPr>
                        <a:t>Downloads the rejected rows with their messages and the correction 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Fixed at Source</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Issue open</a:t>
                      </a:r>
                    </a:p>
                  </a:txBody>
                  <a:tcPr marL="54864" marR="54864" marT="27432" marB="27432">
                    <a:solidFill>
                      <a:srgbClr val="E5F5FF"/>
                    </a:solidFill>
                  </a:tcPr>
                </a:tc>
                <a:tc>
                  <a:txBody>
                    <a:bodyPr/>
                    <a:lstStyle/>
                    <a:p>
                      <a:r>
                        <a:rPr sz="850" b="0">
                          <a:solidFill>
                            <a:srgbClr val="4B4B4B"/>
                          </a:solidFill>
                          <a:latin typeface="Arial"/>
                        </a:rPr>
                        <a:t>Records that the legacy source is corrected, with a note</a:t>
                      </a:r>
                    </a:p>
                  </a:txBody>
                  <a:tcPr marL="54864" marR="54864" marT="27432" marB="27432">
                    <a:solidFill>
                      <a:srgbClr val="E5F5FF"/>
                    </a:solidFill>
                  </a:tcPr>
                </a:tc>
                <a:tc>
                  <a:txBody>
                    <a:bodyPr/>
                    <a:lstStyle/>
                    <a:p>
                      <a:r>
                        <a:rPr sz="850" b="0">
                          <a:solidFill>
                            <a:srgbClr val="4B4B4B"/>
                          </a:solidFill>
                          <a:latin typeface="Arial"/>
                        </a:rPr>
                        <a:t>Issue Fixed at source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Waive Rows, Exclude Rows</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Batch validated; rows selected</a:t>
                      </a:r>
                    </a:p>
                  </a:txBody>
                  <a:tcPr marL="54864" marR="54864" marT="27432" marB="27432">
                    <a:solidFill>
                      <a:srgbClr val="FFFFFF"/>
                    </a:solidFill>
                  </a:tcPr>
                </a:tc>
                <a:tc>
                  <a:txBody>
                    <a:bodyPr/>
                    <a:lstStyle/>
                    <a:p>
                      <a:r>
                        <a:rPr sz="850" b="0">
                          <a:solidFill>
                            <a:srgbClr val="4B4B4B"/>
                          </a:solidFill>
                          <a:latin typeface="Arial"/>
                        </a:rPr>
                        <a:t>Loads the rows despite their errors (waiver), or leaves them out with a manual-entry plan</a:t>
                      </a:r>
                    </a:p>
                  </a:txBody>
                  <a:tcPr marL="54864" marR="54864" marT="27432" marB="27432">
                    <a:solidFill>
                      <a:srgbClr val="FFFFFF"/>
                    </a:solidFill>
                  </a:tcPr>
                </a:tc>
                <a:tc>
                  <a:txBody>
                    <a:bodyPr/>
                    <a:lstStyle/>
                    <a:p>
                      <a:r>
                        <a:rPr sz="850" b="0">
                          <a:solidFill>
                            <a:srgbClr val="4B4B4B"/>
                          </a:solidFill>
                          <a:latin typeface="Arial"/>
                        </a:rPr>
                        <a:t>Rows Waived or 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Resubmit Corrected Rows</a:t>
                      </a:r>
                    </a:p>
                  </a:txBody>
                  <a:tcPr marL="54864" marR="54864" marT="27432" marB="27432">
                    <a:solidFill>
                      <a:srgbClr val="E5F5FF"/>
                    </a:solidFill>
                  </a:tcPr>
                </a:tc>
                <a:tc>
                  <a:txBody>
                    <a:bodyPr/>
                    <a:lstStyle/>
                    <a:p>
                      <a:r>
                        <a:rPr sz="850" b="0">
                          <a:solidFill>
                            <a:srgbClr val="4B4B4B"/>
                          </a:solidFill>
                          <a:latin typeface="Arial"/>
                        </a:rPr>
                        <a:t>Data Steward or Migration Operator</a:t>
                      </a:r>
                    </a:p>
                  </a:txBody>
                  <a:tcPr marL="54864" marR="54864" marT="27432" marB="27432">
                    <a:solidFill>
                      <a:srgbClr val="E5F5FF"/>
                    </a:solidFill>
                  </a:tcPr>
                </a:tc>
                <a:tc>
                  <a:txBody>
                    <a:bodyPr/>
                    <a:lstStyle/>
                    <a:p>
                      <a:r>
                        <a:rPr sz="850" b="0">
                          <a:solidFill>
                            <a:srgbClr val="4B4B4B"/>
                          </a:solidFill>
                          <a:latin typeface="Arial"/>
                        </a:rPr>
                        <a:t>The batch has rejected rows</a:t>
                      </a:r>
                    </a:p>
                  </a:txBody>
                  <a:tcPr marL="54864" marR="54864" marT="27432" marB="27432">
                    <a:solidFill>
                      <a:srgbClr val="E5F5FF"/>
                    </a:solidFill>
                  </a:tcPr>
                </a:tc>
                <a:tc>
                  <a:txBody>
                    <a:bodyPr/>
                    <a:lstStyle/>
                    <a:p>
                      <a:r>
                        <a:rPr sz="850" b="0">
                          <a:solidFill>
                            <a:srgbClr val="4B4B4B"/>
                          </a:solidFill>
                          <a:latin typeface="Arial"/>
                        </a:rPr>
                        <a:t>Prepares a resubmission of the corrected rows for the checker</a:t>
                      </a:r>
                    </a:p>
                  </a:txBody>
                  <a:tcPr marL="54864" marR="54864" marT="27432" marB="27432">
                    <a:solidFill>
                      <a:srgbClr val="E5F5FF"/>
                    </a:solidFill>
                  </a:tcPr>
                </a:tc>
                <a:tc>
                  <a:txBody>
                    <a:bodyPr/>
                    <a:lstStyle/>
                    <a:p>
                      <a:r>
                        <a:rPr sz="850" b="0">
                          <a:solidFill>
                            <a:srgbClr val="4B4B4B"/>
                          </a:solidFill>
                          <a:latin typeface="Arial"/>
                        </a:rPr>
                        <a:t>Resubmission Prepared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Attach</a:t>
                      </a:r>
                    </a:p>
                  </a:txBody>
                  <a:tcPr marL="54864" marR="54864" marT="27432" marB="27432">
                    <a:solidFill>
                      <a:srgbClr val="FFFFFF"/>
                    </a:solidFill>
                  </a:tcPr>
                </a:tc>
                <a:tc>
                  <a:txBody>
                    <a:bodyPr/>
                    <a:lstStyle/>
                    <a:p>
                      <a:r>
                        <a:rPr sz="850" b="0">
                          <a:solidFill>
                            <a:srgbClr val="4B4B4B"/>
                          </a:solidFill>
                          <a:latin typeface="Arial"/>
                        </a:rPr>
                        <a:t>The signer of a gate</a:t>
                      </a:r>
                    </a:p>
                  </a:txBody>
                  <a:tcPr marL="54864" marR="54864" marT="27432" marB="27432">
                    <a:solidFill>
                      <a:srgbClr val="FFFFFF"/>
                    </a:solidFill>
                  </a:tcPr>
                </a:tc>
                <a:tc>
                  <a:txBody>
                    <a:bodyPr/>
                    <a:lstStyle/>
                    <a:p>
                      <a:r>
                        <a:rPr sz="850" b="0">
                          <a:solidFill>
                            <a:srgbClr val="4B4B4B"/>
                          </a:solidFill>
                          <a:latin typeface="Arial"/>
                        </a:rPr>
                        <a:t>Own gate without evidence</a:t>
                      </a:r>
                    </a:p>
                  </a:txBody>
                  <a:tcPr marL="54864" marR="54864" marT="27432" marB="27432">
                    <a:solidFill>
                      <a:srgbClr val="FFFFFF"/>
                    </a:solidFill>
                  </a:tcPr>
                </a:tc>
                <a:tc>
                  <a:txBody>
                    <a:bodyPr/>
                    <a:lstStyle/>
                    <a:p>
                      <a:r>
                        <a:rPr sz="850" b="0">
                          <a:solidFill>
                            <a:srgbClr val="4B4B4B"/>
                          </a:solidFill>
                          <a:latin typeface="Arial"/>
                        </a:rPr>
                        <a:t>Attaches the evidence file to the gate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load of a batch is approved by the Data Migration Lead and run by an operator other than the approver; the validator does not approve the load (FR-DM-014).</a:t>
                      </a:r>
                    </a:p>
                  </a:txBody>
                  <a:tcPr marL="54864" marR="54864" marT="27432" marB="27432">
                    <a:solidFill>
                      <a:srgbClr val="FFFFFF"/>
                    </a:solidFill>
                  </a:tcPr>
                </a:tc>
              </a:tr>
              <a:tr h="396240">
                <a:tc>
                  <a:txBody>
                    <a:bodyPr/>
                    <a:lstStyle/>
                    <a:p>
                      <a:r>
                        <a:rPr sz="1000" b="0">
                          <a:solidFill>
                            <a:srgbClr val="4B4B4B"/>
                          </a:solidFill>
                          <a:latin typeface="Arial"/>
                        </a:rPr>
                        <a:t>Master data loads with at most 0.5 percent of rows failing or waived; open items, unapplied payments and the trial balance load with none, unless each excluded row has a manual-entry plan (FR-DM-013).</a:t>
                      </a:r>
                    </a:p>
                  </a:txBody>
                  <a:tcPr marL="54864" marR="54864" marT="27432" marB="27432">
                    <a:solidFill>
                      <a:srgbClr val="E5F5FF"/>
                    </a:solidFill>
                  </a:tcPr>
                </a:tc>
              </a:tr>
              <a:tr h="243840">
                <a:tc>
                  <a:txBody>
                    <a:bodyPr/>
                    <a:lstStyle/>
                    <a:p>
                      <a:r>
                        <a:rPr sz="1000" b="0">
                          <a:solidFill>
                            <a:srgbClr val="4B4B4B"/>
                          </a:solidFill>
                          <a:latin typeface="Arial"/>
                        </a:rPr>
                        <a:t>A row already loaded and unchanged is skipped; a rerun loads only the rejected and changed rows (FR-DM-015).</a:t>
                      </a:r>
                    </a:p>
                  </a:txBody>
                  <a:tcPr marL="54864" marR="54864" marT="27432" marB="27432">
                    <a:solidFill>
                      <a:srgbClr val="FFFFFF"/>
                    </a:solidFill>
                  </a:tcPr>
                </a:tc>
              </a:tr>
              <a:tr h="243840">
                <a:tc>
                  <a:txBody>
                    <a:bodyPr/>
                    <a:lstStyle/>
                    <a:p>
                      <a:r>
                        <a:rPr sz="1000" b="0">
                          <a:solidFill>
                            <a:srgbClr val="4B4B4B"/>
                          </a:solidFill>
                          <a:latin typeface="Arial"/>
                        </a:rPr>
                        <a:t>A rollback undoes the records of the batch newest first, unless a record was changed in BIBS since the load; the requester never approves it (FR-DM-015).</a:t>
                      </a:r>
                    </a:p>
                  </a:txBody>
                  <a:tcPr marL="54864" marR="54864" marT="27432" marB="27432">
                    <a:solidFill>
                      <a:srgbClr val="E5F5FF"/>
                    </a:solidFill>
                  </a:tcPr>
                </a:tc>
              </a:tr>
              <a:tr h="243840">
                <a:tc>
                  <a:txBody>
                    <a:bodyPr/>
                    <a:lstStyle/>
                    <a:p>
                      <a:r>
                        <a:rPr sz="1000" b="0">
                          <a:solidFill>
                            <a:srgbClr val="4B4B4B"/>
                          </a:solidFill>
                          <a:latin typeface="Arial"/>
                        </a:rPr>
                        <a:t>The operator who ran a batch cannot sign its reconciliation or acceptance; one person cannot sign two gates of one batch (FR-DM-003).</a:t>
                      </a:r>
                    </a:p>
                  </a:txBody>
                  <a:tcPr marL="54864" marR="54864" marT="27432" marB="27432">
                    <a:solidFill>
                      <a:srgbClr val="FFFFFF"/>
                    </a:solidFill>
                  </a:tcPr>
                </a:tc>
              </a:tr>
              <a:tr h="243840">
                <a:tc>
                  <a:txBody>
                    <a:bodyPr/>
                    <a:lstStyle/>
                    <a:p>
                      <a:r>
                        <a:rPr sz="1000" b="0">
                          <a:solidFill>
                            <a:srgbClr val="4B4B4B"/>
                          </a:solidFill>
                          <a:latin typeface="Arial"/>
                        </a:rPr>
                        <a:t>The reconciliation cannot be signed while a break is open (FR-DM-020).</a:t>
                      </a:r>
                    </a:p>
                  </a:txBody>
                  <a:tcPr marL="54864" marR="54864" marT="27432" marB="27432">
                    <a:solidFill>
                      <a:srgbClr val="E5F5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5.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1 of 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2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7.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3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8.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1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9.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2 of 3)</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0.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3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 CHG-DM-2.0-03</a:t>
            </a:r>
          </a:p>
        </p:txBody>
      </p:sp>
      <p:sp>
        <p:nvSpPr>
          <p:cNvPr id="10" name="Rounded Rectangle 9"/>
          <p:cNvSpPr/>
          <p:nvPr/>
        </p:nvSpPr>
        <p:spPr>
          <a:xfrm>
            <a:off x="477133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7-03-waive.png"/>
          <p:cNvPicPr>
            <a:picLocks noChangeAspect="1"/>
          </p:cNvPicPr>
          <p:nvPr/>
        </p:nvPicPr>
        <p:blipFill>
          <a:blip r:embed="rId3"/>
          <a:stretch>
            <a:fillRect/>
          </a:stretch>
        </p:blipFill>
        <p:spPr>
          <a:xfrm>
            <a:off x="548640" y="1261872"/>
            <a:ext cx="11094415" cy="41969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Waive Rows dialog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1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2.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2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3.png"/>
          <p:cNvPicPr>
            <a:picLocks noChangeAspect="1"/>
          </p:cNvPicPr>
          <p:nvPr/>
        </p:nvPicPr>
        <p:blipFill>
          <a:blip r:embed="rId3"/>
          <a:stretch>
            <a:fillRect/>
          </a:stretch>
        </p:blipFill>
        <p:spPr>
          <a:xfrm>
            <a:off x="548640" y="1261872"/>
            <a:ext cx="11094415" cy="23336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3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1 of 4)</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5.png"/>
          <p:cNvPicPr>
            <a:picLocks noChangeAspect="1"/>
          </p:cNvPicPr>
          <p:nvPr/>
        </p:nvPicPr>
        <p:blipFill>
          <a:blip r:embed="rId3"/>
          <a:stretch>
            <a:fillRect/>
          </a:stretch>
        </p:blipFill>
        <p:spPr>
          <a:xfrm>
            <a:off x="548640" y="1261872"/>
            <a:ext cx="11094415" cy="46912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2 of 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6.png"/>
          <p:cNvPicPr>
            <a:picLocks noChangeAspect="1"/>
          </p:cNvPicPr>
          <p:nvPr/>
        </p:nvPicPr>
        <p:blipFill>
          <a:blip r:embed="rId3"/>
          <a:stretch>
            <a:fillRect/>
          </a:stretch>
        </p:blipFill>
        <p:spPr>
          <a:xfrm>
            <a:off x="548640" y="1261872"/>
            <a:ext cx="11094415" cy="43995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3 of 4)</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7.png"/>
          <p:cNvPicPr>
            <a:picLocks noChangeAspect="1"/>
          </p:cNvPicPr>
          <p:nvPr/>
        </p:nvPicPr>
        <p:blipFill>
          <a:blip r:embed="rId3"/>
          <a:stretch>
            <a:fillRect/>
          </a:stretch>
        </p:blipFill>
        <p:spPr>
          <a:xfrm>
            <a:off x="548640" y="1261872"/>
            <a:ext cx="11094415" cy="67427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4 of 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review queue of the client pairs whose match score is between the review and the automatic thresholds: two legacy client records, or a legacy record and a BIBS client, side by side with the keys that matched. The Data Steward merges them into one client or keeps them separate; the load of a client batch waits until the queue is empty.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Steward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Client Matching</a:t>
                      </a:r>
                    </a:p>
                    <a:p>
                      <a:r>
                        <a:rPr sz="950" b="0">
                          <a:solidFill>
                            <a:srgbClr val="4B4B4B"/>
                          </a:solidFill>
                          <a:latin typeface="Arial"/>
                        </a:rPr>
                        <a:t>Migration Home › Client pairs to review</a:t>
                      </a:r>
                    </a:p>
                    <a:p>
                      <a:r>
                        <a:rPr sz="950" b="0">
                          <a:solidFill>
                            <a:srgbClr val="4B4B4B"/>
                          </a:solidFill>
                          <a:latin typeface="Arial"/>
                        </a:rPr>
                        <a:t>Batch › Client pairs to review</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FR-DM-030, FR-DM-031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One BIBS client per person or company, with every legacy client number pointing to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Batch, Cluster, Legacy 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cluster number; legacy client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Matched with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client or BIBS client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Score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60 to 89 in the queue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Keys matched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TIN, ID, name and birth date, corporate name, CIF, e-mail, mobile, similar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To review, Merged, Kept separate, Merged automatically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Pair</a:t>
                      </a:r>
                    </a:p>
                  </a:txBody>
                  <a:tcPr marL="54864" marR="54864" marT="27432" marB="27432">
                    <a:solidFill>
                      <a:srgbClr val="E5F5FF"/>
                    </a:solidFill>
                  </a:tcPr>
                </a:tc>
                <a:tc>
                  <a:txBody>
                    <a:bodyPr/>
                    <a:lstStyle/>
                    <a:p>
                      <a:r>
                        <a:rPr sz="850" b="0">
                          <a:solidFill>
                            <a:srgbClr val="4B4B4B"/>
                          </a:solidFill>
                          <a:latin typeface="Arial"/>
                        </a:rPr>
                        <a:t>Field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Matched fields shown as tags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Merge</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Pair To review</a:t>
                      </a:r>
                    </a:p>
                  </a:txBody>
                  <a:tcPr marL="54864" marR="54864" marT="27432" marB="27432">
                    <a:solidFill>
                      <a:srgbClr val="FFFFFF"/>
                    </a:solidFill>
                  </a:tcPr>
                </a:tc>
                <a:tc>
                  <a:txBody>
                    <a:bodyPr/>
                    <a:lstStyle/>
                    <a:p>
                      <a:r>
                        <a:rPr sz="850" b="0">
                          <a:solidFill>
                            <a:srgbClr val="4B4B4B"/>
                          </a:solidFill>
                          <a:latin typeface="Arial"/>
                        </a:rPr>
                        <a:t>Makes the two records one BIBS client; every value that lost is kept for review</a:t>
                      </a:r>
                    </a:p>
                  </a:txBody>
                  <a:tcPr marL="54864" marR="54864" marT="27432" marB="27432">
                    <a:solidFill>
                      <a:srgbClr val="FFFFFF"/>
                    </a:solidFill>
                  </a:tcPr>
                </a:tc>
                <a:tc>
                  <a:txBody>
                    <a:bodyPr/>
                    <a:lstStyle/>
                    <a:p>
                      <a:r>
                        <a:rPr sz="850" b="0">
                          <a:solidFill>
                            <a:srgbClr val="4B4B4B"/>
                          </a:solidFill>
                          <a:latin typeface="Arial"/>
                        </a:rPr>
                        <a:t>Merged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Keep Separate</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Pair To review</a:t>
                      </a:r>
                    </a:p>
                  </a:txBody>
                  <a:tcPr marL="54864" marR="54864" marT="27432" marB="27432">
                    <a:solidFill>
                      <a:srgbClr val="E5F5FF"/>
                    </a:solidFill>
                  </a:tcPr>
                </a:tc>
                <a:tc>
                  <a:txBody>
                    <a:bodyPr/>
                    <a:lstStyle/>
                    <a:p>
                      <a:r>
                        <a:rPr sz="850" b="0">
                          <a:solidFill>
                            <a:srgbClr val="4B4B4B"/>
                          </a:solidFill>
                          <a:latin typeface="Arial"/>
                        </a:rPr>
                        <a:t>Keeps two clients</a:t>
                      </a:r>
                    </a:p>
                  </a:txBody>
                  <a:tcPr marL="54864" marR="54864" marT="27432" marB="27432">
                    <a:solidFill>
                      <a:srgbClr val="E5F5FF"/>
                    </a:solidFill>
                  </a:tcPr>
                </a:tc>
                <a:tc>
                  <a:txBody>
                    <a:bodyPr/>
                    <a:lstStyle/>
                    <a:p>
                      <a:r>
                        <a:rPr sz="850" b="0">
                          <a:solidFill>
                            <a:srgbClr val="4B4B4B"/>
                          </a:solidFill>
                          <a:latin typeface="Arial"/>
                        </a:rPr>
                        <a:t>Kept separate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Pairs scoring 90 or more merge automatically; 60 to 89 go to this queue; below 60 are different clients (FR-DM-031).</a:t>
                      </a:r>
                    </a:p>
                  </a:txBody>
                  <a:tcPr marL="54864" marR="54864" marT="27432" marB="27432">
                    <a:solidFill>
                      <a:srgbClr val="FFFFFF"/>
                    </a:solidFill>
                  </a:tcPr>
                </a:tc>
              </a:tr>
              <a:tr h="243840">
                <a:tc>
                  <a:txBody>
                    <a:bodyPr/>
                    <a:lstStyle/>
                    <a:p>
                      <a:r>
                        <a:rPr sz="1000" b="0">
                          <a:solidFill>
                            <a:srgbClr val="4B4B4B"/>
                          </a:solidFill>
                          <a:latin typeface="Arial"/>
                        </a:rPr>
                        <a:t>The load of a client batch is not approved while pairs wait for review (FR-DM-031).</a:t>
                      </a:r>
                    </a:p>
                  </a:txBody>
                  <a:tcPr marL="54864" marR="54864" marT="27432" marB="27432">
                    <a:solidFill>
                      <a:srgbClr val="E5F5FF"/>
                    </a:solidFill>
                  </a:tcPr>
                </a:tc>
              </a:tr>
              <a:tr h="243840">
                <a:tc>
                  <a:txBody>
                    <a:bodyPr/>
                    <a:lstStyle/>
                    <a:p>
                      <a:r>
                        <a:rPr sz="1000" b="0">
                          <a:solidFill>
                            <a:srgbClr val="4B4B4B"/>
                          </a:solidFill>
                          <a:latin typeface="Arial"/>
                        </a:rPr>
                        <a:t>Per field the surviving value is the first non-blank value by source priority, or the latest updated value (FR-DM-031).</a:t>
                      </a:r>
                    </a:p>
                  </a:txBody>
                  <a:tcPr marL="54864" marR="54864" marT="27432" marB="27432">
                    <a:solidFill>
                      <a:srgbClr val="FFFF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1 of 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9.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2 of 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6168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3 of 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dm-08-01-queue.png"/>
          <p:cNvPicPr>
            <a:picLocks noChangeAspect="1"/>
          </p:cNvPicPr>
          <p:nvPr/>
        </p:nvPicPr>
        <p:blipFill>
          <a:blip r:embed="rId3"/>
          <a:stretch>
            <a:fillRect/>
          </a:stretch>
        </p:blipFill>
        <p:spPr>
          <a:xfrm>
            <a:off x="548640" y="1261872"/>
            <a:ext cx="11094415" cy="27162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pairs waiting for review</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loaded batches with their reconciliation and, for the chosen batch, the lines by level: L1 counts, L2 amounts, L3 hash totals, L4 fields, L5 general ledger, and the opening-balance adjustment checks. Every difference is a break; the Data Steward or the operator explains it with a reason and the reconciliation approver approves the explanation.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Reconciliation</a:t>
                      </a:r>
                    </a:p>
                    <a:p>
                      <a:r>
                        <a:rPr sz="950" b="0">
                          <a:solidFill>
                            <a:srgbClr val="4B4B4B"/>
                          </a:solidFill>
                          <a:latin typeface="Arial"/>
                        </a:rPr>
                        <a:t>Migration Home › Open reconciliation breaks</a:t>
                      </a:r>
                    </a:p>
                    <a:p>
                      <a:r>
                        <a:rPr sz="950" b="0">
                          <a:solidFill>
                            <a:srgbClr val="4B4B4B"/>
                          </a:solidFill>
                          <a:latin typeface="Arial"/>
                        </a:rPr>
                        <a:t>Batch › Reconciliation tab</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FR-DM-020, FR-DM-021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loaded object is reconcilable from source to target, each break explained and approved before G5.</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Loaded batches</a:t>
                      </a:r>
                    </a:p>
                  </a:txBody>
                  <a:tcPr marL="54864" marR="54864" marT="27432" marB="27432">
                    <a:solidFill>
                      <a:srgbClr val="FFFFFF"/>
                    </a:solidFill>
                  </a:tcPr>
                </a:tc>
                <a:tc>
                  <a:txBody>
                    <a:bodyPr/>
                    <a:lstStyle/>
                    <a:p>
                      <a:r>
                        <a:rPr sz="850" b="0">
                          <a:solidFill>
                            <a:srgbClr val="4B4B4B"/>
                          </a:solidFill>
                          <a:latin typeface="Arial"/>
                        </a:rPr>
                        <a:t>Batch, Object, Loaded, Load ended,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Run number, date and time, user; status on the right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L1 Counts, L2 Amounts, L3 Hash totals, L4 Fields, L5 General ledger, Opening-balance adjustment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Measure, Currency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Measure with its detail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Source, Staged, BIBS, Difference</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Difference within the tolerance (0.00)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Explanation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Text; reason, who explained, who approved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Matched, Break, Explained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Explain Break</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Timing difference between extract and ledger, Rounding in the legacy extract, Rows excluded by the data owner, Error in the legacy source corrected by manual entry, Code map difference, Other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Explain Break</a:t>
                      </a:r>
                    </a:p>
                  </a:txBody>
                  <a:tcPr marL="54864" marR="54864" marT="27432" marB="27432">
                    <a:solidFill>
                      <a:srgbClr val="FFFFFF"/>
                    </a:solidFill>
                  </a:tcPr>
                </a:tc>
                <a:tc>
                  <a:txBody>
                    <a:bodyPr/>
                    <a:lstStyle/>
                    <a:p>
                      <a:r>
                        <a:rPr sz="850" b="0">
                          <a:solidFill>
                            <a:srgbClr val="4B4B4B"/>
                          </a:solidFill>
                          <a:latin typeface="Arial"/>
                        </a:rPr>
                        <a:t>Explanation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explanation of the break</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Explain</a:t>
                      </a:r>
                    </a:p>
                  </a:txBody>
                  <a:tcPr marL="54864" marR="54864" marT="27432" marB="27432">
                    <a:solidFill>
                      <a:srgbClr val="FFFFFF"/>
                    </a:solidFill>
                  </a:tcPr>
                </a:tc>
                <a:tc>
                  <a:txBody>
                    <a:bodyPr/>
                    <a:lstStyle/>
                    <a:p>
                      <a:r>
                        <a:rPr sz="850" b="0">
                          <a:solidFill>
                            <a:srgbClr val="4B4B4B"/>
                          </a:solidFill>
                          <a:latin typeface="Arial"/>
                        </a:rPr>
                        <a:t>Data Steward or Migration Operator</a:t>
                      </a:r>
                    </a:p>
                  </a:txBody>
                  <a:tcPr marL="54864" marR="54864" marT="27432" marB="27432">
                    <a:solidFill>
                      <a:srgbClr val="FFFFFF"/>
                    </a:solidFill>
                  </a:tcPr>
                </a:tc>
                <a:tc>
                  <a:txBody>
                    <a:bodyPr/>
                    <a:lstStyle/>
                    <a:p>
                      <a:r>
                        <a:rPr sz="850" b="0">
                          <a:solidFill>
                            <a:srgbClr val="4B4B4B"/>
                          </a:solidFill>
                          <a:latin typeface="Arial"/>
                        </a:rPr>
                        <a:t>Line in Break</a:t>
                      </a:r>
                    </a:p>
                  </a:txBody>
                  <a:tcPr marL="54864" marR="54864" marT="27432" marB="27432">
                    <a:solidFill>
                      <a:srgbClr val="FFFFFF"/>
                    </a:solidFill>
                  </a:tcPr>
                </a:tc>
                <a:tc>
                  <a:txBody>
                    <a:bodyPr/>
                    <a:lstStyle/>
                    <a:p>
                      <a:r>
                        <a:rPr sz="850" b="0">
                          <a:solidFill>
                            <a:srgbClr val="4B4B4B"/>
                          </a:solidFill>
                          <a:latin typeface="Arial"/>
                        </a:rPr>
                        <a:t>Records the reason and the explanation</a:t>
                      </a:r>
                    </a:p>
                  </a:txBody>
                  <a:tcPr marL="54864" marR="54864" marT="27432" marB="27432">
                    <a:solidFill>
                      <a:srgbClr val="FFFFFF"/>
                    </a:solidFill>
                  </a:tcPr>
                </a:tc>
                <a:tc>
                  <a:txBody>
                    <a:bodyPr/>
                    <a:lstStyle/>
                    <a:p>
                      <a:r>
                        <a:rPr sz="850" b="0">
                          <a:solidFill>
                            <a:srgbClr val="4B4B4B"/>
                          </a:solidFill>
                          <a:latin typeface="Arial"/>
                        </a:rPr>
                        <a:t>Explained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Reconciliation approver</a:t>
                      </a:r>
                    </a:p>
                  </a:txBody>
                  <a:tcPr marL="54864" marR="54864" marT="27432" marB="27432">
                    <a:solidFill>
                      <a:srgbClr val="E5F5FF"/>
                    </a:solidFill>
                  </a:tcPr>
                </a:tc>
                <a:tc>
                  <a:txBody>
                    <a:bodyPr/>
                    <a:lstStyle/>
                    <a:p>
                      <a:r>
                        <a:rPr sz="850" b="0">
                          <a:solidFill>
                            <a:srgbClr val="4B4B4B"/>
                          </a:solidFill>
                          <a:latin typeface="Arial"/>
                        </a:rPr>
                        <a:t>Line Explained by another user</a:t>
                      </a:r>
                    </a:p>
                  </a:txBody>
                  <a:tcPr marL="54864" marR="54864" marT="27432" marB="27432">
                    <a:solidFill>
                      <a:srgbClr val="E5F5FF"/>
                    </a:solidFill>
                  </a:tcPr>
                </a:tc>
                <a:tc>
                  <a:txBody>
                    <a:bodyPr/>
                    <a:lstStyle/>
                    <a:p>
                      <a:r>
                        <a:rPr sz="850" b="0">
                          <a:solidFill>
                            <a:srgbClr val="4B4B4B"/>
                          </a:solidFill>
                          <a:latin typeface="Arial"/>
                        </a:rPr>
                        <a:t>Approves the explanation</a:t>
                      </a:r>
                    </a:p>
                  </a:txBody>
                  <a:tcPr marL="54864" marR="54864" marT="27432" marB="27432">
                    <a:solidFill>
                      <a:srgbClr val="E5F5FF"/>
                    </a:solidFill>
                  </a:tcPr>
                </a:tc>
                <a:tc>
                  <a:txBody>
                    <a:bodyPr/>
                    <a:lstStyle/>
                    <a:p>
                      <a:r>
                        <a:rPr sz="850" b="0">
                          <a:solidFill>
                            <a:srgbClr val="4B4B4B"/>
                          </a:solidFill>
                          <a:latin typeface="Arial"/>
                        </a:rPr>
                        <a:t>Explained (approved)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Counts: received equals the control count and loaded + skipped + rejected + excluded equals staged (FR-DM-020).</a:t>
                      </a:r>
                    </a:p>
                  </a:txBody>
                  <a:tcPr marL="54864" marR="54864" marT="27432" marB="27432">
                    <a:solidFill>
                      <a:srgbClr val="FFFFFF"/>
                    </a:solidFill>
                  </a:tcPr>
                </a:tc>
              </a:tr>
              <a:tr h="243840">
                <a:tc>
                  <a:txBody>
                    <a:bodyPr/>
                    <a:lstStyle/>
                    <a:p>
                      <a:r>
                        <a:rPr sz="1000" b="0">
                          <a:solidFill>
                            <a:srgbClr val="4B4B4B"/>
                          </a:solidFill>
                          <a:latin typeface="Arial"/>
                        </a:rPr>
                        <a:t>Amounts: the control total, the staged sum and the value in BIBS agree per amount column and currency (FR-DM-020).</a:t>
                      </a:r>
                    </a:p>
                  </a:txBody>
                  <a:tcPr marL="54864" marR="54864" marT="27432" marB="27432">
                    <a:solidFill>
                      <a:srgbClr val="E5F5FF"/>
                    </a:solidFill>
                  </a:tcPr>
                </a:tc>
              </a:tr>
              <a:tr h="243840">
                <a:tc>
                  <a:txBody>
                    <a:bodyPr/>
                    <a:lstStyle/>
                    <a:p>
                      <a:r>
                        <a:rPr sz="1000" b="0">
                          <a:solidFill>
                            <a:srgbClr val="4B4B4B"/>
                          </a:solidFill>
                          <a:latin typeface="Arial"/>
                        </a:rPr>
                        <a:t>GL: Migration Clearing is 0.00 per branch and currency and each legacy control account equals its legacy sub-ledger (FR-DM-021).</a:t>
                      </a:r>
                    </a:p>
                  </a:txBody>
                  <a:tcPr marL="54864" marR="54864" marT="27432" marB="27432">
                    <a:solidFill>
                      <a:srgbClr val="FFFFFF"/>
                    </a:solidFill>
                  </a:tcPr>
                </a:tc>
              </a:tr>
              <a:tr h="243840">
                <a:tc>
                  <a:txBody>
                    <a:bodyPr/>
                    <a:lstStyle/>
                    <a:p>
                      <a:r>
                        <a:rPr sz="1000" b="0">
                          <a:solidFill>
                            <a:srgbClr val="4B4B4B"/>
                          </a:solidFill>
                          <a:latin typeface="Arial"/>
                        </a:rPr>
                        <a:t>The explanation of a break is approved by a user other than the one who explained it (FR-DM-020).</a:t>
                      </a:r>
                    </a:p>
                  </a:txBody>
                  <a:tcPr marL="54864" marR="54864" marT="27432" marB="27432">
                    <a:solidFill>
                      <a:srgbClr val="E5F5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1 of 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2 of 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3.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3 of 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dm-09-02-explain.png"/>
          <p:cNvPicPr>
            <a:picLocks noChangeAspect="1"/>
          </p:cNvPicPr>
          <p:nvPr/>
        </p:nvPicPr>
        <p:blipFill>
          <a:blip r:embed="rId3"/>
          <a:stretch>
            <a:fillRect/>
          </a:stretch>
        </p:blipFill>
        <p:spPr>
          <a:xfrm>
            <a:off x="548640" y="1261872"/>
            <a:ext cx="11094415" cy="41969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Explain Break dialog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gates G1 to G7 of every object and of its latest batch as a matrix: decision, mapping, validation, load approval, reconciliation, acceptance and go-live, each with who signed and when. The business owner signs the mapping of an object here (gate G2); the other batch gates are signed on the batch page.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Sign-off</a:t>
                      </a:r>
                    </a:p>
                    <a:p>
                      <a:r>
                        <a:rPr sz="950" b="0">
                          <a:solidFill>
                            <a:srgbClr val="4B4B4B"/>
                          </a:solidFill>
                          <a:latin typeface="Arial"/>
                        </a:rPr>
                        <a:t>Sidebar › Data Migration › Sign-off</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Data Migration Lead sees what is missing per object before a trial migration or the cut-over.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name; class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Latest 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Batch number and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Decision, Mapping, Validation, Load approval, Reconciliation, Acceptance, Go-live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column per gate G1 to G7; decision pill with the signer and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Sign Mapping</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G1 approved and G2 not yet signed</a:t>
                      </a:r>
                    </a:p>
                  </a:txBody>
                  <a:tcPr marL="54864" marR="54864" marT="27432" marB="27432">
                    <a:solidFill>
                      <a:srgbClr val="FFFFFF"/>
                    </a:solidFill>
                  </a:tcPr>
                </a:tc>
                <a:tc>
                  <a:txBody>
                    <a:bodyPr/>
                    <a:lstStyle/>
                    <a:p>
                      <a:r>
                        <a:rPr sz="850" b="0">
                          <a:solidFill>
                            <a:srgbClr val="4B4B4B"/>
                          </a:solidFill>
                          <a:latin typeface="Arial"/>
                        </a:rPr>
                        <a:t>Signs gate G2: the layouts of the object are frozen and every code map its columns use has an approved version</a:t>
                      </a:r>
                    </a:p>
                  </a:txBody>
                  <a:tcPr marL="54864" marR="54864" marT="27432" marB="27432">
                    <a:solidFill>
                      <a:srgbClr val="FFFFFF"/>
                    </a:solidFill>
                  </a:tcPr>
                </a:tc>
                <a:tc>
                  <a:txBody>
                    <a:bodyPr/>
                    <a:lstStyle/>
                    <a:p>
                      <a:r>
                        <a:rPr sz="850" b="0">
                          <a:solidFill>
                            <a:srgbClr val="4B4B4B"/>
                          </a:solidFill>
                          <a:latin typeface="Arial"/>
                        </a:rPr>
                        <a:t>G2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Latest batch link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batch exists</a:t>
                      </a:r>
                    </a:p>
                  </a:txBody>
                  <a:tcPr marL="54864" marR="54864" marT="27432" marB="27432">
                    <a:solidFill>
                      <a:srgbClr val="E5F5FF"/>
                    </a:solidFill>
                  </a:tcPr>
                </a:tc>
                <a:tc>
                  <a:txBody>
                    <a:bodyPr/>
                    <a:lstStyle/>
                    <a:p>
                      <a:r>
                        <a:rPr sz="850" b="0">
                          <a:solidFill>
                            <a:srgbClr val="4B4B4B"/>
                          </a:solidFill>
                          <a:latin typeface="Arial"/>
                        </a:rPr>
                        <a:t>Opens the batch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Gates are signed in order; a gate refused returns the object to the step of that gate (FR-DM-003).</a:t>
                      </a:r>
                    </a:p>
                  </a:txBody>
                  <a:tcPr marL="54864" marR="54864" marT="27432" marB="27432">
                    <a:solidFill>
                      <a:srgbClr val="FFFFFF"/>
                    </a:solidFill>
                  </a:tcPr>
                </a:tc>
              </a:tr>
              <a:tr h="243840">
                <a:tc>
                  <a:txBody>
                    <a:bodyPr/>
                    <a:lstStyle/>
                    <a:p>
                      <a:r>
                        <a:rPr sz="1000" b="0">
                          <a:solidFill>
                            <a:srgbClr val="4B4B4B"/>
                          </a:solidFill>
                          <a:latin typeface="Arial"/>
                        </a:rPr>
                        <a:t>The mapping is signed only when the layouts are frozen and every map used has an approved version (FR-DM-003).</a:t>
                      </a:r>
                    </a:p>
                  </a:txBody>
                  <a:tcPr marL="54864" marR="54864" marT="27432" marB="27432">
                    <a:solidFill>
                      <a:srgbClr val="E5F5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Sign-off: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4.png"/>
          <p:cNvPicPr>
            <a:picLocks noChangeAspect="1"/>
          </p:cNvPicPr>
          <p:nvPr/>
        </p:nvPicPr>
        <p:blipFill>
          <a:blip r:embed="rId3"/>
          <a:stretch>
            <a:fillRect/>
          </a:stretch>
        </p:blipFill>
        <p:spPr>
          <a:xfrm>
            <a:off x="548640" y="1261872"/>
            <a:ext cx="11094415" cy="39958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1 of 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Sign-off: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5.png"/>
          <p:cNvPicPr>
            <a:picLocks noChangeAspect="1"/>
          </p:cNvPicPr>
          <p:nvPr/>
        </p:nvPicPr>
        <p:blipFill>
          <a:blip r:embed="rId3"/>
          <a:stretch>
            <a:fillRect/>
          </a:stretch>
        </p:blipFill>
        <p:spPr>
          <a:xfrm>
            <a:off x="548640" y="1261872"/>
            <a:ext cx="11094415" cy="39018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2 of 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FY2027 closing and audit adjustments of the legacy books after go-live (year-end option A). The Comptrollership GL lead prepares an adjustment on a validated batch of the adjustment journals (object G03) and the legacy trial balance of the same version (object G01); the Head of Comptrollership approves or returns it. The load of the batch posts the opening-balance adjustment journals into the opening period (value date 1 January 2028) and adjusts the open legacy items; the adjustment is then reconciled to the legacy trial balances and signed.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Opening Adjustments</a:t>
                      </a:r>
                    </a:p>
                    <a:p>
                      <a:r>
                        <a:rPr sz="950" b="0">
                          <a:solidFill>
                            <a:srgbClr val="4B4B4B"/>
                          </a:solidFill>
                          <a:latin typeface="Arial"/>
                        </a:rPr>
                        <a:t>Sidebar › Data Migration › Opening Adjustments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FR-DM-022, FR-DM-023, FR-DM-024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FY2027 adjustment made in legacy after the freeze is in the BIBS opening balances, approved and reconciled.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Reference MIG-TU-n; as-of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Adjustment batch; trial balance batch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Journals and items adjusted;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Prepared / Approved / Signed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Prepared, For approval, Approved, Posted, Reconciled,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Prepare Adjustment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1 after the legacy year-end close, 2 interim, 3 interim, F final after the audited statements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yet prepared</a:t>
                      </a:r>
                    </a:p>
                  </a:txBody>
                  <a:tcPr marL="54864" marR="54864" marT="27432" marB="27432">
                    <a:solidFill>
                      <a:srgbClr val="E5F5FF"/>
                    </a:solidFill>
                  </a:tcPr>
                </a:tc>
                <a:tc>
                  <a:txBody>
                    <a:bodyPr/>
                    <a:lstStyle/>
                    <a:p>
                      <a:r>
                        <a:rPr sz="850" b="0">
                          <a:solidFill>
                            <a:srgbClr val="4B4B4B"/>
                          </a:solidFill>
                          <a:latin typeface="Arial"/>
                        </a:rPr>
                        <a:t>Opening-balance adjustment &lt;no&gt; already exists</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Legacy Trial Balance 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Prepare Adjustment</a:t>
                      </a:r>
                    </a:p>
                  </a:txBody>
                  <a:tcPr marL="54864" marR="54864" marT="27432" marB="27432">
                    <a:solidFill>
                      <a:srgbClr val="E5F5FF"/>
                    </a:solidFill>
                  </a:tcPr>
                </a:tc>
                <a:tc>
                  <a:txBody>
                    <a:bodyPr/>
                    <a:lstStyle/>
                    <a:p>
                      <a:r>
                        <a:rPr sz="850" b="0">
                          <a:solidFill>
                            <a:srgbClr val="4B4B4B"/>
                          </a:solidFill>
                          <a:latin typeface="Arial"/>
                        </a:rPr>
                        <a:t>Adjustment Batch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 validated batch of the adjustment journals (G03)</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batch of the adjustment object</a:t>
                      </a:r>
                    </a:p>
                  </a:txBody>
                  <a:tcPr marL="54864" marR="54864" marT="27432" marB="27432">
                    <a:solidFill>
                      <a:srgbClr val="E5F5FF"/>
                    </a:solidFill>
                  </a:tcPr>
                </a:tc>
                <a:tc>
                  <a:txBody>
                    <a:bodyPr/>
                    <a:lstStyle/>
                    <a:p>
                      <a:r>
                        <a:rPr sz="850" b="0">
                          <a:solidFill>
                            <a:srgbClr val="4B4B4B"/>
                          </a:solidFill>
                          <a:latin typeface="Arial"/>
                        </a:rPr>
                        <a:t>Batch &lt;batch no&gt; is not a batch of object &lt;object&gt;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Legacy Trial Balance Batch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trial balance of the same version (G01), or None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25880"/>
          <a:ext cx="11094412" cy="180593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Comptrollership GL lead</a:t>
                      </a:r>
                    </a:p>
                  </a:txBody>
                  <a:tcPr marL="54864" marR="54864" marT="27432" marB="27432">
                    <a:solidFill>
                      <a:srgbClr val="FFFFFF"/>
                    </a:solidFill>
                  </a:tcPr>
                </a:tc>
                <a:tc>
                  <a:txBody>
                    <a:bodyPr/>
                    <a:lstStyle/>
                    <a:p>
                      <a:r>
                        <a:rPr sz="850" b="0">
                          <a:solidFill>
                            <a:srgbClr val="4B4B4B"/>
                          </a:solidFill>
                          <a:latin typeface="Arial"/>
                        </a:rPr>
                        <a:t>Year-end option A</a:t>
                      </a:r>
                    </a:p>
                  </a:txBody>
                  <a:tcPr marL="54864" marR="54864" marT="27432" marB="27432">
                    <a:solidFill>
                      <a:srgbClr val="FFFFFF"/>
                    </a:solidFill>
                  </a:tcPr>
                </a:tc>
                <a:tc>
                  <a:txBody>
                    <a:bodyPr/>
                    <a:lstStyle/>
                    <a:p>
                      <a:r>
                        <a:rPr sz="850" b="0">
                          <a:solidFill>
                            <a:srgbClr val="4B4B4B"/>
                          </a:solidFill>
                          <a:latin typeface="Arial"/>
                        </a:rPr>
                        <a:t>Prepares the adjustment on the chosen batches</a:t>
                      </a:r>
                    </a:p>
                  </a:txBody>
                  <a:tcPr marL="54864" marR="54864" marT="27432" marB="27432">
                    <a:solidFill>
                      <a:srgbClr val="FFFFFF"/>
                    </a:solidFill>
                  </a:tcPr>
                </a:tc>
                <a:tc>
                  <a:txBody>
                    <a:bodyPr/>
                    <a:lstStyle/>
                    <a:p>
                      <a:r>
                        <a:rPr sz="850" b="0">
                          <a:solidFill>
                            <a:srgbClr val="4B4B4B"/>
                          </a:solidFill>
                          <a:latin typeface="Arial"/>
                        </a:rPr>
                        <a:t>Prepared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Comptrollership GL lead</a:t>
                      </a:r>
                    </a:p>
                  </a:txBody>
                  <a:tcPr marL="54864" marR="54864" marT="27432" marB="27432">
                    <a:solidFill>
                      <a:srgbClr val="E5F5FF"/>
                    </a:solidFill>
                  </a:tcPr>
                </a:tc>
                <a:tc>
                  <a:txBody>
                    <a:bodyPr/>
                    <a:lstStyle/>
                    <a:p>
                      <a:r>
                        <a:rPr sz="850" b="0">
                          <a:solidFill>
                            <a:srgbClr val="4B4B4B"/>
                          </a:solidFill>
                          <a:latin typeface="Arial"/>
                        </a:rPr>
                        <a:t>Prepared</a:t>
                      </a:r>
                    </a:p>
                  </a:txBody>
                  <a:tcPr marL="54864" marR="54864" marT="27432" marB="27432">
                    <a:solidFill>
                      <a:srgbClr val="E5F5FF"/>
                    </a:solidFill>
                  </a:tcPr>
                </a:tc>
                <a:tc>
                  <a:txBody>
                    <a:bodyPr/>
                    <a:lstStyle/>
                    <a:p>
                      <a:r>
                        <a:rPr sz="850" b="0">
                          <a:solidFill>
                            <a:srgbClr val="4B4B4B"/>
                          </a:solidFill>
                          <a:latin typeface="Arial"/>
                        </a:rPr>
                        <a:t>Sends the adjustment to the Head of Comptrollership</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Head, Comptrollership</a:t>
                      </a:r>
                    </a:p>
                  </a:txBody>
                  <a:tcPr marL="54864" marR="54864" marT="27432" marB="27432">
                    <a:solidFill>
                      <a:srgbClr val="FFFFFF"/>
                    </a:solidFill>
                  </a:tcPr>
                </a:tc>
                <a:tc>
                  <a:txBody>
                    <a:bodyPr/>
                    <a:lstStyle/>
                    <a:p>
                      <a:r>
                        <a:rPr sz="850" b="0">
                          <a:solidFill>
                            <a:srgbClr val="4B4B4B"/>
                          </a:solidFill>
                          <a:latin typeface="Arial"/>
                        </a:rPr>
                        <a:t>For approval, prepared by another user</a:t>
                      </a:r>
                    </a:p>
                  </a:txBody>
                  <a:tcPr marL="54864" marR="54864" marT="27432" marB="27432">
                    <a:solidFill>
                      <a:srgbClr val="FFFFFF"/>
                    </a:solidFill>
                  </a:tcPr>
                </a:tc>
                <a:tc>
                  <a:txBody>
                    <a:bodyPr/>
                    <a:lstStyle/>
                    <a:p>
                      <a:r>
                        <a:rPr sz="850" b="0">
                          <a:solidFill>
                            <a:srgbClr val="4B4B4B"/>
                          </a:solidFill>
                          <a:latin typeface="Arial"/>
                        </a:rPr>
                        <a:t>Allows the adjustment batch to be loaded; its journals post into the opening period</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Return</a:t>
                      </a:r>
                    </a:p>
                  </a:txBody>
                  <a:tcPr marL="54864" marR="54864" marT="27432" marB="27432">
                    <a:solidFill>
                      <a:srgbClr val="E5F5FF"/>
                    </a:solidFill>
                  </a:tcPr>
                </a:tc>
                <a:tc>
                  <a:txBody>
                    <a:bodyPr/>
                    <a:lstStyle/>
                    <a:p>
                      <a:r>
                        <a:rPr sz="850" b="0">
                          <a:solidFill>
                            <a:srgbClr val="4B4B4B"/>
                          </a:solidFill>
                          <a:latin typeface="Arial"/>
                        </a:rPr>
                        <a:t>Head, Comptrollership</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Returns the adjustment to the preparer with the reason</a:t>
                      </a:r>
                    </a:p>
                  </a:txBody>
                  <a:tcPr marL="54864" marR="54864" marT="27432" marB="27432">
                    <a:solidFill>
                      <a:srgbClr val="E5F5FF"/>
                    </a:solidFill>
                  </a:tcPr>
                </a:tc>
                <a:tc>
                  <a:txBody>
                    <a:bodyPr/>
                    <a:lstStyle/>
                    <a:p>
                      <a:r>
                        <a:rPr sz="850" b="0">
                          <a:solidFill>
                            <a:srgbClr val="4B4B4B"/>
                          </a:solidFill>
                          <a:latin typeface="Arial"/>
                        </a:rPr>
                        <a:t>Prepared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Reconcile</a:t>
                      </a:r>
                    </a:p>
                  </a:txBody>
                  <a:tcPr marL="54864" marR="54864" marT="27432" marB="27432">
                    <a:solidFill>
                      <a:srgbClr val="FFFFFF"/>
                    </a:solidFill>
                  </a:tcPr>
                </a:tc>
                <a:tc>
                  <a:txBody>
                    <a:bodyPr/>
                    <a:lstStyle/>
                    <a:p>
                      <a:r>
                        <a:rPr sz="850" b="0">
                          <a:solidFill>
                            <a:srgbClr val="4B4B4B"/>
                          </a:solidFill>
                          <a:latin typeface="Arial"/>
                        </a:rPr>
                        <a:t>Comptrollership GL lead or Head, Comptrollership</a:t>
                      </a:r>
                    </a:p>
                  </a:txBody>
                  <a:tcPr marL="54864" marR="54864" marT="27432" marB="27432">
                    <a:solidFill>
                      <a:srgbClr val="FFFFFF"/>
                    </a:solidFill>
                  </a:tcPr>
                </a:tc>
                <a:tc>
                  <a:txBody>
                    <a:bodyPr/>
                    <a:lstStyle/>
                    <a:p>
                      <a:r>
                        <a:rPr sz="850" b="0">
                          <a:solidFill>
                            <a:srgbClr val="4B4B4B"/>
                          </a:solidFill>
                          <a:latin typeface="Arial"/>
                        </a:rPr>
                        <a:t>Posted or Reconciled</a:t>
                      </a:r>
                    </a:p>
                  </a:txBody>
                  <a:tcPr marL="54864" marR="54864" marT="27432" marB="27432">
                    <a:solidFill>
                      <a:srgbClr val="FFFFFF"/>
                    </a:solidFill>
                  </a:tcPr>
                </a:tc>
                <a:tc>
                  <a:txBody>
                    <a:bodyPr/>
                    <a:lstStyle/>
                    <a:p>
                      <a:r>
                        <a:rPr sz="850" b="0">
                          <a:solidFill>
                            <a:srgbClr val="4B4B4B"/>
                          </a:solidFill>
                          <a:latin typeface="Arial"/>
                        </a:rPr>
                        <a:t>Compares the adjustment with the legacy trial balances and checks that Migration Clearing is zero</a:t>
                      </a:r>
                    </a:p>
                  </a:txBody>
                  <a:tcPr marL="54864" marR="54864" marT="27432" marB="27432">
                    <a:solidFill>
                      <a:srgbClr val="FFFFFF"/>
                    </a:solidFill>
                  </a:tcPr>
                </a:tc>
                <a:tc>
                  <a:txBody>
                    <a:bodyPr/>
                    <a:lstStyle/>
                    <a:p>
                      <a:r>
                        <a:rPr sz="850" b="0">
                          <a:solidFill>
                            <a:srgbClr val="4B4B4B"/>
                          </a:solidFill>
                          <a:latin typeface="Arial"/>
                        </a:rPr>
                        <a:t>Reconciled when every check is met</a:t>
                      </a:r>
                    </a:p>
                  </a:txBody>
                  <a:tcPr marL="54864" marR="54864" marT="27432" marB="27432">
                    <a:solidFill>
                      <a:srgbClr val="FFFFFF"/>
                    </a:solidFill>
                  </a:tcPr>
                </a:tc>
                <a:tc>
                  <a:txBody>
                    <a:bodyPr/>
                    <a:lstStyle/>
                    <a:p>
                      <a:r>
                        <a:rPr sz="850" b="0">
                          <a:solidFill>
                            <a:srgbClr val="4B4B4B"/>
                          </a:solidFill>
                          <a:latin typeface="Arial"/>
                        </a:rPr>
                        <a:t>Alert when a check breaks</a:t>
                      </a:r>
                    </a:p>
                  </a:txBody>
                  <a:tcPr marL="54864" marR="54864" marT="27432" marB="27432">
                    <a:solidFill>
                      <a:srgbClr val="FFFFFF"/>
                    </a:solidFill>
                  </a:tcPr>
                </a:tc>
              </a:tr>
              <a:tr h="220979">
                <a:tc>
                  <a:txBody>
                    <a:bodyPr/>
                    <a:lstStyle/>
                    <a:p>
                      <a:r>
                        <a:rPr sz="850" b="0">
                          <a:solidFill>
                            <a:srgbClr val="4B4B4B"/>
                          </a:solidFill>
                          <a:latin typeface="Arial"/>
                        </a:rPr>
                        <a:t>Sign</a:t>
                      </a:r>
                    </a:p>
                  </a:txBody>
                  <a:tcPr marL="54864" marR="54864" marT="27432" marB="27432">
                    <a:solidFill>
                      <a:srgbClr val="E5F5FF"/>
                    </a:solidFill>
                  </a:tcPr>
                </a:tc>
                <a:tc>
                  <a:txBody>
                    <a:bodyPr/>
                    <a:lstStyle/>
                    <a:p>
                      <a:r>
                        <a:rPr sz="850" b="0">
                          <a:solidFill>
                            <a:srgbClr val="4B4B4B"/>
                          </a:solidFill>
                          <a:latin typeface="Arial"/>
                        </a:rPr>
                        <a:t>Head, Comptrollership</a:t>
                      </a:r>
                    </a:p>
                  </a:txBody>
                  <a:tcPr marL="54864" marR="54864" marT="27432" marB="27432">
                    <a:solidFill>
                      <a:srgbClr val="E5F5FF"/>
                    </a:solidFill>
                  </a:tcPr>
                </a:tc>
                <a:tc>
                  <a:txBody>
                    <a:bodyPr/>
                    <a:lstStyle/>
                    <a:p>
                      <a:r>
                        <a:rPr sz="850" b="0">
                          <a:solidFill>
                            <a:srgbClr val="4B4B4B"/>
                          </a:solidFill>
                          <a:latin typeface="Arial"/>
                        </a:rPr>
                        <a:t>Reconciled</a:t>
                      </a:r>
                    </a:p>
                  </a:txBody>
                  <a:tcPr marL="54864" marR="54864" marT="27432" marB="27432">
                    <a:solidFill>
                      <a:srgbClr val="E5F5FF"/>
                    </a:solidFill>
                  </a:tcPr>
                </a:tc>
                <a:tc>
                  <a:txBody>
                    <a:bodyPr/>
                    <a:lstStyle/>
                    <a:p>
                      <a:r>
                        <a:rPr sz="850" b="0">
                          <a:solidFill>
                            <a:srgbClr val="4B4B4B"/>
                          </a:solidFill>
                          <a:latin typeface="Arial"/>
                        </a:rPr>
                        <a:t>Signs the reconciled adjustment</a:t>
                      </a:r>
                    </a:p>
                  </a:txBody>
                  <a:tcPr marL="54864" marR="54864" marT="27432" marB="27432">
                    <a:solidFill>
                      <a:srgbClr val="E5F5FF"/>
                    </a:solidFill>
                  </a:tcPr>
                </a:tc>
                <a:tc>
                  <a:txBody>
                    <a:bodyPr/>
                    <a:lstStyle/>
                    <a:p>
                      <a:r>
                        <a:rPr sz="850" b="0">
                          <a:solidFill>
                            <a:srgbClr val="4B4B4B"/>
                          </a:solidFill>
                          <a:latin typeface="Arial"/>
                        </a:rPr>
                        <a:t>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journals dated in FY2027, posted in legacy after the freeze and entered in the FY2027 adjustment register are accepted (FR-DM-023).</a:t>
                      </a:r>
                    </a:p>
                  </a:txBody>
                  <a:tcPr marL="54864" marR="54864" marT="27432" marB="27432">
                    <a:solidFill>
                      <a:srgbClr val="FFFFFF"/>
                    </a:solidFill>
                  </a:tcPr>
                </a:tc>
              </a:tr>
              <a:tr h="243840">
                <a:tc>
                  <a:txBody>
                    <a:bodyPr/>
                    <a:lstStyle/>
                    <a:p>
                      <a:r>
                        <a:rPr sz="1000" b="0">
                          <a:solidFill>
                            <a:srgbClr val="4B4B4B"/>
                          </a:solidFill>
                          <a:latin typeface="Arial"/>
                        </a:rPr>
                        <a:t>FY2027 profit and loss lines post to retained earnings; lines on legacy control accounts post to Migration Clearing with their open-item detail (FR-DM-023).</a:t>
                      </a:r>
                    </a:p>
                  </a:txBody>
                  <a:tcPr marL="54864" marR="54864" marT="27432" marB="27432">
                    <a:solidFill>
                      <a:srgbClr val="E5F5FF"/>
                    </a:solidFill>
                  </a:tcPr>
                </a:tc>
              </a:tr>
              <a:tr h="243840">
                <a:tc>
                  <a:txBody>
                    <a:bodyPr/>
                    <a:lstStyle/>
                    <a:p>
                      <a:r>
                        <a:rPr sz="1000" b="0">
                          <a:solidFill>
                            <a:srgbClr val="4B4B4B"/>
                          </a:solidFill>
                          <a:latin typeface="Arial"/>
                        </a:rPr>
                        <a:t>The preparer never approves; a wrong adjustment is corrected by the next adjustment, never by changing a posted journal (FR-DM-023).</a:t>
                      </a:r>
                    </a:p>
                  </a:txBody>
                  <a:tcPr marL="54864" marR="54864" marT="27432" marB="27432">
                    <a:solidFill>
                      <a:srgbClr val="FFFFFF"/>
                    </a:solidFill>
                  </a:tcPr>
                </a:tc>
              </a:tr>
              <a:tr h="243840">
                <a:tc>
                  <a:txBody>
                    <a:bodyPr/>
                    <a:lstStyle/>
                    <a:p>
                      <a:r>
                        <a:rPr sz="1000" b="0">
                          <a:solidFill>
                            <a:srgbClr val="4B4B4B"/>
                          </a:solidFill>
                          <a:latin typeface="Arial"/>
                        </a:rPr>
                        <a:t>An adjustment is signed only when the cut-off, movement, balance, clearing and opening-period checks are met (FR-DM-024).</a:t>
                      </a:r>
                    </a:p>
                  </a:txBody>
                  <a:tcPr marL="54864" marR="54864" marT="27432" marB="27432">
                    <a:solidFill>
                      <a:srgbClr val="E5F5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1-01-list.png"/>
          <p:cNvPicPr>
            <a:picLocks noChangeAspect="1"/>
          </p:cNvPicPr>
          <p:nvPr/>
        </p:nvPicPr>
        <p:blipFill>
          <a:blip r:embed="rId3"/>
          <a:stretch>
            <a:fillRect/>
          </a:stretch>
        </p:blipFill>
        <p:spPr>
          <a:xfrm>
            <a:off x="548640" y="1261872"/>
            <a:ext cx="11094415" cy="41125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Opening-balance adjustments with their batches and status</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11-02-prepar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Prepare Adjustment dialog</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mock runs, the dress rehearsal and the production cut-over, each a plan with its runbook of tasks planned from the go-live date, the twelve go / no-go criteria and the decisions of the board. Task owners start, complete or block their tasks; the criteria are measured by BIBS or recorded with their evidence; the board decides GO or NO-GO. The runbook downloads as a workbook.</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Cutover</a:t>
                      </a:r>
                    </a:p>
                    <a:p>
                      <a:r>
                        <a:rPr sz="950" b="0">
                          <a:solidFill>
                            <a:srgbClr val="4B4B4B"/>
                          </a:solidFill>
                          <a:latin typeface="Arial"/>
                        </a:rPr>
                        <a:t>Migration Home › Next cut-over tasks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FR-DM-120, FR-DM-121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cut-over follows a rehearsed plan and go-live is decided on measured criteria.</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1" cy="32994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Plans</a:t>
                      </a:r>
                    </a:p>
                  </a:txBody>
                  <a:tcPr marL="54864" marR="54864" marT="27432" marB="27432">
                    <a:solidFill>
                      <a:srgbClr val="FFFFFF"/>
                    </a:solidFill>
                  </a:tcPr>
                </a:tc>
                <a:tc>
                  <a:txBody>
                    <a:bodyPr/>
                    <a:lstStyle/>
                    <a:p>
                      <a:r>
                        <a:rPr sz="850" b="0">
                          <a:solidFill>
                            <a:srgbClr val="4B4B4B"/>
                          </a:solidFill>
                          <a:latin typeface="Arial"/>
                        </a:rPr>
                        <a:t>Plan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plan number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Plans</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Mock run with its number, Dress rehearsal, Production cut-over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Plans</a:t>
                      </a:r>
                    </a:p>
                  </a:txBody>
                  <a:tcPr marL="54864" marR="54864" marT="27432" marB="27432">
                    <a:solidFill>
                      <a:srgbClr val="FFFFFF"/>
                    </a:solidFill>
                  </a:tcPr>
                </a:tc>
                <a:tc>
                  <a:txBody>
                    <a:bodyPr/>
                    <a:lstStyle/>
                    <a:p>
                      <a:r>
                        <a:rPr sz="850" b="0">
                          <a:solidFill>
                            <a:srgbClr val="4B4B4B"/>
                          </a:solidFill>
                          <a:latin typeface="Arial"/>
                        </a:rPr>
                        <a:t>Environment, Go-live,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SIT, UAT, PERF or PROD; 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Cutover Plan</a:t>
                      </a:r>
                    </a:p>
                  </a:txBody>
                  <a:tcPr marL="54864" marR="54864" marT="27432" marB="27432">
                    <a:solidFill>
                      <a:srgbClr val="FFFFFF"/>
                    </a:solidFill>
                  </a:tcPr>
                </a:tc>
                <a:tc>
                  <a:txBody>
                    <a:bodyPr/>
                    <a:lstStyle/>
                    <a:p>
                      <a:r>
                        <a:rPr sz="850" b="0">
                          <a:solidFill>
                            <a:srgbClr val="4B4B4B"/>
                          </a:solidFill>
                          <a:latin typeface="Arial"/>
                        </a:rPr>
                        <a:t>Kind</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Mock run, Dress rehearsal, Production cut-over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Mock No.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or more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For a mock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Cutover Plan</a:t>
                      </a:r>
                    </a:p>
                  </a:txBody>
                  <a:tcPr marL="54864" marR="54864" marT="27432" marB="27432">
                    <a:solidFill>
                      <a:srgbClr val="FFFFFF"/>
                    </a:solidFill>
                  </a:tcPr>
                </a:tc>
                <a:tc>
                  <a:txBody>
                    <a:bodyPr/>
                    <a:lstStyle/>
                    <a:p>
                      <a:r>
                        <a:rPr sz="850" b="0">
                          <a:solidFill>
                            <a:srgbClr val="4B4B4B"/>
                          </a:solidFill>
                          <a:latin typeface="Arial"/>
                        </a:rPr>
                        <a:t>Environment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SIT, UAT, PERF or PROD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Go-live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Give the go-live date of the plan</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Runbook</a:t>
                      </a:r>
                    </a:p>
                  </a:txBody>
                  <a:tcPr marL="54864" marR="54864" marT="27432" marB="27432">
                    <a:solidFill>
                      <a:srgbClr val="FFFFFF"/>
                    </a:solidFill>
                  </a:tcPr>
                </a:tc>
                <a:tc>
                  <a:txBody>
                    <a:bodyPr/>
                    <a:lstStyle/>
                    <a:p>
                      <a:r>
                        <a:rPr sz="850" b="0">
                          <a:solidFill>
                            <a:srgbClr val="4B4B4B"/>
                          </a:solidFill>
                          <a:latin typeface="Arial"/>
                        </a:rPr>
                        <a:t>No., Task, Owner, After, Planned, Actual,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Phase under the task; object under the owner; reason under the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Go / No-Go Criteria</a:t>
                      </a:r>
                    </a:p>
                  </a:txBody>
                  <a:tcPr marL="54864" marR="54864" marT="27432" marB="27432">
                    <a:solidFill>
                      <a:srgbClr val="E5F5FF"/>
                    </a:solidFill>
                  </a:tcPr>
                </a:tc>
                <a:tc>
                  <a:txBody>
                    <a:bodyPr/>
                    <a:lstStyle/>
                    <a:p>
                      <a:r>
                        <a:rPr sz="850" b="0">
                          <a:solidFill>
                            <a:srgbClr val="4B4B4B"/>
                          </a:solidFill>
                          <a:latin typeface="Arial"/>
                        </a:rPr>
                        <a:t>No., Criterion, Kind, Measured, Result</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Threshold under the criterion; Measured or Recorded; Open, Met, Not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Decisions</a:t>
                      </a:r>
                    </a:p>
                  </a:txBody>
                  <a:tcPr marL="54864" marR="54864" marT="27432" marB="27432">
                    <a:solidFill>
                      <a:srgbClr val="FFFFFF"/>
                    </a:solidFill>
                  </a:tcPr>
                </a:tc>
                <a:tc>
                  <a:txBody>
                    <a:bodyPr/>
                    <a:lstStyle/>
                    <a:p>
                      <a:r>
                        <a:rPr sz="850" b="0">
                          <a:solidFill>
                            <a:srgbClr val="4B4B4B"/>
                          </a:solidFill>
                          <a:latin typeface="Arial"/>
                        </a:rPr>
                        <a:t>Decision, Criteria met, Decided by, At, Comment</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GO or NO-GO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graphicFrame>
        <p:nvGraphicFramePr>
          <p:cNvPr id="9" name="Table 8"/>
          <p:cNvGraphicFramePr>
            <a:graphicFrameLocks noGrp="1"/>
          </p:cNvGraphicFramePr>
          <p:nvPr/>
        </p:nvGraphicFramePr>
        <p:xfrm>
          <a:off x="548640" y="1325880"/>
          <a:ext cx="11094412" cy="241552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Plan</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 plan; its runbook tasks and the twelve criteria are created from the go-live date</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Runbook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plan is open</a:t>
                      </a:r>
                    </a:p>
                  </a:txBody>
                  <a:tcPr marL="54864" marR="54864" marT="27432" marB="27432">
                    <a:solidFill>
                      <a:srgbClr val="E5F5FF"/>
                    </a:solidFill>
                  </a:tcPr>
                </a:tc>
                <a:tc>
                  <a:txBody>
                    <a:bodyPr/>
                    <a:lstStyle/>
                    <a:p>
                      <a:r>
                        <a:rPr sz="850" b="0">
                          <a:solidFill>
                            <a:srgbClr val="4B4B4B"/>
                          </a:solidFill>
                          <a:latin typeface="Arial"/>
                        </a:rPr>
                        <a:t>Downloads the runbook workbook of the plan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Measure Criteria</a:t>
                      </a:r>
                    </a:p>
                  </a:txBody>
                  <a:tcPr marL="54864" marR="54864" marT="27432" marB="27432">
                    <a:solidFill>
                      <a:srgbClr val="FFFFFF"/>
                    </a:solidFill>
                  </a:tcPr>
                </a:tc>
                <a:tc>
                  <a:txBody>
                    <a:bodyPr/>
                    <a:lstStyle/>
                    <a:p>
                      <a:r>
                        <a:rPr sz="850" b="0">
                          <a:solidFill>
                            <a:srgbClr val="4B4B4B"/>
                          </a:solidFill>
                          <a:latin typeface="Arial"/>
                        </a:rPr>
                        <a:t>Data Migration Lead or the board</a:t>
                      </a:r>
                    </a:p>
                  </a:txBody>
                  <a:tcPr marL="54864" marR="54864" marT="27432" marB="27432">
                    <a:solidFill>
                      <a:srgbClr val="FFFFFF"/>
                    </a:solidFill>
                  </a:tcPr>
                </a:tc>
                <a:tc>
                  <a:txBody>
                    <a:bodyPr/>
                    <a:lstStyle/>
                    <a:p>
                      <a:r>
                        <a:rPr sz="850" b="0">
                          <a:solidFill>
                            <a:srgbClr val="4B4B4B"/>
                          </a:solidFill>
                          <a:latin typeface="Arial"/>
                        </a:rPr>
                        <a:t>A plan is open</a:t>
                      </a:r>
                    </a:p>
                  </a:txBody>
                  <a:tcPr marL="54864" marR="54864" marT="27432" marB="27432">
                    <a:solidFill>
                      <a:srgbClr val="FFFFFF"/>
                    </a:solidFill>
                  </a:tcPr>
                </a:tc>
                <a:tc>
                  <a:txBody>
                    <a:bodyPr/>
                    <a:lstStyle/>
                    <a:p>
                      <a:r>
                        <a:rPr sz="850" b="0">
                          <a:solidFill>
                            <a:srgbClr val="4B4B4B"/>
                          </a:solidFill>
                          <a:latin typeface="Arial"/>
                        </a:rPr>
                        <a:t>Measures the criteria that BIBS measures (acceptance, counts, financial rejects, amounts, clearing, legacy accounts, client queue)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Start, Done, Block</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Task not started, in progress or blocked</a:t>
                      </a:r>
                    </a:p>
                  </a:txBody>
                  <a:tcPr marL="54864" marR="54864" marT="27432" marB="27432">
                    <a:solidFill>
                      <a:srgbClr val="E5F5FF"/>
                    </a:solidFill>
                  </a:tcPr>
                </a:tc>
                <a:tc>
                  <a:txBody>
                    <a:bodyPr/>
                    <a:lstStyle/>
                    <a:p>
                      <a:r>
                        <a:rPr sz="850" b="0">
                          <a:solidFill>
                            <a:srgbClr val="4B4B4B"/>
                          </a:solidFill>
                          <a:latin typeface="Arial"/>
                        </a:rPr>
                        <a:t>Records the actual start or end; a block needs its reason</a:t>
                      </a:r>
                    </a:p>
                  </a:txBody>
                  <a:tcPr marL="54864" marR="54864" marT="27432" marB="27432">
                    <a:solidFill>
                      <a:srgbClr val="E5F5FF"/>
                    </a:solidFill>
                  </a:tcPr>
                </a:tc>
                <a:tc>
                  <a:txBody>
                    <a:bodyPr/>
                    <a:lstStyle/>
                    <a:p>
                      <a:r>
                        <a:rPr sz="850" b="0">
                          <a:solidFill>
                            <a:srgbClr val="4B4B4B"/>
                          </a:solidFill>
                          <a:latin typeface="Arial"/>
                        </a:rPr>
                        <a:t>In progress, Done, Blocked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Met, Not met</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Recorded criterion</a:t>
                      </a:r>
                    </a:p>
                  </a:txBody>
                  <a:tcPr marL="54864" marR="54864" marT="27432" marB="27432">
                    <a:solidFill>
                      <a:srgbClr val="FFFFFF"/>
                    </a:solidFill>
                  </a:tcPr>
                </a:tc>
                <a:tc>
                  <a:txBody>
                    <a:bodyPr/>
                    <a:lstStyle/>
                    <a:p>
                      <a:r>
                        <a:rPr sz="850" b="0">
                          <a:solidFill>
                            <a:srgbClr val="4B4B4B"/>
                          </a:solidFill>
                          <a:latin typeface="Arial"/>
                        </a:rPr>
                        <a:t>Records a criterion that BIBS does not measure, with its evidence</a:t>
                      </a:r>
                    </a:p>
                  </a:txBody>
                  <a:tcPr marL="54864" marR="54864" marT="27432" marB="27432">
                    <a:solidFill>
                      <a:srgbClr val="FFFFFF"/>
                    </a:solidFill>
                  </a:tcPr>
                </a:tc>
                <a:tc>
                  <a:txBody>
                    <a:bodyPr/>
                    <a:lstStyle/>
                    <a:p>
                      <a:r>
                        <a:rPr sz="850" b="0">
                          <a:solidFill>
                            <a:srgbClr val="4B4B4B"/>
                          </a:solidFill>
                          <a:latin typeface="Arial"/>
                        </a:rPr>
                        <a:t>Met or Not met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GO</a:t>
                      </a:r>
                    </a:p>
                  </a:txBody>
                  <a:tcPr marL="54864" marR="54864" marT="27432" marB="27432">
                    <a:solidFill>
                      <a:srgbClr val="E5F5FF"/>
                    </a:solidFill>
                  </a:tcPr>
                </a:tc>
                <a:tc>
                  <a:txBody>
                    <a:bodyPr/>
                    <a:lstStyle/>
                    <a:p>
                      <a:r>
                        <a:rPr sz="850" b="0">
                          <a:solidFill>
                            <a:srgbClr val="4B4B4B"/>
                          </a:solidFill>
                          <a:latin typeface="Arial"/>
                        </a:rPr>
                        <a:t>Go / no-go board</a:t>
                      </a:r>
                    </a:p>
                  </a:txBody>
                  <a:tcPr marL="54864" marR="54864" marT="27432" marB="27432">
                    <a:solidFill>
                      <a:srgbClr val="E5F5FF"/>
                    </a:solidFill>
                  </a:tcPr>
                </a:tc>
                <a:tc>
                  <a:txBody>
                    <a:bodyPr/>
                    <a:lstStyle/>
                    <a:p>
                      <a:r>
                        <a:rPr sz="850" b="0">
                          <a:solidFill>
                            <a:srgbClr val="4B4B4B"/>
                          </a:solidFill>
                          <a:latin typeface="Arial"/>
                        </a:rPr>
                        <a:t>A plan is open</a:t>
                      </a:r>
                    </a:p>
                  </a:txBody>
                  <a:tcPr marL="54864" marR="54864" marT="27432" marB="27432">
                    <a:solidFill>
                      <a:srgbClr val="E5F5FF"/>
                    </a:solidFill>
                  </a:tcPr>
                </a:tc>
                <a:tc>
                  <a:txBody>
                    <a:bodyPr/>
                    <a:lstStyle/>
                    <a:p>
                      <a:r>
                        <a:rPr sz="850" b="0">
                          <a:solidFill>
                            <a:srgbClr val="4B4B4B"/>
                          </a:solidFill>
                          <a:latin typeface="Arial"/>
                        </a:rPr>
                        <a:t>Records GO; when a criterion is not met the justification is mandatory; on the production plan it signs gate G7</a:t>
                      </a:r>
                    </a:p>
                  </a:txBody>
                  <a:tcPr marL="54864" marR="54864" marT="27432" marB="27432">
                    <a:solidFill>
                      <a:srgbClr val="E5F5FF"/>
                    </a:solidFill>
                  </a:tcPr>
                </a:tc>
                <a:tc>
                  <a:txBody>
                    <a:bodyPr/>
                    <a:lstStyle/>
                    <a:p>
                      <a:r>
                        <a:rPr sz="850" b="0">
                          <a:solidFill>
                            <a:srgbClr val="4B4B4B"/>
                          </a:solidFill>
                          <a:latin typeface="Arial"/>
                        </a:rPr>
                        <a:t>GO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NO-GO</a:t>
                      </a:r>
                    </a:p>
                  </a:txBody>
                  <a:tcPr marL="54864" marR="54864" marT="27432" marB="27432">
                    <a:solidFill>
                      <a:srgbClr val="FFFFFF"/>
                    </a:solidFill>
                  </a:tcPr>
                </a:tc>
                <a:tc>
                  <a:txBody>
                    <a:bodyPr/>
                    <a:lstStyle/>
                    <a:p>
                      <a:r>
                        <a:rPr sz="850" b="0">
                          <a:solidFill>
                            <a:srgbClr val="4B4B4B"/>
                          </a:solidFill>
                          <a:latin typeface="Arial"/>
                        </a:rPr>
                        <a:t>Go / no-go board</a:t>
                      </a:r>
                    </a:p>
                  </a:txBody>
                  <a:tcPr marL="54864" marR="54864" marT="27432" marB="27432">
                    <a:solidFill>
                      <a:srgbClr val="FFFFFF"/>
                    </a:solidFill>
                  </a:tcPr>
                </a:tc>
                <a:tc>
                  <a:txBody>
                    <a:bodyPr/>
                    <a:lstStyle/>
                    <a:p>
                      <a:r>
                        <a:rPr sz="850" b="0">
                          <a:solidFill>
                            <a:srgbClr val="4B4B4B"/>
                          </a:solidFill>
                          <a:latin typeface="Arial"/>
                        </a:rPr>
                        <a:t>A plan is open</a:t>
                      </a:r>
                    </a:p>
                  </a:txBody>
                  <a:tcPr marL="54864" marR="54864" marT="27432" marB="27432">
                    <a:solidFill>
                      <a:srgbClr val="FFFFFF"/>
                    </a:solidFill>
                  </a:tcPr>
                </a:tc>
                <a:tc>
                  <a:txBody>
                    <a:bodyPr/>
                    <a:lstStyle/>
                    <a:p>
                      <a:r>
                        <a:rPr sz="850" b="0">
                          <a:solidFill>
                            <a:srgbClr val="4B4B4B"/>
                          </a:solidFill>
                          <a:latin typeface="Arial"/>
                        </a:rPr>
                        <a:t>Records NO-GO with the reason; the cut-over stops and rolls back to the snapshot</a:t>
                      </a:r>
                    </a:p>
                  </a:txBody>
                  <a:tcPr marL="54864" marR="54864" marT="27432" marB="27432">
                    <a:solidFill>
                      <a:srgbClr val="FFFFFF"/>
                    </a:solidFill>
                  </a:tcPr>
                </a:tc>
                <a:tc>
                  <a:txBody>
                    <a:bodyPr/>
                    <a:lstStyle/>
                    <a:p>
                      <a:r>
                        <a:rPr sz="850" b="0">
                          <a:solidFill>
                            <a:srgbClr val="4B4B4B"/>
                          </a:solidFill>
                          <a:latin typeface="Arial"/>
                        </a:rPr>
                        <a:t>NO-GO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task starts only when the tasks it depends on are done (FR-DM-120).</a:t>
                      </a:r>
                    </a:p>
                  </a:txBody>
                  <a:tcPr marL="54864" marR="54864" marT="27432" marB="27432">
                    <a:solidFill>
                      <a:srgbClr val="FFFFFF"/>
                    </a:solidFill>
                  </a:tcPr>
                </a:tc>
              </a:tr>
              <a:tr h="243840">
                <a:tc>
                  <a:txBody>
                    <a:bodyPr/>
                    <a:lstStyle/>
                    <a:p>
                      <a:r>
                        <a:rPr sz="1000" b="0">
                          <a:solidFill>
                            <a:srgbClr val="4B4B4B"/>
                          </a:solidFill>
                          <a:latin typeface="Arial"/>
                        </a:rPr>
                        <a:t>Criteria measured by BIBS cannot be recorded by hand (FR-DM-121).</a:t>
                      </a:r>
                    </a:p>
                  </a:txBody>
                  <a:tcPr marL="54864" marR="54864" marT="27432" marB="27432">
                    <a:solidFill>
                      <a:srgbClr val="E5F5FF"/>
                    </a:solidFill>
                  </a:tcPr>
                </a:tc>
              </a:tr>
              <a:tr h="243840">
                <a:tc>
                  <a:txBody>
                    <a:bodyPr/>
                    <a:lstStyle/>
                    <a:p>
                      <a:r>
                        <a:rPr sz="1000" b="0">
                          <a:solidFill>
                            <a:srgbClr val="4B4B4B"/>
                          </a:solidFill>
                          <a:latin typeface="Arial"/>
                        </a:rPr>
                        <a:t>A GO with criteria not met needs the board's justification; the financial and clearing criteria of the go-live decision are never waived (FR-DM-121).</a:t>
                      </a:r>
                    </a:p>
                  </a:txBody>
                  <a:tcPr marL="54864" marR="54864" marT="27432" marB="27432">
                    <a:solidFill>
                      <a:srgbClr val="FFFFFF"/>
                    </a:solidFill>
                  </a:tcPr>
                </a:tc>
              </a:tr>
              <a:tr h="243840">
                <a:tc>
                  <a:txBody>
                    <a:bodyPr/>
                    <a:lstStyle/>
                    <a:p>
                      <a:r>
                        <a:rPr sz="1000" b="0">
                          <a:solidFill>
                            <a:srgbClr val="4B4B4B"/>
                          </a:solidFill>
                          <a:latin typeface="Arial"/>
                        </a:rPr>
                        <a:t>Until the go / no-go decision the rollback restores the snapshot taken before the production load (FR-DM-121).</a:t>
                      </a:r>
                    </a:p>
                  </a:txBody>
                  <a:tcPr marL="54864" marR="54864" marT="27432" marB="27432">
                    <a:solidFill>
                      <a:srgbClr val="E5F5FF"/>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6.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1 of 5)</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7.png"/>
          <p:cNvPicPr>
            <a:picLocks noChangeAspect="1"/>
          </p:cNvPicPr>
          <p:nvPr/>
        </p:nvPicPr>
        <p:blipFill>
          <a:blip r:embed="rId3"/>
          <a:stretch>
            <a:fillRect/>
          </a:stretch>
        </p:blipFill>
        <p:spPr>
          <a:xfrm>
            <a:off x="548640" y="1261872"/>
            <a:ext cx="11094415" cy="41938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2 of 5)</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8.png"/>
          <p:cNvPicPr>
            <a:picLocks noChangeAspect="1"/>
          </p:cNvPicPr>
          <p:nvPr/>
        </p:nvPicPr>
        <p:blipFill>
          <a:blip r:embed="rId3"/>
          <a:stretch>
            <a:fillRect/>
          </a:stretch>
        </p:blipFill>
        <p:spPr>
          <a:xfrm>
            <a:off x="548640" y="1261872"/>
            <a:ext cx="11094415" cy="448080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3 of 5)</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4 of 5)</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0.png"/>
          <p:cNvPicPr>
            <a:picLocks noChangeAspect="1"/>
          </p:cNvPicPr>
          <p:nvPr/>
        </p:nvPicPr>
        <p:blipFill>
          <a:blip r:embed="rId3"/>
          <a:stretch>
            <a:fillRect/>
          </a:stretch>
        </p:blipFill>
        <p:spPr>
          <a:xfrm>
            <a:off x="548640" y="1261872"/>
            <a:ext cx="11094415" cy="89903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5 of 5)</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2-03-new.png"/>
          <p:cNvPicPr>
            <a:picLocks noChangeAspect="1"/>
          </p:cNvPicPr>
          <p:nvPr/>
        </p:nvPicPr>
        <p:blipFill>
          <a:blip r:embed="rId3"/>
          <a:stretch>
            <a:fillRect/>
          </a:stretch>
        </p:blipFill>
        <p:spPr>
          <a:xfrm>
            <a:off x="667072" y="1261872"/>
            <a:ext cx="1085755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Cutover Plan dialog</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1.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1 of 4)</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2.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2 of 4)</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3 of 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4.png"/>
          <p:cNvPicPr>
            <a:picLocks noChangeAspect="1"/>
          </p:cNvPicPr>
          <p:nvPr/>
        </p:nvPicPr>
        <p:blipFill>
          <a:blip r:embed="rId3"/>
          <a:stretch>
            <a:fillRect/>
          </a:stretch>
        </p:blipFill>
        <p:spPr>
          <a:xfrm>
            <a:off x="548640" y="1261872"/>
            <a:ext cx="11094415" cy="3347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4 of 4)</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Run-off and Decommissioning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monthly run-off of the legacy policies in force at go-live by expiry month and source system (renewed in BIBS, not renewed, lapsed, still open), and the checklists that close each legacy system and, once every legacy item is settled, the legacy context of BIBS.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Run-off and Decommissioning</a:t>
                      </a:r>
                    </a:p>
                    <a:p>
                      <a:r>
                        <a:rPr sz="950" b="0">
                          <a:solidFill>
                            <a:srgbClr val="4B4B4B"/>
                          </a:solidFill>
                          <a:latin typeface="Arial"/>
                        </a:rPr>
                        <a:t>Migration Home › Run-off of the legacy policies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FR-DM-122, FR-DM-123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run-off of the legacy policies is visible month by month and each legacy system is closed against a signed checklist.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276604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Run-off</a:t>
                      </a:r>
                    </a:p>
                  </a:txBody>
                  <a:tcPr marL="54864" marR="54864" marT="27432" marB="27432">
                    <a:solidFill>
                      <a:srgbClr val="FFFFFF"/>
                    </a:solidFill>
                  </a:tcPr>
                </a:tc>
                <a:tc>
                  <a:txBody>
                    <a:bodyPr/>
                    <a:lstStyle/>
                    <a:p>
                      <a:r>
                        <a:rPr sz="850" b="0">
                          <a:solidFill>
                            <a:srgbClr val="4B4B4B"/>
                          </a:solidFill>
                          <a:latin typeface="Arial"/>
                        </a:rPr>
                        <a:t>Expiry Month, System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yyyy-MM; EBIX, QPS, ISYS, CMS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Run-off</a:t>
                      </a:r>
                    </a:p>
                  </a:txBody>
                  <a:tcPr marL="54864" marR="54864" marT="27432" marB="27432">
                    <a:solidFill>
                      <a:srgbClr val="E5F5FF"/>
                    </a:solidFill>
                  </a:tcPr>
                </a:tc>
                <a:tc>
                  <a:txBody>
                    <a:bodyPr/>
                    <a:lstStyle/>
                    <a:p>
                      <a:r>
                        <a:rPr sz="850" b="0">
                          <a:solidFill>
                            <a:srgbClr val="4B4B4B"/>
                          </a:solidFill>
                          <a:latin typeface="Arial"/>
                        </a:rPr>
                        <a:t>In Force, Premium in Force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Run-off</a:t>
                      </a:r>
                    </a:p>
                  </a:txBody>
                  <a:tcPr marL="54864" marR="54864" marT="27432" marB="27432">
                    <a:solidFill>
                      <a:srgbClr val="FFFFFF"/>
                    </a:solidFill>
                  </a:tcPr>
                </a:tc>
                <a:tc>
                  <a:txBody>
                    <a:bodyPr/>
                    <a:lstStyle/>
                    <a:p>
                      <a:r>
                        <a:rPr sz="850" b="0">
                          <a:solidFill>
                            <a:srgbClr val="4B4B4B"/>
                          </a:solidFill>
                          <a:latin typeface="Arial"/>
                        </a:rPr>
                        <a:t>Renewed, Not Renewed, Lapsed, Still Open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Legacy System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EBIX, QPS, ISYS, CMS without an open checklist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checklist of &lt;system&gt; is already open</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Decommissioning Checklists</a:t>
                      </a:r>
                    </a:p>
                  </a:txBody>
                  <a:tcPr marL="54864" marR="54864" marT="27432" marB="27432">
                    <a:solidFill>
                      <a:srgbClr val="FFFFFF"/>
                    </a:solidFill>
                  </a:tcPr>
                </a:tc>
                <a:tc>
                  <a:txBody>
                    <a:bodyPr/>
                    <a:lstStyle/>
                    <a:p>
                      <a:r>
                        <a:rPr sz="850" b="0">
                          <a:solidFill>
                            <a:srgbClr val="4B4B4B"/>
                          </a:solidFill>
                          <a:latin typeface="Arial"/>
                        </a:rPr>
                        <a:t>System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System, or Legacy context; the milestone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Criterion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description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Decommissioning Checklists</a:t>
                      </a:r>
                    </a:p>
                  </a:txBody>
                  <a:tcPr marL="54864" marR="54864" marT="27432" marB="27432">
                    <a:solidFill>
                      <a:srgbClr val="FFFFFF"/>
                    </a:solidFill>
                  </a:tcPr>
                </a:tc>
                <a:tc>
                  <a:txBody>
                    <a:bodyPr/>
                    <a:lstStyle/>
                    <a:p>
                      <a:r>
                        <a:rPr sz="850" b="0">
                          <a:solidFill>
                            <a:srgbClr val="4B4B4B"/>
                          </a:solidFill>
                          <a:latin typeface="Arial"/>
                        </a:rPr>
                        <a:t>Evidence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 who signed and when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Evidence given</a:t>
                      </a:r>
                    </a:p>
                  </a:txBody>
                  <a:tcPr marL="54864" marR="54864" marT="27432" marB="27432">
                    <a:solidFill>
                      <a:srgbClr val="FFFFFF"/>
                    </a:solidFill>
                  </a:tcPr>
                </a:tc>
                <a:tc>
                  <a:txBody>
                    <a:bodyPr/>
                    <a:lstStyle/>
                    <a:p>
                      <a:r>
                        <a:rPr sz="850" b="0">
                          <a:solidFill>
                            <a:srgbClr val="4B4B4B"/>
                          </a:solidFill>
                          <a:latin typeface="Arial"/>
                        </a:rPr>
                        <a:t>Give the evidence of the criterion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Open, Met, Signed, Not applicable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Take Snapshot</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Takes the run-off snapshot of today (it is also taken on the first of each month)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Checklist</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The system has no checklist</a:t>
                      </a:r>
                    </a:p>
                  </a:txBody>
                  <a:tcPr marL="54864" marR="54864" marT="27432" marB="27432">
                    <a:solidFill>
                      <a:srgbClr val="E5F5FF"/>
                    </a:solidFill>
                  </a:tcPr>
                </a:tc>
                <a:tc>
                  <a:txBody>
                    <a:bodyPr/>
                    <a:lstStyle/>
                    <a:p>
                      <a:r>
                        <a:rPr sz="850" b="0">
                          <a:solidFill>
                            <a:srgbClr val="4B4B4B"/>
                          </a:solidFill>
                          <a:latin typeface="Arial"/>
                        </a:rPr>
                        <a:t>Opens the decommissioning checklist of the system</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Met, Sign, Not applicable</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Criterion open or met</a:t>
                      </a:r>
                    </a:p>
                  </a:txBody>
                  <a:tcPr marL="54864" marR="54864" marT="27432" marB="27432">
                    <a:solidFill>
                      <a:srgbClr val="FFFFFF"/>
                    </a:solidFill>
                  </a:tcPr>
                </a:tc>
                <a:tc>
                  <a:txBody>
                    <a:bodyPr/>
                    <a:lstStyle/>
                    <a:p>
                      <a:r>
                        <a:rPr sz="850" b="0">
                          <a:solidFill>
                            <a:srgbClr val="4B4B4B"/>
                          </a:solidFill>
                          <a:latin typeface="Arial"/>
                        </a:rPr>
                        <a:t>Records the criterion with its evidence</a:t>
                      </a:r>
                    </a:p>
                  </a:txBody>
                  <a:tcPr marL="54864" marR="54864" marT="27432" marB="27432">
                    <a:solidFill>
                      <a:srgbClr val="FFFFFF"/>
                    </a:solidFill>
                  </a:tcPr>
                </a:tc>
                <a:tc>
                  <a:txBody>
                    <a:bodyPr/>
                    <a:lstStyle/>
                    <a:p>
                      <a:r>
                        <a:rPr sz="850" b="0">
                          <a:solidFill>
                            <a:srgbClr val="4B4B4B"/>
                          </a:solidFill>
                          <a:latin typeface="Arial"/>
                        </a:rPr>
                        <a:t>Met, Signed or Not applicable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legacy system is decommissioned only when every criterion of its checklist is signed (FR-DM-123).</a:t>
                      </a:r>
                    </a:p>
                  </a:txBody>
                  <a:tcPr marL="54864" marR="54864" marT="27432" marB="27432">
                    <a:solidFill>
                      <a:srgbClr val="FFFFFF"/>
                    </a:solidFill>
                  </a:tcPr>
                </a:tc>
              </a:tr>
              <a:tr h="243840">
                <a:tc>
                  <a:txBody>
                    <a:bodyPr/>
                    <a:lstStyle/>
                    <a:p>
                      <a:r>
                        <a:rPr sz="1000" b="0">
                          <a:solidFill>
                            <a:srgbClr val="4B4B4B"/>
                          </a:solidFill>
                          <a:latin typeface="Arial"/>
                        </a:rPr>
                        <a:t>The legacy context closes when no legacy invoice or unapplied payment is open and the legacy accounts and Migration Clearing are at 0.00 (FR-DM-123).</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Run-off and Decommissioning: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1 of 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Run-off and Decommissioning: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2273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2 of 3)</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Run-off and Decommissioning: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14441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3 of 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Inquiry</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read-only archive of the legacy systems for Audit and Compliance: closed clients, policies, invoices, receipts, remittances, endorsements, claims, GL journals, renewal advices and letters with their documents. The user gives the reason of the inquiry once per session; each search, view, download and export is logged with it. A record opens read-only with all its legacy columns and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Audit / Compliance user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Legacy Inquiry › Legacy Inquiry</a:t>
                      </a:r>
                    </a:p>
                    <a:p>
                      <a:r>
                        <a:rPr sz="950" b="0">
                          <a:solidFill>
                            <a:srgbClr val="4B4B4B"/>
                          </a:solidFill>
                          <a:latin typeface="Arial"/>
                        </a:rPr>
                        <a:t>Sidebar › Data Migration › Legacy Inquiry</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Legacy history stays retrievable with its documents, and every access is logged with its reason.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Reason of the Inquiry</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Reasons of the list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the reason for opening the legacy archive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Reason of the Inquiry</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Audit reference, request or case; up to 500 characters</a:t>
                      </a:r>
                    </a:p>
                  </a:txBody>
                  <a:tcPr marL="54864" marR="54864" marT="27432" marB="27432">
                    <a:solidFill>
                      <a:srgbClr val="E5F5FF"/>
                    </a:solidFill>
                  </a:tcPr>
                </a:tc>
                <a:tc>
                  <a:txBody>
                    <a:bodyPr/>
                    <a:lstStyle/>
                    <a:p>
                      <a:r>
                        <a:rPr sz="850" b="0">
                          <a:solidFill>
                            <a:srgbClr val="4B4B4B"/>
                          </a:solidFill>
                          <a:latin typeface="Arial"/>
                        </a:rPr>
                        <a:t>C</a:t>
                      </a:r>
                    </a:p>
                  </a:txBody>
                  <a:tcPr marL="54864" marR="54864" marT="27432" marB="27432">
                    <a:solidFill>
                      <a:srgbClr val="E5F5FF"/>
                    </a:solidFill>
                  </a:tcPr>
                </a:tc>
                <a:tc>
                  <a:txBody>
                    <a:bodyPr/>
                    <a:lstStyle/>
                    <a:p>
                      <a:r>
                        <a:rPr sz="850" b="0">
                          <a:solidFill>
                            <a:srgbClr val="4B4B4B"/>
                          </a:solidFill>
                          <a:latin typeface="Arial"/>
                        </a:rPr>
                        <a:t>Mandatory for the reason Other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Client Name or No., Policy / Cover No., Invoice No., Receipt No., Claim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a:t>
                      </a:r>
                    </a:p>
                  </a:txBody>
                  <a:tcPr marL="54864" marR="54864" marT="27432" marB="27432">
                    <a:solidFill>
                      <a:srgbClr val="FFFFFF"/>
                    </a:solidFill>
                  </a:tcPr>
                </a:tc>
                <a:tc>
                  <a:txBody>
                    <a:bodyPr/>
                    <a:lstStyle/>
                    <a:p>
                      <a:r>
                        <a:rPr sz="850" b="0">
                          <a:solidFill>
                            <a:srgbClr val="4B4B4B"/>
                          </a:solidFill>
                          <a:latin typeface="Arial"/>
                        </a:rPr>
                        <a:t>At least one criterion</a:t>
                      </a:r>
                    </a:p>
                  </a:txBody>
                  <a:tcPr marL="54864" marR="54864" marT="27432" marB="27432">
                    <a:solidFill>
                      <a:srgbClr val="FFFFFF"/>
                    </a:solidFill>
                  </a:tcPr>
                </a:tc>
                <a:tc>
                  <a:txBody>
                    <a:bodyPr/>
                    <a:lstStyle/>
                    <a:p>
                      <a:r>
                        <a:rPr sz="850" b="0">
                          <a:solidFill>
                            <a:srgbClr val="4B4B4B"/>
                          </a:solidFill>
                          <a:latin typeface="Arial"/>
                        </a:rPr>
                        <a:t>Give a client, policy, invoice, receipt or claim, a record type or a date range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Record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client, policy, invoice, receipt, remittance, endorsement, claim, GL journal, renewal advice, letter, other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Date From, Date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dates</a:t>
                      </a:r>
                    </a:p>
                  </a:txBody>
                  <a:tcPr marL="54864" marR="54864" marT="27432" marB="27432">
                    <a:solidFill>
                      <a:srgbClr val="FFFFFF"/>
                    </a:solidFill>
                  </a:tcPr>
                </a:tc>
                <a:tc>
                  <a:txBody>
                    <a:bodyPr/>
                    <a:lstStyle/>
                    <a:p>
                      <a:r>
                        <a:rPr sz="850" b="0">
                          <a:solidFill>
                            <a:srgbClr val="4B4B4B"/>
                          </a:solidFill>
                          <a:latin typeface="Arial"/>
                        </a:rPr>
                        <a:t>Give the date as yyyy-MM-dd: &lt;value&gt;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Legacy Records</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key; source system and record type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Legacy Records</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legacy client number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Legacy Records</a:t>
                      </a:r>
                    </a:p>
                  </a:txBody>
                  <a:tcPr marL="54864" marR="54864" marT="27432" marB="27432">
                    <a:solidFill>
                      <a:srgbClr val="E5F5FF"/>
                    </a:solidFill>
                  </a:tcPr>
                </a:tc>
                <a:tc>
                  <a:txBody>
                    <a:bodyPr/>
                    <a:lstStyle/>
                    <a:p>
                      <a:r>
                        <a:rPr sz="850" b="0">
                          <a:solidFill>
                            <a:srgbClr val="4B4B4B"/>
                          </a:solidFill>
                          <a:latin typeface="Arial"/>
                        </a:rPr>
                        <a:t>Policy / Invoice / Receipt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invoice, receipt and claim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Legacy Records</a:t>
                      </a:r>
                    </a:p>
                  </a:txBody>
                  <a:tcPr marL="54864" marR="54864" marT="27432" marB="27432">
                    <a:solidFill>
                      <a:srgbClr val="FFFFFF"/>
                    </a:solidFill>
                  </a:tcPr>
                </a:tc>
                <a:tc>
                  <a:txBody>
                    <a:bodyPr/>
                    <a:lstStyle/>
                    <a:p>
                      <a:r>
                        <a:rPr sz="850" b="0">
                          <a:solidFill>
                            <a:srgbClr val="4B4B4B"/>
                          </a:solidFill>
                          <a:latin typeface="Arial"/>
                        </a:rPr>
                        <a:t>Date, Amount, Legacy Status, Documents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currency and amount; status; 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Legacy system, Client, Policy / cover, Invoice, Receipt, Claim</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Date, Period, Amount, Legacy status, Archived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dd-MMM-yyyy; amounts with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Legacy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Every legacy column with its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File, Document, Size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Documents archived with the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Continue</a:t>
                      </a:r>
                    </a:p>
                  </a:txBody>
                  <a:tcPr marL="54864" marR="54864" marT="27432" marB="27432">
                    <a:solidFill>
                      <a:srgbClr val="FFFFFF"/>
                    </a:solidFill>
                  </a:tcPr>
                </a:tc>
                <a:tc>
                  <a:txBody>
                    <a:bodyPr/>
                    <a:lstStyle/>
                    <a:p>
                      <a:r>
                        <a:rPr sz="850" b="0">
                          <a:solidFill>
                            <a:srgbClr val="4B4B4B"/>
                          </a:solidFill>
                          <a:latin typeface="Arial"/>
                        </a:rPr>
                        <a:t>Audit / Compliance user</a:t>
                      </a:r>
                    </a:p>
                  </a:txBody>
                  <a:tcPr marL="54864" marR="54864" marT="27432" marB="27432">
                    <a:solidFill>
                      <a:srgbClr val="FFFFFF"/>
                    </a:solidFill>
                  </a:tcPr>
                </a:tc>
                <a:tc>
                  <a:txBody>
                    <a:bodyPr/>
                    <a:lstStyle/>
                    <a:p>
                      <a:r>
                        <a:rPr sz="850" b="0">
                          <a:solidFill>
                            <a:srgbClr val="4B4B4B"/>
                          </a:solidFill>
                          <a:latin typeface="Arial"/>
                        </a:rPr>
                        <a:t>A reason is chosen (and details for Other)</a:t>
                      </a:r>
                    </a:p>
                  </a:txBody>
                  <a:tcPr marL="54864" marR="54864" marT="27432" marB="27432">
                    <a:solidFill>
                      <a:srgbClr val="FFFFFF"/>
                    </a:solidFill>
                  </a:tcPr>
                </a:tc>
                <a:tc>
                  <a:txBody>
                    <a:bodyPr/>
                    <a:lstStyle/>
                    <a:p>
                      <a:r>
                        <a:rPr sz="850" b="0">
                          <a:solidFill>
                            <a:srgbClr val="4B4B4B"/>
                          </a:solidFill>
                          <a:latin typeface="Arial"/>
                        </a:rPr>
                        <a:t>Keeps the reason for the session and opens the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Audit / Compliance user</a:t>
                      </a:r>
                    </a:p>
                  </a:txBody>
                  <a:tcPr marL="54864" marR="54864" marT="27432" marB="27432">
                    <a:solidFill>
                      <a:srgbClr val="E5F5FF"/>
                    </a:solidFill>
                  </a:tcPr>
                </a:tc>
                <a:tc>
                  <a:txBody>
                    <a:bodyPr/>
                    <a:lstStyle/>
                    <a:p>
                      <a:r>
                        <a:rPr sz="850" b="0">
                          <a:solidFill>
                            <a:srgbClr val="4B4B4B"/>
                          </a:solidFill>
                          <a:latin typeface="Arial"/>
                        </a:rPr>
                        <a:t>At least one criterion</a:t>
                      </a:r>
                    </a:p>
                  </a:txBody>
                  <a:tcPr marL="54864" marR="54864" marT="27432" marB="27432">
                    <a:solidFill>
                      <a:srgbClr val="E5F5FF"/>
                    </a:solidFill>
                  </a:tcPr>
                </a:tc>
                <a:tc>
                  <a:txBody>
                    <a:bodyPr/>
                    <a:lstStyle/>
                    <a:p>
                      <a:r>
                        <a:rPr sz="850" b="0">
                          <a:solidFill>
                            <a:srgbClr val="4B4B4B"/>
                          </a:solidFill>
                          <a:latin typeface="Arial"/>
                        </a:rPr>
                        <a:t>Lists the matching records; the search is logged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Audit / Compliance user with the export right</a:t>
                      </a:r>
                    </a:p>
                  </a:txBody>
                  <a:tcPr marL="54864" marR="54864" marT="27432" marB="27432">
                    <a:solidFill>
                      <a:srgbClr val="FFFFFF"/>
                    </a:solidFill>
                  </a:tcPr>
                </a:tc>
                <a:tc>
                  <a:txBody>
                    <a:bodyPr/>
                    <a:lstStyle/>
                    <a:p>
                      <a:r>
                        <a:rPr sz="850" b="0">
                          <a:solidFill>
                            <a:srgbClr val="4B4B4B"/>
                          </a:solidFill>
                          <a:latin typeface="Arial"/>
                        </a:rPr>
                        <a:t>Records found</a:t>
                      </a:r>
                    </a:p>
                  </a:txBody>
                  <a:tcPr marL="54864" marR="54864" marT="27432" marB="27432">
                    <a:solidFill>
                      <a:srgbClr val="FFFFFF"/>
                    </a:solidFill>
                  </a:tcPr>
                </a:tc>
                <a:tc>
                  <a:txBody>
                    <a:bodyPr/>
                    <a:lstStyle/>
                    <a:p>
                      <a:r>
                        <a:rPr sz="850" b="0">
                          <a:solidFill>
                            <a:srgbClr val="4B4B4B"/>
                          </a:solidFill>
                          <a:latin typeface="Arial"/>
                        </a:rPr>
                        <a:t>Exports the records to Excel, up to 1,000 at a time; the export is logged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Alert Unusual access when a user exports more than 5,000 records in a day</a:t>
                      </a:r>
                    </a:p>
                  </a:txBody>
                  <a:tcPr marL="54864" marR="54864" marT="27432" marB="27432">
                    <a:solidFill>
                      <a:srgbClr val="FFFFFF"/>
                    </a:solidFill>
                  </a:tcPr>
                </a:tc>
              </a:tr>
              <a:tr h="220979">
                <a:tc>
                  <a:txBody>
                    <a:bodyPr/>
                    <a:lstStyle/>
                    <a:p>
                      <a:r>
                        <a:rPr sz="850" b="0">
                          <a:solidFill>
                            <a:srgbClr val="4B4B4B"/>
                          </a:solidFill>
                          <a:latin typeface="Arial"/>
                        </a:rPr>
                        <a:t>Download a document</a:t>
                      </a:r>
                    </a:p>
                  </a:txBody>
                  <a:tcPr marL="54864" marR="54864" marT="27432" marB="27432">
                    <a:solidFill>
                      <a:srgbClr val="E5F5FF"/>
                    </a:solidFill>
                  </a:tcPr>
                </a:tc>
                <a:tc>
                  <a:txBody>
                    <a:bodyPr/>
                    <a:lstStyle/>
                    <a:p>
                      <a:r>
                        <a:rPr sz="850" b="0">
                          <a:solidFill>
                            <a:srgbClr val="4B4B4B"/>
                          </a:solidFill>
                          <a:latin typeface="Arial"/>
                        </a:rPr>
                        <a:t>Audit / Compliance user</a:t>
                      </a:r>
                    </a:p>
                  </a:txBody>
                  <a:tcPr marL="54864" marR="54864" marT="27432" marB="27432">
                    <a:solidFill>
                      <a:srgbClr val="E5F5FF"/>
                    </a:solidFill>
                  </a:tcPr>
                </a:tc>
                <a:tc>
                  <a:txBody>
                    <a:bodyPr/>
                    <a:lstStyle/>
                    <a:p>
                      <a:r>
                        <a:rPr sz="850" b="0">
                          <a:solidFill>
                            <a:srgbClr val="4B4B4B"/>
                          </a:solidFill>
                          <a:latin typeface="Arial"/>
                        </a:rPr>
                        <a:t>Record open</a:t>
                      </a:r>
                    </a:p>
                  </a:txBody>
                  <a:tcPr marL="54864" marR="54864" marT="27432" marB="27432">
                    <a:solidFill>
                      <a:srgbClr val="E5F5FF"/>
                    </a:solidFill>
                  </a:tcPr>
                </a:tc>
                <a:tc>
                  <a:txBody>
                    <a:bodyPr/>
                    <a:lstStyle/>
                    <a:p>
                      <a:r>
                        <a:rPr sz="850" b="0">
                          <a:solidFill>
                            <a:srgbClr val="4B4B4B"/>
                          </a:solidFill>
                          <a:latin typeface="Arial"/>
                        </a:rPr>
                        <a:t>Downloads the document; the download is logged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Close</a:t>
                      </a:r>
                    </a:p>
                  </a:txBody>
                  <a:tcPr marL="54864" marR="54864" marT="27432" marB="27432">
                    <a:solidFill>
                      <a:srgbClr val="FFFFFF"/>
                    </a:solidFill>
                  </a:tcPr>
                </a:tc>
                <a:tc>
                  <a:txBody>
                    <a:bodyPr/>
                    <a:lstStyle/>
                    <a:p>
                      <a:r>
                        <a:rPr sz="850" b="0">
                          <a:solidFill>
                            <a:srgbClr val="4B4B4B"/>
                          </a:solidFill>
                          <a:latin typeface="Arial"/>
                        </a:rPr>
                        <a:t>Audit / Compliance user</a:t>
                      </a:r>
                    </a:p>
                  </a:txBody>
                  <a:tcPr marL="54864" marR="54864" marT="27432" marB="27432">
                    <a:solidFill>
                      <a:srgbClr val="FFFFFF"/>
                    </a:solidFill>
                  </a:tcPr>
                </a:tc>
                <a:tc>
                  <a:txBody>
                    <a:bodyPr/>
                    <a:lstStyle/>
                    <a:p>
                      <a:r>
                        <a:rPr sz="850" b="0">
                          <a:solidFill>
                            <a:srgbClr val="4B4B4B"/>
                          </a:solidFill>
                          <a:latin typeface="Arial"/>
                        </a:rPr>
                        <a:t>Record open</a:t>
                      </a:r>
                    </a:p>
                  </a:txBody>
                  <a:tcPr marL="54864" marR="54864" marT="27432" marB="27432">
                    <a:solidFill>
                      <a:srgbClr val="FFFFFF"/>
                    </a:solidFill>
                  </a:tcPr>
                </a:tc>
                <a:tc>
                  <a:txBody>
                    <a:bodyPr/>
                    <a:lstStyle/>
                    <a:p>
                      <a:r>
                        <a:rPr sz="850" b="0">
                          <a:solidFill>
                            <a:srgbClr val="4B4B4B"/>
                          </a:solidFill>
                          <a:latin typeface="Arial"/>
                        </a:rPr>
                        <a:t>Closes the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legacy archive is read-only; no record or document is changed (FR-DM-110).</a:t>
                      </a:r>
                    </a:p>
                  </a:txBody>
                  <a:tcPr marL="54864" marR="54864" marT="27432" marB="27432">
                    <a:solidFill>
                      <a:srgbClr val="FFFFFF"/>
                    </a:solidFill>
                  </a:tcPr>
                </a:tc>
              </a:tr>
              <a:tr h="243840">
                <a:tc>
                  <a:txBody>
                    <a:bodyPr/>
                    <a:lstStyle/>
                    <a:p>
                      <a:r>
                        <a:rPr sz="1000" b="0">
                          <a:solidFill>
                            <a:srgbClr val="4B4B4B"/>
                          </a:solidFill>
                          <a:latin typeface="Arial"/>
                        </a:rPr>
                        <a:t>A reason is required before the archive is searched and is written with every search, view, download and export (FR-DM-110).</a:t>
                      </a:r>
                    </a:p>
                  </a:txBody>
                  <a:tcPr marL="54864" marR="54864" marT="27432" marB="27432">
                    <a:solidFill>
                      <a:srgbClr val="E5F5FF"/>
                    </a:solidFill>
                  </a:tcPr>
                </a:tc>
              </a:tr>
              <a:tr h="243840">
                <a:tc>
                  <a:txBody>
                    <a:bodyPr/>
                    <a:lstStyle/>
                    <a:p>
                      <a:r>
                        <a:rPr sz="1000" b="0">
                          <a:solidFill>
                            <a:srgbClr val="4B4B4B"/>
                          </a:solidFill>
                          <a:latin typeface="Arial"/>
                        </a:rPr>
                        <a:t>An export is limited to 1,000 records; a narrower search is asked for above it (FR-DM-110).</a:t>
                      </a:r>
                    </a:p>
                  </a:txBody>
                  <a:tcPr marL="54864" marR="54864" marT="27432" marB="27432">
                    <a:solidFill>
                      <a:srgbClr val="FFFFFF"/>
                    </a:solidFill>
                  </a:tcPr>
                </a:tc>
              </a:tr>
              <a:tr h="243840">
                <a:tc>
                  <a:txBody>
                    <a:bodyPr/>
                    <a:lstStyle/>
                    <a:p>
                      <a:r>
                        <a:rPr sz="1000" b="0">
                          <a:solidFill>
                            <a:srgbClr val="4B4B4B"/>
                          </a:solidFill>
                          <a:latin typeface="Arial"/>
                        </a:rPr>
                        <a:t>The addresses of the read-only legacy applications are shown to the users who still need them until each system is decommissioned (FR-DM-110).</a:t>
                      </a:r>
                    </a:p>
                  </a:txBody>
                  <a:tcPr marL="54864" marR="54864" marT="27432" marB="27432">
                    <a:solidFill>
                      <a:srgbClr val="E5F5FF"/>
                    </a:solidFill>
                  </a:tcPr>
                </a:tc>
              </a:tr>
            </a:tbl>
          </a:graphicData>
        </a:graphic>
      </p:graphicFrame>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1-reason.png"/>
          <p:cNvPicPr>
            <a:picLocks noChangeAspect="1"/>
          </p:cNvPicPr>
          <p:nvPr/>
        </p:nvPicPr>
        <p:blipFill>
          <a:blip r:embed="rId3"/>
          <a:stretch>
            <a:fillRect/>
          </a:stretch>
        </p:blipFill>
        <p:spPr>
          <a:xfrm>
            <a:off x="2504922" y="1261872"/>
            <a:ext cx="7181850" cy="28665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Reason of the Inquiry asked once per session</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Search criteria and the legacy records found (part 1 of 2)</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9.png"/>
          <p:cNvPicPr>
            <a:picLocks noChangeAspect="1"/>
          </p:cNvPicPr>
          <p:nvPr/>
        </p:nvPicPr>
        <p:blipFill>
          <a:blip r:embed="rId3"/>
          <a:stretch>
            <a:fillRect/>
          </a:stretch>
        </p:blipFill>
        <p:spPr>
          <a:xfrm>
            <a:off x="548640" y="1261872"/>
            <a:ext cx="11094415" cy="24675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Search criteria and the legacy records found (part 2 of 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1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legacy record (part 1 of 2)</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181.png"/>
          <p:cNvPicPr>
            <a:picLocks noChangeAspect="1"/>
          </p:cNvPicPr>
          <p:nvPr/>
        </p:nvPicPr>
        <p:blipFill>
          <a:blip r:embed="rId3"/>
          <a:stretch>
            <a:fillRect/>
          </a:stretch>
        </p:blipFill>
        <p:spPr>
          <a:xfrm>
            <a:off x="548640" y="1261872"/>
            <a:ext cx="11094415" cy="32422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legacy record (part 2 of 2)</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1 of 3)</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2 of 3)</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4.png"/>
          <p:cNvPicPr>
            <a:picLocks noChangeAspect="1"/>
          </p:cNvPicPr>
          <p:nvPr/>
        </p:nvPicPr>
        <p:blipFill>
          <a:blip r:embed="rId3"/>
          <a:stretch>
            <a:fillRect/>
          </a:stretch>
        </p:blipFill>
        <p:spPr>
          <a:xfrm>
            <a:off x="548640" y="1261872"/>
            <a:ext cx="11094415" cy="38447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3 of 3)</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Inquiry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access to the legacy archive with the user, the time and address, the action, the criteria, the records and the reason, for the Compliance reviewer. The log cannot be changed or deleted; a monthly digest is sent to the reviewers.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Compliance reviewer of the access log</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Legacy Inquiry › Access Log</a:t>
                      </a:r>
                    </a:p>
                    <a:p>
                      <a:r>
                        <a:rPr sz="950" b="0">
                          <a:solidFill>
                            <a:srgbClr val="4B4B4B"/>
                          </a:solidFill>
                          <a:latin typeface="Arial"/>
                        </a:rPr>
                        <a:t>Sidebar › Data Migration › Access Log</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Compliance sees who looked at which legacy records, when and why.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User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Search, View, Download, Export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From,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Log</a:t>
                      </a:r>
                    </a:p>
                  </a:txBody>
                  <a:tcPr marL="54864" marR="54864" marT="27432" marB="27432">
                    <a:solidFill>
                      <a:srgbClr val="E5F5FF"/>
                    </a:solidFill>
                  </a:tcPr>
                </a:tc>
                <a:tc>
                  <a:txBody>
                    <a:bodyPr/>
                    <a:lstStyle/>
                    <a:p>
                      <a:r>
                        <a:rPr sz="850" b="0">
                          <a:solidFill>
                            <a:srgbClr val="4B4B4B"/>
                          </a:solidFill>
                          <a:latin typeface="Arial"/>
                        </a:rPr>
                        <a:t>When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source address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Log</a:t>
                      </a:r>
                    </a:p>
                  </a:txBody>
                  <a:tcPr marL="54864" marR="54864" marT="27432" marB="27432">
                    <a:solidFill>
                      <a:srgbClr val="FFFFFF"/>
                    </a:solidFill>
                  </a:tcPr>
                </a:tc>
                <a:tc>
                  <a:txBody>
                    <a:bodyPr/>
                    <a:lstStyle/>
                    <a:p>
                      <a:r>
                        <a:rPr sz="850" b="0">
                          <a:solidFill>
                            <a:srgbClr val="4B4B4B"/>
                          </a:solidFill>
                          <a:latin typeface="Arial"/>
                        </a:rPr>
                        <a:t>User, 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Search, View, Download or Export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Log</a:t>
                      </a:r>
                    </a:p>
                  </a:txBody>
                  <a:tcPr marL="54864" marR="54864" marT="27432" marB="27432">
                    <a:solidFill>
                      <a:srgbClr val="E5F5FF"/>
                    </a:solidFill>
                  </a:tcPr>
                </a:tc>
                <a:tc>
                  <a:txBody>
                    <a:bodyPr/>
                    <a:lstStyle/>
                    <a:p>
                      <a:r>
                        <a:rPr sz="850" b="0">
                          <a:solidFill>
                            <a:srgbClr val="4B4B4B"/>
                          </a:solidFill>
                          <a:latin typeface="Arial"/>
                        </a:rPr>
                        <a:t>Criteria / Records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Search criteria; record keys under them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Log</a:t>
                      </a:r>
                    </a:p>
                  </a:txBody>
                  <a:tcPr marL="54864" marR="54864" marT="27432" marB="27432">
                    <a:solidFill>
                      <a:srgbClr val="FFFFFF"/>
                    </a:solidFill>
                  </a:tcPr>
                </a:tc>
                <a:tc>
                  <a:txBody>
                    <a:bodyPr/>
                    <a:lstStyle/>
                    <a:p>
                      <a:r>
                        <a:rPr sz="850" b="0">
                          <a:solidFill>
                            <a:srgbClr val="4B4B4B"/>
                          </a:solidFill>
                          <a:latin typeface="Arial"/>
                        </a:rPr>
                        <a:t>Count,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Records returned; reason and details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Compliance reviewer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Narrows the 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No entry of the access log can be changed or deleted (FR-DM-111).</a:t>
                      </a:r>
                    </a:p>
                  </a:txBody>
                  <a:tcPr marL="54864" marR="54864" marT="27432" marB="27432">
                    <a:solidFill>
                      <a:srgbClr val="FFFFFF"/>
                    </a:solidFill>
                  </a:tcPr>
                </a:tc>
              </a:tr>
              <a:tr h="243840">
                <a:tc>
                  <a:txBody>
                    <a:bodyPr/>
                    <a:lstStyle/>
                    <a:p>
                      <a:r>
                        <a:rPr sz="1000" b="0">
                          <a:solidFill>
                            <a:srgbClr val="4B4B4B"/>
                          </a:solidFill>
                          <a:latin typeface="Arial"/>
                        </a:rPr>
                        <a:t>The reviewers receive a monthly digest of the log (FR-DM-111).</a:t>
                      </a:r>
                    </a:p>
                  </a:txBody>
                  <a:tcPr marL="54864" marR="54864" marT="27432" marB="27432">
                    <a:solidFill>
                      <a:srgbClr val="E5F5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Access Log: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dm-15-01-log.png"/>
          <p:cNvPicPr>
            <a:picLocks noChangeAspect="1"/>
          </p:cNvPicPr>
          <p:nvPr/>
        </p:nvPicPr>
        <p:blipFill>
          <a:blip r:embed="rId3"/>
          <a:stretch>
            <a:fillRect/>
          </a:stretch>
        </p:blipFill>
        <p:spPr>
          <a:xfrm>
            <a:off x="1803311" y="1261872"/>
            <a:ext cx="858507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Log with its filters</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Migrated data on the business screens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Records migrated from a legacy system are used with the normal BIBS screens. They are told apart from records created in BIBS by a LEGACY badge next to their number on the lists and records (Clients, Accounts, Invoice Search, Unapplied Payments, the PR Worklist and its accounts, Products, Insurers, Payees), with the source system, the legacy reference and the migration batch in its tooltip, and by the Origin filter of the lists that hold migrated records.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GL lead, Cashiering user, Cashiering team lead, Commission user, Commission team lead, Marketing Account Officer</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a:t>
                      </a:r>
                    </a:p>
                    <a:p>
                      <a:r>
                        <a:rPr sz="950" b="0">
                          <a:solidFill>
                            <a:srgbClr val="4B4B4B"/>
                          </a:solidFill>
                          <a:latin typeface="Arial"/>
                        </a:rPr>
                        <a:t>Client &amp; Policy › Clients › Clients</a:t>
                      </a:r>
                    </a:p>
                    <a:p>
                      <a:r>
                        <a:rPr sz="950" b="0">
                          <a:solidFill>
                            <a:srgbClr val="4B4B4B"/>
                          </a:solidFill>
                          <a:latin typeface="Arial"/>
                        </a:rPr>
                        <a:t>Client &amp; Policy › Accounts &amp; Placement › Accounts</a:t>
                      </a:r>
                    </a:p>
                    <a:p>
                      <a:r>
                        <a:rPr sz="950" b="0">
                          <a:solidFill>
                            <a:srgbClr val="4B4B4B"/>
                          </a:solidFill>
                          <a:latin typeface="Arial"/>
                        </a:rPr>
                        <a:t>Operations › Operations › Invoice Search</a:t>
                      </a:r>
                    </a:p>
                    <a:p>
                      <a:r>
                        <a:rPr sz="950" b="0">
                          <a:solidFill>
                            <a:srgbClr val="4B4B4B"/>
                          </a:solidFill>
                          <a:latin typeface="Arial"/>
                        </a:rPr>
                        <a:t>Finance › Cashiering › Unapplied Payments</a:t>
                      </a:r>
                    </a:p>
                    <a:p>
                      <a:r>
                        <a:rPr sz="950" b="0">
                          <a:solidFill>
                            <a:srgbClr val="4B4B4B"/>
                          </a:solidFill>
                          <a:latin typeface="Arial"/>
                        </a:rPr>
                        <a:t>Finance › Collections › PR Worklist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FR-DM-032, FR-DM-033, FR-DM-040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Users work migrated and new records on the same screens and always know which is which.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Every list with migrated records</a:t>
                      </a:r>
                    </a:p>
                  </a:txBody>
                  <a:tcPr marL="54864" marR="54864" marT="27432" marB="27432">
                    <a:solidFill>
                      <a:srgbClr val="FFFFFF"/>
                    </a:solidFill>
                  </a:tcPr>
                </a:tc>
                <a:tc>
                  <a:txBody>
                    <a:bodyPr/>
                    <a:lstStyle/>
                    <a:p>
                      <a:r>
                        <a:rPr sz="850" b="0">
                          <a:solidFill>
                            <a:srgbClr val="4B4B4B"/>
                          </a:solidFill>
                          <a:latin typeface="Arial"/>
                        </a:rPr>
                        <a:t>LEGACY</a:t>
                      </a:r>
                    </a:p>
                  </a:txBody>
                  <a:tcPr marL="54864" marR="54864" marT="27432" marB="27432">
                    <a:solidFill>
                      <a:srgbClr val="FFFFFF"/>
                    </a:solidFill>
                  </a:tcPr>
                </a:tc>
                <a:tc>
                  <a:txBody>
                    <a:bodyPr/>
                    <a:lstStyle/>
                    <a:p>
                      <a:r>
                        <a:rPr sz="850" b="0">
                          <a:solidFill>
                            <a:srgbClr val="4B4B4B"/>
                          </a:solidFill>
                          <a:latin typeface="Arial"/>
                        </a:rPr>
                        <a:t>Badge</a:t>
                      </a:r>
                    </a:p>
                  </a:txBody>
                  <a:tcPr marL="54864" marR="54864" marT="27432" marB="27432">
                    <a:solidFill>
                      <a:srgbClr val="FFFFFF"/>
                    </a:solidFill>
                  </a:tcPr>
                </a:tc>
                <a:tc>
                  <a:txBody>
                    <a:bodyPr/>
                    <a:lstStyle/>
                    <a:p>
                      <a:r>
                        <a:rPr sz="850" b="0">
                          <a:solidFill>
                            <a:srgbClr val="4B4B4B"/>
                          </a:solidFill>
                          <a:latin typeface="Arial"/>
                        </a:rPr>
                        <a:t>Next to the number; tooltip: Migrated from &lt;system&gt;, legacy reference &lt;ref&gt;, batch &lt;batch&gt;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with the Origin filter</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origins, BIBS, Migrated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Client search</a:t>
                      </a:r>
                    </a:p>
                  </a:txBody>
                  <a:tcPr marL="54864" marR="54864" marT="27432" marB="27432">
                    <a:solidFill>
                      <a:srgbClr val="FFFFFF"/>
                    </a:solidFill>
                  </a:tcPr>
                </a:tc>
                <a:tc>
                  <a:txBody>
                    <a:bodyPr/>
                    <a:lstStyle/>
                    <a:p>
                      <a:r>
                        <a:rPr sz="850" b="0">
                          <a:solidFill>
                            <a:srgbClr val="4B4B4B"/>
                          </a:solidFill>
                          <a:latin typeface="Arial"/>
                        </a:rPr>
                        <a:t>Legacy client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legacy client number finds the BIBS client it was merged into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search</a:t>
                      </a:r>
                    </a:p>
                  </a:txBody>
                  <a:tcPr marL="54864" marR="54864" marT="27432" marB="27432">
                    <a:solidFill>
                      <a:srgbClr val="E5F5FF"/>
                    </a:solidFill>
                  </a:tcPr>
                </a:tc>
                <a:tc>
                  <a:txBody>
                    <a:bodyPr/>
                    <a:lstStyle/>
                    <a:p>
                      <a:r>
                        <a:rPr sz="850" b="0">
                          <a:solidFill>
                            <a:srgbClr val="4B4B4B"/>
                          </a:solidFill>
                          <a:latin typeface="Arial"/>
                        </a:rPr>
                        <a:t>Legacy policy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 legacy policy number finds the migrated policy header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and filters</a:t>
                      </a:r>
                    </a:p>
                  </a:txBody>
                  <a:tcPr marL="54864" marR="54864" marT="27432" marB="27432">
                    <a:solidFill>
                      <a:srgbClr val="FFFFFF"/>
                    </a:solidFill>
                  </a:tcPr>
                </a:tc>
                <a:tc>
                  <a:txBody>
                    <a:bodyPr/>
                    <a:lstStyle/>
                    <a:p>
                      <a:r>
                        <a:rPr sz="850" b="0">
                          <a:solidFill>
                            <a:srgbClr val="4B4B4B"/>
                          </a:solidFill>
                          <a:latin typeface="Arial"/>
                        </a:rPr>
                        <a:t>Users of each list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Find migrated records by their BIBS or legacy number, or only the migrated or BIBS records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migrated record keeps the origin Migrated, its source system, legacy reference and migration batch (FR-DM-032).</a:t>
                      </a:r>
                    </a:p>
                  </a:txBody>
                  <a:tcPr marL="54864" marR="54864" marT="27432" marB="27432">
                    <a:solidFill>
                      <a:srgbClr val="FFFFFF"/>
                    </a:solidFill>
                  </a:tcPr>
                </a:tc>
              </a:tr>
              <a:tr h="243840">
                <a:tc>
                  <a:txBody>
                    <a:bodyPr/>
                    <a:lstStyle/>
                    <a:p>
                      <a:r>
                        <a:rPr sz="1000" b="0">
                          <a:solidFill>
                            <a:srgbClr val="4B4B4B"/>
                          </a:solidFill>
                          <a:latin typeface="Arial"/>
                        </a:rPr>
                        <a:t>Migrated records raise no notification to clients or insurers and no outbound integration message (FR-DM-014).</a:t>
                      </a:r>
                    </a:p>
                  </a:txBody>
                  <a:tcPr marL="54864" marR="54864" marT="27432" marB="27432">
                    <a:solidFill>
                      <a:srgbClr val="E5F5FF"/>
                    </a:solidFill>
                  </a:tcPr>
                </a:tc>
              </a:tr>
              <a:tr h="243840">
                <a:tc>
                  <a:txBody>
                    <a:bodyPr/>
                    <a:lstStyle/>
                    <a:p>
                      <a:r>
                        <a:rPr sz="1000" b="0">
                          <a:solidFill>
                            <a:srgbClr val="4B4B4B"/>
                          </a:solidFill>
                          <a:latin typeface="Arial"/>
                        </a:rPr>
                        <a:t>A migrated client is found by any of its legacy client numbers (FR-DM-033).</a:t>
                      </a:r>
                    </a:p>
                  </a:txBody>
                  <a:tcPr marL="54864" marR="54864" marT="27432" marB="27432">
                    <a:solidFill>
                      <a:srgbClr val="FFFF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LEGACY badge and Origin filter on the lists: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44999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list with a migrated client marked LEGACY (part 1 of 2)</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LEGACY badge and Origin filter on the lists: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6.png"/>
          <p:cNvPicPr>
            <a:picLocks noChangeAspect="1"/>
          </p:cNvPicPr>
          <p:nvPr/>
        </p:nvPicPr>
        <p:blipFill>
          <a:blip r:embed="rId3"/>
          <a:stretch>
            <a:fillRect/>
          </a:stretch>
        </p:blipFill>
        <p:spPr>
          <a:xfrm>
            <a:off x="548640" y="1261872"/>
            <a:ext cx="11094415" cy="21949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list with a migrated client marked LEGACY (part 2 of 2)</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LEGACY badge and Origin filter on the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6-02-unapplied.png"/>
          <p:cNvPicPr>
            <a:picLocks noChangeAspect="1"/>
          </p:cNvPicPr>
          <p:nvPr/>
        </p:nvPicPr>
        <p:blipFill>
          <a:blip r:embed="rId3"/>
          <a:stretch>
            <a:fillRect/>
          </a:stretch>
        </p:blipFill>
        <p:spPr>
          <a:xfrm>
            <a:off x="1383629" y="1261872"/>
            <a:ext cx="94244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Origin filter set to Migrated</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Legacy invoice on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Migrated data on the business screens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An open legacy invoice is carried into the BIBS Operations ledger with its open balances and processed like a BIBS invoice. Invoice 360 shows its LEGACY badge and legacy invoice number, and a Legacy Invoice card with the source system, the legacy reference, the migration batch and the values at cut-over, kept as loaded: the original gross premium, commission and VAT, and per component what was booked, adjusted, paid and remitted in legacy, written off and open at cut-over.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GL lead, Cashiering user, Cashiering team lead, Commission user, Commission team lead, Marketing Account Officer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Operations › Operations › Invoice Search › a legacy invoice</a:t>
                      </a:r>
                    </a:p>
                    <a:p>
                      <a:r>
                        <a:rPr sz="950" b="0">
                          <a:solidFill>
                            <a:srgbClr val="4B4B4B"/>
                          </a:solidFill>
                          <a:latin typeface="Arial"/>
                        </a:rPr>
                        <a:t>PR Worklist › a legacy item</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FR-DM-050, FR-DM-051, FR-DM-060, FR-DM-100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what was open at cut-over and what has happened in BIBS since, on one screen.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1" cy="289558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LEGACY</a:t>
                      </a:r>
                    </a:p>
                  </a:txBody>
                  <a:tcPr marL="54864" marR="54864" marT="27432" marB="27432">
                    <a:solidFill>
                      <a:srgbClr val="FFFFFF"/>
                    </a:solidFill>
                  </a:tcPr>
                </a:tc>
                <a:tc>
                  <a:txBody>
                    <a:bodyPr/>
                    <a:lstStyle/>
                    <a:p>
                      <a:r>
                        <a:rPr sz="850" b="0">
                          <a:solidFill>
                            <a:srgbClr val="4B4B4B"/>
                          </a:solidFill>
                          <a:latin typeface="Arial"/>
                        </a:rPr>
                        <a:t>Badge</a:t>
                      </a:r>
                    </a:p>
                  </a:txBody>
                  <a:tcPr marL="54864" marR="54864" marT="27432" marB="27432">
                    <a:solidFill>
                      <a:srgbClr val="FFFFFF"/>
                    </a:solidFill>
                  </a:tcPr>
                </a:tc>
                <a:tc>
                  <a:txBody>
                    <a:bodyPr/>
                    <a:lstStyle/>
                    <a:p>
                      <a:r>
                        <a:rPr sz="850" b="0">
                          <a:solidFill>
                            <a:srgbClr val="4B4B4B"/>
                          </a:solidFill>
                          <a:latin typeface="Arial"/>
                        </a:rPr>
                        <a:t>Next to the invoice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Chip</a:t>
                      </a:r>
                    </a:p>
                  </a:txBody>
                  <a:tcPr marL="54864" marR="54864" marT="27432" marB="27432">
                    <a:solidFill>
                      <a:srgbClr val="E5F5FF"/>
                    </a:solidFill>
                  </a:tcPr>
                </a:tc>
                <a:tc>
                  <a:txBody>
                    <a:bodyPr/>
                    <a:lstStyle/>
                    <a:p>
                      <a:r>
                        <a:rPr sz="850" b="0">
                          <a:solidFill>
                            <a:srgbClr val="4B4B4B"/>
                          </a:solidFill>
                          <a:latin typeface="Arial"/>
                        </a:rPr>
                        <a:t>Legacy invoice number when it differs from the BIBS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Source System, Legacy Invoice No., Legacy Reference, Legacy Service Invoice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Invoice Date, Due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Original Gross Premium, Original Commission / VAT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Commission Realised in Legacy, Deferred VAT Open</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Insurer Shares, Migration Batch</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Legacy positions at cut-over</a:t>
                      </a:r>
                    </a:p>
                  </a:txBody>
                  <a:tcPr marL="54864" marR="54864" marT="27432" marB="27432">
                    <a:solidFill>
                      <a:srgbClr val="E5F5FF"/>
                    </a:solidFill>
                  </a:tcPr>
                </a:tc>
                <a:tc>
                  <a:txBody>
                    <a:bodyPr/>
                    <a:lstStyle/>
                    <a:p>
                      <a:r>
                        <a:rPr sz="850" b="0">
                          <a:solidFill>
                            <a:srgbClr val="4B4B4B"/>
                          </a:solidFill>
                          <a:latin typeface="Arial"/>
                        </a:rPr>
                        <a:t>Component, Booked, Adjusted, Paid in Legacy, Remitted in Legacy, Written Off, Open at Cut-over</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One row per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The actions of Invoice 360</a:t>
                      </a:r>
                    </a:p>
                  </a:txBody>
                  <a:tcPr marL="54864" marR="54864" marT="27432" marB="27432">
                    <a:solidFill>
                      <a:srgbClr val="FFFFFF"/>
                    </a:solidFill>
                  </a:tcPr>
                </a:tc>
                <a:tc>
                  <a:txBody>
                    <a:bodyPr/>
                    <a:lstStyle/>
                    <a:p>
                      <a:r>
                        <a:rPr sz="850" b="0">
                          <a:solidFill>
                            <a:srgbClr val="4B4B4B"/>
                          </a:solidFill>
                          <a:latin typeface="Arial"/>
                        </a:rPr>
                        <a:t>Users of Invoice 360</a:t>
                      </a:r>
                    </a:p>
                  </a:txBody>
                  <a:tcPr marL="54864" marR="54864" marT="27432" marB="27432">
                    <a:solidFill>
                      <a:srgbClr val="FFFFFF"/>
                    </a:solidFill>
                  </a:tcPr>
                </a:tc>
                <a:tc>
                  <a:txBody>
                    <a:bodyPr/>
                    <a:lstStyle/>
                    <a:p>
                      <a:r>
                        <a:rPr sz="850" b="0">
                          <a:solidFill>
                            <a:srgbClr val="4B4B4B"/>
                          </a:solidFill>
                          <a:latin typeface="Arial"/>
                        </a:rPr>
                        <a:t>As for a BIBS invoice</a:t>
                      </a:r>
                    </a:p>
                  </a:txBody>
                  <a:tcPr marL="54864" marR="54864" marT="27432" marB="27432">
                    <a:solidFill>
                      <a:srgbClr val="FFFFFF"/>
                    </a:solidFill>
                  </a:tcPr>
                </a:tc>
                <a:tc>
                  <a:txBody>
                    <a:bodyPr/>
                    <a:lstStyle/>
                    <a:p>
                      <a:r>
                        <a:rPr sz="850" b="0">
                          <a:solidFill>
                            <a:srgbClr val="4B4B4B"/>
                          </a:solidFill>
                          <a:latin typeface="Arial"/>
                        </a:rPr>
                        <a:t>Payments, automatch, refunds, reclassifications, remittance and endorsements work on the legacy invoice; its postings go to the legacy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legacy invoice is not re-booked; it keeps its legacy number and its postings go to the legacy control accounts (FR-DM-050).</a:t>
                      </a:r>
                    </a:p>
                  </a:txBody>
                  <a:tcPr marL="54864" marR="54864" marT="27432" marB="27432">
                    <a:solidFill>
                      <a:srgbClr val="FFFFFF"/>
                    </a:solidFill>
                  </a:tcPr>
                </a:tc>
              </a:tr>
              <a:tr h="243840">
                <a:tc>
                  <a:txBody>
                    <a:bodyPr/>
                    <a:lstStyle/>
                    <a:p>
                      <a:r>
                        <a:rPr sz="1000" b="0">
                          <a:solidFill>
                            <a:srgbClr val="4B4B4B"/>
                          </a:solidFill>
                          <a:latin typeface="Arial"/>
                        </a:rPr>
                        <a:t>The values at cut-over are never changed; the report Changes to Legacy Invoices compares every later change with them (FR-DM-100).</a:t>
                      </a:r>
                    </a:p>
                  </a:txBody>
                  <a:tcPr marL="54864" marR="54864" marT="27432" marB="27432">
                    <a:solidFill>
                      <a:srgbClr val="E5F5FF"/>
                    </a:solidFill>
                  </a:tcPr>
                </a:tc>
              </a:tr>
              <a:tr h="243840">
                <a:tc>
                  <a:txBody>
                    <a:bodyPr/>
                    <a:lstStyle/>
                    <a:p>
                      <a:r>
                        <a:rPr sz="1000" b="0">
                          <a:solidFill>
                            <a:srgbClr val="4B4B4B"/>
                          </a:solidFill>
                          <a:latin typeface="Arial"/>
                        </a:rPr>
                        <a:t>When legacy could give only the open balances, the card says so and the original amounts are blank (FR-DM-050).</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Legacy invoice on Invoice 360: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7.png"/>
          <p:cNvPicPr>
            <a:picLocks noChangeAspect="1"/>
          </p:cNvPicPr>
          <p:nvPr/>
        </p:nvPicPr>
        <p:blipFill>
          <a:blip r:embed="rId3"/>
          <a:stretch>
            <a:fillRect/>
          </a:stretch>
        </p:blipFill>
        <p:spPr>
          <a:xfrm>
            <a:off x="548640" y="1261872"/>
            <a:ext cx="11094415" cy="394478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1 of 3)</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Legacy invoice on Invoice 360: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8.png"/>
          <p:cNvPicPr>
            <a:picLocks noChangeAspect="1"/>
          </p:cNvPicPr>
          <p:nvPr/>
        </p:nvPicPr>
        <p:blipFill>
          <a:blip r:embed="rId3"/>
          <a:stretch>
            <a:fillRect/>
          </a:stretch>
        </p:blipFill>
        <p:spPr>
          <a:xfrm>
            <a:off x="548640" y="1261872"/>
            <a:ext cx="11094415" cy="47337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2 of 3)</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Legacy invoice on Invoice 360: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9.png"/>
          <p:cNvPicPr>
            <a:picLocks noChangeAspect="1"/>
          </p:cNvPicPr>
          <p:nvPr/>
        </p:nvPicPr>
        <p:blipFill>
          <a:blip r:embed="rId3"/>
          <a:stretch>
            <a:fillRect/>
          </a:stretch>
        </p:blipFill>
        <p:spPr>
          <a:xfrm>
            <a:off x="548640" y="1261872"/>
            <a:ext cx="11094415" cy="220026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3 of 3)</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of old unapplied payments, new and legacy, reclassified to other income (unclaimed collections). A Cashiering user opens a batch with its reason and currency and adds the unapplied payments received at least a chosen number of days ago; the Cashiering team lead approves, then top management; after the second approval each line posts on its own and the payment closes. Legacy items come from Unapplied Collections - Legacy, new ones from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Top management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to Income</a:t>
                      </a:r>
                    </a:p>
                    <a:p>
                      <a:r>
                        <a:rPr sz="950" b="0">
                          <a:solidFill>
                            <a:srgbClr val="4B4B4B"/>
                          </a:solidFill>
                          <a:latin typeface="Arial"/>
                        </a:rPr>
                        <a:t>Finance › Cashiering › Unapplied to Income</a:t>
                      </a:r>
                    </a:p>
                    <a:p>
                      <a:r>
                        <a:rPr sz="950" b="0">
                          <a:solidFill>
                            <a:srgbClr val="4B4B4B"/>
                          </a:solidFill>
                          <a:latin typeface="Arial"/>
                        </a:rPr>
                        <a:t>Unapplied Payments › an old item</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FR-DM-055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Old unapplied payments are taken to income under two approvals, line by line.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1" cy="400047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reason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Lines, Total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 / Approved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Requester; approvers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Lines posted and refused;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Draft, For approval, For top management, Posted, Returned,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Batch</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PHP, USD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Status, Reason, Total, Lines, Requested By, Submitted, Approved By, Posted, Returned Because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Unapplied Payment,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tag on a legacy item; age in days under it; journal or refusal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Add Unapplied Payments</a:t>
                      </a:r>
                    </a:p>
                  </a:txBody>
                  <a:tcPr marL="54864" marR="54864" marT="27432" marB="27432">
                    <a:solidFill>
                      <a:srgbClr val="E5F5FF"/>
                    </a:solidFill>
                  </a:tcPr>
                </a:tc>
                <a:tc>
                  <a:txBody>
                    <a:bodyPr/>
                    <a:lstStyle/>
                    <a:p>
                      <a:r>
                        <a:rPr sz="850" b="0">
                          <a:solidFill>
                            <a:srgbClr val="4B4B4B"/>
                          </a:solidFill>
                          <a:latin typeface="Arial"/>
                        </a:rPr>
                        <a:t>Received At Least (days ago)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Days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Add Unapplied Payments</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Add Unapplied Payments</a:t>
                      </a:r>
                    </a:p>
                  </a:txBody>
                  <a:tcPr marL="54864" marR="54864" marT="27432" marB="27432">
                    <a:solidFill>
                      <a:srgbClr val="E5F5FF"/>
                    </a:solidFill>
                  </a:tcPr>
                </a:tc>
                <a:tc>
                  <a:txBody>
                    <a:bodyPr/>
                    <a:lstStyle/>
                    <a:p>
                      <a:r>
                        <a:rPr sz="850" b="0">
                          <a:solidFill>
                            <a:srgbClr val="4B4B4B"/>
                          </a:solidFill>
                          <a:latin typeface="Arial"/>
                        </a:rPr>
                        <a:t>Reason for the Lines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Add Unapplied Payments</a:t>
                      </a:r>
                    </a:p>
                  </a:txBody>
                  <a:tcPr marL="54864" marR="54864" marT="27432" marB="27432">
                    <a:solidFill>
                      <a:srgbClr val="FFFFFF"/>
                    </a:solidFill>
                  </a:tcPr>
                </a:tc>
                <a:tc>
                  <a:txBody>
                    <a:bodyPr/>
                    <a:lstStyle/>
                    <a:p>
                      <a:r>
                        <a:rPr sz="850" b="0">
                          <a:solidFill>
                            <a:srgbClr val="4B4B4B"/>
                          </a:solidFill>
                          <a:latin typeface="Arial"/>
                        </a:rPr>
                        <a:t>Unapplied Payment, Payor / Client, Age (days), Stage, Balance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AR number under a legacy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2" cy="202691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a draft batch</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Adds the payment as a line</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Remove</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Removes a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 with lines</a:t>
                      </a:r>
                    </a:p>
                  </a:txBody>
                  <a:tcPr marL="54864" marR="54864" marT="27432" marB="27432">
                    <a:solidFill>
                      <a:srgbClr val="E5F5FF"/>
                    </a:solidFill>
                  </a:tcPr>
                </a:tc>
                <a:tc>
                  <a:txBody>
                    <a:bodyPr/>
                    <a:lstStyle/>
                    <a:p>
                      <a:r>
                        <a:rPr sz="850" b="0">
                          <a:solidFill>
                            <a:srgbClr val="4B4B4B"/>
                          </a:solidFill>
                          <a:latin typeface="Arial"/>
                        </a:rPr>
                        <a:t>Sends the batch to the Cashiering team lead</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Closes the batch without posting; its lines may be taken again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 then top management</a:t>
                      </a:r>
                    </a:p>
                  </a:txBody>
                  <a:tcPr marL="54864" marR="54864" marT="27432" marB="27432">
                    <a:solidFill>
                      <a:srgbClr val="E5F5FF"/>
                    </a:solidFill>
                  </a:tcPr>
                </a:tc>
                <a:tc>
                  <a:txBody>
                    <a:bodyPr/>
                    <a:lstStyle/>
                    <a:p>
                      <a:r>
                        <a:rPr sz="850" b="0">
                          <a:solidFill>
                            <a:srgbClr val="4B4B4B"/>
                          </a:solidFill>
                          <a:latin typeface="Arial"/>
                        </a:rPr>
                        <a:t>For approval, For top management; never the requester</a:t>
                      </a:r>
                    </a:p>
                  </a:txBody>
                  <a:tcPr marL="54864" marR="54864" marT="27432" marB="27432">
                    <a:solidFill>
                      <a:srgbClr val="E5F5FF"/>
                    </a:solidFill>
                  </a:tcPr>
                </a:tc>
                <a:tc>
                  <a:txBody>
                    <a:bodyPr/>
                    <a:lstStyle/>
                    <a:p>
                      <a:r>
                        <a:rPr sz="850" b="0">
                          <a:solidFill>
                            <a:srgbClr val="4B4B4B"/>
                          </a:solidFill>
                          <a:latin typeface="Arial"/>
                        </a:rPr>
                        <a:t>First approval sends the batch to top management; the second posts each line in its own transaction</a:t>
                      </a:r>
                    </a:p>
                  </a:txBody>
                  <a:tcPr marL="54864" marR="54864" marT="27432" marB="27432">
                    <a:solidFill>
                      <a:srgbClr val="E5F5FF"/>
                    </a:solidFill>
                  </a:tcPr>
                </a:tc>
                <a:tc>
                  <a:txBody>
                    <a:bodyPr/>
                    <a:lstStyle/>
                    <a:p>
                      <a:r>
                        <a:rPr sz="850" b="0">
                          <a:solidFill>
                            <a:srgbClr val="4B4B4B"/>
                          </a:solidFill>
                          <a:latin typeface="Arial"/>
                        </a:rPr>
                        <a:t>For top management, Posted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Approver of the step</a:t>
                      </a:r>
                    </a:p>
                  </a:txBody>
                  <a:tcPr marL="54864" marR="54864" marT="27432" marB="27432">
                    <a:solidFill>
                      <a:srgbClr val="FFFFFF"/>
                    </a:solidFill>
                  </a:tcPr>
                </a:tc>
                <a:tc>
                  <a:txBody>
                    <a:bodyPr/>
                    <a:lstStyle/>
                    <a:p>
                      <a:r>
                        <a:rPr sz="850" b="0">
                          <a:solidFill>
                            <a:srgbClr val="4B4B4B"/>
                          </a:solidFill>
                          <a:latin typeface="Arial"/>
                        </a:rPr>
                        <a:t>For approval, For top management</a:t>
                      </a:r>
                    </a:p>
                  </a:txBody>
                  <a:tcPr marL="54864" marR="54864" marT="27432" marB="27432">
                    <a:solidFill>
                      <a:srgbClr val="FFFFFF"/>
                    </a:solidFill>
                  </a:tcPr>
                </a:tc>
                <a:tc>
                  <a:txBody>
                    <a:bodyPr/>
                    <a:lstStyle/>
                    <a:p>
                      <a:r>
                        <a:rPr sz="850" b="0">
                          <a:solidFill>
                            <a:srgbClr val="4B4B4B"/>
                          </a:solidFill>
                          <a:latin typeface="Arial"/>
                        </a:rPr>
                        <a:t>Returns the batch to its requester as a draft with the reason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Two approvals by two different people, the Cashiering team lead and then top management; the requester approves neither (FR-DM-055).</a:t>
                      </a:r>
                    </a:p>
                  </a:txBody>
                  <a:tcPr marL="54864" marR="54864" marT="27432" marB="27432">
                    <a:solidFill>
                      <a:srgbClr val="FFFFFF"/>
                    </a:solidFill>
                  </a:tcPr>
                </a:tc>
              </a:tr>
              <a:tr h="243840">
                <a:tc>
                  <a:txBody>
                    <a:bodyPr/>
                    <a:lstStyle/>
                    <a:p>
                      <a:r>
                        <a:rPr sz="1000" b="0">
                          <a:solidFill>
                            <a:srgbClr val="4B4B4B"/>
                          </a:solidFill>
                          <a:latin typeface="Arial"/>
                        </a:rPr>
                        <a:t>A line whose payment changed since it was added is refused at posting; the other lines still post (FR-DM-055).</a:t>
                      </a:r>
                    </a:p>
                  </a:txBody>
                  <a:tcPr marL="54864" marR="54864" marT="27432" marB="27432">
                    <a:solidFill>
                      <a:srgbClr val="E5F5FF"/>
                    </a:solidFill>
                  </a:tcPr>
                </a:tc>
              </a:tr>
              <a:tr h="243840">
                <a:tc>
                  <a:txBody>
                    <a:bodyPr/>
                    <a:lstStyle/>
                    <a:p>
                      <a:r>
                        <a:rPr sz="1000" b="0">
                          <a:solidFill>
                            <a:srgbClr val="4B4B4B"/>
                          </a:solidFill>
                          <a:latin typeface="Arial"/>
                        </a:rPr>
                        <a:t>Legacy payments post from Unapplied Collections - Legacy, new ones from Unapplied Collections, to other income - unclaimed collections (FR-DM-055).</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8-01-list.png"/>
          <p:cNvPicPr>
            <a:picLocks noChangeAspect="1"/>
          </p:cNvPicPr>
          <p:nvPr/>
        </p:nvPicPr>
        <p:blipFill>
          <a:blip r:embed="rId3"/>
          <a:stretch>
            <a:fillRect/>
          </a:stretch>
        </p:blipFill>
        <p:spPr>
          <a:xfrm>
            <a:off x="548640" y="1261872"/>
            <a:ext cx="11094415" cy="33091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to Income batches</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1 of 3)</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2 of 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2.png"/>
          <p:cNvPicPr>
            <a:picLocks noChangeAspect="1"/>
          </p:cNvPicPr>
          <p:nvPr/>
        </p:nvPicPr>
        <p:blipFill>
          <a:blip r:embed="rId3"/>
          <a:stretch>
            <a:fillRect/>
          </a:stretch>
        </p:blipFill>
        <p:spPr>
          <a:xfrm>
            <a:off x="548640" y="1261872"/>
            <a:ext cx="11094415" cy="39213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3 of 3)</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18-03-approve.png"/>
          <p:cNvPicPr>
            <a:picLocks noChangeAspect="1"/>
          </p:cNvPicPr>
          <p:nvPr/>
        </p:nvPicPr>
        <p:blipFill>
          <a:blip r:embed="rId3"/>
          <a:stretch>
            <a:fillRect/>
          </a:stretch>
        </p:blipFill>
        <p:spPr>
          <a:xfrm>
            <a:off x="761433" y="1261872"/>
            <a:ext cx="1066882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batch waiting for top management</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Legacy PR 2307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that settle the PR 2307 balance of legacy invoices against the amount due to the insurer. A Cashiering user adds each legacy invoice with the amount to reverse; when the PR 2307 is short, the premium receivable needed is first moved to PR 2307. The Cashiering team lead approves and each line posts on its own.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Commission user, Commission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Legacy PR 2307 Reversal</a:t>
                      </a:r>
                    </a:p>
                    <a:p>
                      <a:r>
                        <a:rPr sz="950" b="0">
                          <a:solidFill>
                            <a:srgbClr val="4B4B4B"/>
                          </a:solidFill>
                          <a:latin typeface="Arial"/>
                        </a:rPr>
                        <a:t>Finance › Cashiering › Legacy PR 2307 Reversal</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FR-DM-071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 2307 balances of legacy invoices are settled against the insurer, line by line.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Reason, Currency</a:t>
                      </a:r>
                    </a:p>
                  </a:txBody>
                  <a:tcPr marL="54864" marR="54864" marT="27432" marB="27432">
                    <a:solidFill>
                      <a:srgbClr val="FFFFFF"/>
                    </a:solidFill>
                  </a:tcPr>
                </a:tc>
                <a:tc>
                  <a:txBody>
                    <a:bodyPr/>
                    <a:lstStyle/>
                    <a:p>
                      <a:r>
                        <a:rPr sz="850" b="0">
                          <a:solidFill>
                            <a:srgbClr val="4B4B4B"/>
                          </a:solidFill>
                          <a:latin typeface="Arial"/>
                        </a:rPr>
                        <a:t>Text area; Drop-down</a:t>
                      </a:r>
                    </a:p>
                  </a:txBody>
                  <a:tcPr marL="54864" marR="54864" marT="27432" marB="27432">
                    <a:solidFill>
                      <a:srgbClr val="FFFFFF"/>
                    </a:solidFill>
                  </a:tcPr>
                </a:tc>
                <a:tc>
                  <a:txBody>
                    <a:bodyPr/>
                    <a:lstStyle/>
                    <a:p>
                      <a:r>
                        <a:rPr sz="850" b="0">
                          <a:solidFill>
                            <a:srgbClr val="4B4B4B"/>
                          </a:solidFill>
                          <a:latin typeface="Arial"/>
                        </a:rPr>
                        <a:t>Up to 500 characters; PHP or USD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Add a Legacy Invoice</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Legacy invoice number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legacy invoice with an open PR 2307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Add a Legacy Invoice</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Within the open PR 2307 and the due to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Add a Legacy Invoice</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Invoice,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tag; journal or refusal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Add Invoice</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 invoice and amount given</a:t>
                      </a:r>
                    </a:p>
                  </a:txBody>
                  <a:tcPr marL="54864" marR="54864" marT="27432" marB="27432">
                    <a:solidFill>
                      <a:srgbClr val="FFFFFF"/>
                    </a:solidFill>
                  </a:tcPr>
                </a:tc>
                <a:tc>
                  <a:txBody>
                    <a:bodyPr/>
                    <a:lstStyle/>
                    <a:p>
                      <a:r>
                        <a:rPr sz="850" b="0">
                          <a:solidFill>
                            <a:srgbClr val="4B4B4B"/>
                          </a:solidFill>
                          <a:latin typeface="Arial"/>
                        </a:rPr>
                        <a:t>Adds the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Cancel Batch</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batch for approval, or closes it without posting</a:t>
                      </a:r>
                    </a:p>
                  </a:txBody>
                  <a:tcPr marL="54864" marR="54864" marT="27432" marB="27432">
                    <a:solidFill>
                      <a:srgbClr val="E5F5FF"/>
                    </a:solidFill>
                  </a:tcPr>
                </a:tc>
                <a:tc>
                  <a:txBody>
                    <a:bodyPr/>
                    <a:lstStyle/>
                    <a:p>
                      <a:r>
                        <a:rPr sz="850" b="0">
                          <a:solidFill>
                            <a:srgbClr val="4B4B4B"/>
                          </a:solidFill>
                          <a:latin typeface="Arial"/>
                        </a:rPr>
                        <a:t>For approval,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Return</a:t>
                      </a:r>
                    </a:p>
                  </a:txBody>
                  <a:tcPr marL="54864" marR="54864" marT="27432" marB="27432">
                    <a:solidFill>
                      <a:srgbClr val="FFFFFF"/>
                    </a:solidFill>
                  </a:tcPr>
                </a:tc>
                <a:tc>
                  <a:txBody>
                    <a:bodyPr/>
                    <a:lstStyle/>
                    <a:p>
                      <a:r>
                        <a:rPr sz="850" b="0">
                          <a:solidFill>
                            <a:srgbClr val="4B4B4B"/>
                          </a:solidFill>
                          <a:latin typeface="Arial"/>
                        </a:rPr>
                        <a:t>Cashiering team lead</a:t>
                      </a:r>
                    </a:p>
                  </a:txBody>
                  <a:tcPr marL="54864" marR="54864" marT="27432" marB="27432">
                    <a:solidFill>
                      <a:srgbClr val="FFFFFF"/>
                    </a:solidFill>
                  </a:tcPr>
                </a:tc>
                <a:tc>
                  <a:txBody>
                    <a:bodyPr/>
                    <a:lstStyle/>
                    <a:p>
                      <a:r>
                        <a:rPr sz="850" b="0">
                          <a:solidFill>
                            <a:srgbClr val="4B4B4B"/>
                          </a:solidFill>
                          <a:latin typeface="Arial"/>
                        </a:rPr>
                        <a:t>For approval; never the requester</a:t>
                      </a:r>
                    </a:p>
                  </a:txBody>
                  <a:tcPr marL="54864" marR="54864" marT="27432" marB="27432">
                    <a:solidFill>
                      <a:srgbClr val="FFFFFF"/>
                    </a:solidFill>
                  </a:tcPr>
                </a:tc>
                <a:tc>
                  <a:txBody>
                    <a:bodyPr/>
                    <a:lstStyle/>
                    <a:p>
                      <a:r>
                        <a:rPr sz="850" b="0">
                          <a:solidFill>
                            <a:srgbClr val="4B4B4B"/>
                          </a:solidFill>
                          <a:latin typeface="Arial"/>
                        </a:rPr>
                        <a:t>Posts each line in its own transaction, or returns the batch with the reason</a:t>
                      </a:r>
                    </a:p>
                  </a:txBody>
                  <a:tcPr marL="54864" marR="54864" marT="27432" marB="27432">
                    <a:solidFill>
                      <a:srgbClr val="FFFFFF"/>
                    </a:solidFill>
                  </a:tcPr>
                </a:tc>
                <a:tc>
                  <a:txBody>
                    <a:bodyPr/>
                    <a:lstStyle/>
                    <a:p>
                      <a:r>
                        <a:rPr sz="850" b="0">
                          <a:solidFill>
                            <a:srgbClr val="4B4B4B"/>
                          </a:solidFill>
                          <a:latin typeface="Arial"/>
                        </a:rPr>
                        <a:t>Posted,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amount of a line is within the open PR 2307 (after the move from the premium receivable) and the due to insurer of the invoice (FR-DM-071).</a:t>
                      </a:r>
                    </a:p>
                  </a:txBody>
                  <a:tcPr marL="54864" marR="54864" marT="27432" marB="27432">
                    <a:solidFill>
                      <a:srgbClr val="FFFFFF"/>
                    </a:solidFill>
                  </a:tcPr>
                </a:tc>
              </a:tr>
              <a:tr h="243840">
                <a:tc>
                  <a:txBody>
                    <a:bodyPr/>
                    <a:lstStyle/>
                    <a:p>
                      <a:r>
                        <a:rPr sz="1000" b="0">
                          <a:solidFill>
                            <a:srgbClr val="4B4B4B"/>
                          </a:solidFill>
                          <a:latin typeface="Arial"/>
                        </a:rPr>
                        <a:t>The Cashiering team lead approves; the requester never approves (FR-DM-071).</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Legacy PR 2307 Reversal: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3.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PR 2307 reversal batch with the legacy invoice to add (part 1 of 2)</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Legacy PR 2307 Reversal: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4.png"/>
          <p:cNvPicPr>
            <a:picLocks noChangeAspect="1"/>
          </p:cNvPicPr>
          <p:nvPr/>
        </p:nvPicPr>
        <p:blipFill>
          <a:blip r:embed="rId3"/>
          <a:stretch>
            <a:fillRect/>
          </a:stretch>
        </p:blipFill>
        <p:spPr>
          <a:xfrm>
            <a:off x="548640" y="1261872"/>
            <a:ext cx="11094415" cy="38926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PR 2307 reversal batch with the legacy invoice to add (part 2 of 2)</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DP PR Legacy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that reverse the open premium receivable of legacy invoices paid directly to the insurer, with the same amount of the due to insurer; what was collected through the broker stays to remit. The candidates are the legacy invoices that Collections tagged "DP PR for reversal", or any legacy invoice with an open premium. A Commission user prepares the batch, the Commission team lead approves it and each invoice posts on its own.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Commission user, Commission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PR Legacy Reversal</a:t>
                      </a:r>
                    </a:p>
                    <a:p>
                      <a:r>
                        <a:rPr sz="950" b="0">
                          <a:solidFill>
                            <a:srgbClr val="4B4B4B"/>
                          </a:solidFill>
                          <a:latin typeface="Arial"/>
                        </a:rPr>
                        <a:t>Finance › Commission Receivables › DP PR Legacy Reversal</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FR-DM-070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Legacy invoices paid directly to the insurer leave the legacy receivable and payable in one approved batch.</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Add Legacy Invoices</a:t>
                      </a:r>
                    </a:p>
                  </a:txBody>
                  <a:tcPr marL="54864" marR="54864" marT="27432" marB="27432">
                    <a:solidFill>
                      <a:srgbClr val="E5F5FF"/>
                    </a:solidFill>
                  </a:tcPr>
                </a:tc>
                <a:tc>
                  <a:txBody>
                    <a:bodyPr/>
                    <a:lstStyle/>
                    <a:p>
                      <a:r>
                        <a:rPr sz="850" b="0">
                          <a:solidFill>
                            <a:srgbClr val="4B4B4B"/>
                          </a:solidFill>
                          <a:latin typeface="Arial"/>
                        </a:rPr>
                        <a:t>Show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Tagged DP PR for reversal by Collections, Every legacy invoice with open premium</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Add Legacy Invoices</a:t>
                      </a:r>
                    </a:p>
                  </a:txBody>
                  <a:tcPr marL="54864" marR="54864" marT="27432" marB="27432">
                    <a:solidFill>
                      <a:srgbClr val="FFFFFF"/>
                    </a:solidFill>
                  </a:tcPr>
                </a:tc>
                <a:tc>
                  <a:txBody>
                    <a:bodyPr/>
                    <a:lstStyle/>
                    <a:p>
                      <a:r>
                        <a:rPr sz="850" b="0">
                          <a:solidFill>
                            <a:srgbClr val="4B4B4B"/>
                          </a:solidFill>
                          <a:latin typeface="Arial"/>
                        </a:rPr>
                        <a:t>Reason for the Lines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Add Legacy Invoices</a:t>
                      </a:r>
                    </a:p>
                  </a:txBody>
                  <a:tcPr marL="54864" marR="54864" marT="27432" marB="27432">
                    <a:solidFill>
                      <a:srgbClr val="E5F5FF"/>
                    </a:solidFill>
                  </a:tcPr>
                </a:tc>
                <a:tc>
                  <a:txBody>
                    <a:bodyPr/>
                    <a:lstStyle/>
                    <a:p>
                      <a:r>
                        <a:rPr sz="850" b="0">
                          <a:solidFill>
                            <a:srgbClr val="4B4B4B"/>
                          </a:solidFill>
                          <a:latin typeface="Arial"/>
                        </a:rPr>
                        <a:t>Invoice, Client / Insurer, Policy, Tagged, Open Premium</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LEGACY tag; source system and legacy number under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Invoice,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The whole open premium receivable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a:t>
                      </a:r>
                    </a:p>
                  </a:txBody>
                  <a:tcPr marL="54864" marR="54864" marT="27432" marB="27432">
                    <a:solidFill>
                      <a:srgbClr val="FFFFFF"/>
                    </a:solidFill>
                  </a:tcPr>
                </a:tc>
                <a:tc>
                  <a:txBody>
                    <a:bodyPr/>
                    <a:lstStyle/>
                    <a:p>
                      <a:r>
                        <a:rPr sz="850" b="0">
                          <a:solidFill>
                            <a:srgbClr val="4B4B4B"/>
                          </a:solidFill>
                          <a:latin typeface="Arial"/>
                        </a:rPr>
                        <a:t>Commission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Adds the invoice as a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Cancel Batch</a:t>
                      </a:r>
                    </a:p>
                  </a:txBody>
                  <a:tcPr marL="54864" marR="54864" marT="27432" marB="27432">
                    <a:solidFill>
                      <a:srgbClr val="E5F5FF"/>
                    </a:solidFill>
                  </a:tcPr>
                </a:tc>
                <a:tc>
                  <a:txBody>
                    <a:bodyPr/>
                    <a:lstStyle/>
                    <a:p>
                      <a:r>
                        <a:rPr sz="850" b="0">
                          <a:solidFill>
                            <a:srgbClr val="4B4B4B"/>
                          </a:solidFill>
                          <a:latin typeface="Arial"/>
                        </a:rPr>
                        <a:t>Commission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batch for approval, or closes it without posting</a:t>
                      </a:r>
                    </a:p>
                  </a:txBody>
                  <a:tcPr marL="54864" marR="54864" marT="27432" marB="27432">
                    <a:solidFill>
                      <a:srgbClr val="E5F5FF"/>
                    </a:solidFill>
                  </a:tcPr>
                </a:tc>
                <a:tc>
                  <a:txBody>
                    <a:bodyPr/>
                    <a:lstStyle/>
                    <a:p>
                      <a:r>
                        <a:rPr sz="850" b="0">
                          <a:solidFill>
                            <a:srgbClr val="4B4B4B"/>
                          </a:solidFill>
                          <a:latin typeface="Arial"/>
                        </a:rPr>
                        <a:t>For approval,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Return</a:t>
                      </a:r>
                    </a:p>
                  </a:txBody>
                  <a:tcPr marL="54864" marR="54864" marT="27432" marB="27432">
                    <a:solidFill>
                      <a:srgbClr val="FFFFFF"/>
                    </a:solidFill>
                  </a:tcPr>
                </a:tc>
                <a:tc>
                  <a:txBody>
                    <a:bodyPr/>
                    <a:lstStyle/>
                    <a:p>
                      <a:r>
                        <a:rPr sz="850" b="0">
                          <a:solidFill>
                            <a:srgbClr val="4B4B4B"/>
                          </a:solidFill>
                          <a:latin typeface="Arial"/>
                        </a:rPr>
                        <a:t>Commission team lead</a:t>
                      </a:r>
                    </a:p>
                  </a:txBody>
                  <a:tcPr marL="54864" marR="54864" marT="27432" marB="27432">
                    <a:solidFill>
                      <a:srgbClr val="FFFFFF"/>
                    </a:solidFill>
                  </a:tcPr>
                </a:tc>
                <a:tc>
                  <a:txBody>
                    <a:bodyPr/>
                    <a:lstStyle/>
                    <a:p>
                      <a:r>
                        <a:rPr sz="850" b="0">
                          <a:solidFill>
                            <a:srgbClr val="4B4B4B"/>
                          </a:solidFill>
                          <a:latin typeface="Arial"/>
                        </a:rPr>
                        <a:t>For approval; never the requester</a:t>
                      </a:r>
                    </a:p>
                  </a:txBody>
                  <a:tcPr marL="54864" marR="54864" marT="27432" marB="27432">
                    <a:solidFill>
                      <a:srgbClr val="FFFFFF"/>
                    </a:solidFill>
                  </a:tcPr>
                </a:tc>
                <a:tc>
                  <a:txBody>
                    <a:bodyPr/>
                    <a:lstStyle/>
                    <a:p>
                      <a:r>
                        <a:rPr sz="850" b="0">
                          <a:solidFill>
                            <a:srgbClr val="4B4B4B"/>
                          </a:solidFill>
                          <a:latin typeface="Arial"/>
                        </a:rPr>
                        <a:t>Posts each invoice on its own, or returns the batch with the reason</a:t>
                      </a:r>
                    </a:p>
                  </a:txBody>
                  <a:tcPr marL="54864" marR="54864" marT="27432" marB="27432">
                    <a:solidFill>
                      <a:srgbClr val="FFFFFF"/>
                    </a:solidFill>
                  </a:tcPr>
                </a:tc>
                <a:tc>
                  <a:txBody>
                    <a:bodyPr/>
                    <a:lstStyle/>
                    <a:p>
                      <a:r>
                        <a:rPr sz="850" b="0">
                          <a:solidFill>
                            <a:srgbClr val="4B4B4B"/>
                          </a:solidFill>
                          <a:latin typeface="Arial"/>
                        </a:rPr>
                        <a:t>Posted,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line amount is the whole open premium receivable of the invoice (FR-DM-070).</a:t>
                      </a:r>
                    </a:p>
                  </a:txBody>
                  <a:tcPr marL="54864" marR="54864" marT="27432" marB="27432">
                    <a:solidFill>
                      <a:srgbClr val="FFFFFF"/>
                    </a:solidFill>
                  </a:tcPr>
                </a:tc>
              </a:tr>
              <a:tr h="243840">
                <a:tc>
                  <a:txBody>
                    <a:bodyPr/>
                    <a:lstStyle/>
                    <a:p>
                      <a:r>
                        <a:rPr sz="1000" b="0">
                          <a:solidFill>
                            <a:srgbClr val="4B4B4B"/>
                          </a:solidFill>
                          <a:latin typeface="Arial"/>
                        </a:rPr>
                        <a:t>An invoice whose balance changed since it was added is refused at posting; the other lines still post (FR-DM-070).</a:t>
                      </a:r>
                    </a:p>
                  </a:txBody>
                  <a:tcPr marL="54864" marR="54864" marT="27432" marB="27432">
                    <a:solidFill>
                      <a:srgbClr val="E5F5FF"/>
                    </a:solidFill>
                  </a:tcPr>
                </a:tc>
              </a:tr>
              <a:tr h="243840">
                <a:tc>
                  <a:txBody>
                    <a:bodyPr/>
                    <a:lstStyle/>
                    <a:p>
                      <a:r>
                        <a:rPr sz="1000" b="0">
                          <a:solidFill>
                            <a:srgbClr val="4B4B4B"/>
                          </a:solidFill>
                          <a:latin typeface="Arial"/>
                        </a:rPr>
                        <a:t>The Commission team lead approves; the requester never approves (FR-DM-070).</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DP PR Legacy Reversal: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5.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1 of 3)</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DP PR Legacy Reversal: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6.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2 of 3)</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DP PR Legacy Reversal: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7.png"/>
          <p:cNvPicPr>
            <a:picLocks noChangeAspect="1"/>
          </p:cNvPicPr>
          <p:nvPr/>
        </p:nvPicPr>
        <p:blipFill>
          <a:blip r:embed="rId3"/>
          <a:stretch>
            <a:fillRect/>
          </a:stretch>
        </p:blipFill>
        <p:spPr>
          <a:xfrm>
            <a:off x="548640" y="1261872"/>
            <a:ext cx="11094415" cy="18363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3 of 3)</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25880"/>
          <a:ext cx="11094413" cy="398523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extract does not agree with its control file (checksum, header, row count, amount totals or hash total) and is rejected</a:t>
                      </a:r>
                    </a:p>
                  </a:txBody>
                  <a:tcPr marL="54864" marR="54864" marT="27432" marB="27432">
                    <a:solidFill>
                      <a:srgbClr val="FFFFFF"/>
                    </a:solidFill>
                  </a:tcPr>
                </a:tc>
                <a:tc>
                  <a:txBody>
                    <a:bodyPr/>
                    <a:lstStyle/>
                    <a:p>
                      <a:r>
                        <a:rPr sz="850" b="0">
                          <a:solidFill>
                            <a:srgbClr val="4B4B4B"/>
                          </a:solidFill>
                          <a:latin typeface="Arial"/>
                        </a:rPr>
                        <a:t>Data Migration Lead and the Migration Operators</a:t>
                      </a:r>
                    </a:p>
                  </a:txBody>
                  <a:tcPr marL="54864" marR="54864" marT="27432" marB="27432">
                    <a:solidFill>
                      <a:srgbClr val="FFFFFF"/>
                    </a:solidFill>
                  </a:tcPr>
                </a:tc>
                <a:tc>
                  <a:txBody>
                    <a:bodyPr/>
                    <a:lstStyle/>
                    <a:p>
                      <a:r>
                        <a:rPr sz="850" b="0">
                          <a:solidFill>
                            <a:srgbClr val="4B4B4B"/>
                          </a:solidFill>
                          <a:latin typeface="Arial"/>
                        </a:rPr>
                        <a:t>Migration extract rejected (severity Medium). Text: Extract &lt;file name&gt; rejected: &lt;reason&gt;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batch stops, or loads with rejected rows</a:t>
                      </a:r>
                    </a:p>
                  </a:txBody>
                  <a:tcPr marL="54864" marR="54864" marT="27432" marB="27432">
                    <a:solidFill>
                      <a:srgbClr val="E5F5FF"/>
                    </a:solidFill>
                  </a:tcPr>
                </a:tc>
                <a:tc>
                  <a:txBody>
                    <a:bodyPr/>
                    <a:lstStyle/>
                    <a:p>
                      <a:r>
                        <a:rPr sz="850" b="0">
                          <a:solidFill>
                            <a:srgbClr val="4B4B4B"/>
                          </a:solidFill>
                          <a:latin typeface="Arial"/>
                        </a:rPr>
                        <a:t>Data Migration Lead and the Migration Operators</a:t>
                      </a:r>
                    </a:p>
                  </a:txBody>
                  <a:tcPr marL="54864" marR="54864" marT="27432" marB="27432">
                    <a:solidFill>
                      <a:srgbClr val="E5F5FF"/>
                    </a:solidFill>
                  </a:tcPr>
                </a:tc>
                <a:tc>
                  <a:txBody>
                    <a:bodyPr/>
                    <a:lstStyle/>
                    <a:p>
                      <a:r>
                        <a:rPr sz="850" b="0">
                          <a:solidFill>
                            <a:srgbClr val="4B4B4B"/>
                          </a:solidFill>
                          <a:latin typeface="Arial"/>
                        </a:rPr>
                        <a:t>Migration load failed (severity High). Text: Batch &lt;batch no&gt; stopped. / Batch &lt;batch no&gt; loaded with rejects. &lt;counts&gt;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Validation finds legacy codes without an approved code map entry</a:t>
                      </a:r>
                    </a:p>
                  </a:txBody>
                  <a:tcPr marL="54864" marR="54864" marT="27432" marB="27432">
                    <a:solidFill>
                      <a:srgbClr val="FFFFFF"/>
                    </a:solidFill>
                  </a:tcPr>
                </a:tc>
                <a:tc>
                  <a:txBody>
                    <a:bodyPr/>
                    <a:lstStyle/>
                    <a:p>
                      <a:r>
                        <a:rPr sz="850" b="0">
                          <a:solidFill>
                            <a:srgbClr val="4B4B4B"/>
                          </a:solidFill>
                          <a:latin typeface="Arial"/>
                        </a:rPr>
                        <a:t>Data Steward and the Data Migration Lead</a:t>
                      </a:r>
                    </a:p>
                  </a:txBody>
                  <a:tcPr marL="54864" marR="54864" marT="27432" marB="27432">
                    <a:solidFill>
                      <a:srgbClr val="FFFFFF"/>
                    </a:solidFill>
                  </a:tcPr>
                </a:tc>
                <a:tc>
                  <a:txBody>
                    <a:bodyPr/>
                    <a:lstStyle/>
                    <a:p>
                      <a:r>
                        <a:rPr sz="850" b="0">
                          <a:solidFill>
                            <a:srgbClr val="4B4B4B"/>
                          </a:solidFill>
                          <a:latin typeface="Arial"/>
                        </a:rPr>
                        <a:t>Unmapped legacy codes (severity Medium). Text: Batch &lt;batch no&gt; has &lt;n&gt; unmapped legacy codes</a:t>
                      </a:r>
                    </a:p>
                  </a:txBody>
                  <a:tcPr marL="54864" marR="54864" marT="27432" marB="27432">
                    <a:solidFill>
                      <a:srgbClr val="FFFFFF"/>
                    </a:solidFill>
                  </a:tcPr>
                </a:tc>
              </a:tr>
              <a:tr h="350518">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reconciliation run has lines that do not match</a:t>
                      </a:r>
                    </a:p>
                  </a:txBody>
                  <a:tcPr marL="54864" marR="54864" marT="27432" marB="27432">
                    <a:solidFill>
                      <a:srgbClr val="E5F5FF"/>
                    </a:solidFill>
                  </a:tcPr>
                </a:tc>
                <a:tc>
                  <a:txBody>
                    <a:bodyPr/>
                    <a:lstStyle/>
                    <a:p>
                      <a:r>
                        <a:rPr sz="850" b="0">
                          <a:solidFill>
                            <a:srgbClr val="4B4B4B"/>
                          </a:solidFill>
                          <a:latin typeface="Arial"/>
                        </a:rPr>
                        <a:t>Reconciliation approver and the Data Migration Lead</a:t>
                      </a:r>
                    </a:p>
                  </a:txBody>
                  <a:tcPr marL="54864" marR="54864" marT="27432" marB="27432">
                    <a:solidFill>
                      <a:srgbClr val="E5F5FF"/>
                    </a:solidFill>
                  </a:tcPr>
                </a:tc>
                <a:tc>
                  <a:txBody>
                    <a:bodyPr/>
                    <a:lstStyle/>
                    <a:p>
                      <a:r>
                        <a:rPr sz="850" b="0">
                          <a:solidFill>
                            <a:srgbClr val="4B4B4B"/>
                          </a:solidFill>
                          <a:latin typeface="Arial"/>
                        </a:rPr>
                        <a:t>Migration reconciliation break (severity High). Text: Reconciliation &lt;run no&gt; of batch &lt;batch no&gt; has &lt;n&gt; open breaks</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Migration Clearing is not 0.00 for a branch and currency after an opening load</a:t>
                      </a:r>
                    </a:p>
                  </a:txBody>
                  <a:tcPr marL="54864" marR="54864" marT="27432" marB="27432">
                    <a:solidFill>
                      <a:srgbClr val="FFFFFF"/>
                    </a:solidFill>
                  </a:tcPr>
                </a:tc>
                <a:tc>
                  <a:txBody>
                    <a:bodyPr/>
                    <a:lstStyle/>
                    <a:p>
                      <a:r>
                        <a:rPr sz="850" b="0">
                          <a:solidFill>
                            <a:srgbClr val="4B4B4B"/>
                          </a:solidFill>
                          <a:latin typeface="Arial"/>
                        </a:rPr>
                        <a:t>Head of Comptrollership (reconciliation approver) and the Data Migration Lead</a:t>
                      </a:r>
                    </a:p>
                  </a:txBody>
                  <a:tcPr marL="54864" marR="54864" marT="27432" marB="27432">
                    <a:solidFill>
                      <a:srgbClr val="FFFFFF"/>
                    </a:solidFill>
                  </a:tcPr>
                </a:tc>
                <a:tc>
                  <a:txBody>
                    <a:bodyPr/>
                    <a:lstStyle/>
                    <a:p>
                      <a:r>
                        <a:rPr sz="850" b="0">
                          <a:solidFill>
                            <a:srgbClr val="4B4B4B"/>
                          </a:solidFill>
                          <a:latin typeface="Arial"/>
                        </a:rPr>
                        <a:t>Migration clearing not zero (severity Critical). Text: Migration Clearing of &lt;branch&gt; &lt;currency&gt; is &lt;amount&gt;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An accepted or rolled-back batch still holds staging data after its purge date (daily check)</a:t>
                      </a:r>
                    </a:p>
                  </a:txBody>
                  <a:tcPr marL="54864" marR="54864" marT="27432" marB="27432">
                    <a:solidFill>
                      <a:srgbClr val="E5F5FF"/>
                    </a:solidFill>
                  </a:tcPr>
                </a:tc>
                <a:tc>
                  <a:txBody>
                    <a:bodyPr/>
                    <a:lstStyle/>
                    <a:p>
                      <a:r>
                        <a:rPr sz="850" b="0">
                          <a:solidFill>
                            <a:srgbClr val="4B4B4B"/>
                          </a:solidFill>
                          <a:latin typeface="Arial"/>
                        </a:rPr>
                        <a:t>Data Migration Lead and Compliance</a:t>
                      </a:r>
                    </a:p>
                  </a:txBody>
                  <a:tcPr marL="54864" marR="54864" marT="27432" marB="27432">
                    <a:solidFill>
                      <a:srgbClr val="E5F5FF"/>
                    </a:solidFill>
                  </a:tcPr>
                </a:tc>
                <a:tc>
                  <a:txBody>
                    <a:bodyPr/>
                    <a:lstStyle/>
                    <a:p>
                      <a:r>
                        <a:rPr sz="850" b="0">
                          <a:solidFill>
                            <a:srgbClr val="4B4B4B"/>
                          </a:solidFill>
                          <a:latin typeface="Arial"/>
                        </a:rPr>
                        <a:t>Migration staging not purged (severity High). Text: Staging data of batch &lt;batch no&gt; is kept past its purge date &lt;date&gt;</a:t>
                      </a:r>
                    </a:p>
                  </a:txBody>
                  <a:tcPr marL="54864" marR="54864" marT="27432" marB="27432">
                    <a:solidFill>
                      <a:srgbClr val="E5F5FF"/>
                    </a:solidFill>
                  </a:tcPr>
                </a:tc>
              </a:tr>
              <a:tr h="350518">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user exports more legacy archive records in a day than the alert limit (5,000)</a:t>
                      </a:r>
                    </a:p>
                  </a:txBody>
                  <a:tcPr marL="54864" marR="54864" marT="27432" marB="27432">
                    <a:solidFill>
                      <a:srgbClr val="FFFFFF"/>
                    </a:solidFill>
                  </a:tcPr>
                </a:tc>
                <a:tc>
                  <a:txBody>
                    <a:bodyPr/>
                    <a:lstStyle/>
                    <a:p>
                      <a:r>
                        <a:rPr sz="850" b="0">
                          <a:solidFill>
                            <a:srgbClr val="4B4B4B"/>
                          </a:solidFill>
                          <a:latin typeface="Arial"/>
                        </a:rPr>
                        <a:t>Compliance reviewers of the access log</a:t>
                      </a:r>
                    </a:p>
                  </a:txBody>
                  <a:tcPr marL="54864" marR="54864" marT="27432" marB="27432">
                    <a:solidFill>
                      <a:srgbClr val="FFFFFF"/>
                    </a:solidFill>
                  </a:tcPr>
                </a:tc>
                <a:tc>
                  <a:txBody>
                    <a:bodyPr/>
                    <a:lstStyle/>
                    <a:p>
                      <a:r>
                        <a:rPr sz="850" b="0">
                          <a:solidFill>
                            <a:srgbClr val="4B4B4B"/>
                          </a:solidFill>
                          <a:latin typeface="Arial"/>
                        </a:rPr>
                        <a:t>Unusual legacy archive access (severity High). Text: User &lt;user&gt; exported &lt;n&gt; legacy archive records today (limit &lt;limit&gt;)</a:t>
                      </a:r>
                    </a:p>
                  </a:txBody>
                  <a:tcPr marL="54864" marR="54864" marT="27432" marB="27432">
                    <a:solidFill>
                      <a:srgbClr val="FFFFFF"/>
                    </a:solidFill>
                  </a:tcPr>
                </a:tc>
              </a:tr>
              <a:tr h="350518">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check of the reconciliation of an opening-balance adjustment fails</a:t>
                      </a:r>
                    </a:p>
                  </a:txBody>
                  <a:tcPr marL="54864" marR="54864" marT="27432" marB="27432">
                    <a:solidFill>
                      <a:srgbClr val="E5F5FF"/>
                    </a:solidFill>
                  </a:tcPr>
                </a:tc>
                <a:tc>
                  <a:txBody>
                    <a:bodyPr/>
                    <a:lstStyle/>
                    <a:p>
                      <a:r>
                        <a:rPr sz="850" b="0">
                          <a:solidFill>
                            <a:srgbClr val="4B4B4B"/>
                          </a:solidFill>
                          <a:latin typeface="Arial"/>
                        </a:rPr>
                        <a:t>Head of Comptrollership and the Comptrollership GL lead</a:t>
                      </a:r>
                    </a:p>
                  </a:txBody>
                  <a:tcPr marL="54864" marR="54864" marT="27432" marB="27432">
                    <a:solidFill>
                      <a:srgbClr val="E5F5FF"/>
                    </a:solidFill>
                  </a:tcPr>
                </a:tc>
                <a:tc>
                  <a:txBody>
                    <a:bodyPr/>
                    <a:lstStyle/>
                    <a:p>
                      <a:r>
                        <a:rPr sz="850" b="0">
                          <a:solidFill>
                            <a:srgbClr val="4B4B4B"/>
                          </a:solidFill>
                          <a:latin typeface="Arial"/>
                        </a:rPr>
                        <a:t>Opening-balance adjustment break (severity Critical). Text: Opening-balance adjustment &lt;reference&gt; has &lt;n&gt; reconciliation break(s)</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First day of each month</a:t>
                      </a:r>
                    </a:p>
                  </a:txBody>
                  <a:tcPr marL="54864" marR="54864" marT="27432" marB="27432">
                    <a:solidFill>
                      <a:srgbClr val="FFFFFF"/>
                    </a:solidFill>
                  </a:tcPr>
                </a:tc>
                <a:tc>
                  <a:txBody>
                    <a:bodyPr/>
                    <a:lstStyle/>
                    <a:p>
                      <a:r>
                        <a:rPr sz="850" b="0">
                          <a:solidFill>
                            <a:srgbClr val="4B4B4B"/>
                          </a:solidFill>
                          <a:latin typeface="Arial"/>
                        </a:rPr>
                        <a:t>Compliance reviewers of the access log</a:t>
                      </a:r>
                    </a:p>
                  </a:txBody>
                  <a:tcPr marL="54864" marR="54864" marT="27432" marB="27432">
                    <a:solidFill>
                      <a:srgbClr val="FFFFFF"/>
                    </a:solidFill>
                  </a:tcPr>
                </a:tc>
                <a:tc>
                  <a:txBody>
                    <a:bodyPr/>
                    <a:lstStyle/>
                    <a:p>
                      <a:r>
                        <a:rPr sz="850" b="0">
                          <a:solidFill>
                            <a:srgbClr val="4B4B4B"/>
                          </a:solidFill>
                          <a:latin typeface="Arial"/>
                        </a:rPr>
                        <a:t>Monthly digest of the legacy archive access log: searches, views, downloads and exports of the previous month per user, with the reasons given</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None</a:t>
                      </a:r>
                    </a:p>
                  </a:txBody>
                  <a:tcPr marL="54864" marR="54864" marT="27432" marB="27432">
                    <a:solidFill>
                      <a:srgbClr val="E5F5FF"/>
                    </a:solidFill>
                  </a:tcPr>
                </a:tc>
                <a:tc>
                  <a:txBody>
                    <a:bodyPr/>
                    <a:lstStyle/>
                    <a:p>
                      <a:r>
                        <a:rPr sz="850" b="0">
                          <a:solidFill>
                            <a:srgbClr val="4B4B4B"/>
                          </a:solidFill>
                          <a:latin typeface="Arial"/>
                        </a:rPr>
                        <a:t>Any record created by a migration load (client, account, invoice, unapplied payment, insurer, product, payee)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notification to clients, insurers or users and no outbound integration message is sent for a migrated record</a:t>
                      </a:r>
                    </a:p>
                  </a:txBody>
                  <a:tcPr marL="54864" marR="54864" marT="27432" marB="27432">
                    <a:solidFill>
                      <a:srgbClr val="E5F5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3" cy="338328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365760">
                <a:tc>
                  <a:txBody>
                    <a:bodyPr/>
                    <a:lstStyle/>
                    <a:p>
                      <a:r>
                        <a:rPr sz="900" b="0">
                          <a:solidFill>
                            <a:srgbClr val="4B4B4B"/>
                          </a:solidFill>
                          <a:latin typeface="Arial"/>
                        </a:rPr>
                        <a:t>SCR-DM-02</a:t>
                      </a:r>
                    </a:p>
                  </a:txBody>
                  <a:tcPr marL="54864" marR="54864" marT="27432" marB="27432">
                    <a:solidFill>
                      <a:srgbClr val="FFFFFF"/>
                    </a:solidFill>
                  </a:tcPr>
                </a:tc>
                <a:tc>
                  <a:txBody>
                    <a:bodyPr/>
                    <a:lstStyle/>
                    <a:p>
                      <a:r>
                        <a:rPr sz="900" b="0">
                          <a:solidFill>
                            <a:srgbClr val="4B4B4B"/>
                          </a:solidFill>
                          <a:latin typeface="Arial"/>
                        </a:rPr>
                        <a:t>All Load Templates</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workbook of every load template with the columns, the control file and the How to fill rules</a:t>
                      </a:r>
                    </a:p>
                  </a:txBody>
                  <a:tcPr marL="54864" marR="54864" marT="27432" marB="27432">
                    <a:solidFill>
                      <a:srgbClr val="FFFFFF"/>
                    </a:solidFill>
                  </a:tcPr>
                </a:tc>
              </a:tr>
              <a:tr h="228600">
                <a:tc>
                  <a:txBody>
                    <a:bodyPr/>
                    <a:lstStyle/>
                    <a:p>
                      <a:r>
                        <a:rPr sz="900" b="0">
                          <a:solidFill>
                            <a:srgbClr val="4B4B4B"/>
                          </a:solidFill>
                          <a:latin typeface="Arial"/>
                        </a:rPr>
                        <a:t>SCR-DM-02</a:t>
                      </a:r>
                    </a:p>
                  </a:txBody>
                  <a:tcPr marL="54864" marR="54864" marT="27432" marB="27432">
                    <a:solidFill>
                      <a:srgbClr val="E5F5FF"/>
                    </a:solidFill>
                  </a:tcPr>
                </a:tc>
                <a:tc>
                  <a:txBody>
                    <a:bodyPr/>
                    <a:lstStyle/>
                    <a:p>
                      <a:r>
                        <a:rPr sz="900" b="0">
                          <a:solidFill>
                            <a:srgbClr val="4B4B4B"/>
                          </a:solidFill>
                          <a:latin typeface="Arial"/>
                        </a:rPr>
                        <a:t>Download on a row</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load template workbook of the object</a:t>
                      </a:r>
                    </a:p>
                  </a:txBody>
                  <a:tcPr marL="54864" marR="54864" marT="27432" marB="27432">
                    <a:solidFill>
                      <a:srgbClr val="E5F5FF"/>
                    </a:solidFill>
                  </a:tcPr>
                </a:tc>
              </a:tr>
              <a:tr h="228600">
                <a:tc>
                  <a:txBody>
                    <a:bodyPr/>
                    <a:lstStyle/>
                    <a:p>
                      <a:r>
                        <a:rPr sz="900" b="0">
                          <a:solidFill>
                            <a:srgbClr val="4B4B4B"/>
                          </a:solidFill>
                          <a:latin typeface="Arial"/>
                        </a:rPr>
                        <a:t>SCR-DM-03</a:t>
                      </a:r>
                    </a:p>
                  </a:txBody>
                  <a:tcPr marL="54864" marR="54864" marT="27432" marB="27432">
                    <a:solidFill>
                      <a:srgbClr val="FFFFFF"/>
                    </a:solidFill>
                  </a:tcPr>
                </a:tc>
                <a:tc>
                  <a:txBody>
                    <a:bodyPr/>
                    <a:lstStyle/>
                    <a:p>
                      <a:r>
                        <a:rPr sz="900" b="0">
                          <a:solidFill>
                            <a:srgbClr val="4B4B4B"/>
                          </a:solidFill>
                          <a:latin typeface="Arial"/>
                        </a:rPr>
                        <a:t>Export</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entries of the version in Excel</a:t>
                      </a:r>
                    </a:p>
                  </a:txBody>
                  <a:tcPr marL="54864" marR="54864" marT="27432" marB="27432">
                    <a:solidFill>
                      <a:srgbClr val="FFFFFF"/>
                    </a:solidFill>
                  </a:tcPr>
                </a:tc>
              </a:tr>
              <a:tr h="228600">
                <a:tc>
                  <a:txBody>
                    <a:bodyPr/>
                    <a:lstStyle/>
                    <a:p>
                      <a:r>
                        <a:rPr sz="900" b="0">
                          <a:solidFill>
                            <a:srgbClr val="4B4B4B"/>
                          </a:solidFill>
                          <a:latin typeface="Arial"/>
                        </a:rPr>
                        <a:t>SCR-DM-04</a:t>
                      </a:r>
                    </a:p>
                  </a:txBody>
                  <a:tcPr marL="54864" marR="54864" marT="27432" marB="27432">
                    <a:solidFill>
                      <a:srgbClr val="E5F5FF"/>
                    </a:solidFill>
                  </a:tcPr>
                </a:tc>
                <a:tc>
                  <a:txBody>
                    <a:bodyPr/>
                    <a:lstStyle/>
                    <a:p>
                      <a:r>
                        <a:rPr sz="900" b="0">
                          <a:solidFill>
                            <a:srgbClr val="4B4B4B"/>
                          </a:solidFill>
                          <a:latin typeface="Arial"/>
                        </a:rPr>
                        <a:t>Control File Template</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header of the control file (CONTROL_template.ctl.csv)</a:t>
                      </a:r>
                    </a:p>
                  </a:txBody>
                  <a:tcPr marL="54864" marR="54864" marT="27432" marB="27432">
                    <a:solidFill>
                      <a:srgbClr val="E5F5FF"/>
                    </a:solidFill>
                  </a:tcPr>
                </a:tc>
              </a:tr>
              <a:tr h="365760">
                <a:tc>
                  <a:txBody>
                    <a:bodyPr/>
                    <a:lstStyle/>
                    <a:p>
                      <a:r>
                        <a:rPr sz="900" b="0">
                          <a:solidFill>
                            <a:srgbClr val="4B4B4B"/>
                          </a:solidFill>
                          <a:latin typeface="Arial"/>
                        </a:rPr>
                        <a:t>SCR-DM-04</a:t>
                      </a:r>
                    </a:p>
                  </a:txBody>
                  <a:tcPr marL="54864" marR="54864" marT="27432" marB="27432">
                    <a:solidFill>
                      <a:srgbClr val="FFFFFF"/>
                    </a:solidFill>
                  </a:tcPr>
                </a:tc>
                <a:tc>
                  <a:txBody>
                    <a:bodyPr/>
                    <a:lstStyle/>
                    <a:p>
                      <a:r>
                        <a:rPr sz="900" b="0">
                          <a:solidFill>
                            <a:srgbClr val="4B4B4B"/>
                          </a:solidFill>
                          <a:latin typeface="Arial"/>
                        </a:rPr>
                        <a:t>Load Templates Workbook</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one workbook with a sheet per layout, the Columns sheet, the Control file sheet and the How to fill rules</a:t>
                      </a:r>
                    </a:p>
                  </a:txBody>
                  <a:tcPr marL="54864" marR="54864" marT="27432" marB="27432">
                    <a:solidFill>
                      <a:srgbClr val="FFFFFF"/>
                    </a:solidFill>
                  </a:tcPr>
                </a:tc>
              </a:tr>
              <a:tr h="228600">
                <a:tc>
                  <a:txBody>
                    <a:bodyPr/>
                    <a:lstStyle/>
                    <a:p>
                      <a:r>
                        <a:rPr sz="900" b="0">
                          <a:solidFill>
                            <a:srgbClr val="4B4B4B"/>
                          </a:solidFill>
                          <a:latin typeface="Arial"/>
                        </a:rPr>
                        <a:t>SCR-DM-04</a:t>
                      </a:r>
                    </a:p>
                  </a:txBody>
                  <a:tcPr marL="54864" marR="54864" marT="27432" marB="27432">
                    <a:solidFill>
                      <a:srgbClr val="E5F5FF"/>
                    </a:solidFill>
                  </a:tcPr>
                </a:tc>
                <a:tc>
                  <a:txBody>
                    <a:bodyPr/>
                    <a:lstStyle/>
                    <a:p>
                      <a:r>
                        <a:rPr sz="900" b="0">
                          <a:solidFill>
                            <a:srgbClr val="4B4B4B"/>
                          </a:solidFill>
                          <a:latin typeface="Arial"/>
                        </a:rPr>
                        <a:t>Download on a layout row</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CSV template of the layout (header row only)</a:t>
                      </a:r>
                    </a:p>
                  </a:txBody>
                  <a:tcPr marL="54864" marR="54864" marT="27432" marB="27432">
                    <a:solidFill>
                      <a:srgbClr val="E5F5FF"/>
                    </a:solidFill>
                  </a:tcPr>
                </a:tc>
              </a:tr>
              <a:tr h="228600">
                <a:tc>
                  <a:txBody>
                    <a:bodyPr/>
                    <a:lstStyle/>
                    <a:p>
                      <a:r>
                        <a:rPr sz="900" b="0">
                          <a:solidFill>
                            <a:srgbClr val="4B4B4B"/>
                          </a:solidFill>
                          <a:latin typeface="Arial"/>
                        </a:rPr>
                        <a:t>SCR-DM-04</a:t>
                      </a:r>
                    </a:p>
                  </a:txBody>
                  <a:tcPr marL="54864" marR="54864" marT="27432" marB="27432">
                    <a:solidFill>
                      <a:srgbClr val="FFFFFF"/>
                    </a:solidFill>
                  </a:tcPr>
                </a:tc>
                <a:tc>
                  <a:txBody>
                    <a:bodyPr/>
                    <a:lstStyle/>
                    <a:p>
                      <a:r>
                        <a:rPr sz="900" b="0">
                          <a:solidFill>
                            <a:srgbClr val="4B4B4B"/>
                          </a:solidFill>
                          <a:latin typeface="Arial"/>
                        </a:rPr>
                        <a:t>Object Workbook</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workbook of the object of the layout</a:t>
                      </a:r>
                    </a:p>
                  </a:txBody>
                  <a:tcPr marL="54864" marR="54864" marT="27432" marB="27432">
                    <a:solidFill>
                      <a:srgbClr val="FFFFFF"/>
                    </a:solidFill>
                  </a:tcPr>
                </a:tc>
              </a:tr>
              <a:tr h="228600">
                <a:tc>
                  <a:txBody>
                    <a:bodyPr/>
                    <a:lstStyle/>
                    <a:p>
                      <a:r>
                        <a:rPr sz="900" b="0">
                          <a:solidFill>
                            <a:srgbClr val="4B4B4B"/>
                          </a:solidFill>
                          <a:latin typeface="Arial"/>
                        </a:rPr>
                        <a:t>SCR-DM-05</a:t>
                      </a:r>
                    </a:p>
                  </a:txBody>
                  <a:tcPr marL="54864" marR="54864" marT="27432" marB="27432">
                    <a:solidFill>
                      <a:srgbClr val="E5F5FF"/>
                    </a:solidFill>
                  </a:tcPr>
                </a:tc>
                <a:tc>
                  <a:txBody>
                    <a:bodyPr/>
                    <a:lstStyle/>
                    <a:p>
                      <a:r>
                        <a:rPr sz="900" b="0">
                          <a:solidFill>
                            <a:srgbClr val="4B4B4B"/>
                          </a:solidFill>
                          <a:latin typeface="Arial"/>
                        </a:rPr>
                        <a:t>Download on a row</a:t>
                      </a:r>
                    </a:p>
                  </a:txBody>
                  <a:tcPr marL="54864" marR="54864" marT="27432" marB="27432">
                    <a:solidFill>
                      <a:srgbClr val="E5F5FF"/>
                    </a:solidFill>
                  </a:tcPr>
                </a:tc>
                <a:tc>
                  <a:txBody>
                    <a:bodyPr/>
                    <a:lstStyle/>
                    <a:p>
                      <a:r>
                        <a:rPr sz="900" b="0">
                          <a:solidFill>
                            <a:srgbClr val="4B4B4B"/>
                          </a:solidFill>
                          <a:latin typeface="Arial"/>
                        </a:rPr>
                        <a:t>Migration Operator</a:t>
                      </a:r>
                    </a:p>
                  </a:txBody>
                  <a:tcPr marL="54864" marR="54864" marT="27432" marB="27432">
                    <a:solidFill>
                      <a:srgbClr val="E5F5FF"/>
                    </a:solidFill>
                  </a:tcPr>
                </a:tc>
                <a:tc>
                  <a:txBody>
                    <a:bodyPr/>
                    <a:lstStyle/>
                    <a:p>
                      <a:r>
                        <a:rPr sz="900" b="0">
                          <a:solidFill>
                            <a:srgbClr val="4B4B4B"/>
                          </a:solidFill>
                          <a:latin typeface="Arial"/>
                        </a:rPr>
                        <a:t>Downloads the data file as received</a:t>
                      </a:r>
                    </a:p>
                  </a:txBody>
                  <a:tcPr marL="54864" marR="54864" marT="27432" marB="27432">
                    <a:solidFill>
                      <a:srgbClr val="E5F5FF"/>
                    </a:solidFill>
                  </a:tcPr>
                </a:tc>
              </a:tr>
              <a:tr h="228600">
                <a:tc>
                  <a:txBody>
                    <a:bodyPr/>
                    <a:lstStyle/>
                    <a:p>
                      <a:r>
                        <a:rPr sz="900" b="0">
                          <a:solidFill>
                            <a:srgbClr val="4B4B4B"/>
                          </a:solidFill>
                          <a:latin typeface="Arial"/>
                        </a:rPr>
                        <a:t>SCR-DM-07</a:t>
                      </a:r>
                    </a:p>
                  </a:txBody>
                  <a:tcPr marL="54864" marR="54864" marT="27432" marB="27432">
                    <a:solidFill>
                      <a:srgbClr val="FFFFFF"/>
                    </a:solidFill>
                  </a:tcPr>
                </a:tc>
                <a:tc>
                  <a:txBody>
                    <a:bodyPr/>
                    <a:lstStyle/>
                    <a:p>
                      <a:r>
                        <a:rPr sz="900" b="0">
                          <a:solidFill>
                            <a:srgbClr val="4B4B4B"/>
                          </a:solidFill>
                          <a:latin typeface="Arial"/>
                        </a:rPr>
                        <a:t>Rejects</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rejected rows with their messages and the correction columns</a:t>
                      </a:r>
                    </a:p>
                  </a:txBody>
                  <a:tcPr marL="54864" marR="54864" marT="27432" marB="27432">
                    <a:solidFill>
                      <a:srgbClr val="FFFFFF"/>
                    </a:solidFill>
                  </a:tcPr>
                </a:tc>
              </a:tr>
              <a:tr h="228600">
                <a:tc>
                  <a:txBody>
                    <a:bodyPr/>
                    <a:lstStyle/>
                    <a:p>
                      <a:r>
                        <a:rPr sz="900" b="0">
                          <a:solidFill>
                            <a:srgbClr val="4B4B4B"/>
                          </a:solidFill>
                          <a:latin typeface="Arial"/>
                        </a:rPr>
                        <a:t>SCR-DM-12</a:t>
                      </a:r>
                    </a:p>
                  </a:txBody>
                  <a:tcPr marL="54864" marR="54864" marT="27432" marB="27432">
                    <a:solidFill>
                      <a:srgbClr val="E5F5FF"/>
                    </a:solidFill>
                  </a:tcPr>
                </a:tc>
                <a:tc>
                  <a:txBody>
                    <a:bodyPr/>
                    <a:lstStyle/>
                    <a:p>
                      <a:r>
                        <a:rPr sz="900" b="0">
                          <a:solidFill>
                            <a:srgbClr val="4B4B4B"/>
                          </a:solidFill>
                          <a:latin typeface="Arial"/>
                        </a:rPr>
                        <a:t>Runbook</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runbook workbook of the plan</a:t>
                      </a:r>
                    </a:p>
                  </a:txBody>
                  <a:tcPr marL="54864" marR="54864" marT="27432" marB="27432">
                    <a:solidFill>
                      <a:srgbClr val="E5F5FF"/>
                    </a:solidFill>
                  </a:tcPr>
                </a:tc>
              </a:tr>
              <a:tr h="365760">
                <a:tc>
                  <a:txBody>
                    <a:bodyPr/>
                    <a:lstStyle/>
                    <a:p>
                      <a:r>
                        <a:rPr sz="900" b="0">
                          <a:solidFill>
                            <a:srgbClr val="4B4B4B"/>
                          </a:solidFill>
                          <a:latin typeface="Arial"/>
                        </a:rPr>
                        <a:t>SCR-DM-14</a:t>
                      </a:r>
                    </a:p>
                  </a:txBody>
                  <a:tcPr marL="54864" marR="54864" marT="27432" marB="27432">
                    <a:solidFill>
                      <a:srgbClr val="FFFFFF"/>
                    </a:solidFill>
                  </a:tcPr>
                </a:tc>
                <a:tc>
                  <a:txBody>
                    <a:bodyPr/>
                    <a:lstStyle/>
                    <a:p>
                      <a:r>
                        <a:rPr sz="900" b="0">
                          <a:solidFill>
                            <a:srgbClr val="4B4B4B"/>
                          </a:solidFill>
                          <a:latin typeface="Arial"/>
                        </a:rPr>
                        <a:t>Export</a:t>
                      </a:r>
                    </a:p>
                  </a:txBody>
                  <a:tcPr marL="54864" marR="54864" marT="27432" marB="27432">
                    <a:solidFill>
                      <a:srgbClr val="FFFFFF"/>
                    </a:solidFill>
                  </a:tcPr>
                </a:tc>
                <a:tc>
                  <a:txBody>
                    <a:bodyPr/>
                    <a:lstStyle/>
                    <a:p>
                      <a:r>
                        <a:rPr sz="900" b="0">
                          <a:solidFill>
                            <a:srgbClr val="4B4B4B"/>
                          </a:solidFill>
                          <a:latin typeface="Arial"/>
                        </a:rPr>
                        <a:t>Audit / Compliance user with the export right</a:t>
                      </a:r>
                    </a:p>
                  </a:txBody>
                  <a:tcPr marL="54864" marR="54864" marT="27432" marB="27432">
                    <a:solidFill>
                      <a:srgbClr val="FFFFFF"/>
                    </a:solidFill>
                  </a:tcPr>
                </a:tc>
                <a:tc>
                  <a:txBody>
                    <a:bodyPr/>
                    <a:lstStyle/>
                    <a:p>
                      <a:r>
                        <a:rPr sz="900" b="0">
                          <a:solidFill>
                            <a:srgbClr val="4B4B4B"/>
                          </a:solidFill>
                          <a:latin typeface="Arial"/>
                        </a:rPr>
                        <a:t>Exports the records to Excel, up to 1,000 at a time; the export is logged</a:t>
                      </a:r>
                    </a:p>
                  </a:txBody>
                  <a:tcPr marL="54864" marR="54864" marT="27432" marB="27432">
                    <a:solidFill>
                      <a:srgbClr val="FFFFFF"/>
                    </a:solidFill>
                  </a:tcPr>
                </a:tc>
              </a:tr>
              <a:tr h="228600">
                <a:tc>
                  <a:txBody>
                    <a:bodyPr/>
                    <a:lstStyle/>
                    <a:p>
                      <a:r>
                        <a:rPr sz="900" b="0">
                          <a:solidFill>
                            <a:srgbClr val="4B4B4B"/>
                          </a:solidFill>
                          <a:latin typeface="Arial"/>
                        </a:rPr>
                        <a:t>SCR-DM-14</a:t>
                      </a:r>
                    </a:p>
                  </a:txBody>
                  <a:tcPr marL="54864" marR="54864" marT="27432" marB="27432">
                    <a:solidFill>
                      <a:srgbClr val="E5F5FF"/>
                    </a:solidFill>
                  </a:tcPr>
                </a:tc>
                <a:tc>
                  <a:txBody>
                    <a:bodyPr/>
                    <a:lstStyle/>
                    <a:p>
                      <a:r>
                        <a:rPr sz="900" b="0">
                          <a:solidFill>
                            <a:srgbClr val="4B4B4B"/>
                          </a:solidFill>
                          <a:latin typeface="Arial"/>
                        </a:rPr>
                        <a:t>Download a document</a:t>
                      </a:r>
                    </a:p>
                  </a:txBody>
                  <a:tcPr marL="54864" marR="54864" marT="27432" marB="27432">
                    <a:solidFill>
                      <a:srgbClr val="E5F5FF"/>
                    </a:solidFill>
                  </a:tcPr>
                </a:tc>
                <a:tc>
                  <a:txBody>
                    <a:bodyPr/>
                    <a:lstStyle/>
                    <a:p>
                      <a:r>
                        <a:rPr sz="900" b="0">
                          <a:solidFill>
                            <a:srgbClr val="4B4B4B"/>
                          </a:solidFill>
                          <a:latin typeface="Arial"/>
                        </a:rPr>
                        <a:t>Audit / Compliance user</a:t>
                      </a:r>
                    </a:p>
                  </a:txBody>
                  <a:tcPr marL="54864" marR="54864" marT="27432" marB="27432">
                    <a:solidFill>
                      <a:srgbClr val="E5F5FF"/>
                    </a:solidFill>
                  </a:tcPr>
                </a:tc>
                <a:tc>
                  <a:txBody>
                    <a:bodyPr/>
                    <a:lstStyle/>
                    <a:p>
                      <a:r>
                        <a:rPr sz="900" b="0">
                          <a:solidFill>
                            <a:srgbClr val="4B4B4B"/>
                          </a:solidFill>
                          <a:latin typeface="Arial"/>
                        </a:rPr>
                        <a:t>Downloads the document; the download is logged</a:t>
                      </a:r>
                    </a:p>
                  </a:txBody>
                  <a:tcPr marL="54864" marR="54864" marT="27432" marB="27432">
                    <a:solidFill>
                      <a:srgbClr val="E5F5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3" cy="29260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PR-DM-04</a:t>
                      </a:r>
                    </a:p>
                  </a:txBody>
                  <a:tcPr marL="54864" marR="54864" marT="27432" marB="27432">
                    <a:solidFill>
                      <a:srgbClr val="FFFFFF"/>
                    </a:solidFill>
                  </a:tcPr>
                </a:tc>
                <a:tc>
                  <a:txBody>
                    <a:bodyPr/>
                    <a:lstStyle/>
                    <a:p>
                      <a:r>
                        <a:rPr sz="900" b="0">
                          <a:solidFill>
                            <a:srgbClr val="4B4B4B"/>
                          </a:solidFill>
                          <a:latin typeface="Arial"/>
                        </a:rPr>
                        <a:t>Legacy document folder and read-only links</a:t>
                      </a:r>
                    </a:p>
                  </a:txBody>
                  <a:tcPr marL="54864" marR="54864" marT="27432" marB="27432">
                    <a:solidFill>
                      <a:srgbClr val="FFFFFF"/>
                    </a:solidFill>
                  </a:tcPr>
                </a:tc>
                <a:tc>
                  <a:txBody>
                    <a:bodyPr/>
                    <a:lstStyle/>
                    <a:p>
                      <a:r>
                        <a:rPr sz="900" b="0">
                          <a:solidFill>
                            <a:srgbClr val="4B4B4B"/>
                          </a:solidFill>
                          <a:latin typeface="Arial"/>
                        </a:rPr>
                        <a:t>Legacy documents (policies, SOAs, ORs, certificates, letters, KYC files) are copied by BDOI IT into a transfer folder with an index file (layout H02) and a SHA-256 per file; BIBS archives them with their record. Each legacy application stays available read-only until it is decommissioned; its address is shown in Legacy Inquiry for the users who still need it</a:t>
                      </a:r>
                    </a:p>
                  </a:txBody>
                  <a:tcPr marL="54864" marR="54864" marT="27432" marB="27432">
                    <a:solidFill>
                      <a:srgbClr val="FFFFFF"/>
                    </a:solidFill>
                  </a:tcPr>
                </a:tc>
                <a:tc>
                  <a:txBody>
                    <a:bodyPr/>
                    <a:lstStyle/>
                    <a:p>
                      <a:r>
                        <a:rPr sz="900" b="0">
                          <a:solidFill>
                            <a:srgbClr val="4B4B4B"/>
                          </a:solidFill>
                          <a:latin typeface="Arial"/>
                        </a:rPr>
                        <a:t>BDOI IT names the transfer folder and the read-only address of EBIX and QPS; Audit / Compliance confirms per system whether history is archived in BIBS or read in legacy until decommissioning</a:t>
                      </a:r>
                    </a:p>
                  </a:txBody>
                  <a:tcPr marL="54864" marR="54864" marT="27432" marB="27432">
                    <a:solidFill>
                      <a:srgbClr val="FFFFFF"/>
                    </a:solidFill>
                  </a:tcPr>
                </a:tc>
              </a:tr>
              <a:tr h="777240">
                <a:tc>
                  <a:txBody>
                    <a:bodyPr/>
                    <a:lstStyle/>
                    <a:p>
                      <a:r>
                        <a:rPr sz="900" b="0">
                          <a:solidFill>
                            <a:srgbClr val="4B4B4B"/>
                          </a:solidFill>
                          <a:latin typeface="Arial"/>
                        </a:rPr>
                        <a:t>PR-DM-06</a:t>
                      </a:r>
                    </a:p>
                  </a:txBody>
                  <a:tcPr marL="54864" marR="54864" marT="27432" marB="27432">
                    <a:solidFill>
                      <a:srgbClr val="E5F5FF"/>
                    </a:solidFill>
                  </a:tcPr>
                </a:tc>
                <a:tc>
                  <a:txBody>
                    <a:bodyPr/>
                    <a:lstStyle/>
                    <a:p>
                      <a:r>
                        <a:rPr sz="900" b="0">
                          <a:solidFill>
                            <a:srgbClr val="4B4B4B"/>
                          </a:solidFill>
                          <a:latin typeface="Arial"/>
                        </a:rPr>
                        <a:t>Approval levels of the legacy batches</a:t>
                      </a:r>
                    </a:p>
                  </a:txBody>
                  <a:tcPr marL="54864" marR="54864" marT="27432" marB="27432">
                    <a:solidFill>
                      <a:srgbClr val="E5F5FF"/>
                    </a:solidFill>
                  </a:tcPr>
                </a:tc>
                <a:tc>
                  <a:txBody>
                    <a:bodyPr/>
                    <a:lstStyle/>
                    <a:p>
                      <a:r>
                        <a:rPr sz="900" b="0">
                          <a:solidFill>
                            <a:srgbClr val="4B4B4B"/>
                          </a:solidFill>
                          <a:latin typeface="Arial"/>
                        </a:rPr>
                        <a:t>Unapplied to Income: requested by a Cashiering user, approved by the Cashiering team lead and then by top management (two different people). Legacy PR 2307 Reversal: requested by a Cashiering user, approved by the Cashiering team lead. DP PR Legacy Reversal: requested by a Commission user, approved by the Commission team lead. In every batch the requester never approves</a:t>
                      </a:r>
                    </a:p>
                  </a:txBody>
                  <a:tcPr marL="54864" marR="54864" marT="27432" marB="27432">
                    <a:solidFill>
                      <a:srgbClr val="E5F5FF"/>
                    </a:solidFill>
                  </a:tcPr>
                </a:tc>
                <a:tc>
                  <a:txBody>
                    <a:bodyPr/>
                    <a:lstStyle/>
                    <a:p>
                      <a:r>
                        <a:rPr sz="900" b="0">
                          <a:solidFill>
                            <a:srgbClr val="4B4B4B"/>
                          </a:solidFill>
                          <a:latin typeface="Arial"/>
                        </a:rPr>
                        <a:t>Comptrollership confirms the approvers per batch, names top management, and gives the income account and the minimum age of an unapplied payment for the reclassification</a:t>
                      </a:r>
                    </a:p>
                  </a:txBody>
                  <a:tcPr marL="54864" marR="54864" marT="27432" marB="27432">
                    <a:solidFill>
                      <a:srgbClr val="E5F5FF"/>
                    </a:solidFill>
                  </a:tcPr>
                </a:tc>
              </a:tr>
              <a:tr h="777240">
                <a:tc>
                  <a:txBody>
                    <a:bodyPr/>
                    <a:lstStyle/>
                    <a:p>
                      <a:r>
                        <a:rPr sz="900" b="0">
                          <a:solidFill>
                            <a:srgbClr val="4B4B4B"/>
                          </a:solidFill>
                          <a:latin typeface="Arial"/>
                        </a:rPr>
                        <a:t>PR-DM-09</a:t>
                      </a:r>
                    </a:p>
                  </a:txBody>
                  <a:tcPr marL="54864" marR="54864" marT="27432" marB="27432">
                    <a:solidFill>
                      <a:srgbClr val="FFFFFF"/>
                    </a:solidFill>
                  </a:tcPr>
                </a:tc>
                <a:tc>
                  <a:txBody>
                    <a:bodyPr/>
                    <a:lstStyle/>
                    <a:p>
                      <a:r>
                        <a:rPr sz="900" b="0">
                          <a:solidFill>
                            <a:srgbClr val="4B4B4B"/>
                          </a:solidFill>
                          <a:latin typeface="Arial"/>
                        </a:rPr>
                        <a:t>Client matching keys and thresholds</a:t>
                      </a:r>
                    </a:p>
                  </a:txBody>
                  <a:tcPr marL="54864" marR="54864" marT="27432" marB="27432">
                    <a:solidFill>
                      <a:srgbClr val="FFFFFF"/>
                    </a:solidFill>
                  </a:tcPr>
                </a:tc>
                <a:tc>
                  <a:txBody>
                    <a:bodyPr/>
                    <a:lstStyle/>
                    <a:p>
                      <a:r>
                        <a:rPr sz="900" b="0">
                          <a:solidFill>
                            <a:srgbClr val="4B4B4B"/>
                          </a:solidFill>
                          <a:latin typeface="Arial"/>
                        </a:rPr>
                        <a:t>Keys: TIN; ID type and number; name and birth date; corporate name with registration number; bank CIF if confirmed; e-mail and mobile as soft keys. Pairs scoring 90 or more merge; 60 to 89 go to the Data Steward's review queue; the client load waits until the queue is empty. Per field the first non-blank value wins by source priority (QPS for contact data, EBIX for billing data)</a:t>
                      </a:r>
                    </a:p>
                  </a:txBody>
                  <a:tcPr marL="54864" marR="54864" marT="27432" marB="27432">
                    <a:solidFill>
                      <a:srgbClr val="FFFFFF"/>
                    </a:solidFill>
                  </a:tcPr>
                </a:tc>
                <a:tc>
                  <a:txBody>
                    <a:bodyPr/>
                    <a:lstStyle/>
                    <a:p>
                      <a:r>
                        <a:rPr sz="900" b="0">
                          <a:solidFill>
                            <a:srgbClr val="4B4B4B"/>
                          </a:solidFill>
                          <a:latin typeface="Arial"/>
                        </a:rPr>
                        <a:t>The Product Owner of MBS confirms the keys (is the bank CIF a key?), the thresholds and the source priority</a:t>
                      </a:r>
                    </a:p>
                  </a:txBody>
                  <a:tcPr marL="54864" marR="54864" marT="27432" marB="27432">
                    <a:solidFill>
                      <a:srgbClr val="FFFFFF"/>
                    </a:solidFill>
                  </a:tcPr>
                </a:tc>
              </a:tr>
              <a:tr h="502920">
                <a:tc>
                  <a:txBody>
                    <a:bodyPr/>
                    <a:lstStyle/>
                    <a:p>
                      <a:r>
                        <a:rPr sz="900" b="0">
                          <a:solidFill>
                            <a:srgbClr val="4B4B4B"/>
                          </a:solidFill>
                          <a:latin typeface="Arial"/>
                        </a:rPr>
                        <a:t>PR-DM-10</a:t>
                      </a:r>
                    </a:p>
                  </a:txBody>
                  <a:tcPr marL="54864" marR="54864" marT="27432" marB="27432">
                    <a:solidFill>
                      <a:srgbClr val="E5F5FF"/>
                    </a:solidFill>
                  </a:tcPr>
                </a:tc>
                <a:tc>
                  <a:txBody>
                    <a:bodyPr/>
                    <a:lstStyle/>
                    <a:p>
                      <a:r>
                        <a:rPr sz="900" b="0">
                          <a:solidFill>
                            <a:srgbClr val="4B4B4B"/>
                          </a:solidFill>
                          <a:latin typeface="Arial"/>
                        </a:rPr>
                        <a:t>Loading thresholds</a:t>
                      </a:r>
                    </a:p>
                  </a:txBody>
                  <a:tcPr marL="54864" marR="54864" marT="27432" marB="27432">
                    <a:solidFill>
                      <a:srgbClr val="E5F5FF"/>
                    </a:solidFill>
                  </a:tcPr>
                </a:tc>
                <a:tc>
                  <a:txBody>
                    <a:bodyPr/>
                    <a:lstStyle/>
                    <a:p>
                      <a:r>
                        <a:rPr sz="900" b="0">
                          <a:solidFill>
                            <a:srgbClr val="4B4B4B"/>
                          </a:solidFill>
                          <a:latin typeface="Arial"/>
                        </a:rPr>
                        <a:t>Master data may be loaded with at most 0.5 percent of rows rejected or waived; open invoices, unapplied payments and the trial balance only with no error, or with each excluded row approved by its owner with a manual-entry plan</a:t>
                      </a:r>
                    </a:p>
                  </a:txBody>
                  <a:tcPr marL="54864" marR="54864" marT="27432" marB="27432">
                    <a:solidFill>
                      <a:srgbClr val="E5F5FF"/>
                    </a:solidFill>
                  </a:tcPr>
                </a:tc>
                <a:tc>
                  <a:txBody>
                    <a:bodyPr/>
                    <a:lstStyle/>
                    <a:p>
                      <a:r>
                        <a:rPr sz="900" b="0">
                          <a:solidFill>
                            <a:srgbClr val="4B4B4B"/>
                          </a:solidFill>
                          <a:latin typeface="Arial"/>
                        </a:rPr>
                        <a:t>Comptrollership and the data owners confirm the two thresholds</a:t>
                      </a:r>
                    </a:p>
                  </a:txBody>
                  <a:tcPr marL="54864" marR="54864" marT="27432" marB="27432">
                    <a:solidFill>
                      <a:srgbClr val="E5F5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3" cy="21945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UX-DM-01</a:t>
                      </a:r>
                    </a:p>
                  </a:txBody>
                  <a:tcPr marL="54864" marR="54864" marT="27432" marB="27432">
                    <a:solidFill>
                      <a:srgbClr val="FFFFFF"/>
                    </a:solidFill>
                  </a:tcPr>
                </a:tc>
                <a:tc>
                  <a:txBody>
                    <a:bodyPr/>
                    <a:lstStyle/>
                    <a:p>
                      <a:r>
                        <a:rPr sz="900" b="0">
                          <a:solidFill>
                            <a:srgbClr val="4B4B4B"/>
                          </a:solidFill>
                          <a:latin typeface="Arial"/>
                        </a:rPr>
                        <a:t>NAV-DM-01, NAV-DM-02, NAV-DM-03, NAV-DM-04, NAV-DM-05, NAV-DM-06</a:t>
                      </a:r>
                    </a:p>
                  </a:txBody>
                  <a:tcPr marL="54864" marR="54864" marT="27432" marB="27432">
                    <a:solidFill>
                      <a:srgbClr val="FFFFFF"/>
                    </a:solidFill>
                  </a:tcPr>
                </a:tc>
                <a:tc>
                  <a:txBody>
                    <a:bodyPr/>
                    <a:lstStyle/>
                    <a:p>
                      <a:r>
                        <a:rPr sz="900" b="0">
                          <a:solidFill>
                            <a:srgbClr val="4B4B4B"/>
                          </a:solidFill>
                          <a:latin typeface="Arial"/>
                        </a:rPr>
                        <a:t>The migration personas land on My Approvals after sign-in, not on Migration Home, which holds the progress tiles and the next cut-over tasks of their work.</a:t>
                      </a:r>
                    </a:p>
                  </a:txBody>
                  <a:tcPr marL="54864" marR="54864" marT="27432" marB="27432">
                    <a:solidFill>
                      <a:srgbClr val="FFFFFF"/>
                    </a:solidFill>
                  </a:tcPr>
                </a:tc>
                <a:tc>
                  <a:txBody>
                    <a:bodyPr/>
                    <a:lstStyle/>
                    <a:p>
                      <a:r>
                        <a:rPr sz="900" b="0">
                          <a:solidFill>
                            <a:srgbClr val="4B4B4B"/>
                          </a:solidFill>
                          <a:latin typeface="Arial"/>
                        </a:rPr>
                        <a:t>Land the migration roles on Migration Home; keep My Approvals one click away in the menu.</a:t>
                      </a:r>
                    </a:p>
                  </a:txBody>
                  <a:tcPr marL="54864" marR="54864" marT="27432" marB="27432">
                    <a:solidFill>
                      <a:srgbClr val="FFFFFF"/>
                    </a:solidFill>
                  </a:tcPr>
                </a:tc>
              </a:tr>
              <a:tr h="502920">
                <a:tc>
                  <a:txBody>
                    <a:bodyPr/>
                    <a:lstStyle/>
                    <a:p>
                      <a:r>
                        <a:rPr sz="900" b="0">
                          <a:solidFill>
                            <a:srgbClr val="4B4B4B"/>
                          </a:solidFill>
                          <a:latin typeface="Arial"/>
                        </a:rPr>
                        <a:t>UX-DM-02</a:t>
                      </a:r>
                    </a:p>
                  </a:txBody>
                  <a:tcPr marL="54864" marR="54864" marT="27432" marB="27432">
                    <a:solidFill>
                      <a:srgbClr val="E5F5FF"/>
                    </a:solidFill>
                  </a:tcPr>
                </a:tc>
                <a:tc>
                  <a:txBody>
                    <a:bodyPr/>
                    <a:lstStyle/>
                    <a:p>
                      <a:r>
                        <a:rPr sz="900" b="0">
                          <a:solidFill>
                            <a:srgbClr val="4B4B4B"/>
                          </a:solidFill>
                          <a:latin typeface="Arial"/>
                        </a:rPr>
                        <a:t>SCR-DM-05, SCR-DM-12</a:t>
                      </a:r>
                    </a:p>
                  </a:txBody>
                  <a:tcPr marL="54864" marR="54864" marT="27432" marB="27432">
                    <a:solidFill>
                      <a:srgbClr val="E5F5FF"/>
                    </a:solidFill>
                  </a:tcPr>
                </a:tc>
                <a:tc>
                  <a:txBody>
                    <a:bodyPr/>
                    <a:lstStyle/>
                    <a:p>
                      <a:r>
                        <a:rPr sz="900" b="0">
                          <a:solidFill>
                            <a:srgbClr val="4B4B4B"/>
                          </a:solidFill>
                          <a:latin typeface="Arial"/>
                        </a:rPr>
                        <a:t>Upload and Check (Extracts) and Create (New Cutover Plan) stay disabled until every mandatory input is given; no message tells the user what is missing.</a:t>
                      </a:r>
                    </a:p>
                  </a:txBody>
                  <a:tcPr marL="54864" marR="54864" marT="27432" marB="27432">
                    <a:solidFill>
                      <a:srgbClr val="E5F5FF"/>
                    </a:solidFill>
                  </a:tcPr>
                </a:tc>
                <a:tc>
                  <a:txBody>
                    <a:bodyPr/>
                    <a:lstStyle/>
                    <a:p>
                      <a:r>
                        <a:rPr sz="900" b="0">
                          <a:solidFill>
                            <a:srgbClr val="4B4B4B"/>
                          </a:solidFill>
                          <a:latin typeface="Arial"/>
                        </a:rPr>
                        <a:t>Keep the button enabled and show the field messages and the summary of the form standard on submit, or show a one-line hint of what is still needed next to the disabled button.</a:t>
                      </a:r>
                    </a:p>
                  </a:txBody>
                  <a:tcPr marL="54864" marR="54864" marT="27432" marB="27432">
                    <a:solidFill>
                      <a:srgbClr val="E5F5FF"/>
                    </a:solidFill>
                  </a:tcPr>
                </a:tc>
              </a:tr>
              <a:tr h="365760">
                <a:tc>
                  <a:txBody>
                    <a:bodyPr/>
                    <a:lstStyle/>
                    <a:p>
                      <a:r>
                        <a:rPr sz="900" b="0">
                          <a:solidFill>
                            <a:srgbClr val="4B4B4B"/>
                          </a:solidFill>
                          <a:latin typeface="Arial"/>
                        </a:rPr>
                        <a:t>UX-DM-03</a:t>
                      </a:r>
                    </a:p>
                  </a:txBody>
                  <a:tcPr marL="54864" marR="54864" marT="27432" marB="27432">
                    <a:solidFill>
                      <a:srgbClr val="FFFFFF"/>
                    </a:solidFill>
                  </a:tcPr>
                </a:tc>
                <a:tc>
                  <a:txBody>
                    <a:bodyPr/>
                    <a:lstStyle/>
                    <a:p>
                      <a:r>
                        <a:rPr sz="900" b="0">
                          <a:solidFill>
                            <a:srgbClr val="4B4B4B"/>
                          </a:solidFill>
                          <a:latin typeface="Arial"/>
                        </a:rPr>
                        <a:t>SCR-DM-05</a:t>
                      </a:r>
                    </a:p>
                  </a:txBody>
                  <a:tcPr marL="54864" marR="54864" marT="27432" marB="27432">
                    <a:solidFill>
                      <a:srgbClr val="FFFFFF"/>
                    </a:solidFill>
                  </a:tcPr>
                </a:tc>
                <a:tc>
                  <a:txBody>
                    <a:bodyPr/>
                    <a:lstStyle/>
                    <a:p>
                      <a:r>
                        <a:rPr sz="900" b="0">
                          <a:solidFill>
                            <a:srgbClr val="4B4B4B"/>
                          </a:solidFill>
                          <a:latin typeface="Arial"/>
                        </a:rPr>
                        <a:t>A rejected extract shows its reason in a message at the bottom right and in the Rejection reason column; the reason names one check only.</a:t>
                      </a:r>
                    </a:p>
                  </a:txBody>
                  <a:tcPr marL="54864" marR="54864" marT="27432" marB="27432">
                    <a:solidFill>
                      <a:srgbClr val="FFFFFF"/>
                    </a:solidFill>
                  </a:tcPr>
                </a:tc>
                <a:tc>
                  <a:txBody>
                    <a:bodyPr/>
                    <a:lstStyle/>
                    <a:p>
                      <a:r>
                        <a:rPr sz="900" b="0">
                          <a:solidFill>
                            <a:srgbClr val="4B4B4B"/>
                          </a:solidFill>
                          <a:latin typeface="Arial"/>
                        </a:rPr>
                        <a:t>List every intake check that failed as bullets of the error notice, next to the upload card.</a:t>
                      </a:r>
                    </a:p>
                  </a:txBody>
                  <a:tcPr marL="54864" marR="54864" marT="27432" marB="27432">
                    <a:solidFill>
                      <a:srgbClr val="FFFFFF"/>
                    </a:solidFill>
                  </a:tcPr>
                </a:tc>
              </a:tr>
              <a:tr h="365760">
                <a:tc>
                  <a:txBody>
                    <a:bodyPr/>
                    <a:lstStyle/>
                    <a:p>
                      <a:r>
                        <a:rPr sz="900" b="0">
                          <a:solidFill>
                            <a:srgbClr val="4B4B4B"/>
                          </a:solidFill>
                          <a:latin typeface="Arial"/>
                        </a:rPr>
                        <a:t>UX-DM-04</a:t>
                      </a:r>
                    </a:p>
                  </a:txBody>
                  <a:tcPr marL="54864" marR="54864" marT="27432" marB="27432">
                    <a:solidFill>
                      <a:srgbClr val="E5F5FF"/>
                    </a:solidFill>
                  </a:tcPr>
                </a:tc>
                <a:tc>
                  <a:txBody>
                    <a:bodyPr/>
                    <a:lstStyle/>
                    <a:p>
                      <a:r>
                        <a:rPr sz="900" b="0">
                          <a:solidFill>
                            <a:srgbClr val="4B4B4B"/>
                          </a:solidFill>
                          <a:latin typeface="Arial"/>
                        </a:rPr>
                        <a:t>SCR-DM-05</a:t>
                      </a:r>
                    </a:p>
                  </a:txBody>
                  <a:tcPr marL="54864" marR="54864" marT="27432" marB="27432">
                    <a:solidFill>
                      <a:srgbClr val="E5F5FF"/>
                    </a:solidFill>
                  </a:tcPr>
                </a:tc>
                <a:tc>
                  <a:txBody>
                    <a:bodyPr/>
                    <a:lstStyle/>
                    <a:p>
                      <a:r>
                        <a:rPr sz="900" b="0">
                          <a:solidFill>
                            <a:srgbClr val="4B4B4B"/>
                          </a:solidFill>
                          <a:latin typeface="Arial"/>
                        </a:rPr>
                        <a:t>The Rows column reads "0 / 3" without saying which figure is which.</a:t>
                      </a:r>
                    </a:p>
                  </a:txBody>
                  <a:tcPr marL="54864" marR="54864" marT="27432" marB="27432">
                    <a:solidFill>
                      <a:srgbClr val="E5F5FF"/>
                    </a:solidFill>
                  </a:tcPr>
                </a:tc>
                <a:tc>
                  <a:txBody>
                    <a:bodyPr/>
                    <a:lstStyle/>
                    <a:p>
                      <a:r>
                        <a:rPr sz="900" b="0">
                          <a:solidFill>
                            <a:srgbClr val="4B4B4B"/>
                          </a:solidFill>
                          <a:latin typeface="Arial"/>
                        </a:rPr>
                        <a:t>Name the column Rows staged / received, or show the two figures in two columns.</a:t>
                      </a:r>
                    </a:p>
                  </a:txBody>
                  <a:tcPr marL="54864" marR="54864" marT="27432" marB="27432">
                    <a:solidFill>
                      <a:srgbClr val="E5F5FF"/>
                    </a:solidFill>
                  </a:tcPr>
                </a:tc>
              </a:tr>
              <a:tr h="228600">
                <a:tc>
                  <a:txBody>
                    <a:bodyPr/>
                    <a:lstStyle/>
                    <a:p>
                      <a:r>
                        <a:rPr sz="900" b="0">
                          <a:solidFill>
                            <a:srgbClr val="4B4B4B"/>
                          </a:solidFill>
                          <a:latin typeface="Arial"/>
                        </a:rPr>
                        <a:t>UX-DM-05</a:t>
                      </a:r>
                    </a:p>
                  </a:txBody>
                  <a:tcPr marL="54864" marR="54864" marT="27432" marB="27432">
                    <a:solidFill>
                      <a:srgbClr val="FFFFFF"/>
                    </a:solidFill>
                  </a:tcPr>
                </a:tc>
                <a:tc>
                  <a:txBody>
                    <a:bodyPr/>
                    <a:lstStyle/>
                    <a:p>
                      <a:r>
                        <a:rPr sz="900" b="0">
                          <a:solidFill>
                            <a:srgbClr val="4B4B4B"/>
                          </a:solidFill>
                          <a:latin typeface="Arial"/>
                        </a:rPr>
                        <a:t>NAV-DM-01</a:t>
                      </a:r>
                    </a:p>
                  </a:txBody>
                  <a:tcPr marL="54864" marR="54864" marT="27432" marB="27432">
                    <a:solidFill>
                      <a:srgbClr val="FFFFFF"/>
                    </a:solidFill>
                  </a:tcPr>
                </a:tc>
                <a:tc>
                  <a:txBody>
                    <a:bodyPr/>
                    <a:lstStyle/>
                    <a:p>
                      <a:r>
                        <a:rPr sz="900" b="0">
                          <a:solidFill>
                            <a:srgbClr val="4B4B4B"/>
                          </a:solidFill>
                          <a:latin typeface="Arial"/>
                        </a:rPr>
                        <a:t>The tile of My Approvals reads "Oldest 0 day(s)".</a:t>
                      </a:r>
                    </a:p>
                  </a:txBody>
                  <a:tcPr marL="54864" marR="54864" marT="27432" marB="27432">
                    <a:solidFill>
                      <a:srgbClr val="FFFFFF"/>
                    </a:solidFill>
                  </a:tcPr>
                </a:tc>
                <a:tc>
                  <a:txBody>
                    <a:bodyPr/>
                    <a:lstStyle/>
                    <a:p>
                      <a:r>
                        <a:rPr sz="900" b="0">
                          <a:solidFill>
                            <a:srgbClr val="4B4B4B"/>
                          </a:solidFill>
                          <a:latin typeface="Arial"/>
                        </a:rPr>
                        <a:t>Write day counts in words as the tables do ("0 days", "1 day", "12 days").</a:t>
                      </a:r>
                    </a:p>
                  </a:txBody>
                  <a:tcPr marL="54864" marR="54864" marT="27432" marB="27432">
                    <a:solidFill>
                      <a:srgbClr val="FFFF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25880"/>
          <a:ext cx="11094412" cy="480819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480057">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Data Migration Handbook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SCR-DM-01</a:t>
                      </a:r>
                    </a:p>
                  </a:txBody>
                  <a:tcPr marL="54864" marR="54864" marT="27432" marB="27432">
                    <a:solidFill>
                      <a:srgbClr val="FFFFFF"/>
                    </a:solidFill>
                  </a:tcPr>
                </a:tc>
                <a:tc>
                  <a:txBody>
                    <a:bodyPr/>
                    <a:lstStyle/>
                    <a:p>
                      <a:r>
                        <a:rPr sz="850" b="0">
                          <a:solidFill>
                            <a:srgbClr val="4B4B4B"/>
                          </a:solidFill>
                          <a:latin typeface="Arial"/>
                        </a:rPr>
                        <a:t>Migration Home</a:t>
                      </a:r>
                    </a:p>
                  </a:txBody>
                  <a:tcPr marL="54864" marR="54864" marT="27432" marB="27432">
                    <a:solidFill>
                      <a:srgbClr val="FFFFFF"/>
                    </a:solidFill>
                  </a:tcPr>
                </a:tc>
                <a:tc>
                  <a:txBody>
                    <a:bodyPr/>
                    <a:lstStyle/>
                    <a:p>
                      <a:r>
                        <a:rPr sz="850" b="0">
                          <a:solidFill>
                            <a:srgbClr val="4B4B4B"/>
                          </a:solidFill>
                          <a:latin typeface="Arial"/>
                        </a:rPr>
                        <a:t>19.1.1</a:t>
                      </a:r>
                    </a:p>
                  </a:txBody>
                  <a:tcPr marL="54864" marR="54864" marT="27432" marB="27432">
                    <a:solidFill>
                      <a:srgbClr val="FFFFFF"/>
                    </a:solidFill>
                  </a:tcPr>
                </a:tc>
                <a:tc>
                  <a:txBody>
                    <a:bodyPr/>
                    <a:lstStyle/>
                    <a:p>
                      <a:r>
                        <a:rPr sz="850" b="0">
                          <a:solidFill>
                            <a:srgbClr val="4B4B4B"/>
                          </a:solidFill>
                          <a:latin typeface="Arial"/>
                        </a:rPr>
                        <a:t>FR-DM-003, FR-DM-120, FR-DM-122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SCR-DM-02</a:t>
                      </a:r>
                    </a:p>
                  </a:txBody>
                  <a:tcPr marL="54864" marR="54864" marT="27432" marB="27432">
                    <a:solidFill>
                      <a:srgbClr val="E5F5FF"/>
                    </a:solidFill>
                  </a:tcPr>
                </a:tc>
                <a:tc>
                  <a:txBody>
                    <a:bodyPr/>
                    <a:lstStyle/>
                    <a:p>
                      <a:r>
                        <a:rPr sz="850" b="0">
                          <a:solidFill>
                            <a:srgbClr val="4B4B4B"/>
                          </a:solidFill>
                          <a:latin typeface="Arial"/>
                        </a:rPr>
                        <a:t>Data Objects and the decision of an object</a:t>
                      </a:r>
                    </a:p>
                  </a:txBody>
                  <a:tcPr marL="54864" marR="54864" marT="27432" marB="27432">
                    <a:solidFill>
                      <a:srgbClr val="E5F5FF"/>
                    </a:solidFill>
                  </a:tcPr>
                </a:tc>
                <a:tc>
                  <a:txBody>
                    <a:bodyPr/>
                    <a:lstStyle/>
                    <a:p>
                      <a:r>
                        <a:rPr sz="850" b="0">
                          <a:solidFill>
                            <a:srgbClr val="4B4B4B"/>
                          </a:solidFill>
                          <a:latin typeface="Arial"/>
                        </a:rPr>
                        <a:t>19.1.2</a:t>
                      </a:r>
                    </a:p>
                  </a:txBody>
                  <a:tcPr marL="54864" marR="54864" marT="27432" marB="27432">
                    <a:solidFill>
                      <a:srgbClr val="E5F5FF"/>
                    </a:solidFill>
                  </a:tcPr>
                </a:tc>
                <a:tc>
                  <a:txBody>
                    <a:bodyPr/>
                    <a:lstStyle/>
                    <a:p>
                      <a:r>
                        <a:rPr sz="850" b="0">
                          <a:solidFill>
                            <a:srgbClr val="4B4B4B"/>
                          </a:solidFill>
                          <a:latin typeface="Arial"/>
                        </a:rPr>
                        <a:t>FR-DM-001, FR-DM-002, FR-DM-003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SCR-DM-03</a:t>
                      </a:r>
                    </a:p>
                  </a:txBody>
                  <a:tcPr marL="54864" marR="54864" marT="27432" marB="27432">
                    <a:solidFill>
                      <a:srgbClr val="FFFFFF"/>
                    </a:solidFill>
                  </a:tcPr>
                </a:tc>
                <a:tc>
                  <a:txBody>
                    <a:bodyPr/>
                    <a:lstStyle/>
                    <a:p>
                      <a:r>
                        <a:rPr sz="850" b="0">
                          <a:solidFill>
                            <a:srgbClr val="4B4B4B"/>
                          </a:solidFill>
                          <a:latin typeface="Arial"/>
                        </a:rPr>
                        <a:t>Code Maps and the versions of a code map</a:t>
                      </a:r>
                    </a:p>
                  </a:txBody>
                  <a:tcPr marL="54864" marR="54864" marT="27432" marB="27432">
                    <a:solidFill>
                      <a:srgbClr val="FFFFFF"/>
                    </a:solidFill>
                  </a:tcPr>
                </a:tc>
                <a:tc>
                  <a:txBody>
                    <a:bodyPr/>
                    <a:lstStyle/>
                    <a:p>
                      <a:r>
                        <a:rPr sz="850" b="0">
                          <a:solidFill>
                            <a:srgbClr val="4B4B4B"/>
                          </a:solidFill>
                          <a:latin typeface="Arial"/>
                        </a:rPr>
                        <a:t>19.1.3</a:t>
                      </a:r>
                    </a:p>
                  </a:txBody>
                  <a:tcPr marL="54864" marR="54864" marT="27432" marB="27432">
                    <a:solidFill>
                      <a:srgbClr val="FFFFFF"/>
                    </a:solidFill>
                  </a:tcPr>
                </a:tc>
                <a:tc>
                  <a:txBody>
                    <a:bodyPr/>
                    <a:lstStyle/>
                    <a:p>
                      <a:r>
                        <a:rPr sz="850" b="0">
                          <a:solidFill>
                            <a:srgbClr val="4B4B4B"/>
                          </a:solidFill>
                          <a:latin typeface="Arial"/>
                        </a:rPr>
                        <a:t>FR-DM-011, FR-DM-012, FR-DM-034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SCR-DM-04</a:t>
                      </a:r>
                    </a:p>
                  </a:txBody>
                  <a:tcPr marL="54864" marR="54864" marT="27432" marB="27432">
                    <a:solidFill>
                      <a:srgbClr val="E5F5FF"/>
                    </a:solidFill>
                  </a:tcPr>
                </a:tc>
                <a:tc>
                  <a:txBody>
                    <a:bodyPr/>
                    <a:lstStyle/>
                    <a:p>
                      <a:r>
                        <a:rPr sz="850" b="0">
                          <a:solidFill>
                            <a:srgbClr val="4B4B4B"/>
                          </a:solidFill>
                          <a:latin typeface="Arial"/>
                        </a:rPr>
                        <a:t>Layouts and Rules</a:t>
                      </a:r>
                    </a:p>
                  </a:txBody>
                  <a:tcPr marL="54864" marR="54864" marT="27432" marB="27432">
                    <a:solidFill>
                      <a:srgbClr val="E5F5FF"/>
                    </a:solidFill>
                  </a:tcPr>
                </a:tc>
                <a:tc>
                  <a:txBody>
                    <a:bodyPr/>
                    <a:lstStyle/>
                    <a:p>
                      <a:r>
                        <a:rPr sz="850" b="0">
                          <a:solidFill>
                            <a:srgbClr val="4B4B4B"/>
                          </a:solidFill>
                          <a:latin typeface="Arial"/>
                        </a:rPr>
                        <a:t>19.1.4</a:t>
                      </a:r>
                    </a:p>
                  </a:txBody>
                  <a:tcPr marL="54864" marR="54864" marT="27432" marB="27432">
                    <a:solidFill>
                      <a:srgbClr val="E5F5FF"/>
                    </a:solidFill>
                  </a:tcPr>
                </a:tc>
                <a:tc>
                  <a:txBody>
                    <a:bodyPr/>
                    <a:lstStyle/>
                    <a:p>
                      <a:r>
                        <a:rPr sz="850" b="0">
                          <a:solidFill>
                            <a:srgbClr val="4B4B4B"/>
                          </a:solidFill>
                          <a:latin typeface="Arial"/>
                        </a:rPr>
                        <a:t>FR-DM-010, FR-DM-013, FR-DM-003</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SCR-DM-05</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19.1.5</a:t>
                      </a:r>
                    </a:p>
                  </a:txBody>
                  <a:tcPr marL="54864" marR="54864" marT="27432" marB="27432">
                    <a:solidFill>
                      <a:srgbClr val="FFFFFF"/>
                    </a:solidFill>
                  </a:tcPr>
                </a:tc>
                <a:tc>
                  <a:txBody>
                    <a:bodyPr/>
                    <a:lstStyle/>
                    <a:p>
                      <a:r>
                        <a:rPr sz="850" b="0">
                          <a:solidFill>
                            <a:srgbClr val="4B4B4B"/>
                          </a:solidFill>
                          <a:latin typeface="Arial"/>
                        </a:rPr>
                        <a:t>FR-DM-010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SCR-DM-06</a:t>
                      </a:r>
                    </a:p>
                  </a:txBody>
                  <a:tcPr marL="54864" marR="54864" marT="27432" marB="27432">
                    <a:solidFill>
                      <a:srgbClr val="E5F5FF"/>
                    </a:solidFill>
                  </a:tcPr>
                </a:tc>
                <a:tc>
                  <a:txBody>
                    <a:bodyPr/>
                    <a:lstStyle/>
                    <a:p>
                      <a:r>
                        <a:rPr sz="850" b="0">
                          <a:solidFill>
                            <a:srgbClr val="4B4B4B"/>
                          </a:solidFill>
                          <a:latin typeface="Arial"/>
                        </a:rPr>
                        <a:t>Batches and resubmissions</a:t>
                      </a:r>
                    </a:p>
                  </a:txBody>
                  <a:tcPr marL="54864" marR="54864" marT="27432" marB="27432">
                    <a:solidFill>
                      <a:srgbClr val="E5F5FF"/>
                    </a:solidFill>
                  </a:tcPr>
                </a:tc>
                <a:tc>
                  <a:txBody>
                    <a:bodyPr/>
                    <a:lstStyle/>
                    <a:p>
                      <a:r>
                        <a:rPr sz="850" b="0">
                          <a:solidFill>
                            <a:srgbClr val="4B4B4B"/>
                          </a:solidFill>
                          <a:latin typeface="Arial"/>
                        </a:rPr>
                        <a:t>19.1.6</a:t>
                      </a:r>
                    </a:p>
                  </a:txBody>
                  <a:tcPr marL="54864" marR="54864" marT="27432" marB="27432">
                    <a:solidFill>
                      <a:srgbClr val="E5F5FF"/>
                    </a:solidFill>
                  </a:tcPr>
                </a:tc>
                <a:tc>
                  <a:txBody>
                    <a:bodyPr/>
                    <a:lstStyle/>
                    <a:p>
                      <a:r>
                        <a:rPr sz="850" b="0">
                          <a:solidFill>
                            <a:srgbClr val="4B4B4B"/>
                          </a:solidFill>
                          <a:latin typeface="Arial"/>
                        </a:rPr>
                        <a:t>FR-DM-014, FR-DM-015, FR-DM-125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Pending approval</a:t>
                      </a:r>
                    </a:p>
                  </a:txBody>
                  <a:tcPr marL="54864" marR="54864" marT="27432" marB="27432">
                    <a:solidFill>
                      <a:srgbClr val="E5F5FF"/>
                    </a:solidFill>
                  </a:tcPr>
                </a:tc>
              </a:tr>
              <a:tr h="350518">
                <a:tc>
                  <a:txBody>
                    <a:bodyPr/>
                    <a:lstStyle/>
                    <a:p>
                      <a:r>
                        <a:rPr sz="850" b="0">
                          <a:solidFill>
                            <a:srgbClr val="4B4B4B"/>
                          </a:solidFill>
                          <a:latin typeface="Arial"/>
                        </a:rPr>
                        <a:t>SCR-DM-07</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19.1.7</a:t>
                      </a:r>
                    </a:p>
                  </a:txBody>
                  <a:tcPr marL="54864" marR="54864" marT="27432" marB="27432">
                    <a:solidFill>
                      <a:srgbClr val="FFFFFF"/>
                    </a:solidFill>
                  </a:tcPr>
                </a:tc>
                <a:tc>
                  <a:txBody>
                    <a:bodyPr/>
                    <a:lstStyle/>
                    <a:p>
                      <a:r>
                        <a:rPr sz="850" b="0">
                          <a:solidFill>
                            <a:srgbClr val="4B4B4B"/>
                          </a:solidFill>
                          <a:latin typeface="Arial"/>
                        </a:rPr>
                        <a:t>FR-DM-013, FR-DM-014, FR-DM-015, FR-DM-003, FR-DM-020</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Confirmation with reason, Read-only or locked</a:t>
                      </a:r>
                    </a:p>
                  </a:txBody>
                  <a:tcPr marL="54864" marR="54864" marT="27432" marB="27432">
                    <a:solidFill>
                      <a:srgbClr val="FFFFFF"/>
                    </a:solidFill>
                  </a:tcPr>
                </a:tc>
              </a:tr>
              <a:tr h="220979">
                <a:tc>
                  <a:txBody>
                    <a:bodyPr/>
                    <a:lstStyle/>
                    <a:p>
                      <a:r>
                        <a:rPr sz="850" b="0">
                          <a:solidFill>
                            <a:srgbClr val="4B4B4B"/>
                          </a:solidFill>
                          <a:latin typeface="Arial"/>
                        </a:rPr>
                        <a:t>SCR-DM-08</a:t>
                      </a:r>
                    </a:p>
                  </a:txBody>
                  <a:tcPr marL="54864" marR="54864" marT="27432" marB="27432">
                    <a:solidFill>
                      <a:srgbClr val="E5F5FF"/>
                    </a:solidFill>
                  </a:tcPr>
                </a:tc>
                <a:tc>
                  <a:txBody>
                    <a:bodyPr/>
                    <a:lstStyle/>
                    <a:p>
                      <a:r>
                        <a:rPr sz="850" b="0">
                          <a:solidFill>
                            <a:srgbClr val="4B4B4B"/>
                          </a:solidFill>
                          <a:latin typeface="Arial"/>
                        </a:rPr>
                        <a:t>Client Matching</a:t>
                      </a:r>
                    </a:p>
                  </a:txBody>
                  <a:tcPr marL="54864" marR="54864" marT="27432" marB="27432">
                    <a:solidFill>
                      <a:srgbClr val="E5F5FF"/>
                    </a:solidFill>
                  </a:tcPr>
                </a:tc>
                <a:tc>
                  <a:txBody>
                    <a:bodyPr/>
                    <a:lstStyle/>
                    <a:p>
                      <a:r>
                        <a:rPr sz="850" b="0">
                          <a:solidFill>
                            <a:srgbClr val="4B4B4B"/>
                          </a:solidFill>
                          <a:latin typeface="Arial"/>
                        </a:rPr>
                        <a:t>19.1.8</a:t>
                      </a:r>
                    </a:p>
                  </a:txBody>
                  <a:tcPr marL="54864" marR="54864" marT="27432" marB="27432">
                    <a:solidFill>
                      <a:srgbClr val="E5F5FF"/>
                    </a:solidFill>
                  </a:tcPr>
                </a:tc>
                <a:tc>
                  <a:txBody>
                    <a:bodyPr/>
                    <a:lstStyle/>
                    <a:p>
                      <a:r>
                        <a:rPr sz="850" b="0">
                          <a:solidFill>
                            <a:srgbClr val="4B4B4B"/>
                          </a:solidFill>
                          <a:latin typeface="Arial"/>
                        </a:rPr>
                        <a:t>FR-DM-030, FR-DM-031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SCR-DM-09</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19.1.9</a:t>
                      </a:r>
                    </a:p>
                  </a:txBody>
                  <a:tcPr marL="54864" marR="54864" marT="27432" marB="27432">
                    <a:solidFill>
                      <a:srgbClr val="FFFFFF"/>
                    </a:solidFill>
                  </a:tcPr>
                </a:tc>
                <a:tc>
                  <a:txBody>
                    <a:bodyPr/>
                    <a:lstStyle/>
                    <a:p>
                      <a:r>
                        <a:rPr sz="850" b="0">
                          <a:solidFill>
                            <a:srgbClr val="4B4B4B"/>
                          </a:solidFill>
                          <a:latin typeface="Arial"/>
                        </a:rPr>
                        <a:t>FR-DM-020, FR-DM-021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SCR-DM-10</a:t>
                      </a:r>
                    </a:p>
                  </a:txBody>
                  <a:tcPr marL="54864" marR="54864" marT="27432" marB="27432">
                    <a:solidFill>
                      <a:srgbClr val="E5F5FF"/>
                    </a:solidFill>
                  </a:tcPr>
                </a:tc>
                <a:tc>
                  <a:txBody>
                    <a:bodyPr/>
                    <a:lstStyle/>
                    <a:p>
                      <a:r>
                        <a:rPr sz="850" b="0">
                          <a:solidFill>
                            <a:srgbClr val="4B4B4B"/>
                          </a:solidFill>
                          <a:latin typeface="Arial"/>
                        </a:rPr>
                        <a:t>Sign-off</a:t>
                      </a:r>
                    </a:p>
                  </a:txBody>
                  <a:tcPr marL="54864" marR="54864" marT="27432" marB="27432">
                    <a:solidFill>
                      <a:srgbClr val="E5F5FF"/>
                    </a:solidFill>
                  </a:tcPr>
                </a:tc>
                <a:tc>
                  <a:txBody>
                    <a:bodyPr/>
                    <a:lstStyle/>
                    <a:p>
                      <a:r>
                        <a:rPr sz="850" b="0">
                          <a:solidFill>
                            <a:srgbClr val="4B4B4B"/>
                          </a:solidFill>
                          <a:latin typeface="Arial"/>
                        </a:rPr>
                        <a:t>19.1.10</a:t>
                      </a:r>
                    </a:p>
                  </a:txBody>
                  <a:tcPr marL="54864" marR="54864" marT="27432" marB="27432">
                    <a:solidFill>
                      <a:srgbClr val="E5F5FF"/>
                    </a:solidFill>
                  </a:tcPr>
                </a:tc>
                <a:tc>
                  <a:txBody>
                    <a:bodyPr/>
                    <a:lstStyle/>
                    <a:p>
                      <a:r>
                        <a:rPr sz="850" b="0">
                          <a:solidFill>
                            <a:srgbClr val="4B4B4B"/>
                          </a:solidFill>
                          <a:latin typeface="Arial"/>
                        </a:rPr>
                        <a:t>FR-DM-003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Read-only or locked</a:t>
                      </a:r>
                    </a:p>
                  </a:txBody>
                  <a:tcPr marL="54864" marR="54864" marT="27432" marB="27432">
                    <a:solidFill>
                      <a:srgbClr val="E5F5FF"/>
                    </a:solidFill>
                  </a:tcPr>
                </a:tc>
              </a:tr>
              <a:tr h="220979">
                <a:tc>
                  <a:txBody>
                    <a:bodyPr/>
                    <a:lstStyle/>
                    <a:p>
                      <a:r>
                        <a:rPr sz="850" b="0">
                          <a:solidFill>
                            <a:srgbClr val="4B4B4B"/>
                          </a:solidFill>
                          <a:latin typeface="Arial"/>
                        </a:rPr>
                        <a:t>SCR-DM-11</a:t>
                      </a:r>
                    </a:p>
                  </a:txBody>
                  <a:tcPr marL="54864" marR="54864" marT="27432" marB="27432">
                    <a:solidFill>
                      <a:srgbClr val="FFFFFF"/>
                    </a:solidFill>
                  </a:tcPr>
                </a:tc>
                <a:tc>
                  <a:txBody>
                    <a:bodyPr/>
                    <a:lstStyle/>
                    <a:p>
                      <a:r>
                        <a:rPr sz="850" b="0">
                          <a:solidFill>
                            <a:srgbClr val="4B4B4B"/>
                          </a:solidFill>
                          <a:latin typeface="Arial"/>
                        </a:rPr>
                        <a:t>Opening-Balance Adjustments</a:t>
                      </a:r>
                    </a:p>
                  </a:txBody>
                  <a:tcPr marL="54864" marR="54864" marT="27432" marB="27432">
                    <a:solidFill>
                      <a:srgbClr val="FFFFFF"/>
                    </a:solidFill>
                  </a:tcPr>
                </a:tc>
                <a:tc>
                  <a:txBody>
                    <a:bodyPr/>
                    <a:lstStyle/>
                    <a:p>
                      <a:r>
                        <a:rPr sz="850" b="0">
                          <a:solidFill>
                            <a:srgbClr val="4B4B4B"/>
                          </a:solidFill>
                          <a:latin typeface="Arial"/>
                        </a:rPr>
                        <a:t>19.2.1</a:t>
                      </a:r>
                    </a:p>
                  </a:txBody>
                  <a:tcPr marL="54864" marR="54864" marT="27432" marB="27432">
                    <a:solidFill>
                      <a:srgbClr val="FFFFFF"/>
                    </a:solidFill>
                  </a:tcPr>
                </a:tc>
                <a:tc>
                  <a:txBody>
                    <a:bodyPr/>
                    <a:lstStyle/>
                    <a:p>
                      <a:r>
                        <a:rPr sz="850" b="0">
                          <a:solidFill>
                            <a:srgbClr val="4B4B4B"/>
                          </a:solidFill>
                          <a:latin typeface="Arial"/>
                        </a:rPr>
                        <a:t>FR-DM-022, FR-DM-023, FR-DM-024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SCR-DM-12</a:t>
                      </a:r>
                    </a:p>
                  </a:txBody>
                  <a:tcPr marL="54864" marR="54864" marT="27432" marB="27432">
                    <a:solidFill>
                      <a:srgbClr val="E5F5FF"/>
                    </a:solidFill>
                  </a:tcPr>
                </a:tc>
                <a:tc>
                  <a:txBody>
                    <a:bodyPr/>
                    <a:lstStyle/>
                    <a:p>
                      <a:r>
                        <a:rPr sz="850" b="0">
                          <a:solidFill>
                            <a:srgbClr val="4B4B4B"/>
                          </a:solidFill>
                          <a:latin typeface="Arial"/>
                        </a:rPr>
                        <a:t>Cutover</a:t>
                      </a:r>
                    </a:p>
                  </a:txBody>
                  <a:tcPr marL="54864" marR="54864" marT="27432" marB="27432">
                    <a:solidFill>
                      <a:srgbClr val="E5F5FF"/>
                    </a:solidFill>
                  </a:tcPr>
                </a:tc>
                <a:tc>
                  <a:txBody>
                    <a:bodyPr/>
                    <a:lstStyle/>
                    <a:p>
                      <a:r>
                        <a:rPr sz="850" b="0">
                          <a:solidFill>
                            <a:srgbClr val="4B4B4B"/>
                          </a:solidFill>
                          <a:latin typeface="Arial"/>
                        </a:rPr>
                        <a:t>19.2.2</a:t>
                      </a:r>
                    </a:p>
                  </a:txBody>
                  <a:tcPr marL="54864" marR="54864" marT="27432" marB="27432">
                    <a:solidFill>
                      <a:srgbClr val="E5F5FF"/>
                    </a:solidFill>
                  </a:tcPr>
                </a:tc>
                <a:tc>
                  <a:txBody>
                    <a:bodyPr/>
                    <a:lstStyle/>
                    <a:p>
                      <a:r>
                        <a:rPr sz="850" b="0">
                          <a:solidFill>
                            <a:srgbClr val="4B4B4B"/>
                          </a:solidFill>
                          <a:latin typeface="Arial"/>
                        </a:rPr>
                        <a:t>FR-DM-120, FR-DM-121</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SCR-DM-13</a:t>
                      </a:r>
                    </a:p>
                  </a:txBody>
                  <a:tcPr marL="54864" marR="54864" marT="27432" marB="27432">
                    <a:solidFill>
                      <a:srgbClr val="FFFFFF"/>
                    </a:solidFill>
                  </a:tcPr>
                </a:tc>
                <a:tc>
                  <a:txBody>
                    <a:bodyPr/>
                    <a:lstStyle/>
                    <a:p>
                      <a:r>
                        <a:rPr sz="850" b="0">
                          <a:solidFill>
                            <a:srgbClr val="4B4B4B"/>
                          </a:solidFill>
                          <a:latin typeface="Arial"/>
                        </a:rPr>
                        <a:t>Run-off and Decommissioning</a:t>
                      </a:r>
                    </a:p>
                  </a:txBody>
                  <a:tcPr marL="54864" marR="54864" marT="27432" marB="27432">
                    <a:solidFill>
                      <a:srgbClr val="FFFFFF"/>
                    </a:solidFill>
                  </a:tcPr>
                </a:tc>
                <a:tc>
                  <a:txBody>
                    <a:bodyPr/>
                    <a:lstStyle/>
                    <a:p>
                      <a:r>
                        <a:rPr sz="850" b="0">
                          <a:solidFill>
                            <a:srgbClr val="4B4B4B"/>
                          </a:solidFill>
                          <a:latin typeface="Arial"/>
                        </a:rPr>
                        <a:t>19.2.3</a:t>
                      </a:r>
                    </a:p>
                  </a:txBody>
                  <a:tcPr marL="54864" marR="54864" marT="27432" marB="27432">
                    <a:solidFill>
                      <a:srgbClr val="FFFFFF"/>
                    </a:solidFill>
                  </a:tcPr>
                </a:tc>
                <a:tc>
                  <a:txBody>
                    <a:bodyPr/>
                    <a:lstStyle/>
                    <a:p>
                      <a:r>
                        <a:rPr sz="850" b="0">
                          <a:solidFill>
                            <a:srgbClr val="4B4B4B"/>
                          </a:solidFill>
                          <a:latin typeface="Arial"/>
                        </a:rPr>
                        <a:t>FR-DM-122, FR-DM-123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SCR-DM-14</a:t>
                      </a:r>
                    </a:p>
                  </a:txBody>
                  <a:tcPr marL="54864" marR="54864" marT="27432" marB="27432">
                    <a:solidFill>
                      <a:srgbClr val="E5F5FF"/>
                    </a:solidFill>
                  </a:tcPr>
                </a:tc>
                <a:tc>
                  <a:txBody>
                    <a:bodyPr/>
                    <a:lstStyle/>
                    <a:p>
                      <a:r>
                        <a:rPr sz="850" b="0">
                          <a:solidFill>
                            <a:srgbClr val="4B4B4B"/>
                          </a:solidFill>
                          <a:latin typeface="Arial"/>
                        </a:rPr>
                        <a:t>Legacy Inquiry</a:t>
                      </a:r>
                    </a:p>
                  </a:txBody>
                  <a:tcPr marL="54864" marR="54864" marT="27432" marB="27432">
                    <a:solidFill>
                      <a:srgbClr val="E5F5FF"/>
                    </a:solidFill>
                  </a:tcPr>
                </a:tc>
                <a:tc>
                  <a:txBody>
                    <a:bodyPr/>
                    <a:lstStyle/>
                    <a:p>
                      <a:r>
                        <a:rPr sz="850" b="0">
                          <a:solidFill>
                            <a:srgbClr val="4B4B4B"/>
                          </a:solidFill>
                          <a:latin typeface="Arial"/>
                        </a:rPr>
                        <a:t>19.3.1</a:t>
                      </a:r>
                    </a:p>
                  </a:txBody>
                  <a:tcPr marL="54864" marR="54864" marT="27432" marB="27432">
                    <a:solidFill>
                      <a:srgbClr val="E5F5FF"/>
                    </a:solidFill>
                  </a:tcPr>
                </a:tc>
                <a:tc>
                  <a:txBody>
                    <a:bodyPr/>
                    <a:lstStyle/>
                    <a:p>
                      <a:r>
                        <a:rPr sz="850" b="0">
                          <a:solidFill>
                            <a:srgbClr val="4B4B4B"/>
                          </a:solidFill>
                          <a:latin typeface="Arial"/>
                        </a:rPr>
                        <a:t>FR-DM-110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Read-only or locked</a:t>
                      </a:r>
                    </a:p>
                  </a:txBody>
                  <a:tcPr marL="54864" marR="54864" marT="27432" marB="27432">
                    <a:solidFill>
                      <a:srgbClr val="E5F5FF"/>
                    </a:solidFill>
                  </a:tcPr>
                </a:tc>
              </a:tr>
              <a:tr h="220979">
                <a:tc>
                  <a:txBody>
                    <a:bodyPr/>
                    <a:lstStyle/>
                    <a:p>
                      <a:r>
                        <a:rPr sz="850" b="0">
                          <a:solidFill>
                            <a:srgbClr val="4B4B4B"/>
                          </a:solidFill>
                          <a:latin typeface="Arial"/>
                        </a:rPr>
                        <a:t>SCR-DM-15</a:t>
                      </a:r>
                    </a:p>
                  </a:txBody>
                  <a:tcPr marL="54864" marR="54864" marT="27432" marB="27432">
                    <a:solidFill>
                      <a:srgbClr val="FFFFFF"/>
                    </a:solidFill>
                  </a:tcPr>
                </a:tc>
                <a:tc>
                  <a:txBody>
                    <a:bodyPr/>
                    <a:lstStyle/>
                    <a:p>
                      <a:r>
                        <a:rPr sz="850" b="0">
                          <a:solidFill>
                            <a:srgbClr val="4B4B4B"/>
                          </a:solidFill>
                          <a:latin typeface="Arial"/>
                        </a:rPr>
                        <a:t>Access Log</a:t>
                      </a:r>
                    </a:p>
                  </a:txBody>
                  <a:tcPr marL="54864" marR="54864" marT="27432" marB="27432">
                    <a:solidFill>
                      <a:srgbClr val="FFFFFF"/>
                    </a:solidFill>
                  </a:tcPr>
                </a:tc>
                <a:tc>
                  <a:txBody>
                    <a:bodyPr/>
                    <a:lstStyle/>
                    <a:p>
                      <a:r>
                        <a:rPr sz="850" b="0">
                          <a:solidFill>
                            <a:srgbClr val="4B4B4B"/>
                          </a:solidFill>
                          <a:latin typeface="Arial"/>
                        </a:rPr>
                        <a:t>19.3.2</a:t>
                      </a:r>
                    </a:p>
                  </a:txBody>
                  <a:tcPr marL="54864" marR="54864" marT="27432" marB="27432">
                    <a:solidFill>
                      <a:srgbClr val="FFFFFF"/>
                    </a:solidFill>
                  </a:tcPr>
                </a:tc>
                <a:tc>
                  <a:txBody>
                    <a:bodyPr/>
                    <a:lstStyle/>
                    <a:p>
                      <a:r>
                        <a:rPr sz="850" b="0">
                          <a:solidFill>
                            <a:srgbClr val="4B4B4B"/>
                          </a:solidFill>
                          <a:latin typeface="Arial"/>
                        </a:rPr>
                        <a:t>FR-DM-111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SCR-DM-16</a:t>
                      </a:r>
                    </a:p>
                  </a:txBody>
                  <a:tcPr marL="54864" marR="54864" marT="27432" marB="27432">
                    <a:solidFill>
                      <a:srgbClr val="E5F5FF"/>
                    </a:solidFill>
                  </a:tcPr>
                </a:tc>
                <a:tc>
                  <a:txBody>
                    <a:bodyPr/>
                    <a:lstStyle/>
                    <a:p>
                      <a:r>
                        <a:rPr sz="850" b="0">
                          <a:solidFill>
                            <a:srgbClr val="4B4B4B"/>
                          </a:solidFill>
                          <a:latin typeface="Arial"/>
                        </a:rPr>
                        <a:t>LEGACY badge and Origin filter on the lists</a:t>
                      </a:r>
                    </a:p>
                  </a:txBody>
                  <a:tcPr marL="54864" marR="54864" marT="27432" marB="27432">
                    <a:solidFill>
                      <a:srgbClr val="E5F5FF"/>
                    </a:solidFill>
                  </a:tcPr>
                </a:tc>
                <a:tc>
                  <a:txBody>
                    <a:bodyPr/>
                    <a:lstStyle/>
                    <a:p>
                      <a:r>
                        <a:rPr sz="850" b="0">
                          <a:solidFill>
                            <a:srgbClr val="4B4B4B"/>
                          </a:solidFill>
                          <a:latin typeface="Arial"/>
                        </a:rPr>
                        <a:t>19.4.1</a:t>
                      </a:r>
                    </a:p>
                  </a:txBody>
                  <a:tcPr marL="54864" marR="54864" marT="27432" marB="27432">
                    <a:solidFill>
                      <a:srgbClr val="E5F5FF"/>
                    </a:solidFill>
                  </a:tcPr>
                </a:tc>
                <a:tc>
                  <a:txBody>
                    <a:bodyPr/>
                    <a:lstStyle/>
                    <a:p>
                      <a:r>
                        <a:rPr sz="850" b="0">
                          <a:solidFill>
                            <a:srgbClr val="4B4B4B"/>
                          </a:solidFill>
                          <a:latin typeface="Arial"/>
                        </a:rPr>
                        <a:t>FR-DM-032, FR-DM-033, FR-DM-040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SCR-DM-17</a:t>
                      </a:r>
                    </a:p>
                  </a:txBody>
                  <a:tcPr marL="54864" marR="54864" marT="27432" marB="27432">
                    <a:solidFill>
                      <a:srgbClr val="FFFFFF"/>
                    </a:solidFill>
                  </a:tcPr>
                </a:tc>
                <a:tc>
                  <a:txBody>
                    <a:bodyPr/>
                    <a:lstStyle/>
                    <a:p>
                      <a:r>
                        <a:rPr sz="850" b="0">
                          <a:solidFill>
                            <a:srgbClr val="4B4B4B"/>
                          </a:solidFill>
                          <a:latin typeface="Arial"/>
                        </a:rPr>
                        <a:t>Legacy invoice on Invoice 360</a:t>
                      </a:r>
                    </a:p>
                  </a:txBody>
                  <a:tcPr marL="54864" marR="54864" marT="27432" marB="27432">
                    <a:solidFill>
                      <a:srgbClr val="FFFFFF"/>
                    </a:solidFill>
                  </a:tcPr>
                </a:tc>
                <a:tc>
                  <a:txBody>
                    <a:bodyPr/>
                    <a:lstStyle/>
                    <a:p>
                      <a:r>
                        <a:rPr sz="850" b="0">
                          <a:solidFill>
                            <a:srgbClr val="4B4B4B"/>
                          </a:solidFill>
                          <a:latin typeface="Arial"/>
                        </a:rPr>
                        <a:t>19.4.2</a:t>
                      </a:r>
                    </a:p>
                  </a:txBody>
                  <a:tcPr marL="54864" marR="54864" marT="27432" marB="27432">
                    <a:solidFill>
                      <a:srgbClr val="FFFFFF"/>
                    </a:solidFill>
                  </a:tcPr>
                </a:tc>
                <a:tc>
                  <a:txBody>
                    <a:bodyPr/>
                    <a:lstStyle/>
                    <a:p>
                      <a:r>
                        <a:rPr sz="850" b="0">
                          <a:solidFill>
                            <a:srgbClr val="4B4B4B"/>
                          </a:solidFill>
                          <a:latin typeface="Arial"/>
                        </a:rPr>
                        <a:t>FR-DM-050, FR-DM-051, FR-DM-060, FR-DM-100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SCR-DM-18</a:t>
                      </a:r>
                    </a:p>
                  </a:txBody>
                  <a:tcPr marL="54864" marR="54864" marT="27432" marB="27432">
                    <a:solidFill>
                      <a:srgbClr val="E5F5FF"/>
                    </a:solidFill>
                  </a:tcPr>
                </a:tc>
                <a:tc>
                  <a:txBody>
                    <a:bodyPr/>
                    <a:lstStyle/>
                    <a:p>
                      <a:r>
                        <a:rPr sz="850" b="0">
                          <a:solidFill>
                            <a:srgbClr val="4B4B4B"/>
                          </a:solidFill>
                          <a:latin typeface="Arial"/>
                        </a:rPr>
                        <a:t>Unapplied to Income</a:t>
                      </a:r>
                    </a:p>
                  </a:txBody>
                  <a:tcPr marL="54864" marR="54864" marT="27432" marB="27432">
                    <a:solidFill>
                      <a:srgbClr val="E5F5FF"/>
                    </a:solidFill>
                  </a:tcPr>
                </a:tc>
                <a:tc>
                  <a:txBody>
                    <a:bodyPr/>
                    <a:lstStyle/>
                    <a:p>
                      <a:r>
                        <a:rPr sz="850" b="0">
                          <a:solidFill>
                            <a:srgbClr val="4B4B4B"/>
                          </a:solidFill>
                          <a:latin typeface="Arial"/>
                        </a:rPr>
                        <a:t>19.5.1</a:t>
                      </a:r>
                    </a:p>
                  </a:txBody>
                  <a:tcPr marL="54864" marR="54864" marT="27432" marB="27432">
                    <a:solidFill>
                      <a:srgbClr val="E5F5FF"/>
                    </a:solidFill>
                  </a:tcPr>
                </a:tc>
                <a:tc>
                  <a:txBody>
                    <a:bodyPr/>
                    <a:lstStyle/>
                    <a:p>
                      <a:r>
                        <a:rPr sz="850" b="0">
                          <a:solidFill>
                            <a:srgbClr val="4B4B4B"/>
                          </a:solidFill>
                          <a:latin typeface="Arial"/>
                        </a:rPr>
                        <a:t>FR-DM-055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SCR-DM-19</a:t>
                      </a:r>
                    </a:p>
                  </a:txBody>
                  <a:tcPr marL="54864" marR="54864" marT="27432" marB="27432">
                    <a:solidFill>
                      <a:srgbClr val="FFFFFF"/>
                    </a:solidFill>
                  </a:tcPr>
                </a:tc>
                <a:tc>
                  <a:txBody>
                    <a:bodyPr/>
                    <a:lstStyle/>
                    <a:p>
                      <a:r>
                        <a:rPr sz="850" b="0">
                          <a:solidFill>
                            <a:srgbClr val="4B4B4B"/>
                          </a:solidFill>
                          <a:latin typeface="Arial"/>
                        </a:rPr>
                        <a:t>Legacy PR 2307 Reversal</a:t>
                      </a:r>
                    </a:p>
                  </a:txBody>
                  <a:tcPr marL="54864" marR="54864" marT="27432" marB="27432">
                    <a:solidFill>
                      <a:srgbClr val="FFFFFF"/>
                    </a:solidFill>
                  </a:tcPr>
                </a:tc>
                <a:tc>
                  <a:txBody>
                    <a:bodyPr/>
                    <a:lstStyle/>
                    <a:p>
                      <a:r>
                        <a:rPr sz="850" b="0">
                          <a:solidFill>
                            <a:srgbClr val="4B4B4B"/>
                          </a:solidFill>
                          <a:latin typeface="Arial"/>
                        </a:rPr>
                        <a:t>19.5.2</a:t>
                      </a:r>
                    </a:p>
                  </a:txBody>
                  <a:tcPr marL="54864" marR="54864" marT="27432" marB="27432">
                    <a:solidFill>
                      <a:srgbClr val="FFFFFF"/>
                    </a:solidFill>
                  </a:tcPr>
                </a:tc>
                <a:tc>
                  <a:txBody>
                    <a:bodyPr/>
                    <a:lstStyle/>
                    <a:p>
                      <a:r>
                        <a:rPr sz="850" b="0">
                          <a:solidFill>
                            <a:srgbClr val="4B4B4B"/>
                          </a:solidFill>
                          <a:latin typeface="Arial"/>
                        </a:rPr>
                        <a:t>FR-DM-071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2" cy="44043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480057">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Data Migration Handbook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SCR-DM-20</a:t>
                      </a:r>
                    </a:p>
                  </a:txBody>
                  <a:tcPr marL="54864" marR="54864" marT="27432" marB="27432">
                    <a:solidFill>
                      <a:srgbClr val="FFFFFF"/>
                    </a:solidFill>
                  </a:tcPr>
                </a:tc>
                <a:tc>
                  <a:txBody>
                    <a:bodyPr/>
                    <a:lstStyle/>
                    <a:p>
                      <a:r>
                        <a:rPr sz="850" b="0">
                          <a:solidFill>
                            <a:srgbClr val="4B4B4B"/>
                          </a:solidFill>
                          <a:latin typeface="Arial"/>
                        </a:rPr>
                        <a:t>DP PR Legacy Reversal</a:t>
                      </a:r>
                    </a:p>
                  </a:txBody>
                  <a:tcPr marL="54864" marR="54864" marT="27432" marB="27432">
                    <a:solidFill>
                      <a:srgbClr val="FFFFFF"/>
                    </a:solidFill>
                  </a:tcPr>
                </a:tc>
                <a:tc>
                  <a:txBody>
                    <a:bodyPr/>
                    <a:lstStyle/>
                    <a:p>
                      <a:r>
                        <a:rPr sz="850" b="0">
                          <a:solidFill>
                            <a:srgbClr val="4B4B4B"/>
                          </a:solidFill>
                          <a:latin typeface="Arial"/>
                        </a:rPr>
                        <a:t>19.5.3</a:t>
                      </a:r>
                    </a:p>
                  </a:txBody>
                  <a:tcPr marL="54864" marR="54864" marT="27432" marB="27432">
                    <a:solidFill>
                      <a:srgbClr val="FFFFFF"/>
                    </a:solidFill>
                  </a:tcPr>
                </a:tc>
                <a:tc>
                  <a:txBody>
                    <a:bodyPr/>
                    <a:lstStyle/>
                    <a:p>
                      <a:r>
                        <a:rPr sz="850" b="0">
                          <a:solidFill>
                            <a:srgbClr val="4B4B4B"/>
                          </a:solidFill>
                          <a:latin typeface="Arial"/>
                        </a:rPr>
                        <a:t>FR-DM-070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NAV-DM-01</a:t>
                      </a:r>
                    </a:p>
                  </a:txBody>
                  <a:tcPr marL="54864" marR="54864" marT="27432" marB="27432">
                    <a:solidFill>
                      <a:srgbClr val="E5F5FF"/>
                    </a:solidFill>
                  </a:tcPr>
                </a:tc>
                <a:tc>
                  <a:txBody>
                    <a:bodyPr/>
                    <a:lstStyle/>
                    <a:p>
                      <a:r>
                        <a:rPr sz="850" b="0">
                          <a:solidFill>
                            <a:srgbClr val="4B4B4B"/>
                          </a:solidFill>
                          <a:latin typeface="Arial"/>
                        </a:rPr>
                        <a:t>Landing page and menu: Data Migration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NAV-DM-02</a:t>
                      </a:r>
                    </a:p>
                  </a:txBody>
                  <a:tcPr marL="54864" marR="54864" marT="27432" marB="27432">
                    <a:solidFill>
                      <a:srgbClr val="FFFFFF"/>
                    </a:solidFill>
                  </a:tcPr>
                </a:tc>
                <a:tc>
                  <a:txBody>
                    <a:bodyPr/>
                    <a:lstStyle/>
                    <a:p>
                      <a:r>
                        <a:rPr sz="850" b="0">
                          <a:solidFill>
                            <a:srgbClr val="4B4B4B"/>
                          </a:solidFill>
                          <a:latin typeface="Arial"/>
                        </a:rPr>
                        <a:t>Landing page and menu: Data Steward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NAV-DM-03</a:t>
                      </a:r>
                    </a:p>
                  </a:txBody>
                  <a:tcPr marL="54864" marR="54864" marT="27432" marB="27432">
                    <a:solidFill>
                      <a:srgbClr val="E5F5FF"/>
                    </a:solidFill>
                  </a:tcPr>
                </a:tc>
                <a:tc>
                  <a:txBody>
                    <a:bodyPr/>
                    <a:lstStyle/>
                    <a:p>
                      <a:r>
                        <a:rPr sz="850" b="0">
                          <a:solidFill>
                            <a:srgbClr val="4B4B4B"/>
                          </a:solidFill>
                          <a:latin typeface="Arial"/>
                        </a:rPr>
                        <a:t>Landing page and menu: Data owner (business owner of an object)</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NAV-DM-04</a:t>
                      </a:r>
                    </a:p>
                  </a:txBody>
                  <a:tcPr marL="54864" marR="54864" marT="27432" marB="27432">
                    <a:solidFill>
                      <a:srgbClr val="FFFFFF"/>
                    </a:solidFill>
                  </a:tcPr>
                </a:tc>
                <a:tc>
                  <a:txBody>
                    <a:bodyPr/>
                    <a:lstStyle/>
                    <a:p>
                      <a:r>
                        <a:rPr sz="850" b="0">
                          <a:solidFill>
                            <a:srgbClr val="4B4B4B"/>
                          </a:solidFill>
                          <a:latin typeface="Arial"/>
                        </a:rPr>
                        <a:t>Landing page and menu: Migration Operator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NAV-DM-05</a:t>
                      </a:r>
                    </a:p>
                  </a:txBody>
                  <a:tcPr marL="54864" marR="54864" marT="27432" marB="27432">
                    <a:solidFill>
                      <a:srgbClr val="E5F5FF"/>
                    </a:solidFill>
                  </a:tcPr>
                </a:tc>
                <a:tc>
                  <a:txBody>
                    <a:bodyPr/>
                    <a:lstStyle/>
                    <a:p>
                      <a:r>
                        <a:rPr sz="850" b="0">
                          <a:solidFill>
                            <a:srgbClr val="4B4B4B"/>
                          </a:solidFill>
                          <a:latin typeface="Arial"/>
                        </a:rPr>
                        <a:t>Landing page and menu: Reconciliation approver (Head of Comptrollership)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NAV-DM-06</a:t>
                      </a:r>
                    </a:p>
                  </a:txBody>
                  <a:tcPr marL="54864" marR="54864" marT="27432" marB="27432">
                    <a:solidFill>
                      <a:srgbClr val="FFFFFF"/>
                    </a:solidFill>
                  </a:tcPr>
                </a:tc>
                <a:tc>
                  <a:txBody>
                    <a:bodyPr/>
                    <a:lstStyle/>
                    <a:p>
                      <a:r>
                        <a:rPr sz="850" b="0">
                          <a:solidFill>
                            <a:srgbClr val="4B4B4B"/>
                          </a:solidFill>
                          <a:latin typeface="Arial"/>
                        </a:rPr>
                        <a:t>Landing page and menu: Go / no-go board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NAV-DM-07</a:t>
                      </a:r>
                    </a:p>
                  </a:txBody>
                  <a:tcPr marL="54864" marR="54864" marT="27432" marB="27432">
                    <a:solidFill>
                      <a:srgbClr val="E5F5FF"/>
                    </a:solidFill>
                  </a:tcPr>
                </a:tc>
                <a:tc>
                  <a:txBody>
                    <a:bodyPr/>
                    <a:lstStyle/>
                    <a:p>
                      <a:r>
                        <a:rPr sz="850" b="0">
                          <a:solidFill>
                            <a:srgbClr val="4B4B4B"/>
                          </a:solidFill>
                          <a:latin typeface="Arial"/>
                        </a:rPr>
                        <a:t>Landing page and menu: Comptrollership GL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NAV-DM-08</a:t>
                      </a:r>
                    </a:p>
                  </a:txBody>
                  <a:tcPr marL="54864" marR="54864" marT="27432" marB="27432">
                    <a:solidFill>
                      <a:srgbClr val="FFFFFF"/>
                    </a:solidFill>
                  </a:tcPr>
                </a:tc>
                <a:tc>
                  <a:txBody>
                    <a:bodyPr/>
                    <a:lstStyle/>
                    <a:p>
                      <a:r>
                        <a:rPr sz="850" b="0">
                          <a:solidFill>
                            <a:srgbClr val="4B4B4B"/>
                          </a:solidFill>
                          <a:latin typeface="Arial"/>
                        </a:rPr>
                        <a:t>Landing page and menu: Audit / Compliance user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NAV-DM-09</a:t>
                      </a:r>
                    </a:p>
                  </a:txBody>
                  <a:tcPr marL="54864" marR="54864" marT="27432" marB="27432">
                    <a:solidFill>
                      <a:srgbClr val="E5F5FF"/>
                    </a:solidFill>
                  </a:tcPr>
                </a:tc>
                <a:tc>
                  <a:txBody>
                    <a:bodyPr/>
                    <a:lstStyle/>
                    <a:p>
                      <a:r>
                        <a:rPr sz="850" b="0">
                          <a:solidFill>
                            <a:srgbClr val="4B4B4B"/>
                          </a:solidFill>
                          <a:latin typeface="Arial"/>
                        </a:rPr>
                        <a:t>Landing page and menu: Compliance reviewer of the access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NAV-DM-10</a:t>
                      </a:r>
                    </a:p>
                  </a:txBody>
                  <a:tcPr marL="54864" marR="54864" marT="27432" marB="27432">
                    <a:solidFill>
                      <a:srgbClr val="FFFFFF"/>
                    </a:solidFill>
                  </a:tcPr>
                </a:tc>
                <a:tc>
                  <a:txBody>
                    <a:bodyPr/>
                    <a:lstStyle/>
                    <a:p>
                      <a:r>
                        <a:rPr sz="850" b="0">
                          <a:solidFill>
                            <a:srgbClr val="4B4B4B"/>
                          </a:solidFill>
                          <a:latin typeface="Arial"/>
                        </a:rPr>
                        <a:t>Landing page and menu: Cashiering user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NAV-DM-11</a:t>
                      </a:r>
                    </a:p>
                  </a:txBody>
                  <a:tcPr marL="54864" marR="54864" marT="27432" marB="27432">
                    <a:solidFill>
                      <a:srgbClr val="E5F5FF"/>
                    </a:solidFill>
                  </a:tcPr>
                </a:tc>
                <a:tc>
                  <a:txBody>
                    <a:bodyPr/>
                    <a:lstStyle/>
                    <a:p>
                      <a:r>
                        <a:rPr sz="850" b="0">
                          <a:solidFill>
                            <a:srgbClr val="4B4B4B"/>
                          </a:solidFill>
                          <a:latin typeface="Arial"/>
                        </a:rPr>
                        <a:t>Landing page and menu: Cashiering team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NAV-DM-12</a:t>
                      </a:r>
                    </a:p>
                  </a:txBody>
                  <a:tcPr marL="54864" marR="54864" marT="27432" marB="27432">
                    <a:solidFill>
                      <a:srgbClr val="FFFFFF"/>
                    </a:solidFill>
                  </a:tcPr>
                </a:tc>
                <a:tc>
                  <a:txBody>
                    <a:bodyPr/>
                    <a:lstStyle/>
                    <a:p>
                      <a:r>
                        <a:rPr sz="850" b="0">
                          <a:solidFill>
                            <a:srgbClr val="4B4B4B"/>
                          </a:solidFill>
                          <a:latin typeface="Arial"/>
                        </a:rPr>
                        <a:t>Landing page and menu: Top management approver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NAV-DM-13</a:t>
                      </a:r>
                    </a:p>
                  </a:txBody>
                  <a:tcPr marL="54864" marR="54864" marT="27432" marB="27432">
                    <a:solidFill>
                      <a:srgbClr val="E5F5FF"/>
                    </a:solidFill>
                  </a:tcPr>
                </a:tc>
                <a:tc>
                  <a:txBody>
                    <a:bodyPr/>
                    <a:lstStyle/>
                    <a:p>
                      <a:r>
                        <a:rPr sz="850" b="0">
                          <a:solidFill>
                            <a:srgbClr val="4B4B4B"/>
                          </a:solidFill>
                          <a:latin typeface="Arial"/>
                        </a:rPr>
                        <a:t>Landing page and menu: Commission user</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NAV-DM-14</a:t>
                      </a:r>
                    </a:p>
                  </a:txBody>
                  <a:tcPr marL="54864" marR="54864" marT="27432" marB="27432">
                    <a:solidFill>
                      <a:srgbClr val="FFFFFF"/>
                    </a:solidFill>
                  </a:tcPr>
                </a:tc>
                <a:tc>
                  <a:txBody>
                    <a:bodyPr/>
                    <a:lstStyle/>
                    <a:p>
                      <a:r>
                        <a:rPr sz="850" b="0">
                          <a:solidFill>
                            <a:srgbClr val="4B4B4B"/>
                          </a:solidFill>
                          <a:latin typeface="Arial"/>
                        </a:rPr>
                        <a:t>Landing page and menu: Commission team lead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NAV-DM-15</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