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deck guides the business units through the BRD-3 Product Maintenance sign-off pack, release set v2.0. It explains what the pack is, how to read it, the steps up to sign-off and what happens after. It is presented at the kick-off and stays in the pack as file 01.</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Stress that the pack describes the system as built on the status date, not a design.</a:t>
            </a:r>
          </a:p>
          <a:p>
            <a:r>
              <a:t>Signing means: this is what we get; the look, feel, fields, rules, messages and navigation are frozen.</a:t>
            </a:r>
          </a:p>
          <a:p>
            <a:r>
              <a:t>Data on the screenshots is seed data of the SIT environment; names and numbers are fictitious.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files are numbered 00 to 05 so they sort in reading order in the BRD folder. 00 Start Here is the short version of this deck; 02 FRS and 03 workbook carry the same rows; 04 and 05 are the test plan traced to the screens.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Nobody needs to read the whole FRS. Each role starts with its chapters and its sheets of the workbook; the walkthroughs in chapter 14 are the fastest way to see the whole process.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Pack issued: Day 0 (Mon 2-Nov-2026).</a:t>
            </a:r>
          </a:p>
          <a:p>
            <a:r>
              <a:t>2. Kick-off and screen walkthrough on SIT: 3 sessions, 4 to 6-Nov-2026.</a:t>
            </a:r>
          </a:p>
          <a:p>
            <a:r>
              <a:t>3. Review with the workbook; configuration inputs started: 8 working days after the walkthroughs, until Wed 18-Nov-2026.</a:t>
            </a:r>
          </a:p>
          <a:p>
            <a:r>
              <a:t>4. Comments consolidated and a Q&amp;A session: 3 working days, Q&amp;A on Mon 23-Nov-2026.</a:t>
            </a:r>
          </a:p>
          <a:p>
            <a:r>
              <a:t>5. One revision cycle (v2.1): v2.1 on Wed 25-Nov-2026; check by the reviewers until Fri 27-Nov-2026.</a:t>
            </a:r>
          </a:p>
          <a:p>
            <a:r>
              <a:t>6. Sign-off meeting and signature: Mon 30-Nov-2026.</a:t>
            </a:r>
          </a:p>
          <a:p>
            <a:r>
              <a:t>7. Handover to development or build freeze; configuration and migration inputs: From Tue 1-Dec-2026; templates final at the map freeze.</a:t>
            </a:r>
          </a:p>
          <a:p>
            <a:r>
              <a:t>8. Traceability into SIT and UAT: SIT Apr - Jul 2027; UAT Aug - Oct 2027.</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 responsible, A accountable, C consulted, I informed. The durations are indicative; the dates are those of the Start Here guide.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 responsible, A accountable, C consulted, I informed. The durations are indicative; the dates are those of the Start Here guide.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No. column is the numbered marker on the screenshot of the FRS. The drop-down columns accept only the listed values. The Comments log, Meeting minutes and Version history sheets are kept by the project team; the Sign-off certificate is signed at the end.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process runs from client onboarding and KYC, through the quotation or the PRF, the account, payment and placement, issuance and booking, to the hand-off to Operations and Accounting.</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persona sees only the menu entries of its role; the full menu of each persona is in FRS chapter 12 and on the Menu by persona sheet of the workbook.</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Screenshots of the SIT environment with seed data; every screen of the module is in FRS chapter 13.</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rules the business units ask about most. Each rule is stated with its FR on the screen where it applies.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contract is part of the signed set. Product Maintenance is the source of the products, package versions and rate schemes that every selling and servicing BRD prices on. A later change in any of those BRDs that touches a line of this contract (a new product attribute, a different version rule, another rating purpose, a new incentive criterion basis) is raised as a change request against this signed set in the Change Management Register, assessed with its mandays and approved by the owners of both BRDs; the affected pages of this set are then re-issued and signed as a delta.</a:t>
            </a:r>
          </a:p>
          <a:p>
            <a:r>
              <a:t>IC-01 BRD-1 New Business (Out): Product lines, cover types and products (risk codes) with their flags (package, fleet, mortgage related, direct payment allowed, multi-year and maximum term, Free First Year), market segments, payment gate and TSU review setting</a:t>
            </a:r>
          </a:p>
          <a:p>
            <a:r>
              <a:t>IC-02 BRD-1 New Business (Out): The package version in force (rate scheme, minimum premium, commission, TSI limit, panel insurers with their own rates) for new business pricing; the version number is stored on the quotation, the account and the booked invoice</a:t>
            </a:r>
          </a:p>
          <a:p>
            <a:r>
              <a:t>IC-03 BRD-1 New Business (Out): Rate exceptions approved for one transaction (quotation number or ARN)</a:t>
            </a:r>
          </a:p>
          <a:p>
            <a:r>
              <a:t>IC-04 BRD-1 New Business (Out): Field rules and document rules per product (presence, list of values, number range, format), TSU routing rules and the package TSI limit</a:t>
            </a:r>
          </a:p>
          <a:p>
            <a:r>
              <a:t>IC-05 BRD-1 New Business (In): Clients of client-specific packages; the Document Templates screen that holds the package templates; the workflow, documents, e-mail and report platform</a:t>
            </a:r>
          </a:p>
          <a:p>
            <a:r>
              <a:t>IC-06 BRD-6 Renewal (Out): Package versions for renewal pricing (purpose Renewal) and the sellable check of a product at renewal</a:t>
            </a:r>
          </a:p>
          <a:p>
            <a:r>
              <a:t>IC-07 BRD-6 Renewal and BRD-13 Data Migration (Out): The BIBS package versions named as targets of the package map (legacy package and version to BIBS package version) that the data migration loads (object R06) and the Renewal sanitation check PACKAGE_REMAP reads</a:t>
            </a:r>
          </a:p>
          <a:p>
            <a:r>
              <a:t>IC-08 BRD-8 Employee Benefits (Out): EB product lines (HMO, group life, group personal accident), EB products and HMO providers as panel insurers with commission rates</a:t>
            </a:r>
          </a:p>
          <a:p>
            <a:r>
              <a:t>IC-09 BRD-12 Submitted Policies (Out): Products and the package TSI limit of a product</a:t>
            </a:r>
          </a:p>
          <a:p>
            <a:r>
              <a:t>IC-10 BRD-1 Booking and BRD-2 Operations (Out): Incentive criteria (for example CPC2) matched at booking; the package version of the account for endorsements and adjustments</a:t>
            </a:r>
          </a:p>
          <a:p>
            <a:r>
              <a:t>IC-11 BRD-5 Accounting (remittance and commission) (Out): Incentive criteria codes for commission incentive schemes and the CPC2 remittance incentive; insurer commission rates</a:t>
            </a:r>
          </a:p>
          <a:p>
            <a:r>
              <a:t>IC-12 BRD-11 User Access Maintenance (In): Users, roles and the role-to-action matrix of Product Maintenance; role-permission change requests</a:t>
            </a:r>
          </a:p>
          <a:p>
            <a:r>
              <a:t>IC-13 BRD-13 Data Migration (In): The go-live load of the product masters from the legacy systems (QPS, EBIX) - lists of values (R01), sales organisation (R03), insurers and branches (R04), product lines, cover types and products (R05), commission rates (R07) - through the catalog services under maker-checker; the package map (R06) as in IC-07</a:t>
            </a:r>
          </a:p>
          <a:p>
            <a:r>
              <a:t>IC-14 Other BDOI systems (product master feed) (Out): Released, expired and retired package versions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ways to handle a case: an in-scope clarification (no change to the signed set, answered in the comments log); a change request with mandays in the Change Management Register; a delta sign-off of the affected pages only.</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these examples to agree the handling of a case during the review.</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sign-off meeting starts when the exit criteria are met; the set is done when the certificate is signed and the build is frozen.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Product Maintenance is already built: handover means the build is frozen as signed, the approved deltas are scheduled and the configuration inputs are loaded.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Nothing in a signed set changes without a request in the register. The as-built refresh at the end of the build re-issues the set with the system as delivered.</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Next steps:</a:t>
            </a:r>
          </a:p>
          <a:p>
            <a:r>
              <a:t>Kick-off and first SIT walkthrough on Wed 4-Nov-2026</a:t>
            </a:r>
          </a:p>
          <a:p>
            <a:r>
              <a:t>Workbooks returned by Wed 18-Nov-2026; Q&amp;A on Mon 23-Nov-2026; sign-off on Mon 30-Nov-2026</a:t>
            </a:r>
          </a:p>
          <a:p>
            <a:r>
              <a:t>Configuration input templates filled in for the data migration mocks; final at the map freeze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other BRD sets follow the same pack, guide and steps.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9.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do-insure.png"/>
          <p:cNvPicPr>
            <a:picLocks noChangeAspect="1"/>
          </p:cNvPicPr>
          <p:nvPr/>
        </p:nvPicPr>
        <p:blipFill>
          <a:blip r:embed="rId2"/>
          <a:stretch>
            <a:fillRect/>
          </a:stretch>
        </p:blipFill>
        <p:spPr>
          <a:xfrm>
            <a:off x="548640" y="548640"/>
            <a:ext cx="2926080" cy="596053"/>
          </a:xfrm>
          <a:prstGeom prst="rect">
            <a:avLst/>
          </a:prstGeom>
        </p:spPr>
      </p:pic>
      <p:sp>
        <p:nvSpPr>
          <p:cNvPr id="3" name="TextBox 2"/>
          <p:cNvSpPr txBox="1"/>
          <p:nvPr/>
        </p:nvSpPr>
        <p:spPr>
          <a:xfrm>
            <a:off x="548640" y="2194560"/>
            <a:ext cx="10058400" cy="1280160"/>
          </a:xfrm>
          <a:prstGeom prst="rect">
            <a:avLst/>
          </a:prstGeom>
          <a:noFill/>
        </p:spPr>
        <p:txBody>
          <a:bodyPr wrap="square" anchor="b" lIns="45720" rIns="45720">
            <a:spAutoFit/>
          </a:bodyPr>
          <a:lstStyle/>
          <a:p>
            <a:r>
              <a:rPr sz="4000" b="1" i="0">
                <a:solidFill>
                  <a:srgbClr val="004EA8"/>
                </a:solidFill>
                <a:latin typeface="Arial"/>
              </a:rPr>
              <a:t>Sign-off Pack Guide: BRD-3 Product Maintenance</a:t>
            </a:r>
          </a:p>
        </p:txBody>
      </p:sp>
      <p:sp>
        <p:nvSpPr>
          <p:cNvPr id="4" name="Rectangle 3"/>
          <p:cNvSpPr/>
          <p:nvPr/>
        </p:nvSpPr>
        <p:spPr>
          <a:xfrm>
            <a:off x="548640" y="3611880"/>
            <a:ext cx="2011680" cy="508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794760"/>
            <a:ext cx="10058400" cy="548640"/>
          </a:xfrm>
          <a:prstGeom prst="rect">
            <a:avLst/>
          </a:prstGeom>
          <a:noFill/>
        </p:spPr>
        <p:txBody>
          <a:bodyPr wrap="square" anchor="t" lIns="45720" rIns="45720">
            <a:spAutoFit/>
          </a:bodyPr>
          <a:lstStyle/>
          <a:p>
            <a:r>
              <a:rPr sz="2000" b="0" i="0">
                <a:solidFill>
                  <a:srgbClr val="2E2E2E"/>
                </a:solidFill>
                <a:latin typeface="Arial"/>
              </a:rPr>
              <a:t>BRD-3 Product Maintenance business sign-off pack, release set v2.0</a:t>
            </a:r>
          </a:p>
        </p:txBody>
      </p:sp>
      <p:sp>
        <p:nvSpPr>
          <p:cNvPr id="6" name="TextBox 5"/>
          <p:cNvSpPr txBox="1"/>
          <p:nvPr/>
        </p:nvSpPr>
        <p:spPr>
          <a:xfrm>
            <a:off x="548640" y="4343400"/>
            <a:ext cx="10058400" cy="457200"/>
          </a:xfrm>
          <a:prstGeom prst="rect">
            <a:avLst/>
          </a:prstGeom>
          <a:noFill/>
        </p:spPr>
        <p:txBody>
          <a:bodyPr wrap="square" anchor="t" lIns="45720" rIns="45720">
            <a:spAutoFit/>
          </a:bodyPr>
          <a:lstStyle/>
          <a:p>
            <a:r>
              <a:rPr sz="1600" b="0" i="0">
                <a:solidFill>
                  <a:srgbClr val="656565"/>
                </a:solidFill>
                <a:latin typeface="Arial"/>
              </a:rPr>
              <a:t>BIBS – BDOI Broker System</a:t>
            </a:r>
          </a:p>
        </p:txBody>
      </p:sp>
      <p:sp>
        <p:nvSpPr>
          <p:cNvPr id="7" name="TextBox 6"/>
          <p:cNvSpPr txBox="1"/>
          <p:nvPr/>
        </p:nvSpPr>
        <p:spPr>
          <a:xfrm>
            <a:off x="548640" y="5943600"/>
            <a:ext cx="8229600" cy="365760"/>
          </a:xfrm>
          <a:prstGeom prst="rect">
            <a:avLst/>
          </a:prstGeom>
          <a:noFill/>
        </p:spPr>
        <p:txBody>
          <a:bodyPr wrap="square" anchor="t" lIns="45720" rIns="45720">
            <a:spAutoFit/>
          </a:bodyPr>
          <a:lstStyle/>
          <a:p>
            <a:r>
              <a:rPr sz="1100" b="0" i="0">
                <a:solidFill>
                  <a:srgbClr val="656565"/>
                </a:solidFill>
                <a:latin typeface="Arial"/>
              </a:rPr>
              <a:t>BDO Insurance and Reinsurance Brokers, Inc. | Version 2.0 | 27 September 2026 | Confidential</a:t>
            </a:r>
          </a:p>
        </p:txBody>
      </p:sp>
      <p:sp>
        <p:nvSpPr>
          <p:cNvPr id="8" name="TextBox 7"/>
          <p:cNvSpPr txBox="1"/>
          <p:nvPr/>
        </p:nvSpPr>
        <p:spPr>
          <a:xfrm>
            <a:off x="8351215" y="5897880"/>
            <a:ext cx="1828800" cy="365760"/>
          </a:xfrm>
          <a:prstGeom prst="rect">
            <a:avLst/>
          </a:prstGeom>
          <a:noFill/>
        </p:spPr>
        <p:txBody>
          <a:bodyPr wrap="square" anchor="ctr" lIns="45720" rIns="45720">
            <a:spAutoFit/>
          </a:bodyPr>
          <a:lstStyle/>
          <a:p>
            <a:pPr algn="r"/>
            <a:r>
              <a:rPr sz="1000" b="0" i="0">
                <a:solidFill>
                  <a:srgbClr val="656565"/>
                </a:solidFill>
                <a:latin typeface="Arial"/>
              </a:rPr>
              <a:t>Prepared by</a:t>
            </a:r>
          </a:p>
        </p:txBody>
      </p:sp>
      <p:pic>
        <p:nvPicPr>
          <p:cNvPr id="9" name="Picture 8" descr="iorta-technxt.png"/>
          <p:cNvPicPr>
            <a:picLocks noChangeAspect="1"/>
          </p:cNvPicPr>
          <p:nvPr/>
        </p:nvPicPr>
        <p:blipFill>
          <a:blip r:embed="rId3"/>
          <a:stretch>
            <a:fillRect/>
          </a:stretch>
        </p:blipFill>
        <p:spPr>
          <a:xfrm>
            <a:off x="10271455" y="5806440"/>
            <a:ext cx="1371600" cy="404213"/>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Purpose of the pack and what sign-off means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a:t>
            </a:r>
          </a:p>
        </p:txBody>
      </p:sp>
      <p:sp>
        <p:nvSpPr>
          <p:cNvPr id="9" name="TextBox 8"/>
          <p:cNvSpPr txBox="1"/>
          <p:nvPr/>
        </p:nvSpPr>
        <p:spPr>
          <a:xfrm>
            <a:off x="548640" y="1371600"/>
            <a:ext cx="11094415" cy="4754880"/>
          </a:xfrm>
          <a:prstGeom prst="rect">
            <a:avLst/>
          </a:prstGeom>
          <a:noFill/>
        </p:spPr>
        <p:txBody>
          <a:bodyPr wrap="square">
            <a:spAutoFit/>
          </a:bodyPr>
          <a:lstStyle/>
          <a:p>
            <a:pPr>
              <a:spcAft>
                <a:spcPts val="600"/>
              </a:spcAft>
            </a:pPr>
            <a:r>
              <a:rPr sz="1800">
                <a:solidFill>
                  <a:srgbClr val="004EA8"/>
                </a:solidFill>
                <a:latin typeface="Arial"/>
              </a:rPr>
              <a:t>•  </a:t>
            </a:r>
            <a:r>
              <a:rPr sz="1800">
                <a:solidFill>
                  <a:srgbClr val="4B4B4B"/>
                </a:solidFill>
                <a:latin typeface="Arial"/>
              </a:rPr>
              <a:t>The pack shows Product Maintenance as built in BIBS, screen by screen, so each business unit confirms what it will get</a:t>
            </a:r>
          </a:p>
          <a:p>
            <a:pPr lvl="1">
              <a:spcAft>
                <a:spcPts val="600"/>
              </a:spcAft>
            </a:pPr>
            <a:r>
              <a:rPr sz="1600">
                <a:solidFill>
                  <a:srgbClr val="656565"/>
                </a:solidFill>
                <a:latin typeface="Arial"/>
              </a:rPr>
              <a:t>–  </a:t>
            </a:r>
            <a:r>
              <a:rPr sz="1600">
                <a:solidFill>
                  <a:srgbClr val="4B4B4B"/>
                </a:solidFill>
                <a:latin typeface="Arial"/>
              </a:rPr>
              <a:t>Content: 22 screens, 303 fields, 75 business rules, 255 messages, from the system as built</a:t>
            </a:r>
          </a:p>
          <a:p>
            <a:pPr lvl="1">
              <a:spcAft>
                <a:spcPts val="600"/>
              </a:spcAft>
            </a:pPr>
            <a:r>
              <a:rPr sz="1600">
                <a:solidFill>
                  <a:srgbClr val="656565"/>
                </a:solidFill>
                <a:latin typeface="Arial"/>
              </a:rPr>
              <a:t>–  </a:t>
            </a:r>
            <a:r>
              <a:rPr sz="1600">
                <a:solidFill>
                  <a:srgbClr val="4B4B4B"/>
                </a:solidFill>
                <a:latin typeface="Arial"/>
              </a:rPr>
              <a:t>Every screen with numbered fields, the navigation per persona, three end-to-end walkthroughs</a:t>
            </a:r>
          </a:p>
          <a:p>
            <a:pPr>
              <a:spcAft>
                <a:spcPts val="600"/>
              </a:spcAft>
            </a:pPr>
            <a:r>
              <a:rPr sz="1800">
                <a:solidFill>
                  <a:srgbClr val="004EA8"/>
                </a:solidFill>
                <a:latin typeface="Arial"/>
              </a:rPr>
              <a:t>•  </a:t>
            </a:r>
            <a:r>
              <a:rPr sz="1800">
                <a:solidFill>
                  <a:srgbClr val="4B4B4B"/>
                </a:solidFill>
                <a:latin typeface="Arial"/>
              </a:rPr>
              <a:t>Signing freezes the content, the screens and the navigation of the module</a:t>
            </a:r>
          </a:p>
          <a:p>
            <a:pPr lvl="1">
              <a:spcAft>
                <a:spcPts val="600"/>
              </a:spcAft>
            </a:pPr>
            <a:r>
              <a:rPr sz="1600">
                <a:solidFill>
                  <a:srgbClr val="656565"/>
                </a:solidFill>
                <a:latin typeface="Arial"/>
              </a:rPr>
              <a:t>–  </a:t>
            </a:r>
            <a:r>
              <a:rPr sz="1600">
                <a:solidFill>
                  <a:srgbClr val="4B4B4B"/>
                </a:solidFill>
                <a:latin typeface="Arial"/>
              </a:rPr>
              <a:t>After sign-off a change goes through the Change Management Register with its mandays</a:t>
            </a:r>
          </a:p>
          <a:p>
            <a:pPr lvl="1">
              <a:spcAft>
                <a:spcPts val="600"/>
              </a:spcAft>
            </a:pPr>
            <a:r>
              <a:rPr sz="1600">
                <a:solidFill>
                  <a:srgbClr val="656565"/>
                </a:solidFill>
                <a:latin typeface="Arial"/>
              </a:rPr>
              <a:t>–  </a:t>
            </a:r>
            <a:r>
              <a:rPr sz="1600">
                <a:solidFill>
                  <a:srgbClr val="4B4B4B"/>
                </a:solidFill>
                <a:latin typeface="Arial"/>
              </a:rPr>
              <a:t>Configuration values marked default (SLA hours, thresholds, list entries, templates) stay open</a:t>
            </a:r>
          </a:p>
          <a:p>
            <a:pPr>
              <a:spcAft>
                <a:spcPts val="600"/>
              </a:spcAft>
            </a:pPr>
            <a:r>
              <a:rPr sz="1800">
                <a:solidFill>
                  <a:srgbClr val="004EA8"/>
                </a:solidFill>
                <a:latin typeface="Arial"/>
              </a:rPr>
              <a:t>•  </a:t>
            </a:r>
            <a:r>
              <a:rPr sz="1800">
                <a:solidFill>
                  <a:srgbClr val="4B4B4B"/>
                </a:solidFill>
                <a:latin typeface="Arial"/>
              </a:rPr>
              <a:t>The screenshots use fictitious seed data only, in the BDO theme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The pack at a glance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a:t>
            </a:r>
          </a:p>
        </p:txBody>
      </p:sp>
      <p:graphicFrame>
        <p:nvGraphicFramePr>
          <p:cNvPr id="9" name="Table 8"/>
          <p:cNvGraphicFramePr>
            <a:graphicFrameLocks noGrp="1"/>
          </p:cNvGraphicFramePr>
          <p:nvPr/>
        </p:nvGraphicFramePr>
        <p:xfrm>
          <a:off x="548640" y="1371600"/>
          <a:ext cx="11094413" cy="2926080"/>
        </p:xfrm>
        <a:graphic>
          <a:graphicData uri="http://schemas.openxmlformats.org/drawingml/2006/table">
            <a:tbl>
              <a:tblPr firstRow="1" bandRow="1">
                <a:tableStyleId>{5C22544A-7EE6-4342-B048-85BDC9FD1C3A}</a:tableStyleId>
              </a:tblPr>
              <a:tblGrid>
                <a:gridCol w="3025749"/>
                <a:gridCol w="4370527"/>
                <a:gridCol w="2185263"/>
                <a:gridCol w="1512874"/>
              </a:tblGrid>
              <a:tr h="365760">
                <a:tc>
                  <a:txBody>
                    <a:bodyPr/>
                    <a:lstStyle/>
                    <a:p>
                      <a:r>
                        <a:rPr sz="1000" b="1">
                          <a:solidFill>
                            <a:srgbClr val="FFFFFF"/>
                          </a:solidFill>
                          <a:latin typeface="Arial"/>
                        </a:rPr>
                        <a:t>File</a:t>
                      </a:r>
                    </a:p>
                  </a:txBody>
                  <a:tcPr marL="73152" marR="73152" marT="36576" marB="36576">
                    <a:solidFill>
                      <a:srgbClr val="004EA8"/>
                    </a:solidFill>
                  </a:tcPr>
                </a:tc>
                <a:tc>
                  <a:txBody>
                    <a:bodyPr/>
                    <a:lstStyle/>
                    <a:p>
                      <a:r>
                        <a:rPr sz="1000" b="1">
                          <a:solidFill>
                            <a:srgbClr val="FFFFFF"/>
                          </a:solidFill>
                          <a:latin typeface="Arial"/>
                        </a:rPr>
                        <a:t>What it is for</a:t>
                      </a:r>
                    </a:p>
                  </a:txBody>
                  <a:tcPr marL="73152" marR="73152" marT="36576" marB="36576">
                    <a:solidFill>
                      <a:srgbClr val="004EA8"/>
                    </a:solidFill>
                  </a:tcPr>
                </a:tc>
                <a:tc>
                  <a:txBody>
                    <a:bodyPr/>
                    <a:lstStyle/>
                    <a:p>
                      <a:r>
                        <a:rPr sz="1000" b="1">
                          <a:solidFill>
                            <a:srgbClr val="FFFFFF"/>
                          </a:solidFill>
                          <a:latin typeface="Arial"/>
                        </a:rPr>
                        <a:t>Who reads it</a:t>
                      </a:r>
                    </a:p>
                  </a:txBody>
                  <a:tcPr marL="73152" marR="73152" marT="36576" marB="36576">
                    <a:solidFill>
                      <a:srgbClr val="004EA8"/>
                    </a:solidFill>
                  </a:tcPr>
                </a:tc>
                <a:tc>
                  <a:txBody>
                    <a:bodyPr/>
                    <a:lstStyle/>
                    <a:p>
                      <a:r>
                        <a:rPr sz="1000" b="1">
                          <a:solidFill>
                            <a:srgbClr val="FFFFFF"/>
                          </a:solidFill>
                          <a:latin typeface="Arial"/>
                        </a:rPr>
                        <a:t>When</a:t>
                      </a:r>
                    </a:p>
                  </a:txBody>
                  <a:tcPr marL="73152" marR="73152" marT="36576" marB="36576">
                    <a:solidFill>
                      <a:srgbClr val="004EA8"/>
                    </a:solidFill>
                  </a:tcPr>
                </a:tc>
              </a:tr>
              <a:tr h="365760">
                <a:tc>
                  <a:txBody>
                    <a:bodyPr/>
                    <a:lstStyle/>
                    <a:p>
                      <a:r>
                        <a:rPr sz="1000" b="0">
                          <a:solidFill>
                            <a:srgbClr val="4B4B4B"/>
                          </a:solidFill>
                          <a:latin typeface="Arial"/>
                        </a:rPr>
                        <a:t>00_BIBS_StartHere_BRD-03_Product_Maintenance_v2.0.docx</a:t>
                      </a:r>
                    </a:p>
                  </a:txBody>
                  <a:tcPr marL="73152" marR="73152" marT="36576" marB="36576">
                    <a:solidFill>
                      <a:srgbClr val="FFFFFF"/>
                    </a:solidFill>
                  </a:tcPr>
                </a:tc>
                <a:tc>
                  <a:txBody>
                    <a:bodyPr/>
                    <a:lstStyle/>
                    <a:p>
                      <a:r>
                        <a:rPr sz="1000" b="0">
                          <a:solidFill>
                            <a:srgbClr val="4B4B4B"/>
                          </a:solidFill>
                          <a:latin typeface="Arial"/>
                        </a:rPr>
                        <a:t>Start Here: the map of the pack, who reads what, the steps and the dates</a:t>
                      </a:r>
                    </a:p>
                  </a:txBody>
                  <a:tcPr marL="73152" marR="73152" marT="36576" marB="36576">
                    <a:solidFill>
                      <a:srgbClr val="FFFFFF"/>
                    </a:solidFill>
                  </a:tcPr>
                </a:tc>
                <a:tc>
                  <a:txBody>
                    <a:bodyPr/>
                    <a:lstStyle/>
                    <a:p>
                      <a:r>
                        <a:rPr sz="1000" b="0">
                          <a:solidFill>
                            <a:srgbClr val="4B4B4B"/>
                          </a:solidFill>
                          <a:latin typeface="Arial"/>
                        </a:rPr>
                        <a:t>Everyone</a:t>
                      </a:r>
                    </a:p>
                  </a:txBody>
                  <a:tcPr marL="73152" marR="73152" marT="36576" marB="36576">
                    <a:solidFill>
                      <a:srgbClr val="FFFFFF"/>
                    </a:solidFill>
                  </a:tcPr>
                </a:tc>
                <a:tc>
                  <a:txBody>
                    <a:bodyPr/>
                    <a:lstStyle/>
                    <a:p>
                      <a:r>
                        <a:rPr sz="1000" b="0">
                          <a:solidFill>
                            <a:srgbClr val="4B4B4B"/>
                          </a:solidFill>
                          <a:latin typeface="Arial"/>
                        </a:rPr>
                        <a:t>First, on issue</a:t>
                      </a:r>
                    </a:p>
                  </a:txBody>
                  <a:tcPr marL="73152" marR="73152" marT="36576" marB="36576">
                    <a:solidFill>
                      <a:srgbClr val="FFFFFF"/>
                    </a:solidFill>
                  </a:tcPr>
                </a:tc>
              </a:tr>
              <a:tr h="365760">
                <a:tc>
                  <a:txBody>
                    <a:bodyPr/>
                    <a:lstStyle/>
                    <a:p>
                      <a:r>
                        <a:rPr sz="1000" b="0">
                          <a:solidFill>
                            <a:srgbClr val="4B4B4B"/>
                          </a:solidFill>
                          <a:latin typeface="Arial"/>
                        </a:rPr>
                        <a:t>01_BIBS_GuideDeck_BRD-03_Product_Maintenance_v2.0.pptx</a:t>
                      </a:r>
                    </a:p>
                  </a:txBody>
                  <a:tcPr marL="73152" marR="73152" marT="36576" marB="36576">
                    <a:solidFill>
                      <a:srgbClr val="E5F5FF"/>
                    </a:solidFill>
                  </a:tcPr>
                </a:tc>
                <a:tc>
                  <a:txBody>
                    <a:bodyPr/>
                    <a:lstStyle/>
                    <a:p>
                      <a:r>
                        <a:rPr sz="1000" b="0">
                          <a:solidFill>
                            <a:srgbClr val="4B4B4B"/>
                          </a:solidFill>
                          <a:latin typeface="Arial"/>
                        </a:rPr>
                        <a:t>Sign-off Pack Guide: purpose, approach, the module at a glance, caveats, entry and exit criteria, change control</a:t>
                      </a:r>
                    </a:p>
                  </a:txBody>
                  <a:tcPr marL="73152" marR="73152" marT="36576" marB="36576">
                    <a:solidFill>
                      <a:srgbClr val="E5F5FF"/>
                    </a:solidFill>
                  </a:tcPr>
                </a:tc>
                <a:tc>
                  <a:txBody>
                    <a:bodyPr/>
                    <a:lstStyle/>
                    <a:p>
                      <a:r>
                        <a:rPr sz="1000" b="0">
                          <a:solidFill>
                            <a:srgbClr val="4B4B4B"/>
                          </a:solidFill>
                          <a:latin typeface="Arial"/>
                        </a:rPr>
                        <a:t>Business owner, unit heads; presented at the kick-off</a:t>
                      </a:r>
                    </a:p>
                  </a:txBody>
                  <a:tcPr marL="73152" marR="73152" marT="36576" marB="36576">
                    <a:solidFill>
                      <a:srgbClr val="E5F5FF"/>
                    </a:solidFill>
                  </a:tcPr>
                </a:tc>
                <a:tc>
                  <a:txBody>
                    <a:bodyPr/>
                    <a:lstStyle/>
                    <a:p>
                      <a:r>
                        <a:rPr sz="1000" b="0">
                          <a:solidFill>
                            <a:srgbClr val="4B4B4B"/>
                          </a:solidFill>
                          <a:latin typeface="Arial"/>
                        </a:rPr>
                        <a:t>Kick-off session</a:t>
                      </a:r>
                    </a:p>
                  </a:txBody>
                  <a:tcPr marL="73152" marR="73152" marT="36576" marB="36576">
                    <a:solidFill>
                      <a:srgbClr val="E5F5FF"/>
                    </a:solidFill>
                  </a:tcPr>
                </a:tc>
              </a:tr>
              <a:tr h="365760">
                <a:tc>
                  <a:txBody>
                    <a:bodyPr/>
                    <a:lstStyle/>
                    <a:p>
                      <a:r>
                        <a:rPr sz="1000" b="0">
                          <a:solidFill>
                            <a:srgbClr val="4B4B4B"/>
                          </a:solidFill>
                          <a:latin typeface="Arial"/>
                        </a:rPr>
                        <a:t>02_BIBS_FRS_BRD-03_Product_Maintenance_v2.0.docx</a:t>
                      </a:r>
                    </a:p>
                  </a:txBody>
                  <a:tcPr marL="73152" marR="73152" marT="36576" marB="36576">
                    <a:solidFill>
                      <a:srgbClr val="FFFFFF"/>
                    </a:solidFill>
                  </a:tcPr>
                </a:tc>
                <a:tc>
                  <a:txBody>
                    <a:bodyPr/>
                    <a:lstStyle/>
                    <a:p>
                      <a:r>
                        <a:rPr sz="1000" b="0">
                          <a:solidFill>
                            <a:srgbClr val="4B4B4B"/>
                          </a:solidFill>
                          <a:latin typeface="Arial"/>
                        </a:rPr>
                        <a:t>Functional Requirements Specification v2.0: requirements, navigation, 22 screen specifications with screenshots, walkthroughs, messages, notifications, documents, uploads, configuration inputs, cross-BRD contract</a:t>
                      </a:r>
                    </a:p>
                  </a:txBody>
                  <a:tcPr marL="73152" marR="73152" marT="36576" marB="36576">
                    <a:solidFill>
                      <a:srgbClr val="FFFFFF"/>
                    </a:solidFill>
                  </a:tcPr>
                </a:tc>
                <a:tc>
                  <a:txBody>
                    <a:bodyPr/>
                    <a:lstStyle/>
                    <a:p>
                      <a:r>
                        <a:rPr sz="1000" b="0">
                          <a:solidFill>
                            <a:srgbClr val="4B4B4B"/>
                          </a:solidFill>
                          <a:latin typeface="Arial"/>
                        </a:rPr>
                        <a:t>MBS, TSU and Marketing for their screens; Finance and BDOI IT for their chapters</a:t>
                      </a:r>
                    </a:p>
                  </a:txBody>
                  <a:tcPr marL="73152" marR="73152" marT="36576" marB="36576">
                    <a:solidFill>
                      <a:srgbClr val="FFFFFF"/>
                    </a:solidFill>
                  </a:tcPr>
                </a:tc>
                <a:tc>
                  <a:txBody>
                    <a:bodyPr/>
                    <a:lstStyle/>
                    <a:p>
                      <a:r>
                        <a:rPr sz="1000" b="0">
                          <a:solidFill>
                            <a:srgbClr val="4B4B4B"/>
                          </a:solidFill>
                          <a:latin typeface="Arial"/>
                        </a:rPr>
                        <a:t>During the review, with the SIT walkthroughs</a:t>
                      </a:r>
                    </a:p>
                  </a:txBody>
                  <a:tcPr marL="73152" marR="73152" marT="36576" marB="36576">
                    <a:solidFill>
                      <a:srgbClr val="FFFFFF"/>
                    </a:solidFill>
                  </a:tcPr>
                </a:tc>
              </a:tr>
              <a:tr h="365760">
                <a:tc>
                  <a:txBody>
                    <a:bodyPr/>
                    <a:lstStyle/>
                    <a:p>
                      <a:r>
                        <a:rPr sz="1000" b="0">
                          <a:solidFill>
                            <a:srgbClr val="4B4B4B"/>
                          </a:solidFill>
                          <a:latin typeface="Arial"/>
                        </a:rPr>
                        <a:t>03_BIBS_Signoff_BRD-03_Product_Maintenance_v2.0.xlsx</a:t>
                      </a:r>
                    </a:p>
                  </a:txBody>
                  <a:tcPr marL="73152" marR="73152" marT="36576" marB="36576">
                    <a:solidFill>
                      <a:srgbClr val="E5F5FF"/>
                    </a:solidFill>
                  </a:tcPr>
                </a:tc>
                <a:tc>
                  <a:txBody>
                    <a:bodyPr/>
                    <a:lstStyle/>
                    <a:p>
                      <a:r>
                        <a:rPr sz="1000" b="0">
                          <a:solidFill>
                            <a:srgbClr val="4B4B4B"/>
                          </a:solidFill>
                          <a:latin typeface="Arial"/>
                        </a:rPr>
                        <a:t>Sign-off workbook: one row per screen, field, rule and message with the BU review columns; comments log, meeting minutes, version history, sign-off certificate</a:t>
                      </a:r>
                    </a:p>
                  </a:txBody>
                  <a:tcPr marL="73152" marR="73152" marT="36576" marB="36576">
                    <a:solidFill>
                      <a:srgbClr val="E5F5FF"/>
                    </a:solidFill>
                  </a:tcPr>
                </a:tc>
                <a:tc>
                  <a:txBody>
                    <a:bodyPr/>
                    <a:lstStyle/>
                    <a:p>
                      <a:r>
                        <a:rPr sz="1000" b="0">
                          <a:solidFill>
                            <a:srgbClr val="4B4B4B"/>
                          </a:solidFill>
                          <a:latin typeface="Arial"/>
                        </a:rPr>
                        <a:t>Every reviewer; the business owner signs it</a:t>
                      </a:r>
                    </a:p>
                  </a:txBody>
                  <a:tcPr marL="73152" marR="73152" marT="36576" marB="36576">
                    <a:solidFill>
                      <a:srgbClr val="E5F5FF"/>
                    </a:solidFill>
                  </a:tcPr>
                </a:tc>
                <a:tc>
                  <a:txBody>
                    <a:bodyPr/>
                    <a:lstStyle/>
                    <a:p>
                      <a:r>
                        <a:rPr sz="1000" b="0">
                          <a:solidFill>
                            <a:srgbClr val="4B4B4B"/>
                          </a:solidFill>
                          <a:latin typeface="Arial"/>
                        </a:rPr>
                        <a:t>During the review and at sign-off</a:t>
                      </a:r>
                    </a:p>
                  </a:txBody>
                  <a:tcPr marL="73152" marR="73152" marT="36576" marB="36576">
                    <a:solidFill>
                      <a:srgbClr val="E5F5FF"/>
                    </a:solidFill>
                  </a:tcPr>
                </a:tc>
              </a:tr>
              <a:tr h="365760">
                <a:tc>
                  <a:txBody>
                    <a:bodyPr/>
                    <a:lstStyle/>
                    <a:p>
                      <a:r>
                        <a:rPr sz="1000" b="0">
                          <a:solidFill>
                            <a:srgbClr val="4B4B4B"/>
                          </a:solidFill>
                          <a:latin typeface="Arial"/>
                        </a:rPr>
                        <a:t>04_BIBS_TestPlan_BRD-03_Product_Maintenance_v2.0.xlsx</a:t>
                      </a:r>
                    </a:p>
                  </a:txBody>
                  <a:tcPr marL="73152" marR="73152" marT="36576" marB="36576">
                    <a:solidFill>
                      <a:srgbClr val="FFFFFF"/>
                    </a:solidFill>
                  </a:tcPr>
                </a:tc>
                <a:tc>
                  <a:txBody>
                    <a:bodyPr/>
                    <a:lstStyle/>
                    <a:p>
                      <a:r>
                        <a:rPr sz="1000" b="0">
                          <a:solidFill>
                            <a:srgbClr val="4B4B4B"/>
                          </a:solidFill>
                          <a:latin typeface="Arial"/>
                        </a:rPr>
                        <a:t>Test plan workbook: the test cases traced to the FRs and to the screens, including one screen case and one message case per screen</a:t>
                      </a:r>
                    </a:p>
                  </a:txBody>
                  <a:tcPr marL="73152" marR="73152" marT="36576" marB="36576">
                    <a:solidFill>
                      <a:srgbClr val="FFFFFF"/>
                    </a:solidFill>
                  </a:tcPr>
                </a:tc>
                <a:tc>
                  <a:txBody>
                    <a:bodyPr/>
                    <a:lstStyle/>
                    <a:p>
                      <a:r>
                        <a:rPr sz="1000" b="0">
                          <a:solidFill>
                            <a:srgbClr val="4B4B4B"/>
                          </a:solidFill>
                          <a:latin typeface="Arial"/>
                        </a:rPr>
                        <a:t>Business users who will run UAT; BDOI IT</a:t>
                      </a:r>
                    </a:p>
                  </a:txBody>
                  <a:tcPr marL="73152" marR="73152" marT="36576" marB="36576">
                    <a:solidFill>
                      <a:srgbClr val="FFFFFF"/>
                    </a:solidFill>
                  </a:tcPr>
                </a:tc>
                <a:tc>
                  <a:txBody>
                    <a:bodyPr/>
                    <a:lstStyle/>
                    <a:p>
                      <a:r>
                        <a:rPr sz="1000" b="0">
                          <a:solidFill>
                            <a:srgbClr val="4B4B4B"/>
                          </a:solidFill>
                          <a:latin typeface="Arial"/>
                        </a:rPr>
                        <a:t>After the screens; used again in SIT and UAT</a:t>
                      </a:r>
                    </a:p>
                  </a:txBody>
                  <a:tcPr marL="73152" marR="73152" marT="36576" marB="36576">
                    <a:solidFill>
                      <a:srgbClr val="FFFFFF"/>
                    </a:solidFill>
                  </a:tcPr>
                </a:tc>
              </a:tr>
              <a:tr h="365760">
                <a:tc>
                  <a:txBody>
                    <a:bodyPr/>
                    <a:lstStyle/>
                    <a:p>
                      <a:r>
                        <a:rPr sz="1000" b="0">
                          <a:solidFill>
                            <a:srgbClr val="4B4B4B"/>
                          </a:solidFill>
                          <a:latin typeface="Arial"/>
                        </a:rPr>
                        <a:t>05_BIBS_TestPlan_BRD-03_Product_Maintenance_Summary_v2.0.docx</a:t>
                      </a:r>
                    </a:p>
                  </a:txBody>
                  <a:tcPr marL="73152" marR="73152" marT="36576" marB="36576">
                    <a:solidFill>
                      <a:srgbClr val="E5F5FF"/>
                    </a:solidFill>
                  </a:tcPr>
                </a:tc>
                <a:tc>
                  <a:txBody>
                    <a:bodyPr/>
                    <a:lstStyle/>
                    <a:p>
                      <a:r>
                        <a:rPr sz="1000" b="0">
                          <a:solidFill>
                            <a:srgbClr val="4B4B4B"/>
                          </a:solidFill>
                          <a:latin typeface="Arial"/>
                        </a:rPr>
                        <a:t>Test plan summary: scope, approach, coverage and the cases by area</a:t>
                      </a:r>
                    </a:p>
                  </a:txBody>
                  <a:tcPr marL="73152" marR="73152" marT="36576" marB="36576">
                    <a:solidFill>
                      <a:srgbClr val="E5F5FF"/>
                    </a:solidFill>
                  </a:tcPr>
                </a:tc>
                <a:tc>
                  <a:txBody>
                    <a:bodyPr/>
                    <a:lstStyle/>
                    <a:p>
                      <a:r>
                        <a:rPr sz="1000" b="0">
                          <a:solidFill>
                            <a:srgbClr val="4B4B4B"/>
                          </a:solidFill>
                          <a:latin typeface="Arial"/>
                        </a:rPr>
                        <a:t>Business owner, BDOI IT</a:t>
                      </a:r>
                    </a:p>
                  </a:txBody>
                  <a:tcPr marL="73152" marR="73152" marT="36576" marB="36576">
                    <a:solidFill>
                      <a:srgbClr val="E5F5FF"/>
                    </a:solidFill>
                  </a:tcPr>
                </a:tc>
                <a:tc>
                  <a:txBody>
                    <a:bodyPr/>
                    <a:lstStyle/>
                    <a:p>
                      <a:r>
                        <a:rPr sz="1000" b="0">
                          <a:solidFill>
                            <a:srgbClr val="4B4B4B"/>
                          </a:solidFill>
                          <a:latin typeface="Arial"/>
                        </a:rPr>
                        <a:t>Before sign-off</a:t>
                      </a:r>
                    </a:p>
                  </a:txBody>
                  <a:tcPr marL="73152" marR="73152" marT="36576" marB="36576">
                    <a:solidFill>
                      <a:srgbClr val="E5F5FF"/>
                    </a:solidFill>
                  </a:tcPr>
                </a:tc>
              </a:tr>
              <a:tr h="365760">
                <a:tc>
                  <a:txBody>
                    <a:bodyPr/>
                    <a:lstStyle/>
                    <a:p>
                      <a:r>
                        <a:rPr sz="1000" b="0">
                          <a:solidFill>
                            <a:srgbClr val="4B4B4B"/>
                          </a:solidFill>
                          <a:latin typeface="Arial"/>
                        </a:rPr>
                        <a:t>06_BIBS_Templates_BRD-03_Configuration_Inputs_v2.0.xlsx</a:t>
                      </a:r>
                    </a:p>
                  </a:txBody>
                  <a:tcPr marL="73152" marR="73152" marT="36576" marB="36576">
                    <a:solidFill>
                      <a:srgbClr val="FFFFFF"/>
                    </a:solidFill>
                  </a:tcPr>
                </a:tc>
                <a:tc>
                  <a:txBody>
                    <a:bodyPr/>
                    <a:lstStyle/>
                    <a:p>
                      <a:r>
                        <a:rPr sz="1000" b="0">
                          <a:solidFill>
                            <a:srgbClr val="4B4B4B"/>
                          </a:solidFill>
                          <a:latin typeface="Arial"/>
                        </a:rPr>
                        <a:t>Configuration input templates: product catalogue, coverages and rules, clauses, rate tables, insurers, packages in force, package map, document templates, lists of values, incentive criteria</a:t>
                      </a:r>
                    </a:p>
                  </a:txBody>
                  <a:tcPr marL="73152" marR="73152" marT="36576" marB="36576">
                    <a:solidFill>
                      <a:srgbClr val="FFFFFF"/>
                    </a:solidFill>
                  </a:tcPr>
                </a:tc>
                <a:tc>
                  <a:txBody>
                    <a:bodyPr/>
                    <a:lstStyle/>
                    <a:p>
                      <a:r>
                        <a:rPr sz="1000" b="0">
                          <a:solidFill>
                            <a:srgbClr val="4B4B4B"/>
                          </a:solidFill>
                          <a:latin typeface="Arial"/>
                        </a:rPr>
                        <a:t>MBS, TSU, Operations, Comptrollership (who provide the content)</a:t>
                      </a:r>
                    </a:p>
                  </a:txBody>
                  <a:tcPr marL="73152" marR="73152" marT="36576" marB="36576">
                    <a:solidFill>
                      <a:srgbClr val="FFFFFF"/>
                    </a:solidFill>
                  </a:tcPr>
                </a:tc>
                <a:tc>
                  <a:txBody>
                    <a:bodyPr/>
                    <a:lstStyle/>
                    <a:p>
                      <a:r>
                        <a:rPr sz="1000" b="0">
                          <a:solidFill>
                            <a:srgbClr val="4B4B4B"/>
                          </a:solidFill>
                          <a:latin typeface="Arial"/>
                        </a:rPr>
                        <a:t>During the review; filled in for the data migration mocks and the map freeze</a:t>
                      </a:r>
                    </a:p>
                  </a:txBody>
                  <a:tcPr marL="73152" marR="73152" marT="36576" marB="36576">
                    <a:solidFill>
                      <a:srgbClr val="FFFFFF"/>
                    </a:solidFill>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Where to start: reading order per role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a:t>
            </a:r>
          </a:p>
        </p:txBody>
      </p:sp>
      <p:graphicFrame>
        <p:nvGraphicFramePr>
          <p:cNvPr id="9" name="Table 8"/>
          <p:cNvGraphicFramePr>
            <a:graphicFrameLocks noGrp="1"/>
          </p:cNvGraphicFramePr>
          <p:nvPr/>
        </p:nvGraphicFramePr>
        <p:xfrm>
          <a:off x="548640" y="1371600"/>
          <a:ext cx="11094414" cy="2926080"/>
        </p:xfrm>
        <a:graphic>
          <a:graphicData uri="http://schemas.openxmlformats.org/drawingml/2006/table">
            <a:tbl>
              <a:tblPr firstRow="1" bandRow="1">
                <a:tableStyleId>{5C22544A-7EE6-4342-B048-85BDC9FD1C3A}</a:tableStyleId>
              </a:tblPr>
              <a:tblGrid>
                <a:gridCol w="2383923"/>
                <a:gridCol w="8710491"/>
              </a:tblGrid>
              <a:tr h="365760">
                <a:tc>
                  <a:txBody>
                    <a:bodyPr/>
                    <a:lstStyle/>
                    <a:p>
                      <a:r>
                        <a:rPr sz="1100" b="1">
                          <a:solidFill>
                            <a:srgbClr val="FFFFFF"/>
                          </a:solidFill>
                          <a:latin typeface="Arial"/>
                        </a:rPr>
                        <a:t>Role</a:t>
                      </a:r>
                    </a:p>
                  </a:txBody>
                  <a:tcPr marL="73152" marR="73152" marT="36576" marB="36576">
                    <a:solidFill>
                      <a:srgbClr val="004EA8"/>
                    </a:solidFill>
                  </a:tcPr>
                </a:tc>
                <a:tc>
                  <a:txBody>
                    <a:bodyPr/>
                    <a:lstStyle/>
                    <a:p>
                      <a:r>
                        <a:rPr sz="1100" b="1">
                          <a:solidFill>
                            <a:srgbClr val="FFFFFF"/>
                          </a:solidFill>
                          <a:latin typeface="Arial"/>
                        </a:rPr>
                        <a:t>Read, in this order</a:t>
                      </a:r>
                    </a:p>
                  </a:txBody>
                  <a:tcPr marL="73152" marR="73152" marT="36576" marB="36576">
                    <a:solidFill>
                      <a:srgbClr val="004EA8"/>
                    </a:solidFill>
                  </a:tcPr>
                </a:tc>
              </a:tr>
              <a:tr h="365760">
                <a:tc>
                  <a:txBody>
                    <a:bodyPr/>
                    <a:lstStyle/>
                    <a:p>
                      <a:r>
                        <a:rPr sz="1100" b="0">
                          <a:solidFill>
                            <a:srgbClr val="4B4B4B"/>
                          </a:solidFill>
                          <a:latin typeface="Arial"/>
                        </a:rPr>
                        <a:t>Business owner (Product Owner, Marketing Business System)</a:t>
                      </a:r>
                    </a:p>
                  </a:txBody>
                  <a:tcPr marL="73152" marR="73152" marT="36576" marB="36576">
                    <a:solidFill>
                      <a:srgbClr val="FFFFFF"/>
                    </a:solidFill>
                  </a:tcPr>
                </a:tc>
                <a:tc>
                  <a:txBody>
                    <a:bodyPr/>
                    <a:lstStyle/>
                    <a:p>
                      <a:r>
                        <a:rPr sz="1100" b="0">
                          <a:solidFill>
                            <a:srgbClr val="4B4B4B"/>
                          </a:solidFill>
                          <a:latin typeface="Arial"/>
                        </a:rPr>
                        <a:t>00 Start Here; 01 Guide deck; FRS chapters 1-3 (context and personas), 10.4 (differences from the BRD), 14 (walkthroughs), 19 (configuration inputs) and 21 (sign-off); workbook Sign-off certificate</a:t>
                      </a:r>
                    </a:p>
                  </a:txBody>
                  <a:tcPr marL="73152" marR="73152" marT="36576" marB="36576">
                    <a:solidFill>
                      <a:srgbClr val="FFFFFF"/>
                    </a:solidFill>
                  </a:tcPr>
                </a:tc>
              </a:tr>
              <a:tr h="365760">
                <a:tc>
                  <a:txBody>
                    <a:bodyPr/>
                    <a:lstStyle/>
                    <a:p>
                      <a:r>
                        <a:rPr sz="1100" b="0">
                          <a:solidFill>
                            <a:srgbClr val="4B4B4B"/>
                          </a:solidFill>
                          <a:latin typeface="Arial"/>
                        </a:rPr>
                        <a:t>MBS (set-up, versions, masters, incentive criteria)</a:t>
                      </a:r>
                    </a:p>
                  </a:txBody>
                  <a:tcPr marL="73152" marR="73152" marT="36576" marB="36576">
                    <a:solidFill>
                      <a:srgbClr val="E5F5FF"/>
                    </a:solidFill>
                  </a:tcPr>
                </a:tc>
                <a:tc>
                  <a:txBody>
                    <a:bodyPr/>
                    <a:lstStyle/>
                    <a:p>
                      <a:r>
                        <a:rPr sz="1100" b="0">
                          <a:solidFill>
                            <a:srgbClr val="4B4B4B"/>
                          </a:solidFill>
                          <a:latin typeface="Arial"/>
                        </a:rPr>
                        <a:t>FRS chapter 12 (navigation); chapter 13 screens SCR-PM-08 and SCR-PM-11 to SCR-PM-20; walkthrough A steps 1-2 and 15-19; chapter 19 templates CI-01 to CI-06, CI-09 and CI-10; workbook Screen catalogue, Field register, Business rules and Messages of those screens</a:t>
                      </a:r>
                    </a:p>
                  </a:txBody>
                  <a:tcPr marL="73152" marR="73152" marT="36576" marB="36576">
                    <a:solidFill>
                      <a:srgbClr val="E5F5FF"/>
                    </a:solidFill>
                  </a:tcPr>
                </a:tc>
              </a:tr>
              <a:tr h="365760">
                <a:tc>
                  <a:txBody>
                    <a:bodyPr/>
                    <a:lstStyle/>
                    <a:p>
                      <a:r>
                        <a:rPr sz="1100" b="0">
                          <a:solidFill>
                            <a:srgbClr val="4B4B4B"/>
                          </a:solidFill>
                          <a:latin typeface="Arial"/>
                        </a:rPr>
                        <a:t>TSU (requests, negotiation, requirements, advisories, expiry)</a:t>
                      </a:r>
                    </a:p>
                  </a:txBody>
                  <a:tcPr marL="73152" marR="73152" marT="36576" marB="36576">
                    <a:solidFill>
                      <a:srgbClr val="FFFFFF"/>
                    </a:solidFill>
                  </a:tcPr>
                </a:tc>
                <a:tc>
                  <a:txBody>
                    <a:bodyPr/>
                    <a:lstStyle/>
                    <a:p>
                      <a:r>
                        <a:rPr sz="1100" b="0">
                          <a:solidFill>
                            <a:srgbClr val="4B4B4B"/>
                          </a:solidFill>
                          <a:latin typeface="Arial"/>
                        </a:rPr>
                        <a:t>FRS chapter 13 screens SCR-PM-01 to SCR-PM-10; walkthroughs A (steps 5-14 and 20) and B; chapter 17 (documents); chapter 19 template CI-07 (package map); workbook rows of those screens</a:t>
                      </a:r>
                    </a:p>
                  </a:txBody>
                  <a:tcPr marL="73152" marR="73152" marT="36576" marB="36576">
                    <a:solidFill>
                      <a:srgbClr val="FFFFFF"/>
                    </a:solidFill>
                  </a:tcPr>
                </a:tc>
              </a:tr>
              <a:tr h="365760">
                <a:tc>
                  <a:txBody>
                    <a:bodyPr/>
                    <a:lstStyle/>
                    <a:p>
                      <a:r>
                        <a:rPr sz="1100" b="0">
                          <a:solidFill>
                            <a:srgbClr val="4B4B4B"/>
                          </a:solidFill>
                          <a:latin typeface="Arial"/>
                        </a:rPr>
                        <a:t>Marketing (requests, approval, client-specific terms, pricing)</a:t>
                      </a:r>
                    </a:p>
                  </a:txBody>
                  <a:tcPr marL="73152" marR="73152" marT="36576" marB="36576">
                    <a:solidFill>
                      <a:srgbClr val="E5F5FF"/>
                    </a:solidFill>
                  </a:tcPr>
                </a:tc>
                <a:tc>
                  <a:txBody>
                    <a:bodyPr/>
                    <a:lstStyle/>
                    <a:p>
                      <a:r>
                        <a:rPr sz="1100" b="0">
                          <a:solidFill>
                            <a:srgbClr val="4B4B4B"/>
                          </a:solidFill>
                          <a:latin typeface="Arial"/>
                        </a:rPr>
                        <a:t>FRS chapter 13 screens SCR-PM-02 to SCR-PM-04, SCR-PM-21 and SCR-PM-22; walkthrough A steps 3-4 and 21-24; chapter 20 lines IC-01 to IC-03</a:t>
                      </a:r>
                    </a:p>
                  </a:txBody>
                  <a:tcPr marL="73152" marR="73152" marT="36576" marB="36576">
                    <a:solidFill>
                      <a:srgbClr val="E5F5FF"/>
                    </a:solidFill>
                  </a:tcPr>
                </a:tc>
              </a:tr>
              <a:tr h="365760">
                <a:tc>
                  <a:txBody>
                    <a:bodyPr/>
                    <a:lstStyle/>
                    <a:p>
                      <a:r>
                        <a:rPr sz="1100" b="0">
                          <a:solidFill>
                            <a:srgbClr val="4B4B4B"/>
                          </a:solidFill>
                          <a:latin typeface="Arial"/>
                        </a:rPr>
                        <a:t>Finance (Comptrollership)</a:t>
                      </a:r>
                    </a:p>
                  </a:txBody>
                  <a:tcPr marL="73152" marR="73152" marT="36576" marB="36576">
                    <a:solidFill>
                      <a:srgbClr val="FFFFFF"/>
                    </a:solidFill>
                  </a:tcPr>
                </a:tc>
                <a:tc>
                  <a:txBody>
                    <a:bodyPr/>
                    <a:lstStyle/>
                    <a:p>
                      <a:r>
                        <a:rPr sz="1100" b="0">
                          <a:solidFill>
                            <a:srgbClr val="4B4B4B"/>
                          </a:solidFill>
                          <a:latin typeface="Arial"/>
                        </a:rPr>
                        <a:t>Rates &amp; Taxes (SCR-PM-19), Insurer record commission rates (SCR-PM-18), Incentive Criteria (SCR-PM-16); contract lines IC-10 and IC-11 (chapter 20); templates CI-04 and CI-10</a:t>
                      </a:r>
                    </a:p>
                  </a:txBody>
                  <a:tcPr marL="73152" marR="73152" marT="36576" marB="36576">
                    <a:solidFill>
                      <a:srgbClr val="FFFFFF"/>
                    </a:solidFill>
                  </a:tcPr>
                </a:tc>
              </a:tr>
              <a:tr h="365760">
                <a:tc>
                  <a:txBody>
                    <a:bodyPr/>
                    <a:lstStyle/>
                    <a:p>
                      <a:r>
                        <a:rPr sz="1100" b="0">
                          <a:solidFill>
                            <a:srgbClr val="4B4B4B"/>
                          </a:solidFill>
                          <a:latin typeface="Arial"/>
                        </a:rPr>
                        <a:t>BDOI IT</a:t>
                      </a:r>
                    </a:p>
                  </a:txBody>
                  <a:tcPr marL="73152" marR="73152" marT="36576" marB="36576">
                    <a:solidFill>
                      <a:srgbClr val="E5F5FF"/>
                    </a:solidFill>
                  </a:tcPr>
                </a:tc>
                <a:tc>
                  <a:txBody>
                    <a:bodyPr/>
                    <a:lstStyle/>
                    <a:p>
                      <a:r>
                        <a:rPr sz="1100" b="0">
                          <a:solidFill>
                            <a:srgbClr val="4B4B4B"/>
                          </a:solidFill>
                          <a:latin typeface="Arial"/>
                        </a:rPr>
                        <a:t>Interfaces and integration (chapter 7), non-functional requirements (chapter 8), menu by persona (chapter 12), cross-BRD contract (chapter 20); product master feed pending specifications (Guide deck, caveats)</a:t>
                      </a:r>
                    </a:p>
                  </a:txBody>
                  <a:tcPr marL="73152" marR="73152" marT="36576" marB="36576">
                    <a:solidFill>
                      <a:srgbClr val="E5F5FF"/>
                    </a:solidFill>
                  </a:tcPr>
                </a:tc>
              </a:tr>
              <a:tr h="365760">
                <a:tc>
                  <a:txBody>
                    <a:bodyPr/>
                    <a:lstStyle/>
                    <a:p>
                      <a:r>
                        <a:rPr sz="1100" b="0">
                          <a:solidFill>
                            <a:srgbClr val="4B4B4B"/>
                          </a:solidFill>
                          <a:latin typeface="Arial"/>
                        </a:rPr>
                        <a:t>iorta TechNXT project team</a:t>
                      </a:r>
                    </a:p>
                  </a:txBody>
                  <a:tcPr marL="73152" marR="73152" marT="36576" marB="36576">
                    <a:solidFill>
                      <a:srgbClr val="FFFFFF"/>
                    </a:solidFill>
                  </a:tcPr>
                </a:tc>
                <a:tc>
                  <a:txBody>
                    <a:bodyPr/>
                    <a:lstStyle/>
                    <a:p>
                      <a:r>
                        <a:rPr sz="1100" b="0">
                          <a:solidFill>
                            <a:srgbClr val="4B4B4B"/>
                          </a:solidFill>
                          <a:latin typeface="Arial"/>
                        </a:rPr>
                        <a:t>All documents; keeps the comments log, the meeting minutes and the version history of the workbook, answers every comment and keeps the traceability to SIT and UAT</a:t>
                      </a:r>
                    </a:p>
                  </a:txBody>
                  <a:tcPr marL="73152" marR="73152" marT="36576" marB="36576">
                    <a:solidFill>
                      <a:srgbClr val="FFFFFF"/>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Approach: from issue to closure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a:t>
            </a:r>
          </a:p>
        </p:txBody>
      </p:sp>
      <p:sp>
        <p:nvSpPr>
          <p:cNvPr id="9" name="Rounded Rectangle 8"/>
          <p:cNvSpPr/>
          <p:nvPr/>
        </p:nvSpPr>
        <p:spPr>
          <a:xfrm>
            <a:off x="548640" y="1417320"/>
            <a:ext cx="2464993" cy="2011680"/>
          </a:xfrm>
          <a:prstGeom prst="roundRect">
            <a:avLst/>
          </a:prstGeom>
          <a:solidFill>
            <a:srgbClr val="E5F5FF"/>
          </a:solidFill>
          <a:ln>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8368" y="1527048"/>
            <a:ext cx="384048" cy="384048"/>
          </a:xfrm>
          <a:prstGeom prst="ellipse">
            <a:avLst/>
          </a:prstGeom>
          <a:solidFill>
            <a:srgbClr val="FDB913"/>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1</a:t>
            </a:r>
          </a:p>
        </p:txBody>
      </p:sp>
      <p:sp>
        <p:nvSpPr>
          <p:cNvPr id="11" name="TextBox 10"/>
          <p:cNvSpPr txBox="1"/>
          <p:nvPr/>
        </p:nvSpPr>
        <p:spPr>
          <a:xfrm>
            <a:off x="1115568" y="1490472"/>
            <a:ext cx="1824913" cy="502920"/>
          </a:xfrm>
          <a:prstGeom prst="rect">
            <a:avLst/>
          </a:prstGeom>
          <a:noFill/>
        </p:spPr>
        <p:txBody>
          <a:bodyPr wrap="square" anchor="ctr" lIns="45720" rIns="45720">
            <a:spAutoFit/>
          </a:bodyPr>
          <a:lstStyle/>
          <a:p>
            <a:r>
              <a:rPr sz="1300" b="1" i="0">
                <a:solidFill>
                  <a:srgbClr val="004EA8"/>
                </a:solidFill>
                <a:latin typeface="Arial"/>
              </a:rPr>
              <a:t>Pack issued</a:t>
            </a:r>
          </a:p>
        </p:txBody>
      </p:sp>
      <p:sp>
        <p:nvSpPr>
          <p:cNvPr id="12" name="TextBox 11"/>
          <p:cNvSpPr txBox="1"/>
          <p:nvPr/>
        </p:nvSpPr>
        <p:spPr>
          <a:xfrm>
            <a:off x="658368" y="2057400"/>
            <a:ext cx="2245537" cy="822960"/>
          </a:xfrm>
          <a:prstGeom prst="rect">
            <a:avLst/>
          </a:prstGeom>
          <a:noFill/>
        </p:spPr>
        <p:txBody>
          <a:bodyPr wrap="square" anchor="t" lIns="45720" rIns="45720">
            <a:spAutoFit/>
          </a:bodyPr>
          <a:lstStyle/>
          <a:p>
            <a:r>
              <a:rPr sz="1000" b="0" i="0">
                <a:solidFill>
                  <a:srgbClr val="4B4B4B"/>
                </a:solidFill>
                <a:latin typeface="Arial"/>
              </a:rPr>
              <a:t>Release set v2.0 in the BRD-03 folder of Drop 0; invitations to the sessions</a:t>
            </a:r>
          </a:p>
        </p:txBody>
      </p:sp>
      <p:sp>
        <p:nvSpPr>
          <p:cNvPr id="13" name="TextBox 12"/>
          <p:cNvSpPr txBox="1"/>
          <p:nvPr/>
        </p:nvSpPr>
        <p:spPr>
          <a:xfrm>
            <a:off x="658368" y="2971800"/>
            <a:ext cx="2245537" cy="384048"/>
          </a:xfrm>
          <a:prstGeom prst="rect">
            <a:avLst/>
          </a:prstGeom>
          <a:noFill/>
        </p:spPr>
        <p:txBody>
          <a:bodyPr wrap="square" anchor="t" lIns="45720" rIns="45720">
            <a:spAutoFit/>
          </a:bodyPr>
          <a:lstStyle/>
          <a:p>
            <a:r>
              <a:rPr sz="1000" b="1" i="0">
                <a:solidFill>
                  <a:srgbClr val="2E2E2E"/>
                </a:solidFill>
                <a:latin typeface="Arial"/>
              </a:rPr>
              <a:t>Day 0 (Mon 2-Nov-2026)</a:t>
            </a:r>
          </a:p>
        </p:txBody>
      </p:sp>
      <p:sp>
        <p:nvSpPr>
          <p:cNvPr id="14" name="Right Arrow 13"/>
          <p:cNvSpPr/>
          <p:nvPr/>
        </p:nvSpPr>
        <p:spPr>
          <a:xfrm>
            <a:off x="3077641" y="2295144"/>
            <a:ext cx="283464" cy="256032"/>
          </a:xfrm>
          <a:prstGeom prst="rightArrow">
            <a:avLst/>
          </a:prstGeom>
          <a:solidFill>
            <a:srgbClr val="004E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3425113" y="1417320"/>
            <a:ext cx="2464993" cy="2011680"/>
          </a:xfrm>
          <a:prstGeom prst="roundRect">
            <a:avLst/>
          </a:prstGeom>
          <a:solidFill>
            <a:srgbClr val="E5F5FF"/>
          </a:solidFill>
          <a:ln>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534841" y="1527048"/>
            <a:ext cx="384048" cy="384048"/>
          </a:xfrm>
          <a:prstGeom prst="ellipse">
            <a:avLst/>
          </a:prstGeom>
          <a:solidFill>
            <a:srgbClr val="FDB913"/>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2</a:t>
            </a:r>
          </a:p>
        </p:txBody>
      </p:sp>
      <p:sp>
        <p:nvSpPr>
          <p:cNvPr id="17" name="TextBox 16"/>
          <p:cNvSpPr txBox="1"/>
          <p:nvPr/>
        </p:nvSpPr>
        <p:spPr>
          <a:xfrm>
            <a:off x="3992041" y="1490472"/>
            <a:ext cx="1824913" cy="502920"/>
          </a:xfrm>
          <a:prstGeom prst="rect">
            <a:avLst/>
          </a:prstGeom>
          <a:noFill/>
        </p:spPr>
        <p:txBody>
          <a:bodyPr wrap="square" anchor="ctr" lIns="45720" rIns="45720">
            <a:spAutoFit/>
          </a:bodyPr>
          <a:lstStyle/>
          <a:p>
            <a:r>
              <a:rPr sz="1300" b="1" i="0">
                <a:solidFill>
                  <a:srgbClr val="004EA8"/>
                </a:solidFill>
                <a:latin typeface="Arial"/>
              </a:rPr>
              <a:t>Kick-off and screen walkthrough on SIT</a:t>
            </a:r>
          </a:p>
        </p:txBody>
      </p:sp>
      <p:sp>
        <p:nvSpPr>
          <p:cNvPr id="18" name="TextBox 17"/>
          <p:cNvSpPr txBox="1"/>
          <p:nvPr/>
        </p:nvSpPr>
        <p:spPr>
          <a:xfrm>
            <a:off x="3534841" y="2057400"/>
            <a:ext cx="2245537" cy="822960"/>
          </a:xfrm>
          <a:prstGeom prst="rect">
            <a:avLst/>
          </a:prstGeom>
          <a:noFill/>
        </p:spPr>
        <p:txBody>
          <a:bodyPr wrap="square" anchor="t" lIns="45720" rIns="45720">
            <a:spAutoFit/>
          </a:bodyPr>
          <a:lstStyle/>
          <a:p>
            <a:r>
              <a:rPr sz="1000" b="0" i="0">
                <a:solidFill>
                  <a:srgbClr val="4B4B4B"/>
                </a:solidFill>
                <a:latin typeface="Arial"/>
              </a:rPr>
              <a:t>Screens shown live; first questions logged in the comments log; minutes</a:t>
            </a:r>
          </a:p>
        </p:txBody>
      </p:sp>
      <p:sp>
        <p:nvSpPr>
          <p:cNvPr id="19" name="TextBox 18"/>
          <p:cNvSpPr txBox="1"/>
          <p:nvPr/>
        </p:nvSpPr>
        <p:spPr>
          <a:xfrm>
            <a:off x="3534841" y="2971800"/>
            <a:ext cx="2245537" cy="384048"/>
          </a:xfrm>
          <a:prstGeom prst="rect">
            <a:avLst/>
          </a:prstGeom>
          <a:noFill/>
        </p:spPr>
        <p:txBody>
          <a:bodyPr wrap="square" anchor="t" lIns="45720" rIns="45720">
            <a:spAutoFit/>
          </a:bodyPr>
          <a:lstStyle/>
          <a:p>
            <a:r>
              <a:rPr sz="1000" b="1" i="0">
                <a:solidFill>
                  <a:srgbClr val="2E2E2E"/>
                </a:solidFill>
                <a:latin typeface="Arial"/>
              </a:rPr>
              <a:t>3 sessions, 4 to 6-Nov-2026</a:t>
            </a:r>
          </a:p>
        </p:txBody>
      </p:sp>
      <p:sp>
        <p:nvSpPr>
          <p:cNvPr id="20" name="Right Arrow 19"/>
          <p:cNvSpPr/>
          <p:nvPr/>
        </p:nvSpPr>
        <p:spPr>
          <a:xfrm>
            <a:off x="5954115" y="2295144"/>
            <a:ext cx="283464" cy="256032"/>
          </a:xfrm>
          <a:prstGeom prst="rightArrow">
            <a:avLst/>
          </a:prstGeom>
          <a:solidFill>
            <a:srgbClr val="004E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301587" y="1417320"/>
            <a:ext cx="2464993" cy="2011680"/>
          </a:xfrm>
          <a:prstGeom prst="roundRect">
            <a:avLst/>
          </a:prstGeom>
          <a:solidFill>
            <a:srgbClr val="E5F5FF"/>
          </a:solidFill>
          <a:ln>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6411315" y="1527048"/>
            <a:ext cx="384048" cy="384048"/>
          </a:xfrm>
          <a:prstGeom prst="ellipse">
            <a:avLst/>
          </a:prstGeom>
          <a:solidFill>
            <a:srgbClr val="FDB913"/>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3</a:t>
            </a:r>
          </a:p>
        </p:txBody>
      </p:sp>
      <p:sp>
        <p:nvSpPr>
          <p:cNvPr id="23" name="TextBox 22"/>
          <p:cNvSpPr txBox="1"/>
          <p:nvPr/>
        </p:nvSpPr>
        <p:spPr>
          <a:xfrm>
            <a:off x="6868515" y="1490472"/>
            <a:ext cx="1824913" cy="502920"/>
          </a:xfrm>
          <a:prstGeom prst="rect">
            <a:avLst/>
          </a:prstGeom>
          <a:noFill/>
        </p:spPr>
        <p:txBody>
          <a:bodyPr wrap="square" anchor="ctr" lIns="45720" rIns="45720">
            <a:spAutoFit/>
          </a:bodyPr>
          <a:lstStyle/>
          <a:p>
            <a:r>
              <a:rPr sz="1300" b="1" i="0">
                <a:solidFill>
                  <a:srgbClr val="004EA8"/>
                </a:solidFill>
                <a:latin typeface="Arial"/>
              </a:rPr>
              <a:t>Review with the workbook; configuration inputs started</a:t>
            </a:r>
          </a:p>
        </p:txBody>
      </p:sp>
      <p:sp>
        <p:nvSpPr>
          <p:cNvPr id="24" name="TextBox 23"/>
          <p:cNvSpPr txBox="1"/>
          <p:nvPr/>
        </p:nvSpPr>
        <p:spPr>
          <a:xfrm>
            <a:off x="6411315" y="2057400"/>
            <a:ext cx="2245537" cy="822960"/>
          </a:xfrm>
          <a:prstGeom prst="rect">
            <a:avLst/>
          </a:prstGeom>
          <a:noFill/>
        </p:spPr>
        <p:txBody>
          <a:bodyPr wrap="square" anchor="t" lIns="45720" rIns="45720">
            <a:spAutoFit/>
          </a:bodyPr>
          <a:lstStyle/>
          <a:p>
            <a:r>
              <a:rPr sz="1000" b="0" i="0">
                <a:solidFill>
                  <a:srgbClr val="4B4B4B"/>
                </a:solidFill>
                <a:latin typeface="Arial"/>
              </a:rPr>
              <a:t>Every row marked Accept, Change requested or Comment; comments log entries; first drafts of the templates</a:t>
            </a:r>
          </a:p>
        </p:txBody>
      </p:sp>
      <p:sp>
        <p:nvSpPr>
          <p:cNvPr id="25" name="TextBox 24"/>
          <p:cNvSpPr txBox="1"/>
          <p:nvPr/>
        </p:nvSpPr>
        <p:spPr>
          <a:xfrm>
            <a:off x="6411315" y="2971800"/>
            <a:ext cx="2245537" cy="384048"/>
          </a:xfrm>
          <a:prstGeom prst="rect">
            <a:avLst/>
          </a:prstGeom>
          <a:noFill/>
        </p:spPr>
        <p:txBody>
          <a:bodyPr wrap="square" anchor="t" lIns="45720" rIns="45720">
            <a:spAutoFit/>
          </a:bodyPr>
          <a:lstStyle/>
          <a:p>
            <a:r>
              <a:rPr sz="1000" b="1" i="0">
                <a:solidFill>
                  <a:srgbClr val="2E2E2E"/>
                </a:solidFill>
                <a:latin typeface="Arial"/>
              </a:rPr>
              <a:t>8 working days after the walkthroughs, until Wed 18-Nov-2026</a:t>
            </a:r>
          </a:p>
        </p:txBody>
      </p:sp>
      <p:sp>
        <p:nvSpPr>
          <p:cNvPr id="26" name="Right Arrow 25"/>
          <p:cNvSpPr/>
          <p:nvPr/>
        </p:nvSpPr>
        <p:spPr>
          <a:xfrm>
            <a:off x="8830589" y="2295144"/>
            <a:ext cx="283464" cy="256032"/>
          </a:xfrm>
          <a:prstGeom prst="rightArrow">
            <a:avLst/>
          </a:prstGeom>
          <a:solidFill>
            <a:srgbClr val="004E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9178061" y="1417320"/>
            <a:ext cx="2464993" cy="2011680"/>
          </a:xfrm>
          <a:prstGeom prst="roundRect">
            <a:avLst/>
          </a:prstGeom>
          <a:solidFill>
            <a:srgbClr val="E5F5FF"/>
          </a:solidFill>
          <a:ln>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9287789" y="1527048"/>
            <a:ext cx="384048" cy="384048"/>
          </a:xfrm>
          <a:prstGeom prst="ellipse">
            <a:avLst/>
          </a:prstGeom>
          <a:solidFill>
            <a:srgbClr val="FDB913"/>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4</a:t>
            </a:r>
          </a:p>
        </p:txBody>
      </p:sp>
      <p:sp>
        <p:nvSpPr>
          <p:cNvPr id="29" name="TextBox 28"/>
          <p:cNvSpPr txBox="1"/>
          <p:nvPr/>
        </p:nvSpPr>
        <p:spPr>
          <a:xfrm>
            <a:off x="9744989" y="1490472"/>
            <a:ext cx="1824913" cy="502920"/>
          </a:xfrm>
          <a:prstGeom prst="rect">
            <a:avLst/>
          </a:prstGeom>
          <a:noFill/>
        </p:spPr>
        <p:txBody>
          <a:bodyPr wrap="square" anchor="ctr" lIns="45720" rIns="45720">
            <a:spAutoFit/>
          </a:bodyPr>
          <a:lstStyle/>
          <a:p>
            <a:r>
              <a:rPr sz="1300" b="1" i="0">
                <a:solidFill>
                  <a:srgbClr val="004EA8"/>
                </a:solidFill>
                <a:latin typeface="Arial"/>
              </a:rPr>
              <a:t>Comments consolidated and a Q&amp;A session</a:t>
            </a:r>
          </a:p>
        </p:txBody>
      </p:sp>
      <p:sp>
        <p:nvSpPr>
          <p:cNvPr id="30" name="TextBox 29"/>
          <p:cNvSpPr txBox="1"/>
          <p:nvPr/>
        </p:nvSpPr>
        <p:spPr>
          <a:xfrm>
            <a:off x="9287789" y="2057400"/>
            <a:ext cx="2245537" cy="822960"/>
          </a:xfrm>
          <a:prstGeom prst="rect">
            <a:avLst/>
          </a:prstGeom>
          <a:noFill/>
        </p:spPr>
        <p:txBody>
          <a:bodyPr wrap="square" anchor="t" lIns="45720" rIns="45720">
            <a:spAutoFit/>
          </a:bodyPr>
          <a:lstStyle/>
          <a:p>
            <a:r>
              <a:rPr sz="1000" b="0" i="0">
                <a:solidFill>
                  <a:srgbClr val="4B4B4B"/>
                </a:solidFill>
                <a:latin typeface="Arial"/>
              </a:rPr>
              <a:t>One consolidated comments log, each item typed (clarification, defect, change request) and answered; Q&amp;A minutes</a:t>
            </a:r>
          </a:p>
        </p:txBody>
      </p:sp>
      <p:sp>
        <p:nvSpPr>
          <p:cNvPr id="31" name="TextBox 30"/>
          <p:cNvSpPr txBox="1"/>
          <p:nvPr/>
        </p:nvSpPr>
        <p:spPr>
          <a:xfrm>
            <a:off x="9287789" y="2971800"/>
            <a:ext cx="2245537" cy="384048"/>
          </a:xfrm>
          <a:prstGeom prst="rect">
            <a:avLst/>
          </a:prstGeom>
          <a:noFill/>
        </p:spPr>
        <p:txBody>
          <a:bodyPr wrap="square" anchor="t" lIns="45720" rIns="45720">
            <a:spAutoFit/>
          </a:bodyPr>
          <a:lstStyle/>
          <a:p>
            <a:r>
              <a:rPr sz="1000" b="1" i="0">
                <a:solidFill>
                  <a:srgbClr val="2E2E2E"/>
                </a:solidFill>
                <a:latin typeface="Arial"/>
              </a:rPr>
              <a:t>3 working days, Q&amp;A on Mon 23-Nov-2026</a:t>
            </a:r>
          </a:p>
        </p:txBody>
      </p:sp>
      <p:sp>
        <p:nvSpPr>
          <p:cNvPr id="32" name="Rounded Rectangle 31"/>
          <p:cNvSpPr/>
          <p:nvPr/>
        </p:nvSpPr>
        <p:spPr>
          <a:xfrm>
            <a:off x="548640" y="3840480"/>
            <a:ext cx="2464993" cy="2011680"/>
          </a:xfrm>
          <a:prstGeom prst="roundRect">
            <a:avLst/>
          </a:prstGeom>
          <a:solidFill>
            <a:srgbClr val="E5F5FF"/>
          </a:solidFill>
          <a:ln>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658368" y="3950208"/>
            <a:ext cx="384048" cy="384048"/>
          </a:xfrm>
          <a:prstGeom prst="ellipse">
            <a:avLst/>
          </a:prstGeom>
          <a:solidFill>
            <a:srgbClr val="FDB913"/>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5</a:t>
            </a:r>
          </a:p>
        </p:txBody>
      </p:sp>
      <p:sp>
        <p:nvSpPr>
          <p:cNvPr id="34" name="TextBox 33"/>
          <p:cNvSpPr txBox="1"/>
          <p:nvPr/>
        </p:nvSpPr>
        <p:spPr>
          <a:xfrm>
            <a:off x="1115568" y="3913632"/>
            <a:ext cx="1824913" cy="502920"/>
          </a:xfrm>
          <a:prstGeom prst="rect">
            <a:avLst/>
          </a:prstGeom>
          <a:noFill/>
        </p:spPr>
        <p:txBody>
          <a:bodyPr wrap="square" anchor="ctr" lIns="45720" rIns="45720">
            <a:spAutoFit/>
          </a:bodyPr>
          <a:lstStyle/>
          <a:p>
            <a:r>
              <a:rPr sz="1300" b="1" i="0">
                <a:solidFill>
                  <a:srgbClr val="004EA8"/>
                </a:solidFill>
                <a:latin typeface="Arial"/>
              </a:rPr>
              <a:t>One revision cycle (v2.1)</a:t>
            </a:r>
          </a:p>
        </p:txBody>
      </p:sp>
      <p:sp>
        <p:nvSpPr>
          <p:cNvPr id="35" name="TextBox 34"/>
          <p:cNvSpPr txBox="1"/>
          <p:nvPr/>
        </p:nvSpPr>
        <p:spPr>
          <a:xfrm>
            <a:off x="658368" y="4480560"/>
            <a:ext cx="2245537" cy="822960"/>
          </a:xfrm>
          <a:prstGeom prst="rect">
            <a:avLst/>
          </a:prstGeom>
          <a:noFill/>
        </p:spPr>
        <p:txBody>
          <a:bodyPr wrap="square" anchor="t" lIns="45720" rIns="45720">
            <a:spAutoFit/>
          </a:bodyPr>
          <a:lstStyle/>
          <a:p>
            <a:r>
              <a:rPr sz="1000" b="0" i="0">
                <a:solidFill>
                  <a:srgbClr val="4B4B4B"/>
                </a:solidFill>
                <a:latin typeface="Arial"/>
              </a:rPr>
              <a:t>Release set v2.1 with the changed rows marked; change requests raised for the rest</a:t>
            </a:r>
          </a:p>
        </p:txBody>
      </p:sp>
      <p:sp>
        <p:nvSpPr>
          <p:cNvPr id="36" name="TextBox 35"/>
          <p:cNvSpPr txBox="1"/>
          <p:nvPr/>
        </p:nvSpPr>
        <p:spPr>
          <a:xfrm>
            <a:off x="658368" y="5394960"/>
            <a:ext cx="2245537" cy="384048"/>
          </a:xfrm>
          <a:prstGeom prst="rect">
            <a:avLst/>
          </a:prstGeom>
          <a:noFill/>
        </p:spPr>
        <p:txBody>
          <a:bodyPr wrap="square" anchor="t" lIns="45720" rIns="45720">
            <a:spAutoFit/>
          </a:bodyPr>
          <a:lstStyle/>
          <a:p>
            <a:r>
              <a:rPr sz="1000" b="1" i="0">
                <a:solidFill>
                  <a:srgbClr val="2E2E2E"/>
                </a:solidFill>
                <a:latin typeface="Arial"/>
              </a:rPr>
              <a:t>v2.1 on Wed 25-Nov-2026; check by the reviewers until Fri 27-Nov-2026</a:t>
            </a:r>
          </a:p>
        </p:txBody>
      </p:sp>
      <p:sp>
        <p:nvSpPr>
          <p:cNvPr id="37" name="Right Arrow 36"/>
          <p:cNvSpPr/>
          <p:nvPr/>
        </p:nvSpPr>
        <p:spPr>
          <a:xfrm>
            <a:off x="3077641" y="4718304"/>
            <a:ext cx="283464" cy="256032"/>
          </a:xfrm>
          <a:prstGeom prst="rightArrow">
            <a:avLst/>
          </a:prstGeom>
          <a:solidFill>
            <a:srgbClr val="004E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3425113" y="3840480"/>
            <a:ext cx="2464993" cy="2011680"/>
          </a:xfrm>
          <a:prstGeom prst="roundRect">
            <a:avLst/>
          </a:prstGeom>
          <a:solidFill>
            <a:srgbClr val="E5F5FF"/>
          </a:solidFill>
          <a:ln>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3534841" y="3950208"/>
            <a:ext cx="384048" cy="384048"/>
          </a:xfrm>
          <a:prstGeom prst="ellipse">
            <a:avLst/>
          </a:prstGeom>
          <a:solidFill>
            <a:srgbClr val="FDB913"/>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6</a:t>
            </a:r>
          </a:p>
        </p:txBody>
      </p:sp>
      <p:sp>
        <p:nvSpPr>
          <p:cNvPr id="40" name="TextBox 39"/>
          <p:cNvSpPr txBox="1"/>
          <p:nvPr/>
        </p:nvSpPr>
        <p:spPr>
          <a:xfrm>
            <a:off x="3992041" y="3913632"/>
            <a:ext cx="1824913" cy="502920"/>
          </a:xfrm>
          <a:prstGeom prst="rect">
            <a:avLst/>
          </a:prstGeom>
          <a:noFill/>
        </p:spPr>
        <p:txBody>
          <a:bodyPr wrap="square" anchor="ctr" lIns="45720" rIns="45720">
            <a:spAutoFit/>
          </a:bodyPr>
          <a:lstStyle/>
          <a:p>
            <a:r>
              <a:rPr sz="1300" b="1" i="0">
                <a:solidFill>
                  <a:srgbClr val="004EA8"/>
                </a:solidFill>
                <a:latin typeface="Arial"/>
              </a:rPr>
              <a:t>Sign-off meeting and signature</a:t>
            </a:r>
          </a:p>
        </p:txBody>
      </p:sp>
      <p:sp>
        <p:nvSpPr>
          <p:cNvPr id="41" name="TextBox 40"/>
          <p:cNvSpPr txBox="1"/>
          <p:nvPr/>
        </p:nvSpPr>
        <p:spPr>
          <a:xfrm>
            <a:off x="3534841" y="4480560"/>
            <a:ext cx="2245537" cy="822960"/>
          </a:xfrm>
          <a:prstGeom prst="rect">
            <a:avLst/>
          </a:prstGeom>
          <a:noFill/>
        </p:spPr>
        <p:txBody>
          <a:bodyPr wrap="square" anchor="t" lIns="45720" rIns="45720">
            <a:spAutoFit/>
          </a:bodyPr>
          <a:lstStyle/>
          <a:p>
            <a:r>
              <a:rPr sz="1000" b="0" i="0">
                <a:solidFill>
                  <a:srgbClr val="4B4B4B"/>
                </a:solidFill>
                <a:latin typeface="Arial"/>
              </a:rPr>
              <a:t>Signed sign-off certificate; minutes; open items accepted as assumptions or change requests</a:t>
            </a:r>
          </a:p>
        </p:txBody>
      </p:sp>
      <p:sp>
        <p:nvSpPr>
          <p:cNvPr id="42" name="TextBox 41"/>
          <p:cNvSpPr txBox="1"/>
          <p:nvPr/>
        </p:nvSpPr>
        <p:spPr>
          <a:xfrm>
            <a:off x="3534841" y="5394960"/>
            <a:ext cx="2245537" cy="384048"/>
          </a:xfrm>
          <a:prstGeom prst="rect">
            <a:avLst/>
          </a:prstGeom>
          <a:noFill/>
        </p:spPr>
        <p:txBody>
          <a:bodyPr wrap="square" anchor="t" lIns="45720" rIns="45720">
            <a:spAutoFit/>
          </a:bodyPr>
          <a:lstStyle/>
          <a:p>
            <a:r>
              <a:rPr sz="1000" b="1" i="0">
                <a:solidFill>
                  <a:srgbClr val="2E2E2E"/>
                </a:solidFill>
                <a:latin typeface="Arial"/>
              </a:rPr>
              <a:t>Mon 30-Nov-2026</a:t>
            </a:r>
          </a:p>
        </p:txBody>
      </p:sp>
      <p:sp>
        <p:nvSpPr>
          <p:cNvPr id="43" name="Right Arrow 42"/>
          <p:cNvSpPr/>
          <p:nvPr/>
        </p:nvSpPr>
        <p:spPr>
          <a:xfrm>
            <a:off x="5954115" y="4718304"/>
            <a:ext cx="283464" cy="256032"/>
          </a:xfrm>
          <a:prstGeom prst="rightArrow">
            <a:avLst/>
          </a:prstGeom>
          <a:solidFill>
            <a:srgbClr val="004E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ounded Rectangle 43"/>
          <p:cNvSpPr/>
          <p:nvPr/>
        </p:nvSpPr>
        <p:spPr>
          <a:xfrm>
            <a:off x="6301587" y="3840480"/>
            <a:ext cx="2464993" cy="2011680"/>
          </a:xfrm>
          <a:prstGeom prst="roundRect">
            <a:avLst/>
          </a:prstGeom>
          <a:solidFill>
            <a:srgbClr val="E5F5FF"/>
          </a:solidFill>
          <a:ln>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6411315" y="3950208"/>
            <a:ext cx="384048" cy="384048"/>
          </a:xfrm>
          <a:prstGeom prst="ellipse">
            <a:avLst/>
          </a:prstGeom>
          <a:solidFill>
            <a:srgbClr val="FDB913"/>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7</a:t>
            </a:r>
          </a:p>
        </p:txBody>
      </p:sp>
      <p:sp>
        <p:nvSpPr>
          <p:cNvPr id="46" name="TextBox 45"/>
          <p:cNvSpPr txBox="1"/>
          <p:nvPr/>
        </p:nvSpPr>
        <p:spPr>
          <a:xfrm>
            <a:off x="6868515" y="3913632"/>
            <a:ext cx="1824913" cy="502920"/>
          </a:xfrm>
          <a:prstGeom prst="rect">
            <a:avLst/>
          </a:prstGeom>
          <a:noFill/>
        </p:spPr>
        <p:txBody>
          <a:bodyPr wrap="square" anchor="ctr" lIns="45720" rIns="45720">
            <a:spAutoFit/>
          </a:bodyPr>
          <a:lstStyle/>
          <a:p>
            <a:r>
              <a:rPr sz="1300" b="1" i="0">
                <a:solidFill>
                  <a:srgbClr val="004EA8"/>
                </a:solidFill>
                <a:latin typeface="Arial"/>
              </a:rPr>
              <a:t>Handover to development or build freeze; configuration and migration inputs</a:t>
            </a:r>
          </a:p>
        </p:txBody>
      </p:sp>
      <p:sp>
        <p:nvSpPr>
          <p:cNvPr id="47" name="TextBox 46"/>
          <p:cNvSpPr txBox="1"/>
          <p:nvPr/>
        </p:nvSpPr>
        <p:spPr>
          <a:xfrm>
            <a:off x="6411315" y="4480560"/>
            <a:ext cx="2245537" cy="822960"/>
          </a:xfrm>
          <a:prstGeom prst="rect">
            <a:avLst/>
          </a:prstGeom>
          <a:noFill/>
        </p:spPr>
        <p:txBody>
          <a:bodyPr wrap="square" anchor="t" lIns="45720" rIns="45720">
            <a:spAutoFit/>
          </a:bodyPr>
          <a:lstStyle/>
          <a:p>
            <a:r>
              <a:rPr sz="1000" b="0" i="0">
                <a:solidFill>
                  <a:srgbClr val="4B4B4B"/>
                </a:solidFill>
                <a:latin typeface="Arial"/>
              </a:rPr>
              <a:t>Build frozen as signed; approved deltas scheduled in the Change Management Register; templates handed to the data migration mocks</a:t>
            </a:r>
          </a:p>
        </p:txBody>
      </p:sp>
      <p:sp>
        <p:nvSpPr>
          <p:cNvPr id="48" name="TextBox 47"/>
          <p:cNvSpPr txBox="1"/>
          <p:nvPr/>
        </p:nvSpPr>
        <p:spPr>
          <a:xfrm>
            <a:off x="6411315" y="5394960"/>
            <a:ext cx="2245537" cy="384048"/>
          </a:xfrm>
          <a:prstGeom prst="rect">
            <a:avLst/>
          </a:prstGeom>
          <a:noFill/>
        </p:spPr>
        <p:txBody>
          <a:bodyPr wrap="square" anchor="t" lIns="45720" rIns="45720">
            <a:spAutoFit/>
          </a:bodyPr>
          <a:lstStyle/>
          <a:p>
            <a:r>
              <a:rPr sz="1000" b="1" i="0">
                <a:solidFill>
                  <a:srgbClr val="2E2E2E"/>
                </a:solidFill>
                <a:latin typeface="Arial"/>
              </a:rPr>
              <a:t>From Tue 1-Dec-2026; templates final at the map freeze</a:t>
            </a:r>
          </a:p>
        </p:txBody>
      </p:sp>
      <p:sp>
        <p:nvSpPr>
          <p:cNvPr id="49" name="Right Arrow 48"/>
          <p:cNvSpPr/>
          <p:nvPr/>
        </p:nvSpPr>
        <p:spPr>
          <a:xfrm>
            <a:off x="8830589" y="4718304"/>
            <a:ext cx="283464" cy="256032"/>
          </a:xfrm>
          <a:prstGeom prst="rightArrow">
            <a:avLst/>
          </a:prstGeom>
          <a:solidFill>
            <a:srgbClr val="004E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ounded Rectangle 49"/>
          <p:cNvSpPr/>
          <p:nvPr/>
        </p:nvSpPr>
        <p:spPr>
          <a:xfrm>
            <a:off x="9178061" y="3840480"/>
            <a:ext cx="2464993" cy="2011680"/>
          </a:xfrm>
          <a:prstGeom prst="roundRect">
            <a:avLst/>
          </a:prstGeom>
          <a:solidFill>
            <a:srgbClr val="E5F5FF"/>
          </a:solidFill>
          <a:ln>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Oval 50"/>
          <p:cNvSpPr/>
          <p:nvPr/>
        </p:nvSpPr>
        <p:spPr>
          <a:xfrm>
            <a:off x="9287789" y="3950208"/>
            <a:ext cx="384048" cy="384048"/>
          </a:xfrm>
          <a:prstGeom prst="ellipse">
            <a:avLst/>
          </a:prstGeom>
          <a:solidFill>
            <a:srgbClr val="FDB913"/>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8</a:t>
            </a:r>
          </a:p>
        </p:txBody>
      </p:sp>
      <p:sp>
        <p:nvSpPr>
          <p:cNvPr id="52" name="TextBox 51"/>
          <p:cNvSpPr txBox="1"/>
          <p:nvPr/>
        </p:nvSpPr>
        <p:spPr>
          <a:xfrm>
            <a:off x="9744989" y="3913632"/>
            <a:ext cx="1824913" cy="502920"/>
          </a:xfrm>
          <a:prstGeom prst="rect">
            <a:avLst/>
          </a:prstGeom>
          <a:noFill/>
        </p:spPr>
        <p:txBody>
          <a:bodyPr wrap="square" anchor="ctr" lIns="45720" rIns="45720">
            <a:spAutoFit/>
          </a:bodyPr>
          <a:lstStyle/>
          <a:p>
            <a:r>
              <a:rPr sz="1300" b="1" i="0">
                <a:solidFill>
                  <a:srgbClr val="004EA8"/>
                </a:solidFill>
                <a:latin typeface="Arial"/>
              </a:rPr>
              <a:t>Traceability into SIT and UAT</a:t>
            </a:r>
          </a:p>
        </p:txBody>
      </p:sp>
      <p:sp>
        <p:nvSpPr>
          <p:cNvPr id="53" name="TextBox 52"/>
          <p:cNvSpPr txBox="1"/>
          <p:nvPr/>
        </p:nvSpPr>
        <p:spPr>
          <a:xfrm>
            <a:off x="9287789" y="4480560"/>
            <a:ext cx="2245537" cy="822960"/>
          </a:xfrm>
          <a:prstGeom prst="rect">
            <a:avLst/>
          </a:prstGeom>
          <a:noFill/>
        </p:spPr>
        <p:txBody>
          <a:bodyPr wrap="square" anchor="t" lIns="45720" rIns="45720">
            <a:spAutoFit/>
          </a:bodyPr>
          <a:lstStyle/>
          <a:p>
            <a:r>
              <a:rPr sz="1000" b="0" i="0">
                <a:solidFill>
                  <a:srgbClr val="4B4B4B"/>
                </a:solidFill>
                <a:latin typeface="Arial"/>
              </a:rPr>
              <a:t>SIT and UAT runs traced to the signed screens, rules and messages; results against each row</a:t>
            </a:r>
          </a:p>
        </p:txBody>
      </p:sp>
      <p:sp>
        <p:nvSpPr>
          <p:cNvPr id="54" name="TextBox 53"/>
          <p:cNvSpPr txBox="1"/>
          <p:nvPr/>
        </p:nvSpPr>
        <p:spPr>
          <a:xfrm>
            <a:off x="9287789" y="5394960"/>
            <a:ext cx="2245537" cy="384048"/>
          </a:xfrm>
          <a:prstGeom prst="rect">
            <a:avLst/>
          </a:prstGeom>
          <a:noFill/>
        </p:spPr>
        <p:txBody>
          <a:bodyPr wrap="square" anchor="t" lIns="45720" rIns="45720">
            <a:spAutoFit/>
          </a:bodyPr>
          <a:lstStyle/>
          <a:p>
            <a:r>
              <a:rPr sz="1000" b="1" i="0">
                <a:solidFill>
                  <a:srgbClr val="2E2E2E"/>
                </a:solidFill>
                <a:latin typeface="Arial"/>
              </a:rPr>
              <a:t>SIT Apr - Jul 2027; UAT Aug - Oct 2027</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Steps in detail (1 of 2): who, inputs, outputs, duration</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a:t>
            </a:r>
          </a:p>
        </p:txBody>
      </p:sp>
      <p:graphicFrame>
        <p:nvGraphicFramePr>
          <p:cNvPr id="9" name="Table 8"/>
          <p:cNvGraphicFramePr>
            <a:graphicFrameLocks noGrp="1"/>
          </p:cNvGraphicFramePr>
          <p:nvPr/>
        </p:nvGraphicFramePr>
        <p:xfrm>
          <a:off x="548640" y="1371600"/>
          <a:ext cx="11094412" cy="1828800"/>
        </p:xfrm>
        <a:graphic>
          <a:graphicData uri="http://schemas.openxmlformats.org/drawingml/2006/table">
            <a:tbl>
              <a:tblPr firstRow="1" bandRow="1">
                <a:tableStyleId>{5C22544A-7EE6-4342-B048-85BDC9FD1C3A}</a:tableStyleId>
              </a:tblPr>
              <a:tblGrid>
                <a:gridCol w="1807978"/>
                <a:gridCol w="2794148"/>
                <a:gridCol w="2301063"/>
                <a:gridCol w="2629787"/>
                <a:gridCol w="1561436"/>
              </a:tblGrid>
              <a:tr h="365760">
                <a:tc>
                  <a:txBody>
                    <a:bodyPr/>
                    <a:lstStyle/>
                    <a:p>
                      <a:r>
                        <a:rPr sz="1000" b="1">
                          <a:solidFill>
                            <a:srgbClr val="FFFFFF"/>
                          </a:solidFill>
                          <a:latin typeface="Arial"/>
                        </a:rPr>
                        <a:t>Step</a:t>
                      </a:r>
                    </a:p>
                  </a:txBody>
                  <a:tcPr marL="73152" marR="73152" marT="36576" marB="36576">
                    <a:solidFill>
                      <a:srgbClr val="004EA8"/>
                    </a:solidFill>
                  </a:tcPr>
                </a:tc>
                <a:tc>
                  <a:txBody>
                    <a:bodyPr/>
                    <a:lstStyle/>
                    <a:p>
                      <a:r>
                        <a:rPr sz="1000" b="1">
                          <a:solidFill>
                            <a:srgbClr val="FFFFFF"/>
                          </a:solidFill>
                          <a:latin typeface="Arial"/>
                        </a:rPr>
                        <a:t>Who (R, A, C, I)</a:t>
                      </a:r>
                    </a:p>
                  </a:txBody>
                  <a:tcPr marL="73152" marR="73152" marT="36576" marB="36576">
                    <a:solidFill>
                      <a:srgbClr val="004EA8"/>
                    </a:solidFill>
                  </a:tcPr>
                </a:tc>
                <a:tc>
                  <a:txBody>
                    <a:bodyPr/>
                    <a:lstStyle/>
                    <a:p>
                      <a:r>
                        <a:rPr sz="1000" b="1">
                          <a:solidFill>
                            <a:srgbClr val="FFFFFF"/>
                          </a:solidFill>
                          <a:latin typeface="Arial"/>
                        </a:rPr>
                        <a:t>Inputs</a:t>
                      </a:r>
                    </a:p>
                  </a:txBody>
                  <a:tcPr marL="73152" marR="73152" marT="36576" marB="36576">
                    <a:solidFill>
                      <a:srgbClr val="004EA8"/>
                    </a:solidFill>
                  </a:tcPr>
                </a:tc>
                <a:tc>
                  <a:txBody>
                    <a:bodyPr/>
                    <a:lstStyle/>
                    <a:p>
                      <a:r>
                        <a:rPr sz="1000" b="1">
                          <a:solidFill>
                            <a:srgbClr val="FFFFFF"/>
                          </a:solidFill>
                          <a:latin typeface="Arial"/>
                        </a:rPr>
                        <a:t>Outputs</a:t>
                      </a:r>
                    </a:p>
                  </a:txBody>
                  <a:tcPr marL="73152" marR="73152" marT="36576" marB="36576">
                    <a:solidFill>
                      <a:srgbClr val="004EA8"/>
                    </a:solidFill>
                  </a:tcPr>
                </a:tc>
                <a:tc>
                  <a:txBody>
                    <a:bodyPr/>
                    <a:lstStyle/>
                    <a:p>
                      <a:r>
                        <a:rPr sz="1000" b="1">
                          <a:solidFill>
                            <a:srgbClr val="FFFFFF"/>
                          </a:solidFill>
                          <a:latin typeface="Arial"/>
                        </a:rPr>
                        <a:t>Duration</a:t>
                      </a:r>
                    </a:p>
                  </a:txBody>
                  <a:tcPr marL="73152" marR="73152" marT="36576" marB="36576">
                    <a:solidFill>
                      <a:srgbClr val="004EA8"/>
                    </a:solidFill>
                  </a:tcPr>
                </a:tc>
              </a:tr>
              <a:tr h="365760">
                <a:tc>
                  <a:txBody>
                    <a:bodyPr/>
                    <a:lstStyle/>
                    <a:p>
                      <a:r>
                        <a:rPr sz="1000" b="0">
                          <a:solidFill>
                            <a:srgbClr val="4B4B4B"/>
                          </a:solidFill>
                          <a:latin typeface="Arial"/>
                        </a:rPr>
                        <a:t>1. Pack issued</a:t>
                      </a:r>
                    </a:p>
                  </a:txBody>
                  <a:tcPr marL="73152" marR="73152" marT="36576" marB="36576">
                    <a:solidFill>
                      <a:srgbClr val="FFFFFF"/>
                    </a:solidFill>
                  </a:tcPr>
                </a:tc>
                <a:tc>
                  <a:txBody>
                    <a:bodyPr/>
                    <a:lstStyle/>
                    <a:p>
                      <a:r>
                        <a:rPr sz="1000" b="0">
                          <a:solidFill>
                            <a:srgbClr val="4B4B4B"/>
                          </a:solidFill>
                          <a:latin typeface="Arial"/>
                        </a:rPr>
                        <a:t>R: iorta TechNXT Project Manager; A: iorta TechNXT delivery lead; I: all reviewers</a:t>
                      </a:r>
                    </a:p>
                  </a:txBody>
                  <a:tcPr marL="73152" marR="73152" marT="36576" marB="36576">
                    <a:solidFill>
                      <a:srgbClr val="FFFFFF"/>
                    </a:solidFill>
                  </a:tcPr>
                </a:tc>
                <a:tc>
                  <a:txBody>
                    <a:bodyPr/>
                    <a:lstStyle/>
                    <a:p>
                      <a:r>
                        <a:rPr sz="1000" b="0">
                          <a:solidFill>
                            <a:srgbClr val="4B4B4B"/>
                          </a:solidFill>
                          <a:latin typeface="Arial"/>
                        </a:rPr>
                        <a:t>FRS v2.0, workbook, test plan, configuration input templates, guide and deck built from the system as built</a:t>
                      </a:r>
                    </a:p>
                  </a:txBody>
                  <a:tcPr marL="73152" marR="73152" marT="36576" marB="36576">
                    <a:solidFill>
                      <a:srgbClr val="FFFFFF"/>
                    </a:solidFill>
                  </a:tcPr>
                </a:tc>
                <a:tc>
                  <a:txBody>
                    <a:bodyPr/>
                    <a:lstStyle/>
                    <a:p>
                      <a:r>
                        <a:rPr sz="1000" b="0">
                          <a:solidFill>
                            <a:srgbClr val="4B4B4B"/>
                          </a:solidFill>
                          <a:latin typeface="Arial"/>
                        </a:rPr>
                        <a:t>Release set v2.0 in the BRD-03 folder of Drop 0; invitations to the sessions</a:t>
                      </a:r>
                    </a:p>
                  </a:txBody>
                  <a:tcPr marL="73152" marR="73152" marT="36576" marB="36576">
                    <a:solidFill>
                      <a:srgbClr val="FFFFFF"/>
                    </a:solidFill>
                  </a:tcPr>
                </a:tc>
                <a:tc>
                  <a:txBody>
                    <a:bodyPr/>
                    <a:lstStyle/>
                    <a:p>
                      <a:r>
                        <a:rPr sz="1000" b="0">
                          <a:solidFill>
                            <a:srgbClr val="4B4B4B"/>
                          </a:solidFill>
                          <a:latin typeface="Arial"/>
                        </a:rPr>
                        <a:t>Day 0 (Mon 2-Nov-2026)</a:t>
                      </a:r>
                    </a:p>
                  </a:txBody>
                  <a:tcPr marL="73152" marR="73152" marT="36576" marB="36576">
                    <a:solidFill>
                      <a:srgbClr val="FFFFFF"/>
                    </a:solidFill>
                  </a:tcPr>
                </a:tc>
              </a:tr>
              <a:tr h="365760">
                <a:tc>
                  <a:txBody>
                    <a:bodyPr/>
                    <a:lstStyle/>
                    <a:p>
                      <a:r>
                        <a:rPr sz="1000" b="0">
                          <a:solidFill>
                            <a:srgbClr val="4B4B4B"/>
                          </a:solidFill>
                          <a:latin typeface="Arial"/>
                        </a:rPr>
                        <a:t>2. Kick-off and screen walkthrough on SIT</a:t>
                      </a:r>
                    </a:p>
                  </a:txBody>
                  <a:tcPr marL="73152" marR="73152" marT="36576" marB="36576">
                    <a:solidFill>
                      <a:srgbClr val="E5F5FF"/>
                    </a:solidFill>
                  </a:tcPr>
                </a:tc>
                <a:tc>
                  <a:txBody>
                    <a:bodyPr/>
                    <a:lstStyle/>
                    <a:p>
                      <a:r>
                        <a:rPr sz="1000" b="0">
                          <a:solidFill>
                            <a:srgbClr val="4B4B4B"/>
                          </a:solidFill>
                          <a:latin typeface="Arial"/>
                        </a:rPr>
                        <a:t>R: iorta TechNXT Business Analysis; A: BDOI Product Owner; C: MBS, TSU and Marketing heads; I: BDOI IT</a:t>
                      </a:r>
                    </a:p>
                  </a:txBody>
                  <a:tcPr marL="73152" marR="73152" marT="36576" marB="36576">
                    <a:solidFill>
                      <a:srgbClr val="E5F5FF"/>
                    </a:solidFill>
                  </a:tcPr>
                </a:tc>
                <a:tc>
                  <a:txBody>
                    <a:bodyPr/>
                    <a:lstStyle/>
                    <a:p>
                      <a:r>
                        <a:rPr sz="1000" b="0">
                          <a:solidFill>
                            <a:srgbClr val="4B4B4B"/>
                          </a:solidFill>
                          <a:latin typeface="Arial"/>
                        </a:rPr>
                        <a:t>Guide deck; SIT users with seed data; walkthroughs A and B</a:t>
                      </a:r>
                    </a:p>
                  </a:txBody>
                  <a:tcPr marL="73152" marR="73152" marT="36576" marB="36576">
                    <a:solidFill>
                      <a:srgbClr val="E5F5FF"/>
                    </a:solidFill>
                  </a:tcPr>
                </a:tc>
                <a:tc>
                  <a:txBody>
                    <a:bodyPr/>
                    <a:lstStyle/>
                    <a:p>
                      <a:r>
                        <a:rPr sz="1000" b="0">
                          <a:solidFill>
                            <a:srgbClr val="4B4B4B"/>
                          </a:solidFill>
                          <a:latin typeface="Arial"/>
                        </a:rPr>
                        <a:t>Screens shown live; first questions logged in the comments log; minutes</a:t>
                      </a:r>
                    </a:p>
                  </a:txBody>
                  <a:tcPr marL="73152" marR="73152" marT="36576" marB="36576">
                    <a:solidFill>
                      <a:srgbClr val="E5F5FF"/>
                    </a:solidFill>
                  </a:tcPr>
                </a:tc>
                <a:tc>
                  <a:txBody>
                    <a:bodyPr/>
                    <a:lstStyle/>
                    <a:p>
                      <a:r>
                        <a:rPr sz="1000" b="0">
                          <a:solidFill>
                            <a:srgbClr val="4B4B4B"/>
                          </a:solidFill>
                          <a:latin typeface="Arial"/>
                        </a:rPr>
                        <a:t>3 sessions, 4 to 6-Nov-2026</a:t>
                      </a:r>
                    </a:p>
                  </a:txBody>
                  <a:tcPr marL="73152" marR="73152" marT="36576" marB="36576">
                    <a:solidFill>
                      <a:srgbClr val="E5F5FF"/>
                    </a:solidFill>
                  </a:tcPr>
                </a:tc>
              </a:tr>
              <a:tr h="365760">
                <a:tc>
                  <a:txBody>
                    <a:bodyPr/>
                    <a:lstStyle/>
                    <a:p>
                      <a:r>
                        <a:rPr sz="1000" b="0">
                          <a:solidFill>
                            <a:srgbClr val="4B4B4B"/>
                          </a:solidFill>
                          <a:latin typeface="Arial"/>
                        </a:rPr>
                        <a:t>3. Review with the workbook; configuration inputs started</a:t>
                      </a:r>
                    </a:p>
                  </a:txBody>
                  <a:tcPr marL="73152" marR="73152" marT="36576" marB="36576">
                    <a:solidFill>
                      <a:srgbClr val="FFFFFF"/>
                    </a:solidFill>
                  </a:tcPr>
                </a:tc>
                <a:tc>
                  <a:txBody>
                    <a:bodyPr/>
                    <a:lstStyle/>
                    <a:p>
                      <a:r>
                        <a:rPr sz="1000" b="0">
                          <a:solidFill>
                            <a:srgbClr val="4B4B4B"/>
                          </a:solidFill>
                          <a:latin typeface="Arial"/>
                        </a:rPr>
                        <a:t>R: business users of MBS, TSU and Marketing; A: unit heads; C: iorta TechNXT (questions)</a:t>
                      </a:r>
                    </a:p>
                  </a:txBody>
                  <a:tcPr marL="73152" marR="73152" marT="36576" marB="36576">
                    <a:solidFill>
                      <a:srgbClr val="FFFFFF"/>
                    </a:solidFill>
                  </a:tcPr>
                </a:tc>
                <a:tc>
                  <a:txBody>
                    <a:bodyPr/>
                    <a:lstStyle/>
                    <a:p>
                      <a:r>
                        <a:rPr sz="1000" b="0">
                          <a:solidFill>
                            <a:srgbClr val="4B4B4B"/>
                          </a:solidFill>
                          <a:latin typeface="Arial"/>
                        </a:rPr>
                        <a:t>FRS chapters of the area; workbook sheets with the BU review columns; the configuration input templates</a:t>
                      </a:r>
                    </a:p>
                  </a:txBody>
                  <a:tcPr marL="73152" marR="73152" marT="36576" marB="36576">
                    <a:solidFill>
                      <a:srgbClr val="FFFFFF"/>
                    </a:solidFill>
                  </a:tcPr>
                </a:tc>
                <a:tc>
                  <a:txBody>
                    <a:bodyPr/>
                    <a:lstStyle/>
                    <a:p>
                      <a:r>
                        <a:rPr sz="1000" b="0">
                          <a:solidFill>
                            <a:srgbClr val="4B4B4B"/>
                          </a:solidFill>
                          <a:latin typeface="Arial"/>
                        </a:rPr>
                        <a:t>Every row marked Accept, Change requested or Comment; comments log entries; first drafts of the templates</a:t>
                      </a:r>
                    </a:p>
                  </a:txBody>
                  <a:tcPr marL="73152" marR="73152" marT="36576" marB="36576">
                    <a:solidFill>
                      <a:srgbClr val="FFFFFF"/>
                    </a:solidFill>
                  </a:tcPr>
                </a:tc>
                <a:tc>
                  <a:txBody>
                    <a:bodyPr/>
                    <a:lstStyle/>
                    <a:p>
                      <a:r>
                        <a:rPr sz="1000" b="0">
                          <a:solidFill>
                            <a:srgbClr val="4B4B4B"/>
                          </a:solidFill>
                          <a:latin typeface="Arial"/>
                        </a:rPr>
                        <a:t>8 working days after the walkthroughs, until Wed 18-Nov-2026</a:t>
                      </a:r>
                    </a:p>
                  </a:txBody>
                  <a:tcPr marL="73152" marR="73152" marT="36576" marB="36576">
                    <a:solidFill>
                      <a:srgbClr val="FFFFFF"/>
                    </a:solidFill>
                  </a:tcPr>
                </a:tc>
              </a:tr>
              <a:tr h="365760">
                <a:tc>
                  <a:txBody>
                    <a:bodyPr/>
                    <a:lstStyle/>
                    <a:p>
                      <a:r>
                        <a:rPr sz="1000" b="0">
                          <a:solidFill>
                            <a:srgbClr val="4B4B4B"/>
                          </a:solidFill>
                          <a:latin typeface="Arial"/>
                        </a:rPr>
                        <a:t>4. Comments consolidated and a Q&amp;A session</a:t>
                      </a:r>
                    </a:p>
                  </a:txBody>
                  <a:tcPr marL="73152" marR="73152" marT="36576" marB="36576">
                    <a:solidFill>
                      <a:srgbClr val="E5F5FF"/>
                    </a:solidFill>
                  </a:tcPr>
                </a:tc>
                <a:tc>
                  <a:txBody>
                    <a:bodyPr/>
                    <a:lstStyle/>
                    <a:p>
                      <a:r>
                        <a:rPr sz="1000" b="0">
                          <a:solidFill>
                            <a:srgbClr val="4B4B4B"/>
                          </a:solidFill>
                          <a:latin typeface="Arial"/>
                        </a:rPr>
                        <a:t>R: iorta TechNXT Project Manager and Business Analysis; A: BDOI Product Owner; C: reviewers</a:t>
                      </a:r>
                    </a:p>
                  </a:txBody>
                  <a:tcPr marL="73152" marR="73152" marT="36576" marB="36576">
                    <a:solidFill>
                      <a:srgbClr val="E5F5FF"/>
                    </a:solidFill>
                  </a:tcPr>
                </a:tc>
                <a:tc>
                  <a:txBody>
                    <a:bodyPr/>
                    <a:lstStyle/>
                    <a:p>
                      <a:r>
                        <a:rPr sz="1000" b="0">
                          <a:solidFill>
                            <a:srgbClr val="4B4B4B"/>
                          </a:solidFill>
                          <a:latin typeface="Arial"/>
                        </a:rPr>
                        <a:t>Returned workbooks</a:t>
                      </a:r>
                    </a:p>
                  </a:txBody>
                  <a:tcPr marL="73152" marR="73152" marT="36576" marB="36576">
                    <a:solidFill>
                      <a:srgbClr val="E5F5FF"/>
                    </a:solidFill>
                  </a:tcPr>
                </a:tc>
                <a:tc>
                  <a:txBody>
                    <a:bodyPr/>
                    <a:lstStyle/>
                    <a:p>
                      <a:r>
                        <a:rPr sz="1000" b="0">
                          <a:solidFill>
                            <a:srgbClr val="4B4B4B"/>
                          </a:solidFill>
                          <a:latin typeface="Arial"/>
                        </a:rPr>
                        <a:t>One consolidated comments log, each item typed (clarification, defect, change request) and answered; Q&amp;A minutes</a:t>
                      </a:r>
                    </a:p>
                  </a:txBody>
                  <a:tcPr marL="73152" marR="73152" marT="36576" marB="36576">
                    <a:solidFill>
                      <a:srgbClr val="E5F5FF"/>
                    </a:solidFill>
                  </a:tcPr>
                </a:tc>
                <a:tc>
                  <a:txBody>
                    <a:bodyPr/>
                    <a:lstStyle/>
                    <a:p>
                      <a:r>
                        <a:rPr sz="1000" b="0">
                          <a:solidFill>
                            <a:srgbClr val="4B4B4B"/>
                          </a:solidFill>
                          <a:latin typeface="Arial"/>
                        </a:rPr>
                        <a:t>3 working days, Q&amp;A on Mon 23-Nov-2026</a:t>
                      </a:r>
                    </a:p>
                  </a:txBody>
                  <a:tcPr marL="73152" marR="73152" marT="36576" marB="36576">
                    <a:solidFill>
                      <a:srgbClr val="E5F5FF"/>
                    </a:solidFill>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Steps in detail (2 of 2): who, inputs, outputs, duration</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7</a:t>
            </a:r>
          </a:p>
        </p:txBody>
      </p:sp>
      <p:graphicFrame>
        <p:nvGraphicFramePr>
          <p:cNvPr id="9" name="Table 8"/>
          <p:cNvGraphicFramePr>
            <a:graphicFrameLocks noGrp="1"/>
          </p:cNvGraphicFramePr>
          <p:nvPr/>
        </p:nvGraphicFramePr>
        <p:xfrm>
          <a:off x="548640" y="1371600"/>
          <a:ext cx="11094412" cy="1828800"/>
        </p:xfrm>
        <a:graphic>
          <a:graphicData uri="http://schemas.openxmlformats.org/drawingml/2006/table">
            <a:tbl>
              <a:tblPr firstRow="1" bandRow="1">
                <a:tableStyleId>{5C22544A-7EE6-4342-B048-85BDC9FD1C3A}</a:tableStyleId>
              </a:tblPr>
              <a:tblGrid>
                <a:gridCol w="1807978"/>
                <a:gridCol w="2794148"/>
                <a:gridCol w="2301063"/>
                <a:gridCol w="2629787"/>
                <a:gridCol w="1561436"/>
              </a:tblGrid>
              <a:tr h="365760">
                <a:tc>
                  <a:txBody>
                    <a:bodyPr/>
                    <a:lstStyle/>
                    <a:p>
                      <a:r>
                        <a:rPr sz="1000" b="1">
                          <a:solidFill>
                            <a:srgbClr val="FFFFFF"/>
                          </a:solidFill>
                          <a:latin typeface="Arial"/>
                        </a:rPr>
                        <a:t>Step</a:t>
                      </a:r>
                    </a:p>
                  </a:txBody>
                  <a:tcPr marL="73152" marR="73152" marT="36576" marB="36576">
                    <a:solidFill>
                      <a:srgbClr val="004EA8"/>
                    </a:solidFill>
                  </a:tcPr>
                </a:tc>
                <a:tc>
                  <a:txBody>
                    <a:bodyPr/>
                    <a:lstStyle/>
                    <a:p>
                      <a:r>
                        <a:rPr sz="1000" b="1">
                          <a:solidFill>
                            <a:srgbClr val="FFFFFF"/>
                          </a:solidFill>
                          <a:latin typeface="Arial"/>
                        </a:rPr>
                        <a:t>Who (R, A, C, I)</a:t>
                      </a:r>
                    </a:p>
                  </a:txBody>
                  <a:tcPr marL="73152" marR="73152" marT="36576" marB="36576">
                    <a:solidFill>
                      <a:srgbClr val="004EA8"/>
                    </a:solidFill>
                  </a:tcPr>
                </a:tc>
                <a:tc>
                  <a:txBody>
                    <a:bodyPr/>
                    <a:lstStyle/>
                    <a:p>
                      <a:r>
                        <a:rPr sz="1000" b="1">
                          <a:solidFill>
                            <a:srgbClr val="FFFFFF"/>
                          </a:solidFill>
                          <a:latin typeface="Arial"/>
                        </a:rPr>
                        <a:t>Inputs</a:t>
                      </a:r>
                    </a:p>
                  </a:txBody>
                  <a:tcPr marL="73152" marR="73152" marT="36576" marB="36576">
                    <a:solidFill>
                      <a:srgbClr val="004EA8"/>
                    </a:solidFill>
                  </a:tcPr>
                </a:tc>
                <a:tc>
                  <a:txBody>
                    <a:bodyPr/>
                    <a:lstStyle/>
                    <a:p>
                      <a:r>
                        <a:rPr sz="1000" b="1">
                          <a:solidFill>
                            <a:srgbClr val="FFFFFF"/>
                          </a:solidFill>
                          <a:latin typeface="Arial"/>
                        </a:rPr>
                        <a:t>Outputs</a:t>
                      </a:r>
                    </a:p>
                  </a:txBody>
                  <a:tcPr marL="73152" marR="73152" marT="36576" marB="36576">
                    <a:solidFill>
                      <a:srgbClr val="004EA8"/>
                    </a:solidFill>
                  </a:tcPr>
                </a:tc>
                <a:tc>
                  <a:txBody>
                    <a:bodyPr/>
                    <a:lstStyle/>
                    <a:p>
                      <a:r>
                        <a:rPr sz="1000" b="1">
                          <a:solidFill>
                            <a:srgbClr val="FFFFFF"/>
                          </a:solidFill>
                          <a:latin typeface="Arial"/>
                        </a:rPr>
                        <a:t>Duration</a:t>
                      </a:r>
                    </a:p>
                  </a:txBody>
                  <a:tcPr marL="73152" marR="73152" marT="36576" marB="36576">
                    <a:solidFill>
                      <a:srgbClr val="004EA8"/>
                    </a:solidFill>
                  </a:tcPr>
                </a:tc>
              </a:tr>
              <a:tr h="365760">
                <a:tc>
                  <a:txBody>
                    <a:bodyPr/>
                    <a:lstStyle/>
                    <a:p>
                      <a:r>
                        <a:rPr sz="1000" b="0">
                          <a:solidFill>
                            <a:srgbClr val="4B4B4B"/>
                          </a:solidFill>
                          <a:latin typeface="Arial"/>
                        </a:rPr>
                        <a:t>5. One revision cycle (v2.1)</a:t>
                      </a:r>
                    </a:p>
                  </a:txBody>
                  <a:tcPr marL="73152" marR="73152" marT="36576" marB="36576">
                    <a:solidFill>
                      <a:srgbClr val="FFFFFF"/>
                    </a:solidFill>
                  </a:tcPr>
                </a:tc>
                <a:tc>
                  <a:txBody>
                    <a:bodyPr/>
                    <a:lstStyle/>
                    <a:p>
                      <a:r>
                        <a:rPr sz="1000" b="0">
                          <a:solidFill>
                            <a:srgbClr val="4B4B4B"/>
                          </a:solidFill>
                          <a:latin typeface="Arial"/>
                        </a:rPr>
                        <a:t>R: iorta TechNXT Business Analysis; A: iorta TechNXT delivery lead; C: reviewers who raised the items</a:t>
                      </a:r>
                    </a:p>
                  </a:txBody>
                  <a:tcPr marL="73152" marR="73152" marT="36576" marB="36576">
                    <a:solidFill>
                      <a:srgbClr val="FFFFFF"/>
                    </a:solidFill>
                  </a:tcPr>
                </a:tc>
                <a:tc>
                  <a:txBody>
                    <a:bodyPr/>
                    <a:lstStyle/>
                    <a:p>
                      <a:r>
                        <a:rPr sz="1000" b="0">
                          <a:solidFill>
                            <a:srgbClr val="4B4B4B"/>
                          </a:solidFill>
                          <a:latin typeface="Arial"/>
                        </a:rPr>
                        <a:t>Agreed clarifications and defects</a:t>
                      </a:r>
                    </a:p>
                  </a:txBody>
                  <a:tcPr marL="73152" marR="73152" marT="36576" marB="36576">
                    <a:solidFill>
                      <a:srgbClr val="FFFFFF"/>
                    </a:solidFill>
                  </a:tcPr>
                </a:tc>
                <a:tc>
                  <a:txBody>
                    <a:bodyPr/>
                    <a:lstStyle/>
                    <a:p>
                      <a:r>
                        <a:rPr sz="1000" b="0">
                          <a:solidFill>
                            <a:srgbClr val="4B4B4B"/>
                          </a:solidFill>
                          <a:latin typeface="Arial"/>
                        </a:rPr>
                        <a:t>Release set v2.1 with the changed rows marked; change requests raised for the rest</a:t>
                      </a:r>
                    </a:p>
                  </a:txBody>
                  <a:tcPr marL="73152" marR="73152" marT="36576" marB="36576">
                    <a:solidFill>
                      <a:srgbClr val="FFFFFF"/>
                    </a:solidFill>
                  </a:tcPr>
                </a:tc>
                <a:tc>
                  <a:txBody>
                    <a:bodyPr/>
                    <a:lstStyle/>
                    <a:p>
                      <a:r>
                        <a:rPr sz="1000" b="0">
                          <a:solidFill>
                            <a:srgbClr val="4B4B4B"/>
                          </a:solidFill>
                          <a:latin typeface="Arial"/>
                        </a:rPr>
                        <a:t>v2.1 on Wed 25-Nov-2026; check by the reviewers until Fri 27-Nov-2026</a:t>
                      </a:r>
                    </a:p>
                  </a:txBody>
                  <a:tcPr marL="73152" marR="73152" marT="36576" marB="36576">
                    <a:solidFill>
                      <a:srgbClr val="FFFFFF"/>
                    </a:solidFill>
                  </a:tcPr>
                </a:tc>
              </a:tr>
              <a:tr h="365760">
                <a:tc>
                  <a:txBody>
                    <a:bodyPr/>
                    <a:lstStyle/>
                    <a:p>
                      <a:r>
                        <a:rPr sz="1000" b="0">
                          <a:solidFill>
                            <a:srgbClr val="4B4B4B"/>
                          </a:solidFill>
                          <a:latin typeface="Arial"/>
                        </a:rPr>
                        <a:t>6. Sign-off meeting and signature</a:t>
                      </a:r>
                    </a:p>
                  </a:txBody>
                  <a:tcPr marL="73152" marR="73152" marT="36576" marB="36576">
                    <a:solidFill>
                      <a:srgbClr val="E5F5FF"/>
                    </a:solidFill>
                  </a:tcPr>
                </a:tc>
                <a:tc>
                  <a:txBody>
                    <a:bodyPr/>
                    <a:lstStyle/>
                    <a:p>
                      <a:r>
                        <a:rPr sz="1000" b="0">
                          <a:solidFill>
                            <a:srgbClr val="4B4B4B"/>
                          </a:solidFill>
                          <a:latin typeface="Arial"/>
                        </a:rPr>
                        <a:t>R: iorta TechNXT Project Manager; A: BDOI Product Owner; C: MBS, TSU, Marketing, Finance, BDOI IT</a:t>
                      </a:r>
                    </a:p>
                  </a:txBody>
                  <a:tcPr marL="73152" marR="73152" marT="36576" marB="36576">
                    <a:solidFill>
                      <a:srgbClr val="E5F5FF"/>
                    </a:solidFill>
                  </a:tcPr>
                </a:tc>
                <a:tc>
                  <a:txBody>
                    <a:bodyPr/>
                    <a:lstStyle/>
                    <a:p>
                      <a:r>
                        <a:rPr sz="1000" b="0">
                          <a:solidFill>
                            <a:srgbClr val="4B4B4B"/>
                          </a:solidFill>
                          <a:latin typeface="Arial"/>
                        </a:rPr>
                        <a:t>v2.1 (or v2.0 when no revision is needed); open items with their decision</a:t>
                      </a:r>
                    </a:p>
                  </a:txBody>
                  <a:tcPr marL="73152" marR="73152" marT="36576" marB="36576">
                    <a:solidFill>
                      <a:srgbClr val="E5F5FF"/>
                    </a:solidFill>
                  </a:tcPr>
                </a:tc>
                <a:tc>
                  <a:txBody>
                    <a:bodyPr/>
                    <a:lstStyle/>
                    <a:p>
                      <a:r>
                        <a:rPr sz="1000" b="0">
                          <a:solidFill>
                            <a:srgbClr val="4B4B4B"/>
                          </a:solidFill>
                          <a:latin typeface="Arial"/>
                        </a:rPr>
                        <a:t>Signed sign-off certificate; minutes; open items accepted as assumptions or change requests</a:t>
                      </a:r>
                    </a:p>
                  </a:txBody>
                  <a:tcPr marL="73152" marR="73152" marT="36576" marB="36576">
                    <a:solidFill>
                      <a:srgbClr val="E5F5FF"/>
                    </a:solidFill>
                  </a:tcPr>
                </a:tc>
                <a:tc>
                  <a:txBody>
                    <a:bodyPr/>
                    <a:lstStyle/>
                    <a:p>
                      <a:r>
                        <a:rPr sz="1000" b="0">
                          <a:solidFill>
                            <a:srgbClr val="4B4B4B"/>
                          </a:solidFill>
                          <a:latin typeface="Arial"/>
                        </a:rPr>
                        <a:t>Mon 30-Nov-2026</a:t>
                      </a:r>
                    </a:p>
                  </a:txBody>
                  <a:tcPr marL="73152" marR="73152" marT="36576" marB="36576">
                    <a:solidFill>
                      <a:srgbClr val="E5F5FF"/>
                    </a:solidFill>
                  </a:tcPr>
                </a:tc>
              </a:tr>
              <a:tr h="365760">
                <a:tc>
                  <a:txBody>
                    <a:bodyPr/>
                    <a:lstStyle/>
                    <a:p>
                      <a:r>
                        <a:rPr sz="1000" b="0">
                          <a:solidFill>
                            <a:srgbClr val="4B4B4B"/>
                          </a:solidFill>
                          <a:latin typeface="Arial"/>
                        </a:rPr>
                        <a:t>7. Handover to development or build freeze; configuration and migration inputs</a:t>
                      </a:r>
                    </a:p>
                  </a:txBody>
                  <a:tcPr marL="73152" marR="73152" marT="36576" marB="36576">
                    <a:solidFill>
                      <a:srgbClr val="FFFFFF"/>
                    </a:solidFill>
                  </a:tcPr>
                </a:tc>
                <a:tc>
                  <a:txBody>
                    <a:bodyPr/>
                    <a:lstStyle/>
                    <a:p>
                      <a:r>
                        <a:rPr sz="1000" b="0">
                          <a:solidFill>
                            <a:srgbClr val="4B4B4B"/>
                          </a:solidFill>
                          <a:latin typeface="Arial"/>
                        </a:rPr>
                        <a:t>R: iorta TechNXT delivery lead; A: BDOI Product Owner; I: BDOI IT, other BRD owners, Data Migration working group</a:t>
                      </a:r>
                    </a:p>
                  </a:txBody>
                  <a:tcPr marL="73152" marR="73152" marT="36576" marB="36576">
                    <a:solidFill>
                      <a:srgbClr val="FFFFFF"/>
                    </a:solidFill>
                  </a:tcPr>
                </a:tc>
                <a:tc>
                  <a:txBody>
                    <a:bodyPr/>
                    <a:lstStyle/>
                    <a:p>
                      <a:r>
                        <a:rPr sz="1000" b="0">
                          <a:solidFill>
                            <a:srgbClr val="4B4B4B"/>
                          </a:solidFill>
                          <a:latin typeface="Arial"/>
                        </a:rPr>
                        <a:t>Signed set; change requests with mandays; filled configuration input templates</a:t>
                      </a:r>
                    </a:p>
                  </a:txBody>
                  <a:tcPr marL="73152" marR="73152" marT="36576" marB="36576">
                    <a:solidFill>
                      <a:srgbClr val="FFFFFF"/>
                    </a:solidFill>
                  </a:tcPr>
                </a:tc>
                <a:tc>
                  <a:txBody>
                    <a:bodyPr/>
                    <a:lstStyle/>
                    <a:p>
                      <a:r>
                        <a:rPr sz="1000" b="0">
                          <a:solidFill>
                            <a:srgbClr val="4B4B4B"/>
                          </a:solidFill>
                          <a:latin typeface="Arial"/>
                        </a:rPr>
                        <a:t>Build frozen as signed; approved deltas scheduled in the Change Management Register; templates handed to the data migration mocks</a:t>
                      </a:r>
                    </a:p>
                  </a:txBody>
                  <a:tcPr marL="73152" marR="73152" marT="36576" marB="36576">
                    <a:solidFill>
                      <a:srgbClr val="FFFFFF"/>
                    </a:solidFill>
                  </a:tcPr>
                </a:tc>
                <a:tc>
                  <a:txBody>
                    <a:bodyPr/>
                    <a:lstStyle/>
                    <a:p>
                      <a:r>
                        <a:rPr sz="1000" b="0">
                          <a:solidFill>
                            <a:srgbClr val="4B4B4B"/>
                          </a:solidFill>
                          <a:latin typeface="Arial"/>
                        </a:rPr>
                        <a:t>From Tue 1-Dec-2026; templates final at the map freeze</a:t>
                      </a:r>
                    </a:p>
                  </a:txBody>
                  <a:tcPr marL="73152" marR="73152" marT="36576" marB="36576">
                    <a:solidFill>
                      <a:srgbClr val="FFFFFF"/>
                    </a:solidFill>
                  </a:tcPr>
                </a:tc>
              </a:tr>
              <a:tr h="365760">
                <a:tc>
                  <a:txBody>
                    <a:bodyPr/>
                    <a:lstStyle/>
                    <a:p>
                      <a:r>
                        <a:rPr sz="1000" b="0">
                          <a:solidFill>
                            <a:srgbClr val="4B4B4B"/>
                          </a:solidFill>
                          <a:latin typeface="Arial"/>
                        </a:rPr>
                        <a:t>8. Traceability into SIT and UAT</a:t>
                      </a:r>
                    </a:p>
                  </a:txBody>
                  <a:tcPr marL="73152" marR="73152" marT="36576" marB="36576">
                    <a:solidFill>
                      <a:srgbClr val="E5F5FF"/>
                    </a:solidFill>
                  </a:tcPr>
                </a:tc>
                <a:tc>
                  <a:txBody>
                    <a:bodyPr/>
                    <a:lstStyle/>
                    <a:p>
                      <a:r>
                        <a:rPr sz="1000" b="0">
                          <a:solidFill>
                            <a:srgbClr val="4B4B4B"/>
                          </a:solidFill>
                          <a:latin typeface="Arial"/>
                        </a:rPr>
                        <a:t>R: iorta TechNXT test lead; A: BDOI Product Owner; C: business users</a:t>
                      </a:r>
                    </a:p>
                  </a:txBody>
                  <a:tcPr marL="73152" marR="73152" marT="36576" marB="36576">
                    <a:solidFill>
                      <a:srgbClr val="E5F5FF"/>
                    </a:solidFill>
                  </a:tcPr>
                </a:tc>
                <a:tc>
                  <a:txBody>
                    <a:bodyPr/>
                    <a:lstStyle/>
                    <a:p>
                      <a:r>
                        <a:rPr sz="1000" b="0">
                          <a:solidFill>
                            <a:srgbClr val="4B4B4B"/>
                          </a:solidFill>
                          <a:latin typeface="Arial"/>
                        </a:rPr>
                        <a:t>Signed FRS rows and test plan</a:t>
                      </a:r>
                    </a:p>
                  </a:txBody>
                  <a:tcPr marL="73152" marR="73152" marT="36576" marB="36576">
                    <a:solidFill>
                      <a:srgbClr val="E5F5FF"/>
                    </a:solidFill>
                  </a:tcPr>
                </a:tc>
                <a:tc>
                  <a:txBody>
                    <a:bodyPr/>
                    <a:lstStyle/>
                    <a:p>
                      <a:r>
                        <a:rPr sz="1000" b="0">
                          <a:solidFill>
                            <a:srgbClr val="4B4B4B"/>
                          </a:solidFill>
                          <a:latin typeface="Arial"/>
                        </a:rPr>
                        <a:t>SIT and UAT runs traced to the signed screens, rules and messages; results against each row</a:t>
                      </a:r>
                    </a:p>
                  </a:txBody>
                  <a:tcPr marL="73152" marR="73152" marT="36576" marB="36576">
                    <a:solidFill>
                      <a:srgbClr val="E5F5FF"/>
                    </a:solidFill>
                  </a:tcPr>
                </a:tc>
                <a:tc>
                  <a:txBody>
                    <a:bodyPr/>
                    <a:lstStyle/>
                    <a:p>
                      <a:r>
                        <a:rPr sz="1000" b="0">
                          <a:solidFill>
                            <a:srgbClr val="4B4B4B"/>
                          </a:solidFill>
                          <a:latin typeface="Arial"/>
                        </a:rPr>
                        <a:t>SIT Apr - Jul 2027; UAT Aug - Oct 2027</a:t>
                      </a:r>
                    </a:p>
                  </a:txBody>
                  <a:tcPr marL="73152" marR="73152" marT="36576" marB="36576">
                    <a:solidFill>
                      <a:srgbClr val="E5F5FF"/>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How to fill in the sign-off workbook</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8</a:t>
            </a:r>
          </a:p>
        </p:txBody>
      </p:sp>
      <p:pic>
        <p:nvPicPr>
          <p:cNvPr id="9" name="Picture 8" descr="signoff-workbook-field-register.png"/>
          <p:cNvPicPr>
            <a:picLocks noChangeAspect="1"/>
          </p:cNvPicPr>
          <p:nvPr/>
        </p:nvPicPr>
        <p:blipFill>
          <a:blip r:embed="rId3"/>
          <a:stretch>
            <a:fillRect/>
          </a:stretch>
        </p:blipFill>
        <p:spPr>
          <a:xfrm>
            <a:off x="548640" y="1325880"/>
            <a:ext cx="7498078" cy="2306365"/>
          </a:xfrm>
          <a:prstGeom prst="rect">
            <a:avLst/>
          </a:prstGeom>
          <a:ln w="9525">
            <a:solidFill>
              <a:srgbClr val="C2C2C1"/>
            </a:solidFill>
          </a:ln>
        </p:spPr>
      </p:pic>
      <p:sp>
        <p:nvSpPr>
          <p:cNvPr id="10" name="TextBox 9"/>
          <p:cNvSpPr txBox="1"/>
          <p:nvPr/>
        </p:nvSpPr>
        <p:spPr>
          <a:xfrm>
            <a:off x="548640" y="5852160"/>
            <a:ext cx="7498079" cy="320040"/>
          </a:xfrm>
          <a:prstGeom prst="rect">
            <a:avLst/>
          </a:prstGeom>
          <a:noFill/>
        </p:spPr>
        <p:txBody>
          <a:bodyPr wrap="square" anchor="t" lIns="45720" rIns="45720">
            <a:spAutoFit/>
          </a:bodyPr>
          <a:lstStyle/>
          <a:p>
            <a:pPr algn="ctr"/>
            <a:r>
              <a:rPr sz="1100" b="0" i="1">
                <a:solidFill>
                  <a:srgbClr val="656565"/>
                </a:solidFill>
                <a:latin typeface="Arial"/>
              </a:rPr>
              <a:t>Field register sheet of the sign-off workbook</a:t>
            </a:r>
          </a:p>
        </p:txBody>
      </p:sp>
      <p:sp>
        <p:nvSpPr>
          <p:cNvPr id="11" name="Rectangle 10"/>
          <p:cNvSpPr/>
          <p:nvPr/>
        </p:nvSpPr>
        <p:spPr>
          <a:xfrm>
            <a:off x="8321039" y="1325880"/>
            <a:ext cx="3322016" cy="48463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321039" y="1325880"/>
            <a:ext cx="50800" cy="48463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458199" y="1417320"/>
            <a:ext cx="3093416" cy="4480560"/>
          </a:xfrm>
          <a:prstGeom prst="rect">
            <a:avLst/>
          </a:prstGeom>
          <a:noFill/>
        </p:spPr>
        <p:txBody>
          <a:bodyPr wrap="square">
            <a:spAutoFit/>
          </a:bodyPr>
          <a:lstStyle/>
          <a:p>
            <a:pPr>
              <a:spcAft>
                <a:spcPts val="600"/>
              </a:spcAft>
            </a:pPr>
            <a:r>
              <a:rPr sz="1300">
                <a:solidFill>
                  <a:srgbClr val="004EA8"/>
                </a:solidFill>
                <a:latin typeface="Arial"/>
              </a:rPr>
              <a:t>•  </a:t>
            </a:r>
            <a:r>
              <a:rPr sz="1300">
                <a:solidFill>
                  <a:srgbClr val="4B4B4B"/>
                </a:solidFill>
                <a:latin typeface="Arial"/>
              </a:rPr>
              <a:t>Review the rows of your area on Screen standards, Screen catalogue, Field register, Business rules, Messages</a:t>
            </a:r>
          </a:p>
          <a:p>
            <a:pPr>
              <a:spcAft>
                <a:spcPts val="600"/>
              </a:spcAft>
            </a:pPr>
            <a:r>
              <a:rPr sz="1300">
                <a:solidFill>
                  <a:srgbClr val="004EA8"/>
                </a:solidFill>
                <a:latin typeface="Arial"/>
              </a:rPr>
              <a:t>•  </a:t>
            </a:r>
            <a:r>
              <a:rPr sz="1300">
                <a:solidFill>
                  <a:srgbClr val="4B4B4B"/>
                </a:solidFill>
                <a:latin typeface="Arial"/>
              </a:rPr>
              <a:t>BU review: Accept, Change requested or Comment</a:t>
            </a:r>
          </a:p>
          <a:p>
            <a:pPr>
              <a:spcAft>
                <a:spcPts val="600"/>
              </a:spcAft>
            </a:pPr>
            <a:r>
              <a:rPr sz="1300">
                <a:solidFill>
                  <a:srgbClr val="004EA8"/>
                </a:solidFill>
                <a:latin typeface="Arial"/>
              </a:rPr>
              <a:t>•  </a:t>
            </a:r>
            <a:r>
              <a:rPr sz="1300">
                <a:solidFill>
                  <a:srgbClr val="4B4B4B"/>
                </a:solidFill>
                <a:latin typeface="Arial"/>
              </a:rPr>
              <a:t>BU comment: the change asked for</a:t>
            </a:r>
          </a:p>
          <a:p>
            <a:pPr>
              <a:spcAft>
                <a:spcPts val="600"/>
              </a:spcAft>
            </a:pPr>
            <a:r>
              <a:rPr sz="1300">
                <a:solidFill>
                  <a:srgbClr val="004EA8"/>
                </a:solidFill>
                <a:latin typeface="Arial"/>
              </a:rPr>
              <a:t>•  </a:t>
            </a:r>
            <a:r>
              <a:rPr sz="1300">
                <a:solidFill>
                  <a:srgbClr val="4B4B4B"/>
                </a:solidFill>
                <a:latin typeface="Arial"/>
              </a:rPr>
              <a:t>Reviewer and Review date</a:t>
            </a:r>
          </a:p>
          <a:p>
            <a:pPr>
              <a:spcAft>
                <a:spcPts val="600"/>
              </a:spcAft>
            </a:pPr>
            <a:r>
              <a:rPr sz="1300">
                <a:solidFill>
                  <a:srgbClr val="004EA8"/>
                </a:solidFill>
                <a:latin typeface="Arial"/>
              </a:rPr>
              <a:t>•  </a:t>
            </a:r>
            <a:r>
              <a:rPr sz="1300">
                <a:solidFill>
                  <a:srgbClr val="4B4B4B"/>
                </a:solidFill>
                <a:latin typeface="Arial"/>
              </a:rPr>
              <a:t>Questions go to the Comments log</a:t>
            </a:r>
          </a:p>
          <a:p>
            <a:pPr>
              <a:spcAft>
                <a:spcPts val="600"/>
              </a:spcAft>
            </a:pPr>
            <a:r>
              <a:rPr sz="1300">
                <a:solidFill>
                  <a:srgbClr val="004EA8"/>
                </a:solidFill>
                <a:latin typeface="Arial"/>
              </a:rPr>
              <a:t>•  </a:t>
            </a:r>
            <a:r>
              <a:rPr sz="1300">
                <a:solidFill>
                  <a:srgbClr val="4B4B4B"/>
                </a:solidFill>
                <a:latin typeface="Arial"/>
              </a:rPr>
              <a:t>Leave the other columns unchanged; one workbook per unit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Product Maintenance at a glance: process flow</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9</a:t>
            </a:r>
          </a:p>
        </p:txBody>
      </p:sp>
      <p:pic>
        <p:nvPicPr>
          <p:cNvPr id="9" name="Picture 8" descr="brd03_process_flow.png"/>
          <p:cNvPicPr>
            <a:picLocks noChangeAspect="1"/>
          </p:cNvPicPr>
          <p:nvPr/>
        </p:nvPicPr>
        <p:blipFill>
          <a:blip r:embed="rId3"/>
          <a:stretch>
            <a:fillRect/>
          </a:stretch>
        </p:blipFill>
        <p:spPr>
          <a:xfrm>
            <a:off x="840072" y="1325880"/>
            <a:ext cx="10511550" cy="4480560"/>
          </a:xfrm>
          <a:prstGeom prst="rect">
            <a:avLst/>
          </a:prstGeom>
          <a:ln w="9525">
            <a:solidFill>
              <a:srgbClr val="C2C2C1"/>
            </a:solidFill>
          </a:ln>
        </p:spPr>
      </p:pic>
      <p:sp>
        <p:nvSpPr>
          <p:cNvPr id="10" name="TextBox 9"/>
          <p:cNvSpPr txBox="1"/>
          <p:nvPr/>
        </p:nvSpPr>
        <p:spPr>
          <a:xfrm>
            <a:off x="548640" y="5852160"/>
            <a:ext cx="11094415" cy="320040"/>
          </a:xfrm>
          <a:prstGeom prst="rect">
            <a:avLst/>
          </a:prstGeom>
          <a:noFill/>
        </p:spPr>
        <p:txBody>
          <a:bodyPr wrap="square" anchor="t" lIns="45720" rIns="45720">
            <a:spAutoFit/>
          </a:bodyPr>
          <a:lstStyle/>
          <a:p>
            <a:pPr algn="ctr"/>
            <a:r>
              <a:rPr sz="1100" b="0" i="1">
                <a:solidFill>
                  <a:srgbClr val="656565"/>
                </a:solidFill>
                <a:latin typeface="Arial"/>
              </a:rPr>
              <a:t>BRD-3 process from the client to the booked invoice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Product Maintenance at a glance: personas and menus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10</a:t>
            </a:r>
          </a:p>
        </p:txBody>
      </p:sp>
      <p:graphicFrame>
        <p:nvGraphicFramePr>
          <p:cNvPr id="9" name="Table 8"/>
          <p:cNvGraphicFramePr>
            <a:graphicFrameLocks noGrp="1"/>
          </p:cNvGraphicFramePr>
          <p:nvPr/>
        </p:nvGraphicFramePr>
        <p:xfrm>
          <a:off x="548640" y="1371600"/>
          <a:ext cx="11094413" cy="4389120"/>
        </p:xfrm>
        <a:graphic>
          <a:graphicData uri="http://schemas.openxmlformats.org/drawingml/2006/table">
            <a:tbl>
              <a:tblPr firstRow="1" bandRow="1">
                <a:tableStyleId>{5C22544A-7EE6-4342-B048-85BDC9FD1C3A}</a:tableStyleId>
              </a:tblPr>
              <a:tblGrid>
                <a:gridCol w="2641527"/>
                <a:gridCol w="1144661"/>
                <a:gridCol w="968560"/>
                <a:gridCol w="6339665"/>
              </a:tblGrid>
              <a:tr h="365760">
                <a:tc>
                  <a:txBody>
                    <a:bodyPr/>
                    <a:lstStyle/>
                    <a:p>
                      <a:r>
                        <a:rPr sz="1000" b="1">
                          <a:solidFill>
                            <a:srgbClr val="FFFFFF"/>
                          </a:solidFill>
                          <a:latin typeface="Arial"/>
                        </a:rPr>
                        <a:t>Persona</a:t>
                      </a:r>
                    </a:p>
                  </a:txBody>
                  <a:tcPr marL="73152" marR="73152" marT="36576" marB="36576">
                    <a:solidFill>
                      <a:srgbClr val="004EA8"/>
                    </a:solidFill>
                  </a:tcPr>
                </a:tc>
                <a:tc>
                  <a:txBody>
                    <a:bodyPr/>
                    <a:lstStyle/>
                    <a:p>
                      <a:r>
                        <a:rPr sz="1000" b="1">
                          <a:solidFill>
                            <a:srgbClr val="FFFFFF"/>
                          </a:solidFill>
                          <a:latin typeface="Arial"/>
                        </a:rPr>
                        <a:t>SIT user</a:t>
                      </a:r>
                    </a:p>
                  </a:txBody>
                  <a:tcPr marL="73152" marR="73152" marT="36576" marB="36576">
                    <a:solidFill>
                      <a:srgbClr val="004EA8"/>
                    </a:solidFill>
                  </a:tcPr>
                </a:tc>
                <a:tc>
                  <a:txBody>
                    <a:bodyPr/>
                    <a:lstStyle/>
                    <a:p>
                      <a:r>
                        <a:rPr sz="1000" b="1">
                          <a:solidFill>
                            <a:srgbClr val="FFFFFF"/>
                          </a:solidFill>
                          <a:latin typeface="Arial"/>
                        </a:rPr>
                        <a:t>Screens</a:t>
                      </a:r>
                    </a:p>
                  </a:txBody>
                  <a:tcPr marL="73152" marR="73152" marT="36576" marB="36576">
                    <a:solidFill>
                      <a:srgbClr val="004EA8"/>
                    </a:solidFill>
                  </a:tcPr>
                </a:tc>
                <a:tc>
                  <a:txBody>
                    <a:bodyPr/>
                    <a:lstStyle/>
                    <a:p>
                      <a:r>
                        <a:rPr sz="1000" b="1">
                          <a:solidFill>
                            <a:srgbClr val="FFFFFF"/>
                          </a:solidFill>
                          <a:latin typeface="Arial"/>
                        </a:rPr>
                        <a:t>Menu sections</a:t>
                      </a:r>
                    </a:p>
                  </a:txBody>
                  <a:tcPr marL="73152" marR="73152" marT="36576" marB="36576">
                    <a:solidFill>
                      <a:srgbClr val="004EA8"/>
                    </a:solidFill>
                  </a:tcPr>
                </a:tc>
              </a:tr>
              <a:tr h="365760">
                <a:tc>
                  <a:txBody>
                    <a:bodyPr/>
                    <a:lstStyle/>
                    <a:p>
                      <a:r>
                        <a:rPr sz="1000" b="0">
                          <a:solidFill>
                            <a:srgbClr val="4B4B4B"/>
                          </a:solidFill>
                          <a:latin typeface="Arial"/>
                        </a:rPr>
                        <a:t>Marketing Account Officer</a:t>
                      </a:r>
                    </a:p>
                  </a:txBody>
                  <a:tcPr marL="73152" marR="73152" marT="36576" marB="36576">
                    <a:solidFill>
                      <a:srgbClr val="FFFFFF"/>
                    </a:solidFill>
                  </a:tcPr>
                </a:tc>
                <a:tc>
                  <a:txBody>
                    <a:bodyPr/>
                    <a:lstStyle/>
                    <a:p>
                      <a:r>
                        <a:rPr sz="1000" b="0">
                          <a:solidFill>
                            <a:srgbClr val="4B4B4B"/>
                          </a:solidFill>
                          <a:latin typeface="Arial"/>
                        </a:rPr>
                        <a:t>ao</a:t>
                      </a:r>
                    </a:p>
                  </a:txBody>
                  <a:tcPr marL="73152" marR="73152" marT="36576" marB="36576">
                    <a:solidFill>
                      <a:srgbClr val="FFFFFF"/>
                    </a:solidFill>
                  </a:tcPr>
                </a:tc>
                <a:tc>
                  <a:txBody>
                    <a:bodyPr/>
                    <a:lstStyle/>
                    <a:p>
                      <a:r>
                        <a:rPr sz="1000" b="0">
                          <a:solidFill>
                            <a:srgbClr val="4B4B4B"/>
                          </a:solidFill>
                          <a:latin typeface="Arial"/>
                        </a:rPr>
                        <a:t>6</a:t>
                      </a:r>
                    </a:p>
                  </a:txBody>
                  <a:tcPr marL="73152" marR="73152" marT="36576" marB="36576">
                    <a:solidFill>
                      <a:srgbClr val="FFFFFF"/>
                    </a:solidFill>
                  </a:tcPr>
                </a:tc>
                <a:tc>
                  <a:txBody>
                    <a:bodyPr/>
                    <a:lstStyle/>
                    <a:p>
                      <a:r>
                        <a:rPr sz="1000" b="0">
                          <a:solidFill>
                            <a:srgbClr val="4B4B4B"/>
                          </a:solidFill>
                          <a:latin typeface="Arial"/>
                        </a:rPr>
                        <a:t>Product Maintenance</a:t>
                      </a:r>
                    </a:p>
                  </a:txBody>
                  <a:tcPr marL="73152" marR="73152" marT="36576" marB="36576">
                    <a:solidFill>
                      <a:srgbClr val="FFFFFF"/>
                    </a:solidFill>
                  </a:tcPr>
                </a:tc>
              </a:tr>
              <a:tr h="365760">
                <a:tc>
                  <a:txBody>
                    <a:bodyPr/>
                    <a:lstStyle/>
                    <a:p>
                      <a:r>
                        <a:rPr sz="1000" b="0">
                          <a:solidFill>
                            <a:srgbClr val="4B4B4B"/>
                          </a:solidFill>
                          <a:latin typeface="Arial"/>
                        </a:rPr>
                        <a:t>Marketing TL / TH / UH</a:t>
                      </a:r>
                    </a:p>
                  </a:txBody>
                  <a:tcPr marL="73152" marR="73152" marT="36576" marB="36576">
                    <a:solidFill>
                      <a:srgbClr val="E5F5FF"/>
                    </a:solidFill>
                  </a:tcPr>
                </a:tc>
                <a:tc>
                  <a:txBody>
                    <a:bodyPr/>
                    <a:lstStyle/>
                    <a:p>
                      <a:r>
                        <a:rPr sz="1000" b="0">
                          <a:solidFill>
                            <a:srgbClr val="4B4B4B"/>
                          </a:solidFill>
                          <a:latin typeface="Arial"/>
                        </a:rPr>
                        <a:t>mkttl</a:t>
                      </a:r>
                    </a:p>
                  </a:txBody>
                  <a:tcPr marL="73152" marR="73152" marT="36576" marB="36576">
                    <a:solidFill>
                      <a:srgbClr val="E5F5FF"/>
                    </a:solidFill>
                  </a:tcPr>
                </a:tc>
                <a:tc>
                  <a:txBody>
                    <a:bodyPr/>
                    <a:lstStyle/>
                    <a:p>
                      <a:r>
                        <a:rPr sz="1000" b="0">
                          <a:solidFill>
                            <a:srgbClr val="4B4B4B"/>
                          </a:solidFill>
                          <a:latin typeface="Arial"/>
                        </a:rPr>
                        <a:t>7</a:t>
                      </a:r>
                    </a:p>
                  </a:txBody>
                  <a:tcPr marL="73152" marR="73152" marT="36576" marB="36576">
                    <a:solidFill>
                      <a:srgbClr val="E5F5FF"/>
                    </a:solidFill>
                  </a:tcPr>
                </a:tc>
                <a:tc>
                  <a:txBody>
                    <a:bodyPr/>
                    <a:lstStyle/>
                    <a:p>
                      <a:r>
                        <a:rPr sz="1000" b="0">
                          <a:solidFill>
                            <a:srgbClr val="4B4B4B"/>
                          </a:solidFill>
                          <a:latin typeface="Arial"/>
                        </a:rPr>
                        <a:t>Product Maintenance</a:t>
                      </a:r>
                    </a:p>
                  </a:txBody>
                  <a:tcPr marL="73152" marR="73152" marT="36576" marB="36576">
                    <a:solidFill>
                      <a:srgbClr val="E5F5FF"/>
                    </a:solidFill>
                  </a:tcPr>
                </a:tc>
              </a:tr>
              <a:tr h="365760">
                <a:tc>
                  <a:txBody>
                    <a:bodyPr/>
                    <a:lstStyle/>
                    <a:p>
                      <a:r>
                        <a:rPr sz="1000" b="0">
                          <a:solidFill>
                            <a:srgbClr val="4B4B4B"/>
                          </a:solidFill>
                          <a:latin typeface="Arial"/>
                        </a:rPr>
                        <a:t>TSU Officer</a:t>
                      </a:r>
                    </a:p>
                  </a:txBody>
                  <a:tcPr marL="73152" marR="73152" marT="36576" marB="36576">
                    <a:solidFill>
                      <a:srgbClr val="FFFFFF"/>
                    </a:solidFill>
                  </a:tcPr>
                </a:tc>
                <a:tc>
                  <a:txBody>
                    <a:bodyPr/>
                    <a:lstStyle/>
                    <a:p>
                      <a:r>
                        <a:rPr sz="1000" b="0">
                          <a:solidFill>
                            <a:srgbClr val="4B4B4B"/>
                          </a:solidFill>
                          <a:latin typeface="Arial"/>
                        </a:rPr>
                        <a:t>tsu</a:t>
                      </a:r>
                    </a:p>
                  </a:txBody>
                  <a:tcPr marL="73152" marR="73152" marT="36576" marB="36576">
                    <a:solidFill>
                      <a:srgbClr val="FFFFFF"/>
                    </a:solidFill>
                  </a:tcPr>
                </a:tc>
                <a:tc>
                  <a:txBody>
                    <a:bodyPr/>
                    <a:lstStyle/>
                    <a:p>
                      <a:r>
                        <a:rPr sz="1000" b="0">
                          <a:solidFill>
                            <a:srgbClr val="4B4B4B"/>
                          </a:solidFill>
                          <a:latin typeface="Arial"/>
                        </a:rPr>
                        <a:t>8</a:t>
                      </a:r>
                    </a:p>
                  </a:txBody>
                  <a:tcPr marL="73152" marR="73152" marT="36576" marB="36576">
                    <a:solidFill>
                      <a:srgbClr val="FFFFFF"/>
                    </a:solidFill>
                  </a:tcPr>
                </a:tc>
                <a:tc>
                  <a:txBody>
                    <a:bodyPr/>
                    <a:lstStyle/>
                    <a:p>
                      <a:r>
                        <a:rPr sz="1000" b="0">
                          <a:solidFill>
                            <a:srgbClr val="4B4B4B"/>
                          </a:solidFill>
                          <a:latin typeface="Arial"/>
                        </a:rPr>
                        <a:t>Product Maintenance</a:t>
                      </a:r>
                    </a:p>
                  </a:txBody>
                  <a:tcPr marL="73152" marR="73152" marT="36576" marB="36576">
                    <a:solidFill>
                      <a:srgbClr val="FFFFFF"/>
                    </a:solidFill>
                  </a:tcPr>
                </a:tc>
              </a:tr>
              <a:tr h="365760">
                <a:tc>
                  <a:txBody>
                    <a:bodyPr/>
                    <a:lstStyle/>
                    <a:p>
                      <a:r>
                        <a:rPr sz="1000" b="0">
                          <a:solidFill>
                            <a:srgbClr val="4B4B4B"/>
                          </a:solidFill>
                          <a:latin typeface="Arial"/>
                        </a:rPr>
                        <a:t>TSU Team Lead</a:t>
                      </a:r>
                    </a:p>
                  </a:txBody>
                  <a:tcPr marL="73152" marR="73152" marT="36576" marB="36576">
                    <a:solidFill>
                      <a:srgbClr val="E5F5FF"/>
                    </a:solidFill>
                  </a:tcPr>
                </a:tc>
                <a:tc>
                  <a:txBody>
                    <a:bodyPr/>
                    <a:lstStyle/>
                    <a:p>
                      <a:r>
                        <a:rPr sz="1000" b="0">
                          <a:solidFill>
                            <a:srgbClr val="4B4B4B"/>
                          </a:solidFill>
                          <a:latin typeface="Arial"/>
                        </a:rPr>
                        <a:t>tsulead</a:t>
                      </a:r>
                    </a:p>
                  </a:txBody>
                  <a:tcPr marL="73152" marR="73152" marT="36576" marB="36576">
                    <a:solidFill>
                      <a:srgbClr val="E5F5FF"/>
                    </a:solidFill>
                  </a:tcPr>
                </a:tc>
                <a:tc>
                  <a:txBody>
                    <a:bodyPr/>
                    <a:lstStyle/>
                    <a:p>
                      <a:r>
                        <a:rPr sz="1000" b="0">
                          <a:solidFill>
                            <a:srgbClr val="4B4B4B"/>
                          </a:solidFill>
                          <a:latin typeface="Arial"/>
                        </a:rPr>
                        <a:t>7</a:t>
                      </a:r>
                    </a:p>
                  </a:txBody>
                  <a:tcPr marL="73152" marR="73152" marT="36576" marB="36576">
                    <a:solidFill>
                      <a:srgbClr val="E5F5FF"/>
                    </a:solidFill>
                  </a:tcPr>
                </a:tc>
                <a:tc>
                  <a:txBody>
                    <a:bodyPr/>
                    <a:lstStyle/>
                    <a:p>
                      <a:r>
                        <a:rPr sz="1000" b="0">
                          <a:solidFill>
                            <a:srgbClr val="4B4B4B"/>
                          </a:solidFill>
                          <a:latin typeface="Arial"/>
                        </a:rPr>
                        <a:t>Product Maintenance</a:t>
                      </a:r>
                    </a:p>
                  </a:txBody>
                  <a:tcPr marL="73152" marR="73152" marT="36576" marB="36576">
                    <a:solidFill>
                      <a:srgbClr val="E5F5FF"/>
                    </a:solidFill>
                  </a:tcPr>
                </a:tc>
              </a:tr>
              <a:tr h="365760">
                <a:tc>
                  <a:txBody>
                    <a:bodyPr/>
                    <a:lstStyle/>
                    <a:p>
                      <a:r>
                        <a:rPr sz="1000" b="0">
                          <a:solidFill>
                            <a:srgbClr val="4B4B4B"/>
                          </a:solidFill>
                          <a:latin typeface="Arial"/>
                        </a:rPr>
                        <a:t>TSU Head</a:t>
                      </a:r>
                    </a:p>
                  </a:txBody>
                  <a:tcPr marL="73152" marR="73152" marT="36576" marB="36576">
                    <a:solidFill>
                      <a:srgbClr val="FFFFFF"/>
                    </a:solidFill>
                  </a:tcPr>
                </a:tc>
                <a:tc>
                  <a:txBody>
                    <a:bodyPr/>
                    <a:lstStyle/>
                    <a:p>
                      <a:r>
                        <a:rPr sz="1000" b="0">
                          <a:solidFill>
                            <a:srgbClr val="4B4B4B"/>
                          </a:solidFill>
                          <a:latin typeface="Arial"/>
                        </a:rPr>
                        <a:t>tsuhead</a:t>
                      </a:r>
                    </a:p>
                  </a:txBody>
                  <a:tcPr marL="73152" marR="73152" marT="36576" marB="36576">
                    <a:solidFill>
                      <a:srgbClr val="FFFFFF"/>
                    </a:solidFill>
                  </a:tcPr>
                </a:tc>
                <a:tc>
                  <a:txBody>
                    <a:bodyPr/>
                    <a:lstStyle/>
                    <a:p>
                      <a:r>
                        <a:rPr sz="1000" b="0">
                          <a:solidFill>
                            <a:srgbClr val="4B4B4B"/>
                          </a:solidFill>
                          <a:latin typeface="Arial"/>
                        </a:rPr>
                        <a:t>8</a:t>
                      </a:r>
                    </a:p>
                  </a:txBody>
                  <a:tcPr marL="73152" marR="73152" marT="36576" marB="36576">
                    <a:solidFill>
                      <a:srgbClr val="FFFFFF"/>
                    </a:solidFill>
                  </a:tcPr>
                </a:tc>
                <a:tc>
                  <a:txBody>
                    <a:bodyPr/>
                    <a:lstStyle/>
                    <a:p>
                      <a:r>
                        <a:rPr sz="1000" b="0">
                          <a:solidFill>
                            <a:srgbClr val="4B4B4B"/>
                          </a:solidFill>
                          <a:latin typeface="Arial"/>
                        </a:rPr>
                        <a:t>Product Maintenance</a:t>
                      </a:r>
                    </a:p>
                  </a:txBody>
                  <a:tcPr marL="73152" marR="73152" marT="36576" marB="36576">
                    <a:solidFill>
                      <a:srgbClr val="FFFFFF"/>
                    </a:solidFill>
                  </a:tcPr>
                </a:tc>
              </a:tr>
              <a:tr h="365760">
                <a:tc>
                  <a:txBody>
                    <a:bodyPr/>
                    <a:lstStyle/>
                    <a:p>
                      <a:r>
                        <a:rPr sz="1000" b="0">
                          <a:solidFill>
                            <a:srgbClr val="4B4B4B"/>
                          </a:solidFill>
                          <a:latin typeface="Arial"/>
                        </a:rPr>
                        <a:t>Marketing Business Services</a:t>
                      </a:r>
                    </a:p>
                  </a:txBody>
                  <a:tcPr marL="73152" marR="73152" marT="36576" marB="36576">
                    <a:solidFill>
                      <a:srgbClr val="E5F5FF"/>
                    </a:solidFill>
                  </a:tcPr>
                </a:tc>
                <a:tc>
                  <a:txBody>
                    <a:bodyPr/>
                    <a:lstStyle/>
                    <a:p>
                      <a:r>
                        <a:rPr sz="1000" b="0">
                          <a:solidFill>
                            <a:srgbClr val="4B4B4B"/>
                          </a:solidFill>
                          <a:latin typeface="Arial"/>
                        </a:rPr>
                        <a:t>mbs</a:t>
                      </a:r>
                    </a:p>
                  </a:txBody>
                  <a:tcPr marL="73152" marR="73152" marT="36576" marB="36576">
                    <a:solidFill>
                      <a:srgbClr val="E5F5FF"/>
                    </a:solidFill>
                  </a:tcPr>
                </a:tc>
                <a:tc>
                  <a:txBody>
                    <a:bodyPr/>
                    <a:lstStyle/>
                    <a:p>
                      <a:r>
                        <a:rPr sz="1000" b="0">
                          <a:solidFill>
                            <a:srgbClr val="4B4B4B"/>
                          </a:solidFill>
                          <a:latin typeface="Arial"/>
                        </a:rPr>
                        <a:t>9</a:t>
                      </a:r>
                    </a:p>
                  </a:txBody>
                  <a:tcPr marL="73152" marR="73152" marT="36576" marB="36576">
                    <a:solidFill>
                      <a:srgbClr val="E5F5FF"/>
                    </a:solidFill>
                  </a:tcPr>
                </a:tc>
                <a:tc>
                  <a:txBody>
                    <a:bodyPr/>
                    <a:lstStyle/>
                    <a:p>
                      <a:r>
                        <a:rPr sz="1000" b="0">
                          <a:solidFill>
                            <a:srgbClr val="4B4B4B"/>
                          </a:solidFill>
                          <a:latin typeface="Arial"/>
                        </a:rPr>
                        <a:t>Product Maintenance</a:t>
                      </a:r>
                    </a:p>
                  </a:txBody>
                  <a:tcPr marL="73152" marR="73152" marT="36576" marB="36576">
                    <a:solidFill>
                      <a:srgbClr val="E5F5FF"/>
                    </a:solidFill>
                  </a:tcPr>
                </a:tc>
              </a:tr>
              <a:tr h="365760">
                <a:tc>
                  <a:txBody>
                    <a:bodyPr/>
                    <a:lstStyle/>
                    <a:p>
                      <a:r>
                        <a:rPr sz="1000" b="0">
                          <a:solidFill>
                            <a:srgbClr val="4B4B4B"/>
                          </a:solidFill>
                          <a:latin typeface="Arial"/>
                        </a:rPr>
                        <a:t>ManCom member</a:t>
                      </a:r>
                    </a:p>
                  </a:txBody>
                  <a:tcPr marL="73152" marR="73152" marT="36576" marB="36576">
                    <a:solidFill>
                      <a:srgbClr val="FFFFFF"/>
                    </a:solidFill>
                  </a:tcPr>
                </a:tc>
                <a:tc>
                  <a:txBody>
                    <a:bodyPr/>
                    <a:lstStyle/>
                    <a:p>
                      <a:r>
                        <a:rPr sz="1000" b="0">
                          <a:solidFill>
                            <a:srgbClr val="4B4B4B"/>
                          </a:solidFill>
                          <a:latin typeface="Arial"/>
                        </a:rPr>
                        <a:t>mancom</a:t>
                      </a:r>
                    </a:p>
                  </a:txBody>
                  <a:tcPr marL="73152" marR="73152" marT="36576" marB="36576">
                    <a:solidFill>
                      <a:srgbClr val="FFFFFF"/>
                    </a:solidFill>
                  </a:tcPr>
                </a:tc>
                <a:tc>
                  <a:txBody>
                    <a:bodyPr/>
                    <a:lstStyle/>
                    <a:p>
                      <a:r>
                        <a:rPr sz="1000" b="0">
                          <a:solidFill>
                            <a:srgbClr val="4B4B4B"/>
                          </a:solidFill>
                          <a:latin typeface="Arial"/>
                        </a:rPr>
                        <a:t>5</a:t>
                      </a:r>
                    </a:p>
                  </a:txBody>
                  <a:tcPr marL="73152" marR="73152" marT="36576" marB="36576">
                    <a:solidFill>
                      <a:srgbClr val="FFFFFF"/>
                    </a:solidFill>
                  </a:tcPr>
                </a:tc>
                <a:tc>
                  <a:txBody>
                    <a:bodyPr/>
                    <a:lstStyle/>
                    <a:p>
                      <a:r>
                        <a:rPr sz="1000" b="0">
                          <a:solidFill>
                            <a:srgbClr val="4B4B4B"/>
                          </a:solidFill>
                          <a:latin typeface="Arial"/>
                        </a:rPr>
                        <a:t>Product Maintenance</a:t>
                      </a:r>
                    </a:p>
                  </a:txBody>
                  <a:tcPr marL="73152" marR="73152" marT="36576" marB="36576">
                    <a:solidFill>
                      <a:srgbClr val="FFFFFF"/>
                    </a:solidFill>
                  </a:tcPr>
                </a:tc>
              </a:tr>
              <a:tr h="365760">
                <a:tc>
                  <a:txBody>
                    <a:bodyPr/>
                    <a:lstStyle/>
                    <a:p>
                      <a:r>
                        <a:rPr sz="1000" b="0">
                          <a:solidFill>
                            <a:srgbClr val="4B4B4B"/>
                          </a:solidFill>
                          <a:latin typeface="Arial"/>
                        </a:rPr>
                        <a:t>Business Administrator</a:t>
                      </a:r>
                    </a:p>
                  </a:txBody>
                  <a:tcPr marL="73152" marR="73152" marT="36576" marB="36576">
                    <a:solidFill>
                      <a:srgbClr val="E5F5FF"/>
                    </a:solidFill>
                  </a:tcPr>
                </a:tc>
                <a:tc>
                  <a:txBody>
                    <a:bodyPr/>
                    <a:lstStyle/>
                    <a:p>
                      <a:r>
                        <a:rPr sz="1000" b="0">
                          <a:solidFill>
                            <a:srgbClr val="4B4B4B"/>
                          </a:solidFill>
                          <a:latin typeface="Arial"/>
                        </a:rPr>
                        <a:t>badmin</a:t>
                      </a:r>
                    </a:p>
                  </a:txBody>
                  <a:tcPr marL="73152" marR="73152" marT="36576" marB="36576">
                    <a:solidFill>
                      <a:srgbClr val="E5F5FF"/>
                    </a:solidFill>
                  </a:tcPr>
                </a:tc>
                <a:tc>
                  <a:txBody>
                    <a:bodyPr/>
                    <a:lstStyle/>
                    <a:p>
                      <a:r>
                        <a:rPr sz="1000" b="0">
                          <a:solidFill>
                            <a:srgbClr val="4B4B4B"/>
                          </a:solidFill>
                          <a:latin typeface="Arial"/>
                        </a:rPr>
                        <a:t>10</a:t>
                      </a:r>
                    </a:p>
                  </a:txBody>
                  <a:tcPr marL="73152" marR="73152" marT="36576" marB="36576">
                    <a:solidFill>
                      <a:srgbClr val="E5F5FF"/>
                    </a:solidFill>
                  </a:tcPr>
                </a:tc>
                <a:tc>
                  <a:txBody>
                    <a:bodyPr/>
                    <a:lstStyle/>
                    <a:p>
                      <a:r>
                        <a:rPr sz="1000" b="0">
                          <a:solidFill>
                            <a:srgbClr val="4B4B4B"/>
                          </a:solidFill>
                          <a:latin typeface="Arial"/>
                        </a:rPr>
                        <a:t>Product Maintenance</a:t>
                      </a:r>
                    </a:p>
                  </a:txBody>
                  <a:tcPr marL="73152" marR="73152" marT="36576" marB="36576">
                    <a:solidFill>
                      <a:srgbClr val="E5F5FF"/>
                    </a:solidFill>
                  </a:tcPr>
                </a:tc>
              </a:tr>
              <a:tr h="365760">
                <a:tc>
                  <a:txBody>
                    <a:bodyPr/>
                    <a:lstStyle/>
                    <a:p>
                      <a:r>
                        <a:rPr sz="1000" b="0">
                          <a:solidFill>
                            <a:srgbClr val="4B4B4B"/>
                          </a:solidFill>
                          <a:latin typeface="Arial"/>
                        </a:rPr>
                        <a:t>New Business Approver</a:t>
                      </a:r>
                    </a:p>
                  </a:txBody>
                  <a:tcPr marL="73152" marR="73152" marT="36576" marB="36576">
                    <a:solidFill>
                      <a:srgbClr val="FFFFFF"/>
                    </a:solidFill>
                  </a:tcPr>
                </a:tc>
                <a:tc>
                  <a:txBody>
                    <a:bodyPr/>
                    <a:lstStyle/>
                    <a:p>
                      <a:r>
                        <a:rPr sz="1000" b="0">
                          <a:solidFill>
                            <a:srgbClr val="4B4B4B"/>
                          </a:solidFill>
                          <a:latin typeface="Arial"/>
                        </a:rPr>
                        <a:t>approver</a:t>
                      </a:r>
                    </a:p>
                  </a:txBody>
                  <a:tcPr marL="73152" marR="73152" marT="36576" marB="36576">
                    <a:solidFill>
                      <a:srgbClr val="FFFFFF"/>
                    </a:solidFill>
                  </a:tcPr>
                </a:tc>
                <a:tc>
                  <a:txBody>
                    <a:bodyPr/>
                    <a:lstStyle/>
                    <a:p>
                      <a:r>
                        <a:rPr sz="1000" b="0">
                          <a:solidFill>
                            <a:srgbClr val="4B4B4B"/>
                          </a:solidFill>
                          <a:latin typeface="Arial"/>
                        </a:rPr>
                        <a:t>9</a:t>
                      </a:r>
                    </a:p>
                  </a:txBody>
                  <a:tcPr marL="73152" marR="73152" marT="36576" marB="36576">
                    <a:solidFill>
                      <a:srgbClr val="FFFFFF"/>
                    </a:solidFill>
                  </a:tcPr>
                </a:tc>
                <a:tc>
                  <a:txBody>
                    <a:bodyPr/>
                    <a:lstStyle/>
                    <a:p>
                      <a:r>
                        <a:rPr sz="1000" b="0">
                          <a:solidFill>
                            <a:srgbClr val="4B4B4B"/>
                          </a:solidFill>
                          <a:latin typeface="Arial"/>
                        </a:rPr>
                        <a:t>Product Maintenance</a:t>
                      </a:r>
                    </a:p>
                  </a:txBody>
                  <a:tcPr marL="73152" marR="73152" marT="36576" marB="36576">
                    <a:solidFill>
                      <a:srgbClr val="FFFFFF"/>
                    </a:solidFill>
                  </a:tcPr>
                </a:tc>
              </a:tr>
              <a:tr h="365760">
                <a:tc>
                  <a:txBody>
                    <a:bodyPr/>
                    <a:lstStyle/>
                    <a:p>
                      <a:r>
                        <a:rPr sz="1000" b="0">
                          <a:solidFill>
                            <a:srgbClr val="4B4B4B"/>
                          </a:solidFill>
                          <a:latin typeface="Arial"/>
                        </a:rPr>
                        <a:t>System Administrator</a:t>
                      </a:r>
                    </a:p>
                  </a:txBody>
                  <a:tcPr marL="73152" marR="73152" marT="36576" marB="36576">
                    <a:solidFill>
                      <a:srgbClr val="E5F5FF"/>
                    </a:solidFill>
                  </a:tcPr>
                </a:tc>
                <a:tc>
                  <a:txBody>
                    <a:bodyPr/>
                    <a:lstStyle/>
                    <a:p>
                      <a:r>
                        <a:rPr sz="1000" b="0">
                          <a:solidFill>
                            <a:srgbClr val="4B4B4B"/>
                          </a:solidFill>
                          <a:latin typeface="Arial"/>
                        </a:rPr>
                        <a:t>admin</a:t>
                      </a:r>
                    </a:p>
                  </a:txBody>
                  <a:tcPr marL="73152" marR="73152" marT="36576" marB="36576">
                    <a:solidFill>
                      <a:srgbClr val="E5F5FF"/>
                    </a:solidFill>
                  </a:tcPr>
                </a:tc>
                <a:tc>
                  <a:txBody>
                    <a:bodyPr/>
                    <a:lstStyle/>
                    <a:p>
                      <a:r>
                        <a:rPr sz="1000" b="0">
                          <a:solidFill>
                            <a:srgbClr val="4B4B4B"/>
                          </a:solidFill>
                          <a:latin typeface="Arial"/>
                        </a:rPr>
                        <a:t>8</a:t>
                      </a:r>
                    </a:p>
                  </a:txBody>
                  <a:tcPr marL="73152" marR="73152" marT="36576" marB="36576">
                    <a:solidFill>
                      <a:srgbClr val="E5F5FF"/>
                    </a:solidFill>
                  </a:tcPr>
                </a:tc>
                <a:tc>
                  <a:txBody>
                    <a:bodyPr/>
                    <a:lstStyle/>
                    <a:p>
                      <a:r>
                        <a:rPr sz="1000" b="0">
                          <a:solidFill>
                            <a:srgbClr val="4B4B4B"/>
                          </a:solidFill>
                          <a:latin typeface="Arial"/>
                        </a:rPr>
                        <a:t>Product Maintenance</a:t>
                      </a:r>
                    </a:p>
                  </a:txBody>
                  <a:tcPr marL="73152" marR="73152" marT="36576" marB="36576">
                    <a:solidFill>
                      <a:srgbClr val="E5F5FF"/>
                    </a:solidFill>
                  </a:tcPr>
                </a:tc>
              </a:tr>
              <a:tr h="365760">
                <a:tc>
                  <a:txBody>
                    <a:bodyPr/>
                    <a:lstStyle/>
                    <a:p>
                      <a:r>
                        <a:rPr sz="1000" b="0">
                          <a:solidFill>
                            <a:srgbClr val="4B4B4B"/>
                          </a:solidFill>
                          <a:latin typeface="Arial"/>
                        </a:rPr>
                        <a:t>Auditor</a:t>
                      </a:r>
                    </a:p>
                  </a:txBody>
                  <a:tcPr marL="73152" marR="73152" marT="36576" marB="36576">
                    <a:solidFill>
                      <a:srgbClr val="FFFFFF"/>
                    </a:solidFill>
                  </a:tcPr>
                </a:tc>
                <a:tc>
                  <a:txBody>
                    <a:bodyPr/>
                    <a:lstStyle/>
                    <a:p>
                      <a:r>
                        <a:rPr sz="1000" b="0">
                          <a:solidFill>
                            <a:srgbClr val="4B4B4B"/>
                          </a:solidFill>
                          <a:latin typeface="Arial"/>
                        </a:rPr>
                        <a:t>auditor</a:t>
                      </a:r>
                    </a:p>
                  </a:txBody>
                  <a:tcPr marL="73152" marR="73152" marT="36576" marB="36576">
                    <a:solidFill>
                      <a:srgbClr val="FFFFFF"/>
                    </a:solidFill>
                  </a:tcPr>
                </a:tc>
                <a:tc>
                  <a:txBody>
                    <a:bodyPr/>
                    <a:lstStyle/>
                    <a:p>
                      <a:r>
                        <a:rPr sz="1000" b="0">
                          <a:solidFill>
                            <a:srgbClr val="4B4B4B"/>
                          </a:solidFill>
                          <a:latin typeface="Arial"/>
                        </a:rPr>
                        <a:t>10</a:t>
                      </a:r>
                    </a:p>
                  </a:txBody>
                  <a:tcPr marL="73152" marR="73152" marT="36576" marB="36576">
                    <a:solidFill>
                      <a:srgbClr val="FFFFFF"/>
                    </a:solidFill>
                  </a:tcPr>
                </a:tc>
                <a:tc>
                  <a:txBody>
                    <a:bodyPr/>
                    <a:lstStyle/>
                    <a:p>
                      <a:r>
                        <a:rPr sz="1000" b="0">
                          <a:solidFill>
                            <a:srgbClr val="4B4B4B"/>
                          </a:solidFill>
                          <a:latin typeface="Arial"/>
                        </a:rPr>
                        <a:t>Product Maintenance</a:t>
                      </a:r>
                    </a:p>
                  </a:txBody>
                  <a:tcPr marL="73152" marR="73152" marT="36576" marB="36576">
                    <a:solidFill>
                      <a:srgbClr val="FFFFFF"/>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Product Maintenance at a glance: key screens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11</a:t>
            </a:r>
          </a:p>
        </p:txBody>
      </p:sp>
      <p:pic>
        <p:nvPicPr>
          <p:cNvPr id="9" name="Picture 8" descr="scr-pm-01-01-view.png"/>
          <p:cNvPicPr>
            <a:picLocks noChangeAspect="1"/>
          </p:cNvPicPr>
          <p:nvPr/>
        </p:nvPicPr>
        <p:blipFill>
          <a:blip r:embed="rId3"/>
          <a:stretch>
            <a:fillRect/>
          </a:stretch>
        </p:blipFill>
        <p:spPr>
          <a:xfrm>
            <a:off x="1754047" y="1325880"/>
            <a:ext cx="2999232" cy="1874520"/>
          </a:xfrm>
          <a:prstGeom prst="rect">
            <a:avLst/>
          </a:prstGeom>
          <a:ln w="9525">
            <a:solidFill>
              <a:srgbClr val="C2C2C1"/>
            </a:solidFill>
          </a:ln>
        </p:spPr>
      </p:pic>
      <p:sp>
        <p:nvSpPr>
          <p:cNvPr id="10" name="TextBox 9"/>
          <p:cNvSpPr txBox="1"/>
          <p:nvPr/>
        </p:nvSpPr>
        <p:spPr>
          <a:xfrm>
            <a:off x="548640" y="3200400"/>
            <a:ext cx="5410047" cy="274320"/>
          </a:xfrm>
          <a:prstGeom prst="rect">
            <a:avLst/>
          </a:prstGeom>
          <a:noFill/>
        </p:spPr>
        <p:txBody>
          <a:bodyPr wrap="square" anchor="t" lIns="45720" rIns="45720">
            <a:spAutoFit/>
          </a:bodyPr>
          <a:lstStyle/>
          <a:p>
            <a:pPr algn="ctr"/>
            <a:r>
              <a:rPr sz="1100" b="0" i="1">
                <a:solidFill>
                  <a:srgbClr val="656565"/>
                </a:solidFill>
                <a:latin typeface="Arial"/>
              </a:rPr>
              <a:t>Product Maintenance Home</a:t>
            </a:r>
          </a:p>
        </p:txBody>
      </p:sp>
      <p:pic>
        <p:nvPicPr>
          <p:cNvPr id="11" name="Picture 10" descr="scr-pm-05-01-tab.png"/>
          <p:cNvPicPr>
            <a:picLocks noChangeAspect="1"/>
          </p:cNvPicPr>
          <p:nvPr/>
        </p:nvPicPr>
        <p:blipFill>
          <a:blip r:embed="rId4"/>
          <a:stretch>
            <a:fillRect/>
          </a:stretch>
        </p:blipFill>
        <p:spPr>
          <a:xfrm>
            <a:off x="7953384" y="1325880"/>
            <a:ext cx="1969292" cy="1874520"/>
          </a:xfrm>
          <a:prstGeom prst="rect">
            <a:avLst/>
          </a:prstGeom>
          <a:ln w="9525">
            <a:solidFill>
              <a:srgbClr val="C2C2C1"/>
            </a:solidFill>
          </a:ln>
        </p:spPr>
      </p:pic>
      <p:sp>
        <p:nvSpPr>
          <p:cNvPr id="12" name="TextBox 11"/>
          <p:cNvSpPr txBox="1"/>
          <p:nvPr/>
        </p:nvSpPr>
        <p:spPr>
          <a:xfrm>
            <a:off x="6233007" y="3200400"/>
            <a:ext cx="5410047" cy="274320"/>
          </a:xfrm>
          <a:prstGeom prst="rect">
            <a:avLst/>
          </a:prstGeom>
          <a:noFill/>
        </p:spPr>
        <p:txBody>
          <a:bodyPr wrap="square" anchor="t" lIns="45720" rIns="45720">
            <a:spAutoFit/>
          </a:bodyPr>
          <a:lstStyle/>
          <a:p>
            <a:pPr algn="ctr"/>
            <a:r>
              <a:rPr sz="1100" b="0" i="1">
                <a:solidFill>
                  <a:srgbClr val="656565"/>
                </a:solidFill>
                <a:latin typeface="Arial"/>
              </a:rPr>
              <a:t>Negotiation with the insurers, round by round</a:t>
            </a:r>
          </a:p>
        </p:txBody>
      </p:sp>
      <p:pic>
        <p:nvPicPr>
          <p:cNvPr id="13" name="Picture 12" descr="scr-pm-13-01-draft.png"/>
          <p:cNvPicPr>
            <a:picLocks noChangeAspect="1"/>
          </p:cNvPicPr>
          <p:nvPr/>
        </p:nvPicPr>
        <p:blipFill>
          <a:blip r:embed="rId5"/>
          <a:stretch>
            <a:fillRect/>
          </a:stretch>
        </p:blipFill>
        <p:spPr>
          <a:xfrm>
            <a:off x="1982802" y="3566160"/>
            <a:ext cx="2541722" cy="1874520"/>
          </a:xfrm>
          <a:prstGeom prst="rect">
            <a:avLst/>
          </a:prstGeom>
          <a:ln w="9525">
            <a:solidFill>
              <a:srgbClr val="C2C2C1"/>
            </a:solidFill>
          </a:ln>
        </p:spPr>
      </p:pic>
      <p:sp>
        <p:nvSpPr>
          <p:cNvPr id="14" name="TextBox 13"/>
          <p:cNvSpPr txBox="1"/>
          <p:nvPr/>
        </p:nvSpPr>
        <p:spPr>
          <a:xfrm>
            <a:off x="548640" y="5440680"/>
            <a:ext cx="5410047" cy="274320"/>
          </a:xfrm>
          <a:prstGeom prst="rect">
            <a:avLst/>
          </a:prstGeom>
          <a:noFill/>
        </p:spPr>
        <p:txBody>
          <a:bodyPr wrap="square" anchor="t" lIns="45720" rIns="45720">
            <a:spAutoFit/>
          </a:bodyPr>
          <a:lstStyle/>
          <a:p>
            <a:pPr algn="ctr"/>
            <a:r>
              <a:rPr sz="1100" b="0" i="1">
                <a:solidFill>
                  <a:srgbClr val="656565"/>
                </a:solidFill>
                <a:latin typeface="Arial"/>
              </a:rPr>
              <a:t>Package version: rate scheme, coverages, panel insurers</a:t>
            </a:r>
          </a:p>
        </p:txBody>
      </p:sp>
      <p:pic>
        <p:nvPicPr>
          <p:cNvPr id="15" name="Picture 14" descr="wt-a-21.png"/>
          <p:cNvPicPr>
            <a:picLocks noChangeAspect="1"/>
          </p:cNvPicPr>
          <p:nvPr/>
        </p:nvPicPr>
        <p:blipFill>
          <a:blip r:embed="rId6"/>
          <a:stretch>
            <a:fillRect/>
          </a:stretch>
        </p:blipFill>
        <p:spPr>
          <a:xfrm>
            <a:off x="8123465" y="3566160"/>
            <a:ext cx="1629131" cy="1874520"/>
          </a:xfrm>
          <a:prstGeom prst="rect">
            <a:avLst/>
          </a:prstGeom>
          <a:ln w="9525">
            <a:solidFill>
              <a:srgbClr val="C2C2C1"/>
            </a:solidFill>
          </a:ln>
        </p:spPr>
      </p:pic>
      <p:sp>
        <p:nvSpPr>
          <p:cNvPr id="16" name="TextBox 15"/>
          <p:cNvSpPr txBox="1"/>
          <p:nvPr/>
        </p:nvSpPr>
        <p:spPr>
          <a:xfrm>
            <a:off x="6233007" y="5440680"/>
            <a:ext cx="5410047" cy="274320"/>
          </a:xfrm>
          <a:prstGeom prst="rect">
            <a:avLst/>
          </a:prstGeom>
          <a:noFill/>
        </p:spPr>
        <p:txBody>
          <a:bodyPr wrap="square" anchor="t" lIns="45720" rIns="45720">
            <a:spAutoFit/>
          </a:bodyPr>
          <a:lstStyle/>
          <a:p>
            <a:pPr algn="ctr"/>
            <a:r>
              <a:rPr sz="1100" b="0" i="1">
                <a:solidFill>
                  <a:srgbClr val="656565"/>
                </a:solidFill>
                <a:latin typeface="Arial"/>
              </a:rPr>
              <a:t>New business priced on the released version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Key business rules and validations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12</a:t>
            </a:r>
          </a:p>
        </p:txBody>
      </p:sp>
      <p:sp>
        <p:nvSpPr>
          <p:cNvPr id="9" name="TextBox 8"/>
          <p:cNvSpPr txBox="1"/>
          <p:nvPr/>
        </p:nvSpPr>
        <p:spPr>
          <a:xfrm>
            <a:off x="548640" y="1371600"/>
            <a:ext cx="11094415" cy="4754880"/>
          </a:xfrm>
          <a:prstGeom prst="rect">
            <a:avLst/>
          </a:prstGeom>
          <a:noFill/>
        </p:spPr>
        <p:txBody>
          <a:bodyPr wrap="square">
            <a:spAutoFit/>
          </a:bodyPr>
          <a:lstStyle/>
          <a:p>
            <a:pPr>
              <a:spcAft>
                <a:spcPts val="600"/>
              </a:spcAft>
            </a:pPr>
            <a:r>
              <a:rPr sz="1400">
                <a:solidFill>
                  <a:srgbClr val="004EA8"/>
                </a:solidFill>
                <a:latin typeface="Arial"/>
              </a:rPr>
              <a:t>•  </a:t>
            </a:r>
            <a:r>
              <a:rPr sz="1400">
                <a:solidFill>
                  <a:srgbClr val="4B4B4B"/>
                </a:solidFill>
                <a:latin typeface="Arial"/>
              </a:rPr>
              <a:t>A package request is approved by Marketing, recommended by the TSU Team Lead and approved by the TSU Head, never by its maker, and the TSU Head never approves his own recommendation.</a:t>
            </a:r>
          </a:p>
          <a:p>
            <a:pPr>
              <a:spcAft>
                <a:spcPts val="600"/>
              </a:spcAft>
            </a:pPr>
            <a:r>
              <a:rPr sz="1400">
                <a:solidFill>
                  <a:srgbClr val="004EA8"/>
                </a:solidFill>
                <a:latin typeface="Arial"/>
              </a:rPr>
              <a:t>•  </a:t>
            </a:r>
            <a:r>
              <a:rPr sz="1400">
                <a:solidFill>
                  <a:srgbClr val="4B4B4B"/>
                </a:solidFill>
                <a:latin typeface="Arial"/>
              </a:rPr>
              <a:t>A quotation slip is approved by a TSU Team Lead or a co-officer, never its preparer, and goes to each insurer by protected e-mail.</a:t>
            </a:r>
          </a:p>
          <a:p>
            <a:pPr>
              <a:spcAft>
                <a:spcPts val="600"/>
              </a:spcAft>
            </a:pPr>
            <a:r>
              <a:rPr sz="1400">
                <a:solidFill>
                  <a:srgbClr val="004EA8"/>
                </a:solidFill>
                <a:latin typeface="Arial"/>
              </a:rPr>
              <a:t>•  </a:t>
            </a:r>
            <a:r>
              <a:rPr sz="1400">
                <a:solidFill>
                  <a:srgbClr val="4B4B4B"/>
                </a:solidFill>
                <a:latin typeface="Arial"/>
              </a:rPr>
              <a:t>Terms are final only when every insurer of the latest round has an outcome; co-insurance shares total 100.</a:t>
            </a:r>
          </a:p>
          <a:p>
            <a:pPr>
              <a:spcAft>
                <a:spcPts val="600"/>
              </a:spcAft>
            </a:pPr>
            <a:r>
              <a:rPr sz="1400">
                <a:solidFill>
                  <a:srgbClr val="004EA8"/>
                </a:solidFill>
                <a:latin typeface="Arial"/>
              </a:rPr>
              <a:t>•  </a:t>
            </a:r>
            <a:r>
              <a:rPr sz="1400">
                <a:solidFill>
                  <a:srgbClr val="4B4B4B"/>
                </a:solidFill>
                <a:latin typeface="Arial"/>
              </a:rPr>
              <a:t>ManCom signs off a complete requirements pack with the signed package slip; the slips then lock.</a:t>
            </a:r>
          </a:p>
          <a:p>
            <a:pPr>
              <a:spcAft>
                <a:spcPts val="600"/>
              </a:spcAft>
            </a:pPr>
            <a:r>
              <a:rPr sz="1400">
                <a:solidFill>
                  <a:srgbClr val="004EA8"/>
                </a:solidFill>
                <a:latin typeface="Arial"/>
              </a:rPr>
              <a:t>•  </a:t>
            </a:r>
            <a:r>
              <a:rPr sz="1400">
                <a:solidFill>
                  <a:srgbClr val="4B4B4B"/>
                </a:solidFill>
                <a:latin typeface="Arial"/>
              </a:rPr>
              <a:t>A package version is validated by the TSU Head or the Business Administrator, never its maker or submitter, with a five-point checklist and a test premium.</a:t>
            </a:r>
          </a:p>
          <a:p>
            <a:pPr>
              <a:spcAft>
                <a:spcPts val="600"/>
              </a:spcAft>
            </a:pPr>
            <a:r>
              <a:rPr sz="1400">
                <a:solidFill>
                  <a:srgbClr val="004EA8"/>
                </a:solidFill>
                <a:latin typeface="Arial"/>
              </a:rPr>
              <a:t>•  </a:t>
            </a:r>
            <a:r>
              <a:rPr sz="1400">
                <a:solidFill>
                  <a:srgbClr val="4B4B4B"/>
                </a:solidFill>
                <a:latin typeface="Arial"/>
              </a:rPr>
              <a:t>New business is priced on the version in force on the transaction date; a different rate needs an approved rate exception.</a:t>
            </a:r>
          </a:p>
          <a:p>
            <a:pPr>
              <a:spcAft>
                <a:spcPts val="600"/>
              </a:spcAft>
            </a:pPr>
            <a:r>
              <a:rPr sz="1400">
                <a:solidFill>
                  <a:srgbClr val="004EA8"/>
                </a:solidFill>
                <a:latin typeface="Arial"/>
              </a:rPr>
              <a:t>•  </a:t>
            </a:r>
            <a:r>
              <a:rPr sz="1400">
                <a:solidFill>
                  <a:srgbClr val="4B4B4B"/>
                </a:solidFill>
                <a:latin typeface="Arial"/>
              </a:rPr>
              <a:t>Every product master is maker-checker and never deleted; expired and retired packages stay readable.</a:t>
            </a:r>
          </a:p>
          <a:p>
            <a:pPr>
              <a:spcAft>
                <a:spcPts val="600"/>
              </a:spcAft>
            </a:pPr>
            <a:r>
              <a:rPr sz="1400">
                <a:solidFill>
                  <a:srgbClr val="004EA8"/>
                </a:solidFill>
                <a:latin typeface="Arial"/>
              </a:rPr>
              <a:t>•  </a:t>
            </a:r>
            <a:r>
              <a:rPr sz="1400">
                <a:solidFill>
                  <a:srgbClr val="4B4B4B"/>
                </a:solidFill>
                <a:latin typeface="Arial"/>
              </a:rPr>
              <a:t>An advisory is sent only with the signed package slip and the ManCom sign-off attached.</a:t>
            </a:r>
          </a:p>
          <a:p>
            <a:pPr lvl="1">
              <a:spcAft>
                <a:spcPts val="600"/>
              </a:spcAft>
            </a:pPr>
            <a:r>
              <a:rPr sz="1200">
                <a:solidFill>
                  <a:srgbClr val="656565"/>
                </a:solidFill>
                <a:latin typeface="Arial"/>
              </a:rPr>
              <a:t>–  </a:t>
            </a:r>
            <a:r>
              <a:rPr sz="1200">
                <a:solidFill>
                  <a:srgbClr val="4B4B4B"/>
                </a:solidFill>
                <a:latin typeface="Arial"/>
              </a:rPr>
              <a:t>Full list: FRS chapter 13 per screen, 75 rules on the Business rules sheet and 255 messages in chapter 15 and on the Messages sheet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Cross-module dependencies and impacts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13</a:t>
            </a:r>
          </a:p>
        </p:txBody>
      </p:sp>
      <p:pic>
        <p:nvPicPr>
          <p:cNvPr id="9" name="Picture 8" descr="brd03_contract_map.png"/>
          <p:cNvPicPr>
            <a:picLocks noChangeAspect="1"/>
          </p:cNvPicPr>
          <p:nvPr/>
        </p:nvPicPr>
        <p:blipFill>
          <a:blip r:embed="rId3"/>
          <a:stretch>
            <a:fillRect/>
          </a:stretch>
        </p:blipFill>
        <p:spPr>
          <a:xfrm>
            <a:off x="1293652" y="1325880"/>
            <a:ext cx="9604390" cy="4480560"/>
          </a:xfrm>
          <a:prstGeom prst="rect">
            <a:avLst/>
          </a:prstGeom>
          <a:ln w="9525">
            <a:solidFill>
              <a:srgbClr val="C2C2C1"/>
            </a:solidFill>
          </a:ln>
        </p:spPr>
      </p:pic>
      <p:sp>
        <p:nvSpPr>
          <p:cNvPr id="10" name="TextBox 9"/>
          <p:cNvSpPr txBox="1"/>
          <p:nvPr/>
        </p:nvSpPr>
        <p:spPr>
          <a:xfrm>
            <a:off x="548640" y="5852160"/>
            <a:ext cx="11094415" cy="320040"/>
          </a:xfrm>
          <a:prstGeom prst="rect">
            <a:avLst/>
          </a:prstGeom>
          <a:noFill/>
        </p:spPr>
        <p:txBody>
          <a:bodyPr wrap="square" anchor="t" lIns="45720" rIns="45720">
            <a:spAutoFit/>
          </a:bodyPr>
          <a:lstStyle/>
          <a:p>
            <a:pPr algn="ctr"/>
            <a:r>
              <a:rPr sz="1100" b="0" i="1">
                <a:solidFill>
                  <a:srgbClr val="656565"/>
                </a:solidFill>
                <a:latin typeface="Arial"/>
              </a:rPr>
              <a:t>What Product Maintenance takes from and hands to the other BRDs and systems (FRS chapter 19)</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Caveats and possibilities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14</a:t>
            </a:r>
          </a:p>
        </p:txBody>
      </p:sp>
      <p:graphicFrame>
        <p:nvGraphicFramePr>
          <p:cNvPr id="9" name="Table 8"/>
          <p:cNvGraphicFramePr>
            <a:graphicFrameLocks noGrp="1"/>
          </p:cNvGraphicFramePr>
          <p:nvPr/>
        </p:nvGraphicFramePr>
        <p:xfrm>
          <a:off x="548640" y="1371600"/>
          <a:ext cx="11094414" cy="2194560"/>
        </p:xfrm>
        <a:graphic>
          <a:graphicData uri="http://schemas.openxmlformats.org/drawingml/2006/table">
            <a:tbl>
              <a:tblPr firstRow="1" bandRow="1">
                <a:tableStyleId>{5C22544A-7EE6-4342-B048-85BDC9FD1C3A}</a:tableStyleId>
              </a:tblPr>
              <a:tblGrid>
                <a:gridCol w="1937120"/>
                <a:gridCol w="4578647"/>
                <a:gridCol w="4578647"/>
              </a:tblGrid>
              <a:tr h="365760">
                <a:tc>
                  <a:txBody>
                    <a:bodyPr/>
                    <a:lstStyle/>
                    <a:p>
                      <a:r>
                        <a:rPr sz="1000" b="1">
                          <a:solidFill>
                            <a:srgbClr val="FFFFFF"/>
                          </a:solidFill>
                          <a:latin typeface="Arial"/>
                        </a:rPr>
                        <a:t>Topic</a:t>
                      </a:r>
                    </a:p>
                  </a:txBody>
                  <a:tcPr marL="73152" marR="73152" marT="36576" marB="36576">
                    <a:solidFill>
                      <a:srgbClr val="004EA8"/>
                    </a:solidFill>
                  </a:tcPr>
                </a:tc>
                <a:tc>
                  <a:txBody>
                    <a:bodyPr/>
                    <a:lstStyle/>
                    <a:p>
                      <a:r>
                        <a:rPr sz="1000" b="1">
                          <a:solidFill>
                            <a:srgbClr val="FFFFFF"/>
                          </a:solidFill>
                          <a:latin typeface="Arial"/>
                        </a:rPr>
                        <a:t>What can happen</a:t>
                      </a:r>
                    </a:p>
                  </a:txBody>
                  <a:tcPr marL="73152" marR="73152" marT="36576" marB="36576">
                    <a:solidFill>
                      <a:srgbClr val="004EA8"/>
                    </a:solidFill>
                  </a:tcPr>
                </a:tc>
                <a:tc>
                  <a:txBody>
                    <a:bodyPr/>
                    <a:lstStyle/>
                    <a:p>
                      <a:r>
                        <a:rPr sz="1000" b="1">
                          <a:solidFill>
                            <a:srgbClr val="FFFFFF"/>
                          </a:solidFill>
                          <a:latin typeface="Arial"/>
                        </a:rPr>
                        <a:t>How it is handled</a:t>
                      </a:r>
                    </a:p>
                  </a:txBody>
                  <a:tcPr marL="73152" marR="73152" marT="36576" marB="36576">
                    <a:solidFill>
                      <a:srgbClr val="004EA8"/>
                    </a:solidFill>
                  </a:tcPr>
                </a:tc>
              </a:tr>
              <a:tr h="365760">
                <a:tc>
                  <a:txBody>
                    <a:bodyPr/>
                    <a:lstStyle/>
                    <a:p>
                      <a:r>
                        <a:rPr sz="1000" b="0">
                          <a:solidFill>
                            <a:srgbClr val="4B4B4B"/>
                          </a:solidFill>
                          <a:latin typeface="Arial"/>
                        </a:rPr>
                        <a:t>Additional requirements</a:t>
                      </a:r>
                    </a:p>
                  </a:txBody>
                  <a:tcPr marL="73152" marR="73152" marT="36576" marB="36576">
                    <a:solidFill>
                      <a:srgbClr val="FFFFFF"/>
                    </a:solidFill>
                  </a:tcPr>
                </a:tc>
                <a:tc>
                  <a:txBody>
                    <a:bodyPr/>
                    <a:lstStyle/>
                    <a:p>
                      <a:r>
                        <a:rPr sz="1000" b="0">
                          <a:solidFill>
                            <a:srgbClr val="4B4B4B"/>
                          </a:solidFill>
                          <a:latin typeface="Arial"/>
                        </a:rPr>
                        <a:t>New needs can surface during the review, SIT or UAT.</a:t>
                      </a:r>
                    </a:p>
                  </a:txBody>
                  <a:tcPr marL="73152" marR="73152" marT="36576" marB="36576">
                    <a:solidFill>
                      <a:srgbClr val="FFFFFF"/>
                    </a:solidFill>
                  </a:tcPr>
                </a:tc>
                <a:tc>
                  <a:txBody>
                    <a:bodyPr/>
                    <a:lstStyle/>
                    <a:p>
                      <a:r>
                        <a:rPr sz="1000" b="0">
                          <a:solidFill>
                            <a:srgbClr val="4B4B4B"/>
                          </a:solidFill>
                          <a:latin typeface="Arial"/>
                        </a:rPr>
                        <a:t>In-scope clarification when the signed text already covers it; otherwise a change request with mandays.</a:t>
                      </a:r>
                    </a:p>
                  </a:txBody>
                  <a:tcPr marL="73152" marR="73152" marT="36576" marB="36576">
                    <a:solidFill>
                      <a:srgbClr val="FFFFFF"/>
                    </a:solidFill>
                  </a:tcPr>
                </a:tc>
              </a:tr>
              <a:tr h="365760">
                <a:tc>
                  <a:txBody>
                    <a:bodyPr/>
                    <a:lstStyle/>
                    <a:p>
                      <a:r>
                        <a:rPr sz="1000" b="0">
                          <a:solidFill>
                            <a:srgbClr val="4B4B4B"/>
                          </a:solidFill>
                          <a:latin typeface="Arial"/>
                        </a:rPr>
                        <a:t>Other BRDs change Product Maintenance</a:t>
                      </a:r>
                    </a:p>
                  </a:txBody>
                  <a:tcPr marL="73152" marR="73152" marT="36576" marB="36576">
                    <a:solidFill>
                      <a:srgbClr val="E5F5FF"/>
                    </a:solidFill>
                  </a:tcPr>
                </a:tc>
                <a:tc>
                  <a:txBody>
                    <a:bodyPr/>
                    <a:lstStyle/>
                    <a:p>
                      <a:r>
                        <a:rPr sz="1000" b="0">
                          <a:solidFill>
                            <a:srgbClr val="4B4B4B"/>
                          </a:solidFill>
                          <a:latin typeface="Arial"/>
                        </a:rPr>
                        <a:t>New Business, Renewal, Employee Benefits, Submitted Policies, Operations, Accounting and Data Migration read the products and package versions.</a:t>
                      </a:r>
                    </a:p>
                  </a:txBody>
                  <a:tcPr marL="73152" marR="73152" marT="36576" marB="36576">
                    <a:solidFill>
                      <a:srgbClr val="E5F5FF"/>
                    </a:solidFill>
                  </a:tcPr>
                </a:tc>
                <a:tc>
                  <a:txBody>
                    <a:bodyPr/>
                    <a:lstStyle/>
                    <a:p>
                      <a:r>
                        <a:rPr sz="1000" b="0">
                          <a:solidFill>
                            <a:srgbClr val="4B4B4B"/>
                          </a:solidFill>
                          <a:latin typeface="Arial"/>
                        </a:rPr>
                        <a:t>The change is raised against the other BRD and assessed against the cross-BRD contract; when it touches this set, a delta sign-off of the affected pages only.</a:t>
                      </a:r>
                    </a:p>
                  </a:txBody>
                  <a:tcPr marL="73152" marR="73152" marT="36576" marB="36576">
                    <a:solidFill>
                      <a:srgbClr val="E5F5FF"/>
                    </a:solidFill>
                  </a:tcPr>
                </a:tc>
              </a:tr>
              <a:tr h="365760">
                <a:tc>
                  <a:txBody>
                    <a:bodyPr/>
                    <a:lstStyle/>
                    <a:p>
                      <a:r>
                        <a:rPr sz="1000" b="0">
                          <a:solidFill>
                            <a:srgbClr val="4B4B4B"/>
                          </a:solidFill>
                          <a:latin typeface="Arial"/>
                        </a:rPr>
                        <a:t>Designed but not yet built</a:t>
                      </a:r>
                    </a:p>
                  </a:txBody>
                  <a:tcPr marL="73152" marR="73152" marT="36576" marB="36576">
                    <a:solidFill>
                      <a:srgbClr val="FFFFFF"/>
                    </a:solidFill>
                  </a:tcPr>
                </a:tc>
                <a:tc>
                  <a:txBody>
                    <a:bodyPr/>
                    <a:lstStyle/>
                    <a:p>
                      <a:r>
                        <a:rPr sz="1000" b="0">
                          <a:solidFill>
                            <a:srgbClr val="4B4B4B"/>
                          </a:solidFill>
                          <a:latin typeface="Arial"/>
                        </a:rPr>
                        <a:t>The package map (data migration object R06) and the Renewal sanitation check PACKAGE_REMAP are designed in the Data Migration and Renewal sets and not in the build of this set.</a:t>
                      </a:r>
                    </a:p>
                  </a:txBody>
                  <a:tcPr marL="73152" marR="73152" marT="36576" marB="36576">
                    <a:solidFill>
                      <a:srgbClr val="FFFFFF"/>
                    </a:solidFill>
                  </a:tcPr>
                </a:tc>
                <a:tc>
                  <a:txBody>
                    <a:bodyPr/>
                    <a:lstStyle/>
                    <a:p>
                      <a:r>
                        <a:rPr sz="1000" b="0">
                          <a:solidFill>
                            <a:srgbClr val="4B4B4B"/>
                          </a:solidFill>
                          <a:latin typeface="Arial"/>
                        </a:rPr>
                        <a:t>Product Maintenance provides the package versions the map names; the map is signed with the Data Migration and Renewal sets.</a:t>
                      </a:r>
                    </a:p>
                  </a:txBody>
                  <a:tcPr marL="73152" marR="73152" marT="36576" marB="36576">
                    <a:solidFill>
                      <a:srgbClr val="FFFFFF"/>
                    </a:solidFill>
                  </a:tcPr>
                </a:tc>
              </a:tr>
              <a:tr h="365760">
                <a:tc>
                  <a:txBody>
                    <a:bodyPr/>
                    <a:lstStyle/>
                    <a:p>
                      <a:r>
                        <a:rPr sz="1000" b="0">
                          <a:solidFill>
                            <a:srgbClr val="4B4B4B"/>
                          </a:solidFill>
                          <a:latin typeface="Arial"/>
                        </a:rPr>
                        <a:t>Integrations pending BDOI IT specifications</a:t>
                      </a:r>
                    </a:p>
                  </a:txBody>
                  <a:tcPr marL="73152" marR="73152" marT="36576" marB="36576">
                    <a:solidFill>
                      <a:srgbClr val="E5F5FF"/>
                    </a:solidFill>
                  </a:tcPr>
                </a:tc>
                <a:tc>
                  <a:txBody>
                    <a:bodyPr/>
                    <a:lstStyle/>
                    <a:p>
                      <a:r>
                        <a:rPr sz="1000" b="0">
                          <a:solidFill>
                            <a:srgbClr val="4B4B4B"/>
                          </a:solidFill>
                          <a:latin typeface="Arial"/>
                        </a:rPr>
                        <a:t>The product master feed to other BDOI systems waits for their specification (PQ16).</a:t>
                      </a:r>
                    </a:p>
                  </a:txBody>
                  <a:tcPr marL="73152" marR="73152" marT="36576" marB="36576">
                    <a:solidFill>
                      <a:srgbClr val="E5F5FF"/>
                    </a:solidFill>
                  </a:tcPr>
                </a:tc>
                <a:tc>
                  <a:txBody>
                    <a:bodyPr/>
                    <a:lstStyle/>
                    <a:p>
                      <a:r>
                        <a:rPr sz="1000" b="0">
                          <a:solidFill>
                            <a:srgbClr val="4B4B4B"/>
                          </a:solidFill>
                          <a:latin typeface="Arial"/>
                        </a:rPr>
                        <a:t>Built as a port that records each change; the transport is a change request once the specification arrives.</a:t>
                      </a:r>
                    </a:p>
                  </a:txBody>
                  <a:tcPr marL="73152" marR="73152" marT="36576" marB="36576">
                    <a:solidFill>
                      <a:srgbClr val="E5F5FF"/>
                    </a:solidFill>
                  </a:tcPr>
                </a:tc>
              </a:tr>
              <a:tr h="365760">
                <a:tc>
                  <a:txBody>
                    <a:bodyPr/>
                    <a:lstStyle/>
                    <a:p>
                      <a:r>
                        <a:rPr sz="1000" b="0">
                          <a:solidFill>
                            <a:srgbClr val="4B4B4B"/>
                          </a:solidFill>
                          <a:latin typeface="Arial"/>
                        </a:rPr>
                        <a:t>Open questions and assumptions</a:t>
                      </a:r>
                    </a:p>
                  </a:txBody>
                  <a:tcPr marL="73152" marR="73152" marT="36576" marB="36576">
                    <a:solidFill>
                      <a:srgbClr val="FFFFFF"/>
                    </a:solidFill>
                  </a:tcPr>
                </a:tc>
                <a:tc>
                  <a:txBody>
                    <a:bodyPr/>
                    <a:lstStyle/>
                    <a:p>
                      <a:r>
                        <a:rPr sz="1000" b="0">
                          <a:solidFill>
                            <a:srgbClr val="4B4B4B"/>
                          </a:solidFill>
                          <a:latin typeface="Arial"/>
                        </a:rPr>
                        <a:t>Open questions of FRS section 10.3 (product matrix, approval chain, ManCom quorum, validator role, CPC2) are built on the assumptions of section 10.1.</a:t>
                      </a:r>
                    </a:p>
                  </a:txBody>
                  <a:tcPr marL="73152" marR="73152" marT="36576" marB="36576">
                    <a:solidFill>
                      <a:srgbClr val="FFFFFF"/>
                    </a:solidFill>
                  </a:tcPr>
                </a:tc>
                <a:tc>
                  <a:txBody>
                    <a:bodyPr/>
                    <a:lstStyle/>
                    <a:p>
                      <a:r>
                        <a:rPr sz="1000" b="0">
                          <a:solidFill>
                            <a:srgbClr val="4B4B4B"/>
                          </a:solidFill>
                          <a:latin typeface="Arial"/>
                        </a:rPr>
                        <a:t>Answered as configuration where possible (lists, parameters, templates, the product matrix itself); otherwise a change request; the assumption stands until then.</a:t>
                      </a:r>
                    </a:p>
                  </a:txBody>
                  <a:tcPr marL="73152" marR="73152" marT="36576" marB="36576">
                    <a:solidFill>
                      <a:srgbClr val="FFFFFF"/>
                    </a:solidFill>
                  </a:tcPr>
                </a:tc>
              </a:tr>
            </a:tbl>
          </a:graphicData>
        </a:graphic>
      </p:graphicFrame>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Caveats: worked examples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15</a:t>
            </a:r>
          </a:p>
        </p:txBody>
      </p:sp>
      <p:graphicFrame>
        <p:nvGraphicFramePr>
          <p:cNvPr id="9" name="Table 8"/>
          <p:cNvGraphicFramePr>
            <a:graphicFrameLocks noGrp="1"/>
          </p:cNvGraphicFramePr>
          <p:nvPr/>
        </p:nvGraphicFramePr>
        <p:xfrm>
          <a:off x="548640" y="1371600"/>
          <a:ext cx="11094414" cy="2194560"/>
        </p:xfrm>
        <a:graphic>
          <a:graphicData uri="http://schemas.openxmlformats.org/drawingml/2006/table">
            <a:tbl>
              <a:tblPr firstRow="1" bandRow="1">
                <a:tableStyleId>{5C22544A-7EE6-4342-B048-85BDC9FD1C3A}</a:tableStyleId>
              </a:tblPr>
              <a:tblGrid>
                <a:gridCol w="2113221"/>
                <a:gridCol w="8981193"/>
              </a:tblGrid>
              <a:tr h="365760">
                <a:tc>
                  <a:txBody>
                    <a:bodyPr/>
                    <a:lstStyle/>
                    <a:p>
                      <a:r>
                        <a:rPr sz="1100" b="1">
                          <a:solidFill>
                            <a:srgbClr val="FFFFFF"/>
                          </a:solidFill>
                          <a:latin typeface="Arial"/>
                        </a:rPr>
                        <a:t>Topic</a:t>
                      </a:r>
                    </a:p>
                  </a:txBody>
                  <a:tcPr marL="73152" marR="73152" marT="36576" marB="36576">
                    <a:solidFill>
                      <a:srgbClr val="004EA8"/>
                    </a:solidFill>
                  </a:tcPr>
                </a:tc>
                <a:tc>
                  <a:txBody>
                    <a:bodyPr/>
                    <a:lstStyle/>
                    <a:p>
                      <a:r>
                        <a:rPr sz="1100" b="1">
                          <a:solidFill>
                            <a:srgbClr val="FFFFFF"/>
                          </a:solidFill>
                          <a:latin typeface="Arial"/>
                        </a:rPr>
                        <a:t>Example and how it is handled</a:t>
                      </a:r>
                    </a:p>
                  </a:txBody>
                  <a:tcPr marL="73152" marR="73152" marT="36576" marB="36576">
                    <a:solidFill>
                      <a:srgbClr val="004EA8"/>
                    </a:solidFill>
                  </a:tcPr>
                </a:tc>
              </a:tr>
              <a:tr h="365760">
                <a:tc>
                  <a:txBody>
                    <a:bodyPr/>
                    <a:lstStyle/>
                    <a:p>
                      <a:r>
                        <a:rPr sz="1100" b="0">
                          <a:solidFill>
                            <a:srgbClr val="4B4B4B"/>
                          </a:solidFill>
                          <a:latin typeface="Arial"/>
                        </a:rPr>
                        <a:t>Additional requirements</a:t>
                      </a:r>
                    </a:p>
                  </a:txBody>
                  <a:tcPr marL="73152" marR="73152" marT="36576" marB="36576">
                    <a:solidFill>
                      <a:srgbClr val="FFFFFF"/>
                    </a:solidFill>
                  </a:tcPr>
                </a:tc>
                <a:tc>
                  <a:txBody>
                    <a:bodyPr/>
                    <a:lstStyle/>
                    <a:p>
                      <a:r>
                        <a:rPr sz="1100" b="0">
                          <a:solidFill>
                            <a:srgbClr val="4B4B4B"/>
                          </a:solidFill>
                          <a:latin typeface="Arial"/>
                        </a:rPr>
                        <a:t>A reviewer asks for a two-level ManCom approval: a new stage, so a change request; asking which documents the advisory checks is a clarification.</a:t>
                      </a:r>
                    </a:p>
                  </a:txBody>
                  <a:tcPr marL="73152" marR="73152" marT="36576" marB="36576">
                    <a:solidFill>
                      <a:srgbClr val="FFFFFF"/>
                    </a:solidFill>
                  </a:tcPr>
                </a:tc>
              </a:tr>
              <a:tr h="365760">
                <a:tc>
                  <a:txBody>
                    <a:bodyPr/>
                    <a:lstStyle/>
                    <a:p>
                      <a:r>
                        <a:rPr sz="1100" b="0">
                          <a:solidFill>
                            <a:srgbClr val="4B4B4B"/>
                          </a:solidFill>
                          <a:latin typeface="Arial"/>
                        </a:rPr>
                        <a:t>Other BRDs change Product Maintenance</a:t>
                      </a:r>
                    </a:p>
                  </a:txBody>
                  <a:tcPr marL="73152" marR="73152" marT="36576" marB="36576">
                    <a:solidFill>
                      <a:srgbClr val="E5F5FF"/>
                    </a:solidFill>
                  </a:tcPr>
                </a:tc>
                <a:tc>
                  <a:txBody>
                    <a:bodyPr/>
                    <a:lstStyle/>
                    <a:p>
                      <a:r>
                        <a:rPr sz="1100" b="0">
                          <a:solidFill>
                            <a:srgbClr val="4B4B4B"/>
                          </a:solidFill>
                          <a:latin typeface="Arial"/>
                        </a:rPr>
                        <a:t>Renewal asks to renew accounts of an expired package on a new version: the rating purpose changes; the version pages are re-issued and signed as a delta.</a:t>
                      </a:r>
                    </a:p>
                  </a:txBody>
                  <a:tcPr marL="73152" marR="73152" marT="36576" marB="36576">
                    <a:solidFill>
                      <a:srgbClr val="E5F5FF"/>
                    </a:solidFill>
                  </a:tcPr>
                </a:tc>
              </a:tr>
              <a:tr h="365760">
                <a:tc>
                  <a:txBody>
                    <a:bodyPr/>
                    <a:lstStyle/>
                    <a:p>
                      <a:r>
                        <a:rPr sz="1100" b="0">
                          <a:solidFill>
                            <a:srgbClr val="4B4B4B"/>
                          </a:solidFill>
                          <a:latin typeface="Arial"/>
                        </a:rPr>
                        <a:t>Designed but not yet built</a:t>
                      </a:r>
                    </a:p>
                  </a:txBody>
                  <a:tcPr marL="73152" marR="73152" marT="36576" marB="36576">
                    <a:solidFill>
                      <a:srgbClr val="FFFFFF"/>
                    </a:solidFill>
                  </a:tcPr>
                </a:tc>
                <a:tc>
                  <a:txBody>
                    <a:bodyPr/>
                    <a:lstStyle/>
                    <a:p>
                      <a:r>
                        <a:rPr sz="1100" b="0">
                          <a:solidFill>
                            <a:srgbClr val="4B4B4B"/>
                          </a:solidFill>
                          <a:latin typeface="Arial"/>
                        </a:rPr>
                        <a:t>The template CI-07 of this set is the layout TSU prepares; it is loaded when the migration loaders are built.</a:t>
                      </a:r>
                    </a:p>
                  </a:txBody>
                  <a:tcPr marL="73152" marR="73152" marT="36576" marB="36576">
                    <a:solidFill>
                      <a:srgbClr val="FFFFFF"/>
                    </a:solidFill>
                  </a:tcPr>
                </a:tc>
              </a:tr>
              <a:tr h="365760">
                <a:tc>
                  <a:txBody>
                    <a:bodyPr/>
                    <a:lstStyle/>
                    <a:p>
                      <a:r>
                        <a:rPr sz="1100" b="0">
                          <a:solidFill>
                            <a:srgbClr val="4B4B4B"/>
                          </a:solidFill>
                          <a:latin typeface="Arial"/>
                        </a:rPr>
                        <a:t>Integrations pending BDOI IT specifications</a:t>
                      </a:r>
                    </a:p>
                  </a:txBody>
                  <a:tcPr marL="73152" marR="73152" marT="36576" marB="36576">
                    <a:solidFill>
                      <a:srgbClr val="E5F5FF"/>
                    </a:solidFill>
                  </a:tcPr>
                </a:tc>
                <a:tc>
                  <a:txBody>
                    <a:bodyPr/>
                    <a:lstStyle/>
                    <a:p>
                      <a:r>
                        <a:rPr sz="1100" b="0">
                          <a:solidFill>
                            <a:srgbClr val="4B4B4B"/>
                          </a:solidFill>
                          <a:latin typeface="Arial"/>
                        </a:rPr>
                        <a:t>When BDOI names the receiving system, an adapter sends each released version; the screens do not change.</a:t>
                      </a:r>
                    </a:p>
                  </a:txBody>
                  <a:tcPr marL="73152" marR="73152" marT="36576" marB="36576">
                    <a:solidFill>
                      <a:srgbClr val="E5F5FF"/>
                    </a:solidFill>
                  </a:tcPr>
                </a:tc>
              </a:tr>
              <a:tr h="365760">
                <a:tc>
                  <a:txBody>
                    <a:bodyPr/>
                    <a:lstStyle/>
                    <a:p>
                      <a:r>
                        <a:rPr sz="1100" b="0">
                          <a:solidFill>
                            <a:srgbClr val="4B4B4B"/>
                          </a:solidFill>
                          <a:latin typeface="Arial"/>
                        </a:rPr>
                        <a:t>Open questions and assumptions</a:t>
                      </a:r>
                    </a:p>
                  </a:txBody>
                  <a:tcPr marL="73152" marR="73152" marT="36576" marB="36576">
                    <a:solidFill>
                      <a:srgbClr val="FFFFFF"/>
                    </a:solidFill>
                  </a:tcPr>
                </a:tc>
                <a:tc>
                  <a:txBody>
                    <a:bodyPr/>
                    <a:lstStyle/>
                    <a:p>
                      <a:r>
                        <a:rPr sz="1100" b="0">
                          <a:solidFill>
                            <a:srgbClr val="4B4B4B"/>
                          </a:solidFill>
                          <a:latin typeface="Arial"/>
                        </a:rPr>
                        <a:t>The service level hours of each stage are parameters: a changed answer to PQ08 is a configuration change, not a build.</a:t>
                      </a:r>
                    </a:p>
                  </a:txBody>
                  <a:tcPr marL="73152" marR="73152" marT="36576" marB="36576">
                    <a:solidFill>
                      <a:srgbClr val="FFFFFF"/>
                    </a:solidFill>
                  </a:tcPr>
                </a:tc>
              </a:tr>
            </a:tbl>
          </a:graphicData>
        </a:graphic>
      </p:graphicFrame>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Entry and exit criteria, definition of done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16</a:t>
            </a:r>
          </a:p>
        </p:txBody>
      </p:sp>
      <p:sp>
        <p:nvSpPr>
          <p:cNvPr id="9" name="Rectangle 8"/>
          <p:cNvSpPr/>
          <p:nvPr/>
        </p:nvSpPr>
        <p:spPr>
          <a:xfrm>
            <a:off x="548640" y="1325880"/>
            <a:ext cx="3515258" cy="457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1325880"/>
            <a:ext cx="3515258" cy="457200"/>
          </a:xfrm>
          <a:prstGeom prst="rect">
            <a:avLst/>
          </a:prstGeom>
          <a:noFill/>
        </p:spPr>
        <p:txBody>
          <a:bodyPr wrap="square" anchor="ctr" lIns="45720" rIns="45720">
            <a:spAutoFit/>
          </a:bodyPr>
          <a:lstStyle/>
          <a:p>
            <a:r>
              <a:rPr sz="1500" b="1" i="0">
                <a:solidFill>
                  <a:srgbClr val="FFFFFF"/>
                </a:solidFill>
                <a:latin typeface="Arial"/>
              </a:rPr>
              <a:t>Entry</a:t>
            </a:r>
          </a:p>
        </p:txBody>
      </p:sp>
      <p:sp>
        <p:nvSpPr>
          <p:cNvPr id="11" name="Rectangle 10"/>
          <p:cNvSpPr/>
          <p:nvPr/>
        </p:nvSpPr>
        <p:spPr>
          <a:xfrm>
            <a:off x="548640" y="1783080"/>
            <a:ext cx="3515258" cy="43434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1920240"/>
            <a:ext cx="3332378" cy="4160520"/>
          </a:xfrm>
          <a:prstGeom prst="rect">
            <a:avLst/>
          </a:prstGeom>
          <a:noFill/>
        </p:spPr>
        <p:txBody>
          <a:bodyPr wrap="square">
            <a:spAutoFit/>
          </a:bodyPr>
          <a:lstStyle/>
          <a:p>
            <a:pPr>
              <a:spcAft>
                <a:spcPts val="600"/>
              </a:spcAft>
            </a:pPr>
            <a:r>
              <a:rPr sz="1200">
                <a:solidFill>
                  <a:srgbClr val="004EA8"/>
                </a:solidFill>
                <a:latin typeface="Arial"/>
              </a:rPr>
              <a:t>•  </a:t>
            </a:r>
            <a:r>
              <a:rPr sz="1200">
                <a:solidFill>
                  <a:srgbClr val="4B4B4B"/>
                </a:solidFill>
                <a:latin typeface="Arial"/>
              </a:rPr>
              <a:t>The set is built from the system as built and every screenshot is taken on the SIT environment with seed data.</a:t>
            </a:r>
          </a:p>
          <a:p>
            <a:pPr>
              <a:spcAft>
                <a:spcPts val="600"/>
              </a:spcAft>
            </a:pPr>
            <a:r>
              <a:rPr sz="1200">
                <a:solidFill>
                  <a:srgbClr val="004EA8"/>
                </a:solidFill>
                <a:latin typeface="Arial"/>
              </a:rPr>
              <a:t>•  </a:t>
            </a:r>
            <a:r>
              <a:rPr sz="1200">
                <a:solidFill>
                  <a:srgbClr val="4B4B4B"/>
                </a:solidFill>
                <a:latin typeface="Arial"/>
              </a:rPr>
              <a:t>Reviewers have their SIT users and the walkthrough sessions are held.</a:t>
            </a:r>
          </a:p>
          <a:p>
            <a:pPr>
              <a:spcAft>
                <a:spcPts val="600"/>
              </a:spcAft>
            </a:pPr>
            <a:r>
              <a:rPr sz="1200">
                <a:solidFill>
                  <a:srgbClr val="004EA8"/>
                </a:solidFill>
                <a:latin typeface="Arial"/>
              </a:rPr>
              <a:t>•  </a:t>
            </a:r>
            <a:r>
              <a:rPr sz="1200">
                <a:solidFill>
                  <a:srgbClr val="4B4B4B"/>
                </a:solidFill>
                <a:latin typeface="Arial"/>
              </a:rPr>
              <a:t>The test plan is traced to the FRS and to the screens.</a:t>
            </a:r>
          </a:p>
        </p:txBody>
      </p:sp>
      <p:sp>
        <p:nvSpPr>
          <p:cNvPr id="13" name="Rectangle 12"/>
          <p:cNvSpPr/>
          <p:nvPr/>
        </p:nvSpPr>
        <p:spPr>
          <a:xfrm>
            <a:off x="4338218" y="1325880"/>
            <a:ext cx="3515258" cy="457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29658" y="1325880"/>
            <a:ext cx="3515258" cy="457200"/>
          </a:xfrm>
          <a:prstGeom prst="rect">
            <a:avLst/>
          </a:prstGeom>
          <a:noFill/>
        </p:spPr>
        <p:txBody>
          <a:bodyPr wrap="square" anchor="ctr" lIns="45720" rIns="45720">
            <a:spAutoFit/>
          </a:bodyPr>
          <a:lstStyle/>
          <a:p>
            <a:r>
              <a:rPr sz="1500" b="1" i="0">
                <a:solidFill>
                  <a:srgbClr val="FFFFFF"/>
                </a:solidFill>
                <a:latin typeface="Arial"/>
              </a:rPr>
              <a:t>Exit</a:t>
            </a:r>
          </a:p>
        </p:txBody>
      </p:sp>
      <p:sp>
        <p:nvSpPr>
          <p:cNvPr id="15" name="Rectangle 14"/>
          <p:cNvSpPr/>
          <p:nvPr/>
        </p:nvSpPr>
        <p:spPr>
          <a:xfrm>
            <a:off x="4338218" y="1783080"/>
            <a:ext cx="3515258" cy="43434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29658" y="1920240"/>
            <a:ext cx="3332378" cy="4160520"/>
          </a:xfrm>
          <a:prstGeom prst="rect">
            <a:avLst/>
          </a:prstGeom>
          <a:noFill/>
        </p:spPr>
        <p:txBody>
          <a:bodyPr wrap="square">
            <a:spAutoFit/>
          </a:bodyPr>
          <a:lstStyle/>
          <a:p>
            <a:pPr>
              <a:spcAft>
                <a:spcPts val="600"/>
              </a:spcAft>
            </a:pPr>
            <a:r>
              <a:rPr sz="1200">
                <a:solidFill>
                  <a:srgbClr val="004EA8"/>
                </a:solidFill>
                <a:latin typeface="Arial"/>
              </a:rPr>
              <a:t>•  </a:t>
            </a:r>
            <a:r>
              <a:rPr sz="1200">
                <a:solidFill>
                  <a:srgbClr val="4B4B4B"/>
                </a:solidFill>
                <a:latin typeface="Arial"/>
              </a:rPr>
              <a:t>Every row of the workbook reviewed by its unit (Accept, Change requested or Comment).</a:t>
            </a:r>
          </a:p>
          <a:p>
            <a:pPr>
              <a:spcAft>
                <a:spcPts val="600"/>
              </a:spcAft>
            </a:pPr>
            <a:r>
              <a:rPr sz="1200">
                <a:solidFill>
                  <a:srgbClr val="004EA8"/>
                </a:solidFill>
                <a:latin typeface="Arial"/>
              </a:rPr>
              <a:t>•  </a:t>
            </a:r>
            <a:r>
              <a:rPr sz="1200">
                <a:solidFill>
                  <a:srgbClr val="4B4B4B"/>
                </a:solidFill>
                <a:latin typeface="Arial"/>
              </a:rPr>
              <a:t>Every comments log item closed: answered, corrected in v2.1, or raised as a change request.</a:t>
            </a:r>
          </a:p>
          <a:p>
            <a:pPr>
              <a:spcAft>
                <a:spcPts val="600"/>
              </a:spcAft>
            </a:pPr>
            <a:r>
              <a:rPr sz="1200">
                <a:solidFill>
                  <a:srgbClr val="004EA8"/>
                </a:solidFill>
                <a:latin typeface="Arial"/>
              </a:rPr>
              <a:t>•  </a:t>
            </a:r>
            <a:r>
              <a:rPr sz="1200">
                <a:solidFill>
                  <a:srgbClr val="4B4B4B"/>
                </a:solidFill>
                <a:latin typeface="Arial"/>
              </a:rPr>
              <a:t>Open questions closed or accepted as assumptions.</a:t>
            </a:r>
          </a:p>
          <a:p>
            <a:pPr>
              <a:spcAft>
                <a:spcPts val="600"/>
              </a:spcAft>
            </a:pPr>
            <a:r>
              <a:rPr sz="1200">
                <a:solidFill>
                  <a:srgbClr val="004EA8"/>
                </a:solidFill>
                <a:latin typeface="Arial"/>
              </a:rPr>
              <a:t>•  </a:t>
            </a:r>
            <a:r>
              <a:rPr sz="1200">
                <a:solidFill>
                  <a:srgbClr val="4B4B4B"/>
                </a:solidFill>
                <a:latin typeface="Arial"/>
              </a:rPr>
              <a:t>The sign-off certificate signed by the business owner and by Finance and BDOI IT for their parts.</a:t>
            </a:r>
          </a:p>
        </p:txBody>
      </p:sp>
      <p:sp>
        <p:nvSpPr>
          <p:cNvPr id="17" name="Rectangle 16"/>
          <p:cNvSpPr/>
          <p:nvPr/>
        </p:nvSpPr>
        <p:spPr>
          <a:xfrm>
            <a:off x="8127796" y="1325880"/>
            <a:ext cx="3515258" cy="457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19236" y="1325880"/>
            <a:ext cx="3515258" cy="457200"/>
          </a:xfrm>
          <a:prstGeom prst="rect">
            <a:avLst/>
          </a:prstGeom>
          <a:noFill/>
        </p:spPr>
        <p:txBody>
          <a:bodyPr wrap="square" anchor="ctr" lIns="45720" rIns="45720">
            <a:spAutoFit/>
          </a:bodyPr>
          <a:lstStyle/>
          <a:p>
            <a:r>
              <a:rPr sz="1500" b="1" i="0">
                <a:solidFill>
                  <a:srgbClr val="FFFFFF"/>
                </a:solidFill>
                <a:latin typeface="Arial"/>
              </a:rPr>
              <a:t>Done</a:t>
            </a:r>
          </a:p>
        </p:txBody>
      </p:sp>
      <p:sp>
        <p:nvSpPr>
          <p:cNvPr id="19" name="Rectangle 18"/>
          <p:cNvSpPr/>
          <p:nvPr/>
        </p:nvSpPr>
        <p:spPr>
          <a:xfrm>
            <a:off x="8127796" y="1783080"/>
            <a:ext cx="3515258" cy="43434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19236" y="1920240"/>
            <a:ext cx="3332378" cy="4160520"/>
          </a:xfrm>
          <a:prstGeom prst="rect">
            <a:avLst/>
          </a:prstGeom>
          <a:noFill/>
        </p:spPr>
        <p:txBody>
          <a:bodyPr wrap="square">
            <a:spAutoFit/>
          </a:bodyPr>
          <a:lstStyle/>
          <a:p>
            <a:pPr>
              <a:spcAft>
                <a:spcPts val="600"/>
              </a:spcAft>
            </a:pPr>
            <a:r>
              <a:rPr sz="1200">
                <a:solidFill>
                  <a:srgbClr val="004EA8"/>
                </a:solidFill>
                <a:latin typeface="Arial"/>
              </a:rPr>
              <a:t>•  </a:t>
            </a:r>
            <a:r>
              <a:rPr sz="1200">
                <a:solidFill>
                  <a:srgbClr val="4B4B4B"/>
                </a:solidFill>
                <a:latin typeface="Arial"/>
              </a:rPr>
              <a:t>Signed certificate filed with the set; version history updated.</a:t>
            </a:r>
          </a:p>
          <a:p>
            <a:pPr>
              <a:spcAft>
                <a:spcPts val="600"/>
              </a:spcAft>
            </a:pPr>
            <a:r>
              <a:rPr sz="1200">
                <a:solidFill>
                  <a:srgbClr val="004EA8"/>
                </a:solidFill>
                <a:latin typeface="Arial"/>
              </a:rPr>
              <a:t>•  </a:t>
            </a:r>
            <a:r>
              <a:rPr sz="1200">
                <a:solidFill>
                  <a:srgbClr val="4B4B4B"/>
                </a:solidFill>
                <a:latin typeface="Arial"/>
              </a:rPr>
              <a:t>Build frozen as signed; deltas listed in the Change Management Register with mandays.</a:t>
            </a:r>
          </a:p>
          <a:p>
            <a:pPr>
              <a:spcAft>
                <a:spcPts val="600"/>
              </a:spcAft>
            </a:pPr>
            <a:r>
              <a:rPr sz="1200">
                <a:solidFill>
                  <a:srgbClr val="004EA8"/>
                </a:solidFill>
                <a:latin typeface="Arial"/>
              </a:rPr>
              <a:t>•  </a:t>
            </a:r>
            <a:r>
              <a:rPr sz="1200">
                <a:solidFill>
                  <a:srgbClr val="4B4B4B"/>
                </a:solidFill>
                <a:latin typeface="Arial"/>
              </a:rPr>
              <a:t>Configuration input templates owned and scheduled for the data migration mocks.</a:t>
            </a:r>
          </a:p>
          <a:p>
            <a:pPr>
              <a:spcAft>
                <a:spcPts val="600"/>
              </a:spcAft>
            </a:pPr>
            <a:r>
              <a:rPr sz="1200">
                <a:solidFill>
                  <a:srgbClr val="004EA8"/>
                </a:solidFill>
                <a:latin typeface="Arial"/>
              </a:rPr>
              <a:t>•  </a:t>
            </a:r>
            <a:r>
              <a:rPr sz="1200">
                <a:solidFill>
                  <a:srgbClr val="4B4B4B"/>
                </a:solidFill>
                <a:latin typeface="Arial"/>
              </a:rPr>
              <a:t>Test plan agreed for SIT and UAT.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Handover to development: build readiness checklist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17</a:t>
            </a:r>
          </a:p>
        </p:txBody>
      </p:sp>
      <p:sp>
        <p:nvSpPr>
          <p:cNvPr id="9" name="TextBox 8"/>
          <p:cNvSpPr txBox="1"/>
          <p:nvPr/>
        </p:nvSpPr>
        <p:spPr>
          <a:xfrm>
            <a:off x="548640" y="1371600"/>
            <a:ext cx="11094415" cy="4754880"/>
          </a:xfrm>
          <a:prstGeom prst="rect">
            <a:avLst/>
          </a:prstGeom>
          <a:noFill/>
        </p:spPr>
        <p:txBody>
          <a:bodyPr wrap="square">
            <a:spAutoFit/>
          </a:bodyPr>
          <a:lstStyle/>
          <a:p>
            <a:pPr>
              <a:spcAft>
                <a:spcPts val="600"/>
              </a:spcAft>
            </a:pPr>
            <a:r>
              <a:rPr sz="1600">
                <a:solidFill>
                  <a:srgbClr val="004EA8"/>
                </a:solidFill>
                <a:latin typeface="Arial"/>
              </a:rPr>
              <a:t>•  </a:t>
            </a:r>
            <a:r>
              <a:rPr sz="1600">
                <a:solidFill>
                  <a:srgbClr val="4B4B4B"/>
                </a:solidFill>
                <a:latin typeface="Arial"/>
              </a:rPr>
              <a:t>☐  Signed FRS, sign-off workbook and screens</a:t>
            </a:r>
          </a:p>
          <a:p>
            <a:pPr>
              <a:spcAft>
                <a:spcPts val="600"/>
              </a:spcAft>
            </a:pPr>
            <a:r>
              <a:rPr sz="1600">
                <a:solidFill>
                  <a:srgbClr val="004EA8"/>
                </a:solidFill>
                <a:latin typeface="Arial"/>
              </a:rPr>
              <a:t>•  </a:t>
            </a:r>
            <a:r>
              <a:rPr sz="1600">
                <a:solidFill>
                  <a:srgbClr val="4B4B4B"/>
                </a:solidFill>
                <a:latin typeface="Arial"/>
              </a:rPr>
              <a:t>☐  Open questions closed or accepted as assumptions</a:t>
            </a:r>
          </a:p>
          <a:p>
            <a:pPr>
              <a:spcAft>
                <a:spcPts val="600"/>
              </a:spcAft>
            </a:pPr>
            <a:r>
              <a:rPr sz="1600">
                <a:solidFill>
                  <a:srgbClr val="004EA8"/>
                </a:solidFill>
                <a:latin typeface="Arial"/>
              </a:rPr>
              <a:t>•  </a:t>
            </a:r>
            <a:r>
              <a:rPr sz="1600">
                <a:solidFill>
                  <a:srgbClr val="4B4B4B"/>
                </a:solidFill>
                <a:latin typeface="Arial"/>
              </a:rPr>
              <a:t>☐  Configuration inputs from the business: product catalogue, coverages and rules, clauses, rate tables, insurers, packages in force, package map, document templates, lists of values, incentive criteria</a:t>
            </a:r>
          </a:p>
          <a:p>
            <a:pPr>
              <a:spcAft>
                <a:spcPts val="600"/>
              </a:spcAft>
            </a:pPr>
            <a:r>
              <a:rPr sz="1600">
                <a:solidFill>
                  <a:srgbClr val="004EA8"/>
                </a:solidFill>
                <a:latin typeface="Arial"/>
              </a:rPr>
              <a:t>•  </a:t>
            </a:r>
            <a:r>
              <a:rPr sz="1600">
                <a:solidFill>
                  <a:srgbClr val="4B4B4B"/>
                </a:solidFill>
                <a:latin typeface="Arial"/>
              </a:rPr>
              <a:t>☐  Agreed test plan</a:t>
            </a:r>
          </a:p>
          <a:p>
            <a:pPr>
              <a:spcAft>
                <a:spcPts val="600"/>
              </a:spcAft>
            </a:pPr>
            <a:r>
              <a:rPr sz="1600">
                <a:solidFill>
                  <a:srgbClr val="004EA8"/>
                </a:solidFill>
                <a:latin typeface="Arial"/>
              </a:rPr>
              <a:t>•  </a:t>
            </a:r>
            <a:r>
              <a:rPr sz="1600">
                <a:solidFill>
                  <a:srgbClr val="4B4B4B"/>
                </a:solidFill>
                <a:latin typeface="Arial"/>
              </a:rPr>
              <a:t>☐  Migration mapping of the product objects (R01, R03-R07) signed with BRD-13</a:t>
            </a:r>
          </a:p>
          <a:p>
            <a:pPr lvl="1">
              <a:spcAft>
                <a:spcPts val="600"/>
              </a:spcAft>
            </a:pPr>
            <a:r>
              <a:rPr sz="1400">
                <a:solidFill>
                  <a:srgbClr val="656565"/>
                </a:solidFill>
                <a:latin typeface="Arial"/>
              </a:rPr>
              <a:t>–  </a:t>
            </a:r>
            <a:r>
              <a:rPr sz="1400">
                <a:solidFill>
                  <a:srgbClr val="4B4B4B"/>
                </a:solidFill>
                <a:latin typeface="Arial"/>
              </a:rPr>
              <a:t>Product Maintenance is already built: handover means the build is frozen as signed, the approved deltas are scheduled and the configuration inputs are loaded.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Change control after sign-off</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18</a:t>
            </a:r>
          </a:p>
        </p:txBody>
      </p:sp>
      <p:sp>
        <p:nvSpPr>
          <p:cNvPr id="9" name="TextBox 8"/>
          <p:cNvSpPr txBox="1"/>
          <p:nvPr/>
        </p:nvSpPr>
        <p:spPr>
          <a:xfrm>
            <a:off x="548640" y="1371600"/>
            <a:ext cx="11094415" cy="4754880"/>
          </a:xfrm>
          <a:prstGeom prst="rect">
            <a:avLst/>
          </a:prstGeom>
          <a:noFill/>
        </p:spPr>
        <p:txBody>
          <a:bodyPr wrap="square">
            <a:spAutoFit/>
          </a:bodyPr>
          <a:lstStyle/>
          <a:p>
            <a:pPr>
              <a:spcAft>
                <a:spcPts val="600"/>
              </a:spcAft>
            </a:pPr>
            <a:r>
              <a:rPr sz="1800">
                <a:solidFill>
                  <a:srgbClr val="004EA8"/>
                </a:solidFill>
                <a:latin typeface="Arial"/>
              </a:rPr>
              <a:t>•  </a:t>
            </a:r>
            <a:r>
              <a:rPr sz="1800">
                <a:solidFill>
                  <a:srgbClr val="4B4B4B"/>
                </a:solidFill>
                <a:latin typeface="Arial"/>
              </a:rPr>
              <a:t>A change to anything frozen is raised in the Change Management Register</a:t>
            </a:r>
          </a:p>
          <a:p>
            <a:pPr lvl="1">
              <a:spcAft>
                <a:spcPts val="600"/>
              </a:spcAft>
            </a:pPr>
            <a:r>
              <a:rPr sz="1600">
                <a:solidFill>
                  <a:srgbClr val="656565"/>
                </a:solidFill>
                <a:latin typeface="Arial"/>
              </a:rPr>
              <a:t>–  </a:t>
            </a:r>
            <a:r>
              <a:rPr sz="1600">
                <a:solidFill>
                  <a:srgbClr val="4B4B4B"/>
                </a:solidFill>
                <a:latin typeface="Arial"/>
              </a:rPr>
              <a:t>The screen, field, rule or message concerned, the reason and the priority</a:t>
            </a:r>
          </a:p>
          <a:p>
            <a:pPr>
              <a:spcAft>
                <a:spcPts val="600"/>
              </a:spcAft>
            </a:pPr>
            <a:r>
              <a:rPr sz="1800">
                <a:solidFill>
                  <a:srgbClr val="004EA8"/>
                </a:solidFill>
                <a:latin typeface="Arial"/>
              </a:rPr>
              <a:t>•  </a:t>
            </a:r>
            <a:r>
              <a:rPr sz="1800">
                <a:solidFill>
                  <a:srgbClr val="4B4B4B"/>
                </a:solidFill>
                <a:latin typeface="Arial"/>
              </a:rPr>
              <a:t>The project team assesses the mandays and the effect on the other BRDs through the cross-BRD contract</a:t>
            </a:r>
          </a:p>
          <a:p>
            <a:pPr>
              <a:spcAft>
                <a:spcPts val="600"/>
              </a:spcAft>
            </a:pPr>
            <a:r>
              <a:rPr sz="1800">
                <a:solidFill>
                  <a:srgbClr val="004EA8"/>
                </a:solidFill>
                <a:latin typeface="Arial"/>
              </a:rPr>
              <a:t>•  </a:t>
            </a:r>
            <a:r>
              <a:rPr sz="1800">
                <a:solidFill>
                  <a:srgbClr val="4B4B4B"/>
                </a:solidFill>
                <a:latin typeface="Arial"/>
              </a:rPr>
              <a:t>The owners of every BRD concerned approve it</a:t>
            </a:r>
          </a:p>
          <a:p>
            <a:pPr>
              <a:spcAft>
                <a:spcPts val="600"/>
              </a:spcAft>
            </a:pPr>
            <a:r>
              <a:rPr sz="1800">
                <a:solidFill>
                  <a:srgbClr val="004EA8"/>
                </a:solidFill>
                <a:latin typeface="Arial"/>
              </a:rPr>
              <a:t>•  </a:t>
            </a:r>
            <a:r>
              <a:rPr sz="1800">
                <a:solidFill>
                  <a:srgbClr val="4B4B4B"/>
                </a:solidFill>
                <a:latin typeface="Arial"/>
              </a:rPr>
              <a:t>Delivered as a new version of the set (v2.1, v2.2...) with the changed pages signed again (delta sign-off)</a:t>
            </a:r>
          </a:p>
          <a:p>
            <a:pPr>
              <a:spcAft>
                <a:spcPts val="600"/>
              </a:spcAft>
            </a:pPr>
            <a:r>
              <a:rPr sz="1800">
                <a:solidFill>
                  <a:srgbClr val="004EA8"/>
                </a:solidFill>
                <a:latin typeface="Arial"/>
              </a:rPr>
              <a:t>•  </a:t>
            </a:r>
            <a:r>
              <a:rPr sz="1800">
                <a:solidFill>
                  <a:srgbClr val="4B4B4B"/>
                </a:solidFill>
                <a:latin typeface="Arial"/>
              </a:rPr>
              <a:t>Configuration values marked default change in BIBS without a change request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Governance, contacts and next steps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19</a:t>
            </a:r>
          </a:p>
        </p:txBody>
      </p:sp>
      <p:graphicFrame>
        <p:nvGraphicFramePr>
          <p:cNvPr id="9" name="Table 8"/>
          <p:cNvGraphicFramePr>
            <a:graphicFrameLocks noGrp="1"/>
          </p:cNvGraphicFramePr>
          <p:nvPr/>
        </p:nvGraphicFramePr>
        <p:xfrm>
          <a:off x="548640" y="1371600"/>
          <a:ext cx="11094414" cy="2560320"/>
        </p:xfrm>
        <a:graphic>
          <a:graphicData uri="http://schemas.openxmlformats.org/drawingml/2006/table">
            <a:tbl>
              <a:tblPr firstRow="1" bandRow="1">
                <a:tableStyleId>{5C22544A-7EE6-4342-B048-85BDC9FD1C3A}</a:tableStyleId>
              </a:tblPr>
              <a:tblGrid>
                <a:gridCol w="2641527"/>
                <a:gridCol w="3698138"/>
                <a:gridCol w="4754749"/>
              </a:tblGrid>
              <a:tr h="365760">
                <a:tc>
                  <a:txBody>
                    <a:bodyPr/>
                    <a:lstStyle/>
                    <a:p>
                      <a:r>
                        <a:rPr sz="1000" b="1">
                          <a:solidFill>
                            <a:srgbClr val="FFFFFF"/>
                          </a:solidFill>
                          <a:latin typeface="Arial"/>
                        </a:rPr>
                        <a:t>Role</a:t>
                      </a:r>
                    </a:p>
                  </a:txBody>
                  <a:tcPr marL="73152" marR="73152" marT="36576" marB="36576">
                    <a:solidFill>
                      <a:srgbClr val="004EA8"/>
                    </a:solidFill>
                  </a:tcPr>
                </a:tc>
                <a:tc>
                  <a:txBody>
                    <a:bodyPr/>
                    <a:lstStyle/>
                    <a:p>
                      <a:r>
                        <a:rPr sz="1000" b="1">
                          <a:solidFill>
                            <a:srgbClr val="FFFFFF"/>
                          </a:solidFill>
                          <a:latin typeface="Arial"/>
                        </a:rPr>
                        <a:t>Who</a:t>
                      </a:r>
                    </a:p>
                  </a:txBody>
                  <a:tcPr marL="73152" marR="73152" marT="36576" marB="36576">
                    <a:solidFill>
                      <a:srgbClr val="004EA8"/>
                    </a:solidFill>
                  </a:tcPr>
                </a:tc>
                <a:tc>
                  <a:txBody>
                    <a:bodyPr/>
                    <a:lstStyle/>
                    <a:p>
                      <a:r>
                        <a:rPr sz="1000" b="1">
                          <a:solidFill>
                            <a:srgbClr val="FFFFFF"/>
                          </a:solidFill>
                          <a:latin typeface="Arial"/>
                        </a:rPr>
                        <a:t>Does</a:t>
                      </a:r>
                    </a:p>
                  </a:txBody>
                  <a:tcPr marL="73152" marR="73152" marT="36576" marB="36576">
                    <a:solidFill>
                      <a:srgbClr val="004EA8"/>
                    </a:solidFill>
                  </a:tcPr>
                </a:tc>
              </a:tr>
              <a:tr h="365760">
                <a:tc>
                  <a:txBody>
                    <a:bodyPr/>
                    <a:lstStyle/>
                    <a:p>
                      <a:r>
                        <a:rPr sz="1000" b="0">
                          <a:solidFill>
                            <a:srgbClr val="4B4B4B"/>
                          </a:solidFill>
                          <a:latin typeface="Arial"/>
                        </a:rPr>
                        <a:t>Business owner and approver</a:t>
                      </a:r>
                    </a:p>
                  </a:txBody>
                  <a:tcPr marL="73152" marR="73152" marT="36576" marB="36576">
                    <a:solidFill>
                      <a:srgbClr val="FFFFFF"/>
                    </a:solidFill>
                  </a:tcPr>
                </a:tc>
                <a:tc>
                  <a:txBody>
                    <a:bodyPr/>
                    <a:lstStyle/>
                    <a:p>
                      <a:r>
                        <a:rPr sz="1000" b="0">
                          <a:solidFill>
                            <a:srgbClr val="4B4B4B"/>
                          </a:solidFill>
                          <a:latin typeface="Arial"/>
                        </a:rPr>
                        <a:t>Product Owner, Marketing Business System</a:t>
                      </a:r>
                    </a:p>
                  </a:txBody>
                  <a:tcPr marL="73152" marR="73152" marT="36576" marB="36576">
                    <a:solidFill>
                      <a:srgbClr val="FFFFFF"/>
                    </a:solidFill>
                  </a:tcPr>
                </a:tc>
                <a:tc>
                  <a:txBody>
                    <a:bodyPr/>
                    <a:lstStyle/>
                    <a:p>
                      <a:r>
                        <a:rPr sz="1000" b="0">
                          <a:solidFill>
                            <a:srgbClr val="4B4B4B"/>
                          </a:solidFill>
                          <a:latin typeface="Arial"/>
                        </a:rPr>
                        <a:t>Accountable for the sign-off; chairs the sign-off meeting</a:t>
                      </a:r>
                    </a:p>
                  </a:txBody>
                  <a:tcPr marL="73152" marR="73152" marT="36576" marB="36576">
                    <a:solidFill>
                      <a:srgbClr val="FFFFFF"/>
                    </a:solidFill>
                  </a:tcPr>
                </a:tc>
              </a:tr>
              <a:tr h="365760">
                <a:tc>
                  <a:txBody>
                    <a:bodyPr/>
                    <a:lstStyle/>
                    <a:p>
                      <a:r>
                        <a:rPr sz="1000" b="0">
                          <a:solidFill>
                            <a:srgbClr val="4B4B4B"/>
                          </a:solidFill>
                          <a:latin typeface="Arial"/>
                        </a:rPr>
                        <a:t>Set-up owner</a:t>
                      </a:r>
                    </a:p>
                  </a:txBody>
                  <a:tcPr marL="73152" marR="73152" marT="36576" marB="36576">
                    <a:solidFill>
                      <a:srgbClr val="E5F5FF"/>
                    </a:solidFill>
                  </a:tcPr>
                </a:tc>
                <a:tc>
                  <a:txBody>
                    <a:bodyPr/>
                    <a:lstStyle/>
                    <a:p>
                      <a:r>
                        <a:rPr sz="1000" b="0">
                          <a:solidFill>
                            <a:srgbClr val="4B4B4B"/>
                          </a:solidFill>
                          <a:latin typeface="Arial"/>
                        </a:rPr>
                        <a:t>Head, Marketing Business Services and System Support</a:t>
                      </a:r>
                    </a:p>
                  </a:txBody>
                  <a:tcPr marL="73152" marR="73152" marT="36576" marB="36576">
                    <a:solidFill>
                      <a:srgbClr val="E5F5FF"/>
                    </a:solidFill>
                  </a:tcPr>
                </a:tc>
                <a:tc>
                  <a:txBody>
                    <a:bodyPr/>
                    <a:lstStyle/>
                    <a:p>
                      <a:r>
                        <a:rPr sz="1000" b="0">
                          <a:solidFill>
                            <a:srgbClr val="4B4B4B"/>
                          </a:solidFill>
                          <a:latin typeface="Arial"/>
                        </a:rPr>
                        <a:t>Coordinates the MBS review and the configuration inputs; first signatory</a:t>
                      </a:r>
                    </a:p>
                  </a:txBody>
                  <a:tcPr marL="73152" marR="73152" marT="36576" marB="36576">
                    <a:solidFill>
                      <a:srgbClr val="E5F5FF"/>
                    </a:solidFill>
                  </a:tcPr>
                </a:tc>
              </a:tr>
              <a:tr h="365760">
                <a:tc>
                  <a:txBody>
                    <a:bodyPr/>
                    <a:lstStyle/>
                    <a:p>
                      <a:r>
                        <a:rPr sz="1000" b="0">
                          <a:solidFill>
                            <a:srgbClr val="4B4B4B"/>
                          </a:solidFill>
                          <a:latin typeface="Arial"/>
                        </a:rPr>
                        <a:t>Reviewers</a:t>
                      </a:r>
                    </a:p>
                  </a:txBody>
                  <a:tcPr marL="73152" marR="73152" marT="36576" marB="36576">
                    <a:solidFill>
                      <a:srgbClr val="FFFFFF"/>
                    </a:solidFill>
                  </a:tcPr>
                </a:tc>
                <a:tc>
                  <a:txBody>
                    <a:bodyPr/>
                    <a:lstStyle/>
                    <a:p>
                      <a:r>
                        <a:rPr sz="1000" b="0">
                          <a:solidFill>
                            <a:srgbClr val="4B4B4B"/>
                          </a:solidFill>
                          <a:latin typeface="Arial"/>
                        </a:rPr>
                        <a:t>TSU, Marketing, MBS</a:t>
                      </a:r>
                    </a:p>
                  </a:txBody>
                  <a:tcPr marL="73152" marR="73152" marT="36576" marB="36576">
                    <a:solidFill>
                      <a:srgbClr val="FFFFFF"/>
                    </a:solidFill>
                  </a:tcPr>
                </a:tc>
                <a:tc>
                  <a:txBody>
                    <a:bodyPr/>
                    <a:lstStyle/>
                    <a:p>
                      <a:r>
                        <a:rPr sz="1000" b="0">
                          <a:solidFill>
                            <a:srgbClr val="4B4B4B"/>
                          </a:solidFill>
                          <a:latin typeface="Arial"/>
                        </a:rPr>
                        <a:t>Review their screens and rows; raise comments; provide the templates they own</a:t>
                      </a:r>
                    </a:p>
                  </a:txBody>
                  <a:tcPr marL="73152" marR="73152" marT="36576" marB="36576">
                    <a:solidFill>
                      <a:srgbClr val="FFFFFF"/>
                    </a:solidFill>
                  </a:tcPr>
                </a:tc>
              </a:tr>
              <a:tr h="365760">
                <a:tc>
                  <a:txBody>
                    <a:bodyPr/>
                    <a:lstStyle/>
                    <a:p>
                      <a:r>
                        <a:rPr sz="1000" b="0">
                          <a:solidFill>
                            <a:srgbClr val="4B4B4B"/>
                          </a:solidFill>
                          <a:latin typeface="Arial"/>
                        </a:rPr>
                        <a:t>Finance and BDOI IT</a:t>
                      </a:r>
                    </a:p>
                  </a:txBody>
                  <a:tcPr marL="73152" marR="73152" marT="36576" marB="36576">
                    <a:solidFill>
                      <a:srgbClr val="E5F5FF"/>
                    </a:solidFill>
                  </a:tcPr>
                </a:tc>
                <a:tc>
                  <a:txBody>
                    <a:bodyPr/>
                    <a:lstStyle/>
                    <a:p>
                      <a:r>
                        <a:rPr sz="1000" b="0">
                          <a:solidFill>
                            <a:srgbClr val="4B4B4B"/>
                          </a:solidFill>
                          <a:latin typeface="Arial"/>
                        </a:rPr>
                        <a:t>Comptrollership, BDOI IT</a:t>
                      </a:r>
                    </a:p>
                  </a:txBody>
                  <a:tcPr marL="73152" marR="73152" marT="36576" marB="36576">
                    <a:solidFill>
                      <a:srgbClr val="E5F5FF"/>
                    </a:solidFill>
                  </a:tcPr>
                </a:tc>
                <a:tc>
                  <a:txBody>
                    <a:bodyPr/>
                    <a:lstStyle/>
                    <a:p>
                      <a:r>
                        <a:rPr sz="1000" b="0">
                          <a:solidFill>
                            <a:srgbClr val="4B4B4B"/>
                          </a:solidFill>
                          <a:latin typeface="Arial"/>
                        </a:rPr>
                        <a:t>Review and sign their parts (rates, commission, incentives; interfaces and access)</a:t>
                      </a:r>
                    </a:p>
                  </a:txBody>
                  <a:tcPr marL="73152" marR="73152" marT="36576" marB="36576">
                    <a:solidFill>
                      <a:srgbClr val="E5F5FF"/>
                    </a:solidFill>
                  </a:tcPr>
                </a:tc>
              </a:tr>
              <a:tr h="365760">
                <a:tc>
                  <a:txBody>
                    <a:bodyPr/>
                    <a:lstStyle/>
                    <a:p>
                      <a:r>
                        <a:rPr sz="1000" b="0">
                          <a:solidFill>
                            <a:srgbClr val="4B4B4B"/>
                          </a:solidFill>
                          <a:latin typeface="Arial"/>
                        </a:rPr>
                        <a:t>BRD owner</a:t>
                      </a:r>
                    </a:p>
                  </a:txBody>
                  <a:tcPr marL="73152" marR="73152" marT="36576" marB="36576">
                    <a:solidFill>
                      <a:srgbClr val="FFFFFF"/>
                    </a:solidFill>
                  </a:tcPr>
                </a:tc>
                <a:tc>
                  <a:txBody>
                    <a:bodyPr/>
                    <a:lstStyle/>
                    <a:p>
                      <a:r>
                        <a:rPr sz="1000" b="0">
                          <a:solidFill>
                            <a:srgbClr val="4B4B4B"/>
                          </a:solidFill>
                          <a:latin typeface="Arial"/>
                        </a:rPr>
                        <a:t>Business Project Services, BDO Unibank ESG</a:t>
                      </a:r>
                    </a:p>
                  </a:txBody>
                  <a:tcPr marL="73152" marR="73152" marT="36576" marB="36576">
                    <a:solidFill>
                      <a:srgbClr val="FFFFFF"/>
                    </a:solidFill>
                  </a:tcPr>
                </a:tc>
                <a:tc>
                  <a:txBody>
                    <a:bodyPr/>
                    <a:lstStyle/>
                    <a:p>
                      <a:r>
                        <a:rPr sz="1000" b="0">
                          <a:solidFill>
                            <a:srgbClr val="4B4B4B"/>
                          </a:solidFill>
                          <a:latin typeface="Arial"/>
                        </a:rPr>
                        <a:t>Traceability to the BRD; sign-off coordination</a:t>
                      </a:r>
                    </a:p>
                  </a:txBody>
                  <a:tcPr marL="73152" marR="73152" marT="36576" marB="36576">
                    <a:solidFill>
                      <a:srgbClr val="FFFFFF"/>
                    </a:solidFill>
                  </a:tcPr>
                </a:tc>
              </a:tr>
              <a:tr h="365760">
                <a:tc>
                  <a:txBody>
                    <a:bodyPr/>
                    <a:lstStyle/>
                    <a:p>
                      <a:r>
                        <a:rPr sz="1000" b="0">
                          <a:solidFill>
                            <a:srgbClr val="4B4B4B"/>
                          </a:solidFill>
                          <a:latin typeface="Arial"/>
                        </a:rPr>
                        <a:t>Delivery</a:t>
                      </a:r>
                    </a:p>
                  </a:txBody>
                  <a:tcPr marL="73152" marR="73152" marT="36576" marB="36576">
                    <a:solidFill>
                      <a:srgbClr val="E5F5FF"/>
                    </a:solidFill>
                  </a:tcPr>
                </a:tc>
                <a:tc>
                  <a:txBody>
                    <a:bodyPr/>
                    <a:lstStyle/>
                    <a:p>
                      <a:r>
                        <a:rPr sz="1000" b="0">
                          <a:solidFill>
                            <a:srgbClr val="4B4B4B"/>
                          </a:solidFill>
                          <a:latin typeface="Arial"/>
                        </a:rPr>
                        <a:t>iorta TechNXT Project Manager, Business Analysis, test lead</a:t>
                      </a:r>
                    </a:p>
                  </a:txBody>
                  <a:tcPr marL="73152" marR="73152" marT="36576" marB="36576">
                    <a:solidFill>
                      <a:srgbClr val="E5F5FF"/>
                    </a:solidFill>
                  </a:tcPr>
                </a:tc>
                <a:tc>
                  <a:txBody>
                    <a:bodyPr/>
                    <a:lstStyle/>
                    <a:p>
                      <a:r>
                        <a:rPr sz="1000" b="0">
                          <a:solidFill>
                            <a:srgbClr val="4B4B4B"/>
                          </a:solidFill>
                          <a:latin typeface="Arial"/>
                        </a:rPr>
                        <a:t>Sessions, answers, comments log, revisions, change requests</a:t>
                      </a:r>
                    </a:p>
                  </a:txBody>
                  <a:tcPr marL="73152" marR="73152" marT="36576" marB="36576">
                    <a:solidFill>
                      <a:srgbClr val="E5F5FF"/>
                    </a:solidFill>
                  </a:tcPr>
                </a:tc>
              </a:tr>
            </a:tbl>
          </a:graphicData>
        </a:graphic>
      </p:graphicFrame>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Next steps and the release order of the other BRD sets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20</a:t>
            </a:r>
          </a:p>
        </p:txBody>
      </p:sp>
      <p:sp>
        <p:nvSpPr>
          <p:cNvPr id="9" name="TextBox 8"/>
          <p:cNvSpPr txBox="1"/>
          <p:nvPr/>
        </p:nvSpPr>
        <p:spPr>
          <a:xfrm>
            <a:off x="548640" y="1371600"/>
            <a:ext cx="11094415" cy="4754880"/>
          </a:xfrm>
          <a:prstGeom prst="rect">
            <a:avLst/>
          </a:prstGeom>
          <a:noFill/>
        </p:spPr>
        <p:txBody>
          <a:bodyPr wrap="square">
            <a:spAutoFit/>
          </a:bodyPr>
          <a:lstStyle/>
          <a:p>
            <a:pPr>
              <a:spcAft>
                <a:spcPts val="600"/>
              </a:spcAft>
            </a:pPr>
            <a:r>
              <a:rPr sz="1600">
                <a:solidFill>
                  <a:srgbClr val="004EA8"/>
                </a:solidFill>
                <a:latin typeface="Arial"/>
              </a:rPr>
              <a:t>•  </a:t>
            </a:r>
            <a:r>
              <a:rPr sz="1600">
                <a:solidFill>
                  <a:srgbClr val="4B4B4B"/>
                </a:solidFill>
                <a:latin typeface="Arial"/>
              </a:rPr>
              <a:t>Kick-off and first SIT walkthrough on Wed 4-Nov-2026</a:t>
            </a:r>
          </a:p>
          <a:p>
            <a:pPr>
              <a:spcAft>
                <a:spcPts val="600"/>
              </a:spcAft>
            </a:pPr>
            <a:r>
              <a:rPr sz="1600">
                <a:solidFill>
                  <a:srgbClr val="004EA8"/>
                </a:solidFill>
                <a:latin typeface="Arial"/>
              </a:rPr>
              <a:t>•  </a:t>
            </a:r>
            <a:r>
              <a:rPr sz="1600">
                <a:solidFill>
                  <a:srgbClr val="4B4B4B"/>
                </a:solidFill>
                <a:latin typeface="Arial"/>
              </a:rPr>
              <a:t>Workbooks returned by Wed 18-Nov-2026; Q&amp;A on Mon 23-Nov-2026; sign-off on Mon 30-Nov-2026</a:t>
            </a:r>
          </a:p>
          <a:p>
            <a:pPr>
              <a:spcAft>
                <a:spcPts val="600"/>
              </a:spcAft>
            </a:pPr>
            <a:r>
              <a:rPr sz="1600">
                <a:solidFill>
                  <a:srgbClr val="004EA8"/>
                </a:solidFill>
                <a:latin typeface="Arial"/>
              </a:rPr>
              <a:t>•  </a:t>
            </a:r>
            <a:r>
              <a:rPr sz="1600">
                <a:solidFill>
                  <a:srgbClr val="4B4B4B"/>
                </a:solidFill>
                <a:latin typeface="Arial"/>
              </a:rPr>
              <a:t>Configuration input templates filled in for the data migration mocks; final at the map freeze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Sign-off Pack Guide BRD-3 Product Maintenance</dc:title>
  <dc:subject>BIBS – BDOI Broker System</dc:subject>
  <dc:creator>iorta TechNXT</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