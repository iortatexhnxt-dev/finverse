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BRD-3 Product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describes the system as built on the status date, not a design.</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FRS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3 sessions, 4 to 6-Nov-2026.</a:t>
            </a:r>
          </a:p>
          <a:p>
            <a:r>
              <a:t>3. Review with the workbook; configuration inputs started: 8 working days after the walkthroughs, until Wed 18-Nov-2026.</a:t>
            </a:r>
          </a:p>
          <a:p>
            <a:r>
              <a:t>4. Comments consolidated and a Q&amp;A session: 3 working days, Q&amp;A on Mon 23-Nov-2026.</a:t>
            </a:r>
          </a:p>
          <a:p>
            <a:r>
              <a:t>5. One revision cycle (v2.1): v2.1 on Wed 25-Nov-2026; check by the reviewers until Fri 27-Nov-2026.</a:t>
            </a:r>
          </a:p>
          <a:p>
            <a:r>
              <a:t>6. Sign-off meeting and signature: Mon 30-Nov-2026.</a:t>
            </a:r>
          </a:p>
          <a:p>
            <a:r>
              <a:t>7. Handover to development or build freeze; configuration and migration inputs: From Tue 1-Dec-2026; templates final at the map freeze.</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Product Maintenance is the source of the products, package versions and rate schemes that every selling and servicing BRD prices on. A later change in any of those BRDs that touches a line of this contract (a new product attribute, a different version rule, another rating purpose, a new incentive criterion basis) is raised as a change request against this signed set in the Change Management Register, assessed with its mandays and approved by the owners of both BRDs; the affected pages of this set are then re-issued and signed as a delta.</a:t>
            </a:r>
          </a:p>
          <a:p>
            <a:r>
              <a:t>IC-01 BRD-1 New Business (Out): Product lines, cover types and products (risk codes) with their flags (package, fleet, mortgage related, direct payment allowed, multi-year and maximum term, Free First Year), market segments, payment gate and TSU review setting</a:t>
            </a:r>
          </a:p>
          <a:p>
            <a:r>
              <a:t>IC-02 BRD-1 New Business (Out): The package version in force (rate scheme, minimum premium, commission, TSI limit, panel insurers with their own rates) for new business pricing; the version number is stored on the quotation, the account and the booked invoice</a:t>
            </a:r>
          </a:p>
          <a:p>
            <a:r>
              <a:t>IC-03 BRD-1 New Business (Out): Rate exceptions approved for one transaction (quotation number or ARN)</a:t>
            </a:r>
          </a:p>
          <a:p>
            <a:r>
              <a:t>IC-04 BRD-1 New Business (Out): Field rules and document rules per product (presence, list of values, number range, format), TSU routing rules and the package TSI limit</a:t>
            </a:r>
          </a:p>
          <a:p>
            <a:r>
              <a:t>IC-05 BRD-1 New Business (In): Clients of client-specific packages; the Document Templates screen that holds the package templates; the workflow, documents, e-mail and report platform</a:t>
            </a:r>
          </a:p>
          <a:p>
            <a:r>
              <a:t>IC-06 BRD-6 Renewal (Out): Package versions for renewal pricing (purpose Renewal) and the sellable check of a product at renewal</a:t>
            </a:r>
          </a:p>
          <a:p>
            <a:r>
              <a:t>IC-07 BRD-6 Renewal and BRD-13 Data Migration (Out): The BIBS package versions named as targets of the package map (legacy package and version to BIBS package version) that the data migration loads (object R06) and the Renewal sanitation check PACKAGE_REMAP reads</a:t>
            </a:r>
          </a:p>
          <a:p>
            <a:r>
              <a:t>IC-08 BRD-8 Employee Benefits (Out): EB product lines (HMO, group life, group personal accident), EB products and HMO providers as panel insurers with commission rates</a:t>
            </a:r>
          </a:p>
          <a:p>
            <a:r>
              <a:t>IC-09 BRD-12 Submitted Policies (Out): Products and the package TSI limit of a product</a:t>
            </a:r>
          </a:p>
          <a:p>
            <a:r>
              <a:t>IC-10 BRD-1 Booking and BRD-2 Operations (Out): Incentive criteria (for example CPC2) matched at booking; the package version of the account for endorsements and adjustments</a:t>
            </a:r>
          </a:p>
          <a:p>
            <a:r>
              <a:t>IC-11 BRD-5 Accounting (remittance and commission) (Out): Incentive criteria codes for commission incentive schemes and the CPC2 remittance incentive; insurer commission rates</a:t>
            </a:r>
          </a:p>
          <a:p>
            <a:r>
              <a:t>IC-12 BRD-11 User Access Maintenance (In): Users, roles and the role-to-action matrix of Product Maintenance; role-permission change requests</a:t>
            </a:r>
          </a:p>
          <a:p>
            <a:r>
              <a:t>IC-13 BRD-13 Data Migration (In): The go-live load of the product masters from the legacy systems (QPS, EBIX) - lists of values (R01), sales organisation (R03), insurers and branches (R04), product lines, cover types and products (R05), commission rates (R07) - through the catalog services under maker-checker; the package map (R06) as in IC-07</a:t>
            </a:r>
          </a:p>
          <a:p>
            <a:r>
              <a:t>IC-14 Other BDOI systems (product master feed) (Out): Released, expired and retired package versions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build is frozen.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Maintenance is already built: handover means the build is frozen as signed, the approved deltas are scheduled and the configuration inputs are loaded.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 The as-built refresh at the end of the build re-issues the set with the system as delivered.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Wed 4-Nov-2026</a:t>
            </a:r>
          </a:p>
          <a:p>
            <a:r>
              <a:t>Workbooks returned by Wed 18-Nov-2026; Q&amp;A on Mon 23-Nov-2026; sign-off on Mon 30-Nov-2026</a:t>
            </a:r>
          </a:p>
          <a:p>
            <a:r>
              <a:t>Configuration input templates filled in for the data migration mocks; final at the map freeze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Product Maintenance as built in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22 screens, 312 fields, 77 business rules, 261 messages, from the system as built</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00_BIBS_StartHere_BRD-03_Product_Maintenance_v2.0.docx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01_BIBS_GuideDeck_BRD-03_Product_Maintenance_v2.0.pptx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unit heads;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02_BIBS_FRS_BRD-03_Product_Maintenance_v2.0.docx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navigation, 22 screen specifications with screenshots, walkthroughs, messages, notifications, documents, uploads, configuration inputs, cross-BRD contract</a:t>
                      </a:r>
                    </a:p>
                  </a:txBody>
                  <a:tcPr marL="73152" marR="73152" marT="36576" marB="36576">
                    <a:solidFill>
                      <a:srgbClr val="FFFFFF"/>
                    </a:solidFill>
                  </a:tcPr>
                </a:tc>
                <a:tc>
                  <a:txBody>
                    <a:bodyPr/>
                    <a:lstStyle/>
                    <a:p>
                      <a:r>
                        <a:rPr sz="1000" b="0">
                          <a:solidFill>
                            <a:srgbClr val="4B4B4B"/>
                          </a:solidFill>
                          <a:latin typeface="Arial"/>
                        </a:rPr>
                        <a:t>MBS, TSU and Marketing for their screens; Finance and BDOI IT for their chapters</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03_BIBS_Signoff_BRD-03_Product_Maintenance_v2.0.xlsx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business owner signs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04_BIBS_TestPlan_BRD-03_Product_Maintenance_v2.0.xlsx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a:t>
                      </a:r>
                    </a:p>
                  </a:txBody>
                  <a:tcPr marL="73152" marR="73152" marT="36576" marB="36576">
                    <a:solidFill>
                      <a:srgbClr val="FFFFFF"/>
                    </a:solidFill>
                  </a:tcPr>
                </a:tc>
                <a:tc>
                  <a:txBody>
                    <a:bodyPr/>
                    <a:lstStyle/>
                    <a:p>
                      <a:r>
                        <a:rPr sz="1000" b="0">
                          <a:solidFill>
                            <a:srgbClr val="4B4B4B"/>
                          </a:solidFill>
                          <a:latin typeface="Arial"/>
                        </a:rPr>
                        <a:t>Business users who will run UAT;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r h="365760">
                <a:tc>
                  <a:txBody>
                    <a:bodyPr/>
                    <a:lstStyle/>
                    <a:p>
                      <a:r>
                        <a:rPr sz="1000" b="0">
                          <a:solidFill>
                            <a:srgbClr val="4B4B4B"/>
                          </a:solidFill>
                          <a:latin typeface="Arial"/>
                        </a:rPr>
                        <a:t>05_BIBS_TestPlan_BRD-03_Product_Maintenance_Summary_v2.0.docx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r h="365760">
                <a:tc>
                  <a:txBody>
                    <a:bodyPr/>
                    <a:lstStyle/>
                    <a:p>
                      <a:r>
                        <a:rPr sz="1000" b="0">
                          <a:solidFill>
                            <a:srgbClr val="4B4B4B"/>
                          </a:solidFill>
                          <a:latin typeface="Arial"/>
                        </a:rPr>
                        <a:t>06_BIBS_Templates_BRD-03_Configuration_Inputs_v2.0.xlsx</a:t>
                      </a:r>
                    </a:p>
                  </a:txBody>
                  <a:tcPr marL="73152" marR="73152" marT="36576" marB="36576">
                    <a:solidFill>
                      <a:srgbClr val="FFFFFF"/>
                    </a:solidFill>
                  </a:tcPr>
                </a:tc>
                <a:tc>
                  <a:txBody>
                    <a:bodyPr/>
                    <a:lstStyle/>
                    <a:p>
                      <a:r>
                        <a:rPr sz="1000" b="0">
                          <a:solidFill>
                            <a:srgbClr val="4B4B4B"/>
                          </a:solidFill>
                          <a:latin typeface="Arial"/>
                        </a:rPr>
                        <a:t>Configuration input templates: product catalogue, coverages and rules, clauses, rate tables, insurers, packages in force, package map, document templates, lists of values, incentive criteria</a:t>
                      </a:r>
                    </a:p>
                  </a:txBody>
                  <a:tcPr marL="73152" marR="73152" marT="36576" marB="36576">
                    <a:solidFill>
                      <a:srgbClr val="FFFFFF"/>
                    </a:solidFill>
                  </a:tcPr>
                </a:tc>
                <a:tc>
                  <a:txBody>
                    <a:bodyPr/>
                    <a:lstStyle/>
                    <a:p>
                      <a:r>
                        <a:rPr sz="1000" b="0">
                          <a:solidFill>
                            <a:srgbClr val="4B4B4B"/>
                          </a:solidFill>
                          <a:latin typeface="Arial"/>
                        </a:rPr>
                        <a:t>MBS, TSU, Operations, Comptrollership (who provide the content)</a:t>
                      </a:r>
                    </a:p>
                  </a:txBody>
                  <a:tcPr marL="73152" marR="73152" marT="36576" marB="36576">
                    <a:solidFill>
                      <a:srgbClr val="FFFFFF"/>
                    </a:solidFill>
                  </a:tcPr>
                </a:tc>
                <a:tc>
                  <a:txBody>
                    <a:bodyPr/>
                    <a:lstStyle/>
                    <a:p>
                      <a:r>
                        <a:rPr sz="1000" b="0">
                          <a:solidFill>
                            <a:srgbClr val="4B4B4B"/>
                          </a:solidFill>
                          <a:latin typeface="Arial"/>
                        </a:rPr>
                        <a:t>During the review; filled in for the data migration mocks and the map freeze</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10.4 (differences from the BRD), 14 (walkthroughs), 19 (configuration inputs) and 21 (sign-off); workbook Sign-off certificate</a:t>
                      </a:r>
                    </a:p>
                  </a:txBody>
                  <a:tcPr marL="73152" marR="73152" marT="36576" marB="36576">
                    <a:solidFill>
                      <a:srgbClr val="FFFFFF"/>
                    </a:solidFill>
                  </a:tcPr>
                </a:tc>
              </a:tr>
              <a:tr h="365760">
                <a:tc>
                  <a:txBody>
                    <a:bodyPr/>
                    <a:lstStyle/>
                    <a:p>
                      <a:r>
                        <a:rPr sz="1100" b="0">
                          <a:solidFill>
                            <a:srgbClr val="4B4B4B"/>
                          </a:solidFill>
                          <a:latin typeface="Arial"/>
                        </a:rPr>
                        <a:t>MBS (set-up, versions, masters, incentive criteria)</a:t>
                      </a:r>
                    </a:p>
                  </a:txBody>
                  <a:tcPr marL="73152" marR="73152" marT="36576" marB="36576">
                    <a:solidFill>
                      <a:srgbClr val="E5F5FF"/>
                    </a:solidFill>
                  </a:tcPr>
                </a:tc>
                <a:tc>
                  <a:txBody>
                    <a:bodyPr/>
                    <a:lstStyle/>
                    <a:p>
                      <a:r>
                        <a:rPr sz="1100" b="0">
                          <a:solidFill>
                            <a:srgbClr val="4B4B4B"/>
                          </a:solidFill>
                          <a:latin typeface="Arial"/>
                        </a:rPr>
                        <a:t>FRS chapter 12 (navigation); chapter 13 screens SCR-PM-08 and SCR-PM-11 to SCR-PM-20; walkthrough A steps 1-2 and 15-19; chapter 19 templates CI-01 to CI-06, CI-09 and CI-10;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TSU (requests, negotiation, requirements, advisories, expiry)</a:t>
                      </a:r>
                    </a:p>
                  </a:txBody>
                  <a:tcPr marL="73152" marR="73152" marT="36576" marB="36576">
                    <a:solidFill>
                      <a:srgbClr val="FFFFFF"/>
                    </a:solidFill>
                  </a:tcPr>
                </a:tc>
                <a:tc>
                  <a:txBody>
                    <a:bodyPr/>
                    <a:lstStyle/>
                    <a:p>
                      <a:r>
                        <a:rPr sz="1100" b="0">
                          <a:solidFill>
                            <a:srgbClr val="4B4B4B"/>
                          </a:solidFill>
                          <a:latin typeface="Arial"/>
                        </a:rPr>
                        <a:t>FRS chapter 13 screens SCR-PM-01 to SCR-PM-10; walkthroughs A (steps 5-14 and 20) and B; chapter 17 (documents); chapter 19 template CI-07 (package map); workbook rows of those screens</a:t>
                      </a:r>
                    </a:p>
                  </a:txBody>
                  <a:tcPr marL="73152" marR="73152" marT="36576" marB="36576">
                    <a:solidFill>
                      <a:srgbClr val="FFFFFF"/>
                    </a:solidFill>
                  </a:tcPr>
                </a:tc>
              </a:tr>
              <a:tr h="365760">
                <a:tc>
                  <a:txBody>
                    <a:bodyPr/>
                    <a:lstStyle/>
                    <a:p>
                      <a:r>
                        <a:rPr sz="1100" b="0">
                          <a:solidFill>
                            <a:srgbClr val="4B4B4B"/>
                          </a:solidFill>
                          <a:latin typeface="Arial"/>
                        </a:rPr>
                        <a:t>Marketing (requests, approval, client-specific terms, pricing)</a:t>
                      </a:r>
                    </a:p>
                  </a:txBody>
                  <a:tcPr marL="73152" marR="73152" marT="36576" marB="36576">
                    <a:solidFill>
                      <a:srgbClr val="E5F5FF"/>
                    </a:solidFill>
                  </a:tcPr>
                </a:tc>
                <a:tc>
                  <a:txBody>
                    <a:bodyPr/>
                    <a:lstStyle/>
                    <a:p>
                      <a:r>
                        <a:rPr sz="1100" b="0">
                          <a:solidFill>
                            <a:srgbClr val="4B4B4B"/>
                          </a:solidFill>
                          <a:latin typeface="Arial"/>
                        </a:rPr>
                        <a:t>FRS chapter 13 screens SCR-PM-02 to SCR-PM-04, SCR-PM-21 and SCR-PM-22; walkthrough A steps 3-4 and 21-24; chapter 20 lines IC-01 to IC-03</a:t>
                      </a:r>
                    </a:p>
                  </a:txBody>
                  <a:tcPr marL="73152" marR="73152" marT="36576" marB="36576">
                    <a:solidFill>
                      <a:srgbClr val="E5F5FF"/>
                    </a:solidFill>
                  </a:tcPr>
                </a:tc>
              </a:tr>
              <a:tr h="365760">
                <a:tc>
                  <a:txBody>
                    <a:bodyPr/>
                    <a:lstStyle/>
                    <a:p>
                      <a:r>
                        <a:rPr sz="1100" b="0">
                          <a:solidFill>
                            <a:srgbClr val="4B4B4B"/>
                          </a:solidFill>
                          <a:latin typeface="Arial"/>
                        </a:rPr>
                        <a:t>Finance (Comptrollership)</a:t>
                      </a:r>
                    </a:p>
                  </a:txBody>
                  <a:tcPr marL="73152" marR="73152" marT="36576" marB="36576">
                    <a:solidFill>
                      <a:srgbClr val="FFFFFF"/>
                    </a:solidFill>
                  </a:tcPr>
                </a:tc>
                <a:tc>
                  <a:txBody>
                    <a:bodyPr/>
                    <a:lstStyle/>
                    <a:p>
                      <a:r>
                        <a:rPr sz="1100" b="0">
                          <a:solidFill>
                            <a:srgbClr val="4B4B4B"/>
                          </a:solidFill>
                          <a:latin typeface="Arial"/>
                        </a:rPr>
                        <a:t>Rates &amp; Taxes (SCR-PM-19), Insurer record commission rates (SCR-PM-18), Incentive Criteria (SCR-PM-16); contract lines IC-10 and IC-11 (chapter 20); templates CI-04 and CI-10</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Interfaces and integration (chapter 7), non-functional requirements (chapter 8), menu by persona (chapter 12), cross-BRD contract (chapter 20); product master feed pending specifications (Guide deck, caveats)</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BRD-03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4 to 6-Nov-2026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Wed 18-Nov-2026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defect,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23-Nov-2026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25-Nov-2026;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Mon 30-Nov-2026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Handover to development or build freeze; configuration and migration inputs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Build frozen as signed; approved deltas scheduled in the Change Management Register; templates handed to the data migration mocks</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Tue 1-Dec-2026; templates final at the map freeze</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and messages;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 built from the system as built</a:t>
                      </a:r>
                    </a:p>
                  </a:txBody>
                  <a:tcPr marL="73152" marR="73152" marT="36576" marB="36576">
                    <a:solidFill>
                      <a:srgbClr val="FFFFFF"/>
                    </a:solidFill>
                  </a:tcPr>
                </a:tc>
                <a:tc>
                  <a:txBody>
                    <a:bodyPr/>
                    <a:lstStyle/>
                    <a:p>
                      <a:r>
                        <a:rPr sz="1000" b="0">
                          <a:solidFill>
                            <a:srgbClr val="4B4B4B"/>
                          </a:solidFill>
                          <a:latin typeface="Arial"/>
                        </a:rPr>
                        <a:t>Release set v2.0 in the BRD-03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MBS, TSU and Marketing heads; I: BDOI IT</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and B</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4 to 6-Nov-2026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users of MBS, TSU and Marketing; A: unit heads;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a:t>
                      </a:r>
                    </a:p>
                  </a:txBody>
                  <a:tcPr marL="73152" marR="73152" marT="36576" marB="36576">
                    <a:solidFill>
                      <a:srgbClr val="FFFFFF"/>
                    </a:solidFill>
                  </a:tcPr>
                </a:tc>
                <a:tc>
                  <a:txBody>
                    <a:bodyPr/>
                    <a:lstStyle/>
                    <a:p>
                      <a:r>
                        <a:rPr sz="1000" b="0">
                          <a:solidFill>
                            <a:srgbClr val="4B4B4B"/>
                          </a:solidFill>
                          <a:latin typeface="Arial"/>
                        </a:rPr>
                        <a:t>8 working days after the walkthroughs, until Wed 18-Nov-2026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defect,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23-Nov-2026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defects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25-Nov-2026;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MBS, TSU, Marketing, Finance,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Mon 30-Nov-2026</a:t>
                      </a:r>
                    </a:p>
                  </a:txBody>
                  <a:tcPr marL="73152" marR="73152" marT="36576" marB="36576">
                    <a:solidFill>
                      <a:srgbClr val="E5F5FF"/>
                    </a:solidFill>
                  </a:tcPr>
                </a:tc>
              </a:tr>
              <a:tr h="365760">
                <a:tc>
                  <a:txBody>
                    <a:bodyPr/>
                    <a:lstStyle/>
                    <a:p>
                      <a:r>
                        <a:rPr sz="1000" b="0">
                          <a:solidFill>
                            <a:srgbClr val="4B4B4B"/>
                          </a:solidFill>
                          <a:latin typeface="Arial"/>
                        </a:rPr>
                        <a:t>7. Handover to development or build freeze; configuration and migration inputs</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Build frozen as signed; approved deltas scheduled in the Change Management Register; templates handed to the data migration mocks</a:t>
                      </a:r>
                    </a:p>
                  </a:txBody>
                  <a:tcPr marL="73152" marR="73152" marT="36576" marB="36576">
                    <a:solidFill>
                      <a:srgbClr val="FFFFFF"/>
                    </a:solidFill>
                  </a:tcPr>
                </a:tc>
                <a:tc>
                  <a:txBody>
                    <a:bodyPr/>
                    <a:lstStyle/>
                    <a:p>
                      <a:r>
                        <a:rPr sz="1000" b="0">
                          <a:solidFill>
                            <a:srgbClr val="4B4B4B"/>
                          </a:solidFill>
                          <a:latin typeface="Arial"/>
                        </a:rPr>
                        <a:t>From Tue 1-Dec-2026; templates final at the map freeze</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and messages;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pic>
        <p:nvPicPr>
          <p:cNvPr id="9" name="Picture 8" descr="signoff-workbook-field-register.png"/>
          <p:cNvPicPr>
            <a:picLocks noChangeAspect="1"/>
          </p:cNvPicPr>
          <p:nvPr/>
        </p:nvPicPr>
        <p:blipFill>
          <a:blip r:embed="rId3"/>
          <a:stretch>
            <a:fillRect/>
          </a:stretch>
        </p:blipFill>
        <p:spPr>
          <a:xfrm>
            <a:off x="548640" y="1325880"/>
            <a:ext cx="7498078" cy="2306365"/>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pic>
        <p:nvPicPr>
          <p:cNvPr id="9" name="Picture 8" descr="brd03_process_flow.png"/>
          <p:cNvPicPr>
            <a:picLocks noChangeAspect="1"/>
          </p:cNvPicPr>
          <p:nvPr/>
        </p:nvPicPr>
        <p:blipFill>
          <a:blip r:embed="rId3"/>
          <a:stretch>
            <a:fillRect/>
          </a:stretch>
        </p:blipFill>
        <p:spPr>
          <a:xfrm>
            <a:off x="840072" y="1325880"/>
            <a:ext cx="1051155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BRD-3 process from the client to the booked invoice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438912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6</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TL / TH / UH</a:t>
                      </a:r>
                    </a:p>
                  </a:txBody>
                  <a:tcPr marL="73152" marR="73152" marT="36576" marB="36576">
                    <a:solidFill>
                      <a:srgbClr val="E5F5FF"/>
                    </a:solidFill>
                  </a:tcPr>
                </a:tc>
                <a:tc>
                  <a:txBody>
                    <a:bodyPr/>
                    <a:lstStyle/>
                    <a:p>
                      <a:r>
                        <a:rPr sz="1000" b="0">
                          <a:solidFill>
                            <a:srgbClr val="4B4B4B"/>
                          </a:solidFill>
                          <a:latin typeface="Arial"/>
                        </a:rPr>
                        <a:t>mkttl</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Officer</a:t>
                      </a:r>
                    </a:p>
                  </a:txBody>
                  <a:tcPr marL="73152" marR="73152" marT="36576" marB="36576">
                    <a:solidFill>
                      <a:srgbClr val="FFFFFF"/>
                    </a:solidFill>
                  </a:tcPr>
                </a:tc>
                <a:tc>
                  <a:txBody>
                    <a:bodyPr/>
                    <a:lstStyle/>
                    <a:p>
                      <a:r>
                        <a:rPr sz="1000" b="0">
                          <a:solidFill>
                            <a:srgbClr val="4B4B4B"/>
                          </a:solidFill>
                          <a:latin typeface="Arial"/>
                        </a:rPr>
                        <a:t>tsu</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TSU Team Lead</a:t>
                      </a:r>
                    </a:p>
                  </a:txBody>
                  <a:tcPr marL="73152" marR="73152" marT="36576" marB="36576">
                    <a:solidFill>
                      <a:srgbClr val="E5F5FF"/>
                    </a:solidFill>
                  </a:tcPr>
                </a:tc>
                <a:tc>
                  <a:txBody>
                    <a:bodyPr/>
                    <a:lstStyle/>
                    <a:p>
                      <a:r>
                        <a:rPr sz="1000" b="0">
                          <a:solidFill>
                            <a:srgbClr val="4B4B4B"/>
                          </a:solidFill>
                          <a:latin typeface="Arial"/>
                        </a:rPr>
                        <a:t>tsulead</a:t>
                      </a:r>
                    </a:p>
                  </a:txBody>
                  <a:tcPr marL="73152" marR="73152" marT="36576" marB="36576">
                    <a:solidFill>
                      <a:srgbClr val="E5F5FF"/>
                    </a:solidFill>
                  </a:tcPr>
                </a:tc>
                <a:tc>
                  <a:txBody>
                    <a:bodyPr/>
                    <a:lstStyle/>
                    <a:p>
                      <a:r>
                        <a:rPr sz="1000" b="0">
                          <a:solidFill>
                            <a:srgbClr val="4B4B4B"/>
                          </a:solidFill>
                          <a:latin typeface="Arial"/>
                        </a:rPr>
                        <a:t>7</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TSU Head</a:t>
                      </a:r>
                    </a:p>
                  </a:txBody>
                  <a:tcPr marL="73152" marR="73152" marT="36576" marB="36576">
                    <a:solidFill>
                      <a:srgbClr val="FFFFFF"/>
                    </a:solidFill>
                  </a:tcPr>
                </a:tc>
                <a:tc>
                  <a:txBody>
                    <a:bodyPr/>
                    <a:lstStyle/>
                    <a:p>
                      <a:r>
                        <a:rPr sz="1000" b="0">
                          <a:solidFill>
                            <a:srgbClr val="4B4B4B"/>
                          </a:solidFill>
                          <a:latin typeface="Arial"/>
                        </a:rPr>
                        <a:t>tsuhead</a:t>
                      </a:r>
                    </a:p>
                  </a:txBody>
                  <a:tcPr marL="73152" marR="73152" marT="36576" marB="36576">
                    <a:solidFill>
                      <a:srgbClr val="FFFFFF"/>
                    </a:solidFill>
                  </a:tcPr>
                </a:tc>
                <a:tc>
                  <a:txBody>
                    <a:bodyPr/>
                    <a:lstStyle/>
                    <a:p>
                      <a:r>
                        <a:rPr sz="1000" b="0">
                          <a:solidFill>
                            <a:srgbClr val="4B4B4B"/>
                          </a:solidFill>
                          <a:latin typeface="Arial"/>
                        </a:rPr>
                        <a:t>8</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Marketing Business Services</a:t>
                      </a:r>
                    </a:p>
                  </a:txBody>
                  <a:tcPr marL="73152" marR="73152" marT="36576" marB="36576">
                    <a:solidFill>
                      <a:srgbClr val="E5F5FF"/>
                    </a:solidFill>
                  </a:tcPr>
                </a:tc>
                <a:tc>
                  <a:txBody>
                    <a:bodyPr/>
                    <a:lstStyle/>
                    <a:p>
                      <a:r>
                        <a:rPr sz="1000" b="0">
                          <a:solidFill>
                            <a:srgbClr val="4B4B4B"/>
                          </a:solidFill>
                          <a:latin typeface="Arial"/>
                        </a:rPr>
                        <a:t>mbs</a:t>
                      </a:r>
                    </a:p>
                  </a:txBody>
                  <a:tcPr marL="73152" marR="73152" marT="36576" marB="36576">
                    <a:solidFill>
                      <a:srgbClr val="E5F5FF"/>
                    </a:solidFill>
                  </a:tcPr>
                </a:tc>
                <a:tc>
                  <a:txBody>
                    <a:bodyPr/>
                    <a:lstStyle/>
                    <a:p>
                      <a:r>
                        <a:rPr sz="1000" b="0">
                          <a:solidFill>
                            <a:srgbClr val="4B4B4B"/>
                          </a:solidFill>
                          <a:latin typeface="Arial"/>
                        </a:rPr>
                        <a:t>9</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ManCom member</a:t>
                      </a:r>
                    </a:p>
                  </a:txBody>
                  <a:tcPr marL="73152" marR="73152" marT="36576" marB="36576">
                    <a:solidFill>
                      <a:srgbClr val="FFFFFF"/>
                    </a:solidFill>
                  </a:tcPr>
                </a:tc>
                <a:tc>
                  <a:txBody>
                    <a:bodyPr/>
                    <a:lstStyle/>
                    <a:p>
                      <a:r>
                        <a:rPr sz="1000" b="0">
                          <a:solidFill>
                            <a:srgbClr val="4B4B4B"/>
                          </a:solidFill>
                          <a:latin typeface="Arial"/>
                        </a:rPr>
                        <a:t>mancom</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New Business Approver</a:t>
                      </a:r>
                    </a:p>
                  </a:txBody>
                  <a:tcPr marL="73152" marR="73152" marT="36576" marB="36576">
                    <a:solidFill>
                      <a:srgbClr val="FFFFFF"/>
                    </a:solidFill>
                  </a:tcPr>
                </a:tc>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9</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r h="365760">
                <a:tc>
                  <a:txBody>
                    <a:bodyPr/>
                    <a:lstStyle/>
                    <a:p>
                      <a:r>
                        <a:rPr sz="1000" b="0">
                          <a:solidFill>
                            <a:srgbClr val="4B4B4B"/>
                          </a:solidFill>
                          <a:latin typeface="Arial"/>
                        </a:rPr>
                        <a:t>System Administrator</a:t>
                      </a:r>
                    </a:p>
                  </a:txBody>
                  <a:tcPr marL="73152" marR="73152" marT="36576" marB="36576">
                    <a:solidFill>
                      <a:srgbClr val="E5F5FF"/>
                    </a:solidFill>
                  </a:tcPr>
                </a:tc>
                <a:tc>
                  <a:txBody>
                    <a:bodyPr/>
                    <a:lstStyle/>
                    <a:p>
                      <a:r>
                        <a:rPr sz="1000" b="0">
                          <a:solidFill>
                            <a:srgbClr val="4B4B4B"/>
                          </a:solidFill>
                          <a:latin typeface="Arial"/>
                        </a:rPr>
                        <a:t>admin</a:t>
                      </a:r>
                    </a:p>
                  </a:txBody>
                  <a:tcPr marL="73152" marR="73152" marT="36576" marB="36576">
                    <a:solidFill>
                      <a:srgbClr val="E5F5FF"/>
                    </a:solidFill>
                  </a:tcPr>
                </a:tc>
                <a:tc>
                  <a:txBody>
                    <a:bodyPr/>
                    <a:lstStyle/>
                    <a:p>
                      <a:r>
                        <a:rPr sz="1000" b="0">
                          <a:solidFill>
                            <a:srgbClr val="4B4B4B"/>
                          </a:solidFill>
                          <a:latin typeface="Arial"/>
                        </a:rPr>
                        <a:t>8</a:t>
                      </a:r>
                    </a:p>
                  </a:txBody>
                  <a:tcPr marL="73152" marR="73152" marT="36576" marB="36576">
                    <a:solidFill>
                      <a:srgbClr val="E5F5FF"/>
                    </a:solidFill>
                  </a:tcPr>
                </a:tc>
                <a:tc>
                  <a:txBody>
                    <a:bodyPr/>
                    <a:lstStyle/>
                    <a:p>
                      <a:r>
                        <a:rPr sz="1000" b="0">
                          <a:solidFill>
                            <a:srgbClr val="4B4B4B"/>
                          </a:solidFill>
                          <a:latin typeface="Arial"/>
                        </a:rPr>
                        <a:t>Product Maintenance</a:t>
                      </a:r>
                    </a:p>
                  </a:txBody>
                  <a:tcPr marL="73152" marR="73152" marT="36576" marB="36576">
                    <a:solidFill>
                      <a:srgbClr val="E5F5FF"/>
                    </a:solidFill>
                  </a:tcPr>
                </a:tc>
              </a:tr>
              <a:tr h="365760">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auditor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Product Maintenance</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pic>
        <p:nvPicPr>
          <p:cNvPr id="9" name="Picture 8" descr="scr-pm-01-01-view.png"/>
          <p:cNvPicPr>
            <a:picLocks noChangeAspect="1"/>
          </p:cNvPicPr>
          <p:nvPr/>
        </p:nvPicPr>
        <p:blipFill>
          <a:blip r:embed="rId3"/>
          <a:stretch>
            <a:fillRect/>
          </a:stretch>
        </p:blipFill>
        <p:spPr>
          <a:xfrm>
            <a:off x="1754047" y="1325880"/>
            <a:ext cx="2999232"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Product Maintenance Home</a:t>
            </a:r>
          </a:p>
        </p:txBody>
      </p:sp>
      <p:pic>
        <p:nvPicPr>
          <p:cNvPr id="11" name="Picture 10" descr="scr-pm-05-01-tab.png"/>
          <p:cNvPicPr>
            <a:picLocks noChangeAspect="1"/>
          </p:cNvPicPr>
          <p:nvPr/>
        </p:nvPicPr>
        <p:blipFill>
          <a:blip r:embed="rId4"/>
          <a:stretch>
            <a:fillRect/>
          </a:stretch>
        </p:blipFill>
        <p:spPr>
          <a:xfrm>
            <a:off x="7953384" y="1325880"/>
            <a:ext cx="1969292"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Negotiation with the insurers, round by round</a:t>
            </a:r>
          </a:p>
        </p:txBody>
      </p:sp>
      <p:pic>
        <p:nvPicPr>
          <p:cNvPr id="13" name="Picture 12" descr="scr-pm-13-01-draft.png"/>
          <p:cNvPicPr>
            <a:picLocks noChangeAspect="1"/>
          </p:cNvPicPr>
          <p:nvPr/>
        </p:nvPicPr>
        <p:blipFill>
          <a:blip r:embed="rId5"/>
          <a:stretch>
            <a:fillRect/>
          </a:stretch>
        </p:blipFill>
        <p:spPr>
          <a:xfrm>
            <a:off x="1982802" y="3566160"/>
            <a:ext cx="2541722"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Package version: rate scheme, coverages, panel insurers</a:t>
            </a:r>
          </a:p>
        </p:txBody>
      </p:sp>
      <p:pic>
        <p:nvPicPr>
          <p:cNvPr id="15" name="Picture 14" descr="wt-a-21.png"/>
          <p:cNvPicPr>
            <a:picLocks noChangeAspect="1"/>
          </p:cNvPicPr>
          <p:nvPr/>
        </p:nvPicPr>
        <p:blipFill>
          <a:blip r:embed="rId6"/>
          <a:stretch>
            <a:fillRect/>
          </a:stretch>
        </p:blipFill>
        <p:spPr>
          <a:xfrm>
            <a:off x="8123465" y="3566160"/>
            <a:ext cx="1629131"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New business priced on the released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 package request is approved by Marketing, recommended by the TSU Team Lead and approved by the TSU Head, never by its maker, and the TSU Head never approves his own recommendation.</a:t>
            </a:r>
          </a:p>
          <a:p>
            <a:pPr>
              <a:spcAft>
                <a:spcPts val="600"/>
              </a:spcAft>
            </a:pPr>
            <a:r>
              <a:rPr sz="1400">
                <a:solidFill>
                  <a:srgbClr val="004EA8"/>
                </a:solidFill>
                <a:latin typeface="Arial"/>
              </a:rPr>
              <a:t>•  </a:t>
            </a:r>
            <a:r>
              <a:rPr sz="1400">
                <a:solidFill>
                  <a:srgbClr val="4B4B4B"/>
                </a:solidFill>
                <a:latin typeface="Arial"/>
              </a:rPr>
              <a:t>A quotation slip is approved by a TSU Team Lead or a co-officer, never its preparer, and goes to each insurer by protected e-mail.</a:t>
            </a:r>
          </a:p>
          <a:p>
            <a:pPr>
              <a:spcAft>
                <a:spcPts val="600"/>
              </a:spcAft>
            </a:pPr>
            <a:r>
              <a:rPr sz="1400">
                <a:solidFill>
                  <a:srgbClr val="004EA8"/>
                </a:solidFill>
                <a:latin typeface="Arial"/>
              </a:rPr>
              <a:t>•  </a:t>
            </a:r>
            <a:r>
              <a:rPr sz="1400">
                <a:solidFill>
                  <a:srgbClr val="4B4B4B"/>
                </a:solidFill>
                <a:latin typeface="Arial"/>
              </a:rPr>
              <a:t>Terms are final only when every insurer of the latest round has an outcome; co-insurance shares total 100.</a:t>
            </a:r>
          </a:p>
          <a:p>
            <a:pPr>
              <a:spcAft>
                <a:spcPts val="600"/>
              </a:spcAft>
            </a:pPr>
            <a:r>
              <a:rPr sz="1400">
                <a:solidFill>
                  <a:srgbClr val="004EA8"/>
                </a:solidFill>
                <a:latin typeface="Arial"/>
              </a:rPr>
              <a:t>•  </a:t>
            </a:r>
            <a:r>
              <a:rPr sz="1400">
                <a:solidFill>
                  <a:srgbClr val="4B4B4B"/>
                </a:solidFill>
                <a:latin typeface="Arial"/>
              </a:rPr>
              <a:t>ManCom signs off a complete requirements pack with the signed package slip; the slips then lock.</a:t>
            </a:r>
          </a:p>
          <a:p>
            <a:pPr>
              <a:spcAft>
                <a:spcPts val="600"/>
              </a:spcAft>
            </a:pPr>
            <a:r>
              <a:rPr sz="1400">
                <a:solidFill>
                  <a:srgbClr val="004EA8"/>
                </a:solidFill>
                <a:latin typeface="Arial"/>
              </a:rPr>
              <a:t>•  </a:t>
            </a:r>
            <a:r>
              <a:rPr sz="1400">
                <a:solidFill>
                  <a:srgbClr val="4B4B4B"/>
                </a:solidFill>
                <a:latin typeface="Arial"/>
              </a:rPr>
              <a:t>A package version is validated by the TSU Head or the Business Administrator, never its maker or submitter, with a five-point checklist and a test premium.</a:t>
            </a:r>
          </a:p>
          <a:p>
            <a:pPr>
              <a:spcAft>
                <a:spcPts val="600"/>
              </a:spcAft>
            </a:pPr>
            <a:r>
              <a:rPr sz="1400">
                <a:solidFill>
                  <a:srgbClr val="004EA8"/>
                </a:solidFill>
                <a:latin typeface="Arial"/>
              </a:rPr>
              <a:t>•  </a:t>
            </a:r>
            <a:r>
              <a:rPr sz="1400">
                <a:solidFill>
                  <a:srgbClr val="4B4B4B"/>
                </a:solidFill>
                <a:latin typeface="Arial"/>
              </a:rPr>
              <a:t>New business is priced on the version in force on the transaction date; a different rate needs an approved rate exception.</a:t>
            </a:r>
          </a:p>
          <a:p>
            <a:pPr>
              <a:spcAft>
                <a:spcPts val="600"/>
              </a:spcAft>
            </a:pPr>
            <a:r>
              <a:rPr sz="1400">
                <a:solidFill>
                  <a:srgbClr val="004EA8"/>
                </a:solidFill>
                <a:latin typeface="Arial"/>
              </a:rPr>
              <a:t>•  </a:t>
            </a:r>
            <a:r>
              <a:rPr sz="1400">
                <a:solidFill>
                  <a:srgbClr val="4B4B4B"/>
                </a:solidFill>
                <a:latin typeface="Arial"/>
              </a:rPr>
              <a:t>Every product master is maker-checker and never deleted; expired and retired packages stay readable.</a:t>
            </a:r>
          </a:p>
          <a:p>
            <a:pPr>
              <a:spcAft>
                <a:spcPts val="600"/>
              </a:spcAft>
            </a:pPr>
            <a:r>
              <a:rPr sz="1400">
                <a:solidFill>
                  <a:srgbClr val="004EA8"/>
                </a:solidFill>
                <a:latin typeface="Arial"/>
              </a:rPr>
              <a:t>•  </a:t>
            </a:r>
            <a:r>
              <a:rPr sz="1400">
                <a:solidFill>
                  <a:srgbClr val="4B4B4B"/>
                </a:solidFill>
                <a:latin typeface="Arial"/>
              </a:rPr>
              <a:t>An advisory is sent only with the signed package slip and the ManCom sign-off attached.</a:t>
            </a:r>
          </a:p>
          <a:p>
            <a:pPr lvl="1">
              <a:spcAft>
                <a:spcPts val="600"/>
              </a:spcAft>
            </a:pPr>
            <a:r>
              <a:rPr sz="1200">
                <a:solidFill>
                  <a:srgbClr val="656565"/>
                </a:solidFill>
                <a:latin typeface="Arial"/>
              </a:rPr>
              <a:t>–  </a:t>
            </a:r>
            <a:r>
              <a:rPr sz="1200">
                <a:solidFill>
                  <a:srgbClr val="4B4B4B"/>
                </a:solidFill>
                <a:latin typeface="Arial"/>
              </a:rPr>
              <a:t>Full list: FRS chapter 13 per screen, 77 rules on the Business rules sheet and 261 messages in chapter 15 and on the Messages sheet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brd03_contract_map.png"/>
          <p:cNvPicPr>
            <a:picLocks noChangeAspect="1"/>
          </p:cNvPicPr>
          <p:nvPr/>
        </p:nvPicPr>
        <p:blipFill>
          <a:blip r:embed="rId3"/>
          <a:stretch>
            <a:fillRect/>
          </a:stretch>
        </p:blipFill>
        <p:spPr>
          <a:xfrm>
            <a:off x="1293652" y="1325880"/>
            <a:ext cx="9604390"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Product Maintenance takes from and hands to the other BRDs and systems (FRS chapter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Product Maintenance</a:t>
                      </a:r>
                    </a:p>
                  </a:txBody>
                  <a:tcPr marL="73152" marR="73152" marT="36576" marB="36576">
                    <a:solidFill>
                      <a:srgbClr val="E5F5FF"/>
                    </a:solidFill>
                  </a:tcPr>
                </a:tc>
                <a:tc>
                  <a:txBody>
                    <a:bodyPr/>
                    <a:lstStyle/>
                    <a:p>
                      <a:r>
                        <a:rPr sz="1000" b="0">
                          <a:solidFill>
                            <a:srgbClr val="4B4B4B"/>
                          </a:solidFill>
                          <a:latin typeface="Arial"/>
                        </a:rPr>
                        <a:t>New Business, Renewal, Employee Benefits, Submitted Policies, Operations, Accounting and Data Migration read the products and package versions.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when it touches this set, a delta sign-off of the affected pages only.</a:t>
                      </a:r>
                    </a:p>
                  </a:txBody>
                  <a:tcPr marL="73152" marR="73152" marT="36576" marB="36576">
                    <a:solidFill>
                      <a:srgbClr val="E5F5FF"/>
                    </a:solidFill>
                  </a:tcPr>
                </a:tc>
              </a:tr>
              <a:tr h="365760">
                <a:tc>
                  <a:txBody>
                    <a:bodyPr/>
                    <a:lstStyle/>
                    <a:p>
                      <a:r>
                        <a:rPr sz="1000" b="0">
                          <a:solidFill>
                            <a:srgbClr val="4B4B4B"/>
                          </a:solidFill>
                          <a:latin typeface="Arial"/>
                        </a:rPr>
                        <a:t>Designed but not yet built</a:t>
                      </a:r>
                    </a:p>
                  </a:txBody>
                  <a:tcPr marL="73152" marR="73152" marT="36576" marB="36576">
                    <a:solidFill>
                      <a:srgbClr val="FFFFFF"/>
                    </a:solidFill>
                  </a:tcPr>
                </a:tc>
                <a:tc>
                  <a:txBody>
                    <a:bodyPr/>
                    <a:lstStyle/>
                    <a:p>
                      <a:r>
                        <a:rPr sz="1000" b="0">
                          <a:solidFill>
                            <a:srgbClr val="4B4B4B"/>
                          </a:solidFill>
                          <a:latin typeface="Arial"/>
                        </a:rPr>
                        <a:t>The package map (data migration object R06) and the Renewal sanitation check PACKAGE_REMAP are designed in the Data Migration and Renewal sets and not in the build of this set.</a:t>
                      </a:r>
                    </a:p>
                  </a:txBody>
                  <a:tcPr marL="73152" marR="73152" marT="36576" marB="36576">
                    <a:solidFill>
                      <a:srgbClr val="FFFFFF"/>
                    </a:solidFill>
                  </a:tcPr>
                </a:tc>
                <a:tc>
                  <a:txBody>
                    <a:bodyPr/>
                    <a:lstStyle/>
                    <a:p>
                      <a:r>
                        <a:rPr sz="1000" b="0">
                          <a:solidFill>
                            <a:srgbClr val="4B4B4B"/>
                          </a:solidFill>
                          <a:latin typeface="Arial"/>
                        </a:rPr>
                        <a:t>Product Maintenance provides the package versions the map names; the map is signed with the Data Migration and Renewal sets.</a:t>
                      </a:r>
                    </a:p>
                  </a:txBody>
                  <a:tcPr marL="73152" marR="73152" marT="36576" marB="36576">
                    <a:solidFill>
                      <a:srgbClr val="FFFFFF"/>
                    </a:solidFill>
                  </a:tcPr>
                </a:tc>
              </a:tr>
              <a:tr h="365760">
                <a:tc>
                  <a:txBody>
                    <a:bodyPr/>
                    <a:lstStyle/>
                    <a:p>
                      <a:r>
                        <a:rPr sz="1000" b="0">
                          <a:solidFill>
                            <a:srgbClr val="4B4B4B"/>
                          </a:solidFill>
                          <a:latin typeface="Arial"/>
                        </a:rPr>
                        <a:t>Integrations pending BDOI IT specifications</a:t>
                      </a:r>
                    </a:p>
                  </a:txBody>
                  <a:tcPr marL="73152" marR="73152" marT="36576" marB="36576">
                    <a:solidFill>
                      <a:srgbClr val="E5F5FF"/>
                    </a:solidFill>
                  </a:tcPr>
                </a:tc>
                <a:tc>
                  <a:txBody>
                    <a:bodyPr/>
                    <a:lstStyle/>
                    <a:p>
                      <a:r>
                        <a:rPr sz="1000" b="0">
                          <a:solidFill>
                            <a:srgbClr val="4B4B4B"/>
                          </a:solidFill>
                          <a:latin typeface="Arial"/>
                        </a:rPr>
                        <a:t>The product master feed to other BDOI systems waits for their specification (PQ16).</a:t>
                      </a:r>
                    </a:p>
                  </a:txBody>
                  <a:tcPr marL="73152" marR="73152" marT="36576" marB="36576">
                    <a:solidFill>
                      <a:srgbClr val="E5F5FF"/>
                    </a:solidFill>
                  </a:tcPr>
                </a:tc>
                <a:tc>
                  <a:txBody>
                    <a:bodyPr/>
                    <a:lstStyle/>
                    <a:p>
                      <a:r>
                        <a:rPr sz="1000" b="0">
                          <a:solidFill>
                            <a:srgbClr val="4B4B4B"/>
                          </a:solidFill>
                          <a:latin typeface="Arial"/>
                        </a:rPr>
                        <a:t>Built as a port that records each change; the transport is a change request once the specification arrives.</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(product matrix, approval chain, ManCom quorum, validator role, CPC2) are built on the assumptions of section 10.1.</a:t>
                      </a:r>
                    </a:p>
                  </a:txBody>
                  <a:tcPr marL="73152" marR="73152" marT="36576" marB="36576">
                    <a:solidFill>
                      <a:srgbClr val="FFFFFF"/>
                    </a:solidFill>
                  </a:tcPr>
                </a:tc>
                <a:tc>
                  <a:txBody>
                    <a:bodyPr/>
                    <a:lstStyle/>
                    <a:p>
                      <a:r>
                        <a:rPr sz="1000" b="0">
                          <a:solidFill>
                            <a:srgbClr val="4B4B4B"/>
                          </a:solidFill>
                          <a:latin typeface="Arial"/>
                        </a:rPr>
                        <a:t>Answered as configuration where possible (lists, parameters, templates, the product matrix itself);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reviewer asks for a two-level ManCom approval: a new stage, so a change request; asking which documents the advisory checks is a clarification.</a:t>
                      </a:r>
                    </a:p>
                  </a:txBody>
                  <a:tcPr marL="73152" marR="73152" marT="36576" marB="36576">
                    <a:solidFill>
                      <a:srgbClr val="FFFFFF"/>
                    </a:solidFill>
                  </a:tcPr>
                </a:tc>
              </a:tr>
              <a:tr h="365760">
                <a:tc>
                  <a:txBody>
                    <a:bodyPr/>
                    <a:lstStyle/>
                    <a:p>
                      <a:r>
                        <a:rPr sz="1100" b="0">
                          <a:solidFill>
                            <a:srgbClr val="4B4B4B"/>
                          </a:solidFill>
                          <a:latin typeface="Arial"/>
                        </a:rPr>
                        <a:t>Other BRDs change Product Maintenance</a:t>
                      </a:r>
                    </a:p>
                  </a:txBody>
                  <a:tcPr marL="73152" marR="73152" marT="36576" marB="36576">
                    <a:solidFill>
                      <a:srgbClr val="E5F5FF"/>
                    </a:solidFill>
                  </a:tcPr>
                </a:tc>
                <a:tc>
                  <a:txBody>
                    <a:bodyPr/>
                    <a:lstStyle/>
                    <a:p>
                      <a:r>
                        <a:rPr sz="1100" b="0">
                          <a:solidFill>
                            <a:srgbClr val="4B4B4B"/>
                          </a:solidFill>
                          <a:latin typeface="Arial"/>
                        </a:rPr>
                        <a:t>Renewal asks to renew accounts of an expired package on a new version: the rating purpose changes; the version pages are re-issued and signed as a delta.</a:t>
                      </a:r>
                    </a:p>
                  </a:txBody>
                  <a:tcPr marL="73152" marR="73152" marT="36576" marB="36576">
                    <a:solidFill>
                      <a:srgbClr val="E5F5FF"/>
                    </a:solidFill>
                  </a:tcPr>
                </a:tc>
              </a:tr>
              <a:tr h="365760">
                <a:tc>
                  <a:txBody>
                    <a:bodyPr/>
                    <a:lstStyle/>
                    <a:p>
                      <a:r>
                        <a:rPr sz="1100" b="0">
                          <a:solidFill>
                            <a:srgbClr val="4B4B4B"/>
                          </a:solidFill>
                          <a:latin typeface="Arial"/>
                        </a:rPr>
                        <a:t>Designed but not yet built</a:t>
                      </a:r>
                    </a:p>
                  </a:txBody>
                  <a:tcPr marL="73152" marR="73152" marT="36576" marB="36576">
                    <a:solidFill>
                      <a:srgbClr val="FFFFFF"/>
                    </a:solidFill>
                  </a:tcPr>
                </a:tc>
                <a:tc>
                  <a:txBody>
                    <a:bodyPr/>
                    <a:lstStyle/>
                    <a:p>
                      <a:r>
                        <a:rPr sz="1100" b="0">
                          <a:solidFill>
                            <a:srgbClr val="4B4B4B"/>
                          </a:solidFill>
                          <a:latin typeface="Arial"/>
                        </a:rPr>
                        <a:t>The template CI-07 of this set is the layout TSU prepares; it is loaded when the migration loaders are built.</a:t>
                      </a:r>
                    </a:p>
                  </a:txBody>
                  <a:tcPr marL="73152" marR="73152" marT="36576" marB="36576">
                    <a:solidFill>
                      <a:srgbClr val="FFFFFF"/>
                    </a:solidFill>
                  </a:tcPr>
                </a:tc>
              </a:tr>
              <a:tr h="365760">
                <a:tc>
                  <a:txBody>
                    <a:bodyPr/>
                    <a:lstStyle/>
                    <a:p>
                      <a:r>
                        <a:rPr sz="1100" b="0">
                          <a:solidFill>
                            <a:srgbClr val="4B4B4B"/>
                          </a:solidFill>
                          <a:latin typeface="Arial"/>
                        </a:rPr>
                        <a:t>Integrations pending BDOI IT specifications</a:t>
                      </a:r>
                    </a:p>
                  </a:txBody>
                  <a:tcPr marL="73152" marR="73152" marT="36576" marB="36576">
                    <a:solidFill>
                      <a:srgbClr val="E5F5FF"/>
                    </a:solidFill>
                  </a:tcPr>
                </a:tc>
                <a:tc>
                  <a:txBody>
                    <a:bodyPr/>
                    <a:lstStyle/>
                    <a:p>
                      <a:r>
                        <a:rPr sz="1100" b="0">
                          <a:solidFill>
                            <a:srgbClr val="4B4B4B"/>
                          </a:solidFill>
                          <a:latin typeface="Arial"/>
                        </a:rPr>
                        <a:t>When BDOI names the receiving system, an adapter sends each released version; the screens do not change.</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The service level hours of each stage are parameters: a changed answer to PQ08 is a configuration change, not a build.</a:t>
                      </a:r>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The set is built from the system as built and every screenshot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the business owner and by Finance and BDOI IT for their parts.</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Build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Configuration input templates owned and scheduled for the data migration mocks.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Handover to development: build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product catalogue, coverages and rules, clauses, rate tables, insurers, packages in force, package map, document templates, lists of values, incentive criteria</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Migration mapping of the product objects (R01, R03-R07) signed with BRD-13</a:t>
            </a:r>
          </a:p>
          <a:p>
            <a:pPr lvl="1">
              <a:spcAft>
                <a:spcPts val="600"/>
              </a:spcAft>
            </a:pPr>
            <a:r>
              <a:rPr sz="1400">
                <a:solidFill>
                  <a:srgbClr val="656565"/>
                </a:solidFill>
                <a:latin typeface="Arial"/>
              </a:rPr>
              <a:t>–  </a:t>
            </a:r>
            <a:r>
              <a:rPr sz="1400">
                <a:solidFill>
                  <a:srgbClr val="4B4B4B"/>
                </a:solidFill>
                <a:latin typeface="Arial"/>
              </a:rPr>
              <a:t>Product Maintenance is already built: handover means the build is frozen as signed, the approved deltas are scheduled and the configuration inputs are loaded.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Set-up owner</a:t>
                      </a:r>
                    </a:p>
                  </a:txBody>
                  <a:tcPr marL="73152" marR="73152" marT="36576" marB="36576">
                    <a:solidFill>
                      <a:srgbClr val="E5F5FF"/>
                    </a:solidFill>
                  </a:tcPr>
                </a:tc>
                <a:tc>
                  <a:txBody>
                    <a:bodyPr/>
                    <a:lstStyle/>
                    <a:p>
                      <a:r>
                        <a:rPr sz="1000" b="0">
                          <a:solidFill>
                            <a:srgbClr val="4B4B4B"/>
                          </a:solidFill>
                          <a:latin typeface="Arial"/>
                        </a:rPr>
                        <a:t>Head, Marketing Business Services and System Support</a:t>
                      </a:r>
                    </a:p>
                  </a:txBody>
                  <a:tcPr marL="73152" marR="73152" marT="36576" marB="36576">
                    <a:solidFill>
                      <a:srgbClr val="E5F5FF"/>
                    </a:solidFill>
                  </a:tcPr>
                </a:tc>
                <a:tc>
                  <a:txBody>
                    <a:bodyPr/>
                    <a:lstStyle/>
                    <a:p>
                      <a:r>
                        <a:rPr sz="1000" b="0">
                          <a:solidFill>
                            <a:srgbClr val="4B4B4B"/>
                          </a:solidFill>
                          <a:latin typeface="Arial"/>
                        </a:rPr>
                        <a:t>Coordinates the MBS review and the configuration inputs; first signatory</a:t>
                      </a:r>
                    </a:p>
                  </a:txBody>
                  <a:tcPr marL="73152" marR="73152" marT="36576" marB="36576">
                    <a:solidFill>
                      <a:srgbClr val="E5F5FF"/>
                    </a:solidFill>
                  </a:tcPr>
                </a:tc>
              </a:tr>
              <a:tr h="365760">
                <a:tc>
                  <a:txBody>
                    <a:bodyPr/>
                    <a:lstStyle/>
                    <a:p>
                      <a:r>
                        <a:rPr sz="1000" b="0">
                          <a:solidFill>
                            <a:srgbClr val="4B4B4B"/>
                          </a:solidFill>
                          <a:latin typeface="Arial"/>
                        </a:rPr>
                        <a:t>Reviewers</a:t>
                      </a:r>
                    </a:p>
                  </a:txBody>
                  <a:tcPr marL="73152" marR="73152" marT="36576" marB="36576">
                    <a:solidFill>
                      <a:srgbClr val="FFFFFF"/>
                    </a:solidFill>
                  </a:tcPr>
                </a:tc>
                <a:tc>
                  <a:txBody>
                    <a:bodyPr/>
                    <a:lstStyle/>
                    <a:p>
                      <a:r>
                        <a:rPr sz="1000" b="0">
                          <a:solidFill>
                            <a:srgbClr val="4B4B4B"/>
                          </a:solidFill>
                          <a:latin typeface="Arial"/>
                        </a:rPr>
                        <a:t>TSU, Marketing, MBS</a:t>
                      </a:r>
                    </a:p>
                  </a:txBody>
                  <a:tcPr marL="73152" marR="73152" marT="36576" marB="36576">
                    <a:solidFill>
                      <a:srgbClr val="FFFFFF"/>
                    </a:solidFill>
                  </a:tcPr>
                </a:tc>
                <a:tc>
                  <a:txBody>
                    <a:bodyPr/>
                    <a:lstStyle/>
                    <a:p>
                      <a:r>
                        <a:rPr sz="1000" b="0">
                          <a:solidFill>
                            <a:srgbClr val="4B4B4B"/>
                          </a:solidFill>
                          <a:latin typeface="Arial"/>
                        </a:rPr>
                        <a:t>Review their screens and rows; raise comments; provide the templates they own</a:t>
                      </a:r>
                    </a:p>
                  </a:txBody>
                  <a:tcPr marL="73152" marR="73152" marT="36576" marB="36576">
                    <a:solidFill>
                      <a:srgbClr val="FFFFFF"/>
                    </a:solidFill>
                  </a:tcPr>
                </a:tc>
              </a:tr>
              <a:tr h="365760">
                <a:tc>
                  <a:txBody>
                    <a:bodyPr/>
                    <a:lstStyle/>
                    <a:p>
                      <a:r>
                        <a:rPr sz="1000" b="0">
                          <a:solidFill>
                            <a:srgbClr val="4B4B4B"/>
                          </a:solidFill>
                          <a:latin typeface="Arial"/>
                        </a:rPr>
                        <a:t>Finance and BDOI IT</a:t>
                      </a:r>
                    </a:p>
                  </a:txBody>
                  <a:tcPr marL="73152" marR="73152" marT="36576" marB="36576">
                    <a:solidFill>
                      <a:srgbClr val="E5F5FF"/>
                    </a:solidFill>
                  </a:tcPr>
                </a:tc>
                <a:tc>
                  <a:txBody>
                    <a:bodyPr/>
                    <a:lstStyle/>
                    <a:p>
                      <a:r>
                        <a:rPr sz="1000" b="0">
                          <a:solidFill>
                            <a:srgbClr val="4B4B4B"/>
                          </a:solidFill>
                          <a:latin typeface="Arial"/>
                        </a:rPr>
                        <a:t>Comptrollership, BDOI IT</a:t>
                      </a:r>
                    </a:p>
                  </a:txBody>
                  <a:tcPr marL="73152" marR="73152" marT="36576" marB="36576">
                    <a:solidFill>
                      <a:srgbClr val="E5F5FF"/>
                    </a:solidFill>
                  </a:tcPr>
                </a:tc>
                <a:tc>
                  <a:txBody>
                    <a:bodyPr/>
                    <a:lstStyle/>
                    <a:p>
                      <a:r>
                        <a:rPr sz="1000" b="0">
                          <a:solidFill>
                            <a:srgbClr val="4B4B4B"/>
                          </a:solidFill>
                          <a:latin typeface="Arial"/>
                        </a:rPr>
                        <a:t>Review and sign their parts (rates, commission, incentives; interfaces and access)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Traceability to the BRD;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Wed 4-Nov-2026</a:t>
            </a:r>
          </a:p>
          <a:p>
            <a:pPr>
              <a:spcAft>
                <a:spcPts val="600"/>
              </a:spcAft>
            </a:pPr>
            <a:r>
              <a:rPr sz="1600">
                <a:solidFill>
                  <a:srgbClr val="004EA8"/>
                </a:solidFill>
                <a:latin typeface="Arial"/>
              </a:rPr>
              <a:t>•  </a:t>
            </a:r>
            <a:r>
              <a:rPr sz="1600">
                <a:solidFill>
                  <a:srgbClr val="4B4B4B"/>
                </a:solidFill>
                <a:latin typeface="Arial"/>
              </a:rPr>
              <a:t>Workbooks returned by Wed 18-Nov-2026; Q&amp;A on Mon 23-Nov-2026; sign-off on Mon 30-Nov-2026</a:t>
            </a:r>
          </a:p>
          <a:p>
            <a:pPr>
              <a:spcAft>
                <a:spcPts val="600"/>
              </a:spcAft>
            </a:pPr>
            <a:r>
              <a:rPr sz="1600">
                <a:solidFill>
                  <a:srgbClr val="004EA8"/>
                </a:solidFill>
                <a:latin typeface="Arial"/>
              </a:rPr>
              <a:t>•  </a:t>
            </a:r>
            <a:r>
              <a:rPr sz="1600">
                <a:solidFill>
                  <a:srgbClr val="4B4B4B"/>
                </a:solidFill>
                <a:latin typeface="Arial"/>
              </a:rPr>
              <a:t>Configuration input templates filled in for the data migration mocks; final at the map freeze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