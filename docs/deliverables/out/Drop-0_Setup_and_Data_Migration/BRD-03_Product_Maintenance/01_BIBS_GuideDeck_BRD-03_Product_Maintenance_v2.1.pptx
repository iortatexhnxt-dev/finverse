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guides the business units through the BRD-3 Product Maintenance sign-off pack, release set v2.1. It explains what the pack is, how to read it, the steps up to sign-off and what happens after. It is presented at the kick-off and stays in the pack as file 01.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pack shows the screens, fields, rules and messages the business is asked to confirm.</a:t>
            </a:r>
          </a:p>
          <a:p>
            <a:r>
              <a:t>Signing means: this is what we get; the look, feel, fields, rules, messages and navigation are frozen.</a:t>
            </a:r>
          </a:p>
          <a:p>
            <a:r>
              <a:t>Data on the screenshots is seed data of the SIT environment; names and numbers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files are numbered in reading order so they sort that way in the BRD folder. 00 Start Here is the short version of this deck; 02 FRS and 03 workbook carry the same rows; 04 and 05 are the test plan traced to the screens; 07 to 09 are the UX screen documents for the BDOI UX Design team, taken from the same screens.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needs to read the whole FRS. Each role starts with its chapters and its sheets of the workbook; the walkthroughs in chapter 14 are the fastest way to see the whole process.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Pack issued: Day 0 (Mon 2-Nov-2026).</a:t>
            </a:r>
          </a:p>
          <a:p>
            <a:r>
              <a:t>2. Kick-off and screen walkthrough on SIT: 3 sessions, 4 to 6-Nov-2026.</a:t>
            </a:r>
          </a:p>
          <a:p>
            <a:r>
              <a:t>3. Review with the workbook; configuration inputs started: 8 working days after the walkthroughs, until Wed 18-Nov-2026.</a:t>
            </a:r>
          </a:p>
          <a:p>
            <a:r>
              <a:t>4. Comments consolidated and a Q&amp;A session: 3 working days, Q&amp;A on Mon 23-Nov-2026.</a:t>
            </a:r>
          </a:p>
          <a:p>
            <a:r>
              <a:t>5. One revision cycle (v2.2): v2.2 on Wed 25-Nov-2026; check by the reviewers until Fri 27-Nov-2026.</a:t>
            </a:r>
          </a:p>
          <a:p>
            <a:r>
              <a:t>6. Sign-off meeting and signature: Mon 30-Nov-2026.</a:t>
            </a:r>
          </a:p>
          <a:p>
            <a:r>
              <a:t>7. Content freeze; configuration and migration inputs: From Tue 1-Dec-2026; templates final at the map freeze.</a:t>
            </a:r>
          </a:p>
          <a:p>
            <a:r>
              <a:t>8. Traceability into SIT and UAT: SIT Apr - Jul 2027; UAT Aug - Oct 2027.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 responsible, A accountable, C consulted, I informed. The durations are indicative; the dates are those of the Start Here guide.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(BRD-3 approval sheets: main BRD p.34-35; Workshop Addendum p.8-9).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 holds business content only: screens, fields, rules, messages, notifications, documents, walkthroughs and reports. Business users sign the business content; BDOI IT reviews the interfaces, the user access and the Technical Specification, a separate document that holds the technical content; the Program Manager of Business Project Services reviews the traceability and the completeness; the Product Owner approves the whole set; iorta TechNXT prepares it.</a:t>
            </a:r>
          </a:p>
          <a:p>
            <a:r>
              <a:t>The roles are those of the BRD approval sheet (BRD-3 approval sheets: main BRD p.34-35; Workshop Addendum p.8-9).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iorta TechNXT project team: Project Manager, Business Analysis, test lead: Added for this set (author of the FRS set).</a:t>
            </a:r>
          </a:p>
          <a:p>
            <a:r>
              <a:t>Business Analyst, Enterprise Services Group - Business Project Services (BPS): Prepared by (p.34, p.8).</a:t>
            </a:r>
          </a:p>
          <a:p>
            <a:r>
              <a:t>Technical Support Unit (TSU), BU representatives: Input provided by (p.34, p.8).</a:t>
            </a:r>
          </a:p>
          <a:p>
            <a:r>
              <a:t>Marketing Business System (MBS), BU representatives: Input provided by and Reviewed by (p.34, p.8).</a:t>
            </a:r>
          </a:p>
          <a:p>
            <a:r>
              <a:t>Program Manager, Enterprise Services Group - Business Project Services (BPS): Reviewed by (p.34, p.9).</a:t>
            </a:r>
          </a:p>
          <a:p>
            <a:r>
              <a:t>BDOI Information Technology Group (BDOI IT): Added for this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certificate sheet of the workbook lists the same signatories in the same order: prepared by, input provided by, reviewed by, approved by, as on the BRD approval sheet. A role the set adds to the approval sheet is marked there.</a:t>
            </a:r>
          </a:p>
          <a:p>
            <a:r>
              <a:t>Product Owner, Marketing Business System: Approved by (p.34, p.9).</a:t>
            </a:r>
          </a:p>
          <a:p>
            <a:r>
              <a:t>Unit Head - Claims, Analytics, Risk Management, Reinsurance and Technical Underwriting: Approved by (p.35, p.9).</a:t>
            </a:r>
          </a:p>
          <a:p>
            <a:r>
              <a:t>Unit Head - Combank and Corbank: Approved by (p.35, p.9).</a:t>
            </a:r>
          </a:p>
          <a:p>
            <a:r>
              <a:t>Head - Retail Marketing: Approved by (p.35, p.9).</a:t>
            </a:r>
          </a:p>
          <a:p>
            <a:r>
              <a:t>Head - Corporate and Retail Marketing: Approved by (p.35).</a:t>
            </a:r>
          </a:p>
          <a:p>
            <a:r>
              <a:t>Head - Comptrollership: Approved by (p.35; marked not required on the addendum, p.9).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 column is the numbered marker on the screenshot of the FRS, or the column number of a load template. The drop-down columns accept only the listed values. The Comments log, Meeting minutes and Version history sheets are kept by the project team; the Sign-off certificate is signed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 runs from client onboarding and KYC, through the quotation or the PRF, the account, payment and placement, issuance and booking, to the hand-off to Operations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persona sees only the menu entries of its role; the full menu of each persona is in FRS chapter 12 and on the Menu by persona sheet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SIT environment with seed data; every screen of the module is in FRS chapter 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rules the business units ask about most. Each rule is stated with its FR on the screen where it applies.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part of the signed set. Product Maintenance is the source of the products, package versions and rate schemes that every selling and servicing BRD prices on. A later change in any of those BRDs that touches a line of this contract (a new product attribute, a different version rule, another rating purpose, a new incentive criterion basis) is raised as a change request against this signed set in the Change Management Register, assessed with its mandays and approved by the owners of both BRDs; the affected pages of this set are then re-issued and signed as a delta.</a:t>
            </a:r>
          </a:p>
          <a:p>
            <a:r>
              <a:t>IC-01 BRD-1 New Business (Out): Product lines, cover types and products (risk codes) with their flags (package, fleet, mortgage related, direct payment allowed, multi-year and maximum term, Free First Year), market segments, payment gate and TSU review setting</a:t>
            </a:r>
          </a:p>
          <a:p>
            <a:r>
              <a:t>IC-02 BRD-1 New Business (Out): The package version in force (rate scheme, minimum premium, commission, TSI limit, panel insurers with their own rates) for new business pricing; the version number is stored on the quotation, the account and the booked invoice</a:t>
            </a:r>
          </a:p>
          <a:p>
            <a:r>
              <a:t>IC-03 BRD-1 New Business (Out): Rate exceptions approved for one transaction (quotation number or ARN)</a:t>
            </a:r>
          </a:p>
          <a:p>
            <a:r>
              <a:t>IC-04 BRD-1 New Business (Out): Field rules and document rules per product (presence, list of values, number range, format), TSU routing rules and the package TSI limit</a:t>
            </a:r>
          </a:p>
          <a:p>
            <a:r>
              <a:t>IC-05 BRD-1 New Business (In): Clients of client-specific packages; the Document Templates screen that holds the package templates; the workflow, documents, e-mail and report platform</a:t>
            </a:r>
          </a:p>
          <a:p>
            <a:r>
              <a:t>IC-06 BRD-6 Renewal (Out): Package versions for renewal pricing (purpose Renewal) and the sellable check of a product at renewal</a:t>
            </a:r>
          </a:p>
          <a:p>
            <a:r>
              <a:t>IC-07 BRD-6 Renewal and BRD-13 Data Migration (Out): The BIBS package versions named as targets of the package map (legacy package and version to BIBS package version) that the data migration loads (object R06) and the Renewal sanitation check PACKAGE_REMAP reads</a:t>
            </a:r>
          </a:p>
          <a:p>
            <a:r>
              <a:t>IC-08 BRD-8 Employee Benefits (Out): EB product lines (HMO, group life, group personal accident), EB products and HMO providers as panel insurers with commission rates</a:t>
            </a:r>
          </a:p>
          <a:p>
            <a:r>
              <a:t>IC-09 BRD-12 Submitted Policies (Out): Products and the package TSI limit of a product</a:t>
            </a:r>
          </a:p>
          <a:p>
            <a:r>
              <a:t>IC-10 BRD-1 Booking and BRD-2 Operations (Out): Incentive criteria (for example CPC2) matched at booking; the package version of the account for endorsements and adjustments</a:t>
            </a:r>
          </a:p>
          <a:p>
            <a:r>
              <a:t>IC-11 BRD-5 Accounting (remittance and commission) (Out): Incentive criteria codes for commission incentive schemes and the CPC2 remittance incentive; insurer commission rates</a:t>
            </a:r>
          </a:p>
          <a:p>
            <a:r>
              <a:t>IC-12 BRD-11 User Access Maintenance (In): Users, roles and the role-to-action matrix of Product Maintenance; role-permission change requests</a:t>
            </a:r>
          </a:p>
          <a:p>
            <a:r>
              <a:t>IC-13 BRD-13 Data Migration (In): The go-live load of the product masters from the legacy systems (QPS, EBIX) - lists of values (R01), sales organisation (R03), insurers and branches (R04), product lines, cover types and products (R05), commission rates (R07) - through the catalog services under maker-checker; the package map (R06) as in IC-07</a:t>
            </a:r>
          </a:p>
          <a:p>
            <a:r>
              <a:t>IC-14 Other BDOI systems (product master feed) (Out): Released, expired and retired package versions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handle a case: an in-scope clarification (no change to the signed set, answered in the comments log); a change request with mandays in the Change Management Register; a delta sign-off of the affected pages only.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examples to agree the handling of a case during the review.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sign-off meeting starts when the exit criteria are met; the set is done when the certificate is signed and the content of the 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sign-off the content is frozen as signed, the approved deltas are scheduled and the configuration inputs are loaded.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in a signed set changes without a request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a:t>
            </a:r>
          </a:p>
          <a:p>
            <a:r>
              <a:t>Kick-off and first SIT walkthrough on Wed 4-Nov-2026</a:t>
            </a:r>
          </a:p>
          <a:p>
            <a:r>
              <a:t>Workbooks returned by Wed 18-Nov-2026; Q&amp;A on Mon 23-Nov-2026; sign-off on Mon 30-Nov-2026</a:t>
            </a:r>
          </a:p>
          <a:p>
            <a:r>
              <a:t>Configuration input templates filled in for the data migration mocks; final at the map freeze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other BRD sets follow the same pack, guide and steps.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Sign-off Pack Guide: BRD-3 Product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BRD-3 Product Maintenance business sign-off pack, release set v2.1</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2.1 | 8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the pack and what sign-off means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The pack shows the proposed Product Maintenance of BIBS, screen by screen, so each business unit confirms what it will get</a:t>
            </a:r>
          </a:p>
          <a:p>
            <a:pPr lvl="1">
              <a:spcAft>
                <a:spcPts val="600"/>
              </a:spcAft>
            </a:pPr>
            <a:r>
              <a:rPr sz="1600">
                <a:solidFill>
                  <a:srgbClr val="656565"/>
                </a:solidFill>
                <a:latin typeface="Arial"/>
              </a:rPr>
              <a:t>–  </a:t>
            </a:r>
            <a:r>
              <a:rPr sz="1600">
                <a:solidFill>
                  <a:srgbClr val="4B4B4B"/>
                </a:solidFill>
                <a:latin typeface="Arial"/>
              </a:rPr>
              <a:t>Content: 22 screens, 325 fields, 84 business rules, 276 messages</a:t>
            </a:r>
          </a:p>
          <a:p>
            <a:pPr lvl="1">
              <a:spcAft>
                <a:spcPts val="600"/>
              </a:spcAft>
            </a:pPr>
            <a:r>
              <a:rPr sz="1600">
                <a:solidFill>
                  <a:srgbClr val="656565"/>
                </a:solidFill>
                <a:latin typeface="Arial"/>
              </a:rPr>
              <a:t>–  </a:t>
            </a:r>
            <a:r>
              <a:rPr sz="1600">
                <a:solidFill>
                  <a:srgbClr val="4B4B4B"/>
                </a:solidFill>
                <a:latin typeface="Arial"/>
              </a:rPr>
              <a:t>Every screen with numbered fields, the navigation per persona, three end-to-end walkthroughs</a:t>
            </a:r>
          </a:p>
          <a:p>
            <a:pPr>
              <a:spcAft>
                <a:spcPts val="600"/>
              </a:spcAft>
            </a:pPr>
            <a:r>
              <a:rPr sz="1800">
                <a:solidFill>
                  <a:srgbClr val="004EA8"/>
                </a:solidFill>
                <a:latin typeface="Arial"/>
              </a:rPr>
              <a:t>•  </a:t>
            </a:r>
            <a:r>
              <a:rPr sz="1800">
                <a:solidFill>
                  <a:srgbClr val="4B4B4B"/>
                </a:solidFill>
                <a:latin typeface="Arial"/>
              </a:rPr>
              <a:t>Signing freezes the content, the screens and the navigation of the module</a:t>
            </a:r>
          </a:p>
          <a:p>
            <a:pPr lvl="1">
              <a:spcAft>
                <a:spcPts val="600"/>
              </a:spcAft>
            </a:pPr>
            <a:r>
              <a:rPr sz="1600">
                <a:solidFill>
                  <a:srgbClr val="656565"/>
                </a:solidFill>
                <a:latin typeface="Arial"/>
              </a:rPr>
              <a:t>–  </a:t>
            </a:r>
            <a:r>
              <a:rPr sz="1600">
                <a:solidFill>
                  <a:srgbClr val="4B4B4B"/>
                </a:solidFill>
                <a:latin typeface="Arial"/>
              </a:rPr>
              <a:t>After sign-off a change goes through the Change Management Register with its mandays</a:t>
            </a:r>
          </a:p>
          <a:p>
            <a:pPr lvl="1">
              <a:spcAft>
                <a:spcPts val="600"/>
              </a:spcAft>
            </a:pPr>
            <a:r>
              <a:rPr sz="1600">
                <a:solidFill>
                  <a:srgbClr val="656565"/>
                </a:solidFill>
                <a:latin typeface="Arial"/>
              </a:rPr>
              <a:t>–  </a:t>
            </a:r>
            <a:r>
              <a:rPr sz="1600">
                <a:solidFill>
                  <a:srgbClr val="4B4B4B"/>
                </a:solidFill>
                <a:latin typeface="Arial"/>
              </a:rPr>
              <a:t>Configuration values marked default (SLA hours, thresholds, list entries, templates) stay open</a:t>
            </a:r>
          </a:p>
          <a:p>
            <a:pPr>
              <a:spcAft>
                <a:spcPts val="600"/>
              </a:spcAft>
            </a:pPr>
            <a:r>
              <a:rPr sz="1800">
                <a:solidFill>
                  <a:srgbClr val="004EA8"/>
                </a:solidFill>
                <a:latin typeface="Arial"/>
              </a:rPr>
              <a:t>•  </a:t>
            </a:r>
            <a:r>
              <a:rPr sz="1800">
                <a:solidFill>
                  <a:srgbClr val="4B4B4B"/>
                </a:solidFill>
                <a:latin typeface="Arial"/>
              </a:rPr>
              <a:t>The screenshots use fictitious seed data only, in the BDO theme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00_BIBS_StartHere_BRD-03_Product_Maintenance_v2.1.docx</a:t>
                      </a:r>
                    </a:p>
                  </a:txBody>
                  <a:tcPr marL="73152" marR="73152" marT="36576" marB="36576">
                    <a:solidFill>
                      <a:srgbClr val="FFFFFF"/>
                    </a:solidFill>
                  </a:tcPr>
                </a:tc>
                <a:tc>
                  <a:txBody>
                    <a:bodyPr/>
                    <a:lstStyle/>
                    <a:p>
                      <a:r>
                        <a:rPr sz="1000" b="0">
                          <a:solidFill>
                            <a:srgbClr val="4B4B4B"/>
                          </a:solidFill>
                          <a:latin typeface="Arial"/>
                        </a:rPr>
                        <a:t>Start Here: the map of the pack, who reads what, the steps and the dates</a:t>
                      </a:r>
                    </a:p>
                  </a:txBody>
                  <a:tcPr marL="73152" marR="73152" marT="36576" marB="36576">
                    <a:solidFill>
                      <a:srgbClr val="FFFFFF"/>
                    </a:solidFill>
                  </a:tcPr>
                </a:tc>
                <a:tc>
                  <a:txBody>
                    <a:bodyPr/>
                    <a:lstStyle/>
                    <a:p>
                      <a:r>
                        <a:rPr sz="1000" b="0">
                          <a:solidFill>
                            <a:srgbClr val="4B4B4B"/>
                          </a:solidFill>
                          <a:latin typeface="Arial"/>
                        </a:rPr>
                        <a:t>Everyone</a:t>
                      </a:r>
                    </a:p>
                  </a:txBody>
                  <a:tcPr marL="73152" marR="73152" marT="36576" marB="36576">
                    <a:solidFill>
                      <a:srgbClr val="FFFFFF"/>
                    </a:solidFill>
                  </a:tcPr>
                </a:tc>
                <a:tc>
                  <a:txBody>
                    <a:bodyPr/>
                    <a:lstStyle/>
                    <a:p>
                      <a:r>
                        <a:rPr sz="1000" b="0">
                          <a:solidFill>
                            <a:srgbClr val="4B4B4B"/>
                          </a:solidFill>
                          <a:latin typeface="Arial"/>
                        </a:rPr>
                        <a:t>First, on issue</a:t>
                      </a:r>
                    </a:p>
                  </a:txBody>
                  <a:tcPr marL="73152" marR="73152" marT="36576" marB="36576">
                    <a:solidFill>
                      <a:srgbClr val="FFFFFF"/>
                    </a:solidFill>
                  </a:tcPr>
                </a:tc>
              </a:tr>
              <a:tr h="365760">
                <a:tc>
                  <a:txBody>
                    <a:bodyPr/>
                    <a:lstStyle/>
                    <a:p>
                      <a:r>
                        <a:rPr sz="1000" b="0">
                          <a:solidFill>
                            <a:srgbClr val="4B4B4B"/>
                          </a:solidFill>
                          <a:latin typeface="Arial"/>
                        </a:rPr>
                        <a:t>01_BIBS_GuideDeck_BRD-03_Product_Maintenance_v2.1.pptx</a:t>
                      </a:r>
                    </a:p>
                  </a:txBody>
                  <a:tcPr marL="73152" marR="73152" marT="36576" marB="36576">
                    <a:solidFill>
                      <a:srgbClr val="E5F5FF"/>
                    </a:solidFill>
                  </a:tcPr>
                </a:tc>
                <a:tc>
                  <a:txBody>
                    <a:bodyPr/>
                    <a:lstStyle/>
                    <a:p>
                      <a:r>
                        <a:rPr sz="1000" b="0">
                          <a:solidFill>
                            <a:srgbClr val="4B4B4B"/>
                          </a:solidFill>
                          <a:latin typeface="Arial"/>
                        </a:rPr>
                        <a:t>Sign-off Pack Guide: purpose, approach, the module at a glance, caveats, entry and exit criteria, change control</a:t>
                      </a:r>
                    </a:p>
                  </a:txBody>
                  <a:tcPr marL="73152" marR="73152" marT="36576" marB="36576">
                    <a:solidFill>
                      <a:srgbClr val="E5F5FF"/>
                    </a:solidFill>
                  </a:tcPr>
                </a:tc>
                <a:tc>
                  <a:txBody>
                    <a:bodyPr/>
                    <a:lstStyle/>
                    <a:p>
                      <a:r>
                        <a:rPr sz="1000" b="0">
                          <a:solidFill>
                            <a:srgbClr val="4B4B4B"/>
                          </a:solidFill>
                          <a:latin typeface="Arial"/>
                        </a:rPr>
                        <a:t>Business owner, unit heads; presented at the kick-off</a:t>
                      </a:r>
                    </a:p>
                  </a:txBody>
                  <a:tcPr marL="73152" marR="73152" marT="36576" marB="36576">
                    <a:solidFill>
                      <a:srgbClr val="E5F5FF"/>
                    </a:solidFill>
                  </a:tcPr>
                </a:tc>
                <a:tc>
                  <a:txBody>
                    <a:bodyPr/>
                    <a:lstStyle/>
                    <a:p>
                      <a:r>
                        <a:rPr sz="1000" b="0">
                          <a:solidFill>
                            <a:srgbClr val="4B4B4B"/>
                          </a:solidFill>
                          <a:latin typeface="Arial"/>
                        </a:rPr>
                        <a:t>Kick-off session</a:t>
                      </a:r>
                    </a:p>
                  </a:txBody>
                  <a:tcPr marL="73152" marR="73152" marT="36576" marB="36576">
                    <a:solidFill>
                      <a:srgbClr val="E5F5FF"/>
                    </a:solidFill>
                  </a:tcPr>
                </a:tc>
              </a:tr>
              <a:tr h="365760">
                <a:tc>
                  <a:txBody>
                    <a:bodyPr/>
                    <a:lstStyle/>
                    <a:p>
                      <a:r>
                        <a:rPr sz="1000" b="0">
                          <a:solidFill>
                            <a:srgbClr val="4B4B4B"/>
                          </a:solidFill>
                          <a:latin typeface="Arial"/>
                        </a:rPr>
                        <a:t>02_BIBS_FRS_BRD-03_Product_Maintenance_v2.1.docx</a:t>
                      </a:r>
                    </a:p>
                  </a:txBody>
                  <a:tcPr marL="73152" marR="73152" marT="36576" marB="36576">
                    <a:solidFill>
                      <a:srgbClr val="FFFFFF"/>
                    </a:solidFill>
                  </a:tcPr>
                </a:tc>
                <a:tc>
                  <a:txBody>
                    <a:bodyPr/>
                    <a:lstStyle/>
                    <a:p>
                      <a:r>
                        <a:rPr sz="1000" b="0">
                          <a:solidFill>
                            <a:srgbClr val="4B4B4B"/>
                          </a:solidFill>
                          <a:latin typeface="Arial"/>
                        </a:rPr>
                        <a:t>Functional Requirements Specification v2.1: requirements, navigation, 22 screen specifications with screenshots, walkthroughs, messages, notifications, documents, uploads, configuration inputs, cross-BRD contract</a:t>
                      </a:r>
                    </a:p>
                  </a:txBody>
                  <a:tcPr marL="73152" marR="73152" marT="36576" marB="36576">
                    <a:solidFill>
                      <a:srgbClr val="FFFFFF"/>
                    </a:solidFill>
                  </a:tcPr>
                </a:tc>
                <a:tc>
                  <a:txBody>
                    <a:bodyPr/>
                    <a:lstStyle/>
                    <a:p>
                      <a:r>
                        <a:rPr sz="1000" b="0">
                          <a:solidFill>
                            <a:srgbClr val="4B4B4B"/>
                          </a:solidFill>
                          <a:latin typeface="Arial"/>
                        </a:rPr>
                        <a:t>MBS, TSU and Marketing for their screens; Finance and BDOI IT for their chapters</a:t>
                      </a:r>
                    </a:p>
                  </a:txBody>
                  <a:tcPr marL="73152" marR="73152" marT="36576" marB="36576">
                    <a:solidFill>
                      <a:srgbClr val="FFFFFF"/>
                    </a:solidFill>
                  </a:tcPr>
                </a:tc>
                <a:tc>
                  <a:txBody>
                    <a:bodyPr/>
                    <a:lstStyle/>
                    <a:p>
                      <a:r>
                        <a:rPr sz="1000" b="0">
                          <a:solidFill>
                            <a:srgbClr val="4B4B4B"/>
                          </a:solidFill>
                          <a:latin typeface="Arial"/>
                        </a:rPr>
                        <a:t>During the review, with the SIT walkthroughs</a:t>
                      </a:r>
                    </a:p>
                  </a:txBody>
                  <a:tcPr marL="73152" marR="73152" marT="36576" marB="36576">
                    <a:solidFill>
                      <a:srgbClr val="FFFFFF"/>
                    </a:solidFill>
                  </a:tcPr>
                </a:tc>
              </a:tr>
              <a:tr h="365760">
                <a:tc>
                  <a:txBody>
                    <a:bodyPr/>
                    <a:lstStyle/>
                    <a:p>
                      <a:r>
                        <a:rPr sz="1000" b="0">
                          <a:solidFill>
                            <a:srgbClr val="4B4B4B"/>
                          </a:solidFill>
                          <a:latin typeface="Arial"/>
                        </a:rPr>
                        <a:t>03_BIBS_Signoff_BRD-03_Product_Maintenance_v2.1.xlsx</a:t>
                      </a:r>
                    </a:p>
                  </a:txBody>
                  <a:tcPr marL="73152" marR="73152" marT="36576" marB="36576">
                    <a:solidFill>
                      <a:srgbClr val="E5F5FF"/>
                    </a:solidFill>
                  </a:tcPr>
                </a:tc>
                <a:tc>
                  <a:txBody>
                    <a:bodyPr/>
                    <a:lstStyle/>
                    <a:p>
                      <a:r>
                        <a:rPr sz="1000" b="0">
                          <a:solidFill>
                            <a:srgbClr val="4B4B4B"/>
                          </a:solidFill>
                          <a:latin typeface="Arial"/>
                        </a:rPr>
                        <a:t>Sign-off workbook: one row per screen, field, rule and message with the BU review columns; comments log, meeting minutes, version history, sign-off certificate</a:t>
                      </a:r>
                    </a:p>
                  </a:txBody>
                  <a:tcPr marL="73152" marR="73152" marT="36576" marB="36576">
                    <a:solidFill>
                      <a:srgbClr val="E5F5FF"/>
                    </a:solidFill>
                  </a:tcPr>
                </a:tc>
                <a:tc>
                  <a:txBody>
                    <a:bodyPr/>
                    <a:lstStyle/>
                    <a:p>
                      <a:r>
                        <a:rPr sz="1000" b="0">
                          <a:solidFill>
                            <a:srgbClr val="4B4B4B"/>
                          </a:solidFill>
                          <a:latin typeface="Arial"/>
                        </a:rPr>
                        <a:t>Every reviewer; the business owner signs it</a:t>
                      </a:r>
                    </a:p>
                  </a:txBody>
                  <a:tcPr marL="73152" marR="73152" marT="36576" marB="36576">
                    <a:solidFill>
                      <a:srgbClr val="E5F5FF"/>
                    </a:solidFill>
                  </a:tcPr>
                </a:tc>
                <a:tc>
                  <a:txBody>
                    <a:bodyPr/>
                    <a:lstStyle/>
                    <a:p>
                      <a:r>
                        <a:rPr sz="1000" b="0">
                          <a:solidFill>
                            <a:srgbClr val="4B4B4B"/>
                          </a:solidFill>
                          <a:latin typeface="Arial"/>
                        </a:rPr>
                        <a:t>During the review and at sign-off</a:t>
                      </a:r>
                    </a:p>
                  </a:txBody>
                  <a:tcPr marL="73152" marR="73152" marT="36576" marB="36576">
                    <a:solidFill>
                      <a:srgbClr val="E5F5FF"/>
                    </a:solidFill>
                  </a:tcPr>
                </a:tc>
              </a:tr>
              <a:tr h="365760">
                <a:tc>
                  <a:txBody>
                    <a:bodyPr/>
                    <a:lstStyle/>
                    <a:p>
                      <a:r>
                        <a:rPr sz="1000" b="0">
                          <a:solidFill>
                            <a:srgbClr val="4B4B4B"/>
                          </a:solidFill>
                          <a:latin typeface="Arial"/>
                        </a:rPr>
                        <a:t>04_BIBS_TestPlan_BRD-03_Product_Maintenance_v2.1.xlsx</a:t>
                      </a:r>
                    </a:p>
                  </a:txBody>
                  <a:tcPr marL="73152" marR="73152" marT="36576" marB="36576">
                    <a:solidFill>
                      <a:srgbClr val="FFFFFF"/>
                    </a:solidFill>
                  </a:tcPr>
                </a:tc>
                <a:tc>
                  <a:txBody>
                    <a:bodyPr/>
                    <a:lstStyle/>
                    <a:p>
                      <a:r>
                        <a:rPr sz="1000" b="0">
                          <a:solidFill>
                            <a:srgbClr val="4B4B4B"/>
                          </a:solidFill>
                          <a:latin typeface="Arial"/>
                        </a:rPr>
                        <a:t>Test plan workbook: the test cases traced to the FRs and to the screens, including one screen case and one message case per screen</a:t>
                      </a:r>
                    </a:p>
                  </a:txBody>
                  <a:tcPr marL="73152" marR="73152" marT="36576" marB="36576">
                    <a:solidFill>
                      <a:srgbClr val="FFFFFF"/>
                    </a:solidFill>
                  </a:tcPr>
                </a:tc>
                <a:tc>
                  <a:txBody>
                    <a:bodyPr/>
                    <a:lstStyle/>
                    <a:p>
                      <a:r>
                        <a:rPr sz="1000" b="0">
                          <a:solidFill>
                            <a:srgbClr val="4B4B4B"/>
                          </a:solidFill>
                          <a:latin typeface="Arial"/>
                        </a:rPr>
                        <a:t>Business users who will run UAT; BDOI IT</a:t>
                      </a:r>
                    </a:p>
                  </a:txBody>
                  <a:tcPr marL="73152" marR="73152" marT="36576" marB="36576">
                    <a:solidFill>
                      <a:srgbClr val="FFFFFF"/>
                    </a:solidFill>
                  </a:tcPr>
                </a:tc>
                <a:tc>
                  <a:txBody>
                    <a:bodyPr/>
                    <a:lstStyle/>
                    <a:p>
                      <a:r>
                        <a:rPr sz="1000" b="0">
                          <a:solidFill>
                            <a:srgbClr val="4B4B4B"/>
                          </a:solidFill>
                          <a:latin typeface="Arial"/>
                        </a:rPr>
                        <a:t>After the screens; used again in SIT and UAT</a:t>
                      </a:r>
                    </a:p>
                  </a:txBody>
                  <a:tcPr marL="73152" marR="73152" marT="36576" marB="36576">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pack at a glance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graphicFrame>
        <p:nvGraphicFramePr>
          <p:cNvPr id="9" name="Table 8"/>
          <p:cNvGraphicFramePr>
            <a:graphicFrameLocks noGrp="1"/>
          </p:cNvGraphicFramePr>
          <p:nvPr/>
        </p:nvGraphicFramePr>
        <p:xfrm>
          <a:off x="548640" y="1371600"/>
          <a:ext cx="11094413" cy="2194560"/>
        </p:xfrm>
        <a:graphic>
          <a:graphicData uri="http://schemas.openxmlformats.org/drawingml/2006/table">
            <a:tbl>
              <a:tblPr firstRow="1" bandRow="1">
                <a:tableStyleId>{5C22544A-7EE6-4342-B048-85BDC9FD1C3A}</a:tableStyleId>
              </a:tblPr>
              <a:tblGrid>
                <a:gridCol w="3025749"/>
                <a:gridCol w="4370527"/>
                <a:gridCol w="2185263"/>
                <a:gridCol w="1512874"/>
              </a:tblGrid>
              <a:tr h="365760">
                <a:tc>
                  <a:txBody>
                    <a:bodyPr/>
                    <a:lstStyle/>
                    <a:p>
                      <a:r>
                        <a:rPr sz="1000" b="1">
                          <a:solidFill>
                            <a:srgbClr val="FFFFFF"/>
                          </a:solidFill>
                          <a:latin typeface="Arial"/>
                        </a:rPr>
                        <a:t>File</a:t>
                      </a:r>
                    </a:p>
                  </a:txBody>
                  <a:tcPr marL="73152" marR="73152" marT="36576" marB="36576">
                    <a:solidFill>
                      <a:srgbClr val="004EA8"/>
                    </a:solidFill>
                  </a:tcPr>
                </a:tc>
                <a:tc>
                  <a:txBody>
                    <a:bodyPr/>
                    <a:lstStyle/>
                    <a:p>
                      <a:r>
                        <a:rPr sz="1000" b="1">
                          <a:solidFill>
                            <a:srgbClr val="FFFFFF"/>
                          </a:solidFill>
                          <a:latin typeface="Arial"/>
                        </a:rPr>
                        <a:t>What it is for</a:t>
                      </a:r>
                    </a:p>
                  </a:txBody>
                  <a:tcPr marL="73152" marR="73152" marT="36576" marB="36576">
                    <a:solidFill>
                      <a:srgbClr val="004EA8"/>
                    </a:solidFill>
                  </a:tcPr>
                </a:tc>
                <a:tc>
                  <a:txBody>
                    <a:bodyPr/>
                    <a:lstStyle/>
                    <a:p>
                      <a:r>
                        <a:rPr sz="1000" b="1">
                          <a:solidFill>
                            <a:srgbClr val="FFFFFF"/>
                          </a:solidFill>
                          <a:latin typeface="Arial"/>
                        </a:rPr>
                        <a:t>Who reads it</a:t>
                      </a:r>
                    </a:p>
                  </a:txBody>
                  <a:tcPr marL="73152" marR="73152" marT="36576" marB="36576">
                    <a:solidFill>
                      <a:srgbClr val="004EA8"/>
                    </a:solidFill>
                  </a:tcPr>
                </a:tc>
                <a:tc>
                  <a:txBody>
                    <a:bodyPr/>
                    <a:lstStyle/>
                    <a:p>
                      <a:r>
                        <a:rPr sz="1000" b="1">
                          <a:solidFill>
                            <a:srgbClr val="FFFFFF"/>
                          </a:solidFill>
                          <a:latin typeface="Arial"/>
                        </a:rPr>
                        <a:t>When</a:t>
                      </a:r>
                    </a:p>
                  </a:txBody>
                  <a:tcPr marL="73152" marR="73152" marT="36576" marB="36576">
                    <a:solidFill>
                      <a:srgbClr val="004EA8"/>
                    </a:solidFill>
                  </a:tcPr>
                </a:tc>
              </a:tr>
              <a:tr h="365760">
                <a:tc>
                  <a:txBody>
                    <a:bodyPr/>
                    <a:lstStyle/>
                    <a:p>
                      <a:r>
                        <a:rPr sz="1000" b="0">
                          <a:solidFill>
                            <a:srgbClr val="4B4B4B"/>
                          </a:solidFill>
                          <a:latin typeface="Arial"/>
                        </a:rPr>
                        <a:t>05_BIBS_TestPlan_BRD-03_Product_Maintenance_Summary_v2.1.docx</a:t>
                      </a:r>
                    </a:p>
                  </a:txBody>
                  <a:tcPr marL="73152" marR="73152" marT="36576" marB="36576">
                    <a:solidFill>
                      <a:srgbClr val="FFFFFF"/>
                    </a:solidFill>
                  </a:tcPr>
                </a:tc>
                <a:tc>
                  <a:txBody>
                    <a:bodyPr/>
                    <a:lstStyle/>
                    <a:p>
                      <a:r>
                        <a:rPr sz="1000" b="0">
                          <a:solidFill>
                            <a:srgbClr val="4B4B4B"/>
                          </a:solidFill>
                          <a:latin typeface="Arial"/>
                        </a:rPr>
                        <a:t>Test plan summary: scope, approach, coverage and the cases by area</a:t>
                      </a:r>
                    </a:p>
                  </a:txBody>
                  <a:tcPr marL="73152" marR="73152" marT="36576" marB="36576">
                    <a:solidFill>
                      <a:srgbClr val="FFFFFF"/>
                    </a:solidFill>
                  </a:tcPr>
                </a:tc>
                <a:tc>
                  <a:txBody>
                    <a:bodyPr/>
                    <a:lstStyle/>
                    <a:p>
                      <a:r>
                        <a:rPr sz="1000" b="0">
                          <a:solidFill>
                            <a:srgbClr val="4B4B4B"/>
                          </a:solidFill>
                          <a:latin typeface="Arial"/>
                        </a:rPr>
                        <a:t>Business owner, BDOI IT</a:t>
                      </a:r>
                    </a:p>
                  </a:txBody>
                  <a:tcPr marL="73152" marR="73152" marT="36576" marB="36576">
                    <a:solidFill>
                      <a:srgbClr val="FFFFFF"/>
                    </a:solidFill>
                  </a:tcPr>
                </a:tc>
                <a:tc>
                  <a:txBody>
                    <a:bodyPr/>
                    <a:lstStyle/>
                    <a:p>
                      <a:r>
                        <a:rPr sz="1000" b="0">
                          <a:solidFill>
                            <a:srgbClr val="4B4B4B"/>
                          </a:solidFill>
                          <a:latin typeface="Arial"/>
                        </a:rPr>
                        <a:t>Before sign-off</a:t>
                      </a:r>
                    </a:p>
                  </a:txBody>
                  <a:tcPr marL="73152" marR="73152" marT="36576" marB="36576">
                    <a:solidFill>
                      <a:srgbClr val="FFFFFF"/>
                    </a:solidFill>
                  </a:tcPr>
                </a:tc>
              </a:tr>
              <a:tr h="365760">
                <a:tc>
                  <a:txBody>
                    <a:bodyPr/>
                    <a:lstStyle/>
                    <a:p>
                      <a:r>
                        <a:rPr sz="1000" b="0">
                          <a:solidFill>
                            <a:srgbClr val="4B4B4B"/>
                          </a:solidFill>
                          <a:latin typeface="Arial"/>
                        </a:rPr>
                        <a:t>06_BIBS_Templates_BRD-03_Configuration_Inputs_v2.1.xlsx</a:t>
                      </a:r>
                    </a:p>
                  </a:txBody>
                  <a:tcPr marL="73152" marR="73152" marT="36576" marB="36576">
                    <a:solidFill>
                      <a:srgbClr val="E5F5FF"/>
                    </a:solidFill>
                  </a:tcPr>
                </a:tc>
                <a:tc>
                  <a:txBody>
                    <a:bodyPr/>
                    <a:lstStyle/>
                    <a:p>
                      <a:r>
                        <a:rPr sz="1000" b="0">
                          <a:solidFill>
                            <a:srgbClr val="4B4B4B"/>
                          </a:solidFill>
                          <a:latin typeface="Arial"/>
                        </a:rPr>
                        <a:t>Configuration input templates: product catalogue, coverages and rules, clauses, rate tables, insurers, packages in force, package map, document templates, lists of values, incentive criteria</a:t>
                      </a:r>
                    </a:p>
                  </a:txBody>
                  <a:tcPr marL="73152" marR="73152" marT="36576" marB="36576">
                    <a:solidFill>
                      <a:srgbClr val="E5F5FF"/>
                    </a:solidFill>
                  </a:tcPr>
                </a:tc>
                <a:tc>
                  <a:txBody>
                    <a:bodyPr/>
                    <a:lstStyle/>
                    <a:p>
                      <a:r>
                        <a:rPr sz="1000" b="0">
                          <a:solidFill>
                            <a:srgbClr val="4B4B4B"/>
                          </a:solidFill>
                          <a:latin typeface="Arial"/>
                        </a:rPr>
                        <a:t>MBS, TSU, Operations, Comptrollership (who provide the content)</a:t>
                      </a:r>
                    </a:p>
                  </a:txBody>
                  <a:tcPr marL="73152" marR="73152" marT="36576" marB="36576">
                    <a:solidFill>
                      <a:srgbClr val="E5F5FF"/>
                    </a:solidFill>
                  </a:tcPr>
                </a:tc>
                <a:tc>
                  <a:txBody>
                    <a:bodyPr/>
                    <a:lstStyle/>
                    <a:p>
                      <a:r>
                        <a:rPr sz="1000" b="0">
                          <a:solidFill>
                            <a:srgbClr val="4B4B4B"/>
                          </a:solidFill>
                          <a:latin typeface="Arial"/>
                        </a:rPr>
                        <a:t>During the review; filled in for the data migration mocks and the map freeze</a:t>
                      </a:r>
                    </a:p>
                  </a:txBody>
                  <a:tcPr marL="73152" marR="73152" marT="36576" marB="36576">
                    <a:solidFill>
                      <a:srgbClr val="E5F5FF"/>
                    </a:solidFill>
                  </a:tcPr>
                </a:tc>
              </a:tr>
              <a:tr h="365760">
                <a:tc>
                  <a:txBody>
                    <a:bodyPr/>
                    <a:lstStyle/>
                    <a:p>
                      <a:r>
                        <a:rPr sz="1000" b="0">
                          <a:solidFill>
                            <a:srgbClr val="4B4B4B"/>
                          </a:solidFill>
                          <a:latin typeface="Arial"/>
                        </a:rPr>
                        <a:t>07_BIBS_UXDeck_BRD-03_Product_Maintenance_v2.1.pptx</a:t>
                      </a:r>
                    </a:p>
                  </a:txBody>
                  <a:tcPr marL="73152" marR="73152" marT="36576" marB="36576">
                    <a:solidFill>
                      <a:srgbClr val="FFFFFF"/>
                    </a:solidFill>
                  </a:tcPr>
                </a:tc>
                <a:tc>
                  <a:txBody>
                    <a:bodyPr/>
                    <a:lstStyle/>
                    <a:p>
                      <a:r>
                        <a:rPr sz="1000" b="0">
                          <a:solidFill>
                            <a:srgbClr val="4B4B4B"/>
                          </a:solidFill>
                          <a:latin typeface="Arial"/>
                        </a:rPr>
                        <a:t>UX Screen Deck for the BDOI UX Design team: design foundation, navigation and personas, every flow step by step and every screen with all its states</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From the issue, in parallel with the review; re-issued with each version of the set</a:t>
                      </a:r>
                    </a:p>
                  </a:txBody>
                  <a:tcPr marL="73152" marR="73152" marT="36576" marB="36576">
                    <a:solidFill>
                      <a:srgbClr val="FFFFFF"/>
                    </a:solidFill>
                  </a:tcPr>
                </a:tc>
              </a:tr>
              <a:tr h="365760">
                <a:tc>
                  <a:txBody>
                    <a:bodyPr/>
                    <a:lstStyle/>
                    <a:p>
                      <a:r>
                        <a:rPr sz="1000" b="0">
                          <a:solidFill>
                            <a:srgbClr val="4B4B4B"/>
                          </a:solidFill>
                          <a:latin typeface="Arial"/>
                        </a:rPr>
                        <a:t>08_BIBS_UXScreens_BRD-03_Product_Maintenance_v2.1.xlsx</a:t>
                      </a:r>
                    </a:p>
                  </a:txBody>
                  <a:tcPr marL="73152" marR="73152" marT="36576" marB="36576">
                    <a:solidFill>
                      <a:srgbClr val="E5F5FF"/>
                    </a:solidFill>
                  </a:tcPr>
                </a:tc>
                <a:tc>
                  <a:txBody>
                    <a:bodyPr/>
                    <a:lstStyle/>
                    <a:p>
                      <a:r>
                        <a:rPr sz="1000" b="0">
                          <a:solidFill>
                            <a:srgbClr val="4B4B4B"/>
                          </a:solidFill>
                          <a:latin typeface="Arial"/>
                        </a:rPr>
                        <a:t>UX screen register: one row per screen image with the screen, personas, flow and step, state, FRS section and requirements, UXD status and comments, and the Changed in this issue flag</a:t>
                      </a:r>
                    </a:p>
                  </a:txBody>
                  <a:tcPr marL="73152" marR="73152" marT="36576" marB="36576">
                    <a:solidFill>
                      <a:srgbClr val="E5F5FF"/>
                    </a:solidFill>
                  </a:tcPr>
                </a:tc>
                <a:tc>
                  <a:txBody>
                    <a:bodyPr/>
                    <a:lstStyle/>
                    <a:p>
                      <a:r>
                        <a:rPr sz="1000" b="0">
                          <a:solidFill>
                            <a:srgbClr val="4B4B4B"/>
                          </a:solidFill>
                          <a:latin typeface="Arial"/>
                        </a:rPr>
                        <a:t>BDOI UX Design team</a:t>
                      </a:r>
                    </a:p>
                  </a:txBody>
                  <a:tcPr marL="73152" marR="73152" marT="36576" marB="36576">
                    <a:solidFill>
                      <a:srgbClr val="E5F5FF"/>
                    </a:solidFill>
                  </a:tcPr>
                </a:tc>
                <a:tc>
                  <a:txBody>
                    <a:bodyPr/>
                    <a:lstStyle/>
                    <a:p>
                      <a:r>
                        <a:rPr sz="1000" b="0">
                          <a:solidFill>
                            <a:srgbClr val="4B4B4B"/>
                          </a:solidFill>
                          <a:latin typeface="Arial"/>
                        </a:rPr>
                        <a:t>Kept by the UX Design team; the changed rows are flagged at each issue</a:t>
                      </a:r>
                    </a:p>
                  </a:txBody>
                  <a:tcPr marL="73152" marR="73152" marT="36576" marB="36576">
                    <a:solidFill>
                      <a:srgbClr val="E5F5FF"/>
                    </a:solidFill>
                  </a:tcPr>
                </a:tc>
              </a:tr>
              <a:tr h="365760">
                <a:tc>
                  <a:txBody>
                    <a:bodyPr/>
                    <a:lstStyle/>
                    <a:p>
                      <a:r>
                        <a:rPr sz="1000" b="0">
                          <a:solidFill>
                            <a:srgbClr val="4B4B4B"/>
                          </a:solidFill>
                          <a:latin typeface="Arial"/>
                        </a:rPr>
                        <a:t>09_BIBS_UXScreens_BRD-03_Product_Maintenance_v2.1.zip</a:t>
                      </a:r>
                    </a:p>
                  </a:txBody>
                  <a:tcPr marL="73152" marR="73152" marT="36576" marB="36576">
                    <a:solidFill>
                      <a:srgbClr val="FFFFFF"/>
                    </a:solidFill>
                  </a:tcPr>
                </a:tc>
                <a:tc>
                  <a:txBody>
                    <a:bodyPr/>
                    <a:lstStyle/>
                    <a:p>
                      <a:r>
                        <a:rPr sz="1000" b="0">
                          <a:solidFill>
                            <a:srgbClr val="4B4B4B"/>
                          </a:solidFill>
                          <a:latin typeface="Arial"/>
                        </a:rPr>
                        <a:t>Image package: every screen image at twice the screen resolution (PNG), the component crops and the register as CSV</a:t>
                      </a:r>
                    </a:p>
                  </a:txBody>
                  <a:tcPr marL="73152" marR="73152" marT="36576" marB="36576">
                    <a:solidFill>
                      <a:srgbClr val="FFFFFF"/>
                    </a:solidFill>
                  </a:tcPr>
                </a:tc>
                <a:tc>
                  <a:txBody>
                    <a:bodyPr/>
                    <a:lstStyle/>
                    <a:p>
                      <a:r>
                        <a:rPr sz="1000" b="0">
                          <a:solidFill>
                            <a:srgbClr val="4B4B4B"/>
                          </a:solidFill>
                          <a:latin typeface="Arial"/>
                        </a:rPr>
                        <a:t>BDOI UX Design team</a:t>
                      </a:r>
                    </a:p>
                  </a:txBody>
                  <a:tcPr marL="73152" marR="73152" marT="36576" marB="36576">
                    <a:solidFill>
                      <a:srgbClr val="FFFFFF"/>
                    </a:solidFill>
                  </a:tcPr>
                </a:tc>
                <a:tc>
                  <a:txBody>
                    <a:bodyPr/>
                    <a:lstStyle/>
                    <a:p>
                      <a:r>
                        <a:rPr sz="1000" b="0">
                          <a:solidFill>
                            <a:srgbClr val="4B4B4B"/>
                          </a:solidFill>
                          <a:latin typeface="Arial"/>
                        </a:rPr>
                        <a:t>Imported into the design tool at each issue</a:t>
                      </a:r>
                    </a:p>
                  </a:txBody>
                  <a:tcPr marL="73152" marR="73152" marT="36576" marB="36576">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Where to start: reading order per role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71600"/>
          <a:ext cx="11094414" cy="3291840"/>
        </p:xfrm>
        <a:graphic>
          <a:graphicData uri="http://schemas.openxmlformats.org/drawingml/2006/table">
            <a:tbl>
              <a:tblPr firstRow="1" bandRow="1">
                <a:tableStyleId>{5C22544A-7EE6-4342-B048-85BDC9FD1C3A}</a:tableStyleId>
              </a:tblPr>
              <a:tblGrid>
                <a:gridCol w="2383923"/>
                <a:gridCol w="8710491"/>
              </a:tblGrid>
              <a:tr h="365760">
                <a:tc>
                  <a:txBody>
                    <a:bodyPr/>
                    <a:lstStyle/>
                    <a:p>
                      <a:r>
                        <a:rPr sz="1100" b="1">
                          <a:solidFill>
                            <a:srgbClr val="FFFFFF"/>
                          </a:solidFill>
                          <a:latin typeface="Arial"/>
                        </a:rPr>
                        <a:t>Role</a:t>
                      </a:r>
                    </a:p>
                  </a:txBody>
                  <a:tcPr marL="73152" marR="73152" marT="36576" marB="36576">
                    <a:solidFill>
                      <a:srgbClr val="004EA8"/>
                    </a:solidFill>
                  </a:tcPr>
                </a:tc>
                <a:tc>
                  <a:txBody>
                    <a:bodyPr/>
                    <a:lstStyle/>
                    <a:p>
                      <a:r>
                        <a:rPr sz="1100" b="1">
                          <a:solidFill>
                            <a:srgbClr val="FFFFFF"/>
                          </a:solidFill>
                          <a:latin typeface="Arial"/>
                        </a:rPr>
                        <a:t>Read, in this order</a:t>
                      </a:r>
                    </a:p>
                  </a:txBody>
                  <a:tcPr marL="73152" marR="73152" marT="36576" marB="36576">
                    <a:solidFill>
                      <a:srgbClr val="004EA8"/>
                    </a:solidFill>
                  </a:tcPr>
                </a:tc>
              </a:tr>
              <a:tr h="365760">
                <a:tc>
                  <a:txBody>
                    <a:bodyPr/>
                    <a:lstStyle/>
                    <a:p>
                      <a:r>
                        <a:rPr sz="1100" b="0">
                          <a:solidFill>
                            <a:srgbClr val="4B4B4B"/>
                          </a:solidFill>
                          <a:latin typeface="Arial"/>
                        </a:rPr>
                        <a:t>Business owner (Product Owner, Marketing Business System)</a:t>
                      </a:r>
                    </a:p>
                  </a:txBody>
                  <a:tcPr marL="73152" marR="73152" marT="36576" marB="36576">
                    <a:solidFill>
                      <a:srgbClr val="FFFFFF"/>
                    </a:solidFill>
                  </a:tcPr>
                </a:tc>
                <a:tc>
                  <a:txBody>
                    <a:bodyPr/>
                    <a:lstStyle/>
                    <a:p>
                      <a:r>
                        <a:rPr sz="1100" b="0">
                          <a:solidFill>
                            <a:srgbClr val="4B4B4B"/>
                          </a:solidFill>
                          <a:latin typeface="Arial"/>
                        </a:rPr>
                        <a:t>00 Start Here; 01 Guide deck; FRS chapters 1-3 (context and personas), 22 (proposed rules for confirmation), 14 (walkthroughs), 19 (configuration inputs) and 21 (sign-off); workbook Sign-off certificate</a:t>
                      </a:r>
                    </a:p>
                  </a:txBody>
                  <a:tcPr marL="73152" marR="73152" marT="36576" marB="36576">
                    <a:solidFill>
                      <a:srgbClr val="FFFFFF"/>
                    </a:solidFill>
                  </a:tcPr>
                </a:tc>
              </a:tr>
              <a:tr h="365760">
                <a:tc>
                  <a:txBody>
                    <a:bodyPr/>
                    <a:lstStyle/>
                    <a:p>
                      <a:r>
                        <a:rPr sz="1100" b="0">
                          <a:solidFill>
                            <a:srgbClr val="4B4B4B"/>
                          </a:solidFill>
                          <a:latin typeface="Arial"/>
                        </a:rPr>
                        <a:t>MBS (set-up, versions, masters, incentive criteria)</a:t>
                      </a:r>
                    </a:p>
                  </a:txBody>
                  <a:tcPr marL="73152" marR="73152" marT="36576" marB="36576">
                    <a:solidFill>
                      <a:srgbClr val="E5F5FF"/>
                    </a:solidFill>
                  </a:tcPr>
                </a:tc>
                <a:tc>
                  <a:txBody>
                    <a:bodyPr/>
                    <a:lstStyle/>
                    <a:p>
                      <a:r>
                        <a:rPr sz="1100" b="0">
                          <a:solidFill>
                            <a:srgbClr val="4B4B4B"/>
                          </a:solidFill>
                          <a:latin typeface="Arial"/>
                        </a:rPr>
                        <a:t>FRS chapter 12 (navigation); chapter 13 screens SCR-PM-08 and SCR-PM-11 to SCR-PM-20; walkthrough A steps 1-2 and 15-19; chapter 19 templates CI-01 to CI-06, CI-09 and CI-10; workbook Screen catalogue, Field register, Business rules and Messages of those screens</a:t>
                      </a:r>
                    </a:p>
                  </a:txBody>
                  <a:tcPr marL="73152" marR="73152" marT="36576" marB="36576">
                    <a:solidFill>
                      <a:srgbClr val="E5F5FF"/>
                    </a:solidFill>
                  </a:tcPr>
                </a:tc>
              </a:tr>
              <a:tr h="365760">
                <a:tc>
                  <a:txBody>
                    <a:bodyPr/>
                    <a:lstStyle/>
                    <a:p>
                      <a:r>
                        <a:rPr sz="1100" b="0">
                          <a:solidFill>
                            <a:srgbClr val="4B4B4B"/>
                          </a:solidFill>
                          <a:latin typeface="Arial"/>
                        </a:rPr>
                        <a:t>TSU (requests, negotiation, requirements, advisories, expiry)</a:t>
                      </a:r>
                    </a:p>
                  </a:txBody>
                  <a:tcPr marL="73152" marR="73152" marT="36576" marB="36576">
                    <a:solidFill>
                      <a:srgbClr val="FFFFFF"/>
                    </a:solidFill>
                  </a:tcPr>
                </a:tc>
                <a:tc>
                  <a:txBody>
                    <a:bodyPr/>
                    <a:lstStyle/>
                    <a:p>
                      <a:r>
                        <a:rPr sz="1100" b="0">
                          <a:solidFill>
                            <a:srgbClr val="4B4B4B"/>
                          </a:solidFill>
                          <a:latin typeface="Arial"/>
                        </a:rPr>
                        <a:t>FRS chapter 13 screens SCR-PM-01 to SCR-PM-10; walkthroughs A (steps 5-14 and 20) and B; chapter 17 (documents); chapter 19 template CI-07 (package map); workbook rows of those screens</a:t>
                      </a:r>
                    </a:p>
                  </a:txBody>
                  <a:tcPr marL="73152" marR="73152" marT="36576" marB="36576">
                    <a:solidFill>
                      <a:srgbClr val="FFFFFF"/>
                    </a:solidFill>
                  </a:tcPr>
                </a:tc>
              </a:tr>
              <a:tr h="365760">
                <a:tc>
                  <a:txBody>
                    <a:bodyPr/>
                    <a:lstStyle/>
                    <a:p>
                      <a:r>
                        <a:rPr sz="1100" b="0">
                          <a:solidFill>
                            <a:srgbClr val="4B4B4B"/>
                          </a:solidFill>
                          <a:latin typeface="Arial"/>
                        </a:rPr>
                        <a:t>Marketing (requests, approval, client-specific terms, pricing)</a:t>
                      </a:r>
                    </a:p>
                  </a:txBody>
                  <a:tcPr marL="73152" marR="73152" marT="36576" marB="36576">
                    <a:solidFill>
                      <a:srgbClr val="E5F5FF"/>
                    </a:solidFill>
                  </a:tcPr>
                </a:tc>
                <a:tc>
                  <a:txBody>
                    <a:bodyPr/>
                    <a:lstStyle/>
                    <a:p>
                      <a:r>
                        <a:rPr sz="1100" b="0">
                          <a:solidFill>
                            <a:srgbClr val="4B4B4B"/>
                          </a:solidFill>
                          <a:latin typeface="Arial"/>
                        </a:rPr>
                        <a:t>FRS chapter 13 screens SCR-PM-02 to SCR-PM-04, SCR-PM-21 and SCR-PM-22; walkthrough A steps 3-4 and 21-24; chapter 20 lines IC-01 to IC-03</a:t>
                      </a:r>
                    </a:p>
                  </a:txBody>
                  <a:tcPr marL="73152" marR="73152" marT="36576" marB="36576">
                    <a:solidFill>
                      <a:srgbClr val="E5F5FF"/>
                    </a:solidFill>
                  </a:tcPr>
                </a:tc>
              </a:tr>
              <a:tr h="365760">
                <a:tc>
                  <a:txBody>
                    <a:bodyPr/>
                    <a:lstStyle/>
                    <a:p>
                      <a:r>
                        <a:rPr sz="1100" b="0">
                          <a:solidFill>
                            <a:srgbClr val="4B4B4B"/>
                          </a:solidFill>
                          <a:latin typeface="Arial"/>
                        </a:rPr>
                        <a:t>Finance (Comptrollership)</a:t>
                      </a:r>
                    </a:p>
                  </a:txBody>
                  <a:tcPr marL="73152" marR="73152" marT="36576" marB="36576">
                    <a:solidFill>
                      <a:srgbClr val="FFFFFF"/>
                    </a:solidFill>
                  </a:tcPr>
                </a:tc>
                <a:tc>
                  <a:txBody>
                    <a:bodyPr/>
                    <a:lstStyle/>
                    <a:p>
                      <a:r>
                        <a:rPr sz="1100" b="0">
                          <a:solidFill>
                            <a:srgbClr val="4B4B4B"/>
                          </a:solidFill>
                          <a:latin typeface="Arial"/>
                        </a:rPr>
                        <a:t>Rates &amp; Taxes (SCR-PM-19), Insurer record commission rates (SCR-PM-18), Incentive Criteria (SCR-PM-16); contract lines IC-10 and IC-11 (chapter 20); templates CI-04 and CI-10</a:t>
                      </a:r>
                    </a:p>
                  </a:txBody>
                  <a:tcPr marL="73152" marR="73152" marT="36576" marB="36576">
                    <a:solidFill>
                      <a:srgbClr val="FFFFFF"/>
                    </a:solidFill>
                  </a:tcPr>
                </a:tc>
              </a:tr>
              <a:tr h="365760">
                <a:tc>
                  <a:txBody>
                    <a:bodyPr/>
                    <a:lstStyle/>
                    <a:p>
                      <a:r>
                        <a:rPr sz="1100" b="0">
                          <a:solidFill>
                            <a:srgbClr val="4B4B4B"/>
                          </a:solidFill>
                          <a:latin typeface="Arial"/>
                        </a:rPr>
                        <a:t>BDOI IT</a:t>
                      </a:r>
                    </a:p>
                  </a:txBody>
                  <a:tcPr marL="73152" marR="73152" marT="36576" marB="36576">
                    <a:solidFill>
                      <a:srgbClr val="E5F5FF"/>
                    </a:solidFill>
                  </a:tcPr>
                </a:tc>
                <a:tc>
                  <a:txBody>
                    <a:bodyPr/>
                    <a:lstStyle/>
                    <a:p>
                      <a:r>
                        <a:rPr sz="1100" b="0">
                          <a:solidFill>
                            <a:srgbClr val="4B4B4B"/>
                          </a:solidFill>
                          <a:latin typeface="Arial"/>
                        </a:rPr>
                        <a:t>Interfaces and integration (chapter 7), non-functional requirements (chapter 8), menu by persona (chapter 12), cross-BRD contract (chapter 20); product master feed pending specifications (Guide deck, caveats)</a:t>
                      </a:r>
                    </a:p>
                  </a:txBody>
                  <a:tcPr marL="73152" marR="73152" marT="36576" marB="36576">
                    <a:solidFill>
                      <a:srgbClr val="E5F5FF"/>
                    </a:solidFill>
                  </a:tcPr>
                </a:tc>
              </a:tr>
              <a:tr h="365760">
                <a:tc>
                  <a:txBody>
                    <a:bodyPr/>
                    <a:lstStyle/>
                    <a:p>
                      <a:r>
                        <a:rPr sz="1100" b="0">
                          <a:solidFill>
                            <a:srgbClr val="4B4B4B"/>
                          </a:solidFill>
                          <a:latin typeface="Arial"/>
                        </a:rPr>
                        <a:t>BDOI UX Design team</a:t>
                      </a:r>
                    </a:p>
                  </a:txBody>
                  <a:tcPr marL="73152" marR="73152" marT="36576" marB="36576">
                    <a:solidFill>
                      <a:srgbClr val="FFFFFF"/>
                    </a:solidFill>
                  </a:tcPr>
                </a:tc>
                <a:tc>
                  <a:txBody>
                    <a:bodyPr/>
                    <a:lstStyle/>
                    <a:p>
                      <a:r>
                        <a:rPr sz="1100" b="0">
                          <a:solidFill>
                            <a:srgbClr val="4B4B4B"/>
                          </a:solidFill>
                          <a:latin typeface="Arial"/>
                        </a:rPr>
                        <a:t>07 UX Screen Deck: design foundation and navigation first, then the personas, flows and screens of the design work; 08 UX screen register (filter Changed in this issue at each new issue); 09 image package in the design tool</a:t>
                      </a:r>
                    </a:p>
                  </a:txBody>
                  <a:tcPr marL="73152" marR="73152" marT="36576" marB="36576">
                    <a:solidFill>
                      <a:srgbClr val="FFFFFF"/>
                    </a:solidFill>
                  </a:tcPr>
                </a:tc>
              </a:tr>
              <a:tr h="365760">
                <a:tc>
                  <a:txBody>
                    <a:bodyPr/>
                    <a:lstStyle/>
                    <a:p>
                      <a:r>
                        <a:rPr sz="1100" b="0">
                          <a:solidFill>
                            <a:srgbClr val="4B4B4B"/>
                          </a:solidFill>
                          <a:latin typeface="Arial"/>
                        </a:rPr>
                        <a:t>iorta TechNXT project team</a:t>
                      </a:r>
                    </a:p>
                  </a:txBody>
                  <a:tcPr marL="73152" marR="73152" marT="36576" marB="36576">
                    <a:solidFill>
                      <a:srgbClr val="E5F5FF"/>
                    </a:solidFill>
                  </a:tcPr>
                </a:tc>
                <a:tc>
                  <a:txBody>
                    <a:bodyPr/>
                    <a:lstStyle/>
                    <a:p>
                      <a:r>
                        <a:rPr sz="1100" b="0">
                          <a:solidFill>
                            <a:srgbClr val="4B4B4B"/>
                          </a:solidFill>
                          <a:latin typeface="Arial"/>
                        </a:rPr>
                        <a:t>All documents; keeps the comments log, the meeting minutes and the version history of the workbook, answers every comment and keeps the traceability to SIT and UAT</a:t>
                      </a:r>
                    </a:p>
                  </a:txBody>
                  <a:tcPr marL="73152" marR="73152" marT="36576" marB="36576">
                    <a:solidFill>
                      <a:srgbClr val="E5F5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Approach: from issue to closure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Pack issued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Release set v2.1 in the BRD-03 folder of Drop 0; invitations to the sessions</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Day 0 (Mon 2-Nov-2026)</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Kick-off and screen walkthrough on SIT</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Screens shown live; first questions logged in the comments log; minutes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3 sessions, 4 to 6-Nov-2026</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Review with the workbook; configuration inputs started</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Every row marked Accept, Change requested or Comment; comments log entries; first drafts of the templates</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8 working days after the walkthroughs, until Wed 18-Nov-2026</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Comments consolidated and a Q&amp;A session</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One consolidated comments log, each item typed (clarification, correction, change request) and answered; Q&amp;A minutes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3 working days, Q&amp;A on Mon 23-Nov-2026</a:t>
            </a:r>
          </a:p>
        </p:txBody>
      </p:sp>
      <p:sp>
        <p:nvSpPr>
          <p:cNvPr id="32" name="Rounded Rectangle 31"/>
          <p:cNvSpPr/>
          <p:nvPr/>
        </p:nvSpPr>
        <p:spPr>
          <a:xfrm>
            <a:off x="548640"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8368"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34" name="TextBox 33"/>
          <p:cNvSpPr txBox="1"/>
          <p:nvPr/>
        </p:nvSpPr>
        <p:spPr>
          <a:xfrm>
            <a:off x="1115568" y="3913632"/>
            <a:ext cx="1824913" cy="502920"/>
          </a:xfrm>
          <a:prstGeom prst="rect">
            <a:avLst/>
          </a:prstGeom>
          <a:noFill/>
        </p:spPr>
        <p:txBody>
          <a:bodyPr wrap="square" anchor="ctr" lIns="45720" rIns="45720">
            <a:spAutoFit/>
          </a:bodyPr>
          <a:lstStyle/>
          <a:p>
            <a:r>
              <a:rPr sz="1300" b="1" i="0">
                <a:solidFill>
                  <a:srgbClr val="004EA8"/>
                </a:solidFill>
                <a:latin typeface="Arial"/>
              </a:rPr>
              <a:t>One revision cycle (v2.2)</a:t>
            </a:r>
          </a:p>
        </p:txBody>
      </p:sp>
      <p:sp>
        <p:nvSpPr>
          <p:cNvPr id="35" name="TextBox 34"/>
          <p:cNvSpPr txBox="1"/>
          <p:nvPr/>
        </p:nvSpPr>
        <p:spPr>
          <a:xfrm>
            <a:off x="658368" y="4480560"/>
            <a:ext cx="2245537" cy="822960"/>
          </a:xfrm>
          <a:prstGeom prst="rect">
            <a:avLst/>
          </a:prstGeom>
          <a:noFill/>
        </p:spPr>
        <p:txBody>
          <a:bodyPr wrap="square" anchor="t" lIns="45720" rIns="45720">
            <a:spAutoFit/>
          </a:bodyPr>
          <a:lstStyle/>
          <a:p>
            <a:r>
              <a:rPr sz="1000" b="0" i="0">
                <a:solidFill>
                  <a:srgbClr val="4B4B4B"/>
                </a:solidFill>
                <a:latin typeface="Arial"/>
              </a:rPr>
              <a:t>Release set v2.2 with the changed rows marked; change requests raised for the rest</a:t>
            </a:r>
          </a:p>
        </p:txBody>
      </p:sp>
      <p:sp>
        <p:nvSpPr>
          <p:cNvPr id="36" name="TextBox 35"/>
          <p:cNvSpPr txBox="1"/>
          <p:nvPr/>
        </p:nvSpPr>
        <p:spPr>
          <a:xfrm>
            <a:off x="658368" y="5394960"/>
            <a:ext cx="2245537" cy="384048"/>
          </a:xfrm>
          <a:prstGeom prst="rect">
            <a:avLst/>
          </a:prstGeom>
          <a:noFill/>
        </p:spPr>
        <p:txBody>
          <a:bodyPr wrap="square" anchor="t" lIns="45720" rIns="45720">
            <a:spAutoFit/>
          </a:bodyPr>
          <a:lstStyle/>
          <a:p>
            <a:r>
              <a:rPr sz="1000" b="1" i="0">
                <a:solidFill>
                  <a:srgbClr val="2E2E2E"/>
                </a:solidFill>
                <a:latin typeface="Arial"/>
              </a:rPr>
              <a:t>v2.2 on Wed 25-Nov-2026; check by the reviewers until Fri 27-Nov-2026</a:t>
            </a:r>
          </a:p>
        </p:txBody>
      </p:sp>
      <p:sp>
        <p:nvSpPr>
          <p:cNvPr id="37" name="Right Arrow 36"/>
          <p:cNvSpPr/>
          <p:nvPr/>
        </p:nvSpPr>
        <p:spPr>
          <a:xfrm>
            <a:off x="3077641"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425113"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534841"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40" name="TextBox 39"/>
          <p:cNvSpPr txBox="1"/>
          <p:nvPr/>
        </p:nvSpPr>
        <p:spPr>
          <a:xfrm>
            <a:off x="3992041" y="3913632"/>
            <a:ext cx="1824913" cy="502920"/>
          </a:xfrm>
          <a:prstGeom prst="rect">
            <a:avLst/>
          </a:prstGeom>
          <a:noFill/>
        </p:spPr>
        <p:txBody>
          <a:bodyPr wrap="square" anchor="ctr" lIns="45720" rIns="45720">
            <a:spAutoFit/>
          </a:bodyPr>
          <a:lstStyle/>
          <a:p>
            <a:r>
              <a:rPr sz="1300" b="1" i="0">
                <a:solidFill>
                  <a:srgbClr val="004EA8"/>
                </a:solidFill>
                <a:latin typeface="Arial"/>
              </a:rPr>
              <a:t>Sign-off meeting and signature</a:t>
            </a:r>
          </a:p>
        </p:txBody>
      </p:sp>
      <p:sp>
        <p:nvSpPr>
          <p:cNvPr id="41" name="TextBox 40"/>
          <p:cNvSpPr txBox="1"/>
          <p:nvPr/>
        </p:nvSpPr>
        <p:spPr>
          <a:xfrm>
            <a:off x="3534841" y="4480560"/>
            <a:ext cx="2245537" cy="822960"/>
          </a:xfrm>
          <a:prstGeom prst="rect">
            <a:avLst/>
          </a:prstGeom>
          <a:noFill/>
        </p:spPr>
        <p:txBody>
          <a:bodyPr wrap="square" anchor="t" lIns="45720" rIns="45720">
            <a:spAutoFit/>
          </a:bodyPr>
          <a:lstStyle/>
          <a:p>
            <a:r>
              <a:rPr sz="1000" b="0" i="0">
                <a:solidFill>
                  <a:srgbClr val="4B4B4B"/>
                </a:solidFill>
                <a:latin typeface="Arial"/>
              </a:rPr>
              <a:t>Signed sign-off certificate; minutes; open items accepted as assumptions or change requests</a:t>
            </a:r>
          </a:p>
        </p:txBody>
      </p:sp>
      <p:sp>
        <p:nvSpPr>
          <p:cNvPr id="42" name="TextBox 41"/>
          <p:cNvSpPr txBox="1"/>
          <p:nvPr/>
        </p:nvSpPr>
        <p:spPr>
          <a:xfrm>
            <a:off x="3534841" y="5394960"/>
            <a:ext cx="2245537" cy="384048"/>
          </a:xfrm>
          <a:prstGeom prst="rect">
            <a:avLst/>
          </a:prstGeom>
          <a:noFill/>
        </p:spPr>
        <p:txBody>
          <a:bodyPr wrap="square" anchor="t" lIns="45720" rIns="45720">
            <a:spAutoFit/>
          </a:bodyPr>
          <a:lstStyle/>
          <a:p>
            <a:r>
              <a:rPr sz="1000" b="1" i="0">
                <a:solidFill>
                  <a:srgbClr val="2E2E2E"/>
                </a:solidFill>
                <a:latin typeface="Arial"/>
              </a:rPr>
              <a:t>Mon 30-Nov-2026</a:t>
            </a:r>
          </a:p>
        </p:txBody>
      </p:sp>
      <p:sp>
        <p:nvSpPr>
          <p:cNvPr id="43" name="Right Arrow 42"/>
          <p:cNvSpPr/>
          <p:nvPr/>
        </p:nvSpPr>
        <p:spPr>
          <a:xfrm>
            <a:off x="5954115"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301587"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411315"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46" name="TextBox 45"/>
          <p:cNvSpPr txBox="1"/>
          <p:nvPr/>
        </p:nvSpPr>
        <p:spPr>
          <a:xfrm>
            <a:off x="6868515" y="3913632"/>
            <a:ext cx="1824913" cy="502920"/>
          </a:xfrm>
          <a:prstGeom prst="rect">
            <a:avLst/>
          </a:prstGeom>
          <a:noFill/>
        </p:spPr>
        <p:txBody>
          <a:bodyPr wrap="square" anchor="ctr" lIns="45720" rIns="45720">
            <a:spAutoFit/>
          </a:bodyPr>
          <a:lstStyle/>
          <a:p>
            <a:r>
              <a:rPr sz="1300" b="1" i="0">
                <a:solidFill>
                  <a:srgbClr val="004EA8"/>
                </a:solidFill>
                <a:latin typeface="Arial"/>
              </a:rPr>
              <a:t>Content freeze; configuration and migration inputs</a:t>
            </a:r>
          </a:p>
        </p:txBody>
      </p:sp>
      <p:sp>
        <p:nvSpPr>
          <p:cNvPr id="47" name="TextBox 46"/>
          <p:cNvSpPr txBox="1"/>
          <p:nvPr/>
        </p:nvSpPr>
        <p:spPr>
          <a:xfrm>
            <a:off x="6411315" y="4480560"/>
            <a:ext cx="2245537" cy="822960"/>
          </a:xfrm>
          <a:prstGeom prst="rect">
            <a:avLst/>
          </a:prstGeom>
          <a:noFill/>
        </p:spPr>
        <p:txBody>
          <a:bodyPr wrap="square" anchor="t" lIns="45720" rIns="45720">
            <a:spAutoFit/>
          </a:bodyPr>
          <a:lstStyle/>
          <a:p>
            <a:r>
              <a:rPr sz="1000" b="0" i="0">
                <a:solidFill>
                  <a:srgbClr val="4B4B4B"/>
                </a:solidFill>
                <a:latin typeface="Arial"/>
              </a:rPr>
              <a:t>Content frozen as signed; approved deltas scheduled in the Change Management Register; templates handed to the data migration mocks</a:t>
            </a:r>
          </a:p>
        </p:txBody>
      </p:sp>
      <p:sp>
        <p:nvSpPr>
          <p:cNvPr id="48" name="TextBox 47"/>
          <p:cNvSpPr txBox="1"/>
          <p:nvPr/>
        </p:nvSpPr>
        <p:spPr>
          <a:xfrm>
            <a:off x="6411315" y="5394960"/>
            <a:ext cx="2245537" cy="384048"/>
          </a:xfrm>
          <a:prstGeom prst="rect">
            <a:avLst/>
          </a:prstGeom>
          <a:noFill/>
        </p:spPr>
        <p:txBody>
          <a:bodyPr wrap="square" anchor="t" lIns="45720" rIns="45720">
            <a:spAutoFit/>
          </a:bodyPr>
          <a:lstStyle/>
          <a:p>
            <a:r>
              <a:rPr sz="1000" b="1" i="0">
                <a:solidFill>
                  <a:srgbClr val="2E2E2E"/>
                </a:solidFill>
                <a:latin typeface="Arial"/>
              </a:rPr>
              <a:t>From Tue 1-Dec-2026; templates final at the map freeze</a:t>
            </a:r>
          </a:p>
        </p:txBody>
      </p:sp>
      <p:sp>
        <p:nvSpPr>
          <p:cNvPr id="49" name="Right Arrow 48"/>
          <p:cNvSpPr/>
          <p:nvPr/>
        </p:nvSpPr>
        <p:spPr>
          <a:xfrm>
            <a:off x="8830589" y="471830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178061" y="384048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287789" y="395020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52" name="TextBox 51"/>
          <p:cNvSpPr txBox="1"/>
          <p:nvPr/>
        </p:nvSpPr>
        <p:spPr>
          <a:xfrm>
            <a:off x="9744989" y="3913632"/>
            <a:ext cx="1824913" cy="502920"/>
          </a:xfrm>
          <a:prstGeom prst="rect">
            <a:avLst/>
          </a:prstGeom>
          <a:noFill/>
        </p:spPr>
        <p:txBody>
          <a:bodyPr wrap="square" anchor="ctr" lIns="45720" rIns="45720">
            <a:spAutoFit/>
          </a:bodyPr>
          <a:lstStyle/>
          <a:p>
            <a:r>
              <a:rPr sz="1300" b="1" i="0">
                <a:solidFill>
                  <a:srgbClr val="004EA8"/>
                </a:solidFill>
                <a:latin typeface="Arial"/>
              </a:rPr>
              <a:t>Traceability into SIT and UAT</a:t>
            </a:r>
          </a:p>
        </p:txBody>
      </p:sp>
      <p:sp>
        <p:nvSpPr>
          <p:cNvPr id="53" name="TextBox 52"/>
          <p:cNvSpPr txBox="1"/>
          <p:nvPr/>
        </p:nvSpPr>
        <p:spPr>
          <a:xfrm>
            <a:off x="9287789" y="4480560"/>
            <a:ext cx="2245537" cy="822960"/>
          </a:xfrm>
          <a:prstGeom prst="rect">
            <a:avLst/>
          </a:prstGeom>
          <a:noFill/>
        </p:spPr>
        <p:txBody>
          <a:bodyPr wrap="square" anchor="t" lIns="45720" rIns="45720">
            <a:spAutoFit/>
          </a:bodyPr>
          <a:lstStyle/>
          <a:p>
            <a:r>
              <a:rPr sz="1000" b="0" i="0">
                <a:solidFill>
                  <a:srgbClr val="4B4B4B"/>
                </a:solidFill>
                <a:latin typeface="Arial"/>
              </a:rPr>
              <a:t>SIT and UAT runs traced to the signed screens, rules and messages; results against each row</a:t>
            </a:r>
          </a:p>
        </p:txBody>
      </p:sp>
      <p:sp>
        <p:nvSpPr>
          <p:cNvPr id="54" name="TextBox 53"/>
          <p:cNvSpPr txBox="1"/>
          <p:nvPr/>
        </p:nvSpPr>
        <p:spPr>
          <a:xfrm>
            <a:off x="9287789" y="5394960"/>
            <a:ext cx="2245537" cy="384048"/>
          </a:xfrm>
          <a:prstGeom prst="rect">
            <a:avLst/>
          </a:prstGeom>
          <a:noFill/>
        </p:spPr>
        <p:txBody>
          <a:bodyPr wrap="square" anchor="t" lIns="45720" rIns="45720">
            <a:spAutoFit/>
          </a:bodyPr>
          <a:lstStyle/>
          <a:p>
            <a:r>
              <a:rPr sz="1000" b="1" i="0">
                <a:solidFill>
                  <a:srgbClr val="2E2E2E"/>
                </a:solidFill>
                <a:latin typeface="Arial"/>
              </a:rPr>
              <a:t>SIT Apr - Jul 2027; UAT Aug - Oct 2027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(1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1. Pack issued</a:t>
                      </a:r>
                    </a:p>
                  </a:txBody>
                  <a:tcPr marL="73152" marR="73152" marT="36576" marB="36576">
                    <a:solidFill>
                      <a:srgbClr val="FFFFFF"/>
                    </a:solidFill>
                  </a:tcPr>
                </a:tc>
                <a:tc>
                  <a:txBody>
                    <a:bodyPr/>
                    <a:lstStyle/>
                    <a:p>
                      <a:r>
                        <a:rPr sz="1000" b="0">
                          <a:solidFill>
                            <a:srgbClr val="4B4B4B"/>
                          </a:solidFill>
                          <a:latin typeface="Arial"/>
                        </a:rPr>
                        <a:t>R: iorta TechNXT Project Manager; A: iorta TechNXT delivery lead; I: all reviewers</a:t>
                      </a:r>
                    </a:p>
                  </a:txBody>
                  <a:tcPr marL="73152" marR="73152" marT="36576" marB="36576">
                    <a:solidFill>
                      <a:srgbClr val="FFFFFF"/>
                    </a:solidFill>
                  </a:tcPr>
                </a:tc>
                <a:tc>
                  <a:txBody>
                    <a:bodyPr/>
                    <a:lstStyle/>
                    <a:p>
                      <a:r>
                        <a:rPr sz="1000" b="0">
                          <a:solidFill>
                            <a:srgbClr val="4B4B4B"/>
                          </a:solidFill>
                          <a:latin typeface="Arial"/>
                        </a:rPr>
                        <a:t>FRS v2.1, workbook, test plan, configuration input templates, guide and deck</a:t>
                      </a:r>
                    </a:p>
                  </a:txBody>
                  <a:tcPr marL="73152" marR="73152" marT="36576" marB="36576">
                    <a:solidFill>
                      <a:srgbClr val="FFFFFF"/>
                    </a:solidFill>
                  </a:tcPr>
                </a:tc>
                <a:tc>
                  <a:txBody>
                    <a:bodyPr/>
                    <a:lstStyle/>
                    <a:p>
                      <a:r>
                        <a:rPr sz="1000" b="0">
                          <a:solidFill>
                            <a:srgbClr val="4B4B4B"/>
                          </a:solidFill>
                          <a:latin typeface="Arial"/>
                        </a:rPr>
                        <a:t>Release set v2.1 in the BRD-03 folder of Drop 0; invitations to the sessions</a:t>
                      </a:r>
                    </a:p>
                  </a:txBody>
                  <a:tcPr marL="73152" marR="73152" marT="36576" marB="36576">
                    <a:solidFill>
                      <a:srgbClr val="FFFFFF"/>
                    </a:solidFill>
                  </a:tcPr>
                </a:tc>
                <a:tc>
                  <a:txBody>
                    <a:bodyPr/>
                    <a:lstStyle/>
                    <a:p>
                      <a:r>
                        <a:rPr sz="1000" b="0">
                          <a:solidFill>
                            <a:srgbClr val="4B4B4B"/>
                          </a:solidFill>
                          <a:latin typeface="Arial"/>
                        </a:rPr>
                        <a:t>Day 0 (Mon 2-Nov-2026)</a:t>
                      </a:r>
                    </a:p>
                  </a:txBody>
                  <a:tcPr marL="73152" marR="73152" marT="36576" marB="36576">
                    <a:solidFill>
                      <a:srgbClr val="FFFFFF"/>
                    </a:solidFill>
                  </a:tcPr>
                </a:tc>
              </a:tr>
              <a:tr h="365760">
                <a:tc>
                  <a:txBody>
                    <a:bodyPr/>
                    <a:lstStyle/>
                    <a:p>
                      <a:r>
                        <a:rPr sz="1000" b="0">
                          <a:solidFill>
                            <a:srgbClr val="4B4B4B"/>
                          </a:solidFill>
                          <a:latin typeface="Arial"/>
                        </a:rPr>
                        <a:t>2. Kick-off and screen walkthrough on SIT</a:t>
                      </a:r>
                    </a:p>
                  </a:txBody>
                  <a:tcPr marL="73152" marR="73152" marT="36576" marB="36576">
                    <a:solidFill>
                      <a:srgbClr val="E5F5FF"/>
                    </a:solidFill>
                  </a:tcPr>
                </a:tc>
                <a:tc>
                  <a:txBody>
                    <a:bodyPr/>
                    <a:lstStyle/>
                    <a:p>
                      <a:r>
                        <a:rPr sz="1000" b="0">
                          <a:solidFill>
                            <a:srgbClr val="4B4B4B"/>
                          </a:solidFill>
                          <a:latin typeface="Arial"/>
                        </a:rPr>
                        <a:t>R: iorta TechNXT Business Analysis; A: BDOI Product Owner; C: MBS, TSU and Marketing heads; I: BDOI IT</a:t>
                      </a:r>
                    </a:p>
                  </a:txBody>
                  <a:tcPr marL="73152" marR="73152" marT="36576" marB="36576">
                    <a:solidFill>
                      <a:srgbClr val="E5F5FF"/>
                    </a:solidFill>
                  </a:tcPr>
                </a:tc>
                <a:tc>
                  <a:txBody>
                    <a:bodyPr/>
                    <a:lstStyle/>
                    <a:p>
                      <a:r>
                        <a:rPr sz="1000" b="0">
                          <a:solidFill>
                            <a:srgbClr val="4B4B4B"/>
                          </a:solidFill>
                          <a:latin typeface="Arial"/>
                        </a:rPr>
                        <a:t>Guide deck; SIT users with seed data; walkthroughs A and B</a:t>
                      </a:r>
                    </a:p>
                  </a:txBody>
                  <a:tcPr marL="73152" marR="73152" marT="36576" marB="36576">
                    <a:solidFill>
                      <a:srgbClr val="E5F5FF"/>
                    </a:solidFill>
                  </a:tcPr>
                </a:tc>
                <a:tc>
                  <a:txBody>
                    <a:bodyPr/>
                    <a:lstStyle/>
                    <a:p>
                      <a:r>
                        <a:rPr sz="1000" b="0">
                          <a:solidFill>
                            <a:srgbClr val="4B4B4B"/>
                          </a:solidFill>
                          <a:latin typeface="Arial"/>
                        </a:rPr>
                        <a:t>Screens shown live; first questions logged in the comments log; minutes</a:t>
                      </a:r>
                    </a:p>
                  </a:txBody>
                  <a:tcPr marL="73152" marR="73152" marT="36576" marB="36576">
                    <a:solidFill>
                      <a:srgbClr val="E5F5FF"/>
                    </a:solidFill>
                  </a:tcPr>
                </a:tc>
                <a:tc>
                  <a:txBody>
                    <a:bodyPr/>
                    <a:lstStyle/>
                    <a:p>
                      <a:r>
                        <a:rPr sz="1000" b="0">
                          <a:solidFill>
                            <a:srgbClr val="4B4B4B"/>
                          </a:solidFill>
                          <a:latin typeface="Arial"/>
                        </a:rPr>
                        <a:t>3 sessions, 4 to 6-Nov-2026</a:t>
                      </a:r>
                    </a:p>
                  </a:txBody>
                  <a:tcPr marL="73152" marR="73152" marT="36576" marB="36576">
                    <a:solidFill>
                      <a:srgbClr val="E5F5FF"/>
                    </a:solidFill>
                  </a:tcPr>
                </a:tc>
              </a:tr>
              <a:tr h="365760">
                <a:tc>
                  <a:txBody>
                    <a:bodyPr/>
                    <a:lstStyle/>
                    <a:p>
                      <a:r>
                        <a:rPr sz="1000" b="0">
                          <a:solidFill>
                            <a:srgbClr val="4B4B4B"/>
                          </a:solidFill>
                          <a:latin typeface="Arial"/>
                        </a:rPr>
                        <a:t>3. Review with the workbook; configuration inputs started</a:t>
                      </a:r>
                    </a:p>
                  </a:txBody>
                  <a:tcPr marL="73152" marR="73152" marT="36576" marB="36576">
                    <a:solidFill>
                      <a:srgbClr val="FFFFFF"/>
                    </a:solidFill>
                  </a:tcPr>
                </a:tc>
                <a:tc>
                  <a:txBody>
                    <a:bodyPr/>
                    <a:lstStyle/>
                    <a:p>
                      <a:r>
                        <a:rPr sz="1000" b="0">
                          <a:solidFill>
                            <a:srgbClr val="4B4B4B"/>
                          </a:solidFill>
                          <a:latin typeface="Arial"/>
                        </a:rPr>
                        <a:t>R: business users of MBS, TSU and Marketing; A: unit heads; C: iorta TechNXT (questions)</a:t>
                      </a:r>
                    </a:p>
                  </a:txBody>
                  <a:tcPr marL="73152" marR="73152" marT="36576" marB="36576">
                    <a:solidFill>
                      <a:srgbClr val="FFFFFF"/>
                    </a:solidFill>
                  </a:tcPr>
                </a:tc>
                <a:tc>
                  <a:txBody>
                    <a:bodyPr/>
                    <a:lstStyle/>
                    <a:p>
                      <a:r>
                        <a:rPr sz="1000" b="0">
                          <a:solidFill>
                            <a:srgbClr val="4B4B4B"/>
                          </a:solidFill>
                          <a:latin typeface="Arial"/>
                        </a:rPr>
                        <a:t>FRS chapters of the area; workbook sheets with the BU review columns; the configuration input templates</a:t>
                      </a:r>
                    </a:p>
                  </a:txBody>
                  <a:tcPr marL="73152" marR="73152" marT="36576" marB="36576">
                    <a:solidFill>
                      <a:srgbClr val="FFFFFF"/>
                    </a:solidFill>
                  </a:tcPr>
                </a:tc>
                <a:tc>
                  <a:txBody>
                    <a:bodyPr/>
                    <a:lstStyle/>
                    <a:p>
                      <a:r>
                        <a:rPr sz="1000" b="0">
                          <a:solidFill>
                            <a:srgbClr val="4B4B4B"/>
                          </a:solidFill>
                          <a:latin typeface="Arial"/>
                        </a:rPr>
                        <a:t>Every row marked Accept, Change requested or Comment; comments log entries; first drafts of the templates</a:t>
                      </a:r>
                    </a:p>
                  </a:txBody>
                  <a:tcPr marL="73152" marR="73152" marT="36576" marB="36576">
                    <a:solidFill>
                      <a:srgbClr val="FFFFFF"/>
                    </a:solidFill>
                  </a:tcPr>
                </a:tc>
                <a:tc>
                  <a:txBody>
                    <a:bodyPr/>
                    <a:lstStyle/>
                    <a:p>
                      <a:r>
                        <a:rPr sz="1000" b="0">
                          <a:solidFill>
                            <a:srgbClr val="4B4B4B"/>
                          </a:solidFill>
                          <a:latin typeface="Arial"/>
                        </a:rPr>
                        <a:t>8 working days after the walkthroughs, until Wed 18-Nov-2026</a:t>
                      </a:r>
                    </a:p>
                  </a:txBody>
                  <a:tcPr marL="73152" marR="73152" marT="36576" marB="36576">
                    <a:solidFill>
                      <a:srgbClr val="FFFFFF"/>
                    </a:solidFill>
                  </a:tcPr>
                </a:tc>
              </a:tr>
              <a:tr h="365760">
                <a:tc>
                  <a:txBody>
                    <a:bodyPr/>
                    <a:lstStyle/>
                    <a:p>
                      <a:r>
                        <a:rPr sz="1000" b="0">
                          <a:solidFill>
                            <a:srgbClr val="4B4B4B"/>
                          </a:solidFill>
                          <a:latin typeface="Arial"/>
                        </a:rPr>
                        <a:t>4. Comments consolidated and a Q&amp;A session</a:t>
                      </a:r>
                    </a:p>
                  </a:txBody>
                  <a:tcPr marL="73152" marR="73152" marT="36576" marB="36576">
                    <a:solidFill>
                      <a:srgbClr val="E5F5FF"/>
                    </a:solidFill>
                  </a:tcPr>
                </a:tc>
                <a:tc>
                  <a:txBody>
                    <a:bodyPr/>
                    <a:lstStyle/>
                    <a:p>
                      <a:r>
                        <a:rPr sz="1000" b="0">
                          <a:solidFill>
                            <a:srgbClr val="4B4B4B"/>
                          </a:solidFill>
                          <a:latin typeface="Arial"/>
                        </a:rPr>
                        <a:t>R: iorta TechNXT Project Manager and Business Analysis; A: BDOI Product Owner; C: reviewers</a:t>
                      </a:r>
                    </a:p>
                  </a:txBody>
                  <a:tcPr marL="73152" marR="73152" marT="36576" marB="36576">
                    <a:solidFill>
                      <a:srgbClr val="E5F5FF"/>
                    </a:solidFill>
                  </a:tcPr>
                </a:tc>
                <a:tc>
                  <a:txBody>
                    <a:bodyPr/>
                    <a:lstStyle/>
                    <a:p>
                      <a:r>
                        <a:rPr sz="1000" b="0">
                          <a:solidFill>
                            <a:srgbClr val="4B4B4B"/>
                          </a:solidFill>
                          <a:latin typeface="Arial"/>
                        </a:rPr>
                        <a:t>Returned workbooks</a:t>
                      </a:r>
                    </a:p>
                  </a:txBody>
                  <a:tcPr marL="73152" marR="73152" marT="36576" marB="36576">
                    <a:solidFill>
                      <a:srgbClr val="E5F5FF"/>
                    </a:solidFill>
                  </a:tcPr>
                </a:tc>
                <a:tc>
                  <a:txBody>
                    <a:bodyPr/>
                    <a:lstStyle/>
                    <a:p>
                      <a:r>
                        <a:rPr sz="1000" b="0">
                          <a:solidFill>
                            <a:srgbClr val="4B4B4B"/>
                          </a:solidFill>
                          <a:latin typeface="Arial"/>
                        </a:rPr>
                        <a:t>One consolidated comments log, each item typed (clarification, correction, change request) and answered; Q&amp;A minutes</a:t>
                      </a:r>
                    </a:p>
                  </a:txBody>
                  <a:tcPr marL="73152" marR="73152" marT="36576" marB="36576">
                    <a:solidFill>
                      <a:srgbClr val="E5F5FF"/>
                    </a:solidFill>
                  </a:tcPr>
                </a:tc>
                <a:tc>
                  <a:txBody>
                    <a:bodyPr/>
                    <a:lstStyle/>
                    <a:p>
                      <a:r>
                        <a:rPr sz="1000" b="0">
                          <a:solidFill>
                            <a:srgbClr val="4B4B4B"/>
                          </a:solidFill>
                          <a:latin typeface="Arial"/>
                        </a:rPr>
                        <a:t>3 working days, Q&amp;A on Mon 23-Nov-2026</a:t>
                      </a:r>
                    </a:p>
                  </a:txBody>
                  <a:tcPr marL="73152" marR="73152" marT="36576" marB="36576">
                    <a:solidFill>
                      <a:srgbClr val="E5F5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Steps in detail (2 of 2): who, inputs, outputs, duration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graphicFrame>
        <p:nvGraphicFramePr>
          <p:cNvPr id="9" name="Table 8"/>
          <p:cNvGraphicFramePr>
            <a:graphicFrameLocks noGrp="1"/>
          </p:cNvGraphicFramePr>
          <p:nvPr/>
        </p:nvGraphicFramePr>
        <p:xfrm>
          <a:off x="548640" y="1371600"/>
          <a:ext cx="11094412" cy="1828800"/>
        </p:xfrm>
        <a:graphic>
          <a:graphicData uri="http://schemas.openxmlformats.org/drawingml/2006/table">
            <a:tbl>
              <a:tblPr firstRow="1" bandRow="1">
                <a:tableStyleId>{5C22544A-7EE6-4342-B048-85BDC9FD1C3A}</a:tableStyleId>
              </a:tblPr>
              <a:tblGrid>
                <a:gridCol w="1807978"/>
                <a:gridCol w="2794148"/>
                <a:gridCol w="2301063"/>
                <a:gridCol w="2629787"/>
                <a:gridCol w="1561436"/>
              </a:tblGrid>
              <a:tr h="365760">
                <a:tc>
                  <a:txBody>
                    <a:bodyPr/>
                    <a:lstStyle/>
                    <a:p>
                      <a:r>
                        <a:rPr sz="1000" b="1">
                          <a:solidFill>
                            <a:srgbClr val="FFFFFF"/>
                          </a:solidFill>
                          <a:latin typeface="Arial"/>
                        </a:rPr>
                        <a:t>Step</a:t>
                      </a:r>
                    </a:p>
                  </a:txBody>
                  <a:tcPr marL="73152" marR="73152" marT="36576" marB="36576">
                    <a:solidFill>
                      <a:srgbClr val="004EA8"/>
                    </a:solidFill>
                  </a:tcPr>
                </a:tc>
                <a:tc>
                  <a:txBody>
                    <a:bodyPr/>
                    <a:lstStyle/>
                    <a:p>
                      <a:r>
                        <a:rPr sz="1000" b="1">
                          <a:solidFill>
                            <a:srgbClr val="FFFFFF"/>
                          </a:solidFill>
                          <a:latin typeface="Arial"/>
                        </a:rPr>
                        <a:t>Who (R, A, C, I)</a:t>
                      </a:r>
                    </a:p>
                  </a:txBody>
                  <a:tcPr marL="73152" marR="73152" marT="36576" marB="36576">
                    <a:solidFill>
                      <a:srgbClr val="004EA8"/>
                    </a:solidFill>
                  </a:tcPr>
                </a:tc>
                <a:tc>
                  <a:txBody>
                    <a:bodyPr/>
                    <a:lstStyle/>
                    <a:p>
                      <a:r>
                        <a:rPr sz="1000" b="1">
                          <a:solidFill>
                            <a:srgbClr val="FFFFFF"/>
                          </a:solidFill>
                          <a:latin typeface="Arial"/>
                        </a:rPr>
                        <a:t>Inputs</a:t>
                      </a:r>
                    </a:p>
                  </a:txBody>
                  <a:tcPr marL="73152" marR="73152" marT="36576" marB="36576">
                    <a:solidFill>
                      <a:srgbClr val="004EA8"/>
                    </a:solidFill>
                  </a:tcPr>
                </a:tc>
                <a:tc>
                  <a:txBody>
                    <a:bodyPr/>
                    <a:lstStyle/>
                    <a:p>
                      <a:r>
                        <a:rPr sz="1000" b="1">
                          <a:solidFill>
                            <a:srgbClr val="FFFFFF"/>
                          </a:solidFill>
                          <a:latin typeface="Arial"/>
                        </a:rPr>
                        <a:t>Outputs</a:t>
                      </a:r>
                    </a:p>
                  </a:txBody>
                  <a:tcPr marL="73152" marR="73152" marT="36576" marB="36576">
                    <a:solidFill>
                      <a:srgbClr val="004EA8"/>
                    </a:solidFill>
                  </a:tcPr>
                </a:tc>
                <a:tc>
                  <a:txBody>
                    <a:bodyPr/>
                    <a:lstStyle/>
                    <a:p>
                      <a:r>
                        <a:rPr sz="1000" b="1">
                          <a:solidFill>
                            <a:srgbClr val="FFFFFF"/>
                          </a:solidFill>
                          <a:latin typeface="Arial"/>
                        </a:rPr>
                        <a:t>Duration</a:t>
                      </a:r>
                    </a:p>
                  </a:txBody>
                  <a:tcPr marL="73152" marR="73152" marT="36576" marB="36576">
                    <a:solidFill>
                      <a:srgbClr val="004EA8"/>
                    </a:solidFill>
                  </a:tcPr>
                </a:tc>
              </a:tr>
              <a:tr h="365760">
                <a:tc>
                  <a:txBody>
                    <a:bodyPr/>
                    <a:lstStyle/>
                    <a:p>
                      <a:r>
                        <a:rPr sz="1000" b="0">
                          <a:solidFill>
                            <a:srgbClr val="4B4B4B"/>
                          </a:solidFill>
                          <a:latin typeface="Arial"/>
                        </a:rPr>
                        <a:t>5. One revision cycle (v2.2)</a:t>
                      </a:r>
                    </a:p>
                  </a:txBody>
                  <a:tcPr marL="73152" marR="73152" marT="36576" marB="36576">
                    <a:solidFill>
                      <a:srgbClr val="FFFFFF"/>
                    </a:solidFill>
                  </a:tcPr>
                </a:tc>
                <a:tc>
                  <a:txBody>
                    <a:bodyPr/>
                    <a:lstStyle/>
                    <a:p>
                      <a:r>
                        <a:rPr sz="1000" b="0">
                          <a:solidFill>
                            <a:srgbClr val="4B4B4B"/>
                          </a:solidFill>
                          <a:latin typeface="Arial"/>
                        </a:rPr>
                        <a:t>R: iorta TechNXT Business Analysis; A: iorta TechNXT delivery lead; C: reviewers who raised the items</a:t>
                      </a:r>
                    </a:p>
                  </a:txBody>
                  <a:tcPr marL="73152" marR="73152" marT="36576" marB="36576">
                    <a:solidFill>
                      <a:srgbClr val="FFFFFF"/>
                    </a:solidFill>
                  </a:tcPr>
                </a:tc>
                <a:tc>
                  <a:txBody>
                    <a:bodyPr/>
                    <a:lstStyle/>
                    <a:p>
                      <a:r>
                        <a:rPr sz="1000" b="0">
                          <a:solidFill>
                            <a:srgbClr val="4B4B4B"/>
                          </a:solidFill>
                          <a:latin typeface="Arial"/>
                        </a:rPr>
                        <a:t>Agreed clarifications and corrections</a:t>
                      </a:r>
                    </a:p>
                  </a:txBody>
                  <a:tcPr marL="73152" marR="73152" marT="36576" marB="36576">
                    <a:solidFill>
                      <a:srgbClr val="FFFFFF"/>
                    </a:solidFill>
                  </a:tcPr>
                </a:tc>
                <a:tc>
                  <a:txBody>
                    <a:bodyPr/>
                    <a:lstStyle/>
                    <a:p>
                      <a:r>
                        <a:rPr sz="1000" b="0">
                          <a:solidFill>
                            <a:srgbClr val="4B4B4B"/>
                          </a:solidFill>
                          <a:latin typeface="Arial"/>
                        </a:rPr>
                        <a:t>Release set v2.2 with the changed rows marked; change requests raised for the rest</a:t>
                      </a:r>
                    </a:p>
                  </a:txBody>
                  <a:tcPr marL="73152" marR="73152" marT="36576" marB="36576">
                    <a:solidFill>
                      <a:srgbClr val="FFFFFF"/>
                    </a:solidFill>
                  </a:tcPr>
                </a:tc>
                <a:tc>
                  <a:txBody>
                    <a:bodyPr/>
                    <a:lstStyle/>
                    <a:p>
                      <a:r>
                        <a:rPr sz="1000" b="0">
                          <a:solidFill>
                            <a:srgbClr val="4B4B4B"/>
                          </a:solidFill>
                          <a:latin typeface="Arial"/>
                        </a:rPr>
                        <a:t>v2.2 on Wed 25-Nov-2026; check by the reviewers until Fri 27-Nov-2026</a:t>
                      </a:r>
                    </a:p>
                  </a:txBody>
                  <a:tcPr marL="73152" marR="73152" marT="36576" marB="36576">
                    <a:solidFill>
                      <a:srgbClr val="FFFFFF"/>
                    </a:solidFill>
                  </a:tcPr>
                </a:tc>
              </a:tr>
              <a:tr h="365760">
                <a:tc>
                  <a:txBody>
                    <a:bodyPr/>
                    <a:lstStyle/>
                    <a:p>
                      <a:r>
                        <a:rPr sz="1000" b="0">
                          <a:solidFill>
                            <a:srgbClr val="4B4B4B"/>
                          </a:solidFill>
                          <a:latin typeface="Arial"/>
                        </a:rPr>
                        <a:t>6. Sign-off meeting and signature</a:t>
                      </a:r>
                    </a:p>
                  </a:txBody>
                  <a:tcPr marL="73152" marR="73152" marT="36576" marB="36576">
                    <a:solidFill>
                      <a:srgbClr val="E5F5FF"/>
                    </a:solidFill>
                  </a:tcPr>
                </a:tc>
                <a:tc>
                  <a:txBody>
                    <a:bodyPr/>
                    <a:lstStyle/>
                    <a:p>
                      <a:r>
                        <a:rPr sz="1000" b="0">
                          <a:solidFill>
                            <a:srgbClr val="4B4B4B"/>
                          </a:solidFill>
                          <a:latin typeface="Arial"/>
                        </a:rPr>
                        <a:t>R: iorta TechNXT Project Manager; A: BDOI Product Owner; C: MBS, TSU, Marketing, Finance, BDOI IT</a:t>
                      </a:r>
                    </a:p>
                  </a:txBody>
                  <a:tcPr marL="73152" marR="73152" marT="36576" marB="36576">
                    <a:solidFill>
                      <a:srgbClr val="E5F5FF"/>
                    </a:solidFill>
                  </a:tcPr>
                </a:tc>
                <a:tc>
                  <a:txBody>
                    <a:bodyPr/>
                    <a:lstStyle/>
                    <a:p>
                      <a:r>
                        <a:rPr sz="1000" b="0">
                          <a:solidFill>
                            <a:srgbClr val="4B4B4B"/>
                          </a:solidFill>
                          <a:latin typeface="Arial"/>
                        </a:rPr>
                        <a:t>v2.2 (or v2.1 when no revision is needed); open items with their decision</a:t>
                      </a:r>
                    </a:p>
                  </a:txBody>
                  <a:tcPr marL="73152" marR="73152" marT="36576" marB="36576">
                    <a:solidFill>
                      <a:srgbClr val="E5F5FF"/>
                    </a:solidFill>
                  </a:tcPr>
                </a:tc>
                <a:tc>
                  <a:txBody>
                    <a:bodyPr/>
                    <a:lstStyle/>
                    <a:p>
                      <a:r>
                        <a:rPr sz="1000" b="0">
                          <a:solidFill>
                            <a:srgbClr val="4B4B4B"/>
                          </a:solidFill>
                          <a:latin typeface="Arial"/>
                        </a:rPr>
                        <a:t>Signed sign-off certificate; minutes; open items accepted as assumptions or change requests</a:t>
                      </a:r>
                    </a:p>
                  </a:txBody>
                  <a:tcPr marL="73152" marR="73152" marT="36576" marB="36576">
                    <a:solidFill>
                      <a:srgbClr val="E5F5FF"/>
                    </a:solidFill>
                  </a:tcPr>
                </a:tc>
                <a:tc>
                  <a:txBody>
                    <a:bodyPr/>
                    <a:lstStyle/>
                    <a:p>
                      <a:r>
                        <a:rPr sz="1000" b="0">
                          <a:solidFill>
                            <a:srgbClr val="4B4B4B"/>
                          </a:solidFill>
                          <a:latin typeface="Arial"/>
                        </a:rPr>
                        <a:t>Mon 30-Nov-2026</a:t>
                      </a:r>
                    </a:p>
                  </a:txBody>
                  <a:tcPr marL="73152" marR="73152" marT="36576" marB="36576">
                    <a:solidFill>
                      <a:srgbClr val="E5F5FF"/>
                    </a:solidFill>
                  </a:tcPr>
                </a:tc>
              </a:tr>
              <a:tr h="365760">
                <a:tc>
                  <a:txBody>
                    <a:bodyPr/>
                    <a:lstStyle/>
                    <a:p>
                      <a:r>
                        <a:rPr sz="1000" b="0">
                          <a:solidFill>
                            <a:srgbClr val="4B4B4B"/>
                          </a:solidFill>
                          <a:latin typeface="Arial"/>
                        </a:rPr>
                        <a:t>7. Content freeze; configuration and migration inputs</a:t>
                      </a:r>
                    </a:p>
                  </a:txBody>
                  <a:tcPr marL="73152" marR="73152" marT="36576" marB="36576">
                    <a:solidFill>
                      <a:srgbClr val="FFFFFF"/>
                    </a:solidFill>
                  </a:tcPr>
                </a:tc>
                <a:tc>
                  <a:txBody>
                    <a:bodyPr/>
                    <a:lstStyle/>
                    <a:p>
                      <a:r>
                        <a:rPr sz="1000" b="0">
                          <a:solidFill>
                            <a:srgbClr val="4B4B4B"/>
                          </a:solidFill>
                          <a:latin typeface="Arial"/>
                        </a:rPr>
                        <a:t>R: iorta TechNXT delivery lead; A: BDOI Product Owner; I: BDOI IT, other BRD owners, Data Migration working group</a:t>
                      </a:r>
                    </a:p>
                  </a:txBody>
                  <a:tcPr marL="73152" marR="73152" marT="36576" marB="36576">
                    <a:solidFill>
                      <a:srgbClr val="FFFFFF"/>
                    </a:solidFill>
                  </a:tcPr>
                </a:tc>
                <a:tc>
                  <a:txBody>
                    <a:bodyPr/>
                    <a:lstStyle/>
                    <a:p>
                      <a:r>
                        <a:rPr sz="1000" b="0">
                          <a:solidFill>
                            <a:srgbClr val="4B4B4B"/>
                          </a:solidFill>
                          <a:latin typeface="Arial"/>
                        </a:rPr>
                        <a:t>Signed set; change requests with mandays; filled configuration input templates</a:t>
                      </a:r>
                    </a:p>
                  </a:txBody>
                  <a:tcPr marL="73152" marR="73152" marT="36576" marB="36576">
                    <a:solidFill>
                      <a:srgbClr val="FFFFFF"/>
                    </a:solidFill>
                  </a:tcPr>
                </a:tc>
                <a:tc>
                  <a:txBody>
                    <a:bodyPr/>
                    <a:lstStyle/>
                    <a:p>
                      <a:r>
                        <a:rPr sz="1000" b="0">
                          <a:solidFill>
                            <a:srgbClr val="4B4B4B"/>
                          </a:solidFill>
                          <a:latin typeface="Arial"/>
                        </a:rPr>
                        <a:t>Content frozen as signed; approved deltas scheduled in the Change Management Register; templates handed to the data migration mocks</a:t>
                      </a:r>
                    </a:p>
                  </a:txBody>
                  <a:tcPr marL="73152" marR="73152" marT="36576" marB="36576">
                    <a:solidFill>
                      <a:srgbClr val="FFFFFF"/>
                    </a:solidFill>
                  </a:tcPr>
                </a:tc>
                <a:tc>
                  <a:txBody>
                    <a:bodyPr/>
                    <a:lstStyle/>
                    <a:p>
                      <a:r>
                        <a:rPr sz="1000" b="0">
                          <a:solidFill>
                            <a:srgbClr val="4B4B4B"/>
                          </a:solidFill>
                          <a:latin typeface="Arial"/>
                        </a:rPr>
                        <a:t>From Tue 1-Dec-2026; templates final at the map freeze</a:t>
                      </a:r>
                    </a:p>
                  </a:txBody>
                  <a:tcPr marL="73152" marR="73152" marT="36576" marB="36576">
                    <a:solidFill>
                      <a:srgbClr val="FFFFFF"/>
                    </a:solidFill>
                  </a:tcPr>
                </a:tc>
              </a:tr>
              <a:tr h="365760">
                <a:tc>
                  <a:txBody>
                    <a:bodyPr/>
                    <a:lstStyle/>
                    <a:p>
                      <a:r>
                        <a:rPr sz="1000" b="0">
                          <a:solidFill>
                            <a:srgbClr val="4B4B4B"/>
                          </a:solidFill>
                          <a:latin typeface="Arial"/>
                        </a:rPr>
                        <a:t>8. Traceability into SIT and UAT</a:t>
                      </a:r>
                    </a:p>
                  </a:txBody>
                  <a:tcPr marL="73152" marR="73152" marT="36576" marB="36576">
                    <a:solidFill>
                      <a:srgbClr val="E5F5FF"/>
                    </a:solidFill>
                  </a:tcPr>
                </a:tc>
                <a:tc>
                  <a:txBody>
                    <a:bodyPr/>
                    <a:lstStyle/>
                    <a:p>
                      <a:r>
                        <a:rPr sz="1000" b="0">
                          <a:solidFill>
                            <a:srgbClr val="4B4B4B"/>
                          </a:solidFill>
                          <a:latin typeface="Arial"/>
                        </a:rPr>
                        <a:t>R: iorta TechNXT test lead; A: BDOI Product Owner; C: business users</a:t>
                      </a:r>
                    </a:p>
                  </a:txBody>
                  <a:tcPr marL="73152" marR="73152" marT="36576" marB="36576">
                    <a:solidFill>
                      <a:srgbClr val="E5F5FF"/>
                    </a:solidFill>
                  </a:tcPr>
                </a:tc>
                <a:tc>
                  <a:txBody>
                    <a:bodyPr/>
                    <a:lstStyle/>
                    <a:p>
                      <a:r>
                        <a:rPr sz="1000" b="0">
                          <a:solidFill>
                            <a:srgbClr val="4B4B4B"/>
                          </a:solidFill>
                          <a:latin typeface="Arial"/>
                        </a:rPr>
                        <a:t>Signed FRS rows and test plan</a:t>
                      </a:r>
                    </a:p>
                  </a:txBody>
                  <a:tcPr marL="73152" marR="73152" marT="36576" marB="36576">
                    <a:solidFill>
                      <a:srgbClr val="E5F5FF"/>
                    </a:solidFill>
                  </a:tcPr>
                </a:tc>
                <a:tc>
                  <a:txBody>
                    <a:bodyPr/>
                    <a:lstStyle/>
                    <a:p>
                      <a:r>
                        <a:rPr sz="1000" b="0">
                          <a:solidFill>
                            <a:srgbClr val="4B4B4B"/>
                          </a:solidFill>
                          <a:latin typeface="Arial"/>
                        </a:rPr>
                        <a:t>SIT and UAT runs traced to the signed screens, rules and messages; results against each row</a:t>
                      </a:r>
                    </a:p>
                  </a:txBody>
                  <a:tcPr marL="73152" marR="73152" marT="36576" marB="36576">
                    <a:solidFill>
                      <a:srgbClr val="E5F5FF"/>
                    </a:solidFill>
                  </a:tcPr>
                </a:tc>
                <a:tc>
                  <a:txBody>
                    <a:bodyPr/>
                    <a:lstStyle/>
                    <a:p>
                      <a:r>
                        <a:rPr sz="1000" b="0">
                          <a:solidFill>
                            <a:srgbClr val="4B4B4B"/>
                          </a:solidFill>
                          <a:latin typeface="Arial"/>
                        </a:rPr>
                        <a:t>SIT Apr - Jul 2027; UAT Aug - Oct 2027</a:t>
                      </a:r>
                    </a:p>
                  </a:txBody>
                  <a:tcPr marL="73152" marR="73152" marT="36576" marB="36576">
                    <a:solidFill>
                      <a:srgbClr val="E5F5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71600"/>
          <a:ext cx="11094412" cy="256032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Screens and fields (FRS screen specifications; workbook Screen catalogue, Field register)</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MBS, Program Manager (BPS)</a:t>
                      </a:r>
                    </a:p>
                  </a:txBody>
                  <a:tcPr marL="73152" marR="73152" marT="36576" marB="36576">
                    <a:solidFill>
                      <a:srgbClr val="FFFFFF"/>
                    </a:solidFill>
                  </a:tcPr>
                </a:tc>
                <a:tc>
                  <a:txBody>
                    <a:bodyPr/>
                    <a:lstStyle/>
                    <a:p>
                      <a:r>
                        <a:rPr sz="900" b="0">
                          <a:solidFill>
                            <a:srgbClr val="4B4B4B"/>
                          </a:solidFill>
                          <a:latin typeface="Arial"/>
                        </a:rPr>
                        <a:t>Product Owner, UH Claims and TU, UH Combank and Corbank, Head Retail Marketing, Head Corporate and Retail Marketing</a:t>
                      </a:r>
                    </a:p>
                  </a:txBody>
                  <a:tcPr marL="73152" marR="73152" marT="36576" marB="36576">
                    <a:solidFill>
                      <a:srgbClr val="FFFFFF"/>
                    </a:solidFill>
                  </a:tcPr>
                </a:tc>
              </a:tr>
              <a:tr h="365760">
                <a:tc>
                  <a:txBody>
                    <a:bodyPr/>
                    <a:lstStyle/>
                    <a:p>
                      <a:r>
                        <a:rPr sz="900" b="0">
                          <a:solidFill>
                            <a:srgbClr val="4B4B4B"/>
                          </a:solidFill>
                          <a:latin typeface="Arial"/>
                        </a:rPr>
                        <a:t>Business rules and validations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TSU, MBS, BA (BPS)</a:t>
                      </a:r>
                    </a:p>
                  </a:txBody>
                  <a:tcPr marL="73152" marR="73152" marT="36576" marB="36576">
                    <a:solidFill>
                      <a:srgbClr val="E5F5FF"/>
                    </a:solidFill>
                  </a:tcPr>
                </a:tc>
                <a:tc>
                  <a:txBody>
                    <a:bodyPr/>
                    <a:lstStyle/>
                    <a:p>
                      <a:r>
                        <a:rPr sz="900" b="0">
                          <a:solidFill>
                            <a:srgbClr val="4B4B4B"/>
                          </a:solidFill>
                          <a:latin typeface="Arial"/>
                        </a:rPr>
                        <a:t>MBS, Program Manager (BPS)</a:t>
                      </a:r>
                    </a:p>
                  </a:txBody>
                  <a:tcPr marL="73152" marR="73152" marT="36576" marB="36576">
                    <a:solidFill>
                      <a:srgbClr val="E5F5FF"/>
                    </a:solidFill>
                  </a:tcPr>
                </a:tc>
                <a:tc>
                  <a:txBody>
                    <a:bodyPr/>
                    <a:lstStyle/>
                    <a:p>
                      <a:r>
                        <a:rPr sz="900" b="0">
                          <a:solidFill>
                            <a:srgbClr val="4B4B4B"/>
                          </a:solidFill>
                          <a:latin typeface="Arial"/>
                        </a:rPr>
                        <a:t>Product Owner, UH Claims and TU, Head Comptrollership</a:t>
                      </a:r>
                    </a:p>
                  </a:txBody>
                  <a:tcPr marL="73152" marR="73152" marT="36576" marB="36576">
                    <a:solidFill>
                      <a:srgbClr val="E5F5FF"/>
                    </a:solidFill>
                  </a:tcPr>
                </a:tc>
              </a:tr>
              <a:tr h="365760">
                <a:tc>
                  <a:txBody>
                    <a:bodyPr/>
                    <a:lstStyle/>
                    <a:p>
                      <a:r>
                        <a:rPr sz="900" b="0">
                          <a:solidFill>
                            <a:srgbClr val="4B4B4B"/>
                          </a:solidFill>
                          <a:latin typeface="Arial"/>
                        </a:rPr>
                        <a:t>Messages and notifications</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Documents and reports (quotation slip, comparative, advisories, catalogue reports)</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TSU, MBS</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 UH Claims and TU</a:t>
                      </a:r>
                    </a:p>
                  </a:txBody>
                  <a:tcPr marL="73152" marR="73152" marT="36576" marB="36576">
                    <a:solidFill>
                      <a:srgbClr val="E5F5FF"/>
                    </a:solidFill>
                  </a:tcPr>
                </a:tc>
              </a:tr>
              <a:tr h="365760">
                <a:tc>
                  <a:txBody>
                    <a:bodyPr/>
                    <a:lstStyle/>
                    <a:p>
                      <a:r>
                        <a:rPr sz="900" b="0">
                          <a:solidFill>
                            <a:srgbClr val="4B4B4B"/>
                          </a:solidFill>
                          <a:latin typeface="Arial"/>
                        </a:rPr>
                        <a:t>Walkthroughs (end-to-end, screen by screen)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UX screen deck, UX screen register and image package (07 to 09, for the BDOI UX Design team; the screens as specified in this set)</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TSU, MBS</a:t>
                      </a:r>
                    </a:p>
                  </a:txBody>
                  <a:tcPr marL="73152" marR="73152" marT="36576" marB="36576">
                    <a:solidFill>
                      <a:srgbClr val="E5F5FF"/>
                    </a:solidFill>
                  </a:tcPr>
                </a:tc>
                <a:tc>
                  <a:txBody>
                    <a:bodyPr/>
                    <a:lstStyle/>
                    <a:p>
                      <a:r>
                        <a:rPr sz="900" b="0">
                          <a:solidFill>
                            <a:srgbClr val="4B4B4B"/>
                          </a:solidFill>
                          <a:latin typeface="Arial"/>
                        </a:rPr>
                        <a:t>Program Manager (BPS)</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parts of the set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71600"/>
          <a:ext cx="11094412" cy="2194560"/>
        </p:xfrm>
        <a:graphic>
          <a:graphicData uri="http://schemas.openxmlformats.org/drawingml/2006/table">
            <a:tbl>
              <a:tblPr firstRow="1" bandRow="1">
                <a:tableStyleId>{5C22544A-7EE6-4342-B048-85BDC9FD1C3A}</a:tableStyleId>
              </a:tblPr>
              <a:tblGrid>
                <a:gridCol w="3522036"/>
                <a:gridCol w="1496865"/>
                <a:gridCol w="2025170"/>
                <a:gridCol w="1937120"/>
                <a:gridCol w="2113221"/>
              </a:tblGrid>
              <a:tr h="365760">
                <a:tc>
                  <a:txBody>
                    <a:bodyPr/>
                    <a:lstStyle/>
                    <a:p>
                      <a:r>
                        <a:rPr sz="900" b="1">
                          <a:solidFill>
                            <a:srgbClr val="FFFFFF"/>
                          </a:solidFill>
                          <a:latin typeface="Arial"/>
                        </a:rPr>
                        <a:t>Part of the set</a:t>
                      </a:r>
                    </a:p>
                  </a:txBody>
                  <a:tcPr marL="73152" marR="73152" marT="36576" marB="36576">
                    <a:solidFill>
                      <a:srgbClr val="004EA8"/>
                    </a:solidFill>
                  </a:tcPr>
                </a:tc>
                <a:tc>
                  <a:txBody>
                    <a:bodyPr/>
                    <a:lstStyle/>
                    <a:p>
                      <a:r>
                        <a:rPr sz="900" b="1">
                          <a:solidFill>
                            <a:srgbClr val="FFFFFF"/>
                          </a:solidFill>
                          <a:latin typeface="Arial"/>
                        </a:rPr>
                        <a:t>Prepares</a:t>
                      </a:r>
                    </a:p>
                  </a:txBody>
                  <a:tcPr marL="73152" marR="73152" marT="36576" marB="36576">
                    <a:solidFill>
                      <a:srgbClr val="004EA8"/>
                    </a:solidFill>
                  </a:tcPr>
                </a:tc>
                <a:tc>
                  <a:txBody>
                    <a:bodyPr/>
                    <a:lstStyle/>
                    <a:p>
                      <a:r>
                        <a:rPr sz="900" b="1">
                          <a:solidFill>
                            <a:srgbClr val="FFFFFF"/>
                          </a:solidFill>
                          <a:latin typeface="Arial"/>
                        </a:rPr>
                        <a:t>Provides input</a:t>
                      </a:r>
                    </a:p>
                  </a:txBody>
                  <a:tcPr marL="73152" marR="73152" marT="36576" marB="36576">
                    <a:solidFill>
                      <a:srgbClr val="004EA8"/>
                    </a:solidFill>
                  </a:tcPr>
                </a:tc>
                <a:tc>
                  <a:txBody>
                    <a:bodyPr/>
                    <a:lstStyle/>
                    <a:p>
                      <a:r>
                        <a:rPr sz="900" b="1">
                          <a:solidFill>
                            <a:srgbClr val="FFFFFF"/>
                          </a:solidFill>
                          <a:latin typeface="Arial"/>
                        </a:rPr>
                        <a:t>Reviews</a:t>
                      </a:r>
                    </a:p>
                  </a:txBody>
                  <a:tcPr marL="73152" marR="73152" marT="36576" marB="36576">
                    <a:solidFill>
                      <a:srgbClr val="004EA8"/>
                    </a:solidFill>
                  </a:tcPr>
                </a:tc>
                <a:tc>
                  <a:txBody>
                    <a:bodyPr/>
                    <a:lstStyle/>
                    <a:p>
                      <a:r>
                        <a:rPr sz="900" b="1">
                          <a:solidFill>
                            <a:srgbClr val="FFFFFF"/>
                          </a:solidFill>
                          <a:latin typeface="Arial"/>
                        </a:rPr>
                        <a:t>Approves</a:t>
                      </a:r>
                    </a:p>
                  </a:txBody>
                  <a:tcPr marL="73152" marR="73152" marT="36576" marB="36576">
                    <a:solidFill>
                      <a:srgbClr val="004EA8"/>
                    </a:solidFill>
                  </a:tcPr>
                </a:tc>
              </a:tr>
              <a:tr h="365760">
                <a:tc>
                  <a:txBody>
                    <a:bodyPr/>
                    <a:lstStyle/>
                    <a:p>
                      <a:r>
                        <a:rPr sz="900" b="0">
                          <a:solidFill>
                            <a:srgbClr val="4B4B4B"/>
                          </a:solidFill>
                          <a:latin typeface="Arial"/>
                        </a:rPr>
                        <a:t>Proposed business rules and clarifications for confirmation</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BA (BPS), MBS, TSU</a:t>
                      </a:r>
                    </a:p>
                  </a:txBody>
                  <a:tcPr marL="73152" marR="73152" marT="36576" marB="36576">
                    <a:solidFill>
                      <a:srgbClr val="FFFFFF"/>
                    </a:solidFill>
                  </a:tcPr>
                </a:tc>
                <a:tc>
                  <a:txBody>
                    <a:bodyPr/>
                    <a:lstStyle/>
                    <a:p>
                      <a:r>
                        <a:rPr sz="900" b="0">
                          <a:solidFill>
                            <a:srgbClr val="4B4B4B"/>
                          </a:solidFill>
                          <a:latin typeface="Arial"/>
                        </a:rPr>
                        <a:t>Program Manager (BPS)</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Interfaces, user access and menus by persona</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a:t>
                      </a:r>
                    </a:p>
                  </a:txBody>
                  <a:tcPr marL="73152" marR="73152" marT="36576" marB="36576">
                    <a:solidFill>
                      <a:srgbClr val="E5F5FF"/>
                    </a:solidFill>
                  </a:tcPr>
                </a:tc>
                <a:tc>
                  <a:txBody>
                    <a:bodyPr/>
                    <a:lstStyle/>
                    <a:p>
                      <a:r>
                        <a:rPr sz="900" b="0">
                          <a:solidFill>
                            <a:srgbClr val="4B4B4B"/>
                          </a:solidFill>
                          <a:latin typeface="Arial"/>
                        </a:rPr>
                        <a:t>BDOI IT</a:t>
                      </a:r>
                    </a:p>
                  </a:txBody>
                  <a:tcPr marL="73152" marR="73152" marT="36576" marB="36576">
                    <a:solidFill>
                      <a:srgbClr val="E5F5FF"/>
                    </a:solidFill>
                  </a:tcPr>
                </a:tc>
                <a:tc>
                  <a:txBody>
                    <a:bodyPr/>
                    <a:lstStyle/>
                    <a:p>
                      <a:r>
                        <a:rPr sz="900" b="0">
                          <a:solidFill>
                            <a:srgbClr val="4B4B4B"/>
                          </a:solidFill>
                          <a:latin typeface="Arial"/>
                        </a:rPr>
                        <a:t>Product Owner</a:t>
                      </a:r>
                    </a:p>
                  </a:txBody>
                  <a:tcPr marL="73152" marR="73152" marT="36576" marB="36576">
                    <a:solidFill>
                      <a:srgbClr val="E5F5FF"/>
                    </a:solidFill>
                  </a:tcPr>
                </a:tc>
              </a:tr>
              <a:tr h="365760">
                <a:tc>
                  <a:txBody>
                    <a:bodyPr/>
                    <a:lstStyle/>
                    <a:p>
                      <a:r>
                        <a:rPr sz="900" b="0">
                          <a:solidFill>
                            <a:srgbClr val="4B4B4B"/>
                          </a:solidFill>
                          <a:latin typeface="Arial"/>
                        </a:rPr>
                        <a:t>Test plan (04 workbook, 05 summary)</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TSU, MBS</a:t>
                      </a:r>
                    </a:p>
                  </a:txBody>
                  <a:tcPr marL="73152" marR="73152" marT="36576" marB="36576">
                    <a:solidFill>
                      <a:srgbClr val="FFFFFF"/>
                    </a:solidFill>
                  </a:tcPr>
                </a:tc>
                <a:tc>
                  <a:txBody>
                    <a:bodyPr/>
                    <a:lstStyle/>
                    <a:p>
                      <a:r>
                        <a:rPr sz="900" b="0">
                          <a:solidFill>
                            <a:srgbClr val="4B4B4B"/>
                          </a:solidFill>
                          <a:latin typeface="Arial"/>
                        </a:rPr>
                        <a:t>Program Manager (BPS), BDOI IT</a:t>
                      </a:r>
                    </a:p>
                  </a:txBody>
                  <a:tcPr marL="73152" marR="73152" marT="36576" marB="36576">
                    <a:solidFill>
                      <a:srgbClr val="FFFFFF"/>
                    </a:solidFill>
                  </a:tcPr>
                </a:tc>
                <a:tc>
                  <a:txBody>
                    <a:bodyPr/>
                    <a:lstStyle/>
                    <a:p>
                      <a:r>
                        <a:rPr sz="900" b="0">
                          <a:solidFill>
                            <a:srgbClr val="4B4B4B"/>
                          </a:solidFill>
                          <a:latin typeface="Arial"/>
                        </a:rPr>
                        <a:t>Product Owner</a:t>
                      </a:r>
                    </a:p>
                  </a:txBody>
                  <a:tcPr marL="73152" marR="73152" marT="36576" marB="36576">
                    <a:solidFill>
                      <a:srgbClr val="FFFFFF"/>
                    </a:solidFill>
                  </a:tcPr>
                </a:tc>
              </a:tr>
              <a:tr h="365760">
                <a:tc>
                  <a:txBody>
                    <a:bodyPr/>
                    <a:lstStyle/>
                    <a:p>
                      <a:r>
                        <a:rPr sz="900" b="0">
                          <a:solidFill>
                            <a:srgbClr val="4B4B4B"/>
                          </a:solidFill>
                          <a:latin typeface="Arial"/>
                        </a:rPr>
                        <a:t>Configuration inputs (06 templates, Drop 0)</a:t>
                      </a:r>
                    </a:p>
                  </a:txBody>
                  <a:tcPr marL="73152" marR="73152" marT="36576" marB="36576">
                    <a:solidFill>
                      <a:srgbClr val="E5F5FF"/>
                    </a:solidFill>
                  </a:tcPr>
                </a:tc>
                <a:tc>
                  <a:txBody>
                    <a:bodyPr/>
                    <a:lstStyle/>
                    <a:p>
                      <a:r>
                        <a:rPr sz="900" b="0">
                          <a:solidFill>
                            <a:srgbClr val="4B4B4B"/>
                          </a:solidFill>
                          <a:latin typeface="Arial"/>
                        </a:rPr>
                        <a:t>iorta TechNXT</a:t>
                      </a:r>
                    </a:p>
                  </a:txBody>
                  <a:tcPr marL="73152" marR="73152" marT="36576" marB="36576">
                    <a:solidFill>
                      <a:srgbClr val="E5F5FF"/>
                    </a:solidFill>
                  </a:tcPr>
                </a:tc>
                <a:tc>
                  <a:txBody>
                    <a:bodyPr/>
                    <a:lstStyle/>
                    <a:p>
                      <a:r>
                        <a:rPr sz="900" b="0">
                          <a:solidFill>
                            <a:srgbClr val="4B4B4B"/>
                          </a:solidFill>
                          <a:latin typeface="Arial"/>
                        </a:rPr>
                        <a:t>MBS, TSU</a:t>
                      </a:r>
                    </a:p>
                  </a:txBody>
                  <a:tcPr marL="73152" marR="73152" marT="36576" marB="36576">
                    <a:solidFill>
                      <a:srgbClr val="E5F5FF"/>
                    </a:solidFill>
                  </a:tcPr>
                </a:tc>
                <a:tc>
                  <a:txBody>
                    <a:bodyPr/>
                    <a:lstStyle/>
                    <a:p>
                      <a:r>
                        <a:rPr sz="900" b="0">
                          <a:solidFill>
                            <a:srgbClr val="4B4B4B"/>
                          </a:solidFill>
                          <a:latin typeface="Arial"/>
                        </a:rPr>
                        <a:t>MBS, Program Manager (BPS)</a:t>
                      </a:r>
                    </a:p>
                  </a:txBody>
                  <a:tcPr marL="73152" marR="73152" marT="36576" marB="36576">
                    <a:solidFill>
                      <a:srgbClr val="E5F5FF"/>
                    </a:solidFill>
                  </a:tcPr>
                </a:tc>
                <a:tc>
                  <a:txBody>
                    <a:bodyPr/>
                    <a:lstStyle/>
                    <a:p>
                      <a:r>
                        <a:rPr sz="900" b="0">
                          <a:solidFill>
                            <a:srgbClr val="4B4B4B"/>
                          </a:solidFill>
                          <a:latin typeface="Arial"/>
                        </a:rPr>
                        <a:t>Product Owner, Head Comptrollership</a:t>
                      </a:r>
                    </a:p>
                  </a:txBody>
                  <a:tcPr marL="73152" marR="73152" marT="36576" marB="36576">
                    <a:solidFill>
                      <a:srgbClr val="E5F5FF"/>
                    </a:solidFill>
                  </a:tcPr>
                </a:tc>
              </a:tr>
              <a:tr h="365760">
                <a:tc>
                  <a:txBody>
                    <a:bodyPr/>
                    <a:lstStyle/>
                    <a:p>
                      <a:r>
                        <a:rPr sz="900" b="0">
                          <a:solidFill>
                            <a:srgbClr val="4B4B4B"/>
                          </a:solidFill>
                          <a:latin typeface="Arial"/>
                        </a:rPr>
                        <a:t>Technical Specification (separate document, not part of the business sign-off)</a:t>
                      </a:r>
                    </a:p>
                  </a:txBody>
                  <a:tcPr marL="73152" marR="73152" marT="36576" marB="36576">
                    <a:solidFill>
                      <a:srgbClr val="FFFFFF"/>
                    </a:solidFill>
                  </a:tcPr>
                </a:tc>
                <a:tc>
                  <a:txBody>
                    <a:bodyPr/>
                    <a:lstStyle/>
                    <a:p>
                      <a:r>
                        <a:rPr sz="900" b="0">
                          <a:solidFill>
                            <a:srgbClr val="4B4B4B"/>
                          </a:solidFill>
                          <a:latin typeface="Arial"/>
                        </a:rPr>
                        <a:t>iorta TechNXT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c>
                  <a:txBody>
                    <a:bodyPr/>
                    <a:lstStyle/>
                    <a:p>
                      <a:r>
                        <a:rPr sz="900" b="0">
                          <a:solidFill>
                            <a:srgbClr val="4B4B4B"/>
                          </a:solidFill>
                          <a:latin typeface="Arial"/>
                        </a:rPr>
                        <a:t>BDOI IT</a:t>
                      </a:r>
                    </a:p>
                  </a:txBody>
                  <a:tcPr marL="73152"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Prepared by</a:t>
                      </a:r>
                    </a:p>
                  </a:txBody>
                  <a:tcPr marL="73152" marR="73152" marT="36576" marB="36576">
                    <a:solidFill>
                      <a:srgbClr val="FFFFFF"/>
                    </a:solidFill>
                  </a:tcPr>
                </a:tc>
                <a:tc>
                  <a:txBody>
                    <a:bodyPr/>
                    <a:lstStyle/>
                    <a:p>
                      <a:r>
                        <a:rPr sz="900" b="0">
                          <a:solidFill>
                            <a:srgbClr val="4B4B4B"/>
                          </a:solidFill>
                          <a:latin typeface="Arial"/>
                        </a:rPr>
                        <a:t>iorta TechNXT project team: Project Manager, Business Analysis, test lead (iorta TechNXT)</a:t>
                      </a:r>
                    </a:p>
                  </a:txBody>
                  <a:tcPr marL="73152" marR="73152" marT="36576" marB="36576">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73152" marR="73152" marT="36576" marB="36576">
                    <a:solidFill>
                      <a:srgbClr val="FFFFFF"/>
                    </a:solidFill>
                  </a:tcPr>
                </a:tc>
              </a:tr>
              <a:tr h="365760">
                <a:tc>
                  <a:txBody>
                    <a:bodyPr/>
                    <a:lstStyle/>
                    <a:p>
                      <a:r>
                        <a:rPr sz="900" b="0">
                          <a:solidFill>
                            <a:srgbClr val="4B4B4B"/>
                          </a:solidFill>
                          <a:latin typeface="Arial"/>
                        </a:rPr>
                        <a:t>Prepared by</a:t>
                      </a:r>
                    </a:p>
                  </a:txBody>
                  <a:tcPr marL="73152" marR="73152" marT="36576" marB="36576">
                    <a:solidFill>
                      <a:srgbClr val="E5F5FF"/>
                    </a:solidFill>
                  </a:tcPr>
                </a:tc>
                <a:tc>
                  <a:txBody>
                    <a:bodyPr/>
                    <a:lstStyle/>
                    <a:p>
                      <a:r>
                        <a:rPr sz="900" b="0">
                          <a:solidFill>
                            <a:srgbClr val="4B4B4B"/>
                          </a:solidFill>
                          <a:latin typeface="Arial"/>
                        </a:rPr>
                        <a:t>Business Analyst, Enterprise Services Group - Business Project Services (BPS) (BDO Unibank ESG)</a:t>
                      </a:r>
                    </a:p>
                  </a:txBody>
                  <a:tcPr marL="73152" marR="73152" marT="36576" marB="36576">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73152" marR="73152" marT="36576" marB="36576">
                    <a:solidFill>
                      <a:srgbClr val="E5F5FF"/>
                    </a:solidFill>
                  </a:tcPr>
                </a:tc>
              </a:tr>
              <a:tr h="365760">
                <a:tc>
                  <a:txBody>
                    <a:bodyPr/>
                    <a:lstStyle/>
                    <a:p>
                      <a:r>
                        <a:rPr sz="900" b="0">
                          <a:solidFill>
                            <a:srgbClr val="4B4B4B"/>
                          </a:solidFill>
                          <a:latin typeface="Arial"/>
                        </a:rPr>
                        <a:t>Input provided by</a:t>
                      </a:r>
                    </a:p>
                  </a:txBody>
                  <a:tcPr marL="73152" marR="73152" marT="36576" marB="36576">
                    <a:solidFill>
                      <a:srgbClr val="FFFFFF"/>
                    </a:solidFill>
                  </a:tcPr>
                </a:tc>
                <a:tc>
                  <a:txBody>
                    <a:bodyPr/>
                    <a:lstStyle/>
                    <a:p>
                      <a:r>
                        <a:rPr sz="900" b="0">
                          <a:solidFill>
                            <a:srgbClr val="4B4B4B"/>
                          </a:solidFill>
                          <a:latin typeface="Arial"/>
                        </a:rPr>
                        <a:t>Technical Support Unit (TSU), BU representatives (BDOI)</a:t>
                      </a:r>
                    </a:p>
                  </a:txBody>
                  <a:tcPr marL="73152" marR="73152" marT="36576" marB="36576">
                    <a:solidFill>
                      <a:srgbClr val="FFFFFF"/>
                    </a:solidFill>
                  </a:tcPr>
                </a:tc>
                <a:tc>
                  <a:txBody>
                    <a:bodyPr/>
                    <a:lstStyle/>
                    <a:p>
                      <a:r>
                        <a:rPr sz="900" b="0">
                          <a:solidFill>
                            <a:srgbClr val="4B4B4B"/>
                          </a:solidFill>
                          <a:latin typeface="Arial"/>
                        </a:rPr>
                        <a:t>The package request, negotiation, requirements, advisory and expiry screens match the business input</a:t>
                      </a:r>
                    </a:p>
                  </a:txBody>
                  <a:tcPr marL="73152" marR="73152" marT="36576" marB="36576">
                    <a:solidFill>
                      <a:srgbClr val="FFFFFF"/>
                    </a:solidFill>
                  </a:tcPr>
                </a:tc>
              </a:tr>
              <a:tr h="365760">
                <a:tc>
                  <a:txBody>
                    <a:bodyPr/>
                    <a:lstStyle/>
                    <a:p>
                      <a:r>
                        <a:rPr sz="900" b="0">
                          <a:solidFill>
                            <a:srgbClr val="4B4B4B"/>
                          </a:solidFill>
                          <a:latin typeface="Arial"/>
                        </a:rPr>
                        <a:t>Input provided by</a:t>
                      </a:r>
                    </a:p>
                  </a:txBody>
                  <a:tcPr marL="73152" marR="73152" marT="36576" marB="36576">
                    <a:solidFill>
                      <a:srgbClr val="E5F5FF"/>
                    </a:solidFill>
                  </a:tcPr>
                </a:tc>
                <a:tc>
                  <a:txBody>
                    <a:bodyPr/>
                    <a:lstStyle/>
                    <a:p>
                      <a:r>
                        <a:rPr sz="900" b="0">
                          <a:solidFill>
                            <a:srgbClr val="4B4B4B"/>
                          </a:solidFill>
                          <a:latin typeface="Arial"/>
                        </a:rPr>
                        <a:t>Marketing Business System (MBS), BU representatives (BDOI)</a:t>
                      </a:r>
                    </a:p>
                  </a:txBody>
                  <a:tcPr marL="73152" marR="73152" marT="36576" marB="36576">
                    <a:solidFill>
                      <a:srgbClr val="E5F5FF"/>
                    </a:solidFill>
                  </a:tcPr>
                </a:tc>
                <a:tc>
                  <a:txBody>
                    <a:bodyPr/>
                    <a:lstStyle/>
                    <a:p>
                      <a:r>
                        <a:rPr sz="900" b="0">
                          <a:solidFill>
                            <a:srgbClr val="4B4B4B"/>
                          </a:solidFill>
                          <a:latin typeface="Arial"/>
                        </a:rPr>
                        <a:t>The set-up, version, master and incentive screens and the configuration inputs match the business input</a:t>
                      </a:r>
                    </a:p>
                  </a:txBody>
                  <a:tcPr marL="73152" marR="73152" marT="36576" marB="36576">
                    <a:solidFill>
                      <a:srgbClr val="E5F5FF"/>
                    </a:solidFill>
                  </a:tcPr>
                </a:tc>
              </a:tr>
              <a:tr h="365760">
                <a:tc>
                  <a:txBody>
                    <a:bodyPr/>
                    <a:lstStyle/>
                    <a:p>
                      <a:r>
                        <a:rPr sz="900" b="0">
                          <a:solidFill>
                            <a:srgbClr val="4B4B4B"/>
                          </a:solidFill>
                          <a:latin typeface="Arial"/>
                        </a:rPr>
                        <a:t>Reviewed by</a:t>
                      </a:r>
                    </a:p>
                  </a:txBody>
                  <a:tcPr marL="73152" marR="73152" marT="36576" marB="36576">
                    <a:solidFill>
                      <a:srgbClr val="FFFFFF"/>
                    </a:solidFill>
                  </a:tcPr>
                </a:tc>
                <a:tc>
                  <a:txBody>
                    <a:bodyPr/>
                    <a:lstStyle/>
                    <a:p>
                      <a:r>
                        <a:rPr sz="900" b="0">
                          <a:solidFill>
                            <a:srgbClr val="4B4B4B"/>
                          </a:solidFill>
                          <a:latin typeface="Arial"/>
                        </a:rPr>
                        <a:t>Program Manager, Enterprise Services Group - Business Project Services (BPS) (BDO Unibank ESG)</a:t>
                      </a:r>
                    </a:p>
                  </a:txBody>
                  <a:tcPr marL="73152" marR="73152" marT="36576" marB="36576">
                    <a:solidFill>
                      <a:srgbClr val="FFFFFF"/>
                    </a:solidFill>
                  </a:tcPr>
                </a:tc>
                <a:tc>
                  <a:txBody>
                    <a:bodyPr/>
                    <a:lstStyle/>
                    <a:p>
                      <a:r>
                        <a:rPr sz="900" b="0">
                          <a:solidFill>
                            <a:srgbClr val="4B4B4B"/>
                          </a:solidFill>
                          <a:latin typeface="Arial"/>
                        </a:rPr>
                        <a:t>Traceability of every BRD requirement to the set and completeness of the set</a:t>
                      </a:r>
                    </a:p>
                  </a:txBody>
                  <a:tcPr marL="73152" marR="73152" marT="36576" marB="36576">
                    <a:solidFill>
                      <a:srgbClr val="FFFFFF"/>
                    </a:solidFill>
                  </a:tcPr>
                </a:tc>
              </a:tr>
              <a:tr h="365760">
                <a:tc>
                  <a:txBody>
                    <a:bodyPr/>
                    <a:lstStyle/>
                    <a:p>
                      <a:r>
                        <a:rPr sz="900" b="0">
                          <a:solidFill>
                            <a:srgbClr val="4B4B4B"/>
                          </a:solidFill>
                          <a:latin typeface="Arial"/>
                        </a:rPr>
                        <a:t>Reviewed by</a:t>
                      </a:r>
                    </a:p>
                  </a:txBody>
                  <a:tcPr marL="73152" marR="73152" marT="36576" marB="36576">
                    <a:solidFill>
                      <a:srgbClr val="E5F5FF"/>
                    </a:solidFill>
                  </a:tcPr>
                </a:tc>
                <a:tc>
                  <a:txBody>
                    <a:bodyPr/>
                    <a:lstStyle/>
                    <a:p>
                      <a:r>
                        <a:rPr sz="900" b="0">
                          <a:solidFill>
                            <a:srgbClr val="4B4B4B"/>
                          </a:solidFill>
                          <a:latin typeface="Arial"/>
                        </a:rPr>
                        <a:t>BDOI Information Technology Group (BDOI IT) (BDOI)</a:t>
                      </a:r>
                    </a:p>
                  </a:txBody>
                  <a:tcPr marL="73152" marR="73152" marT="36576" marB="36576">
                    <a:solidFill>
                      <a:srgbClr val="E5F5FF"/>
                    </a:solidFill>
                  </a:tcPr>
                </a:tc>
                <a:tc>
                  <a:txBody>
                    <a:bodyPr/>
                    <a:lstStyle/>
                    <a:p>
                      <a:r>
                        <a:rPr sz="900" b="0">
                          <a:solidFill>
                            <a:srgbClr val="4B4B4B"/>
                          </a:solidFill>
                          <a:latin typeface="Arial"/>
                        </a:rPr>
                        <a:t>Interfaces, user access and menus, and the Technical Specification (a separate document); not the business screens</a:t>
                      </a:r>
                    </a:p>
                  </a:txBody>
                  <a:tcPr marL="73152" marR="73152" marT="36576" marB="36576">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signs what: signatories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71600"/>
          <a:ext cx="11094413" cy="2560320"/>
        </p:xfrm>
        <a:graphic>
          <a:graphicData uri="http://schemas.openxmlformats.org/drawingml/2006/table">
            <a:tbl>
              <a:tblPr firstRow="1" bandRow="1">
                <a:tableStyleId>{5C22544A-7EE6-4342-B048-85BDC9FD1C3A}</a:tableStyleId>
              </a:tblPr>
              <a:tblGrid>
                <a:gridCol w="1672967"/>
                <a:gridCol w="4050341"/>
                <a:gridCol w="5371105"/>
              </a:tblGrid>
              <a:tr h="365760">
                <a:tc>
                  <a:txBody>
                    <a:bodyPr/>
                    <a:lstStyle/>
                    <a:p>
                      <a:r>
                        <a:rPr sz="900" b="1">
                          <a:solidFill>
                            <a:srgbClr val="FFFFFF"/>
                          </a:solidFill>
                          <a:latin typeface="Arial"/>
                        </a:rPr>
                        <a:t>Capacity</a:t>
                      </a:r>
                    </a:p>
                  </a:txBody>
                  <a:tcPr marL="73152" marR="73152" marT="36576" marB="36576">
                    <a:solidFill>
                      <a:srgbClr val="004EA8"/>
                    </a:solidFill>
                  </a:tcPr>
                </a:tc>
                <a:tc>
                  <a:txBody>
                    <a:bodyPr/>
                    <a:lstStyle/>
                    <a:p>
                      <a:r>
                        <a:rPr sz="900" b="1">
                          <a:solidFill>
                            <a:srgbClr val="FFFFFF"/>
                          </a:solidFill>
                          <a:latin typeface="Arial"/>
                        </a:rPr>
                        <a:t>Role</a:t>
                      </a:r>
                    </a:p>
                  </a:txBody>
                  <a:tcPr marL="73152" marR="73152" marT="36576" marB="36576">
                    <a:solidFill>
                      <a:srgbClr val="004EA8"/>
                    </a:solidFill>
                  </a:tcPr>
                </a:tc>
                <a:tc>
                  <a:txBody>
                    <a:bodyPr/>
                    <a:lstStyle/>
                    <a:p>
                      <a:r>
                        <a:rPr sz="900" b="1">
                          <a:solidFill>
                            <a:srgbClr val="FFFFFF"/>
                          </a:solidFill>
                          <a:latin typeface="Arial"/>
                        </a:rPr>
                        <a:t>Confirms by signing</a:t>
                      </a:r>
                    </a:p>
                  </a:txBody>
                  <a:tcPr marL="73152" marR="73152" marT="36576" marB="36576">
                    <a:solidFill>
                      <a:srgbClr val="004EA8"/>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Product Owner, Marketing Business System (BDOI)</a:t>
                      </a:r>
                    </a:p>
                  </a:txBody>
                  <a:tcPr marL="73152" marR="73152" marT="36576" marB="36576">
                    <a:solidFill>
                      <a:srgbClr val="FFFFFF"/>
                    </a:solidFill>
                  </a:tcPr>
                </a:tc>
                <a:tc>
                  <a:txBody>
                    <a:bodyPr/>
                    <a:lstStyle/>
                    <a:p>
                      <a:r>
                        <a:rPr sz="900" b="0">
                          <a:solidFill>
                            <a:srgbClr val="4B4B4B"/>
                          </a:solidFill>
                          <a:latin typeface="Arial"/>
                        </a:rPr>
                        <a:t>Owns the set and approves all of its contents</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Unit Head - Claims, Analytics, Risk Management, Reinsurance and Technical Underwriting (BDOI)</a:t>
                      </a:r>
                    </a:p>
                  </a:txBody>
                  <a:tcPr marL="73152" marR="73152" marT="36576" marB="36576">
                    <a:solidFill>
                      <a:srgbClr val="E5F5FF"/>
                    </a:solidFill>
                  </a:tcPr>
                </a:tc>
                <a:tc>
                  <a:txBody>
                    <a:bodyPr/>
                    <a:lstStyle/>
                    <a:p>
                      <a:r>
                        <a:rPr sz="900" b="0">
                          <a:solidFill>
                            <a:srgbClr val="4B4B4B"/>
                          </a:solidFill>
                          <a:latin typeface="Arial"/>
                        </a:rPr>
                        <a:t>The TSU part: package requests, negotiation, requirements, advisories and expiry</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Unit Head - Combank and Corbank (BDOI)</a:t>
                      </a:r>
                    </a:p>
                  </a:txBody>
                  <a:tcPr marL="73152" marR="73152" marT="36576" marB="36576">
                    <a:solidFill>
                      <a:srgbClr val="FFFFFF"/>
                    </a:solidFill>
                  </a:tcPr>
                </a:tc>
                <a:tc>
                  <a:txBody>
                    <a:bodyPr/>
                    <a:lstStyle/>
                    <a:p>
                      <a:r>
                        <a:rPr sz="900" b="0">
                          <a:solidFill>
                            <a:srgbClr val="4B4B4B"/>
                          </a:solidFill>
                          <a:latin typeface="Arial"/>
                        </a:rPr>
                        <a:t>Package requests, approvals and pricing for Combank and Corbank</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Retail Marketing (BDOI)</a:t>
                      </a:r>
                    </a:p>
                  </a:txBody>
                  <a:tcPr marL="73152" marR="73152" marT="36576" marB="36576">
                    <a:solidFill>
                      <a:srgbClr val="E5F5FF"/>
                    </a:solidFill>
                  </a:tcPr>
                </a:tc>
                <a:tc>
                  <a:txBody>
                    <a:bodyPr/>
                    <a:lstStyle/>
                    <a:p>
                      <a:r>
                        <a:rPr sz="900" b="0">
                          <a:solidFill>
                            <a:srgbClr val="4B4B4B"/>
                          </a:solidFill>
                          <a:latin typeface="Arial"/>
                        </a:rPr>
                        <a:t>Package requests, approvals and pricing for Retail Marketing</a:t>
                      </a:r>
                    </a:p>
                  </a:txBody>
                  <a:tcPr marL="73152" marR="73152" marT="36576" marB="36576">
                    <a:solidFill>
                      <a:srgbClr val="E5F5FF"/>
                    </a:solidFill>
                  </a:tcPr>
                </a:tc>
              </a:tr>
              <a:tr h="365760">
                <a:tc>
                  <a:txBody>
                    <a:bodyPr/>
                    <a:lstStyle/>
                    <a:p>
                      <a:r>
                        <a:rPr sz="900" b="0">
                          <a:solidFill>
                            <a:srgbClr val="4B4B4B"/>
                          </a:solidFill>
                          <a:latin typeface="Arial"/>
                        </a:rPr>
                        <a:t>Approved by</a:t>
                      </a:r>
                    </a:p>
                  </a:txBody>
                  <a:tcPr marL="73152" marR="73152" marT="36576" marB="36576">
                    <a:solidFill>
                      <a:srgbClr val="FFFFFF"/>
                    </a:solidFill>
                  </a:tcPr>
                </a:tc>
                <a:tc>
                  <a:txBody>
                    <a:bodyPr/>
                    <a:lstStyle/>
                    <a:p>
                      <a:r>
                        <a:rPr sz="900" b="0">
                          <a:solidFill>
                            <a:srgbClr val="4B4B4B"/>
                          </a:solidFill>
                          <a:latin typeface="Arial"/>
                        </a:rPr>
                        <a:t>Head - Corporate and Retail Marketing (BDOI)</a:t>
                      </a:r>
                    </a:p>
                  </a:txBody>
                  <a:tcPr marL="73152" marR="73152" marT="36576" marB="36576">
                    <a:solidFill>
                      <a:srgbClr val="FFFFFF"/>
                    </a:solidFill>
                  </a:tcPr>
                </a:tc>
                <a:tc>
                  <a:txBody>
                    <a:bodyPr/>
                    <a:lstStyle/>
                    <a:p>
                      <a:r>
                        <a:rPr sz="900" b="0">
                          <a:solidFill>
                            <a:srgbClr val="4B4B4B"/>
                          </a:solidFill>
                          <a:latin typeface="Arial"/>
                        </a:rPr>
                        <a:t>Package requests, approvals and pricing for Corporate Marketing</a:t>
                      </a:r>
                    </a:p>
                  </a:txBody>
                  <a:tcPr marL="73152" marR="73152" marT="36576" marB="36576">
                    <a:solidFill>
                      <a:srgbClr val="FFFFFF"/>
                    </a:solidFill>
                  </a:tcPr>
                </a:tc>
              </a:tr>
              <a:tr h="365760">
                <a:tc>
                  <a:txBody>
                    <a:bodyPr/>
                    <a:lstStyle/>
                    <a:p>
                      <a:r>
                        <a:rPr sz="900" b="0">
                          <a:solidFill>
                            <a:srgbClr val="4B4B4B"/>
                          </a:solidFill>
                          <a:latin typeface="Arial"/>
                        </a:rPr>
                        <a:t>Approved by</a:t>
                      </a:r>
                    </a:p>
                  </a:txBody>
                  <a:tcPr marL="73152" marR="73152" marT="36576" marB="36576">
                    <a:solidFill>
                      <a:srgbClr val="E5F5FF"/>
                    </a:solidFill>
                  </a:tcPr>
                </a:tc>
                <a:tc>
                  <a:txBody>
                    <a:bodyPr/>
                    <a:lstStyle/>
                    <a:p>
                      <a:r>
                        <a:rPr sz="900" b="0">
                          <a:solidFill>
                            <a:srgbClr val="4B4B4B"/>
                          </a:solidFill>
                          <a:latin typeface="Arial"/>
                        </a:rPr>
                        <a:t>Head - Comptrollership (BDOI)</a:t>
                      </a:r>
                    </a:p>
                  </a:txBody>
                  <a:tcPr marL="73152" marR="73152" marT="36576" marB="36576">
                    <a:solidFill>
                      <a:srgbClr val="E5F5FF"/>
                    </a:solidFill>
                  </a:tcPr>
                </a:tc>
                <a:tc>
                  <a:txBody>
                    <a:bodyPr/>
                    <a:lstStyle/>
                    <a:p>
                      <a:r>
                        <a:rPr sz="900" b="0">
                          <a:solidFill>
                            <a:srgbClr val="4B4B4B"/>
                          </a:solidFill>
                          <a:latin typeface="Arial"/>
                        </a:rPr>
                        <a:t>Rates and taxes, commission rates and incentive criteria</a:t>
                      </a:r>
                    </a:p>
                  </a:txBody>
                  <a:tcPr marL="73152" marR="73152" marT="36576" marB="36576">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fill in the sign-off workbook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signoff-workbook-field-register.png"/>
          <p:cNvPicPr>
            <a:picLocks noChangeAspect="1"/>
          </p:cNvPicPr>
          <p:nvPr/>
        </p:nvPicPr>
        <p:blipFill>
          <a:blip r:embed="rId3"/>
          <a:stretch>
            <a:fillRect/>
          </a:stretch>
        </p:blipFill>
        <p:spPr>
          <a:xfrm>
            <a:off x="548640" y="1325880"/>
            <a:ext cx="7498079" cy="2262578"/>
          </a:xfrm>
          <a:prstGeom prst="rect">
            <a:avLst/>
          </a:prstGeom>
          <a:ln w="9525">
            <a:solidFill>
              <a:srgbClr val="C2C2C1"/>
            </a:solidFill>
          </a:ln>
        </p:spPr>
      </p:pic>
      <p:sp>
        <p:nvSpPr>
          <p:cNvPr id="10" name="TextBox 9"/>
          <p:cNvSpPr txBox="1"/>
          <p:nvPr/>
        </p:nvSpPr>
        <p:spPr>
          <a:xfrm>
            <a:off x="548640" y="5852160"/>
            <a:ext cx="7498079" cy="320040"/>
          </a:xfrm>
          <a:prstGeom prst="rect">
            <a:avLst/>
          </a:prstGeom>
          <a:noFill/>
        </p:spPr>
        <p:txBody>
          <a:bodyPr wrap="square" anchor="t" lIns="45720" rIns="45720">
            <a:spAutoFit/>
          </a:bodyPr>
          <a:lstStyle/>
          <a:p>
            <a:pPr algn="ctr"/>
            <a:r>
              <a:rPr sz="1100" b="0" i="1">
                <a:solidFill>
                  <a:srgbClr val="656565"/>
                </a:solidFill>
                <a:latin typeface="Arial"/>
              </a:rPr>
              <a:t>Field register sheet of the sign-off workbook</a:t>
            </a:r>
          </a:p>
        </p:txBody>
      </p:sp>
      <p:sp>
        <p:nvSpPr>
          <p:cNvPr id="11" name="Rectangle 10"/>
          <p:cNvSpPr/>
          <p:nvPr/>
        </p:nvSpPr>
        <p:spPr>
          <a:xfrm>
            <a:off x="8321039" y="1325880"/>
            <a:ext cx="3322016" cy="48463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39" y="1325880"/>
            <a:ext cx="50800" cy="48463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199" y="1417320"/>
            <a:ext cx="3093416" cy="4480560"/>
          </a:xfrm>
          <a:prstGeom prst="rect">
            <a:avLst/>
          </a:prstGeom>
          <a:noFill/>
        </p:spPr>
        <p:txBody>
          <a:bodyPr wrap="square">
            <a:spAutoFit/>
          </a:bodyPr>
          <a:lstStyle/>
          <a:p>
            <a:pPr>
              <a:spcAft>
                <a:spcPts val="600"/>
              </a:spcAft>
            </a:pPr>
            <a:r>
              <a:rPr sz="1300">
                <a:solidFill>
                  <a:srgbClr val="004EA8"/>
                </a:solidFill>
                <a:latin typeface="Arial"/>
              </a:rPr>
              <a:t>•  </a:t>
            </a:r>
            <a:r>
              <a:rPr sz="1300">
                <a:solidFill>
                  <a:srgbClr val="4B4B4B"/>
                </a:solidFill>
                <a:latin typeface="Arial"/>
              </a:rPr>
              <a:t>Review the rows of your area on Screen standards, Screen catalogue, Field register, Business rules, Messages</a:t>
            </a:r>
          </a:p>
          <a:p>
            <a:pPr>
              <a:spcAft>
                <a:spcPts val="600"/>
              </a:spcAft>
            </a:pPr>
            <a:r>
              <a:rPr sz="1300">
                <a:solidFill>
                  <a:srgbClr val="004EA8"/>
                </a:solidFill>
                <a:latin typeface="Arial"/>
              </a:rPr>
              <a:t>•  </a:t>
            </a:r>
            <a:r>
              <a:rPr sz="1300">
                <a:solidFill>
                  <a:srgbClr val="4B4B4B"/>
                </a:solidFill>
                <a:latin typeface="Arial"/>
              </a:rPr>
              <a:t>BU review: Accept, Change requested or Comment</a:t>
            </a:r>
          </a:p>
          <a:p>
            <a:pPr>
              <a:spcAft>
                <a:spcPts val="600"/>
              </a:spcAft>
            </a:pPr>
            <a:r>
              <a:rPr sz="1300">
                <a:solidFill>
                  <a:srgbClr val="004EA8"/>
                </a:solidFill>
                <a:latin typeface="Arial"/>
              </a:rPr>
              <a:t>•  </a:t>
            </a:r>
            <a:r>
              <a:rPr sz="1300">
                <a:solidFill>
                  <a:srgbClr val="4B4B4B"/>
                </a:solidFill>
                <a:latin typeface="Arial"/>
              </a:rPr>
              <a:t>BU comment: the change asked for</a:t>
            </a:r>
          </a:p>
          <a:p>
            <a:pPr>
              <a:spcAft>
                <a:spcPts val="600"/>
              </a:spcAft>
            </a:pPr>
            <a:r>
              <a:rPr sz="1300">
                <a:solidFill>
                  <a:srgbClr val="004EA8"/>
                </a:solidFill>
                <a:latin typeface="Arial"/>
              </a:rPr>
              <a:t>•  </a:t>
            </a:r>
            <a:r>
              <a:rPr sz="1300">
                <a:solidFill>
                  <a:srgbClr val="4B4B4B"/>
                </a:solidFill>
                <a:latin typeface="Arial"/>
              </a:rPr>
              <a:t>Reviewer and Review date</a:t>
            </a:r>
          </a:p>
          <a:p>
            <a:pPr>
              <a:spcAft>
                <a:spcPts val="600"/>
              </a:spcAft>
            </a:pPr>
            <a:r>
              <a:rPr sz="1300">
                <a:solidFill>
                  <a:srgbClr val="004EA8"/>
                </a:solidFill>
                <a:latin typeface="Arial"/>
              </a:rPr>
              <a:t>•  </a:t>
            </a:r>
            <a:r>
              <a:rPr sz="1300">
                <a:solidFill>
                  <a:srgbClr val="4B4B4B"/>
                </a:solidFill>
                <a:latin typeface="Arial"/>
              </a:rPr>
              <a:t>Questions go to the Comments log</a:t>
            </a:r>
          </a:p>
          <a:p>
            <a:pPr>
              <a:spcAft>
                <a:spcPts val="600"/>
              </a:spcAft>
            </a:pPr>
            <a:r>
              <a:rPr sz="1300">
                <a:solidFill>
                  <a:srgbClr val="004EA8"/>
                </a:solidFill>
                <a:latin typeface="Arial"/>
              </a:rPr>
              <a:t>•  </a:t>
            </a:r>
            <a:r>
              <a:rPr sz="1300">
                <a:solidFill>
                  <a:srgbClr val="4B4B4B"/>
                </a:solidFill>
                <a:latin typeface="Arial"/>
              </a:rPr>
              <a:t>Leave the other columns unchanged; one workbook per 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 Maintenance at a glance: process flow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03_process_flow.png"/>
          <p:cNvPicPr>
            <a:picLocks noChangeAspect="1"/>
          </p:cNvPicPr>
          <p:nvPr/>
        </p:nvPicPr>
        <p:blipFill>
          <a:blip r:embed="rId3"/>
          <a:stretch>
            <a:fillRect/>
          </a:stretch>
        </p:blipFill>
        <p:spPr>
          <a:xfrm>
            <a:off x="840072" y="1325880"/>
            <a:ext cx="10511550"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BRD-3 process from the client to the booked invoice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 Maintenance at a glance: personas and menus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graphicFrame>
        <p:nvGraphicFramePr>
          <p:cNvPr id="9" name="Table 8"/>
          <p:cNvGraphicFramePr>
            <a:graphicFrameLocks noGrp="1"/>
          </p:cNvGraphicFramePr>
          <p:nvPr/>
        </p:nvGraphicFramePr>
        <p:xfrm>
          <a:off x="548640" y="1371600"/>
          <a:ext cx="11094413" cy="4389120"/>
        </p:xfrm>
        <a:graphic>
          <a:graphicData uri="http://schemas.openxmlformats.org/drawingml/2006/table">
            <a:tbl>
              <a:tblPr firstRow="1" bandRow="1">
                <a:tableStyleId>{5C22544A-7EE6-4342-B048-85BDC9FD1C3A}</a:tableStyleId>
              </a:tblPr>
              <a:tblGrid>
                <a:gridCol w="2641527"/>
                <a:gridCol w="1144661"/>
                <a:gridCol w="968560"/>
                <a:gridCol w="6339665"/>
              </a:tblGrid>
              <a:tr h="365760">
                <a:tc>
                  <a:txBody>
                    <a:bodyPr/>
                    <a:lstStyle/>
                    <a:p>
                      <a:r>
                        <a:rPr sz="1000" b="1">
                          <a:solidFill>
                            <a:srgbClr val="FFFFFF"/>
                          </a:solidFill>
                          <a:latin typeface="Arial"/>
                        </a:rPr>
                        <a:t>Persona</a:t>
                      </a:r>
                    </a:p>
                  </a:txBody>
                  <a:tcPr marL="73152" marR="73152" marT="36576" marB="36576">
                    <a:solidFill>
                      <a:srgbClr val="004EA8"/>
                    </a:solidFill>
                  </a:tcPr>
                </a:tc>
                <a:tc>
                  <a:txBody>
                    <a:bodyPr/>
                    <a:lstStyle/>
                    <a:p>
                      <a:r>
                        <a:rPr sz="1000" b="1">
                          <a:solidFill>
                            <a:srgbClr val="FFFFFF"/>
                          </a:solidFill>
                          <a:latin typeface="Arial"/>
                        </a:rPr>
                        <a:t>SIT user</a:t>
                      </a:r>
                    </a:p>
                  </a:txBody>
                  <a:tcPr marL="73152" marR="73152" marT="36576" marB="36576">
                    <a:solidFill>
                      <a:srgbClr val="004EA8"/>
                    </a:solidFill>
                  </a:tcPr>
                </a:tc>
                <a:tc>
                  <a:txBody>
                    <a:bodyPr/>
                    <a:lstStyle/>
                    <a:p>
                      <a:r>
                        <a:rPr sz="1000" b="1">
                          <a:solidFill>
                            <a:srgbClr val="FFFFFF"/>
                          </a:solidFill>
                          <a:latin typeface="Arial"/>
                        </a:rPr>
                        <a:t>Screens</a:t>
                      </a:r>
                    </a:p>
                  </a:txBody>
                  <a:tcPr marL="73152" marR="73152" marT="36576" marB="36576">
                    <a:solidFill>
                      <a:srgbClr val="004EA8"/>
                    </a:solidFill>
                  </a:tcPr>
                </a:tc>
                <a:tc>
                  <a:txBody>
                    <a:bodyPr/>
                    <a:lstStyle/>
                    <a:p>
                      <a:r>
                        <a:rPr sz="1000" b="1">
                          <a:solidFill>
                            <a:srgbClr val="FFFFFF"/>
                          </a:solidFill>
                          <a:latin typeface="Arial"/>
                        </a:rPr>
                        <a:t>Menu sections</a:t>
                      </a:r>
                    </a:p>
                  </a:txBody>
                  <a:tcPr marL="73152" marR="73152" marT="36576" marB="36576">
                    <a:solidFill>
                      <a:srgbClr val="004EA8"/>
                    </a:solidFill>
                  </a:tcPr>
                </a:tc>
              </a:tr>
              <a:tr h="365760">
                <a:tc>
                  <a:txBody>
                    <a:bodyPr/>
                    <a:lstStyle/>
                    <a:p>
                      <a:r>
                        <a:rPr sz="1000" b="0">
                          <a:solidFill>
                            <a:srgbClr val="4B4B4B"/>
                          </a:solidFill>
                          <a:latin typeface="Arial"/>
                        </a:rPr>
                        <a:t>Marketing Account Officer</a:t>
                      </a:r>
                    </a:p>
                  </a:txBody>
                  <a:tcPr marL="73152" marR="73152" marT="36576" marB="36576">
                    <a:solidFill>
                      <a:srgbClr val="FFFFFF"/>
                    </a:solidFill>
                  </a:tcPr>
                </a:tc>
                <a:tc>
                  <a:txBody>
                    <a:bodyPr/>
                    <a:lstStyle/>
                    <a:p>
                      <a:r>
                        <a:rPr sz="1000" b="0">
                          <a:solidFill>
                            <a:srgbClr val="4B4B4B"/>
                          </a:solidFill>
                          <a:latin typeface="Arial"/>
                        </a:rPr>
                        <a:t>ao</a:t>
                      </a:r>
                    </a:p>
                  </a:txBody>
                  <a:tcPr marL="73152" marR="73152" marT="36576" marB="36576">
                    <a:solidFill>
                      <a:srgbClr val="FFFFFF"/>
                    </a:solidFill>
                  </a:tcPr>
                </a:tc>
                <a:tc>
                  <a:txBody>
                    <a:bodyPr/>
                    <a:lstStyle/>
                    <a:p>
                      <a:r>
                        <a:rPr sz="1000" b="0">
                          <a:solidFill>
                            <a:srgbClr val="4B4B4B"/>
                          </a:solidFill>
                          <a:latin typeface="Arial"/>
                        </a:rPr>
                        <a:t>6</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Marketing TL / TH / UH</a:t>
                      </a:r>
                    </a:p>
                  </a:txBody>
                  <a:tcPr marL="73152" marR="73152" marT="36576" marB="36576">
                    <a:solidFill>
                      <a:srgbClr val="E5F5FF"/>
                    </a:solidFill>
                  </a:tcPr>
                </a:tc>
                <a:tc>
                  <a:txBody>
                    <a:bodyPr/>
                    <a:lstStyle/>
                    <a:p>
                      <a:r>
                        <a:rPr sz="1000" b="0">
                          <a:solidFill>
                            <a:srgbClr val="4B4B4B"/>
                          </a:solidFill>
                          <a:latin typeface="Arial"/>
                        </a:rPr>
                        <a:t>mkttl</a:t>
                      </a:r>
                    </a:p>
                  </a:txBody>
                  <a:tcPr marL="73152" marR="73152" marT="36576" marB="36576">
                    <a:solidFill>
                      <a:srgbClr val="E5F5FF"/>
                    </a:solidFill>
                  </a:tcPr>
                </a:tc>
                <a:tc>
                  <a:txBody>
                    <a:bodyPr/>
                    <a:lstStyle/>
                    <a:p>
                      <a:r>
                        <a:rPr sz="1000" b="0">
                          <a:solidFill>
                            <a:srgbClr val="4B4B4B"/>
                          </a:solidFill>
                          <a:latin typeface="Arial"/>
                        </a:rPr>
                        <a:t>7</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TSU Officer</a:t>
                      </a:r>
                    </a:p>
                  </a:txBody>
                  <a:tcPr marL="73152" marR="73152" marT="36576" marB="36576">
                    <a:solidFill>
                      <a:srgbClr val="FFFFFF"/>
                    </a:solidFill>
                  </a:tcPr>
                </a:tc>
                <a:tc>
                  <a:txBody>
                    <a:bodyPr/>
                    <a:lstStyle/>
                    <a:p>
                      <a:r>
                        <a:rPr sz="1000" b="0">
                          <a:solidFill>
                            <a:srgbClr val="4B4B4B"/>
                          </a:solidFill>
                          <a:latin typeface="Arial"/>
                        </a:rPr>
                        <a:t>tsu</a:t>
                      </a:r>
                    </a:p>
                  </a:txBody>
                  <a:tcPr marL="73152" marR="73152" marT="36576" marB="36576">
                    <a:solidFill>
                      <a:srgbClr val="FFFFFF"/>
                    </a:solidFill>
                  </a:tcPr>
                </a:tc>
                <a:tc>
                  <a:txBody>
                    <a:bodyPr/>
                    <a:lstStyle/>
                    <a:p>
                      <a:r>
                        <a:rPr sz="1000" b="0">
                          <a:solidFill>
                            <a:srgbClr val="4B4B4B"/>
                          </a:solidFill>
                          <a:latin typeface="Arial"/>
                        </a:rPr>
                        <a:t>8</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TSU Team Lead</a:t>
                      </a:r>
                    </a:p>
                  </a:txBody>
                  <a:tcPr marL="73152" marR="73152" marT="36576" marB="36576">
                    <a:solidFill>
                      <a:srgbClr val="E5F5FF"/>
                    </a:solidFill>
                  </a:tcPr>
                </a:tc>
                <a:tc>
                  <a:txBody>
                    <a:bodyPr/>
                    <a:lstStyle/>
                    <a:p>
                      <a:r>
                        <a:rPr sz="1000" b="0">
                          <a:solidFill>
                            <a:srgbClr val="4B4B4B"/>
                          </a:solidFill>
                          <a:latin typeface="Arial"/>
                        </a:rPr>
                        <a:t>tsulead</a:t>
                      </a:r>
                    </a:p>
                  </a:txBody>
                  <a:tcPr marL="73152" marR="73152" marT="36576" marB="36576">
                    <a:solidFill>
                      <a:srgbClr val="E5F5FF"/>
                    </a:solidFill>
                  </a:tcPr>
                </a:tc>
                <a:tc>
                  <a:txBody>
                    <a:bodyPr/>
                    <a:lstStyle/>
                    <a:p>
                      <a:r>
                        <a:rPr sz="1000" b="0">
                          <a:solidFill>
                            <a:srgbClr val="4B4B4B"/>
                          </a:solidFill>
                          <a:latin typeface="Arial"/>
                        </a:rPr>
                        <a:t>7</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TSU Head</a:t>
                      </a:r>
                    </a:p>
                  </a:txBody>
                  <a:tcPr marL="73152" marR="73152" marT="36576" marB="36576">
                    <a:solidFill>
                      <a:srgbClr val="FFFFFF"/>
                    </a:solidFill>
                  </a:tcPr>
                </a:tc>
                <a:tc>
                  <a:txBody>
                    <a:bodyPr/>
                    <a:lstStyle/>
                    <a:p>
                      <a:r>
                        <a:rPr sz="1000" b="0">
                          <a:solidFill>
                            <a:srgbClr val="4B4B4B"/>
                          </a:solidFill>
                          <a:latin typeface="Arial"/>
                        </a:rPr>
                        <a:t>tsuhead</a:t>
                      </a:r>
                    </a:p>
                  </a:txBody>
                  <a:tcPr marL="73152" marR="73152" marT="36576" marB="36576">
                    <a:solidFill>
                      <a:srgbClr val="FFFFFF"/>
                    </a:solidFill>
                  </a:tcPr>
                </a:tc>
                <a:tc>
                  <a:txBody>
                    <a:bodyPr/>
                    <a:lstStyle/>
                    <a:p>
                      <a:r>
                        <a:rPr sz="1000" b="0">
                          <a:solidFill>
                            <a:srgbClr val="4B4B4B"/>
                          </a:solidFill>
                          <a:latin typeface="Arial"/>
                        </a:rPr>
                        <a:t>8</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Marketing Business Services</a:t>
                      </a:r>
                    </a:p>
                  </a:txBody>
                  <a:tcPr marL="73152" marR="73152" marT="36576" marB="36576">
                    <a:solidFill>
                      <a:srgbClr val="E5F5FF"/>
                    </a:solidFill>
                  </a:tcPr>
                </a:tc>
                <a:tc>
                  <a:txBody>
                    <a:bodyPr/>
                    <a:lstStyle/>
                    <a:p>
                      <a:r>
                        <a:rPr sz="1000" b="0">
                          <a:solidFill>
                            <a:srgbClr val="4B4B4B"/>
                          </a:solidFill>
                          <a:latin typeface="Arial"/>
                        </a:rPr>
                        <a:t>mbs</a:t>
                      </a:r>
                    </a:p>
                  </a:txBody>
                  <a:tcPr marL="73152" marR="73152" marT="36576" marB="36576">
                    <a:solidFill>
                      <a:srgbClr val="E5F5FF"/>
                    </a:solidFill>
                  </a:tcPr>
                </a:tc>
                <a:tc>
                  <a:txBody>
                    <a:bodyPr/>
                    <a:lstStyle/>
                    <a:p>
                      <a:r>
                        <a:rPr sz="1000" b="0">
                          <a:solidFill>
                            <a:srgbClr val="4B4B4B"/>
                          </a:solidFill>
                          <a:latin typeface="Arial"/>
                        </a:rPr>
                        <a:t>9</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ManCom member</a:t>
                      </a:r>
                    </a:p>
                  </a:txBody>
                  <a:tcPr marL="73152" marR="73152" marT="36576" marB="36576">
                    <a:solidFill>
                      <a:srgbClr val="FFFFFF"/>
                    </a:solidFill>
                  </a:tcPr>
                </a:tc>
                <a:tc>
                  <a:txBody>
                    <a:bodyPr/>
                    <a:lstStyle/>
                    <a:p>
                      <a:r>
                        <a:rPr sz="1000" b="0">
                          <a:solidFill>
                            <a:srgbClr val="4B4B4B"/>
                          </a:solidFill>
                          <a:latin typeface="Arial"/>
                        </a:rPr>
                        <a:t>mancom</a:t>
                      </a:r>
                    </a:p>
                  </a:txBody>
                  <a:tcPr marL="73152" marR="73152" marT="36576" marB="36576">
                    <a:solidFill>
                      <a:srgbClr val="FFFFFF"/>
                    </a:solidFill>
                  </a:tcPr>
                </a:tc>
                <a:tc>
                  <a:txBody>
                    <a:bodyPr/>
                    <a:lstStyle/>
                    <a:p>
                      <a:r>
                        <a:rPr sz="1000" b="0">
                          <a:solidFill>
                            <a:srgbClr val="4B4B4B"/>
                          </a:solidFill>
                          <a:latin typeface="Arial"/>
                        </a:rPr>
                        <a:t>5</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Business Administrator</a:t>
                      </a:r>
                    </a:p>
                  </a:txBody>
                  <a:tcPr marL="73152" marR="73152" marT="36576" marB="36576">
                    <a:solidFill>
                      <a:srgbClr val="E5F5FF"/>
                    </a:solidFill>
                  </a:tcPr>
                </a:tc>
                <a:tc>
                  <a:txBody>
                    <a:bodyPr/>
                    <a:lstStyle/>
                    <a:p>
                      <a:r>
                        <a:rPr sz="1000" b="0">
                          <a:solidFill>
                            <a:srgbClr val="4B4B4B"/>
                          </a:solidFill>
                          <a:latin typeface="Arial"/>
                        </a:rPr>
                        <a:t>badmin</a:t>
                      </a:r>
                    </a:p>
                  </a:txBody>
                  <a:tcPr marL="73152" marR="73152" marT="36576" marB="36576">
                    <a:solidFill>
                      <a:srgbClr val="E5F5FF"/>
                    </a:solidFill>
                  </a:tcPr>
                </a:tc>
                <a:tc>
                  <a:txBody>
                    <a:bodyPr/>
                    <a:lstStyle/>
                    <a:p>
                      <a:r>
                        <a:rPr sz="1000" b="0">
                          <a:solidFill>
                            <a:srgbClr val="4B4B4B"/>
                          </a:solidFill>
                          <a:latin typeface="Arial"/>
                        </a:rPr>
                        <a:t>10</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New Business Approver</a:t>
                      </a:r>
                    </a:p>
                  </a:txBody>
                  <a:tcPr marL="73152" marR="73152" marT="36576" marB="36576">
                    <a:solidFill>
                      <a:srgbClr val="FFFFFF"/>
                    </a:solidFill>
                  </a:tcPr>
                </a:tc>
                <a:tc>
                  <a:txBody>
                    <a:bodyPr/>
                    <a:lstStyle/>
                    <a:p>
                      <a:r>
                        <a:rPr sz="1000" b="0">
                          <a:solidFill>
                            <a:srgbClr val="4B4B4B"/>
                          </a:solidFill>
                          <a:latin typeface="Arial"/>
                        </a:rPr>
                        <a:t>approver</a:t>
                      </a:r>
                    </a:p>
                  </a:txBody>
                  <a:tcPr marL="73152" marR="73152" marT="36576" marB="36576">
                    <a:solidFill>
                      <a:srgbClr val="FFFFFF"/>
                    </a:solidFill>
                  </a:tcPr>
                </a:tc>
                <a:tc>
                  <a:txBody>
                    <a:bodyPr/>
                    <a:lstStyle/>
                    <a:p>
                      <a:r>
                        <a:rPr sz="1000" b="0">
                          <a:solidFill>
                            <a:srgbClr val="4B4B4B"/>
                          </a:solidFill>
                          <a:latin typeface="Arial"/>
                        </a:rPr>
                        <a:t>9</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r h="365760">
                <a:tc>
                  <a:txBody>
                    <a:bodyPr/>
                    <a:lstStyle/>
                    <a:p>
                      <a:r>
                        <a:rPr sz="1000" b="0">
                          <a:solidFill>
                            <a:srgbClr val="4B4B4B"/>
                          </a:solidFill>
                          <a:latin typeface="Arial"/>
                        </a:rPr>
                        <a:t>System Administrator</a:t>
                      </a:r>
                    </a:p>
                  </a:txBody>
                  <a:tcPr marL="73152" marR="73152" marT="36576" marB="36576">
                    <a:solidFill>
                      <a:srgbClr val="E5F5FF"/>
                    </a:solidFill>
                  </a:tcPr>
                </a:tc>
                <a:tc>
                  <a:txBody>
                    <a:bodyPr/>
                    <a:lstStyle/>
                    <a:p>
                      <a:r>
                        <a:rPr sz="1000" b="0">
                          <a:solidFill>
                            <a:srgbClr val="4B4B4B"/>
                          </a:solidFill>
                          <a:latin typeface="Arial"/>
                        </a:rPr>
                        <a:t>admin</a:t>
                      </a:r>
                    </a:p>
                  </a:txBody>
                  <a:tcPr marL="73152" marR="73152" marT="36576" marB="36576">
                    <a:solidFill>
                      <a:srgbClr val="E5F5FF"/>
                    </a:solidFill>
                  </a:tcPr>
                </a:tc>
                <a:tc>
                  <a:txBody>
                    <a:bodyPr/>
                    <a:lstStyle/>
                    <a:p>
                      <a:r>
                        <a:rPr sz="1000" b="0">
                          <a:solidFill>
                            <a:srgbClr val="4B4B4B"/>
                          </a:solidFill>
                          <a:latin typeface="Arial"/>
                        </a:rPr>
                        <a:t>8</a:t>
                      </a:r>
                    </a:p>
                  </a:txBody>
                  <a:tcPr marL="73152" marR="73152" marT="36576" marB="36576">
                    <a:solidFill>
                      <a:srgbClr val="E5F5FF"/>
                    </a:solidFill>
                  </a:tcPr>
                </a:tc>
                <a:tc>
                  <a:txBody>
                    <a:bodyPr/>
                    <a:lstStyle/>
                    <a:p>
                      <a:r>
                        <a:rPr sz="1000" b="0">
                          <a:solidFill>
                            <a:srgbClr val="4B4B4B"/>
                          </a:solidFill>
                          <a:latin typeface="Arial"/>
                        </a:rPr>
                        <a:t>Product Maintenance</a:t>
                      </a:r>
                    </a:p>
                  </a:txBody>
                  <a:tcPr marL="73152" marR="73152" marT="36576" marB="36576">
                    <a:solidFill>
                      <a:srgbClr val="E5F5FF"/>
                    </a:solidFill>
                  </a:tcPr>
                </a:tc>
              </a:tr>
              <a:tr h="365760">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auditor</a:t>
                      </a:r>
                    </a:p>
                  </a:txBody>
                  <a:tcPr marL="73152" marR="73152" marT="36576" marB="36576">
                    <a:solidFill>
                      <a:srgbClr val="FFFFFF"/>
                    </a:solidFill>
                  </a:tcPr>
                </a:tc>
                <a:tc>
                  <a:txBody>
                    <a:bodyPr/>
                    <a:lstStyle/>
                    <a:p>
                      <a:r>
                        <a:rPr sz="1000" b="0">
                          <a:solidFill>
                            <a:srgbClr val="4B4B4B"/>
                          </a:solidFill>
                          <a:latin typeface="Arial"/>
                        </a:rPr>
                        <a:t>10</a:t>
                      </a:r>
                    </a:p>
                  </a:txBody>
                  <a:tcPr marL="73152" marR="73152" marT="36576" marB="36576">
                    <a:solidFill>
                      <a:srgbClr val="FFFFFF"/>
                    </a:solidFill>
                  </a:tcPr>
                </a:tc>
                <a:tc>
                  <a:txBody>
                    <a:bodyPr/>
                    <a:lstStyle/>
                    <a:p>
                      <a:r>
                        <a:rPr sz="1000" b="0">
                          <a:solidFill>
                            <a:srgbClr val="4B4B4B"/>
                          </a:solidFill>
                          <a:latin typeface="Arial"/>
                        </a:rPr>
                        <a:t>Product Maintenance</a:t>
                      </a:r>
                    </a:p>
                  </a:txBody>
                  <a:tcPr marL="73152" marR="73152" marT="36576" marB="36576">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Product Maintenance at a glance: key screens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scr-pm-01-01-view.png"/>
          <p:cNvPicPr>
            <a:picLocks noChangeAspect="1"/>
          </p:cNvPicPr>
          <p:nvPr/>
        </p:nvPicPr>
        <p:blipFill>
          <a:blip r:embed="rId3"/>
          <a:stretch>
            <a:fillRect/>
          </a:stretch>
        </p:blipFill>
        <p:spPr>
          <a:xfrm>
            <a:off x="1754047" y="1325880"/>
            <a:ext cx="2999232" cy="1874520"/>
          </a:xfrm>
          <a:prstGeom prst="rect">
            <a:avLst/>
          </a:prstGeom>
          <a:ln w="9525">
            <a:solidFill>
              <a:srgbClr val="C2C2C1"/>
            </a:solidFill>
          </a:ln>
        </p:spPr>
      </p:pic>
      <p:sp>
        <p:nvSpPr>
          <p:cNvPr id="10" name="TextBox 9"/>
          <p:cNvSpPr txBox="1"/>
          <p:nvPr/>
        </p:nvSpPr>
        <p:spPr>
          <a:xfrm>
            <a:off x="548640"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Product Maintenance Home</a:t>
            </a:r>
          </a:p>
        </p:txBody>
      </p:sp>
      <p:pic>
        <p:nvPicPr>
          <p:cNvPr id="11" name="Picture 10" descr="scr-pm-05-01-tab.png"/>
          <p:cNvPicPr>
            <a:picLocks noChangeAspect="1"/>
          </p:cNvPicPr>
          <p:nvPr/>
        </p:nvPicPr>
        <p:blipFill>
          <a:blip r:embed="rId4"/>
          <a:stretch>
            <a:fillRect/>
          </a:stretch>
        </p:blipFill>
        <p:spPr>
          <a:xfrm>
            <a:off x="8233415" y="1325880"/>
            <a:ext cx="1409230" cy="1874519"/>
          </a:xfrm>
          <a:prstGeom prst="rect">
            <a:avLst/>
          </a:prstGeom>
          <a:ln w="9525">
            <a:solidFill>
              <a:srgbClr val="C2C2C1"/>
            </a:solidFill>
          </a:ln>
        </p:spPr>
      </p:pic>
      <p:sp>
        <p:nvSpPr>
          <p:cNvPr id="12" name="TextBox 11"/>
          <p:cNvSpPr txBox="1"/>
          <p:nvPr/>
        </p:nvSpPr>
        <p:spPr>
          <a:xfrm>
            <a:off x="6233007" y="3200400"/>
            <a:ext cx="5410047" cy="274320"/>
          </a:xfrm>
          <a:prstGeom prst="rect">
            <a:avLst/>
          </a:prstGeom>
          <a:noFill/>
        </p:spPr>
        <p:txBody>
          <a:bodyPr wrap="square" anchor="t" lIns="45720" rIns="45720">
            <a:spAutoFit/>
          </a:bodyPr>
          <a:lstStyle/>
          <a:p>
            <a:pPr algn="ctr"/>
            <a:r>
              <a:rPr sz="1100" b="0" i="1">
                <a:solidFill>
                  <a:srgbClr val="656565"/>
                </a:solidFill>
                <a:latin typeface="Arial"/>
              </a:rPr>
              <a:t>Negotiation with the insurers, round by round</a:t>
            </a:r>
          </a:p>
        </p:txBody>
      </p:sp>
      <p:pic>
        <p:nvPicPr>
          <p:cNvPr id="13" name="Picture 12" descr="scr-pm-13-01-draft.png"/>
          <p:cNvPicPr>
            <a:picLocks noChangeAspect="1"/>
          </p:cNvPicPr>
          <p:nvPr/>
        </p:nvPicPr>
        <p:blipFill>
          <a:blip r:embed="rId5"/>
          <a:stretch>
            <a:fillRect/>
          </a:stretch>
        </p:blipFill>
        <p:spPr>
          <a:xfrm>
            <a:off x="2272417" y="3566160"/>
            <a:ext cx="1962493" cy="1874520"/>
          </a:xfrm>
          <a:prstGeom prst="rect">
            <a:avLst/>
          </a:prstGeom>
          <a:ln w="9525">
            <a:solidFill>
              <a:srgbClr val="C2C2C1"/>
            </a:solidFill>
          </a:ln>
        </p:spPr>
      </p:pic>
      <p:sp>
        <p:nvSpPr>
          <p:cNvPr id="14" name="TextBox 13"/>
          <p:cNvSpPr txBox="1"/>
          <p:nvPr/>
        </p:nvSpPr>
        <p:spPr>
          <a:xfrm>
            <a:off x="548640"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Package version: rate scheme, coverages, panel insurers</a:t>
            </a:r>
          </a:p>
        </p:txBody>
      </p:sp>
      <p:pic>
        <p:nvPicPr>
          <p:cNvPr id="15" name="Picture 14" descr="wt-a-21.png"/>
          <p:cNvPicPr>
            <a:picLocks noChangeAspect="1"/>
          </p:cNvPicPr>
          <p:nvPr/>
        </p:nvPicPr>
        <p:blipFill>
          <a:blip r:embed="rId6"/>
          <a:stretch>
            <a:fillRect/>
          </a:stretch>
        </p:blipFill>
        <p:spPr>
          <a:xfrm>
            <a:off x="7643719" y="3566160"/>
            <a:ext cx="2588622" cy="1874520"/>
          </a:xfrm>
          <a:prstGeom prst="rect">
            <a:avLst/>
          </a:prstGeom>
          <a:ln w="9525">
            <a:solidFill>
              <a:srgbClr val="C2C2C1"/>
            </a:solidFill>
          </a:ln>
        </p:spPr>
      </p:pic>
      <p:sp>
        <p:nvSpPr>
          <p:cNvPr id="16" name="TextBox 15"/>
          <p:cNvSpPr txBox="1"/>
          <p:nvPr/>
        </p:nvSpPr>
        <p:spPr>
          <a:xfrm>
            <a:off x="6233007" y="5440680"/>
            <a:ext cx="5410047" cy="274320"/>
          </a:xfrm>
          <a:prstGeom prst="rect">
            <a:avLst/>
          </a:prstGeom>
          <a:noFill/>
        </p:spPr>
        <p:txBody>
          <a:bodyPr wrap="square" anchor="t" lIns="45720" rIns="45720">
            <a:spAutoFit/>
          </a:bodyPr>
          <a:lstStyle/>
          <a:p>
            <a:pPr algn="ctr"/>
            <a:r>
              <a:rPr sz="1100" b="0" i="1">
                <a:solidFill>
                  <a:srgbClr val="656565"/>
                </a:solidFill>
                <a:latin typeface="Arial"/>
              </a:rPr>
              <a:t>New business priced on the released version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Key business rules and validations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400">
                <a:solidFill>
                  <a:srgbClr val="004EA8"/>
                </a:solidFill>
                <a:latin typeface="Arial"/>
              </a:rPr>
              <a:t>•  </a:t>
            </a:r>
            <a:r>
              <a:rPr sz="1400">
                <a:solidFill>
                  <a:srgbClr val="4B4B4B"/>
                </a:solidFill>
                <a:latin typeface="Arial"/>
              </a:rPr>
              <a:t>A package request is approved by Marketing, recommended by the TSU Team Lead and approved by the TSU Head, never by its maker, and the TSU Head never approves his own recommendation.</a:t>
            </a:r>
          </a:p>
          <a:p>
            <a:pPr>
              <a:spcAft>
                <a:spcPts val="600"/>
              </a:spcAft>
            </a:pPr>
            <a:r>
              <a:rPr sz="1400">
                <a:solidFill>
                  <a:srgbClr val="004EA8"/>
                </a:solidFill>
                <a:latin typeface="Arial"/>
              </a:rPr>
              <a:t>•  </a:t>
            </a:r>
            <a:r>
              <a:rPr sz="1400">
                <a:solidFill>
                  <a:srgbClr val="4B4B4B"/>
                </a:solidFill>
                <a:latin typeface="Arial"/>
              </a:rPr>
              <a:t>A quotation slip is approved by a TSU Team Lead or a co-officer, never its preparer, and goes to each insurer by protected e-mail.</a:t>
            </a:r>
          </a:p>
          <a:p>
            <a:pPr>
              <a:spcAft>
                <a:spcPts val="600"/>
              </a:spcAft>
            </a:pPr>
            <a:r>
              <a:rPr sz="1400">
                <a:solidFill>
                  <a:srgbClr val="004EA8"/>
                </a:solidFill>
                <a:latin typeface="Arial"/>
              </a:rPr>
              <a:t>•  </a:t>
            </a:r>
            <a:r>
              <a:rPr sz="1400">
                <a:solidFill>
                  <a:srgbClr val="4B4B4B"/>
                </a:solidFill>
                <a:latin typeface="Arial"/>
              </a:rPr>
              <a:t>Terms are final only when every insurer of the latest round has an outcome; co-insurance shares total 100.</a:t>
            </a:r>
          </a:p>
          <a:p>
            <a:pPr>
              <a:spcAft>
                <a:spcPts val="600"/>
              </a:spcAft>
            </a:pPr>
            <a:r>
              <a:rPr sz="1400">
                <a:solidFill>
                  <a:srgbClr val="004EA8"/>
                </a:solidFill>
                <a:latin typeface="Arial"/>
              </a:rPr>
              <a:t>•  </a:t>
            </a:r>
            <a:r>
              <a:rPr sz="1400">
                <a:solidFill>
                  <a:srgbClr val="4B4B4B"/>
                </a:solidFill>
                <a:latin typeface="Arial"/>
              </a:rPr>
              <a:t>ManCom signs off a complete requirements pack with the signed package slip; the slips then lock.</a:t>
            </a:r>
          </a:p>
          <a:p>
            <a:pPr>
              <a:spcAft>
                <a:spcPts val="600"/>
              </a:spcAft>
            </a:pPr>
            <a:r>
              <a:rPr sz="1400">
                <a:solidFill>
                  <a:srgbClr val="004EA8"/>
                </a:solidFill>
                <a:latin typeface="Arial"/>
              </a:rPr>
              <a:t>•  </a:t>
            </a:r>
            <a:r>
              <a:rPr sz="1400">
                <a:solidFill>
                  <a:srgbClr val="4B4B4B"/>
                </a:solidFill>
                <a:latin typeface="Arial"/>
              </a:rPr>
              <a:t>A package version is validated by the TSU Head or the Business Administrator, never its maker or submitter, with a five-point checklist and a test premium.</a:t>
            </a:r>
          </a:p>
          <a:p>
            <a:pPr>
              <a:spcAft>
                <a:spcPts val="600"/>
              </a:spcAft>
            </a:pPr>
            <a:r>
              <a:rPr sz="1400">
                <a:solidFill>
                  <a:srgbClr val="004EA8"/>
                </a:solidFill>
                <a:latin typeface="Arial"/>
              </a:rPr>
              <a:t>•  </a:t>
            </a:r>
            <a:r>
              <a:rPr sz="1400">
                <a:solidFill>
                  <a:srgbClr val="4B4B4B"/>
                </a:solidFill>
                <a:latin typeface="Arial"/>
              </a:rPr>
              <a:t>New business is priced on the version in force on the transaction date; a different rate needs an approved rate exception.</a:t>
            </a:r>
          </a:p>
          <a:p>
            <a:pPr>
              <a:spcAft>
                <a:spcPts val="600"/>
              </a:spcAft>
            </a:pPr>
            <a:r>
              <a:rPr sz="1400">
                <a:solidFill>
                  <a:srgbClr val="004EA8"/>
                </a:solidFill>
                <a:latin typeface="Arial"/>
              </a:rPr>
              <a:t>•  </a:t>
            </a:r>
            <a:r>
              <a:rPr sz="1400">
                <a:solidFill>
                  <a:srgbClr val="4B4B4B"/>
                </a:solidFill>
                <a:latin typeface="Arial"/>
              </a:rPr>
              <a:t>Every product master is maker-checker and never deleted; expired and retired packages stay readable.</a:t>
            </a:r>
          </a:p>
          <a:p>
            <a:pPr>
              <a:spcAft>
                <a:spcPts val="600"/>
              </a:spcAft>
            </a:pPr>
            <a:r>
              <a:rPr sz="1400">
                <a:solidFill>
                  <a:srgbClr val="004EA8"/>
                </a:solidFill>
                <a:latin typeface="Arial"/>
              </a:rPr>
              <a:t>•  </a:t>
            </a:r>
            <a:r>
              <a:rPr sz="1400">
                <a:solidFill>
                  <a:srgbClr val="4B4B4B"/>
                </a:solidFill>
                <a:latin typeface="Arial"/>
              </a:rPr>
              <a:t>An advisory is sent only with the signed package slip and the ManCom sign-off attached.</a:t>
            </a:r>
          </a:p>
          <a:p>
            <a:pPr lvl="1">
              <a:spcAft>
                <a:spcPts val="600"/>
              </a:spcAft>
            </a:pPr>
            <a:r>
              <a:rPr sz="1200">
                <a:solidFill>
                  <a:srgbClr val="656565"/>
                </a:solidFill>
                <a:latin typeface="Arial"/>
              </a:rPr>
              <a:t>–  </a:t>
            </a:r>
            <a:r>
              <a:rPr sz="1200">
                <a:solidFill>
                  <a:srgbClr val="4B4B4B"/>
                </a:solidFill>
                <a:latin typeface="Arial"/>
              </a:rPr>
              <a:t>Full list: FRS chapter 13 per screen, 84 rules on the Business rules sheet and 276 messages in FRS chapter 15 and on the Messages sheet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Cross-module dependencies and impacts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brd03_contract_map.png"/>
          <p:cNvPicPr>
            <a:picLocks noChangeAspect="1"/>
          </p:cNvPicPr>
          <p:nvPr/>
        </p:nvPicPr>
        <p:blipFill>
          <a:blip r:embed="rId3"/>
          <a:stretch>
            <a:fillRect/>
          </a:stretch>
        </p:blipFill>
        <p:spPr>
          <a:xfrm>
            <a:off x="1293652" y="1325880"/>
            <a:ext cx="9604390" cy="4480560"/>
          </a:xfrm>
          <a:prstGeom prst="rect">
            <a:avLst/>
          </a:prstGeom>
          <a:ln w="9525">
            <a:solidFill>
              <a:srgbClr val="C2C2C1"/>
            </a:solidFill>
          </a:ln>
        </p:spPr>
      </p:pic>
      <p:sp>
        <p:nvSpPr>
          <p:cNvPr id="10" name="TextBox 9"/>
          <p:cNvSpPr txBox="1"/>
          <p:nvPr/>
        </p:nvSpPr>
        <p:spPr>
          <a:xfrm>
            <a:off x="548640" y="5852160"/>
            <a:ext cx="11094415" cy="320040"/>
          </a:xfrm>
          <a:prstGeom prst="rect">
            <a:avLst/>
          </a:prstGeom>
          <a:noFill/>
        </p:spPr>
        <p:txBody>
          <a:bodyPr wrap="square" anchor="t" lIns="45720" rIns="45720">
            <a:spAutoFit/>
          </a:bodyPr>
          <a:lstStyle/>
          <a:p>
            <a:pPr algn="ctr"/>
            <a:r>
              <a:rPr sz="1100" b="0" i="1">
                <a:solidFill>
                  <a:srgbClr val="656565"/>
                </a:solidFill>
                <a:latin typeface="Arial"/>
              </a:rPr>
              <a:t>What Product Maintenance takes from and hands to the other BRDs and systems (FRS chapter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and possibilities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1937120"/>
                <a:gridCol w="4578647"/>
                <a:gridCol w="4578647"/>
              </a:tblGrid>
              <a:tr h="365760">
                <a:tc>
                  <a:txBody>
                    <a:bodyPr/>
                    <a:lstStyle/>
                    <a:p>
                      <a:r>
                        <a:rPr sz="1000" b="1">
                          <a:solidFill>
                            <a:srgbClr val="FFFFFF"/>
                          </a:solidFill>
                          <a:latin typeface="Arial"/>
                        </a:rPr>
                        <a:t>Topic</a:t>
                      </a:r>
                    </a:p>
                  </a:txBody>
                  <a:tcPr marL="73152" marR="73152" marT="36576" marB="36576">
                    <a:solidFill>
                      <a:srgbClr val="004EA8"/>
                    </a:solidFill>
                  </a:tcPr>
                </a:tc>
                <a:tc>
                  <a:txBody>
                    <a:bodyPr/>
                    <a:lstStyle/>
                    <a:p>
                      <a:r>
                        <a:rPr sz="1000" b="1">
                          <a:solidFill>
                            <a:srgbClr val="FFFFFF"/>
                          </a:solidFill>
                          <a:latin typeface="Arial"/>
                        </a:rPr>
                        <a:t>What can happen</a:t>
                      </a:r>
                    </a:p>
                  </a:txBody>
                  <a:tcPr marL="73152" marR="73152" marT="36576" marB="36576">
                    <a:solidFill>
                      <a:srgbClr val="004EA8"/>
                    </a:solidFill>
                  </a:tcPr>
                </a:tc>
                <a:tc>
                  <a:txBody>
                    <a:bodyPr/>
                    <a:lstStyle/>
                    <a:p>
                      <a:r>
                        <a:rPr sz="1000" b="1">
                          <a:solidFill>
                            <a:srgbClr val="FFFFFF"/>
                          </a:solidFill>
                          <a:latin typeface="Arial"/>
                        </a:rPr>
                        <a:t>How it is handled</a:t>
                      </a:r>
                    </a:p>
                  </a:txBody>
                  <a:tcPr marL="73152" marR="73152" marT="36576" marB="36576">
                    <a:solidFill>
                      <a:srgbClr val="004EA8"/>
                    </a:solidFill>
                  </a:tcPr>
                </a:tc>
              </a:tr>
              <a:tr h="365760">
                <a:tc>
                  <a:txBody>
                    <a:bodyPr/>
                    <a:lstStyle/>
                    <a:p>
                      <a:r>
                        <a:rPr sz="1000" b="0">
                          <a:solidFill>
                            <a:srgbClr val="4B4B4B"/>
                          </a:solidFill>
                          <a:latin typeface="Arial"/>
                        </a:rPr>
                        <a:t>Additional requirements</a:t>
                      </a:r>
                    </a:p>
                  </a:txBody>
                  <a:tcPr marL="73152" marR="73152" marT="36576" marB="36576">
                    <a:solidFill>
                      <a:srgbClr val="FFFFFF"/>
                    </a:solidFill>
                  </a:tcPr>
                </a:tc>
                <a:tc>
                  <a:txBody>
                    <a:bodyPr/>
                    <a:lstStyle/>
                    <a:p>
                      <a:r>
                        <a:rPr sz="1000" b="0">
                          <a:solidFill>
                            <a:srgbClr val="4B4B4B"/>
                          </a:solidFill>
                          <a:latin typeface="Arial"/>
                        </a:rPr>
                        <a:t>New needs can surface during the review, SIT or UAT.</a:t>
                      </a:r>
                    </a:p>
                  </a:txBody>
                  <a:tcPr marL="73152" marR="73152" marT="36576" marB="36576">
                    <a:solidFill>
                      <a:srgbClr val="FFFFFF"/>
                    </a:solidFill>
                  </a:tcPr>
                </a:tc>
                <a:tc>
                  <a:txBody>
                    <a:bodyPr/>
                    <a:lstStyle/>
                    <a:p>
                      <a:r>
                        <a:rPr sz="1000" b="0">
                          <a:solidFill>
                            <a:srgbClr val="4B4B4B"/>
                          </a:solidFill>
                          <a:latin typeface="Arial"/>
                        </a:rPr>
                        <a:t>In-scope clarification when the signed text already covers it; otherwise a change request with mandays.</a:t>
                      </a:r>
                    </a:p>
                  </a:txBody>
                  <a:tcPr marL="73152" marR="73152" marT="36576" marB="36576">
                    <a:solidFill>
                      <a:srgbClr val="FFFFFF"/>
                    </a:solidFill>
                  </a:tcPr>
                </a:tc>
              </a:tr>
              <a:tr h="365760">
                <a:tc>
                  <a:txBody>
                    <a:bodyPr/>
                    <a:lstStyle/>
                    <a:p>
                      <a:r>
                        <a:rPr sz="1000" b="0">
                          <a:solidFill>
                            <a:srgbClr val="4B4B4B"/>
                          </a:solidFill>
                          <a:latin typeface="Arial"/>
                        </a:rPr>
                        <a:t>Other BRDs change Product Maintenance</a:t>
                      </a:r>
                    </a:p>
                  </a:txBody>
                  <a:tcPr marL="73152" marR="73152" marT="36576" marB="36576">
                    <a:solidFill>
                      <a:srgbClr val="E5F5FF"/>
                    </a:solidFill>
                  </a:tcPr>
                </a:tc>
                <a:tc>
                  <a:txBody>
                    <a:bodyPr/>
                    <a:lstStyle/>
                    <a:p>
                      <a:r>
                        <a:rPr sz="1000" b="0">
                          <a:solidFill>
                            <a:srgbClr val="4B4B4B"/>
                          </a:solidFill>
                          <a:latin typeface="Arial"/>
                        </a:rPr>
                        <a:t>New Business, Renewal, Employee Benefits, Submitted Policies, Operations, Accounting and Data Migration read the products and package versions.</a:t>
                      </a:r>
                    </a:p>
                  </a:txBody>
                  <a:tcPr marL="73152" marR="73152" marT="36576" marB="36576">
                    <a:solidFill>
                      <a:srgbClr val="E5F5FF"/>
                    </a:solidFill>
                  </a:tcPr>
                </a:tc>
                <a:tc>
                  <a:txBody>
                    <a:bodyPr/>
                    <a:lstStyle/>
                    <a:p>
                      <a:r>
                        <a:rPr sz="1000" b="0">
                          <a:solidFill>
                            <a:srgbClr val="4B4B4B"/>
                          </a:solidFill>
                          <a:latin typeface="Arial"/>
                        </a:rPr>
                        <a:t>The change is raised against the other BRD and assessed against the cross-BRD contract; when it touches this set, a delta sign-off of the affected pages only.</a:t>
                      </a:r>
                    </a:p>
                  </a:txBody>
                  <a:tcPr marL="73152" marR="73152" marT="36576" marB="36576">
                    <a:solidFill>
                      <a:srgbClr val="E5F5FF"/>
                    </a:solidFill>
                  </a:tcPr>
                </a:tc>
              </a:tr>
              <a:tr h="365760">
                <a:tc>
                  <a:txBody>
                    <a:bodyPr/>
                    <a:lstStyle/>
                    <a:p>
                      <a:r>
                        <a:rPr sz="1000" b="0">
                          <a:solidFill>
                            <a:srgbClr val="4B4B4B"/>
                          </a:solidFill>
                          <a:latin typeface="Arial"/>
                        </a:rPr>
                        <a:t>Items that belong to other sets</a:t>
                      </a:r>
                    </a:p>
                  </a:txBody>
                  <a:tcPr marL="73152" marR="73152" marT="36576" marB="36576">
                    <a:solidFill>
                      <a:srgbClr val="FFFFFF"/>
                    </a:solidFill>
                  </a:tcPr>
                </a:tc>
                <a:tc>
                  <a:txBody>
                    <a:bodyPr/>
                    <a:lstStyle/>
                    <a:p>
                      <a:r>
                        <a:rPr sz="1000" b="0">
                          <a:solidFill>
                            <a:srgbClr val="4B4B4B"/>
                          </a:solidFill>
                          <a:latin typeface="Arial"/>
                        </a:rPr>
                        <a:t>The package map (data migration object R06) and the Renewal sanitation check PACKAGE_REMAP belong to the Data Migration and Renewal sets.</a:t>
                      </a:r>
                    </a:p>
                  </a:txBody>
                  <a:tcPr marL="73152" marR="73152" marT="36576" marB="36576">
                    <a:solidFill>
                      <a:srgbClr val="FFFFFF"/>
                    </a:solidFill>
                  </a:tcPr>
                </a:tc>
                <a:tc>
                  <a:txBody>
                    <a:bodyPr/>
                    <a:lstStyle/>
                    <a:p>
                      <a:r>
                        <a:rPr sz="1000" b="0">
                          <a:solidFill>
                            <a:srgbClr val="4B4B4B"/>
                          </a:solidFill>
                          <a:latin typeface="Arial"/>
                        </a:rPr>
                        <a:t>Product Maintenance provides the package versions the map names; the map is signed with the Data Migration and Renewal sets.</a:t>
                      </a:r>
                    </a:p>
                  </a:txBody>
                  <a:tcPr marL="73152" marR="73152" marT="36576" marB="36576">
                    <a:solidFill>
                      <a:srgbClr val="FFFFFF"/>
                    </a:solidFill>
                  </a:tcPr>
                </a:tc>
              </a:tr>
              <a:tr h="365760">
                <a:tc>
                  <a:txBody>
                    <a:bodyPr/>
                    <a:lstStyle/>
                    <a:p>
                      <a:r>
                        <a:rPr sz="1000" b="0">
                          <a:solidFill>
                            <a:srgbClr val="4B4B4B"/>
                          </a:solidFill>
                          <a:latin typeface="Arial"/>
                        </a:rPr>
                        <a:t>Integrations pending BDOI IT specifications</a:t>
                      </a:r>
                    </a:p>
                  </a:txBody>
                  <a:tcPr marL="73152" marR="73152" marT="36576" marB="36576">
                    <a:solidFill>
                      <a:srgbClr val="E5F5FF"/>
                    </a:solidFill>
                  </a:tcPr>
                </a:tc>
                <a:tc>
                  <a:txBody>
                    <a:bodyPr/>
                    <a:lstStyle/>
                    <a:p>
                      <a:r>
                        <a:rPr sz="1000" b="0">
                          <a:solidFill>
                            <a:srgbClr val="4B4B4B"/>
                          </a:solidFill>
                          <a:latin typeface="Arial"/>
                        </a:rPr>
                        <a:t>The product master feed to other BDOI systems waits for their specification (PQ16).</a:t>
                      </a:r>
                    </a:p>
                  </a:txBody>
                  <a:tcPr marL="73152" marR="73152" marT="36576" marB="36576">
                    <a:solidFill>
                      <a:srgbClr val="E5F5FF"/>
                    </a:solidFill>
                  </a:tcPr>
                </a:tc>
                <a:tc>
                  <a:txBody>
                    <a:bodyPr/>
                    <a:lstStyle/>
                    <a:p>
                      <a:r>
                        <a:rPr sz="1000" b="0">
                          <a:solidFill>
                            <a:srgbClr val="4B4B4B"/>
                          </a:solidFill>
                          <a:latin typeface="Arial"/>
                        </a:rPr>
                        <a:t>BIBS records each change for the transfer; the transfer is a change request once the specification arrives.</a:t>
                      </a:r>
                    </a:p>
                  </a:txBody>
                  <a:tcPr marL="73152" marR="73152" marT="36576" marB="36576">
                    <a:solidFill>
                      <a:srgbClr val="E5F5FF"/>
                    </a:solidFill>
                  </a:tcPr>
                </a:tc>
              </a:tr>
              <a:tr h="365760">
                <a:tc>
                  <a:txBody>
                    <a:bodyPr/>
                    <a:lstStyle/>
                    <a:p>
                      <a:r>
                        <a:rPr sz="1000" b="0">
                          <a:solidFill>
                            <a:srgbClr val="4B4B4B"/>
                          </a:solidFill>
                          <a:latin typeface="Arial"/>
                        </a:rPr>
                        <a:t>Open questions and assumptions</a:t>
                      </a:r>
                    </a:p>
                  </a:txBody>
                  <a:tcPr marL="73152" marR="73152" marT="36576" marB="36576">
                    <a:solidFill>
                      <a:srgbClr val="FFFFFF"/>
                    </a:solidFill>
                  </a:tcPr>
                </a:tc>
                <a:tc>
                  <a:txBody>
                    <a:bodyPr/>
                    <a:lstStyle/>
                    <a:p>
                      <a:r>
                        <a:rPr sz="1000" b="0">
                          <a:solidFill>
                            <a:srgbClr val="4B4B4B"/>
                          </a:solidFill>
                          <a:latin typeface="Arial"/>
                        </a:rPr>
                        <a:t>Open questions of FRS section 10.3 (product matrix, approval chain, ManCom quorum, validator role, CPC2) follow the assumptions of section 10.1; chapter 22 lists the proposed rules for confirmation.</a:t>
                      </a:r>
                    </a:p>
                  </a:txBody>
                  <a:tcPr marL="73152" marR="73152" marT="36576" marB="36576">
                    <a:solidFill>
                      <a:srgbClr val="FFFFFF"/>
                    </a:solidFill>
                  </a:tcPr>
                </a:tc>
                <a:tc>
                  <a:txBody>
                    <a:bodyPr/>
                    <a:lstStyle/>
                    <a:p>
                      <a:r>
                        <a:rPr sz="1000" b="0">
                          <a:solidFill>
                            <a:srgbClr val="4B4B4B"/>
                          </a:solidFill>
                          <a:latin typeface="Arial"/>
                        </a:rPr>
                        <a:t>Answered as configuration where possible (lists, parameters, templates, the product matrix itself); otherwise a change request; the assumption stands until then.</a:t>
                      </a:r>
                    </a:p>
                  </a:txBody>
                  <a:tcPr marL="73152" marR="73152" marT="36576" marB="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Caveats: worked examples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371600"/>
          <a:ext cx="11094414" cy="2194560"/>
        </p:xfrm>
        <a:graphic>
          <a:graphicData uri="http://schemas.openxmlformats.org/drawingml/2006/table">
            <a:tbl>
              <a:tblPr firstRow="1" bandRow="1">
                <a:tableStyleId>{5C22544A-7EE6-4342-B048-85BDC9FD1C3A}</a:tableStyleId>
              </a:tblPr>
              <a:tblGrid>
                <a:gridCol w="2113221"/>
                <a:gridCol w="8981193"/>
              </a:tblGrid>
              <a:tr h="365760">
                <a:tc>
                  <a:txBody>
                    <a:bodyPr/>
                    <a:lstStyle/>
                    <a:p>
                      <a:r>
                        <a:rPr sz="1100" b="1">
                          <a:solidFill>
                            <a:srgbClr val="FFFFFF"/>
                          </a:solidFill>
                          <a:latin typeface="Arial"/>
                        </a:rPr>
                        <a:t>Topic</a:t>
                      </a:r>
                    </a:p>
                  </a:txBody>
                  <a:tcPr marL="73152" marR="73152" marT="36576" marB="36576">
                    <a:solidFill>
                      <a:srgbClr val="004EA8"/>
                    </a:solidFill>
                  </a:tcPr>
                </a:tc>
                <a:tc>
                  <a:txBody>
                    <a:bodyPr/>
                    <a:lstStyle/>
                    <a:p>
                      <a:r>
                        <a:rPr sz="1100" b="1">
                          <a:solidFill>
                            <a:srgbClr val="FFFFFF"/>
                          </a:solidFill>
                          <a:latin typeface="Arial"/>
                        </a:rPr>
                        <a:t>Example and how it is handled</a:t>
                      </a:r>
                    </a:p>
                  </a:txBody>
                  <a:tcPr marL="73152" marR="73152" marT="36576" marB="36576">
                    <a:solidFill>
                      <a:srgbClr val="004EA8"/>
                    </a:solidFill>
                  </a:tcPr>
                </a:tc>
              </a:tr>
              <a:tr h="365760">
                <a:tc>
                  <a:txBody>
                    <a:bodyPr/>
                    <a:lstStyle/>
                    <a:p>
                      <a:r>
                        <a:rPr sz="1100" b="0">
                          <a:solidFill>
                            <a:srgbClr val="4B4B4B"/>
                          </a:solidFill>
                          <a:latin typeface="Arial"/>
                        </a:rPr>
                        <a:t>Additional requirements</a:t>
                      </a:r>
                    </a:p>
                  </a:txBody>
                  <a:tcPr marL="73152" marR="73152" marT="36576" marB="36576">
                    <a:solidFill>
                      <a:srgbClr val="FFFFFF"/>
                    </a:solidFill>
                  </a:tcPr>
                </a:tc>
                <a:tc>
                  <a:txBody>
                    <a:bodyPr/>
                    <a:lstStyle/>
                    <a:p>
                      <a:r>
                        <a:rPr sz="1100" b="0">
                          <a:solidFill>
                            <a:srgbClr val="4B4B4B"/>
                          </a:solidFill>
                          <a:latin typeface="Arial"/>
                        </a:rPr>
                        <a:t>A reviewer asks for a two-level ManCom approval: a new stage, so a change request; asking which documents the advisory checks is a clarification.</a:t>
                      </a:r>
                    </a:p>
                  </a:txBody>
                  <a:tcPr marL="73152" marR="73152" marT="36576" marB="36576">
                    <a:solidFill>
                      <a:srgbClr val="FFFFFF"/>
                    </a:solidFill>
                  </a:tcPr>
                </a:tc>
              </a:tr>
              <a:tr h="365760">
                <a:tc>
                  <a:txBody>
                    <a:bodyPr/>
                    <a:lstStyle/>
                    <a:p>
                      <a:r>
                        <a:rPr sz="1100" b="0">
                          <a:solidFill>
                            <a:srgbClr val="4B4B4B"/>
                          </a:solidFill>
                          <a:latin typeface="Arial"/>
                        </a:rPr>
                        <a:t>Other BRDs change Product Maintenance</a:t>
                      </a:r>
                    </a:p>
                  </a:txBody>
                  <a:tcPr marL="73152" marR="73152" marT="36576" marB="36576">
                    <a:solidFill>
                      <a:srgbClr val="E5F5FF"/>
                    </a:solidFill>
                  </a:tcPr>
                </a:tc>
                <a:tc>
                  <a:txBody>
                    <a:bodyPr/>
                    <a:lstStyle/>
                    <a:p>
                      <a:r>
                        <a:rPr sz="1100" b="0">
                          <a:solidFill>
                            <a:srgbClr val="4B4B4B"/>
                          </a:solidFill>
                          <a:latin typeface="Arial"/>
                        </a:rPr>
                        <a:t>Renewal asks to renew accounts of an expired package on a new version: the rating purpose changes; the version pages are re-issued and signed as a delta.</a:t>
                      </a:r>
                    </a:p>
                  </a:txBody>
                  <a:tcPr marL="73152" marR="73152" marT="36576" marB="36576">
                    <a:solidFill>
                      <a:srgbClr val="E5F5FF"/>
                    </a:solidFill>
                  </a:tcPr>
                </a:tc>
              </a:tr>
              <a:tr h="365760">
                <a:tc>
                  <a:txBody>
                    <a:bodyPr/>
                    <a:lstStyle/>
                    <a:p>
                      <a:r>
                        <a:rPr sz="1100" b="0">
                          <a:solidFill>
                            <a:srgbClr val="4B4B4B"/>
                          </a:solidFill>
                          <a:latin typeface="Arial"/>
                        </a:rPr>
                        <a:t>Items that belong to other sets</a:t>
                      </a:r>
                    </a:p>
                  </a:txBody>
                  <a:tcPr marL="73152" marR="73152" marT="36576" marB="36576">
                    <a:solidFill>
                      <a:srgbClr val="FFFFFF"/>
                    </a:solidFill>
                  </a:tcPr>
                </a:tc>
                <a:tc>
                  <a:txBody>
                    <a:bodyPr/>
                    <a:lstStyle/>
                    <a:p>
                      <a:r>
                        <a:rPr sz="1100" b="0">
                          <a:solidFill>
                            <a:srgbClr val="4B4B4B"/>
                          </a:solidFill>
                          <a:latin typeface="Arial"/>
                        </a:rPr>
                        <a:t>The template CI-07 of this set is the layout TSU prepares; it is loaded with the data migration.</a:t>
                      </a:r>
                    </a:p>
                  </a:txBody>
                  <a:tcPr marL="73152" marR="73152" marT="36576" marB="36576">
                    <a:solidFill>
                      <a:srgbClr val="FFFFFF"/>
                    </a:solidFill>
                  </a:tcPr>
                </a:tc>
              </a:tr>
              <a:tr h="365760">
                <a:tc>
                  <a:txBody>
                    <a:bodyPr/>
                    <a:lstStyle/>
                    <a:p>
                      <a:r>
                        <a:rPr sz="1100" b="0">
                          <a:solidFill>
                            <a:srgbClr val="4B4B4B"/>
                          </a:solidFill>
                          <a:latin typeface="Arial"/>
                        </a:rPr>
                        <a:t>Integrations pending BDOI IT specifications</a:t>
                      </a:r>
                    </a:p>
                  </a:txBody>
                  <a:tcPr marL="73152" marR="73152" marT="36576" marB="36576">
                    <a:solidFill>
                      <a:srgbClr val="E5F5FF"/>
                    </a:solidFill>
                  </a:tcPr>
                </a:tc>
                <a:tc>
                  <a:txBody>
                    <a:bodyPr/>
                    <a:lstStyle/>
                    <a:p>
                      <a:r>
                        <a:rPr sz="1100" b="0">
                          <a:solidFill>
                            <a:srgbClr val="4B4B4B"/>
                          </a:solidFill>
                          <a:latin typeface="Arial"/>
                        </a:rPr>
                        <a:t>When BDOI names the receiving system, each released version is sent to it; the screens do not change.</a:t>
                      </a:r>
                    </a:p>
                  </a:txBody>
                  <a:tcPr marL="73152" marR="73152" marT="36576" marB="36576">
                    <a:solidFill>
                      <a:srgbClr val="E5F5FF"/>
                    </a:solidFill>
                  </a:tcPr>
                </a:tc>
              </a:tr>
              <a:tr h="365760">
                <a:tc>
                  <a:txBody>
                    <a:bodyPr/>
                    <a:lstStyle/>
                    <a:p>
                      <a:r>
                        <a:rPr sz="1100" b="0">
                          <a:solidFill>
                            <a:srgbClr val="4B4B4B"/>
                          </a:solidFill>
                          <a:latin typeface="Arial"/>
                        </a:rPr>
                        <a:t>Open questions and assumptions</a:t>
                      </a:r>
                    </a:p>
                  </a:txBody>
                  <a:tcPr marL="73152" marR="73152" marT="36576" marB="36576">
                    <a:solidFill>
                      <a:srgbClr val="FFFFFF"/>
                    </a:solidFill>
                  </a:tcPr>
                </a:tc>
                <a:tc>
                  <a:txBody>
                    <a:bodyPr/>
                    <a:lstStyle/>
                    <a:p>
                      <a:r>
                        <a:rPr sz="1100" b="0">
                          <a:solidFill>
                            <a:srgbClr val="4B4B4B"/>
                          </a:solidFill>
                          <a:latin typeface="Arial"/>
                        </a:rPr>
                        <a:t>The service level hours of each stage are parameters: a changed answer to PQ08 is a configuration change, not a change request.</a:t>
                      </a:r>
                    </a:p>
                  </a:txBody>
                  <a:tcPr marL="73152" marR="73152" marT="36576" marB="36576">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Entry and exit criteria, definition of done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Entry</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screenshot of the set is taken on the SIT environment with seed data.</a:t>
            </a:r>
          </a:p>
          <a:p>
            <a:pPr>
              <a:spcAft>
                <a:spcPts val="600"/>
              </a:spcAft>
            </a:pPr>
            <a:r>
              <a:rPr sz="1200">
                <a:solidFill>
                  <a:srgbClr val="004EA8"/>
                </a:solidFill>
                <a:latin typeface="Arial"/>
              </a:rPr>
              <a:t>•  </a:t>
            </a:r>
            <a:r>
              <a:rPr sz="1200">
                <a:solidFill>
                  <a:srgbClr val="4B4B4B"/>
                </a:solidFill>
                <a:latin typeface="Arial"/>
              </a:rPr>
              <a:t>Reviewers have their SIT users and the walkthrough sessions are held.</a:t>
            </a:r>
          </a:p>
          <a:p>
            <a:pPr>
              <a:spcAft>
                <a:spcPts val="600"/>
              </a:spcAft>
            </a:pPr>
            <a:r>
              <a:rPr sz="1200">
                <a:solidFill>
                  <a:srgbClr val="004EA8"/>
                </a:solidFill>
                <a:latin typeface="Arial"/>
              </a:rPr>
              <a:t>•  </a:t>
            </a:r>
            <a:r>
              <a:rPr sz="1200">
                <a:solidFill>
                  <a:srgbClr val="4B4B4B"/>
                </a:solidFill>
                <a:latin typeface="Arial"/>
              </a:rPr>
              <a:t>The test plan is traced to the FRS and to the screens.</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Exit</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row of the workbook reviewed by its unit (Accept, Change requested or Comment).</a:t>
            </a:r>
          </a:p>
          <a:p>
            <a:pPr>
              <a:spcAft>
                <a:spcPts val="600"/>
              </a:spcAft>
            </a:pPr>
            <a:r>
              <a:rPr sz="1200">
                <a:solidFill>
                  <a:srgbClr val="004EA8"/>
                </a:solidFill>
                <a:latin typeface="Arial"/>
              </a:rPr>
              <a:t>•  </a:t>
            </a:r>
            <a:r>
              <a:rPr sz="1200">
                <a:solidFill>
                  <a:srgbClr val="4B4B4B"/>
                </a:solidFill>
                <a:latin typeface="Arial"/>
              </a:rPr>
              <a:t>Every comments log item closed: answered, corrected in v2.2, or raised as a change request.</a:t>
            </a:r>
          </a:p>
          <a:p>
            <a:pPr>
              <a:spcAft>
                <a:spcPts val="600"/>
              </a:spcAft>
            </a:pPr>
            <a:r>
              <a:rPr sz="1200">
                <a:solidFill>
                  <a:srgbClr val="004EA8"/>
                </a:solidFill>
                <a:latin typeface="Arial"/>
              </a:rPr>
              <a:t>•  </a:t>
            </a:r>
            <a:r>
              <a:rPr sz="1200">
                <a:solidFill>
                  <a:srgbClr val="4B4B4B"/>
                </a:solidFill>
                <a:latin typeface="Arial"/>
              </a:rPr>
              <a:t>Open questions closed or accepted as assumptions.</a:t>
            </a:r>
          </a:p>
          <a:p>
            <a:pPr>
              <a:spcAft>
                <a:spcPts val="600"/>
              </a:spcAft>
            </a:pPr>
            <a:r>
              <a:rPr sz="1200">
                <a:solidFill>
                  <a:srgbClr val="004EA8"/>
                </a:solidFill>
                <a:latin typeface="Arial"/>
              </a:rPr>
              <a:t>•  </a:t>
            </a:r>
            <a:r>
              <a:rPr sz="1200">
                <a:solidFill>
                  <a:srgbClr val="4B4B4B"/>
                </a:solidFill>
                <a:latin typeface="Arial"/>
              </a:rPr>
              <a:t>The sign-off certificate signed by every signatory of the Who signs what matrix: prepared, input, reviewed and approved as on the BRD approval sheet; the Product Owner approves the whole set.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Done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Signed certificate filed with the set; version history updated.</a:t>
            </a:r>
          </a:p>
          <a:p>
            <a:pPr>
              <a:spcAft>
                <a:spcPts val="600"/>
              </a:spcAft>
            </a:pPr>
            <a:r>
              <a:rPr sz="1200">
                <a:solidFill>
                  <a:srgbClr val="004EA8"/>
                </a:solidFill>
                <a:latin typeface="Arial"/>
              </a:rPr>
              <a:t>•  </a:t>
            </a:r>
            <a:r>
              <a:rPr sz="1200">
                <a:solidFill>
                  <a:srgbClr val="4B4B4B"/>
                </a:solidFill>
                <a:latin typeface="Arial"/>
              </a:rPr>
              <a:t>Content frozen as signed; deltas listed in the Change Management Register with mandays.</a:t>
            </a:r>
          </a:p>
          <a:p>
            <a:pPr>
              <a:spcAft>
                <a:spcPts val="600"/>
              </a:spcAft>
            </a:pPr>
            <a:r>
              <a:rPr sz="1200">
                <a:solidFill>
                  <a:srgbClr val="004EA8"/>
                </a:solidFill>
                <a:latin typeface="Arial"/>
              </a:rPr>
              <a:t>•  </a:t>
            </a:r>
            <a:r>
              <a:rPr sz="1200">
                <a:solidFill>
                  <a:srgbClr val="4B4B4B"/>
                </a:solidFill>
                <a:latin typeface="Arial"/>
              </a:rPr>
              <a:t>Configuration input templates owned and scheduled for the data migration mocks.</a:t>
            </a:r>
          </a:p>
          <a:p>
            <a:pPr>
              <a:spcAft>
                <a:spcPts val="600"/>
              </a:spcAft>
            </a:pPr>
            <a:r>
              <a:rPr sz="1200">
                <a:solidFill>
                  <a:srgbClr val="004EA8"/>
                </a:solidFill>
                <a:latin typeface="Arial"/>
              </a:rPr>
              <a:t>•  </a:t>
            </a:r>
            <a:r>
              <a:rPr sz="1200">
                <a:solidFill>
                  <a:srgbClr val="4B4B4B"/>
                </a:solidFill>
                <a:latin typeface="Arial"/>
              </a:rPr>
              <a:t>Test plan agreed for SIT and UAT.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After sign-off: readiness checklist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  Signed FRS, sign-off workbook and screens</a:t>
            </a:r>
          </a:p>
          <a:p>
            <a:pPr>
              <a:spcAft>
                <a:spcPts val="600"/>
              </a:spcAft>
            </a:pPr>
            <a:r>
              <a:rPr sz="1600">
                <a:solidFill>
                  <a:srgbClr val="004EA8"/>
                </a:solidFill>
                <a:latin typeface="Arial"/>
              </a:rPr>
              <a:t>•  </a:t>
            </a:r>
            <a:r>
              <a:rPr sz="1600">
                <a:solidFill>
                  <a:srgbClr val="4B4B4B"/>
                </a:solidFill>
                <a:latin typeface="Arial"/>
              </a:rPr>
              <a:t>☐  Open questions closed or accepted as assumptions</a:t>
            </a:r>
          </a:p>
          <a:p>
            <a:pPr>
              <a:spcAft>
                <a:spcPts val="600"/>
              </a:spcAft>
            </a:pPr>
            <a:r>
              <a:rPr sz="1600">
                <a:solidFill>
                  <a:srgbClr val="004EA8"/>
                </a:solidFill>
                <a:latin typeface="Arial"/>
              </a:rPr>
              <a:t>•  </a:t>
            </a:r>
            <a:r>
              <a:rPr sz="1600">
                <a:solidFill>
                  <a:srgbClr val="4B4B4B"/>
                </a:solidFill>
                <a:latin typeface="Arial"/>
              </a:rPr>
              <a:t>☐  Configuration inputs from the business: product catalogue, coverages and rules, clauses, rate tables, insurers, packages in force, package map, document templates, lists of values, incentive criteria</a:t>
            </a:r>
          </a:p>
          <a:p>
            <a:pPr>
              <a:spcAft>
                <a:spcPts val="600"/>
              </a:spcAft>
            </a:pPr>
            <a:r>
              <a:rPr sz="1600">
                <a:solidFill>
                  <a:srgbClr val="004EA8"/>
                </a:solidFill>
                <a:latin typeface="Arial"/>
              </a:rPr>
              <a:t>•  </a:t>
            </a:r>
            <a:r>
              <a:rPr sz="1600">
                <a:solidFill>
                  <a:srgbClr val="4B4B4B"/>
                </a:solidFill>
                <a:latin typeface="Arial"/>
              </a:rPr>
              <a:t>☐  Agreed test plan</a:t>
            </a:r>
          </a:p>
          <a:p>
            <a:pPr>
              <a:spcAft>
                <a:spcPts val="600"/>
              </a:spcAft>
            </a:pPr>
            <a:r>
              <a:rPr sz="1600">
                <a:solidFill>
                  <a:srgbClr val="004EA8"/>
                </a:solidFill>
                <a:latin typeface="Arial"/>
              </a:rPr>
              <a:t>•  </a:t>
            </a:r>
            <a:r>
              <a:rPr sz="1600">
                <a:solidFill>
                  <a:srgbClr val="4B4B4B"/>
                </a:solidFill>
                <a:latin typeface="Arial"/>
              </a:rPr>
              <a:t>☐  Migration mapping of the product objects (R01, R03-R07) signed with BRD-13</a:t>
            </a:r>
          </a:p>
          <a:p>
            <a:pPr lvl="1">
              <a:spcAft>
                <a:spcPts val="600"/>
              </a:spcAft>
            </a:pPr>
            <a:r>
              <a:rPr sz="1400">
                <a:solidFill>
                  <a:srgbClr val="656565"/>
                </a:solidFill>
                <a:latin typeface="Arial"/>
              </a:rPr>
              <a:t>–  </a:t>
            </a:r>
            <a:r>
              <a:rPr sz="1400">
                <a:solidFill>
                  <a:srgbClr val="4B4B4B"/>
                </a:solidFill>
                <a:latin typeface="Arial"/>
              </a:rPr>
              <a:t>After sign-off the content is frozen as signed, the approved deltas are scheduled and the configuration inputs are loaded.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 control after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A change to anything frozen is raised in the Change Management Register</a:t>
            </a:r>
          </a:p>
          <a:p>
            <a:pPr lvl="1">
              <a:spcAft>
                <a:spcPts val="600"/>
              </a:spcAft>
            </a:pPr>
            <a:r>
              <a:rPr sz="1600">
                <a:solidFill>
                  <a:srgbClr val="656565"/>
                </a:solidFill>
                <a:latin typeface="Arial"/>
              </a:rPr>
              <a:t>–  </a:t>
            </a:r>
            <a:r>
              <a:rPr sz="1600">
                <a:solidFill>
                  <a:srgbClr val="4B4B4B"/>
                </a:solidFill>
                <a:latin typeface="Arial"/>
              </a:rPr>
              <a:t>The screen, field, rule or message concerned, the reason and the priority</a:t>
            </a:r>
          </a:p>
          <a:p>
            <a:pPr>
              <a:spcAft>
                <a:spcPts val="600"/>
              </a:spcAft>
            </a:pPr>
            <a:r>
              <a:rPr sz="1800">
                <a:solidFill>
                  <a:srgbClr val="004EA8"/>
                </a:solidFill>
                <a:latin typeface="Arial"/>
              </a:rPr>
              <a:t>•  </a:t>
            </a:r>
            <a:r>
              <a:rPr sz="1800">
                <a:solidFill>
                  <a:srgbClr val="4B4B4B"/>
                </a:solidFill>
                <a:latin typeface="Arial"/>
              </a:rPr>
              <a:t>The project team assesses the mandays and the effect on the other BRDs through the cross-BRD contract</a:t>
            </a:r>
          </a:p>
          <a:p>
            <a:pPr>
              <a:spcAft>
                <a:spcPts val="600"/>
              </a:spcAft>
            </a:pPr>
            <a:r>
              <a:rPr sz="1800">
                <a:solidFill>
                  <a:srgbClr val="004EA8"/>
                </a:solidFill>
                <a:latin typeface="Arial"/>
              </a:rPr>
              <a:t>•  </a:t>
            </a:r>
            <a:r>
              <a:rPr sz="1800">
                <a:solidFill>
                  <a:srgbClr val="4B4B4B"/>
                </a:solidFill>
                <a:latin typeface="Arial"/>
              </a:rPr>
              <a:t>The owners of every BRD concerned approve it</a:t>
            </a:r>
          </a:p>
          <a:p>
            <a:pPr>
              <a:spcAft>
                <a:spcPts val="600"/>
              </a:spcAft>
            </a:pPr>
            <a:r>
              <a:rPr sz="1800">
                <a:solidFill>
                  <a:srgbClr val="004EA8"/>
                </a:solidFill>
                <a:latin typeface="Arial"/>
              </a:rPr>
              <a:t>•  </a:t>
            </a:r>
            <a:r>
              <a:rPr sz="1800">
                <a:solidFill>
                  <a:srgbClr val="4B4B4B"/>
                </a:solidFill>
                <a:latin typeface="Arial"/>
              </a:rPr>
              <a:t>Delivered as a new version of the set (v2.1, v2.2...) with the changed pages signed again (delta sign-off)</a:t>
            </a:r>
          </a:p>
          <a:p>
            <a:pPr>
              <a:spcAft>
                <a:spcPts val="600"/>
              </a:spcAft>
            </a:pPr>
            <a:r>
              <a:rPr sz="1800">
                <a:solidFill>
                  <a:srgbClr val="004EA8"/>
                </a:solidFill>
                <a:latin typeface="Arial"/>
              </a:rPr>
              <a:t>•  </a:t>
            </a:r>
            <a:r>
              <a:rPr sz="1800">
                <a:solidFill>
                  <a:srgbClr val="4B4B4B"/>
                </a:solidFill>
                <a:latin typeface="Arial"/>
              </a:rPr>
              <a:t>Configuration values marked default change in BIBS without a change request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Governance, contacts and 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71600"/>
          <a:ext cx="11094414" cy="2560320"/>
        </p:xfrm>
        <a:graphic>
          <a:graphicData uri="http://schemas.openxmlformats.org/drawingml/2006/table">
            <a:tbl>
              <a:tblPr firstRow="1" bandRow="1">
                <a:tableStyleId>{5C22544A-7EE6-4342-B048-85BDC9FD1C3A}</a:tableStyleId>
              </a:tblPr>
              <a:tblGrid>
                <a:gridCol w="2641527"/>
                <a:gridCol w="3698138"/>
                <a:gridCol w="4754749"/>
              </a:tblGrid>
              <a:tr h="365760">
                <a:tc>
                  <a:txBody>
                    <a:bodyPr/>
                    <a:lstStyle/>
                    <a:p>
                      <a:r>
                        <a:rPr sz="1000" b="1">
                          <a:solidFill>
                            <a:srgbClr val="FFFFFF"/>
                          </a:solidFill>
                          <a:latin typeface="Arial"/>
                        </a:rPr>
                        <a:t>Role</a:t>
                      </a:r>
                    </a:p>
                  </a:txBody>
                  <a:tcPr marL="73152" marR="73152" marT="36576" marB="36576">
                    <a:solidFill>
                      <a:srgbClr val="004EA8"/>
                    </a:solidFill>
                  </a:tcPr>
                </a:tc>
                <a:tc>
                  <a:txBody>
                    <a:bodyPr/>
                    <a:lstStyle/>
                    <a:p>
                      <a:r>
                        <a:rPr sz="1000" b="1">
                          <a:solidFill>
                            <a:srgbClr val="FFFFFF"/>
                          </a:solidFill>
                          <a:latin typeface="Arial"/>
                        </a:rPr>
                        <a:t>Who</a:t>
                      </a:r>
                    </a:p>
                  </a:txBody>
                  <a:tcPr marL="73152" marR="73152" marT="36576" marB="36576">
                    <a:solidFill>
                      <a:srgbClr val="004EA8"/>
                    </a:solidFill>
                  </a:tcPr>
                </a:tc>
                <a:tc>
                  <a:txBody>
                    <a:bodyPr/>
                    <a:lstStyle/>
                    <a:p>
                      <a:r>
                        <a:rPr sz="1000" b="1">
                          <a:solidFill>
                            <a:srgbClr val="FFFFFF"/>
                          </a:solidFill>
                          <a:latin typeface="Arial"/>
                        </a:rPr>
                        <a:t>Does</a:t>
                      </a:r>
                    </a:p>
                  </a:txBody>
                  <a:tcPr marL="73152" marR="73152" marT="36576" marB="36576">
                    <a:solidFill>
                      <a:srgbClr val="004EA8"/>
                    </a:solidFill>
                  </a:tcPr>
                </a:tc>
              </a:tr>
              <a:tr h="365760">
                <a:tc>
                  <a:txBody>
                    <a:bodyPr/>
                    <a:lstStyle/>
                    <a:p>
                      <a:r>
                        <a:rPr sz="1000" b="0">
                          <a:solidFill>
                            <a:srgbClr val="4B4B4B"/>
                          </a:solidFill>
                          <a:latin typeface="Arial"/>
                        </a:rPr>
                        <a:t>Business owner and approver</a:t>
                      </a:r>
                    </a:p>
                  </a:txBody>
                  <a:tcPr marL="73152" marR="73152" marT="36576" marB="36576">
                    <a:solidFill>
                      <a:srgbClr val="FFFFFF"/>
                    </a:solidFill>
                  </a:tcPr>
                </a:tc>
                <a:tc>
                  <a:txBody>
                    <a:bodyPr/>
                    <a:lstStyle/>
                    <a:p>
                      <a:r>
                        <a:rPr sz="1000" b="0">
                          <a:solidFill>
                            <a:srgbClr val="4B4B4B"/>
                          </a:solidFill>
                          <a:latin typeface="Arial"/>
                        </a:rPr>
                        <a:t>Product Owner, Marketing Business System</a:t>
                      </a:r>
                    </a:p>
                  </a:txBody>
                  <a:tcPr marL="73152" marR="73152" marT="36576" marB="36576">
                    <a:solidFill>
                      <a:srgbClr val="FFFFFF"/>
                    </a:solidFill>
                  </a:tcPr>
                </a:tc>
                <a:tc>
                  <a:txBody>
                    <a:bodyPr/>
                    <a:lstStyle/>
                    <a:p>
                      <a:r>
                        <a:rPr sz="1000" b="0">
                          <a:solidFill>
                            <a:srgbClr val="4B4B4B"/>
                          </a:solidFill>
                          <a:latin typeface="Arial"/>
                        </a:rPr>
                        <a:t>Accountable for the sign-off; chairs the sign-off meeting</a:t>
                      </a:r>
                    </a:p>
                  </a:txBody>
                  <a:tcPr marL="73152" marR="73152" marT="36576" marB="36576">
                    <a:solidFill>
                      <a:srgbClr val="FFFFFF"/>
                    </a:solidFill>
                  </a:tcPr>
                </a:tc>
              </a:tr>
              <a:tr h="365760">
                <a:tc>
                  <a:txBody>
                    <a:bodyPr/>
                    <a:lstStyle/>
                    <a:p>
                      <a:r>
                        <a:rPr sz="1000" b="0">
                          <a:solidFill>
                            <a:srgbClr val="4B4B4B"/>
                          </a:solidFill>
                          <a:latin typeface="Arial"/>
                        </a:rPr>
                        <a:t>Input provider and reviewer</a:t>
                      </a:r>
                    </a:p>
                  </a:txBody>
                  <a:tcPr marL="73152" marR="73152" marT="36576" marB="36576">
                    <a:solidFill>
                      <a:srgbClr val="E5F5FF"/>
                    </a:solidFill>
                  </a:tcPr>
                </a:tc>
                <a:tc>
                  <a:txBody>
                    <a:bodyPr/>
                    <a:lstStyle/>
                    <a:p>
                      <a:r>
                        <a:rPr sz="1000" b="0">
                          <a:solidFill>
                            <a:srgbClr val="4B4B4B"/>
                          </a:solidFill>
                          <a:latin typeface="Arial"/>
                        </a:rPr>
                        <a:t>Marketing Business System (MBS)</a:t>
                      </a:r>
                    </a:p>
                  </a:txBody>
                  <a:tcPr marL="73152" marR="73152" marT="36576" marB="36576">
                    <a:solidFill>
                      <a:srgbClr val="E5F5FF"/>
                    </a:solidFill>
                  </a:tcPr>
                </a:tc>
                <a:tc>
                  <a:txBody>
                    <a:bodyPr/>
                    <a:lstStyle/>
                    <a:p>
                      <a:r>
                        <a:rPr sz="1000" b="0">
                          <a:solidFill>
                            <a:srgbClr val="4B4B4B"/>
                          </a:solidFill>
                          <a:latin typeface="Arial"/>
                        </a:rPr>
                        <a:t>Coordinates the MBS review and the configuration inputs; signs for the business input and its review (BRD approval sheet)</a:t>
                      </a:r>
                    </a:p>
                  </a:txBody>
                  <a:tcPr marL="73152" marR="73152" marT="36576" marB="36576">
                    <a:solidFill>
                      <a:srgbClr val="E5F5FF"/>
                    </a:solidFill>
                  </a:tcPr>
                </a:tc>
              </a:tr>
              <a:tr h="365760">
                <a:tc>
                  <a:txBody>
                    <a:bodyPr/>
                    <a:lstStyle/>
                    <a:p>
                      <a:r>
                        <a:rPr sz="1000" b="0">
                          <a:solidFill>
                            <a:srgbClr val="4B4B4B"/>
                          </a:solidFill>
                          <a:latin typeface="Arial"/>
                        </a:rPr>
                        <a:t>Reviewers</a:t>
                      </a:r>
                    </a:p>
                  </a:txBody>
                  <a:tcPr marL="73152" marR="73152" marT="36576" marB="36576">
                    <a:solidFill>
                      <a:srgbClr val="FFFFFF"/>
                    </a:solidFill>
                  </a:tcPr>
                </a:tc>
                <a:tc>
                  <a:txBody>
                    <a:bodyPr/>
                    <a:lstStyle/>
                    <a:p>
                      <a:r>
                        <a:rPr sz="1000" b="0">
                          <a:solidFill>
                            <a:srgbClr val="4B4B4B"/>
                          </a:solidFill>
                          <a:latin typeface="Arial"/>
                        </a:rPr>
                        <a:t>TSU, Marketing, MBS</a:t>
                      </a:r>
                    </a:p>
                  </a:txBody>
                  <a:tcPr marL="73152" marR="73152" marT="36576" marB="36576">
                    <a:solidFill>
                      <a:srgbClr val="FFFFFF"/>
                    </a:solidFill>
                  </a:tcPr>
                </a:tc>
                <a:tc>
                  <a:txBody>
                    <a:bodyPr/>
                    <a:lstStyle/>
                    <a:p>
                      <a:r>
                        <a:rPr sz="1000" b="0">
                          <a:solidFill>
                            <a:srgbClr val="4B4B4B"/>
                          </a:solidFill>
                          <a:latin typeface="Arial"/>
                        </a:rPr>
                        <a:t>Review their screens and rows; raise comments; provide the templates they own</a:t>
                      </a:r>
                    </a:p>
                  </a:txBody>
                  <a:tcPr marL="73152" marR="73152" marT="36576" marB="36576">
                    <a:solidFill>
                      <a:srgbClr val="FFFFFF"/>
                    </a:solidFill>
                  </a:tcPr>
                </a:tc>
              </a:tr>
              <a:tr h="365760">
                <a:tc>
                  <a:txBody>
                    <a:bodyPr/>
                    <a:lstStyle/>
                    <a:p>
                      <a:r>
                        <a:rPr sz="1000" b="0">
                          <a:solidFill>
                            <a:srgbClr val="4B4B4B"/>
                          </a:solidFill>
                          <a:latin typeface="Arial"/>
                        </a:rPr>
                        <a:t>Finance and BDOI IT</a:t>
                      </a:r>
                    </a:p>
                  </a:txBody>
                  <a:tcPr marL="73152" marR="73152" marT="36576" marB="36576">
                    <a:solidFill>
                      <a:srgbClr val="E5F5FF"/>
                    </a:solidFill>
                  </a:tcPr>
                </a:tc>
                <a:tc>
                  <a:txBody>
                    <a:bodyPr/>
                    <a:lstStyle/>
                    <a:p>
                      <a:r>
                        <a:rPr sz="1000" b="0">
                          <a:solidFill>
                            <a:srgbClr val="4B4B4B"/>
                          </a:solidFill>
                          <a:latin typeface="Arial"/>
                        </a:rPr>
                        <a:t>Comptrollership, BDOI IT</a:t>
                      </a:r>
                    </a:p>
                  </a:txBody>
                  <a:tcPr marL="73152" marR="73152" marT="36576" marB="36576">
                    <a:solidFill>
                      <a:srgbClr val="E5F5FF"/>
                    </a:solidFill>
                  </a:tcPr>
                </a:tc>
                <a:tc>
                  <a:txBody>
                    <a:bodyPr/>
                    <a:lstStyle/>
                    <a:p>
                      <a:r>
                        <a:rPr sz="1000" b="0">
                          <a:solidFill>
                            <a:srgbClr val="4B4B4B"/>
                          </a:solidFill>
                          <a:latin typeface="Arial"/>
                        </a:rPr>
                        <a:t>Comptrollership approves rates, commission and incentives; BDOI IT reviews interfaces, access and the Technical Specification, not the business screens</a:t>
                      </a:r>
                    </a:p>
                  </a:txBody>
                  <a:tcPr marL="73152" marR="73152" marT="36576" marB="36576">
                    <a:solidFill>
                      <a:srgbClr val="E5F5FF"/>
                    </a:solidFill>
                  </a:tcPr>
                </a:tc>
              </a:tr>
              <a:tr h="365760">
                <a:tc>
                  <a:txBody>
                    <a:bodyPr/>
                    <a:lstStyle/>
                    <a:p>
                      <a:r>
                        <a:rPr sz="1000" b="0">
                          <a:solidFill>
                            <a:srgbClr val="4B4B4B"/>
                          </a:solidFill>
                          <a:latin typeface="Arial"/>
                        </a:rPr>
                        <a:t>BRD owner</a:t>
                      </a:r>
                    </a:p>
                  </a:txBody>
                  <a:tcPr marL="73152" marR="73152" marT="36576" marB="36576">
                    <a:solidFill>
                      <a:srgbClr val="FFFFFF"/>
                    </a:solidFill>
                  </a:tcPr>
                </a:tc>
                <a:tc>
                  <a:txBody>
                    <a:bodyPr/>
                    <a:lstStyle/>
                    <a:p>
                      <a:r>
                        <a:rPr sz="1000" b="0">
                          <a:solidFill>
                            <a:srgbClr val="4B4B4B"/>
                          </a:solidFill>
                          <a:latin typeface="Arial"/>
                        </a:rPr>
                        <a:t>Business Project Services, BDO Unibank ESG</a:t>
                      </a:r>
                    </a:p>
                  </a:txBody>
                  <a:tcPr marL="73152" marR="73152" marT="36576" marB="36576">
                    <a:solidFill>
                      <a:srgbClr val="FFFFFF"/>
                    </a:solidFill>
                  </a:tcPr>
                </a:tc>
                <a:tc>
                  <a:txBody>
                    <a:bodyPr/>
                    <a:lstStyle/>
                    <a:p>
                      <a:r>
                        <a:rPr sz="1000" b="0">
                          <a:solidFill>
                            <a:srgbClr val="4B4B4B"/>
                          </a:solidFill>
                          <a:latin typeface="Arial"/>
                        </a:rPr>
                        <a:t>Business Analyst: the BRD as written; Program Manager: traceability and completeness; sign-off coordination</a:t>
                      </a:r>
                    </a:p>
                  </a:txBody>
                  <a:tcPr marL="73152" marR="73152" marT="36576" marB="36576">
                    <a:solidFill>
                      <a:srgbClr val="FFFFFF"/>
                    </a:solidFill>
                  </a:tcPr>
                </a:tc>
              </a:tr>
              <a:tr h="365760">
                <a:tc>
                  <a:txBody>
                    <a:bodyPr/>
                    <a:lstStyle/>
                    <a:p>
                      <a:r>
                        <a:rPr sz="1000" b="0">
                          <a:solidFill>
                            <a:srgbClr val="4B4B4B"/>
                          </a:solidFill>
                          <a:latin typeface="Arial"/>
                        </a:rPr>
                        <a:t>Delivery</a:t>
                      </a:r>
                    </a:p>
                  </a:txBody>
                  <a:tcPr marL="73152" marR="73152" marT="36576" marB="36576">
                    <a:solidFill>
                      <a:srgbClr val="E5F5FF"/>
                    </a:solidFill>
                  </a:tcPr>
                </a:tc>
                <a:tc>
                  <a:txBody>
                    <a:bodyPr/>
                    <a:lstStyle/>
                    <a:p>
                      <a:r>
                        <a:rPr sz="1000" b="0">
                          <a:solidFill>
                            <a:srgbClr val="4B4B4B"/>
                          </a:solidFill>
                          <a:latin typeface="Arial"/>
                        </a:rPr>
                        <a:t>iorta TechNXT Project Manager, Business Analysis, test lead</a:t>
                      </a:r>
                    </a:p>
                  </a:txBody>
                  <a:tcPr marL="73152" marR="73152" marT="36576" marB="36576">
                    <a:solidFill>
                      <a:srgbClr val="E5F5FF"/>
                    </a:solidFill>
                  </a:tcPr>
                </a:tc>
                <a:tc>
                  <a:txBody>
                    <a:bodyPr/>
                    <a:lstStyle/>
                    <a:p>
                      <a:r>
                        <a:rPr sz="1000" b="0">
                          <a:solidFill>
                            <a:srgbClr val="4B4B4B"/>
                          </a:solidFill>
                          <a:latin typeface="Arial"/>
                        </a:rPr>
                        <a:t>Sessions, answers, comments log, revisions, change requests</a:t>
                      </a:r>
                    </a:p>
                  </a:txBody>
                  <a:tcPr marL="73152" marR="73152" marT="36576" marB="36576">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 and the release order of the other BRD sets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Sign-off Pack Guide BRD-3 Product Maintenance | v2.1</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Kick-off and first SIT walkthrough on Wed 4-Nov-2026</a:t>
            </a:r>
          </a:p>
          <a:p>
            <a:pPr>
              <a:spcAft>
                <a:spcPts val="600"/>
              </a:spcAft>
            </a:pPr>
            <a:r>
              <a:rPr sz="1600">
                <a:solidFill>
                  <a:srgbClr val="004EA8"/>
                </a:solidFill>
                <a:latin typeface="Arial"/>
              </a:rPr>
              <a:t>•  </a:t>
            </a:r>
            <a:r>
              <a:rPr sz="1600">
                <a:solidFill>
                  <a:srgbClr val="4B4B4B"/>
                </a:solidFill>
                <a:latin typeface="Arial"/>
              </a:rPr>
              <a:t>Workbooks returned by Wed 18-Nov-2026; Q&amp;A on Mon 23-Nov-2026; sign-off on Mon 30-Nov-2026</a:t>
            </a:r>
          </a:p>
          <a:p>
            <a:pPr>
              <a:spcAft>
                <a:spcPts val="600"/>
              </a:spcAft>
            </a:pPr>
            <a:r>
              <a:rPr sz="1600">
                <a:solidFill>
                  <a:srgbClr val="004EA8"/>
                </a:solidFill>
                <a:latin typeface="Arial"/>
              </a:rPr>
              <a:t>•  </a:t>
            </a:r>
            <a:r>
              <a:rPr sz="1600">
                <a:solidFill>
                  <a:srgbClr val="4B4B4B"/>
                </a:solidFill>
                <a:latin typeface="Arial"/>
              </a:rPr>
              <a:t>Configuration input templates filled in for the data migration mocks; final at the map freeze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Sign-off Pack Guide BRD-3 Product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