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68.xml" ContentType="application/vnd.openxmlformats-officedocument.presentationml.notesSlide+xml"/>
  <Override PartName="/ppt/notesSlides/notesSlide269.xml" ContentType="application/vnd.openxmlformats-officedocument.presentationml.notesSlide+xml"/>
  <Override PartName="/ppt/notesSlides/notesSlide27.xml" ContentType="application/vnd.openxmlformats-officedocument.presentationml.notesSlide+xml"/>
  <Override PartName="/ppt/notesSlides/notesSlide270.xml" ContentType="application/vnd.openxmlformats-officedocument.presentationml.notesSlide+xml"/>
  <Override PartName="/ppt/notesSlides/notesSlide271.xml" ContentType="application/vnd.openxmlformats-officedocument.presentationml.notesSlide+xml"/>
  <Override PartName="/ppt/notesSlides/notesSlide272.xml" ContentType="application/vnd.openxmlformats-officedocument.presentationml.notesSlide+xml"/>
  <Override PartName="/ppt/notesSlides/notesSlide273.xml" ContentType="application/vnd.openxmlformats-officedocument.presentationml.notesSlide+xml"/>
  <Override PartName="/ppt/notesSlides/notesSlide274.xml" ContentType="application/vnd.openxmlformats-officedocument.presentationml.notesSlide+xml"/>
  <Override PartName="/ppt/notesSlides/notesSlide275.xml" ContentType="application/vnd.openxmlformats-officedocument.presentationml.notesSlide+xml"/>
  <Override PartName="/ppt/notesSlides/notesSlide276.xml" ContentType="application/vnd.openxmlformats-officedocument.presentationml.notesSlide+xml"/>
  <Override PartName="/ppt/notesSlides/notesSlide277.xml" ContentType="application/vnd.openxmlformats-officedocument.presentationml.notesSlide+xml"/>
  <Override PartName="/ppt/notesSlides/notesSlide278.xml" ContentType="application/vnd.openxmlformats-officedocument.presentationml.notesSlide+xml"/>
  <Override PartName="/ppt/notesSlides/notesSlide279.xml" ContentType="application/vnd.openxmlformats-officedocument.presentationml.notesSlide+xml"/>
  <Override PartName="/ppt/notesSlides/notesSlide28.xml" ContentType="application/vnd.openxmlformats-officedocument.presentationml.notesSlide+xml"/>
  <Override PartName="/ppt/notesSlides/notesSlide280.xml" ContentType="application/vnd.openxmlformats-officedocument.presentationml.notesSlide+xml"/>
  <Override PartName="/ppt/notesSlides/notesSlide281.xml" ContentType="application/vnd.openxmlformats-officedocument.presentationml.notesSlide+xml"/>
  <Override PartName="/ppt/notesSlides/notesSlide282.xml" ContentType="application/vnd.openxmlformats-officedocument.presentationml.notesSlide+xml"/>
  <Override PartName="/ppt/notesSlides/notesSlide283.xml" ContentType="application/vnd.openxmlformats-officedocument.presentationml.notesSlide+xml"/>
  <Override PartName="/ppt/notesSlides/notesSlide284.xml" ContentType="application/vnd.openxmlformats-officedocument.presentationml.notesSlide+xml"/>
  <Override PartName="/ppt/notesSlides/notesSlide285.xml" ContentType="application/vnd.openxmlformats-officedocument.presentationml.notesSlide+xml"/>
  <Override PartName="/ppt/notesSlides/notesSlide286.xml" ContentType="application/vnd.openxmlformats-officedocument.presentationml.notesSlide+xml"/>
  <Override PartName="/ppt/notesSlides/notesSlide287.xml" ContentType="application/vnd.openxmlformats-officedocument.presentationml.notesSlide+xml"/>
  <Override PartName="/ppt/notesSlides/notesSlide288.xml" ContentType="application/vnd.openxmlformats-officedocument.presentationml.notesSlide+xml"/>
  <Override PartName="/ppt/notesSlides/notesSlide289.xml" ContentType="application/vnd.openxmlformats-officedocument.presentationml.notesSlide+xml"/>
  <Override PartName="/ppt/notesSlides/notesSlide29.xml" ContentType="application/vnd.openxmlformats-officedocument.presentationml.notesSlide+xml"/>
  <Override PartName="/ppt/notesSlides/notesSlide290.xml" ContentType="application/vnd.openxmlformats-officedocument.presentationml.notesSlide+xml"/>
  <Override PartName="/ppt/notesSlides/notesSlide291.xml" ContentType="application/vnd.openxmlformats-officedocument.presentationml.notesSlide+xml"/>
  <Override PartName="/ppt/notesSlides/notesSlide292.xml" ContentType="application/vnd.openxmlformats-officedocument.presentationml.notesSlide+xml"/>
  <Override PartName="/ppt/notesSlides/notesSlide293.xml" ContentType="application/vnd.openxmlformats-officedocument.presentationml.notesSlide+xml"/>
  <Override PartName="/ppt/notesSlides/notesSlide294.xml" ContentType="application/vnd.openxmlformats-officedocument.presentationml.notesSlide+xml"/>
  <Override PartName="/ppt/notesSlides/notesSlide295.xml" ContentType="application/vnd.openxmlformats-officedocument.presentationml.notesSlide+xml"/>
  <Override PartName="/ppt/notesSlides/notesSlide296.xml" ContentType="application/vnd.openxmlformats-officedocument.presentationml.notesSlide+xml"/>
  <Override PartName="/ppt/notesSlides/notesSlide297.xml" ContentType="application/vnd.openxmlformats-officedocument.presentationml.notesSlide+xml"/>
  <Override PartName="/ppt/notesSlides/notesSlide298.xml" ContentType="application/vnd.openxmlformats-officedocument.presentationml.notesSlide+xml"/>
  <Override PartName="/ppt/notesSlides/notesSlide29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0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xml" ContentType="application/vnd.openxmlformats-officedocument.presentationml.slide+xml"/>
  <Override PartName="/ppt/slides/slide390.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 id="597" r:id="rId349"/>
    <p:sldId id="598" r:id="rId350"/>
    <p:sldId id="599" r:id="rId351"/>
    <p:sldId id="600" r:id="rId352"/>
    <p:sldId id="601" r:id="rId353"/>
    <p:sldId id="602" r:id="rId354"/>
    <p:sldId id="603" r:id="rId355"/>
    <p:sldId id="604" r:id="rId356"/>
    <p:sldId id="605" r:id="rId357"/>
    <p:sldId id="606" r:id="rId358"/>
    <p:sldId id="607" r:id="rId359"/>
    <p:sldId id="608" r:id="rId360"/>
    <p:sldId id="609" r:id="rId361"/>
    <p:sldId id="610" r:id="rId362"/>
    <p:sldId id="611" r:id="rId363"/>
    <p:sldId id="612" r:id="rId364"/>
    <p:sldId id="613" r:id="rId365"/>
    <p:sldId id="614" r:id="rId366"/>
    <p:sldId id="615" r:id="rId367"/>
    <p:sldId id="616" r:id="rId368"/>
    <p:sldId id="617" r:id="rId369"/>
    <p:sldId id="618" r:id="rId370"/>
    <p:sldId id="619" r:id="rId371"/>
    <p:sldId id="620" r:id="rId372"/>
    <p:sldId id="621" r:id="rId373"/>
    <p:sldId id="622" r:id="rId374"/>
    <p:sldId id="623" r:id="rId375"/>
    <p:sldId id="624" r:id="rId376"/>
    <p:sldId id="625" r:id="rId377"/>
    <p:sldId id="626" r:id="rId378"/>
    <p:sldId id="627" r:id="rId379"/>
    <p:sldId id="628" r:id="rId380"/>
    <p:sldId id="629" r:id="rId381"/>
    <p:sldId id="630" r:id="rId382"/>
    <p:sldId id="631" r:id="rId383"/>
    <p:sldId id="632" r:id="rId384"/>
    <p:sldId id="633" r:id="rId385"/>
    <p:sldId id="634" r:id="rId386"/>
    <p:sldId id="635" r:id="rId387"/>
    <p:sldId id="636" r:id="rId388"/>
    <p:sldId id="637" r:id="rId389"/>
    <p:sldId id="638" r:id="rId390"/>
    <p:sldId id="639" r:id="rId391"/>
    <p:sldId id="640" r:id="rId392"/>
    <p:sldId id="641" r:id="rId393"/>
    <p:sldId id="642" r:id="rId394"/>
    <p:sldId id="643" r:id="rId395"/>
    <p:sldId id="644" r:id="rId396"/>
    <p:sldId id="645" r:id="rId39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 Id="rId349" Type="http://schemas.openxmlformats.org/officeDocument/2006/relationships/slide" Target="slides/slide342.xml"/><Relationship Id="rId350" Type="http://schemas.openxmlformats.org/officeDocument/2006/relationships/slide" Target="slides/slide343.xml"/><Relationship Id="rId351" Type="http://schemas.openxmlformats.org/officeDocument/2006/relationships/slide" Target="slides/slide344.xml"/><Relationship Id="rId352" Type="http://schemas.openxmlformats.org/officeDocument/2006/relationships/slide" Target="slides/slide345.xml"/><Relationship Id="rId353" Type="http://schemas.openxmlformats.org/officeDocument/2006/relationships/slide" Target="slides/slide346.xml"/><Relationship Id="rId354" Type="http://schemas.openxmlformats.org/officeDocument/2006/relationships/slide" Target="slides/slide347.xml"/><Relationship Id="rId355" Type="http://schemas.openxmlformats.org/officeDocument/2006/relationships/slide" Target="slides/slide348.xml"/><Relationship Id="rId356" Type="http://schemas.openxmlformats.org/officeDocument/2006/relationships/slide" Target="slides/slide349.xml"/><Relationship Id="rId357" Type="http://schemas.openxmlformats.org/officeDocument/2006/relationships/slide" Target="slides/slide350.xml"/><Relationship Id="rId358" Type="http://schemas.openxmlformats.org/officeDocument/2006/relationships/slide" Target="slides/slide351.xml"/><Relationship Id="rId359" Type="http://schemas.openxmlformats.org/officeDocument/2006/relationships/slide" Target="slides/slide352.xml"/><Relationship Id="rId360" Type="http://schemas.openxmlformats.org/officeDocument/2006/relationships/slide" Target="slides/slide353.xml"/><Relationship Id="rId361" Type="http://schemas.openxmlformats.org/officeDocument/2006/relationships/slide" Target="slides/slide354.xml"/><Relationship Id="rId362" Type="http://schemas.openxmlformats.org/officeDocument/2006/relationships/slide" Target="slides/slide355.xml"/><Relationship Id="rId363" Type="http://schemas.openxmlformats.org/officeDocument/2006/relationships/slide" Target="slides/slide356.xml"/><Relationship Id="rId364" Type="http://schemas.openxmlformats.org/officeDocument/2006/relationships/slide" Target="slides/slide357.xml"/><Relationship Id="rId365" Type="http://schemas.openxmlformats.org/officeDocument/2006/relationships/slide" Target="slides/slide358.xml"/><Relationship Id="rId366" Type="http://schemas.openxmlformats.org/officeDocument/2006/relationships/slide" Target="slides/slide359.xml"/><Relationship Id="rId367" Type="http://schemas.openxmlformats.org/officeDocument/2006/relationships/slide" Target="slides/slide360.xml"/><Relationship Id="rId368" Type="http://schemas.openxmlformats.org/officeDocument/2006/relationships/slide" Target="slides/slide361.xml"/><Relationship Id="rId369" Type="http://schemas.openxmlformats.org/officeDocument/2006/relationships/slide" Target="slides/slide362.xml"/><Relationship Id="rId370" Type="http://schemas.openxmlformats.org/officeDocument/2006/relationships/slide" Target="slides/slide363.xml"/><Relationship Id="rId371" Type="http://schemas.openxmlformats.org/officeDocument/2006/relationships/slide" Target="slides/slide364.xml"/><Relationship Id="rId372" Type="http://schemas.openxmlformats.org/officeDocument/2006/relationships/slide" Target="slides/slide365.xml"/><Relationship Id="rId373" Type="http://schemas.openxmlformats.org/officeDocument/2006/relationships/slide" Target="slides/slide366.xml"/><Relationship Id="rId374" Type="http://schemas.openxmlformats.org/officeDocument/2006/relationships/slide" Target="slides/slide367.xml"/><Relationship Id="rId375" Type="http://schemas.openxmlformats.org/officeDocument/2006/relationships/slide" Target="slides/slide368.xml"/><Relationship Id="rId376" Type="http://schemas.openxmlformats.org/officeDocument/2006/relationships/slide" Target="slides/slide369.xml"/><Relationship Id="rId377" Type="http://schemas.openxmlformats.org/officeDocument/2006/relationships/slide" Target="slides/slide370.xml"/><Relationship Id="rId378" Type="http://schemas.openxmlformats.org/officeDocument/2006/relationships/slide" Target="slides/slide371.xml"/><Relationship Id="rId379" Type="http://schemas.openxmlformats.org/officeDocument/2006/relationships/slide" Target="slides/slide372.xml"/><Relationship Id="rId380" Type="http://schemas.openxmlformats.org/officeDocument/2006/relationships/slide" Target="slides/slide373.xml"/><Relationship Id="rId381" Type="http://schemas.openxmlformats.org/officeDocument/2006/relationships/slide" Target="slides/slide374.xml"/><Relationship Id="rId382" Type="http://schemas.openxmlformats.org/officeDocument/2006/relationships/slide" Target="slides/slide375.xml"/><Relationship Id="rId383" Type="http://schemas.openxmlformats.org/officeDocument/2006/relationships/slide" Target="slides/slide376.xml"/><Relationship Id="rId384" Type="http://schemas.openxmlformats.org/officeDocument/2006/relationships/slide" Target="slides/slide377.xml"/><Relationship Id="rId385" Type="http://schemas.openxmlformats.org/officeDocument/2006/relationships/slide" Target="slides/slide378.xml"/><Relationship Id="rId386" Type="http://schemas.openxmlformats.org/officeDocument/2006/relationships/slide" Target="slides/slide379.xml"/><Relationship Id="rId387" Type="http://schemas.openxmlformats.org/officeDocument/2006/relationships/slide" Target="slides/slide380.xml"/><Relationship Id="rId388" Type="http://schemas.openxmlformats.org/officeDocument/2006/relationships/slide" Target="slides/slide381.xml"/><Relationship Id="rId389" Type="http://schemas.openxmlformats.org/officeDocument/2006/relationships/slide" Target="slides/slide382.xml"/><Relationship Id="rId390" Type="http://schemas.openxmlformats.org/officeDocument/2006/relationships/slide" Target="slides/slide383.xml"/><Relationship Id="rId391" Type="http://schemas.openxmlformats.org/officeDocument/2006/relationships/slide" Target="slides/slide384.xml"/><Relationship Id="rId392" Type="http://schemas.openxmlformats.org/officeDocument/2006/relationships/slide" Target="slides/slide385.xml"/><Relationship Id="rId393" Type="http://schemas.openxmlformats.org/officeDocument/2006/relationships/slide" Target="slides/slide386.xml"/><Relationship Id="rId394" Type="http://schemas.openxmlformats.org/officeDocument/2006/relationships/slide" Target="slides/slide387.xml"/><Relationship Id="rId395" Type="http://schemas.openxmlformats.org/officeDocument/2006/relationships/slide" Target="slides/slide388.xml"/><Relationship Id="rId396" Type="http://schemas.openxmlformats.org/officeDocument/2006/relationships/slide" Target="slides/slide389.xml"/><Relationship Id="rId397" Type="http://schemas.openxmlformats.org/officeDocument/2006/relationships/slide" Target="slides/slide3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6.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4.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8.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9.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5.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6.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2.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6.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7.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2.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4.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5.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9.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_rels/notesSlide2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2.xml"/></Relationships>
</file>

<file path=ppt/notesSlides/_rels/notesSlide2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7.xml"/></Relationships>
</file>

<file path=ppt/notesSlides/_rels/notesSlide2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8.xml"/></Relationships>
</file>

<file path=ppt/notesSlides/_rels/notesSlide2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9.xml"/></Relationships>
</file>

<file path=ppt/notesSlides/_rels/notesSlide2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0.xml"/></Relationships>
</file>

<file path=ppt/notesSlides/_rels/notesSlide2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1.xml"/></Relationships>
</file>

<file path=ppt/notesSlides/_rels/notesSlide2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2.xml"/></Relationships>
</file>

<file path=ppt/notesSlides/_rels/notesSlide2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7.xml"/></Relationships>
</file>

<file path=ppt/notesSlides/_rels/notesSlide2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8.xml"/></Relationships>
</file>

<file path=ppt/notesSlides/_rels/notesSlide2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9.xml"/></Relationships>
</file>

<file path=ppt/notesSlides/_rels/notesSlide2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0.xml"/></Relationships>
</file>

<file path=ppt/notesSlides/_rels/notesSlide2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1.xml"/></Relationships>
</file>

<file path=ppt/notesSlides/_rels/notesSlide2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2.xml"/></Relationships>
</file>

<file path=ppt/notesSlides/_rels/notesSlide2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7.xml"/></Relationships>
</file>

<file path=ppt/notesSlides/_rels/notesSlide2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8.xml"/></Relationships>
</file>

<file path=ppt/notesSlides/_rels/notesSlide2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9.xml"/></Relationships>
</file>

<file path=ppt/notesSlides/_rels/notesSlide2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0.xml"/></Relationships>
</file>

<file path=ppt/notesSlides/_rels/notesSlide2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1.xml"/></Relationships>
</file>

<file path=ppt/notesSlides/_rels/notesSlide2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3.xml"/></Relationships>
</file>

<file path=ppt/notesSlides/_rels/notesSlide2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4.xml"/></Relationships>
</file>

<file path=ppt/notesSlides/_rels/notesSlide2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5.xml"/></Relationships>
</file>

<file path=ppt/notesSlides/_rels/notesSlide2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6.xml"/></Relationships>
</file>

<file path=ppt/notesSlides/_rels/notesSlide2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7.xml"/></Relationships>
</file>

<file path=ppt/notesSlides/_rels/notesSlide2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8.xml"/></Relationships>
</file>

<file path=ppt/notesSlides/_rels/notesSlide2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9.xml"/></Relationships>
</file>

<file path=ppt/notesSlides/_rels/notesSlide2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0.xml"/></Relationships>
</file>

<file path=ppt/notesSlides/_rels/notesSlide2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3.xml"/></Relationships>
</file>

<file path=ppt/notesSlides/_rels/notesSlide2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4.xml"/></Relationships>
</file>

<file path=ppt/notesSlides/_rels/notesSlide2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6.xml"/></Relationships>
</file>

<file path=ppt/notesSlides/_rels/notesSlide2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8.xml"/></Relationships>
</file>

<file path=ppt/notesSlides/_rels/notesSlide2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9.xml"/></Relationships>
</file>

<file path=ppt/notesSlides/_rels/notesSlide3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BRD-3 Product Maintenance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(BRD-3 approval sheets: main BRD p.34-35; Workshop Addendum p.8-9);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61 menu entries in all; entries of the other BRDs: -: 7; BRD-1: 20; BRD-2: 4; BRD-4: 10; BRD-5: 4; BRD-6: 5;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72 menu entries in all; entries of the other BRDs: -: 7; BRD-1: 21; BRD-2: 12; BRD-4: 12; BRD-5: 2; BRD-6: 6; BRD-7: 1;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NAV-PM-03_menu.png.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menu entries in all; entries of the other BRDs: -: 1; BRD-1: 16;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NAV-PM-04_menu.png.</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menu entries in all; entries of the other BRDs: BRD-1: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NAV-PM-05_menu.png.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 menu entries in all; entries of the other BRDs: BRD-1: 6;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43 menu entries in all; entries of the other BRDs: BRD-1: 9;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menu entries in all; entries of the other BRDs: BRD-1: 5; Platform: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menu entries in all; entries of the other BRDs: BRD-1: 10; BRD-11: 6; BRD-2: 5; BRD-4: 11; BRD-5: 14; BRD-6: 3; BRD-8: 5; Platform: 12; Platform / BRD-11: 4.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59 menu entries in all; entries of the other BRDs: BRD-1: 19; BRD-11: 4; BRD-2: 1; BRD-4: 1; BRD-5: 13; Platform: 12.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NAV-PM-10_menu.png.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116 menu entries in all; entries of the other BRDs: -: 10; BRD-1: 10; BRD-10: 6; BRD-11: 5; BRD-2: 7; BRD-4: 12; BRD-5: 28; BRD-7: 4; BRD-8: 4; Platform: 14; Platform / BRD-11: 8.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NAV-PM-11_menu.png.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 menu entries in all; entries of the other BRDs: -: 10; BRD-1: 19; BRD-10: 7; BRD-11: 4; BRD-2: 6; BRD-4: 10; BRD-5: 55; BRD-6: 2; BRD-7: 4; BRD-8: 4; Platform: 14; Platform / BRD-11: 5. The full menu is in FRS section 12.3.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NAV-PM-01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TL / TH / UH. Menu and landing page: NAV-PM-02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Officer. Menu and landing page: NAV-PM-03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Team Lead. Menu and landing page: NAV-PM-04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Head. Menu and landing page: NAV-PM-05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Business Services. Menu and landing page: NAV-PM-06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ManCom member. Menu and landing page: NAV-PM-07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Administrator. Menu and landing page: NAV-PM-08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Approver. Menu and landing page: NAV-PM-09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Administrator. Menu and landing page: NAV-PM-10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Auditor. Menu and landing page: NAV-PM-11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New Business (BRD-1): New Quotation and New Account offer MTR30 to the segments of the package; the quotation, the account and the booked invoice keep version 1 and the approved exception.; Booking and Operations: the booked invoice stores version 1 and the incentive criteria it matches; endorsements re-rate on version 1.; Renewal (BRD-6): renewal candidates of MTR30 accounts are priced on version 1 while it is released or superseded; the package map of the data migration may name MTR30 version 1 as the target of a legacy package.; Package Expiry: MTR30 appears on the Expiring tab 90 days before its package end date; the monitor alerts at 60, 30 and 7 days.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Business Services: Opens Coverages &amp; Clauses › Clause Library, clicks New Clause, enters the code FLEET_REPAIR, kind, line Motor, title, effective date and wording, and clicks Save for Authorization</a:t>
            </a:r>
          </a:p>
          <a:p>
            <a:r>
              <a:t>2. Business Administrator: Opens the Clause Library and clicks Authorize on FLEET_REPAIR</a:t>
            </a:r>
          </a:p>
          <a:p>
            <a:r>
              <a:t>3. Marketing Account Officer: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p>
            <a:r>
              <a:t>4. Marketing TL / TH / UH: Opens the request from the For Approval tab and clicks Approve and send to TSU</a:t>
            </a:r>
          </a:p>
          <a:p>
            <a:r>
              <a:t>5. TSU Team Lead: Clicks Recommend for approval, writes the recommendation and clicks Recommend</a:t>
            </a:r>
          </a:p>
          <a:p>
            <a:r>
              <a:t>6. TSU Head: Reads the recommendation and clicks Approve for negotiation</a:t>
            </a:r>
          </a:p>
          <a:p>
            <a:r>
              <a:t>7. TSU Officer: Opens the Negotiation tab, adds a note to the insurers and clicks Submit for Approval</a:t>
            </a:r>
          </a:p>
          <a:p>
            <a:r>
              <a:t>8. TSU Team Lead: Clicks Approve and Send on round 1</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TSU Officer: Clicks Key In for each insurer, enters the outcome, rate, minimum premium and deductibles, attaches the insurer's reply and clicks Save Terms</a:t>
            </a:r>
          </a:p>
          <a:p>
            <a:r>
              <a:t>10. TSU Officer: Clicks Terms final, ticks the offer of Mabuhay General Insurance Corp. and clicks Make Terms Final</a:t>
            </a:r>
          </a:p>
          <a:p>
            <a:r>
              <a:t>11. TSU Officer: Opens the Comparative tab</a:t>
            </a:r>
          </a:p>
          <a:p>
            <a:r>
              <a:t>12. TSU Head: Clicks Proceed to requirements (generic package)</a:t>
            </a:r>
          </a:p>
          <a:p>
            <a:r>
              <a:t>13. TSU Officer: Enters the computation basis, clicks Save Requirements, downloads the Package Slip, uploads the signed slip on the Documents tab as Package slip (signed), and clicks Submit requirements for ManCom sign-off</a:t>
            </a:r>
          </a:p>
          <a:p>
            <a:r>
              <a:t>14. ManCom member: Reviews the proposed terms and clicks Sign off and send to MBS</a:t>
            </a:r>
          </a:p>
          <a:p>
            <a:r>
              <a:t>15. Marketing Business Services: Clicks Set up package version, enters the risk code MTR30 and the product name, and clicks Set Up Version</a:t>
            </a:r>
          </a:p>
          <a:p>
            <a:r>
              <a:t>16. Marketing Business Services: Clicks Open Version Editor, adds the clause FLEET_REPAIR on the insurer terms, saves and clicks Submit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 TSU Head: Opens the version from the Validation Queue, ticks the five checklist items and clicks Validate and Release</a:t>
            </a:r>
          </a:p>
          <a:p>
            <a:r>
              <a:t>18. Business Administrator: Opens Insurers › Mabuhay General Insurance Corp., clicks Add rate, chooses MTR30, 15% from today and clicks Save for Authorization</a:t>
            </a:r>
          </a:p>
          <a:p>
            <a:r>
              <a:t>19. New Business Approver: Opens the insurer and clicks Authorize on the new commission rate</a:t>
            </a:r>
          </a:p>
          <a:p>
            <a:r>
              <a:t>20. TSU Officer: Opens the Advisories tab of the released request, checks that both supporting documents are Attached and clicks Send Advisory</a:t>
            </a:r>
          </a:p>
          <a:p>
            <a:r>
              <a:t>21. Marketing Account Officer: Opens Premium Calculator, chooses MTR30 and Mabuhay General Insurance Corp., enters a vehicle value and clicks Calculate</a:t>
            </a:r>
          </a:p>
          <a:p>
            <a:r>
              <a:t>22. Marketing Account Officer: Creates a New Business quotation of MTR30 for the seed client with an item rate of 1.10%, opens it and clicks Request Rate Exception with the reason</a:t>
            </a:r>
          </a:p>
          <a:p>
            <a:r>
              <a:t>23. New Business Approver: Opens My Approvals, clicks the rate exception of the quotation, compares the requested rate with the scheme in force on the exception record, clicks Approve, writes the comment and confirms</a:t>
            </a:r>
          </a:p>
          <a:p>
            <a:r>
              <a:t>24. Marketing Account Officer: Opens the quotation again after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SCR-PM-15_wt-a-step-01.png.</a:t>
            </a:r>
          </a:p>
          <a:p>
            <a:r>
              <a:t>Persona does: Opens Coverages &amp; Clauses › Clause Library, clicks New Clause, enters the code FLEET_REPAIR, kind, line Motor, title, effective date and wording, and clicks Save for Authorization</a:t>
            </a:r>
          </a:p>
          <a:p>
            <a:r>
              <a:t>System does: Clause pending authorisation</a:t>
            </a:r>
          </a:p>
          <a:p>
            <a:r>
              <a:t>Shown: Toast: Clause FLEET_REPAIR saved – pending authorization; the row shows Pending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SCR-PM-15_wt-a-step-02.png.</a:t>
            </a:r>
          </a:p>
          <a:p>
            <a:r>
              <a:t>Persona does: Opens the Clause Library and clicks Authorize on FLEET_REPAIR</a:t>
            </a:r>
          </a:p>
          <a:p>
            <a:r>
              <a:t>System does: Clause active</a:t>
            </a:r>
          </a:p>
          <a:p>
            <a:r>
              <a:t>Shown: Toast: FLEET_REPAIR authorized; the status is Active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SCR-PM-03_wt-a-step-03.png.</a:t>
            </a:r>
          </a:p>
          <a:p>
            <a:r>
              <a:t>Persona does: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p>
            <a:r>
              <a:t>System does: For Marketing approval</a:t>
            </a:r>
          </a:p>
          <a:p>
            <a:r>
              <a:t>Shown: Toast: PKR-yyyy-nnnnnn submitted for Marketing approval; the request opens in For Marketing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SCR-PM-04_wt-a-step-04.png.</a:t>
            </a:r>
          </a:p>
          <a:p>
            <a:r>
              <a:t>Persona does: Opens the request from the For Approval tab and clicks Approve and send to TSU</a:t>
            </a:r>
          </a:p>
          <a:p>
            <a:r>
              <a:t>System does: For TSU review</a:t>
            </a:r>
          </a:p>
          <a:p>
            <a:r>
              <a:t>Shown: The stage becomes For TSU review; the history lists the approval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SCR-PM-04_wt-a-step-05.png.</a:t>
            </a:r>
          </a:p>
          <a:p>
            <a:r>
              <a:t>Persona does: Clicks Recommend for approval, writes the recommendation and clicks Recommend</a:t>
            </a:r>
          </a:p>
          <a:p>
            <a:r>
              <a:t>System does: For TSU Head approval</a:t>
            </a:r>
          </a:p>
          <a:p>
            <a:r>
              <a:t>Shown: The TSU recommendation shows on the Details tab; the stage becomes For TSU Head approval</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SCR-PM-04_wt-a-step-06.png.</a:t>
            </a:r>
          </a:p>
          <a:p>
            <a:r>
              <a:t>Persona does: Reads the recommendation and clicks Approve for negotiation</a:t>
            </a:r>
          </a:p>
          <a:p>
            <a:r>
              <a:t>System does: Insurer negotiation</a:t>
            </a:r>
          </a:p>
          <a:p>
            <a:r>
              <a:t>Shown: The stage becomes Insurer negotiation; round 1 is opened with the two target insurers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SCR-PM-05_wt-a-step-07.png.</a:t>
            </a:r>
          </a:p>
          <a:p>
            <a:r>
              <a:t>Persona does: Opens the Negotiation tab, adds a note to the insurers and clicks Submit for Approval</a:t>
            </a:r>
          </a:p>
          <a:p>
            <a:r>
              <a:t>System does: Slip for approval</a:t>
            </a:r>
          </a:p>
          <a:p>
            <a:r>
              <a:t>Shown: Toast: PQS-yyyy-nnnnnn submitted for approval; round 1 shows For approval</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SCR-PM-05_wt-a-step-08.png.</a:t>
            </a:r>
          </a:p>
          <a:p>
            <a:r>
              <a:t>Persona does: Clicks Approve and Send on round 1</a:t>
            </a:r>
          </a:p>
          <a:p>
            <a:r>
              <a:t>System does: Slip sent</a:t>
            </a:r>
          </a:p>
          <a:p>
            <a:r>
              <a:t>Shown: Toast: PQS-yyyy-nnnnnn sent to 2 insurer(s); both responses show Pending; the E-mails tab lists the slip and password e-mails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SCR-PM-05_wt-a-step-09.png.</a:t>
            </a:r>
          </a:p>
          <a:p>
            <a:r>
              <a:t>Persona does: Clicks Key In for each insurer, enters the outcome, rate, minimum premium and deductibles, attaches the insurer's reply and clicks Save Terms</a:t>
            </a:r>
          </a:p>
          <a:p>
            <a:r>
              <a:t>System does: Responses recorded</a:t>
            </a:r>
          </a:p>
          <a:p>
            <a:r>
              <a:t>Shown: Toast: Terms of &lt;insurer&gt; saved; the responses show Approved with changes and Counter-proposal with their rates</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SCR-PM-05_wt-a-step-10.png.</a:t>
            </a:r>
          </a:p>
          <a:p>
            <a:r>
              <a:t>Persona does: Clicks Terms final, ticks the offer of Mabuhay General Insurance Corp. and clicks Make Terms Final</a:t>
            </a:r>
          </a:p>
          <a:p>
            <a:r>
              <a:t>System does: Terms final</a:t>
            </a:r>
          </a:p>
          <a:p>
            <a:r>
              <a:t>Shown: The stage becomes Negotiated terms review; the chosen insurer shows in the header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SCR-PM-06_wt-a-step-11.png.</a:t>
            </a:r>
          </a:p>
          <a:p>
            <a:r>
              <a:t>Persona does: Opens the Comparative tab</a:t>
            </a:r>
          </a:p>
          <a:p>
            <a:r>
              <a:t>System does: Comparative master stored</a:t>
            </a:r>
          </a:p>
          <a:p>
            <a:r>
              <a:t>Shown: The round 1 comparison with the Lowest rate tag and the current audit master in Stored outputs</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SCR-PM-04_wt-a-step-12.png.</a:t>
            </a:r>
          </a:p>
          <a:p>
            <a:r>
              <a:t>Persona does: Clicks Proceed to requirements (generic package)</a:t>
            </a:r>
          </a:p>
          <a:p>
            <a:r>
              <a:t>System does: Requirements preparation</a:t>
            </a:r>
          </a:p>
          <a:p>
            <a:r>
              <a:t>Shown: The stage becomes Requirements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SCR-PM-07_wt-a-step-13.png.</a:t>
            </a:r>
          </a:p>
          <a:p>
            <a:r>
              <a:t>Persona does: Enters the computation basis, clicks Save Requirements, downloads the Package Slip, uploads the signed slip on the Documents tab as Package slip (signed), and clicks Submit requirements for ManCom sign-off</a:t>
            </a:r>
          </a:p>
          <a:p>
            <a:r>
              <a:t>System does: For ManCom sign-off</a:t>
            </a:r>
          </a:p>
          <a:p>
            <a:r>
              <a:t>Shown: The checklist reads The requirements pack is complete.; the stage becomes For ManCom sign-off</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SCR-PM-07_wt-a-step-14.png.</a:t>
            </a:r>
          </a:p>
          <a:p>
            <a:r>
              <a:t>Persona does: Reviews the proposed terms and clicks Sign off and send to MBS</a:t>
            </a:r>
          </a:p>
          <a:p>
            <a:r>
              <a:t>System does: Signed off</a:t>
            </a:r>
          </a:p>
          <a:p>
            <a:r>
              <a:t>Shown: ManCom decisions lists MC-PKR-yyyy-nnnnnn Signed; the slips show Locked; the stage becomes With MBS for set-up</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SCR-PM-08_wt-a-step-15.png.</a:t>
            </a:r>
          </a:p>
          <a:p>
            <a:r>
              <a:t>Persona does: Clicks Set up package version, enters the risk code MTR30 and the product name, and clicks Set Up Version</a:t>
            </a:r>
          </a:p>
          <a:p>
            <a:r>
              <a:t>System does: Draft version 1</a:t>
            </a:r>
          </a:p>
          <a:p>
            <a:r>
              <a:t>Shown: Toast: Version 1 set up; the Set-up tab shows MTR30 version 1; the stage becomes Package version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SCR-PM-13_wt-a-step-16.png.</a:t>
            </a:r>
          </a:p>
          <a:p>
            <a:r>
              <a:t>Persona does: Clicks Open Version Editor, adds the clause FLEET_REPAIR on the insurer terms, saves and clicks Submit for Validation</a:t>
            </a:r>
          </a:p>
          <a:p>
            <a:r>
              <a:t>System does: For validation</a:t>
            </a:r>
          </a:p>
          <a:p>
            <a:r>
              <a:t>Shown: Toast: Version 1 submitted for validation; the version shows For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SCR-PM-13_wt-a-step-17.png.</a:t>
            </a:r>
          </a:p>
          <a:p>
            <a:r>
              <a:t>Persona does: Opens the version from the Validation Queue, ticks the five checklist items and clicks Validate and Release</a:t>
            </a:r>
          </a:p>
          <a:p>
            <a:r>
              <a:t>System does: Released</a:t>
            </a:r>
          </a:p>
          <a:p>
            <a:r>
              <a:t>Shown: Toast: Version 1 released; the Validation card shows the result Passed, the validator, the date, the test premium and the checks with their figures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SCR-PM-18_wt-a-step-18.png.</a:t>
            </a:r>
          </a:p>
          <a:p>
            <a:r>
              <a:t>Persona does: Opens Insurers › Mabuhay General Insurance Corp., clicks Add rate, chooses MTR30, 15% from today and clicks Save for Authorization</a:t>
            </a:r>
          </a:p>
          <a:p>
            <a:r>
              <a:t>System does: Commission rate pending</a:t>
            </a:r>
          </a:p>
          <a:p>
            <a:r>
              <a:t>Shown: Toast: Commission rate saved – pending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SCR-PM-18_wt-a-step-19.png.</a:t>
            </a:r>
          </a:p>
          <a:p>
            <a:r>
              <a:t>Persona does: Opens the insurer and clicks Authorize on the new commission rate</a:t>
            </a:r>
          </a:p>
          <a:p>
            <a:r>
              <a:t>System does: Commission rate active</a:t>
            </a:r>
          </a:p>
          <a:p>
            <a:r>
              <a:t>Shown: The rate for MTR30 shows Active</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SCR-PM-08_wt-a-step-20.png.</a:t>
            </a:r>
          </a:p>
          <a:p>
            <a:r>
              <a:t>Persona does: Opens the Advisories tab of the released request, checks that both supporting documents are Attached and clicks Send Advisory</a:t>
            </a:r>
          </a:p>
          <a:p>
            <a:r>
              <a:t>System does: Advisory sent</a:t>
            </a:r>
          </a:p>
          <a:p>
            <a:r>
              <a:t>Shown: Toast: Advisory sent; the advisory shows Sent with the date; Marketing users receive the notice</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SCR-PM-21_wt-a-step-21.png.</a:t>
            </a:r>
          </a:p>
          <a:p>
            <a:r>
              <a:t>Persona does: Opens Premium Calculator, chooses MTR30 and Mabuhay General Insurance Corp., enters a vehicle value and clicks Calculate</a:t>
            </a:r>
          </a:p>
          <a:p>
            <a:r>
              <a:t>System does: Priced on version 1</a:t>
            </a:r>
          </a:p>
          <a:p>
            <a:r>
              <a:t>Shown: Priced on package version 1 (effective &lt;date&gt;, scheme rate 1.2%) with every charge and the commission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SCR-PM-22_wt-a-step-22.png.</a:t>
            </a:r>
          </a:p>
          <a:p>
            <a:r>
              <a:t>Persona does: Creates a New Business quotation of MTR30 for the seed client with an item rate of 1.10%, opens it and clicks Request Rate Exception with the reason</a:t>
            </a:r>
          </a:p>
          <a:p>
            <a:r>
              <a:t>System does: Exception requested</a:t>
            </a:r>
          </a:p>
          <a:p>
            <a:r>
              <a:t>Shown: The rate scheme panel shows the exception pending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SCR-PM-22_wt-a-step-23.png.</a:t>
            </a:r>
          </a:p>
          <a:p>
            <a:r>
              <a:t>Persona does: Opens My Approvals, clicks the rate exception of the quotation, compares the requested rate with the scheme in force on the exception record, clicks Approve, writes the comment and confirms</a:t>
            </a:r>
          </a:p>
          <a:p>
            <a:r>
              <a:t>System does: Exception approved</a:t>
            </a:r>
          </a:p>
          <a:p>
            <a:r>
              <a:t>Shown: Toast: Rate exception RSE-yyyy-nnnnnn approved; the record shows Approved with the approver, the date and the comment; the Account Officer receives the notice</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SCR-PM-22_wt-a-step-24.png.</a:t>
            </a:r>
          </a:p>
          <a:p>
            <a:r>
              <a:t>Persona does: Opens the quotation again after the approval</a:t>
            </a:r>
          </a:p>
          <a:p>
            <a:r>
              <a:t>System does: Quotation ready for review</a:t>
            </a:r>
          </a:p>
          <a:p>
            <a:r>
              <a:t>Shown: The Rate Exceptions table lists the exception Approved; the quotation can be submitted for review</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Downstream: Every return keeps its reason and comment in the history of the request, and the notice reaches the user who must act.; A refused action changes nothing; the message names what to correct, and a server refusal shows its reference for support.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Opens New Package Request and clicks Save Draft without the name, line and reason</a:t>
            </a:r>
          </a:p>
          <a:p>
            <a:r>
              <a:t>2. Marketing Account Officer: Completes the header only and clicks Submit for Approval</a:t>
            </a:r>
          </a:p>
          <a:p>
            <a:r>
              <a:t>3. Marketing TL / TH / UH: Creates and submits a request himself, then clicks Approve and send to TSU on it</a:t>
            </a:r>
          </a:p>
          <a:p>
            <a:r>
              <a:t>4. TSU Team Lead: Opens PKR-2026-900002 and clicks Return to requester, chooses the reason and writes what is missing</a:t>
            </a:r>
          </a:p>
          <a:p>
            <a:r>
              <a:t>5. TSU Team Lead: Prepares and submits a slip himself, then clicks Approve and Send on it</a:t>
            </a:r>
          </a:p>
          <a:p>
            <a:r>
              <a:t>6. TSU Officer: Opens PKR-2026-900003 and clicks Terms final while Luzon Assurance is still pending in round 2</a:t>
            </a:r>
          </a:p>
          <a:p>
            <a:r>
              <a:t>7. ManCom member: Opens PKR-2026-900004 and clicks Return to TSU with the reason</a:t>
            </a:r>
          </a:p>
          <a:p>
            <a:r>
              <a:t>8. TSU Officer: Clicks Submit requirements for ManCom sign-off before uploading the signed package slip</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Marketing Business Services: Opens PKR-2026-900005 and clicks Return incomplete requirements to TSU with the reason</a:t>
            </a:r>
          </a:p>
          <a:p>
            <a:r>
              <a:t>10. Marketing Business Services: Opens MTR12 version 2, clears the minimum premium and sets an effective date before today, then clicks Submit for Validation</a:t>
            </a:r>
          </a:p>
          <a:p>
            <a:r>
              <a:t>11. TSU Head: Opens the submitted MTR12 version 2 and clicks Return to MBS with the reason</a:t>
            </a:r>
          </a:p>
          <a:p>
            <a:r>
              <a:t>12. Marketing Business Services: Opens MTR12 version 2</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SCR-PM-03_wt-b-step-01.png.</a:t>
            </a:r>
          </a:p>
          <a:p>
            <a:r>
              <a:t>Persona does: Opens New Package Request and clicks Save Draft without the name, line and reason</a:t>
            </a:r>
          </a:p>
          <a:p>
            <a:r>
              <a:t>System does: Form corrected</a:t>
            </a:r>
          </a:p>
          <a:p>
            <a:r>
              <a:t>Shown: Under the fields: Enter the package or programme name; Select the product line; Select the reason. Nothing is saved</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SCR-PM-03_wt-b-step-02.png.</a:t>
            </a:r>
          </a:p>
          <a:p>
            <a:r>
              <a:t>Persona does: Completes the header only and clicks Submit for Approval</a:t>
            </a:r>
          </a:p>
          <a:p>
            <a:r>
              <a:t>System does: Request stays a draft</a:t>
            </a:r>
          </a:p>
          <a:p>
            <a:r>
              <a:t>Shown: The hint Before submitting, complete the requested terms (coverages or sections); at least one target insurer; the package end date, and the refusal Complete the request: ... with its reference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SCR-PM-04_wt-b-step-03.png.</a:t>
            </a:r>
          </a:p>
          <a:p>
            <a:r>
              <a:t>Persona does: Creates and submits a request himself, then clicks Approve and send to TSU on it</a:t>
            </a:r>
          </a:p>
          <a:p>
            <a:r>
              <a:t>System does: Another Marketing approver is needed</a:t>
            </a:r>
          </a:p>
          <a:p>
            <a:r>
              <a:t>Shown: A package request is approved by someone other than its maker</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SCR-PM-04_wt-b-step-04.png.</a:t>
            </a:r>
          </a:p>
          <a:p>
            <a:r>
              <a:t>Persona does: Opens PKR-2026-900002 and clicks Return to requester, chooses the reason and writes what is missing</a:t>
            </a:r>
          </a:p>
          <a:p>
            <a:r>
              <a:t>System does: Returned to the requester</a:t>
            </a:r>
          </a:p>
          <a:p>
            <a:r>
              <a:t>Shown: The stage becomes Draft request; the requester receives the workflow notice with the comment</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SCR-PM-05_wt-b-step-05.png.</a:t>
            </a:r>
          </a:p>
          <a:p>
            <a:r>
              <a:t>Persona does: Prepares and submits a slip himself, then clicks Approve and Send on it</a:t>
            </a:r>
          </a:p>
          <a:p>
            <a:r>
              <a:t>System does: Another approver is needed</a:t>
            </a:r>
          </a:p>
          <a:p>
            <a:r>
              <a:t>Shown: The quotation slip is approved by a TL or a co-officer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SCR-PM-05_wt-b-step-06.png.</a:t>
            </a:r>
          </a:p>
          <a:p>
            <a:r>
              <a:t>Persona does: Opens PKR-2026-900003 and clicks Terms final while Luzon Assurance is still pending in round 2</a:t>
            </a:r>
          </a:p>
          <a:p>
            <a:r>
              <a:t>System does: Outcome to be keyed in first</a:t>
            </a:r>
          </a:p>
          <a:p>
            <a:r>
              <a:t>Shown: Every insurer of round 2 needs an outcome before the terms are final (1 pending)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SCR-PM-04_wt-b-step-07.png.</a:t>
            </a:r>
          </a:p>
          <a:p>
            <a:r>
              <a:t>Persona does: Opens PKR-2026-900004 and clicks Return to TSU with the reason</a:t>
            </a:r>
          </a:p>
          <a:p>
            <a:r>
              <a:t>System does: Returned to TSU</a:t>
            </a:r>
          </a:p>
          <a:p>
            <a:r>
              <a:t>Shown: The stage becomes Requirements preparation; ManCom decisions lists the return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SCR-PM-07_wt-b-step-08.png.</a:t>
            </a:r>
          </a:p>
          <a:p>
            <a:r>
              <a:t>Persona does: Clicks Submit requirements for ManCom sign-off before uploading the signed package slip</a:t>
            </a:r>
          </a:p>
          <a:p>
            <a:r>
              <a:t>System does: Signed slip to be uploaded</a:t>
            </a:r>
          </a:p>
          <a:p>
            <a:r>
              <a:t>Shown: The checklist lists the missing signed package slip; the refusal Complete the requirements: ...</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SCR-PM-08_wt-b-step-09.png.</a:t>
            </a:r>
          </a:p>
          <a:p>
            <a:r>
              <a:t>Persona does: Opens PKR-2026-900005 and clicks Return incomplete requirements to TSU with the reason</a:t>
            </a:r>
          </a:p>
          <a:p>
            <a:r>
              <a:t>System does: Returned to TSU</a:t>
            </a:r>
          </a:p>
          <a:p>
            <a:r>
              <a:t>Shown: The stage becomes Requirements preparation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SCR-PM-13_wt-b-step-10.png.</a:t>
            </a:r>
          </a:p>
          <a:p>
            <a:r>
              <a:t>Persona does: Opens MTR12 version 2, clears the minimum premium and sets an effective date before today, then clicks Submit for Validation</a:t>
            </a:r>
          </a:p>
          <a:p>
            <a:r>
              <a:t>System does: Version stays a draft</a:t>
            </a:r>
          </a:p>
          <a:p>
            <a:r>
              <a:t>Shown: Toast Correct the highlighted fields; under the fields Enter the minimum premium and The effective date cannot be before today</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SCR-PM-13_wt-b-step-11.png.</a:t>
            </a:r>
          </a:p>
          <a:p>
            <a:r>
              <a:t>Persona does: Opens the submitted MTR12 version 2 and clicks Return to MBS with the reason</a:t>
            </a:r>
          </a:p>
          <a:p>
            <a:r>
              <a:t>System does: Returned to MBS</a:t>
            </a:r>
          </a:p>
          <a:p>
            <a:r>
              <a:t>Shown: Toast: Version 2 returned to MBS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SCR-PM-13_wt-b-step-12.png.</a:t>
            </a:r>
          </a:p>
          <a:p>
            <a:r>
              <a:t>Persona does: Opens MTR12 version 2</a:t>
            </a:r>
          </a:p>
          <a:p>
            <a:r>
              <a:t>System does: Draft to correct</a:t>
            </a:r>
          </a:p>
          <a:p>
            <a:r>
              <a:t>Shown: The banner Returned by the validator: &lt;reason&gt; above the tabs; the draft can be corrected and submitted again</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SCR-PM-01: SCR-PM-01_view.png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SCR-PM-01_view.png; FRS section 13.1.1.</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SCR-PM-02: SCR-PM-02_list.png, SCR-PM-02_filters.png, SCR-PM-02_empty.png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SCR-PM-02_list.png; FRS section 13.1.2.</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SCR-PM-02_filters.png; FRS section 13.1.2.</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SCR-PM-02_empty.png; FRS section 13.1.2.</a:t>
            </a:r>
          </a:p>
          <a:p>
            <a:r>
              <a:t>Personas: TSU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SCR-PM-03: SCR-PM-03_empty.png, SCR-PM-03_filled.png, SCR-PM-03_error.png, SCR-PM-03_wt-a-step-03.png, SCR-PM-03_wt-b-step-01.png, SCR-PM-03_wt-b-step-02.png, SCR-PM-03_saved.png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SCR-PM-03_empty.png;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SCR-PM-03_filled.png;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SCR-PM-03_error.png; FRS section 13.1.3.</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SCR-PM-03_saved.png; FRS section 13.1.3.</a:t>
            </a:r>
          </a:p>
          <a:p>
            <a:r>
              <a:t>Personas: Marketing Account Officer.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SCR-PM-04: SCR-PM-04_record.png, SCR-PM-04_approval.png, SCR-PM-04_return.png, SCR-PM-04_history.png, SCR-PM-04_wt-a-step-04.png, SCR-PM-04_wt-a-step-05.png, SCR-PM-04_wt-a-step-06.png, SCR-PM-04_wt-a-step-12.png, SCR-PM-04_wt-b-step-03.png, SCR-PM-04_wt-b-step-04.png, SCR-PM-04_wt-b-step-07.png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SCR-PM-04_return.png;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SCR-PM-04_history.png; FRS section 13.1.4.</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SCR-PM-04_record.png; FRS section 13.1.4.</a:t>
            </a:r>
          </a:p>
          <a:p>
            <a:r>
              <a:t>Personas: Marketing TL / TH / UH.</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SCR-PM-04_approval.png; FRS section 13.1.4.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SCR-PM-05: SCR-PM-05_tab.png, SCR-PM-05_response.png, SCR-PM-05_terms-final.png, SCR-PM-05_revise.png, SCR-PM-05_wt-a-step-07.png, SCR-PM-05_wt-a-step-08.png, SCR-PM-05_wt-a-step-09.png, SCR-PM-05_wt-a-step-10.png, SCR-PM-05_wt-b-step-05.png, SCR-PM-05_wt-b-step-06.png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SCR-PM-05_tab.png;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SCR-PM-05_response.png;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SCR-PM-05_response.png;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SCR-PM-05_revise.png;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SCR-PM-05_terms-final.png; FRS section 13.1.5.</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SCR-PM-06: SCR-PM-06_tab.png, SCR-PM-06_client-view.png, SCR-PM-06_wt-a-step-11.png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SCR-PM-06_tab.png;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SCR-PM-06_client-view.png; FRS section 13.1.6.</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SCR-PM-07: SCR-PM-07_tab.png, SCR-PM-07_signoff.png, SCR-PM-07_wt-a-step-13.png, SCR-PM-07_wt-a-step-14.png, SCR-PM-07_wt-b-step-08.png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SCR-PM-07_tab.png; FRS section 13.1.7.</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SCR-PM-07_signoff.png; FRS section 13.1.7.</a:t>
            </a:r>
          </a:p>
          <a:p>
            <a:r>
              <a:t>Personas: ManCom member.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SCR-PM-08: SCR-PM-08_setup.png, SCR-PM-08_setup-tab.png, SCR-PM-08_advisories.png, SCR-PM-08_wt-a-step-15.png, SCR-PM-08_wt-a-step-20.png, SCR-PM-08_wt-b-step-09.png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SCR-PM-08_setup-tab.png;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SCR-PM-08_setup.png; FRS section 13.1.8.</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SCR-PM-08_advisories.png; FRS section 13.1.8.</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SCR-PM-09: SCR-PM-09_list.png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SCR-PM-09_list.png; FRS section 13.1.9.</a:t>
            </a:r>
          </a:p>
          <a:p>
            <a:r>
              <a:t>Personas: TSU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SCR-PM-09_list.png; FRS section 13.1.9.</a:t>
            </a:r>
          </a:p>
          <a:p>
            <a:r>
              <a:t>Personas: TSU Team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SCR-PM-10: SCR-PM-10_list.png, SCR-PM-10_dialog.png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SCR-PM-10_list.png; FRS section 13.1.10.</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SCR-PM-10_dialog.png; FRS section 13.1.10.</a:t>
            </a:r>
          </a:p>
          <a:p>
            <a:r>
              <a:t>Personas: TSU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SCR-PM-11: SCR-PM-11_list.png, SCR-PM-11_new.png, SCR-PM-11_rules.png, SCR-PM-11_auditor.png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SCR-PM-11_list.png;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SCR-PM-11_new.png;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SCR-PM-11_new.png; FRS section 13.2.1.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SCR-PM-11_auditor.png; FRS section 13.2.1.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SCR-PM-11_rules.png; FRS section 13.2.1.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SCR-PM-12: SCR-PM-12_record.png, SCR-PM-12_new-version.png, SCR-PM-12_rules.png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SCR-PM-12_record.png;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SCR-PM-12_record.png;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SCR-PM-12_new-version.png;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SCR-PM-12_rules.png; FRS section 13.2.2.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SCR-PM-13: SCR-PM-13_draft.png, SCR-PM-13_insurers.png, SCR-PM-13_terms.png, SCR-PM-13_error.png, SCR-PM-13_validation.png, SCR-PM-13_released.png, SCR-PM-13_wt-a-step-16.png, SCR-PM-13_wt-a-step-17.png, SCR-PM-13_wt-b-step-10.png, SCR-PM-13_wt-b-step-11.png, SCR-PM-13_wt-b-step-12.png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SCR-PM-13_draft.png;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SCR-PM-13_insurers.png;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SCR-PM-13_insurers.png;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SCR-PM-13_terms.png;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SCR-PM-13_error.png;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SCR-PM-13_released.png; FRS section 13.2.3.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SCR-PM-13_validation.png; FRS section 13.2.3.</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SCR-PM-14: SCR-PM-14_list.png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SCR-PM-14_list.png; FRS section 13.2.4.</a:t>
            </a:r>
          </a:p>
          <a:p>
            <a:r>
              <a:t>Personas: TSU Head.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SCR-PM-15: SCR-PM-15_list.png, SCR-PM-15_clauses.png, SCR-PM-15_new.png, SCR-PM-15_wt-a-step-01.png, SCR-PM-15_wt-a-step-02.png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SCR-PM-15_list.png;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SCR-PM-15_list.png;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SCR-PM-15_list.png;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SCR-PM-15_clauses.png;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SCR-PM-15_clauses.png;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SCR-PM-15_new.png; FRS section 13.2.5.</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SCR-PM-16: SCR-PM-16_list.png, SCR-PM-16_new.png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SCR-PM-16_list.png;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SCR-PM-16_new.png;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SCR-PM-16_new.png;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SCR-PM-16_new.png; FRS section 13.2.6.</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SCR-PM-17: SCR-PM-17_list.png, SCR-PM-17_new.png, SCR-PM-17_auditor.png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SCR-PM-17_list.png; FRS section 13.3.1.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SCR-PM-17_list.png; FRS section 13.3.1.</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SCR-PM-17_new.png; FRS section 13.3.1.</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SCR-PM-17_auditor.png; FRS section 13.3.1.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SCR-PM-17_auditor.png; FRS section 13.3.1.</a:t>
            </a:r>
          </a:p>
          <a:p>
            <a:r>
              <a:t>Personas: Auditor.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SCR-PM-18: SCR-PM-18_record.png, SCR-PM-18_wt-a-step-18.png, SCR-PM-18_wt-a-step-19.png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SCR-PM-18_record.png; FRS section 13.3.2.</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SCR-PM-19: SCR-PM-19_list.png, SCR-PM-19_new.png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SCR-PM-19_list.png; FRS section 13.3.3.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SCR-PM-19_list.png; FRS section 13.3.3.</a:t>
            </a:r>
          </a:p>
          <a:p>
            <a:r>
              <a:t>Personas: Marketing Business Services.</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SCR-PM-19_new.png; FRS section 13.3.3.</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SCR-PM-20: SCR-PM-20_tree.png, SCR-PM-20_actions.png, SCR-PM-20_deactivate.png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SCR-PM-20_tree.png;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SCR-PM-20_tree.png;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SCR-PM-20_actions.png;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SCR-PM-20_actions.png;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SCR-PM-20_deactivate.png; FRS section 13.3.4.</a:t>
            </a:r>
          </a:p>
          <a:p>
            <a:r>
              <a:t>Personas: Business Administrator.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SCR-PM-21: SCR-PM-21_filled.png, SCR-PM-21_wt-a-step-21.png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SCR-PM-21_filled.png; FRS section 13.3.5.</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SCR-PM-22: SCR-PM-22_exception.png, SCR-PM-22_deviation.png, SCR-PM-22_record.png, SCR-PM-22_reject.png, SCR-PM-22_wt-a-step-22.png, SCR-PM-22_wt-a-step-23.png, SCR-PM-22_wt-a-step-24.png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images has its slide in the end-to-end flows section.</a:t>
            </a:r>
          </a:p>
        </p:txBody>
      </p:sp>
      <p:sp>
        <p:nvSpPr>
          <p:cNvPr id="4" name="Slide Number Placeholder 3"/>
          <p:cNvSpPr>
            <a:spLocks noGrp="1"/>
          </p:cNvSpPr>
          <p:nvPr>
            <p:ph type="sldNum" idx="5" sz="quarter"/>
          </p:nvPr>
        </p:nvSpPr>
        <p:spPr/>
      </p:sp>
    </p:spTree>
  </p:cSld>
  <p:clrMapOvr>
    <a:masterClrMapping/>
  </p:clrMapOvr>
</p:notes>
</file>

<file path=ppt/notesSlides/notesSlide2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SCR-PM-22_exception.png; FRS section 13.3.6.</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SCR-PM-22_reject.png; FRS section 13.3.6.</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SCR-PM-22_deviation.png; FRS section 13.3.6.</a:t>
            </a:r>
          </a:p>
          <a:p>
            <a:r>
              <a:t>Personas: Marketing Account Officer.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SCR-PM-22_record.png; FRS section 13.3.6.</a:t>
            </a:r>
          </a:p>
          <a:p>
            <a:r>
              <a:t>Personas: New Business Approver.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DO-01_document.png.</a:t>
            </a:r>
          </a:p>
          <a:p>
            <a:r>
              <a:t>Fields: Request: request number and type, package or programme name, scope, client, line and cover type, product – from the package request; Requested terms: sections; coverages with Included, Limit, Sub-limit, Deductible; rate %, minimum premium, commission %, TSI limit, computation basis, effective from, package term, anniversary; insurers with role, share, rate and minimum premium – from the requested terms; Opening text – merged from the template PKG_REQUEST_FORM; signature lines Prepared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2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DO-02_document.png.</a:t>
            </a:r>
          </a:p>
          <a:p>
            <a:r>
              <a:t>Fields: Slip number PQS-yyyy-nnnnnn, round, request, package, line, client or programme, reply date – from the round and the request; Round notes – the notes of the round (What changes in this round); Requested terms as in DO-01; Opening text with the slip number, round and reply date – merged from the template PKG_QUOTATION_SLIP; Signature lines Prepared by and Approved by</a:t>
            </a:r>
          </a:p>
        </p:txBody>
      </p:sp>
      <p:sp>
        <p:nvSpPr>
          <p:cNvPr id="4" name="Slide Number Placeholder 3"/>
          <p:cNvSpPr>
            <a:spLocks noGrp="1"/>
          </p:cNvSpPr>
          <p:nvPr>
            <p:ph type="sldNum" idx="5" sz="quarter"/>
          </p:nvPr>
        </p:nvSpPr>
        <p:spPr/>
      </p:sp>
    </p:spTree>
  </p:cSld>
  <p:clrMapOvr>
    <a:masterClrMapping/>
  </p:clrMapOvr>
</p:notes>
</file>

<file path=ppt/notesSlides/notesSlide2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DO-03_document.png.</a:t>
            </a:r>
          </a:p>
          <a:p>
            <a:r>
              <a:t>Fields: Title (Audit master or the client view title), request, round – from the output; Insurer terms: one row per insurer with the fields of the output (Outcome, Rate %, Minimum Premium, Coverages, Deductibles, Conditions / Warranties, Valid Until, Remarks) – from the insurer responses stored in the output; Opening text with the request, round and variant – merged from the template PKG_COMPARATIVE (PDF only); the Excel file holds the table only</a:t>
            </a:r>
          </a:p>
        </p:txBody>
      </p:sp>
      <p:sp>
        <p:nvSpPr>
          <p:cNvPr id="4" name="Slide Number Placeholder 3"/>
          <p:cNvSpPr>
            <a:spLocks noGrp="1"/>
          </p:cNvSpPr>
          <p:nvPr>
            <p:ph type="sldNum" idx="5" sz="quarter"/>
          </p:nvPr>
        </p:nvSpPr>
        <p:spPr/>
      </p:sp>
    </p:spTree>
  </p:cSld>
  <p:clrMapOvr>
    <a:masterClrMapping/>
  </p:clrMapOvr>
</p:notes>
</file>

<file path=ppt/notesSlides/notesSlide2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DO-04_document.png.</a:t>
            </a:r>
          </a:p>
          <a:p>
            <a:r>
              <a:t>Fields: Request, package, line, client or programme – from the request; Proposed terms: coverages, rate scheme, computation basis, dates and chosen insurers with role and share – from the proposed terms; Opening text – merged from the template PKG_SLIP; signature lines Prepared by and Approved by, signed on the printed slip</a:t>
            </a:r>
          </a:p>
        </p:txBody>
      </p:sp>
      <p:sp>
        <p:nvSpPr>
          <p:cNvPr id="4" name="Slide Number Placeholder 3"/>
          <p:cNvSpPr>
            <a:spLocks noGrp="1"/>
          </p:cNvSpPr>
          <p:nvPr>
            <p:ph type="sldNum" idx="5" sz="quarter"/>
          </p:nvPr>
        </p:nvSpPr>
        <p:spPr/>
      </p:sp>
    </p:spTree>
  </p:cSld>
  <p:clrMapOvr>
    <a:masterClrMapping/>
  </p:clrMapOvr>
</p:notes>
</file>

<file path=ppt/notesSlides/notesSlide2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DO-05_document.png.</a:t>
            </a:r>
          </a:p>
          <a:p>
            <a:r>
              <a:t>Fields: Package: request, package, line, client or programme – from the request; Reference MC-PKR-yyyy-nnnnnn, Decision, Signed by, Signed at, Comment – from the ManCom decision; footer Signed in BIBS by &lt;user&gt;</a:t>
            </a:r>
          </a:p>
        </p:txBody>
      </p:sp>
      <p:sp>
        <p:nvSpPr>
          <p:cNvPr id="4" name="Slide Number Placeholder 3"/>
          <p:cNvSpPr>
            <a:spLocks noGrp="1"/>
          </p:cNvSpPr>
          <p:nvPr>
            <p:ph type="sldNum" idx="5" sz="quarter"/>
          </p:nvPr>
        </p:nvSpPr>
        <p:spPr/>
      </p:sp>
    </p:spTree>
  </p:cSld>
  <p:clrMapOvr>
    <a:masterClrMapping/>
  </p:clrMapOvr>
</p:notes>
</file>

<file path=ppt/notesSlides/notesSlide2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DO-06_document.png.</a:t>
            </a:r>
          </a:p>
          <a:p>
            <a:r>
              <a:t>Fields: Subject and recipient groups – from the advisory as edited; Advisory text – merged from the template with the risk code, package name, version, effective date and request number, then edited by TSU; Supporting documents (kept in BIBS): the signed package slip and the ManCom sign-off with their file names</a:t>
            </a:r>
          </a:p>
        </p:txBody>
      </p:sp>
      <p:sp>
        <p:nvSpPr>
          <p:cNvPr id="4" name="Slide Number Placeholder 3"/>
          <p:cNvSpPr>
            <a:spLocks noGrp="1"/>
          </p:cNvSpPr>
          <p:nvPr>
            <p:ph type="sldNum" idx="5" sz="quarter"/>
          </p:nvPr>
        </p:nvSpPr>
        <p:spPr/>
      </p:sp>
    </p:spTree>
  </p:cSld>
  <p:clrMapOvr>
    <a:masterClrMapping/>
  </p:clrMapOvr>
</p:notes>
</file>

<file path=ppt/notesSlides/notesSlide2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FRS (section 22).</a:t>
            </a:r>
          </a:p>
        </p:txBody>
      </p:sp>
      <p:sp>
        <p:nvSpPr>
          <p:cNvPr id="4" name="Slide Number Placeholder 3"/>
          <p:cNvSpPr>
            <a:spLocks noGrp="1"/>
          </p:cNvSpPr>
          <p:nvPr>
            <p:ph type="sldNum" idx="5" sz="quarter"/>
          </p:nvPr>
        </p:nvSpPr>
        <p:spPr/>
      </p:sp>
    </p:spTree>
  </p:cSld>
  <p:clrMapOvr>
    <a:masterClrMapping/>
  </p:clrMapOvr>
</p:notes>
</file>

<file path=ppt/notesSlides/notesSlide2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Neutral proposals for the design; the business decides them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3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 Id="rId7"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5.png"/><Relationship Id="rId4"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0.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1.png"/><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4.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9.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3.png"/><Relationship Id="rId4"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4.png"/><Relationship Id="rId4" Type="http://schemas.openxmlformats.org/officeDocument/2006/relationships/image" Target="../media/image65.png"/><Relationship Id="rId5" Type="http://schemas.openxmlformats.org/officeDocument/2006/relationships/image" Target="../media/image66.png"/><Relationship Id="rId6" Type="http://schemas.openxmlformats.org/officeDocument/2006/relationships/image" Target="../media/image67.png"/><Relationship Id="rId7"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8.png"/><Relationship Id="rId4" Type="http://schemas.openxmlformats.org/officeDocument/2006/relationships/image" Target="../media/image69.png"/><Relationship Id="rId5" Type="http://schemas.openxmlformats.org/officeDocument/2006/relationships/image" Target="../media/image70.png"/><Relationship Id="rId6"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image" Target="../media/image79.png"/><Relationship Id="rId7"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image" Target="../media/image90.png"/><Relationship Id="rId5" Type="http://schemas.openxmlformats.org/officeDocument/2006/relationships/image" Target="../media/image91.png"/><Relationship Id="rId6" Type="http://schemas.openxmlformats.org/officeDocument/2006/relationships/image" Target="../media/image92.png"/><Relationship Id="rId7"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2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25.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26.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2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8.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9.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3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3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3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33.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34.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3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3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3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38.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39.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4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4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4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43.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4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4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46.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8.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49.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50.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5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5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53.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5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55.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5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5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58.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59.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6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6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64.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65.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66.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6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16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169.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17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173.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17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175.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178.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179.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180.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181.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18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18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184.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18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188.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189.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190.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191.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19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193.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19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5.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19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19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8.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199.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00.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0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03.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04.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05.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06.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0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08.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09.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10.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11.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13.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14.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15.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16.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1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18.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9.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0.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21.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5.png"/><Relationship Id="rId4" Type="http://schemas.openxmlformats.org/officeDocument/2006/relationships/notesSlide" Target="../notesSlides/notesSlide22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6.png"/><Relationship Id="rId4" Type="http://schemas.openxmlformats.org/officeDocument/2006/relationships/notesSlide" Target="../notesSlides/notesSlide22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7.png"/><Relationship Id="rId4" Type="http://schemas.openxmlformats.org/officeDocument/2006/relationships/notesSlide" Target="../notesSlides/notesSlide224.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8.png"/><Relationship Id="rId4" Type="http://schemas.openxmlformats.org/officeDocument/2006/relationships/notesSlide" Target="../notesSlides/notesSlide225.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9.png"/><Relationship Id="rId4" Type="http://schemas.openxmlformats.org/officeDocument/2006/relationships/notesSlide" Target="../notesSlides/notesSlide226.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0.png"/><Relationship Id="rId4" Type="http://schemas.openxmlformats.org/officeDocument/2006/relationships/notesSlide" Target="../notesSlides/notesSlide22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1.png"/><Relationship Id="rId4" Type="http://schemas.openxmlformats.org/officeDocument/2006/relationships/notesSlide" Target="../notesSlides/notesSlide228.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2.png"/><Relationship Id="rId4" Type="http://schemas.openxmlformats.org/officeDocument/2006/relationships/notesSlide" Target="../notesSlides/notesSlide229.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3.png"/><Relationship Id="rId4" Type="http://schemas.openxmlformats.org/officeDocument/2006/relationships/notesSlide" Target="../notesSlides/notesSlide230.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4.png"/><Relationship Id="rId4" Type="http://schemas.openxmlformats.org/officeDocument/2006/relationships/notesSlide" Target="../notesSlides/notesSlide231.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5.png"/><Relationship Id="rId4" Type="http://schemas.openxmlformats.org/officeDocument/2006/relationships/notesSlide" Target="../notesSlides/notesSlide23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6.png"/><Relationship Id="rId4" Type="http://schemas.openxmlformats.org/officeDocument/2006/relationships/notesSlide" Target="../notesSlides/notesSlide233.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7.png"/><Relationship Id="rId4" Type="http://schemas.openxmlformats.org/officeDocument/2006/relationships/notesSlide" Target="../notesSlides/notesSlide234.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8.png"/><Relationship Id="rId4" Type="http://schemas.openxmlformats.org/officeDocument/2006/relationships/notesSlide" Target="../notesSlides/notesSlide235.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9.png"/><Relationship Id="rId4" Type="http://schemas.openxmlformats.org/officeDocument/2006/relationships/notesSlide" Target="../notesSlides/notesSlide236.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0.png"/><Relationship Id="rId4" Type="http://schemas.openxmlformats.org/officeDocument/2006/relationships/notesSlide" Target="../notesSlides/notesSlide23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1.png"/><Relationship Id="rId4" Type="http://schemas.openxmlformats.org/officeDocument/2006/relationships/notesSlide" Target="../notesSlides/notesSlide238.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9.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2.png"/><Relationship Id="rId4" Type="http://schemas.openxmlformats.org/officeDocument/2006/relationships/notesSlide" Target="../notesSlides/notesSlide240.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3.png"/><Relationship Id="rId4" Type="http://schemas.openxmlformats.org/officeDocument/2006/relationships/notesSlide" Target="../notesSlides/notesSlide243.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4.png"/><Relationship Id="rId4" Type="http://schemas.openxmlformats.org/officeDocument/2006/relationships/notesSlide" Target="../notesSlides/notesSlide244.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5.png"/><Relationship Id="rId4" Type="http://schemas.openxmlformats.org/officeDocument/2006/relationships/notesSlide" Target="../notesSlides/notesSlide245.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6.png"/><Relationship Id="rId4" Type="http://schemas.openxmlformats.org/officeDocument/2006/relationships/notesSlide" Target="../notesSlides/notesSlide246.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7.png"/><Relationship Id="rId4" Type="http://schemas.openxmlformats.org/officeDocument/2006/relationships/notesSlide" Target="../notesSlides/notesSlide24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8.png"/><Relationship Id="rId4" Type="http://schemas.openxmlformats.org/officeDocument/2006/relationships/notesSlide" Target="../notesSlides/notesSlide248.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9.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9.png"/><Relationship Id="rId4" Type="http://schemas.openxmlformats.org/officeDocument/2006/relationships/notesSlide" Target="../notesSlides/notesSlide250.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0.png"/><Relationship Id="rId4" Type="http://schemas.openxmlformats.org/officeDocument/2006/relationships/notesSlide" Target="../notesSlides/notesSlide251.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1.png"/><Relationship Id="rId4" Type="http://schemas.openxmlformats.org/officeDocument/2006/relationships/notesSlide" Target="../notesSlides/notesSlide25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2.png"/><Relationship Id="rId4" Type="http://schemas.openxmlformats.org/officeDocument/2006/relationships/notesSlide" Target="../notesSlides/notesSlide253.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4.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3.png"/><Relationship Id="rId4" Type="http://schemas.openxmlformats.org/officeDocument/2006/relationships/notesSlide" Target="../notesSlides/notesSlide255.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4.png"/><Relationship Id="rId4" Type="http://schemas.openxmlformats.org/officeDocument/2006/relationships/notesSlide" Target="../notesSlides/notesSlide25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5.png"/><Relationship Id="rId4" Type="http://schemas.openxmlformats.org/officeDocument/2006/relationships/notesSlide" Target="../notesSlides/notesSlide257.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6.png"/><Relationship Id="rId4" Type="http://schemas.openxmlformats.org/officeDocument/2006/relationships/notesSlide" Target="../notesSlides/notesSlide258.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7.png"/><Relationship Id="rId4" Type="http://schemas.openxmlformats.org/officeDocument/2006/relationships/notesSlide" Target="../notesSlides/notesSlide259.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0.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1.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8.png"/><Relationship Id="rId4" Type="http://schemas.openxmlformats.org/officeDocument/2006/relationships/notesSlide" Target="../notesSlides/notesSlide26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9.png"/><Relationship Id="rId4" Type="http://schemas.openxmlformats.org/officeDocument/2006/relationships/notesSlide" Target="../notesSlides/notesSlide26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0.png"/><Relationship Id="rId4" Type="http://schemas.openxmlformats.org/officeDocument/2006/relationships/notesSlide" Target="../notesSlides/notesSlide264.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1.png"/><Relationship Id="rId4" Type="http://schemas.openxmlformats.org/officeDocument/2006/relationships/notesSlide" Target="../notesSlides/notesSlide266.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2.png"/><Relationship Id="rId4" Type="http://schemas.openxmlformats.org/officeDocument/2006/relationships/notesSlide" Target="../notesSlides/notesSlide267.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3.png"/><Relationship Id="rId4" Type="http://schemas.openxmlformats.org/officeDocument/2006/relationships/notesSlide" Target="../notesSlides/notesSlide268.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9.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4.png"/><Relationship Id="rId4" Type="http://schemas.openxmlformats.org/officeDocument/2006/relationships/notesSlide" Target="../notesSlides/notesSlide270.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5.png"/><Relationship Id="rId4" Type="http://schemas.openxmlformats.org/officeDocument/2006/relationships/notesSlide" Target="../notesSlides/notesSlide271.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6.png"/><Relationship Id="rId4" Type="http://schemas.openxmlformats.org/officeDocument/2006/relationships/notesSlide" Target="../notesSlides/notesSlide27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7.png"/><Relationship Id="rId4" Type="http://schemas.openxmlformats.org/officeDocument/2006/relationships/notesSlide" Target="../notesSlides/notesSlide273.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8.png"/><Relationship Id="rId4" Type="http://schemas.openxmlformats.org/officeDocument/2006/relationships/notesSlide" Target="../notesSlides/notesSlide274.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5.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6.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9.png"/><Relationship Id="rId4" Type="http://schemas.openxmlformats.org/officeDocument/2006/relationships/notesSlide" Target="../notesSlides/notesSlide277.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0.png"/><Relationship Id="rId4" Type="http://schemas.openxmlformats.org/officeDocument/2006/relationships/notesSlide" Target="../notesSlides/notesSlide278.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1.png"/><Relationship Id="rId4" Type="http://schemas.openxmlformats.org/officeDocument/2006/relationships/notesSlide" Target="../notesSlides/notesSlide279.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2.png"/><Relationship Id="rId4" Type="http://schemas.openxmlformats.org/officeDocument/2006/relationships/notesSlide" Target="../notesSlides/notesSlide280.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1.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3.png"/><Relationship Id="rId4" Type="http://schemas.openxmlformats.org/officeDocument/2006/relationships/notesSlide" Target="../notesSlides/notesSlide283.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4.png"/><Relationship Id="rId4" Type="http://schemas.openxmlformats.org/officeDocument/2006/relationships/notesSlide" Target="../notesSlides/notesSlide284.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5.png"/><Relationship Id="rId4" Type="http://schemas.openxmlformats.org/officeDocument/2006/relationships/notesSlide" Target="../notesSlides/notesSlide285.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6.png"/><Relationship Id="rId4" Type="http://schemas.openxmlformats.org/officeDocument/2006/relationships/notesSlide" Target="../notesSlides/notesSlide286.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7.png"/><Relationship Id="rId4" Type="http://schemas.openxmlformats.org/officeDocument/2006/relationships/notesSlide" Target="../notesSlides/notesSlide287.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8.png"/><Relationship Id="rId4" Type="http://schemas.openxmlformats.org/officeDocument/2006/relationships/notesSlide" Target="../notesSlides/notesSlide288.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9.png"/><Relationship Id="rId4" Type="http://schemas.openxmlformats.org/officeDocument/2006/relationships/notesSlide" Target="../notesSlides/notesSlide289.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0.png"/><Relationship Id="rId4" Type="http://schemas.openxmlformats.org/officeDocument/2006/relationships/notesSlide" Target="../notesSlides/notesSlide290.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1.png"/><Relationship Id="rId4" Type="http://schemas.openxmlformats.org/officeDocument/2006/relationships/notesSlide" Target="../notesSlides/notesSlide291.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2.png"/><Relationship Id="rId4" Type="http://schemas.openxmlformats.org/officeDocument/2006/relationships/notesSlide" Target="../notesSlides/notesSlide29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3.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4.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5.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6.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7.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8.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9.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BRD-3 Product Maintenance</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BRD-3 Product Maintenance: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BRD-3 Product Maintenance as the FRS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22 screens, 123 screen images, 62 screen states, 11 personas, 2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Changes in this issue (v2.0, 28 September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137160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426720">
                <a:tc>
                  <a:txBody>
                    <a:bodyPr/>
                    <a:lstStyle/>
                    <a:p>
                      <a:r>
                        <a:rPr sz="1100" b="0">
                          <a:solidFill>
                            <a:srgbClr val="4B4B4B"/>
                          </a:solidFill>
                          <a:latin typeface="Arial"/>
                        </a:rPr>
                        <a:t>CHG-PM-2.0-01</a:t>
                      </a:r>
                    </a:p>
                  </a:txBody>
                  <a:tcPr marL="54864" marR="54864" marT="27432" marB="27432">
                    <a:solidFill>
                      <a:srgbClr val="FFFFFF"/>
                    </a:solidFill>
                  </a:tcPr>
                </a:tc>
                <a:tc>
                  <a:txBody>
                    <a:bodyPr/>
                    <a:lstStyle/>
                    <a:p>
                      <a:r>
                        <a:rPr sz="1100" b="0">
                          <a:solidFill>
                            <a:srgbClr val="4B4B4B"/>
                          </a:solidFill>
                          <a:latin typeface="Arial"/>
                        </a:rPr>
                        <a:t>Sales Organisation shown as a tree table, with the actions menu of each row and the refused deactivation</a:t>
                      </a:r>
                    </a:p>
                  </a:txBody>
                  <a:tcPr marL="54864" marR="54864" marT="27432" marB="27432">
                    <a:solidFill>
                      <a:srgbClr val="FFFFFF"/>
                    </a:solidFill>
                  </a:tcPr>
                </a:tc>
                <a:tc>
                  <a:txBody>
                    <a:bodyPr/>
                    <a:lstStyle/>
                    <a:p>
                      <a:r>
                        <a:rPr sz="1100" b="0">
                          <a:solidFill>
                            <a:srgbClr val="4B4B4B"/>
                          </a:solidFill>
                          <a:latin typeface="Arial"/>
                        </a:rPr>
                        <a:t>SCR-PM-20</a:t>
                      </a:r>
                    </a:p>
                  </a:txBody>
                  <a:tcPr marL="54864" marR="54864" marT="27432" marB="27432">
                    <a:solidFill>
                      <a:srgbClr val="FFFFFF"/>
                    </a:solidFill>
                  </a:tcPr>
                </a:tc>
                <a:tc>
                  <a:txBody>
                    <a:bodyPr/>
                    <a:lstStyle/>
                    <a:p>
                      <a:r>
                        <a:rPr sz="1100" b="0">
                          <a:solidFill>
                            <a:srgbClr val="4B4B4B"/>
                          </a:solidFill>
                          <a:latin typeface="Arial"/>
                        </a:rPr>
                        <a:t>3</a:t>
                      </a:r>
                    </a:p>
                  </a:txBody>
                  <a:tcPr marL="54864" marR="54864" marT="27432" marB="27432">
                    <a:solidFill>
                      <a:srgbClr val="FFFFFF"/>
                    </a:solidFill>
                  </a:tcPr>
                </a:tc>
              </a:tr>
              <a:tr h="426720">
                <a:tc>
                  <a:txBody>
                    <a:bodyPr/>
                    <a:lstStyle/>
                    <a:p>
                      <a:r>
                        <a:rPr sz="1100" b="0">
                          <a:solidFill>
                            <a:srgbClr val="4B4B4B"/>
                          </a:solidFill>
                          <a:latin typeface="Arial"/>
                        </a:rPr>
                        <a:t>CHG-PM-2.0-02</a:t>
                      </a:r>
                    </a:p>
                  </a:txBody>
                  <a:tcPr marL="54864" marR="54864" marT="27432" marB="27432">
                    <a:solidFill>
                      <a:srgbClr val="E5F5FF"/>
                    </a:solidFill>
                  </a:tcPr>
                </a:tc>
                <a:tc>
                  <a:txBody>
                    <a:bodyPr/>
                    <a:lstStyle/>
                    <a:p>
                      <a:r>
                        <a:rPr sz="1100" b="0">
                          <a:solidFill>
                            <a:srgbClr val="4B4B4B"/>
                          </a:solidFill>
                          <a:latin typeface="Arial"/>
                        </a:rPr>
                        <a:t>Package Version: the header with its package request, the Validation Checklist of the validator and the Validation card of a released version with the checks and the figures compared</a:t>
                      </a:r>
                    </a:p>
                  </a:txBody>
                  <a:tcPr marL="54864" marR="54864" marT="27432" marB="27432">
                    <a:solidFill>
                      <a:srgbClr val="E5F5FF"/>
                    </a:solidFill>
                  </a:tcPr>
                </a:tc>
                <a:tc>
                  <a:txBody>
                    <a:bodyPr/>
                    <a:lstStyle/>
                    <a:p>
                      <a:r>
                        <a:rPr sz="1100" b="0">
                          <a:solidFill>
                            <a:srgbClr val="4B4B4B"/>
                          </a:solidFill>
                          <a:latin typeface="Arial"/>
                        </a:rPr>
                        <a:t>SCR-PM-13</a:t>
                      </a:r>
                    </a:p>
                  </a:txBody>
                  <a:tcPr marL="54864" marR="54864" marT="27432" marB="27432">
                    <a:solidFill>
                      <a:srgbClr val="E5F5FF"/>
                    </a:solidFill>
                  </a:tcPr>
                </a:tc>
                <a:tc>
                  <a:txBody>
                    <a:bodyPr/>
                    <a:lstStyle/>
                    <a:p>
                      <a:r>
                        <a:rPr sz="1100" b="0">
                          <a:solidFill>
                            <a:srgbClr val="4B4B4B"/>
                          </a:solidFill>
                          <a:latin typeface="Arial"/>
                        </a:rPr>
                        <a:t>5</a:t>
                      </a:r>
                    </a:p>
                  </a:txBody>
                  <a:tcPr marL="54864" marR="54864" marT="27432" marB="27432">
                    <a:solidFill>
                      <a:srgbClr val="E5F5FF"/>
                    </a:solidFill>
                  </a:tcPr>
                </a:tc>
              </a:tr>
              <a:tr h="259080">
                <a:tc>
                  <a:txBody>
                    <a:bodyPr/>
                    <a:lstStyle/>
                    <a:p>
                      <a:r>
                        <a:rPr sz="1100" b="0">
                          <a:solidFill>
                            <a:srgbClr val="4B4B4B"/>
                          </a:solidFill>
                          <a:latin typeface="Arial"/>
                        </a:rPr>
                        <a:t>CHG-PM-2.0-03</a:t>
                      </a:r>
                    </a:p>
                  </a:txBody>
                  <a:tcPr marL="54864" marR="54864" marT="27432" marB="27432">
                    <a:solidFill>
                      <a:srgbClr val="FFFFFF"/>
                    </a:solidFill>
                  </a:tcPr>
                </a:tc>
                <a:tc>
                  <a:txBody>
                    <a:bodyPr/>
                    <a:lstStyle/>
                    <a:p>
                      <a:r>
                        <a:rPr sz="1100" b="0">
                          <a:solidFill>
                            <a:srgbClr val="4B4B4B"/>
                          </a:solidFill>
                          <a:latin typeface="Arial"/>
                        </a:rPr>
                        <a:t>The rule parameters of an incentive criterion as a table of parameters and values</a:t>
                      </a:r>
                    </a:p>
                  </a:txBody>
                  <a:tcPr marL="54864" marR="54864" marT="27432" marB="27432">
                    <a:solidFill>
                      <a:srgbClr val="FFFFFF"/>
                    </a:solidFill>
                  </a:tcPr>
                </a:tc>
                <a:tc>
                  <a:txBody>
                    <a:bodyPr/>
                    <a:lstStyle/>
                    <a:p>
                      <a:r>
                        <a:rPr sz="1100" b="0">
                          <a:solidFill>
                            <a:srgbClr val="4B4B4B"/>
                          </a:solidFill>
                          <a:latin typeface="Arial"/>
                        </a:rPr>
                        <a:t>SCR-PM-16</a:t>
                      </a:r>
                    </a:p>
                  </a:txBody>
                  <a:tcPr marL="54864" marR="54864" marT="27432" marB="27432">
                    <a:solidFill>
                      <a:srgbClr val="FFFFFF"/>
                    </a:solidFill>
                  </a:tcPr>
                </a:tc>
                <a:tc>
                  <a:txBody>
                    <a:bodyPr/>
                    <a:lstStyle/>
                    <a:p>
                      <a:r>
                        <a:rPr sz="1100" b="0">
                          <a:solidFill>
                            <a:srgbClr val="4B4B4B"/>
                          </a:solidFill>
                          <a:latin typeface="Arial"/>
                        </a:rPr>
                        <a:t>1</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29768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screens;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Business Analyst,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every departure is listed in the proposed rules and clarifications</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Technical Support Unit (TSU), BU representatives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package request, negotiation, requirements, advisory and expiry screens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Marketing Business System (MBS), BU representatives</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set-up, version, master and incentive screens and the configuration inputs match the business input</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FFFFFF"/>
                    </a:solidFill>
                  </a:tcPr>
                </a:tc>
                <a:tc>
                  <a:txBody>
                    <a:bodyPr/>
                    <a:lstStyle/>
                    <a:p>
                      <a:r>
                        <a:rPr sz="900" b="0">
                          <a:solidFill>
                            <a:srgbClr val="4B4B4B"/>
                          </a:solidFill>
                          <a:latin typeface="Arial"/>
                        </a:rPr>
                        <a:t>BDO Unibank ESG</a:t>
                      </a:r>
                    </a:p>
                  </a:txBody>
                  <a:tcPr marL="54864" marR="54864" marT="27432" marB="27432">
                    <a:solidFill>
                      <a:srgbClr val="FFFFFF"/>
                    </a:solidFill>
                  </a:tcPr>
                </a:tc>
                <a:tc>
                  <a:txBody>
                    <a:bodyPr/>
                    <a:lstStyle/>
                    <a:p>
                      <a:r>
                        <a:rPr sz="900" b="0">
                          <a:solidFill>
                            <a:srgbClr val="4B4B4B"/>
                          </a:solidFill>
                          <a:latin typeface="Arial"/>
                        </a:rPr>
                        <a:t>Traceability of every BRD requirement to the set and completeness of the set</a:t>
                      </a:r>
                    </a:p>
                  </a:txBody>
                  <a:tcPr marL="54864" marR="54864" marT="27432" marB="27432">
                    <a:solidFill>
                      <a:srgbClr val="FFFFFF"/>
                    </a:solidFill>
                  </a:tcPr>
                </a:tc>
              </a:tr>
              <a:tr h="36576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(BDOI IT)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Interfaces, user access and menus, and the Technical Specification (a separate document); not the business screens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Marketing Business System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36576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Claims, Analytics, Risk Management, Reinsurance and Technical Underwriting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 TSU part: package requests, negotiation, requirements, advisories and expiry</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Combank and Corbank</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Package requests, approvals and pricing for Combank and Corbank</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Package requests, approvals and pricing for Retail Marketing</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Corporate and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Package requests, approvals and pricing for Corporate Marketing</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Comptrollership</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Rates and taxes, commission rates and incentive criteria</a:t>
                      </a:r>
                    </a:p>
                  </a:txBody>
                  <a:tcPr marL="54864" marR="54864" marT="27432" marB="27432">
                    <a:solidFill>
                      <a:srgbClr val="E5F5FF"/>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548640" y="1261872"/>
            <a:ext cx="1428162" cy="384048"/>
          </a:xfrm>
          <a:prstGeom prst="rect">
            <a:avLst/>
          </a:prstGeom>
          <a:solidFill>
            <a:srgbClr val="004EA8"/>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#004EA8 Header Blue</a:t>
            </a:r>
          </a:p>
        </p:txBody>
      </p:sp>
      <p:sp>
        <p:nvSpPr>
          <p:cNvPr id="12" name="Rectangle 11"/>
          <p:cNvSpPr/>
          <p:nvPr/>
        </p:nvSpPr>
        <p:spPr>
          <a:xfrm>
            <a:off x="2159682" y="1261872"/>
            <a:ext cx="1428162" cy="384048"/>
          </a:xfrm>
          <a:prstGeom prst="rect">
            <a:avLst/>
          </a:prstGeom>
          <a:solidFill>
            <a:srgbClr val="0072D8"/>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#0072D8 CTA Blue</a:t>
            </a:r>
          </a:p>
        </p:txBody>
      </p:sp>
      <p:sp>
        <p:nvSpPr>
          <p:cNvPr id="15" name="Rectangle 14"/>
          <p:cNvSpPr/>
          <p:nvPr/>
        </p:nvSpPr>
        <p:spPr>
          <a:xfrm>
            <a:off x="3770724" y="1261872"/>
            <a:ext cx="1428162" cy="384048"/>
          </a:xfrm>
          <a:prstGeom prst="rect">
            <a:avLst/>
          </a:prstGeom>
          <a:solidFill>
            <a:srgbClr val="005FB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#005FB4 CTA hover / pressed</a:t>
            </a:r>
          </a:p>
        </p:txBody>
      </p:sp>
      <p:sp>
        <p:nvSpPr>
          <p:cNvPr id="18" name="Rectangle 17"/>
          <p:cNvSpPr/>
          <p:nvPr/>
        </p:nvSpPr>
        <p:spPr>
          <a:xfrm>
            <a:off x="5381766" y="1261872"/>
            <a:ext cx="1428162" cy="384048"/>
          </a:xfrm>
          <a:prstGeom prst="rect">
            <a:avLst/>
          </a:prstGeom>
          <a:solidFill>
            <a:srgbClr val="E5F5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#E5F5FF Background Blue</a:t>
            </a:r>
          </a:p>
        </p:txBody>
      </p:sp>
      <p:sp>
        <p:nvSpPr>
          <p:cNvPr id="21" name="Rectangle 20"/>
          <p:cNvSpPr/>
          <p:nvPr/>
        </p:nvSpPr>
        <p:spPr>
          <a:xfrm>
            <a:off x="6992808" y="1261872"/>
            <a:ext cx="1428162" cy="384048"/>
          </a:xfrm>
          <a:prstGeom prst="rect">
            <a:avLst/>
          </a:prstGeom>
          <a:solidFill>
            <a:srgbClr val="99C1E7"/>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#99C1E7 Text Field Blue</a:t>
            </a:r>
          </a:p>
        </p:txBody>
      </p:sp>
      <p:sp>
        <p:nvSpPr>
          <p:cNvPr id="24" name="Rectangle 23"/>
          <p:cNvSpPr/>
          <p:nvPr/>
        </p:nvSpPr>
        <p:spPr>
          <a:xfrm>
            <a:off x="8603850" y="1261872"/>
            <a:ext cx="1428162" cy="384048"/>
          </a:xfrm>
          <a:prstGeom prst="rect">
            <a:avLst/>
          </a:prstGeom>
          <a:solidFill>
            <a:srgbClr val="FDB913"/>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#FDB913 Yellow</a:t>
            </a:r>
          </a:p>
        </p:txBody>
      </p:sp>
      <p:sp>
        <p:nvSpPr>
          <p:cNvPr id="27" name="Rectangle 26"/>
          <p:cNvSpPr/>
          <p:nvPr/>
        </p:nvSpPr>
        <p:spPr>
          <a:xfrm>
            <a:off x="10214892" y="1261872"/>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#E0A100 </a:t>
            </a:r>
          </a:p>
        </p:txBody>
      </p:sp>
      <p:sp>
        <p:nvSpPr>
          <p:cNvPr id="30" name="Rectangle 29"/>
          <p:cNvSpPr/>
          <p:nvPr/>
        </p:nvSpPr>
        <p:spPr>
          <a:xfrm>
            <a:off x="548640" y="2249424"/>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#FFF4D6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0072D8"/>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#0072D8 </a:t>
            </a:r>
          </a:p>
        </p:txBody>
      </p:sp>
      <p:sp>
        <p:nvSpPr>
          <p:cNvPr id="84" name="Rectangle 83"/>
          <p:cNvSpPr/>
          <p:nvPr/>
        </p:nvSpPr>
        <p:spPr>
          <a:xfrm>
            <a:off x="6992808" y="4224528"/>
            <a:ext cx="1428162" cy="384048"/>
          </a:xfrm>
          <a:prstGeom prst="rect">
            <a:avLst/>
          </a:prstGeom>
          <a:solidFill>
            <a:srgbClr val="E5F5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#E5F5FF Typography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Tables scroll inside their card so the header row stays visible</a:t>
                      </a:r>
                    </a:p>
                  </a:txBody>
                  <a:tcPr marL="54864" marR="54864" marT="27432" marB="27432">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table-max-height</a:t>
                      </a:r>
                    </a:p>
                  </a:txBody>
                  <a:tcPr marL="54864" marR="54864" marT="27432" marB="27432">
                    <a:solidFill>
                      <a:srgbClr val="FFFFFF"/>
                    </a:solidFill>
                  </a:tcPr>
                </a:tc>
                <a:tc>
                  <a:txBody>
                    <a:bodyPr/>
                    <a:lstStyle/>
                    <a:p>
                      <a:r>
                        <a:rPr sz="1100" b="0">
                          <a:solidFill>
                            <a:srgbClr val="4B4B4B"/>
                          </a:solidFill>
                          <a:latin typeface="Arial"/>
                        </a:rPr>
                        <a:t>70vh</a:t>
                      </a:r>
                    </a:p>
                  </a:txBody>
                  <a:tcPr marL="54864" marR="54864" marT="27432" marB="27432">
                    <a:solidFill>
                      <a:srgbClr val="FFFFFF"/>
                    </a:solidFill>
                  </a:tcPr>
                </a:tc>
                <a:tc>
                  <a:txBody>
                    <a:bodyPr/>
                    <a:lstStyle/>
                    <a:p>
                      <a:r>
                        <a:rPr sz="1100" b="0">
                          <a:solidFill>
                            <a:srgbClr val="4B4B4B"/>
                          </a:solidFill>
                          <a:latin typeface="Arial"/>
                        </a:rPr>
                        <a:t>Label column of definition grids</a:t>
                      </a:r>
                    </a:p>
                  </a:txBody>
                  <a:tcPr marL="54864" marR="54864" marT="27432" marB="27432">
                    <a:solidFill>
                      <a:srgbClr val="FFFFFF"/>
                    </a:solidFill>
                  </a:tcPr>
                </a:tc>
              </a:tr>
              <a:tr h="259080">
                <a:tc>
                  <a:txBody>
                    <a:bodyPr/>
                    <a:lstStyle/>
                    <a:p>
                      <a:r>
                        <a:rPr sz="1100" b="0">
                          <a:solidFill>
                            <a:srgbClr val="4B4B4B"/>
                          </a:solidFill>
                          <a:latin typeface="Arial"/>
                        </a:rPr>
                        <a:t>def-label-width</a:t>
                      </a:r>
                    </a:p>
                  </a:txBody>
                  <a:tcPr marL="54864" marR="54864" marT="27432" marB="27432">
                    <a:solidFill>
                      <a:srgbClr val="E5F5FF"/>
                    </a:solidFill>
                  </a:tcPr>
                </a:tc>
                <a:tc>
                  <a:txBody>
                    <a:bodyPr/>
                    <a:lstStyle/>
                    <a:p>
                      <a:r>
                        <a:rPr sz="1100" b="0">
                          <a:solidFill>
                            <a:srgbClr val="4B4B4B"/>
                          </a:solidFill>
                          <a:latin typeface="Arial"/>
                        </a:rPr>
                        <a:t>168px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SCR-PM-04, SCR-PM-05, SCR-PM-06, SCR-PM-07, SCR-PM-08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SCR-PM-03, SCR-PM-13, SCR-PM-20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pm-02-cmp-table.png"/>
          <p:cNvPicPr>
            <a:picLocks noChangeAspect="1"/>
          </p:cNvPicPr>
          <p:nvPr/>
        </p:nvPicPr>
        <p:blipFill>
          <a:blip r:embed="rId3"/>
          <a:stretch>
            <a:fillRect/>
          </a:stretch>
        </p:blipFill>
        <p:spPr>
          <a:xfrm>
            <a:off x="548640" y="1261872"/>
            <a:ext cx="7680960" cy="4473750"/>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SCR-PM-02, SCR-PM-09, SCR-PM-10, SCR-PM-11, SCR-PM-14, SCR-PM-17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20-cmp-tree.png"/>
          <p:cNvPicPr>
            <a:picLocks noChangeAspect="1"/>
          </p:cNvPicPr>
          <p:nvPr/>
        </p:nvPicPr>
        <p:blipFill>
          <a:blip r:embed="rId3"/>
          <a:stretch>
            <a:fillRect/>
          </a:stretch>
        </p:blipFill>
        <p:spPr>
          <a:xfrm>
            <a:off x="548640" y="1261872"/>
            <a:ext cx="7680960" cy="454991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a:p>
            <a:pPr>
              <a:spcAft>
                <a:spcPts val="600"/>
              </a:spcAft>
            </a:pPr>
            <a:r>
              <a:rPr sz="1100">
                <a:solidFill>
                  <a:srgbClr val="004EA8"/>
                </a:solidFill>
                <a:latin typeface="Arial"/>
              </a:rPr>
              <a:t>•  </a:t>
            </a:r>
            <a:r>
              <a:rPr sz="1100">
                <a:solidFill>
                  <a:srgbClr val="4B4B4B"/>
                </a:solidFill>
                <a:latin typeface="Arial"/>
              </a:rPr>
              <a:t>In this set: SCR-PM-20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scr-pm-20-02-actions.png"/>
          <p:cNvPicPr>
            <a:picLocks noChangeAspect="1"/>
          </p:cNvPicPr>
          <p:nvPr/>
        </p:nvPicPr>
        <p:blipFill>
          <a:blip r:embed="rId3"/>
          <a:stretch>
            <a:fillRect/>
          </a:stretch>
        </p:blipFill>
        <p:spPr>
          <a:xfrm>
            <a:off x="1460310" y="1261872"/>
            <a:ext cx="585761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a:p>
            <a:pPr>
              <a:spcAft>
                <a:spcPts val="600"/>
              </a:spcAft>
            </a:pPr>
            <a:r>
              <a:rPr sz="1100">
                <a:solidFill>
                  <a:srgbClr val="004EA8"/>
                </a:solidFill>
                <a:latin typeface="Arial"/>
              </a:rPr>
              <a:t>•  </a:t>
            </a:r>
            <a:r>
              <a:rPr sz="1100">
                <a:solidFill>
                  <a:srgbClr val="4B4B4B"/>
                </a:solidFill>
                <a:latin typeface="Arial"/>
              </a:rPr>
              <a:t>In this set: SCR-PM-20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SCR-PM-04, SCR-PM-13, SCR-PM-22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ua-06-01-list.png"/>
          <p:cNvPicPr>
            <a:picLocks noChangeAspect="1"/>
          </p:cNvPicPr>
          <p:nvPr/>
        </p:nvPicPr>
        <p:blipFill>
          <a:blip r:embed="rId3"/>
          <a:stretch>
            <a:fillRect/>
          </a:stretch>
        </p:blipFill>
        <p:spPr>
          <a:xfrm>
            <a:off x="548640" y="1261872"/>
            <a:ext cx="7680960" cy="4654926"/>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SCR-PM-02, SCR-PM-11, SCR-PM-16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pm-10-01-list.png"/>
          <p:cNvPicPr>
            <a:picLocks noChangeAspect="1"/>
          </p:cNvPicPr>
          <p:nvPr/>
        </p:nvPicPr>
        <p:blipFill>
          <a:blip r:embed="rId3"/>
          <a:stretch>
            <a:fillRect/>
          </a:stretch>
        </p:blipFill>
        <p:spPr>
          <a:xfrm>
            <a:off x="548640" y="1261872"/>
            <a:ext cx="7680960" cy="2827387"/>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a:p>
            <a:pPr>
              <a:spcAft>
                <a:spcPts val="600"/>
              </a:spcAft>
            </a:pPr>
            <a:r>
              <a:rPr sz="1100">
                <a:solidFill>
                  <a:srgbClr val="004EA8"/>
                </a:solidFill>
                <a:latin typeface="Arial"/>
              </a:rPr>
              <a:t>•  </a:t>
            </a:r>
            <a:r>
              <a:rPr sz="1100">
                <a:solidFill>
                  <a:srgbClr val="4B4B4B"/>
                </a:solidFill>
                <a:latin typeface="Arial"/>
              </a:rPr>
              <a:t>In this set: SCR-PM-10, SCR-PM-12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a:p>
            <a:pPr>
              <a:spcAft>
                <a:spcPts val="600"/>
              </a:spcAft>
            </a:pPr>
            <a:r>
              <a:rPr sz="1100">
                <a:solidFill>
                  <a:srgbClr val="004EA8"/>
                </a:solidFill>
                <a:latin typeface="Arial"/>
              </a:rPr>
              <a:t>•  </a:t>
            </a:r>
            <a:r>
              <a:rPr sz="1100">
                <a:solidFill>
                  <a:srgbClr val="4B4B4B"/>
                </a:solidFill>
                <a:latin typeface="Arial"/>
              </a:rPr>
              <a:t>In this set: SCR-PM-03, SCR-PM-13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9-02-validated.png"/>
          <p:cNvPicPr>
            <a:picLocks noChangeAspect="1"/>
          </p:cNvPicPr>
          <p:nvPr/>
        </p:nvPicPr>
        <p:blipFill>
          <a:blip r:embed="rId3"/>
          <a:stretch>
            <a:fillRect/>
          </a:stretch>
        </p:blipFill>
        <p:spPr>
          <a:xfrm>
            <a:off x="1775206" y="1261872"/>
            <a:ext cx="5227827"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pm-13-06-released.png"/>
          <p:cNvPicPr>
            <a:picLocks noChangeAspect="1"/>
          </p:cNvPicPr>
          <p:nvPr/>
        </p:nvPicPr>
        <p:blipFill>
          <a:blip r:embed="rId3"/>
          <a:stretch>
            <a:fillRect/>
          </a:stretch>
        </p:blipFill>
        <p:spPr>
          <a:xfrm>
            <a:off x="2721103" y="1261872"/>
            <a:ext cx="3336033"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SCR-PM-13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325880"/>
          <a:ext cx="11094414" cy="47244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3962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text left, amounts right, dates in one format; one value per cell with at most one muted line under it; a dash for an empty value; "Showing x to y of n results" with page numbers.</a:t>
                      </a:r>
                    </a:p>
                  </a:txBody>
                  <a:tcPr marL="54864" marR="54864" marT="27432" marB="27432">
                    <a:solidFill>
                      <a:srgbClr val="FFFFFF"/>
                    </a:solidFill>
                  </a:tcPr>
                </a:tc>
              </a:tr>
              <a:tr h="3962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pills of one size and one colour per state group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26212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r h="243840">
                <a:tc>
                  <a:txBody>
                    <a:bodyPr/>
                    <a:lstStyle/>
                    <a:p>
                      <a:r>
                        <a:rPr sz="1000" b="1">
                          <a:solidFill>
                            <a:srgbClr val="4B4B4B"/>
                          </a:solidFill>
                          <a:latin typeface="Arial"/>
                        </a:rPr>
                        <a:t>Maker-checker</a:t>
                      </a:r>
                    </a:p>
                  </a:txBody>
                  <a:tcPr marL="54864" marR="54864" marT="27432" marB="27432">
                    <a:solidFill>
                      <a:srgbClr val="E5F5FF"/>
                    </a:solidFill>
                  </a:tcPr>
                </a:tc>
                <a:tc>
                  <a:txBody>
                    <a:bodyPr/>
                    <a:lstStyle/>
                    <a:p>
                      <a:r>
                        <a:rPr sz="1000" b="0">
                          <a:solidFill>
                            <a:srgbClr val="4B4B4B"/>
                          </a:solidFill>
                          <a:latin typeface="Arial"/>
                        </a:rPr>
                        <a:t>Save for Authorization on every product master; Pending Authorization until a second user authorises it; Deactivate instead of delete.</a:t>
                      </a:r>
                    </a:p>
                  </a:txBody>
                  <a:tcPr marL="54864" marR="54864" marT="27432" marB="27432">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The page Marketing Account Officer sees after sign-in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03.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0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Every group of the menu open (part 1 of 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5.png"/>
          <p:cNvPicPr>
            <a:picLocks noChangeAspect="1"/>
          </p:cNvPicPr>
          <p:nvPr/>
        </p:nvPicPr>
        <p:blipFill>
          <a:blip r:embed="rId3"/>
          <a:stretch>
            <a:fillRect/>
          </a:stretch>
        </p:blipFill>
        <p:spPr>
          <a:xfrm>
            <a:off x="2174786" y="1261872"/>
            <a:ext cx="2461641" cy="4602575"/>
          </a:xfrm>
          <a:prstGeom prst="rect">
            <a:avLst/>
          </a:prstGeom>
          <a:ln w="9525">
            <a:solidFill>
              <a:srgbClr val="C2C2C1"/>
            </a:solidFill>
          </a:ln>
        </p:spPr>
      </p:pic>
      <p:pic>
        <p:nvPicPr>
          <p:cNvPr id="11" name="Picture 10" descr="slice-00006.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07.png"/>
          <p:cNvPicPr>
            <a:picLocks noChangeAspect="1"/>
          </p:cNvPicPr>
          <p:nvPr/>
        </p:nvPicPr>
        <p:blipFill>
          <a:blip r:embed="rId5"/>
          <a:stretch>
            <a:fillRect/>
          </a:stretch>
        </p:blipFill>
        <p:spPr>
          <a:xfrm>
            <a:off x="7555268" y="1261872"/>
            <a:ext cx="2461641" cy="2101929"/>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NAV-PM-01 Every group of the menu open (part 2 of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Account Officer: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18135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The page Marketing TL / TH / UH sees after sign-in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08.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0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0.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11.png"/>
          <p:cNvPicPr>
            <a:picLocks noChangeAspect="1"/>
          </p:cNvPicPr>
          <p:nvPr/>
        </p:nvPicPr>
        <p:blipFill>
          <a:blip r:embed="rId6"/>
          <a:stretch>
            <a:fillRect/>
          </a:stretch>
        </p:blipFill>
        <p:spPr>
          <a:xfrm>
            <a:off x="8900388" y="1261872"/>
            <a:ext cx="2461641" cy="468058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Every group of the menu open (part 1 of 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TL / TH / UH: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2.png"/>
          <p:cNvPicPr>
            <a:picLocks noChangeAspect="1"/>
          </p:cNvPicPr>
          <p:nvPr/>
        </p:nvPicPr>
        <p:blipFill>
          <a:blip r:embed="rId3"/>
          <a:stretch>
            <a:fillRect/>
          </a:stretch>
        </p:blipFill>
        <p:spPr>
          <a:xfrm>
            <a:off x="829665" y="1261872"/>
            <a:ext cx="2461641" cy="4667583"/>
          </a:xfrm>
          <a:prstGeom prst="rect">
            <a:avLst/>
          </a:prstGeom>
          <a:ln w="9525">
            <a:solidFill>
              <a:srgbClr val="C2C2C1"/>
            </a:solidFill>
          </a:ln>
        </p:spPr>
      </p:pic>
      <p:pic>
        <p:nvPicPr>
          <p:cNvPr id="11" name="Picture 10" descr="slice-00013.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4.png"/>
          <p:cNvPicPr>
            <a:picLocks noChangeAspect="1"/>
          </p:cNvPicPr>
          <p:nvPr/>
        </p:nvPicPr>
        <p:blipFill>
          <a:blip r:embed="rId5"/>
          <a:stretch>
            <a:fillRect/>
          </a:stretch>
        </p:blipFill>
        <p:spPr>
          <a:xfrm>
            <a:off x="6210147" y="1261872"/>
            <a:ext cx="2461641" cy="4572238"/>
          </a:xfrm>
          <a:prstGeom prst="rect">
            <a:avLst/>
          </a:prstGeom>
          <a:ln w="9525">
            <a:solidFill>
              <a:srgbClr val="C2C2C1"/>
            </a:solidFill>
          </a:ln>
        </p:spPr>
      </p:pic>
      <p:pic>
        <p:nvPicPr>
          <p:cNvPr id="13" name="Picture 12" descr="slice-00015.png"/>
          <p:cNvPicPr>
            <a:picLocks noChangeAspect="1"/>
          </p:cNvPicPr>
          <p:nvPr/>
        </p:nvPicPr>
        <p:blipFill>
          <a:blip r:embed="rId6"/>
          <a:stretch>
            <a:fillRect/>
          </a:stretch>
        </p:blipFill>
        <p:spPr>
          <a:xfrm>
            <a:off x="8900388" y="1261872"/>
            <a:ext cx="2461641" cy="237062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NAV-PM-02 Every group of the menu open (part 2 of 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Marketing TL / TH / UH: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Premium Calculator</a:t>
                      </a:r>
                    </a:p>
                  </a:txBody>
                  <a:tcPr marL="54864" marR="54864" marT="27432" marB="27432">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NAV-PM-03 The page TSU Officer sees after sign-in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Officer: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6.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7.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8.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9.png"/>
          <p:cNvPicPr>
            <a:picLocks noChangeAspect="1"/>
          </p:cNvPicPr>
          <p:nvPr/>
        </p:nvPicPr>
        <p:blipFill>
          <a:blip r:embed="rId6"/>
          <a:stretch>
            <a:fillRect/>
          </a:stretch>
        </p:blipFill>
        <p:spPr>
          <a:xfrm>
            <a:off x="8900388" y="1261872"/>
            <a:ext cx="2461641" cy="209759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NAV-PM-03 Every group of the menu open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TSU Officer: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NAV-PM-04 The page TSU Team Lead sees after sign-in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Team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0.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2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2.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3.png"/>
          <p:cNvPicPr>
            <a:picLocks noChangeAspect="1"/>
          </p:cNvPicPr>
          <p:nvPr/>
        </p:nvPicPr>
        <p:blipFill>
          <a:blip r:embed="rId6"/>
          <a:stretch>
            <a:fillRect/>
          </a:stretch>
        </p:blipFill>
        <p:spPr>
          <a:xfrm>
            <a:off x="8900388" y="1261872"/>
            <a:ext cx="2461641" cy="244430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NAV-PM-04 Every group of the menu open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TSU Team Lead: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graphicFrame>
        <p:nvGraphicFramePr>
          <p:cNvPr id="9" name="Table 8"/>
          <p:cNvGraphicFramePr>
            <a:graphicFrameLocks noGrp="1"/>
          </p:cNvGraphicFramePr>
          <p:nvPr/>
        </p:nvGraphicFramePr>
        <p:xfrm>
          <a:off x="548640" y="1325880"/>
          <a:ext cx="11094414" cy="207264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NAV-PM-05 The page TSU Head sees after sign-in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4.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25.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26.png"/>
          <p:cNvPicPr>
            <a:picLocks noChangeAspect="1"/>
          </p:cNvPicPr>
          <p:nvPr/>
        </p:nvPicPr>
        <p:blipFill>
          <a:blip r:embed="rId5"/>
          <a:stretch>
            <a:fillRect/>
          </a:stretch>
        </p:blipFill>
        <p:spPr>
          <a:xfrm>
            <a:off x="7555268" y="1261872"/>
            <a:ext cx="2461641" cy="936117"/>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NAV-PM-05 Every group of the menu open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TSU Head: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TSU Workbench</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Expiry</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Validation Queue</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The page Marketing Business Services sees after sign-in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7.png"/>
          <p:cNvPicPr>
            <a:picLocks noChangeAspect="1"/>
          </p:cNvPicPr>
          <p:nvPr/>
        </p:nvPicPr>
        <p:blipFill>
          <a:blip r:embed="rId3"/>
          <a:stretch>
            <a:fillRect/>
          </a:stretch>
        </p:blipFill>
        <p:spPr>
          <a:xfrm>
            <a:off x="829665" y="1261872"/>
            <a:ext cx="2461641" cy="4723923"/>
          </a:xfrm>
          <a:prstGeom prst="rect">
            <a:avLst/>
          </a:prstGeom>
          <a:ln w="9525">
            <a:solidFill>
              <a:srgbClr val="C2C2C1"/>
            </a:solidFill>
          </a:ln>
        </p:spPr>
      </p:pic>
      <p:pic>
        <p:nvPicPr>
          <p:cNvPr id="11" name="Picture 10" descr="slice-0002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29.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0.png"/>
          <p:cNvPicPr>
            <a:picLocks noChangeAspect="1"/>
          </p:cNvPicPr>
          <p:nvPr/>
        </p:nvPicPr>
        <p:blipFill>
          <a:blip r:embed="rId6"/>
          <a:stretch>
            <a:fillRect/>
          </a:stretch>
        </p:blipFill>
        <p:spPr>
          <a:xfrm>
            <a:off x="8900388" y="1261872"/>
            <a:ext cx="2461641" cy="465891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Every group of the menu open (part 1 of 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Business Services: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4865027" y="1261872"/>
            <a:ext cx="2461641" cy="33067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NAV-PM-06 Every group of the menu open (part 2 of 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Marketing Business Services: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Insurers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Rates &amp; Taxes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Sales Organisation</a:t>
                      </a:r>
                    </a:p>
                  </a:txBody>
                  <a:tcPr marL="54864" marR="54864" marT="27432" marB="27432">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ManCom member: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NAV-PM-07 The page ManCom member sees after sign-in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ManCom member: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2.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33.png"/>
          <p:cNvPicPr>
            <a:picLocks noChangeAspect="1"/>
          </p:cNvPicPr>
          <p:nvPr/>
        </p:nvPicPr>
        <p:blipFill>
          <a:blip r:embed="rId4"/>
          <a:stretch>
            <a:fillRect/>
          </a:stretch>
        </p:blipFill>
        <p:spPr>
          <a:xfrm>
            <a:off x="6210147" y="1261872"/>
            <a:ext cx="2461641" cy="428186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NAV-PM-07 Every group of the menu open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ManCom member: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325880"/>
          <a:ext cx="11094414" cy="15544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The page Business Administrator sees after sign-in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4.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5.png"/>
          <p:cNvPicPr>
            <a:picLocks noChangeAspect="1"/>
          </p:cNvPicPr>
          <p:nvPr/>
        </p:nvPicPr>
        <p:blipFill>
          <a:blip r:embed="rId4"/>
          <a:stretch>
            <a:fillRect/>
          </a:stretch>
        </p:blipFill>
        <p:spPr>
          <a:xfrm>
            <a:off x="3519906" y="1261872"/>
            <a:ext cx="2461641" cy="4650247"/>
          </a:xfrm>
          <a:prstGeom prst="rect">
            <a:avLst/>
          </a:prstGeom>
          <a:ln w="9525">
            <a:solidFill>
              <a:srgbClr val="C2C2C1"/>
            </a:solidFill>
          </a:ln>
        </p:spPr>
      </p:pic>
      <p:pic>
        <p:nvPicPr>
          <p:cNvPr id="12" name="Picture 11" descr="slice-00036.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7.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Every group of the menu open (part 1 of 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Administrator: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8.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39.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40.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1.png"/>
          <p:cNvPicPr>
            <a:picLocks noChangeAspect="1"/>
          </p:cNvPicPr>
          <p:nvPr/>
        </p:nvPicPr>
        <p:blipFill>
          <a:blip r:embed="rId6"/>
          <a:stretch>
            <a:fillRect/>
          </a:stretch>
        </p:blipFill>
        <p:spPr>
          <a:xfrm>
            <a:off x="8900388" y="1261872"/>
            <a:ext cx="2461641" cy="4468225"/>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NAV-PM-08 Every group of the menu open (part 2 of 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Business Administrator: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Validation Queue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The page New Business Approver sees after sign-in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2.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43.png"/>
          <p:cNvPicPr>
            <a:picLocks noChangeAspect="1"/>
          </p:cNvPicPr>
          <p:nvPr/>
        </p:nvPicPr>
        <p:blipFill>
          <a:blip r:embed="rId4"/>
          <a:stretch>
            <a:fillRect/>
          </a:stretch>
        </p:blipFill>
        <p:spPr>
          <a:xfrm>
            <a:off x="3519906" y="1261872"/>
            <a:ext cx="2461641" cy="4498562"/>
          </a:xfrm>
          <a:prstGeom prst="rect">
            <a:avLst/>
          </a:prstGeom>
          <a:ln w="9525">
            <a:solidFill>
              <a:srgbClr val="C2C2C1"/>
            </a:solidFill>
          </a:ln>
        </p:spPr>
      </p:pic>
      <p:pic>
        <p:nvPicPr>
          <p:cNvPr id="12" name="Picture 11" descr="slice-00044.png"/>
          <p:cNvPicPr>
            <a:picLocks noChangeAspect="1"/>
          </p:cNvPicPr>
          <p:nvPr/>
        </p:nvPicPr>
        <p:blipFill>
          <a:blip r:embed="rId5"/>
          <a:stretch>
            <a:fillRect/>
          </a:stretch>
        </p:blipFill>
        <p:spPr>
          <a:xfrm>
            <a:off x="6210147" y="1261872"/>
            <a:ext cx="2461641" cy="4702254"/>
          </a:xfrm>
          <a:prstGeom prst="rect">
            <a:avLst/>
          </a:prstGeom>
          <a:ln w="9525">
            <a:solidFill>
              <a:srgbClr val="C2C2C1"/>
            </a:solidFill>
          </a:ln>
        </p:spPr>
      </p:pic>
      <p:pic>
        <p:nvPicPr>
          <p:cNvPr id="13" name="Picture 12" descr="slice-00045.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Every group of the menu open (part 1 of 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New Business Approver: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6.png"/>
          <p:cNvPicPr>
            <a:picLocks noChangeAspect="1"/>
          </p:cNvPicPr>
          <p:nvPr/>
        </p:nvPicPr>
        <p:blipFill>
          <a:blip r:embed="rId3"/>
          <a:stretch>
            <a:fillRect/>
          </a:stretch>
        </p:blipFill>
        <p:spPr>
          <a:xfrm>
            <a:off x="2174786" y="1261872"/>
            <a:ext cx="2461641" cy="4697920"/>
          </a:xfrm>
          <a:prstGeom prst="rect">
            <a:avLst/>
          </a:prstGeom>
          <a:ln w="9525">
            <a:solidFill>
              <a:srgbClr val="C2C2C1"/>
            </a:solidFill>
          </a:ln>
        </p:spPr>
      </p:pic>
      <p:pic>
        <p:nvPicPr>
          <p:cNvPr id="11" name="Picture 10" descr="slice-00047.png"/>
          <p:cNvPicPr>
            <a:picLocks noChangeAspect="1"/>
          </p:cNvPicPr>
          <p:nvPr/>
        </p:nvPicPr>
        <p:blipFill>
          <a:blip r:embed="rId4"/>
          <a:stretch>
            <a:fillRect/>
          </a:stretch>
        </p:blipFill>
        <p:spPr>
          <a:xfrm>
            <a:off x="4865027" y="1261872"/>
            <a:ext cx="2461641" cy="4732591"/>
          </a:xfrm>
          <a:prstGeom prst="rect">
            <a:avLst/>
          </a:prstGeom>
          <a:ln w="9525">
            <a:solidFill>
              <a:srgbClr val="C2C2C1"/>
            </a:solidFill>
          </a:ln>
        </p:spPr>
      </p:pic>
      <p:pic>
        <p:nvPicPr>
          <p:cNvPr id="12" name="Picture 11" descr="slice-00048.png"/>
          <p:cNvPicPr>
            <a:picLocks noChangeAspect="1"/>
          </p:cNvPicPr>
          <p:nvPr/>
        </p:nvPicPr>
        <p:blipFill>
          <a:blip r:embed="rId5"/>
          <a:stretch>
            <a:fillRect/>
          </a:stretch>
        </p:blipFill>
        <p:spPr>
          <a:xfrm>
            <a:off x="7555268" y="1261872"/>
            <a:ext cx="2461641" cy="2032587"/>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NAV-PM-09 Every group of the menu open (part 2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New Business Approver: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325880"/>
          <a:ext cx="11094414" cy="259080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Premium Calculator</a:t>
                      </a:r>
                    </a:p>
                  </a:txBody>
                  <a:tcPr marL="54864" marR="54864" marT="27432" marB="27432">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The page System Administrator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50.png"/>
          <p:cNvPicPr>
            <a:picLocks noChangeAspect="1"/>
          </p:cNvPicPr>
          <p:nvPr/>
        </p:nvPicPr>
        <p:blipFill>
          <a:blip r:embed="rId4"/>
          <a:stretch>
            <a:fillRect/>
          </a:stretch>
        </p:blipFill>
        <p:spPr>
          <a:xfrm>
            <a:off x="3519906" y="1261872"/>
            <a:ext cx="2461641" cy="4693586"/>
          </a:xfrm>
          <a:prstGeom prst="rect">
            <a:avLst/>
          </a:prstGeom>
          <a:ln w="9525">
            <a:solidFill>
              <a:srgbClr val="C2C2C1"/>
            </a:solidFill>
          </a:ln>
        </p:spPr>
      </p:pic>
      <p:pic>
        <p:nvPicPr>
          <p:cNvPr id="12" name="Picture 11" descr="slice-00051.png"/>
          <p:cNvPicPr>
            <a:picLocks noChangeAspect="1"/>
          </p:cNvPicPr>
          <p:nvPr/>
        </p:nvPicPr>
        <p:blipFill>
          <a:blip r:embed="rId5"/>
          <a:stretch>
            <a:fillRect/>
          </a:stretch>
        </p:blipFill>
        <p:spPr>
          <a:xfrm>
            <a:off x="6210147" y="1261872"/>
            <a:ext cx="2461641" cy="4593907"/>
          </a:xfrm>
          <a:prstGeom prst="rect">
            <a:avLst/>
          </a:prstGeom>
          <a:ln w="9525">
            <a:solidFill>
              <a:srgbClr val="C2C2C1"/>
            </a:solidFill>
          </a:ln>
        </p:spPr>
      </p:pic>
      <p:pic>
        <p:nvPicPr>
          <p:cNvPr id="13" name="Picture 12" descr="slice-0005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1 of 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3.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4.png"/>
          <p:cNvPicPr>
            <a:picLocks noChangeAspect="1"/>
          </p:cNvPicPr>
          <p:nvPr/>
        </p:nvPicPr>
        <p:blipFill>
          <a:blip r:embed="rId4"/>
          <a:stretch>
            <a:fillRect/>
          </a:stretch>
        </p:blipFill>
        <p:spPr>
          <a:xfrm>
            <a:off x="3519906" y="1261872"/>
            <a:ext cx="2461641" cy="4702254"/>
          </a:xfrm>
          <a:prstGeom prst="rect">
            <a:avLst/>
          </a:prstGeom>
          <a:ln w="9525">
            <a:solidFill>
              <a:srgbClr val="C2C2C1"/>
            </a:solidFill>
          </a:ln>
        </p:spPr>
      </p:pic>
      <p:pic>
        <p:nvPicPr>
          <p:cNvPr id="12" name="Picture 11" descr="slice-0005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56.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2 of 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System Administrator: menu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5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9.png"/>
          <p:cNvPicPr>
            <a:picLocks noChangeAspect="1"/>
          </p:cNvPicPr>
          <p:nvPr/>
        </p:nvPicPr>
        <p:blipFill>
          <a:blip r:embed="rId5"/>
          <a:stretch>
            <a:fillRect/>
          </a:stretch>
        </p:blipFill>
        <p:spPr>
          <a:xfrm>
            <a:off x="6210147" y="1261872"/>
            <a:ext cx="2461641" cy="4654581"/>
          </a:xfrm>
          <a:prstGeom prst="rect">
            <a:avLst/>
          </a:prstGeom>
          <a:ln w="9525">
            <a:solidFill>
              <a:srgbClr val="C2C2C1"/>
            </a:solidFill>
          </a:ln>
        </p:spPr>
      </p:pic>
      <p:pic>
        <p:nvPicPr>
          <p:cNvPr id="13" name="Picture 12" descr="slice-00060.png"/>
          <p:cNvPicPr>
            <a:picLocks noChangeAspect="1"/>
          </p:cNvPicPr>
          <p:nvPr/>
        </p:nvPicPr>
        <p:blipFill>
          <a:blip r:embed="rId6"/>
          <a:stretch>
            <a:fillRect/>
          </a:stretch>
        </p:blipFill>
        <p:spPr>
          <a:xfrm>
            <a:off x="8900388" y="1261872"/>
            <a:ext cx="2461641" cy="157319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NAV-PM-10 Every group of the menu open (part 3 of 3)</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System Administrator: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325880"/>
          <a:ext cx="11094414" cy="233172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Coverages &amp; Clauses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Incentive Criteria</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Insurers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Rates &amp; Taxes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Sales Organisation</a:t>
                      </a:r>
                    </a:p>
                  </a:txBody>
                  <a:tcPr marL="54864" marR="54864" marT="27432" marB="27432">
                    <a:solidFill>
                      <a:srgbClr val="E5F5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The page Auditor sees after sign-in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1.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6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63.png"/>
          <p:cNvPicPr>
            <a:picLocks noChangeAspect="1"/>
          </p:cNvPicPr>
          <p:nvPr/>
        </p:nvPicPr>
        <p:blipFill>
          <a:blip r:embed="rId5"/>
          <a:stretch>
            <a:fillRect/>
          </a:stretch>
        </p:blipFill>
        <p:spPr>
          <a:xfrm>
            <a:off x="6210147" y="1261872"/>
            <a:ext cx="2461641" cy="4637246"/>
          </a:xfrm>
          <a:prstGeom prst="rect">
            <a:avLst/>
          </a:prstGeom>
          <a:ln w="9525">
            <a:solidFill>
              <a:srgbClr val="C2C2C1"/>
            </a:solidFill>
          </a:ln>
        </p:spPr>
      </p:pic>
      <p:pic>
        <p:nvPicPr>
          <p:cNvPr id="13" name="Picture 12" descr="slice-0006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1 of 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5.png"/>
          <p:cNvPicPr>
            <a:picLocks noChangeAspect="1"/>
          </p:cNvPicPr>
          <p:nvPr/>
        </p:nvPicPr>
        <p:blipFill>
          <a:blip r:embed="rId3"/>
          <a:stretch>
            <a:fillRect/>
          </a:stretch>
        </p:blipFill>
        <p:spPr>
          <a:xfrm>
            <a:off x="829665" y="1261872"/>
            <a:ext cx="2461641" cy="4589573"/>
          </a:xfrm>
          <a:prstGeom prst="rect">
            <a:avLst/>
          </a:prstGeom>
          <a:ln w="9525">
            <a:solidFill>
              <a:srgbClr val="C2C2C1"/>
            </a:solidFill>
          </a:ln>
        </p:spPr>
      </p:pic>
      <p:pic>
        <p:nvPicPr>
          <p:cNvPr id="11" name="Picture 10" descr="slice-00066.png"/>
          <p:cNvPicPr>
            <a:picLocks noChangeAspect="1"/>
          </p:cNvPicPr>
          <p:nvPr/>
        </p:nvPicPr>
        <p:blipFill>
          <a:blip r:embed="rId4"/>
          <a:stretch>
            <a:fillRect/>
          </a:stretch>
        </p:blipFill>
        <p:spPr>
          <a:xfrm>
            <a:off x="3519906" y="1261872"/>
            <a:ext cx="2461641" cy="4676251"/>
          </a:xfrm>
          <a:prstGeom prst="rect">
            <a:avLst/>
          </a:prstGeom>
          <a:ln w="9525">
            <a:solidFill>
              <a:srgbClr val="C2C2C1"/>
            </a:solidFill>
          </a:ln>
        </p:spPr>
      </p:pic>
      <p:pic>
        <p:nvPicPr>
          <p:cNvPr id="12" name="Picture 11" descr="slice-0006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68.png"/>
          <p:cNvPicPr>
            <a:picLocks noChangeAspect="1"/>
          </p:cNvPicPr>
          <p:nvPr/>
        </p:nvPicPr>
        <p:blipFill>
          <a:blip r:embed="rId6"/>
          <a:stretch>
            <a:fillRect/>
          </a:stretch>
        </p:blipFill>
        <p:spPr>
          <a:xfrm>
            <a:off x="8900388" y="1261872"/>
            <a:ext cx="2461641" cy="4628578"/>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2 of 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69.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70.png"/>
          <p:cNvPicPr>
            <a:picLocks noChangeAspect="1"/>
          </p:cNvPicPr>
          <p:nvPr/>
        </p:nvPicPr>
        <p:blipFill>
          <a:blip r:embed="rId4"/>
          <a:stretch>
            <a:fillRect/>
          </a:stretch>
        </p:blipFill>
        <p:spPr>
          <a:xfrm>
            <a:off x="3519906" y="1261872"/>
            <a:ext cx="2461641" cy="4637246"/>
          </a:xfrm>
          <a:prstGeom prst="rect">
            <a:avLst/>
          </a:prstGeom>
          <a:ln w="9525">
            <a:solidFill>
              <a:srgbClr val="C2C2C1"/>
            </a:solidFill>
          </a:ln>
        </p:spPr>
      </p:pic>
      <p:pic>
        <p:nvPicPr>
          <p:cNvPr id="12" name="Picture 11" descr="slice-00071.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72.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3 of 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73.png"/>
          <p:cNvPicPr>
            <a:picLocks noChangeAspect="1"/>
          </p:cNvPicPr>
          <p:nvPr/>
        </p:nvPicPr>
        <p:blipFill>
          <a:blip r:embed="rId3"/>
          <a:stretch>
            <a:fillRect/>
          </a:stretch>
        </p:blipFill>
        <p:spPr>
          <a:xfrm>
            <a:off x="829665" y="1261872"/>
            <a:ext cx="2461641" cy="4706588"/>
          </a:xfrm>
          <a:prstGeom prst="rect">
            <a:avLst/>
          </a:prstGeom>
          <a:ln w="9525">
            <a:solidFill>
              <a:srgbClr val="C2C2C1"/>
            </a:solidFill>
          </a:ln>
        </p:spPr>
      </p:pic>
      <p:pic>
        <p:nvPicPr>
          <p:cNvPr id="11" name="Picture 10" descr="slice-00074.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75.png"/>
          <p:cNvPicPr>
            <a:picLocks noChangeAspect="1"/>
          </p:cNvPicPr>
          <p:nvPr/>
        </p:nvPicPr>
        <p:blipFill>
          <a:blip r:embed="rId5"/>
          <a:stretch>
            <a:fillRect/>
          </a:stretch>
        </p:blipFill>
        <p:spPr>
          <a:xfrm>
            <a:off x="6210147" y="1261872"/>
            <a:ext cx="2461641" cy="4697920"/>
          </a:xfrm>
          <a:prstGeom prst="rect">
            <a:avLst/>
          </a:prstGeom>
          <a:ln w="9525">
            <a:solidFill>
              <a:srgbClr val="C2C2C1"/>
            </a:solidFill>
          </a:ln>
        </p:spPr>
      </p:pic>
      <p:pic>
        <p:nvPicPr>
          <p:cNvPr id="13" name="Picture 12" descr="slice-00076.png"/>
          <p:cNvPicPr>
            <a:picLocks noChangeAspect="1"/>
          </p:cNvPicPr>
          <p:nvPr/>
        </p:nvPicPr>
        <p:blipFill>
          <a:blip r:embed="rId6"/>
          <a:stretch>
            <a:fillRect/>
          </a:stretch>
        </p:blipFill>
        <p:spPr>
          <a:xfrm>
            <a:off x="8900388" y="1261872"/>
            <a:ext cx="2461641" cy="365345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NAV-PM-11 Every group of the menu open (part 4 of 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Auditor: menu entries of Product Maintenance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Product Maintenance Home</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Package Requests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Package Expiry</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Products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Coverages &amp; Clauses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Incentive Criteria</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Insurers</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Rates &amp; Taxes</a:t>
                      </a:r>
                    </a:p>
                  </a:txBody>
                  <a:tcPr marL="54864" marR="54864" marT="27432" marB="27432">
                    <a:solidFill>
                      <a:srgbClr val="E5F5FF"/>
                    </a:solidFill>
                  </a:tcPr>
                </a:tc>
              </a:tr>
              <a:tr h="259080">
                <a:tc>
                  <a:txBody>
                    <a:bodyPr/>
                    <a:lstStyle/>
                    <a:p>
                      <a:r>
                        <a:rPr sz="1100" b="0">
                          <a:solidFill>
                            <a:srgbClr val="4B4B4B"/>
                          </a:solidFill>
                          <a:latin typeface="Arial"/>
                        </a:rPr>
                        <a:t>Client &amp; Policy</a:t>
                      </a:r>
                    </a:p>
                  </a:txBody>
                  <a:tcPr marL="54864" marR="54864" marT="27432" marB="27432">
                    <a:solidFill>
                      <a:srgbClr val="FFFFFF"/>
                    </a:solidFill>
                  </a:tcPr>
                </a:tc>
                <a:tc>
                  <a:txBody>
                    <a:bodyPr/>
                    <a:lstStyle/>
                    <a:p>
                      <a:r>
                        <a:rPr sz="1100" b="0">
                          <a:solidFill>
                            <a:srgbClr val="4B4B4B"/>
                          </a:solidFill>
                          <a:latin typeface="Arial"/>
                        </a:rPr>
                        <a:t>Product Maintenance</a:t>
                      </a:r>
                    </a:p>
                  </a:txBody>
                  <a:tcPr marL="54864" marR="54864" marT="27432" marB="27432">
                    <a:solidFill>
                      <a:srgbClr val="FFFFFF"/>
                    </a:solidFill>
                  </a:tcPr>
                </a:tc>
                <a:tc>
                  <a:txBody>
                    <a:bodyPr/>
                    <a:lstStyle/>
                    <a:p>
                      <a:r>
                        <a:rPr sz="1100" b="0">
                          <a:solidFill>
                            <a:srgbClr val="4B4B4B"/>
                          </a:solidFill>
                          <a:latin typeface="Arial"/>
                        </a:rPr>
                        <a:t>Sales Organisation</a:t>
                      </a:r>
                    </a:p>
                  </a:txBody>
                  <a:tcPr marL="54864" marR="54864" marT="27432" marB="27432">
                    <a:solidFill>
                      <a:srgbClr val="FFFFFF"/>
                    </a:solidFill>
                  </a:tcPr>
                </a:tc>
              </a:tr>
              <a:tr h="259080">
                <a:tc>
                  <a:txBody>
                    <a:bodyPr/>
                    <a:lstStyle/>
                    <a:p>
                      <a:r>
                        <a:rPr sz="1100" b="0">
                          <a:solidFill>
                            <a:srgbClr val="4B4B4B"/>
                          </a:solidFill>
                          <a:latin typeface="Arial"/>
                        </a:rPr>
                        <a:t>Client &amp; Policy</a:t>
                      </a:r>
                    </a:p>
                  </a:txBody>
                  <a:tcPr marL="54864" marR="54864" marT="27432" marB="27432">
                    <a:solidFill>
                      <a:srgbClr val="E5F5FF"/>
                    </a:solidFill>
                  </a:tcPr>
                </a:tc>
                <a:tc>
                  <a:txBody>
                    <a:bodyPr/>
                    <a:lstStyle/>
                    <a:p>
                      <a:r>
                        <a:rPr sz="1100" b="0">
                          <a:solidFill>
                            <a:srgbClr val="4B4B4B"/>
                          </a:solidFill>
                          <a:latin typeface="Arial"/>
                        </a:rPr>
                        <a:t>Product Maintenance</a:t>
                      </a:r>
                    </a:p>
                  </a:txBody>
                  <a:tcPr marL="54864" marR="54864" marT="27432" marB="27432">
                    <a:solidFill>
                      <a:srgbClr val="E5F5FF"/>
                    </a:solidFill>
                  </a:tcPr>
                </a:tc>
                <a:tc>
                  <a:txBody>
                    <a:bodyPr/>
                    <a:lstStyle/>
                    <a:p>
                      <a:r>
                        <a:rPr sz="1100" b="0">
                          <a:solidFill>
                            <a:srgbClr val="4B4B4B"/>
                          </a:solidFill>
                          <a:latin typeface="Arial"/>
                        </a:rPr>
                        <a:t>Premium Calculator</a:t>
                      </a:r>
                    </a:p>
                  </a:txBody>
                  <a:tcPr marL="54864" marR="54864" marT="27432" marB="27432">
                    <a:solidFill>
                      <a:srgbClr val="E5F5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account officer of Retail, Corporate or Combank / Corbank Marketing who serves the clients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Creates and submits package requests; views packages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3, 21, 22, 24; WT-B steps 1, 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TL / TH / UH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team lead, team head or unit head of Marketing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package requests; reviews terms of client-specific packages; views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4; WT-B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officer of the Technical Support Unit who negotiates with the insurers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Creates requests; prepares quotation slips; keys in insurer responses; prepares requirements and advisories; monitors expiry</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7, 9, 10, 11, 13, 20; WT-B steps 6, 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SCR-PM-03 New Package Request and Edit Package Request</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SCR-PM-09 TSU Workbench</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a TSU team</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and recommends requests; approves quotation slips (or a co-officer); negotiates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5, 8; WT-B steps 4,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SCR-PM-01 Product Maintenance Home</a:t>
            </a:r>
          </a:p>
          <a:p>
            <a:pPr>
              <a:spcAft>
                <a:spcPts val="600"/>
              </a:spcAft>
            </a:pPr>
            <a:r>
              <a:rPr sz="1100">
                <a:solidFill>
                  <a:srgbClr val="004EA8"/>
                </a:solidFill>
                <a:latin typeface="Arial"/>
              </a:rPr>
              <a:t>•  </a:t>
            </a:r>
            <a:r>
              <a:rPr sz="1100">
                <a:solidFill>
                  <a:srgbClr val="4B4B4B"/>
                </a:solidFill>
                <a:latin typeface="Arial"/>
              </a:rPr>
              <a:t>SCR-PM-02 Package Requests</a:t>
            </a:r>
          </a:p>
          <a:p>
            <a:pPr>
              <a:spcAft>
                <a:spcPts val="600"/>
              </a:spcAft>
            </a:pPr>
            <a:r>
              <a:rPr sz="1100">
                <a:solidFill>
                  <a:srgbClr val="004EA8"/>
                </a:solidFill>
                <a:latin typeface="Arial"/>
              </a:rPr>
              <a:t>•  </a:t>
            </a:r>
            <a:r>
              <a:rPr sz="1100">
                <a:solidFill>
                  <a:srgbClr val="4B4B4B"/>
                </a:solidFill>
                <a:latin typeface="Arial"/>
              </a:rPr>
              <a:t>SCR-PM-04 Package Request record</a:t>
            </a:r>
          </a:p>
          <a:p>
            <a:pPr>
              <a:spcAft>
                <a:spcPts val="600"/>
              </a:spcAft>
            </a:pPr>
            <a:r>
              <a:rPr sz="1100">
                <a:solidFill>
                  <a:srgbClr val="004EA8"/>
                </a:solidFill>
                <a:latin typeface="Arial"/>
              </a:rPr>
              <a:t>•  </a:t>
            </a:r>
            <a:r>
              <a:rPr sz="1100">
                <a:solidFill>
                  <a:srgbClr val="4B4B4B"/>
                </a:solidFill>
                <a:latin typeface="Arial"/>
              </a:rPr>
              <a:t>SCR-PM-05 Package Request record: Negotiation tab</a:t>
            </a:r>
          </a:p>
          <a:p>
            <a:pPr>
              <a:spcAft>
                <a:spcPts val="600"/>
              </a:spcAft>
            </a:pPr>
            <a:r>
              <a:rPr sz="1100">
                <a:solidFill>
                  <a:srgbClr val="004EA8"/>
                </a:solidFill>
                <a:latin typeface="Arial"/>
              </a:rPr>
              <a:t>•  </a:t>
            </a:r>
            <a:r>
              <a:rPr sz="1100">
                <a:solidFill>
                  <a:srgbClr val="4B4B4B"/>
                </a:solidFill>
                <a:latin typeface="Arial"/>
              </a:rPr>
              <a:t>SCR-PM-06 Package Request record: Comparative tab</a:t>
            </a:r>
          </a:p>
          <a:p>
            <a:pPr>
              <a:spcAft>
                <a:spcPts val="600"/>
              </a:spcAft>
            </a:pPr>
            <a:r>
              <a:rPr sz="1100">
                <a:solidFill>
                  <a:srgbClr val="004EA8"/>
                </a:solidFill>
                <a:latin typeface="Arial"/>
              </a:rPr>
              <a:t>•  </a:t>
            </a:r>
            <a:r>
              <a:rPr sz="1100">
                <a:solidFill>
                  <a:srgbClr val="4B4B4B"/>
                </a:solidFill>
                <a:latin typeface="Arial"/>
              </a:rPr>
              <a:t>SCR-PM-07 Package Request record: Requirements &amp; Sign-off tab</a:t>
            </a:r>
          </a:p>
          <a:p>
            <a:pPr>
              <a:spcAft>
                <a:spcPts val="600"/>
              </a:spcAft>
            </a:pPr>
            <a:r>
              <a:rPr sz="1100">
                <a:solidFill>
                  <a:srgbClr val="004EA8"/>
                </a:solidFill>
                <a:latin typeface="Arial"/>
              </a:rPr>
              <a:t>•  </a:t>
            </a:r>
            <a:r>
              <a:rPr sz="1100">
                <a:solidFill>
                  <a:srgbClr val="4B4B4B"/>
                </a:solidFill>
                <a:latin typeface="Arial"/>
              </a:rPr>
              <a:t>SCR-PM-08 Package Request record: Set-up and Advisories tabs</a:t>
            </a:r>
          </a:p>
          <a:p>
            <a:pPr>
              <a:spcAft>
                <a:spcPts val="600"/>
              </a:spcAft>
            </a:pPr>
            <a:r>
              <a:rPr sz="1100">
                <a:solidFill>
                  <a:srgbClr val="004EA8"/>
                </a:solidFill>
                <a:latin typeface="Arial"/>
              </a:rPr>
              <a:t>•  </a:t>
            </a:r>
            <a:r>
              <a:rPr sz="1100">
                <a:solidFill>
                  <a:srgbClr val="4B4B4B"/>
                </a:solidFill>
                <a:latin typeface="Arial"/>
              </a:rPr>
              <a:t>SCR-PM-09 TSU Workbench</a:t>
            </a:r>
          </a:p>
          <a:p>
            <a:pPr>
              <a:spcAft>
                <a:spcPts val="600"/>
              </a:spcAft>
            </a:pPr>
            <a:r>
              <a:rPr sz="1100">
                <a:solidFill>
                  <a:srgbClr val="004EA8"/>
                </a:solidFill>
                <a:latin typeface="Arial"/>
              </a:rPr>
              <a:t>•  </a:t>
            </a:r>
            <a:r>
              <a:rPr sz="1100">
                <a:solidFill>
                  <a:srgbClr val="4B4B4B"/>
                </a:solidFill>
                <a:latin typeface="Arial"/>
              </a:rPr>
              <a:t>SCR-PM-10 Package Expiry</a:t>
            </a:r>
          </a:p>
          <a:p>
            <a:pPr>
              <a:spcAft>
                <a:spcPts val="600"/>
              </a:spcAft>
            </a:pPr>
            <a:r>
              <a:rPr sz="1100">
                <a:solidFill>
                  <a:srgbClr val="004EA8"/>
                </a:solidFill>
                <a:latin typeface="Arial"/>
              </a:rPr>
              <a:t>•  </a:t>
            </a:r>
            <a:r>
              <a:rPr sz="1100">
                <a:solidFill>
                  <a:srgbClr val="4B4B4B"/>
                </a:solidFill>
                <a:latin typeface="Arial"/>
              </a:rPr>
              <a:t>SCR-PM-11 Products</a:t>
            </a:r>
          </a:p>
          <a:p>
            <a:pPr>
              <a:spcAft>
                <a:spcPts val="600"/>
              </a:spcAft>
            </a:pPr>
            <a:r>
              <a:rPr sz="1100">
                <a:solidFill>
                  <a:srgbClr val="004EA8"/>
                </a:solidFill>
                <a:latin typeface="Arial"/>
              </a:rPr>
              <a:t>•  </a:t>
            </a:r>
            <a:r>
              <a:rPr sz="1100">
                <a:solidFill>
                  <a:srgbClr val="4B4B4B"/>
                </a:solidFill>
                <a:latin typeface="Arial"/>
              </a:rPr>
              <a:t>SCR-PM-12 Product record</a:t>
            </a:r>
          </a:p>
          <a:p>
            <a:pPr>
              <a:spcAft>
                <a:spcPts val="600"/>
              </a:spcAft>
            </a:pPr>
            <a:r>
              <a:rPr sz="1100">
                <a:solidFill>
                  <a:srgbClr val="004EA8"/>
                </a:solidFill>
                <a:latin typeface="Arial"/>
              </a:rPr>
              <a:t>•  </a:t>
            </a:r>
            <a:r>
              <a:rPr sz="1100">
                <a:solidFill>
                  <a:srgbClr val="4B4B4B"/>
                </a:solidFill>
                <a:latin typeface="Arial"/>
              </a:rPr>
              <a:t>SCR-PM-13 Package Version</a:t>
            </a:r>
          </a:p>
          <a:p>
            <a:pPr>
              <a:spcAft>
                <a:spcPts val="600"/>
              </a:spcAft>
            </a:pPr>
            <a:r>
              <a:rPr sz="1100">
                <a:solidFill>
                  <a:srgbClr val="004EA8"/>
                </a:solidFill>
                <a:latin typeface="Arial"/>
              </a:rPr>
              <a:t>•  </a:t>
            </a:r>
            <a:r>
              <a:rPr sz="1100">
                <a:solidFill>
                  <a:srgbClr val="4B4B4B"/>
                </a:solidFill>
                <a:latin typeface="Arial"/>
              </a:rPr>
              <a:t>SCR-PM-15 Coverages &amp; Clauses</a:t>
            </a:r>
          </a:p>
          <a:p>
            <a:pPr>
              <a:spcAft>
                <a:spcPts val="600"/>
              </a:spcAft>
            </a:pPr>
            <a:r>
              <a:rPr sz="1100">
                <a:solidFill>
                  <a:srgbClr val="004EA8"/>
                </a:solidFill>
                <a:latin typeface="Arial"/>
              </a:rPr>
              <a:t>•  </a:t>
            </a:r>
            <a:r>
              <a:rPr sz="1100">
                <a:solidFill>
                  <a:srgbClr val="4B4B4B"/>
                </a:solidFill>
                <a:latin typeface="Arial"/>
              </a:rPr>
              <a:t>SCR-PM-16 Incentive Criteria</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TSU Head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head or head of the Technical Support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requests; releases terms to Marketing; validates package versions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6, 12, 17; WT-B steps 11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SCR-PM-09 TSU Workbench</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SCR-PM-14 Validation Queue</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Business Services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Marketing Business Services who keeps the product catalogue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Sets up package versions; maintains incentive criteria and product masters; views archived packages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 15, 16; WT-B steps 9, 10, 12</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(17)</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ManCom member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management committee</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Signs off package requirements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14; WT-B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SCR-PM-01 Product Maintenance Home</a:t>
            </a:r>
          </a:p>
          <a:p>
            <a:pPr>
              <a:spcAft>
                <a:spcPts val="600"/>
              </a:spcAft>
            </a:pPr>
            <a:r>
              <a:rPr sz="1100">
                <a:solidFill>
                  <a:srgbClr val="004EA8"/>
                </a:solidFill>
                <a:latin typeface="Arial"/>
              </a:rPr>
              <a:t>•  </a:t>
            </a:r>
            <a:r>
              <a:rPr sz="1100">
                <a:solidFill>
                  <a:srgbClr val="4B4B4B"/>
                </a:solidFill>
                <a:latin typeface="Arial"/>
              </a:rPr>
              <a:t>SCR-PM-02 Package Requests</a:t>
            </a:r>
          </a:p>
          <a:p>
            <a:pPr>
              <a:spcAft>
                <a:spcPts val="600"/>
              </a:spcAft>
            </a:pPr>
            <a:r>
              <a:rPr sz="1100">
                <a:solidFill>
                  <a:srgbClr val="004EA8"/>
                </a:solidFill>
                <a:latin typeface="Arial"/>
              </a:rPr>
              <a:t>•  </a:t>
            </a:r>
            <a:r>
              <a:rPr sz="1100">
                <a:solidFill>
                  <a:srgbClr val="4B4B4B"/>
                </a:solidFill>
                <a:latin typeface="Arial"/>
              </a:rPr>
              <a:t>SCR-PM-04 Package Request record</a:t>
            </a:r>
          </a:p>
          <a:p>
            <a:pPr>
              <a:spcAft>
                <a:spcPts val="600"/>
              </a:spcAft>
            </a:pPr>
            <a:r>
              <a:rPr sz="1100">
                <a:solidFill>
                  <a:srgbClr val="004EA8"/>
                </a:solidFill>
                <a:latin typeface="Arial"/>
              </a:rPr>
              <a:t>•  </a:t>
            </a:r>
            <a:r>
              <a:rPr sz="1100">
                <a:solidFill>
                  <a:srgbClr val="4B4B4B"/>
                </a:solidFill>
                <a:latin typeface="Arial"/>
              </a:rPr>
              <a:t>SCR-PM-05 Package Request record: Negotiation tab</a:t>
            </a:r>
          </a:p>
          <a:p>
            <a:pPr>
              <a:spcAft>
                <a:spcPts val="600"/>
              </a:spcAft>
            </a:pPr>
            <a:r>
              <a:rPr sz="1100">
                <a:solidFill>
                  <a:srgbClr val="004EA8"/>
                </a:solidFill>
                <a:latin typeface="Arial"/>
              </a:rPr>
              <a:t>•  </a:t>
            </a:r>
            <a:r>
              <a:rPr sz="1100">
                <a:solidFill>
                  <a:srgbClr val="4B4B4B"/>
                </a:solidFill>
                <a:latin typeface="Arial"/>
              </a:rPr>
              <a:t>SCR-PM-06 Package Request record: Comparative tab</a:t>
            </a:r>
          </a:p>
          <a:p>
            <a:pPr>
              <a:spcAft>
                <a:spcPts val="600"/>
              </a:spcAft>
            </a:pPr>
            <a:r>
              <a:rPr sz="1100">
                <a:solidFill>
                  <a:srgbClr val="004EA8"/>
                </a:solidFill>
                <a:latin typeface="Arial"/>
              </a:rPr>
              <a:t>•  </a:t>
            </a:r>
            <a:r>
              <a:rPr sz="1100">
                <a:solidFill>
                  <a:srgbClr val="4B4B4B"/>
                </a:solidFill>
                <a:latin typeface="Arial"/>
              </a:rPr>
              <a:t>SCR-PM-07 Package Request record: Requirements &amp; Sign-off tab</a:t>
            </a:r>
          </a:p>
          <a:p>
            <a:pPr>
              <a:spcAft>
                <a:spcPts val="600"/>
              </a:spcAft>
            </a:pPr>
            <a:r>
              <a:rPr sz="1100">
                <a:solidFill>
                  <a:srgbClr val="004EA8"/>
                </a:solidFill>
                <a:latin typeface="Arial"/>
              </a:rPr>
              <a:t>•  </a:t>
            </a:r>
            <a:r>
              <a:rPr sz="1100">
                <a:solidFill>
                  <a:srgbClr val="4B4B4B"/>
                </a:solidFill>
                <a:latin typeface="Arial"/>
              </a:rPr>
              <a:t>SCR-PM-08 Package Request record: Set-up and Advisories tabs</a:t>
            </a:r>
          </a:p>
          <a:p>
            <a:pPr>
              <a:spcAft>
                <a:spcPts val="600"/>
              </a:spcAft>
            </a:pPr>
            <a:r>
              <a:rPr sz="1100">
                <a:solidFill>
                  <a:srgbClr val="004EA8"/>
                </a:solidFill>
                <a:latin typeface="Arial"/>
              </a:rPr>
              <a:t>•  </a:t>
            </a:r>
            <a:r>
              <a:rPr sz="1100">
                <a:solidFill>
                  <a:srgbClr val="4B4B4B"/>
                </a:solidFill>
                <a:latin typeface="Arial"/>
              </a:rPr>
              <a:t>SCR-PM-11 Products</a:t>
            </a:r>
          </a:p>
          <a:p>
            <a:pPr>
              <a:spcAft>
                <a:spcPts val="600"/>
              </a:spcAft>
            </a:pPr>
            <a:r>
              <a:rPr sz="1100">
                <a:solidFill>
                  <a:srgbClr val="004EA8"/>
                </a:solidFill>
                <a:latin typeface="Arial"/>
              </a:rPr>
              <a:t>•  </a:t>
            </a:r>
            <a:r>
              <a:rPr sz="1100">
                <a:solidFill>
                  <a:srgbClr val="4B4B4B"/>
                </a:solidFill>
                <a:latin typeface="Arial"/>
              </a:rPr>
              <a:t>SCR-PM-12 Product record</a:t>
            </a:r>
          </a:p>
          <a:p>
            <a:pPr>
              <a:spcAft>
                <a:spcPts val="600"/>
              </a:spcAft>
            </a:pPr>
            <a:r>
              <a:rPr sz="1100">
                <a:solidFill>
                  <a:srgbClr val="004EA8"/>
                </a:solidFill>
                <a:latin typeface="Arial"/>
              </a:rPr>
              <a:t>•  </a:t>
            </a:r>
            <a:r>
              <a:rPr sz="1100">
                <a:solidFill>
                  <a:srgbClr val="4B4B4B"/>
                </a:solidFill>
                <a:latin typeface="Arial"/>
              </a:rPr>
              <a:t>SCR-PM-13 Package Version</a:t>
            </a:r>
          </a:p>
          <a:p>
            <a:pPr>
              <a:spcAft>
                <a:spcPts val="600"/>
              </a:spcAft>
            </a:pPr>
            <a:r>
              <a:rPr sz="1100">
                <a:solidFill>
                  <a:srgbClr val="004EA8"/>
                </a:solidFill>
                <a:latin typeface="Arial"/>
              </a:rPr>
              <a:t>•  </a:t>
            </a:r>
            <a:r>
              <a:rPr sz="1100">
                <a:solidFill>
                  <a:srgbClr val="4B4B4B"/>
                </a:solidFill>
                <a:latin typeface="Arial"/>
              </a:rPr>
              <a:t>SCR-PM-15 Coverages &amp; Clauses</a:t>
            </a:r>
          </a:p>
          <a:p>
            <a:pPr>
              <a:spcAft>
                <a:spcPts val="600"/>
              </a:spcAft>
            </a:pPr>
            <a:r>
              <a:rPr sz="1100">
                <a:solidFill>
                  <a:srgbClr val="004EA8"/>
                </a:solidFill>
                <a:latin typeface="Arial"/>
              </a:rPr>
              <a:t>•  </a:t>
            </a:r>
            <a:r>
              <a:rPr sz="1100">
                <a:solidFill>
                  <a:srgbClr val="4B4B4B"/>
                </a:solidFill>
                <a:latin typeface="Arial"/>
              </a:rPr>
              <a:t>SCR-PM-16 Incentive Criteria</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Business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business administrator of the catalogue, outside the maker's unit</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Validates package versions; authorises product masters, incentive criteria and rate exceptions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2, 18</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SCR-PM-14 Validation Queue</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New Business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New Business approver of Marketing</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rejects the rate exceptions of the quotations; authorises commission rates as the second user</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WT-A steps 19, 23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(18)</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System Administrator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system administrator of BIBS (BDOI IT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Maintains parameters, lists of values and roles (section 9); read access to Product Maintenance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(16)</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internal or external auditor with read access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Read access to packages, archive and reports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NAV-PM-11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(19)</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900">
                <a:solidFill>
                  <a:srgbClr val="004EA8"/>
                </a:solidFill>
                <a:latin typeface="Arial"/>
              </a:rPr>
              <a:t>•  </a:t>
            </a:r>
            <a:r>
              <a:rPr sz="900">
                <a:solidFill>
                  <a:srgbClr val="4B4B4B"/>
                </a:solidFill>
                <a:latin typeface="Arial"/>
              </a:rPr>
              <a:t>SCR-PM-01 Product Maintenance Home</a:t>
            </a:r>
          </a:p>
          <a:p>
            <a:pPr>
              <a:spcAft>
                <a:spcPts val="600"/>
              </a:spcAft>
            </a:pPr>
            <a:r>
              <a:rPr sz="900">
                <a:solidFill>
                  <a:srgbClr val="004EA8"/>
                </a:solidFill>
                <a:latin typeface="Arial"/>
              </a:rPr>
              <a:t>•  </a:t>
            </a:r>
            <a:r>
              <a:rPr sz="900">
                <a:solidFill>
                  <a:srgbClr val="4B4B4B"/>
                </a:solidFill>
                <a:latin typeface="Arial"/>
              </a:rPr>
              <a:t>SCR-PM-02 Package Requests</a:t>
            </a:r>
          </a:p>
          <a:p>
            <a:pPr>
              <a:spcAft>
                <a:spcPts val="600"/>
              </a:spcAft>
            </a:pPr>
            <a:r>
              <a:rPr sz="900">
                <a:solidFill>
                  <a:srgbClr val="004EA8"/>
                </a:solidFill>
                <a:latin typeface="Arial"/>
              </a:rPr>
              <a:t>•  </a:t>
            </a:r>
            <a:r>
              <a:rPr sz="900">
                <a:solidFill>
                  <a:srgbClr val="4B4B4B"/>
                </a:solidFill>
                <a:latin typeface="Arial"/>
              </a:rPr>
              <a:t>SCR-PM-04 Package Request record</a:t>
            </a:r>
          </a:p>
          <a:p>
            <a:pPr>
              <a:spcAft>
                <a:spcPts val="600"/>
              </a:spcAft>
            </a:pPr>
            <a:r>
              <a:rPr sz="900">
                <a:solidFill>
                  <a:srgbClr val="004EA8"/>
                </a:solidFill>
                <a:latin typeface="Arial"/>
              </a:rPr>
              <a:t>•  </a:t>
            </a:r>
            <a:r>
              <a:rPr sz="900">
                <a:solidFill>
                  <a:srgbClr val="4B4B4B"/>
                </a:solidFill>
                <a:latin typeface="Arial"/>
              </a:rPr>
              <a:t>SCR-PM-05 Package Request record: Negotiation tab</a:t>
            </a:r>
          </a:p>
          <a:p>
            <a:pPr>
              <a:spcAft>
                <a:spcPts val="600"/>
              </a:spcAft>
            </a:pPr>
            <a:r>
              <a:rPr sz="900">
                <a:solidFill>
                  <a:srgbClr val="004EA8"/>
                </a:solidFill>
                <a:latin typeface="Arial"/>
              </a:rPr>
              <a:t>•  </a:t>
            </a:r>
            <a:r>
              <a:rPr sz="900">
                <a:solidFill>
                  <a:srgbClr val="4B4B4B"/>
                </a:solidFill>
                <a:latin typeface="Arial"/>
              </a:rPr>
              <a:t>SCR-PM-06 Package Request record: Comparative tab</a:t>
            </a:r>
          </a:p>
          <a:p>
            <a:pPr>
              <a:spcAft>
                <a:spcPts val="600"/>
              </a:spcAft>
            </a:pPr>
            <a:r>
              <a:rPr sz="900">
                <a:solidFill>
                  <a:srgbClr val="004EA8"/>
                </a:solidFill>
                <a:latin typeface="Arial"/>
              </a:rPr>
              <a:t>•  </a:t>
            </a:r>
            <a:r>
              <a:rPr sz="900">
                <a:solidFill>
                  <a:srgbClr val="4B4B4B"/>
                </a:solidFill>
                <a:latin typeface="Arial"/>
              </a:rPr>
              <a:t>SCR-PM-07 Package Request record: Requirements &amp; Sign-off tab</a:t>
            </a:r>
          </a:p>
          <a:p>
            <a:pPr>
              <a:spcAft>
                <a:spcPts val="600"/>
              </a:spcAft>
            </a:pPr>
            <a:r>
              <a:rPr sz="900">
                <a:solidFill>
                  <a:srgbClr val="004EA8"/>
                </a:solidFill>
                <a:latin typeface="Arial"/>
              </a:rPr>
              <a:t>•  </a:t>
            </a:r>
            <a:r>
              <a:rPr sz="900">
                <a:solidFill>
                  <a:srgbClr val="4B4B4B"/>
                </a:solidFill>
                <a:latin typeface="Arial"/>
              </a:rPr>
              <a:t>SCR-PM-08 Package Request record: Set-up and Advisories tabs</a:t>
            </a:r>
          </a:p>
          <a:p>
            <a:pPr>
              <a:spcAft>
                <a:spcPts val="600"/>
              </a:spcAft>
            </a:pPr>
            <a:r>
              <a:rPr sz="900">
                <a:solidFill>
                  <a:srgbClr val="004EA8"/>
                </a:solidFill>
                <a:latin typeface="Arial"/>
              </a:rPr>
              <a:t>•  </a:t>
            </a:r>
            <a:r>
              <a:rPr sz="900">
                <a:solidFill>
                  <a:srgbClr val="4B4B4B"/>
                </a:solidFill>
                <a:latin typeface="Arial"/>
              </a:rPr>
              <a:t>SCR-PM-10 Package Expiry</a:t>
            </a:r>
          </a:p>
          <a:p>
            <a:pPr>
              <a:spcAft>
                <a:spcPts val="600"/>
              </a:spcAft>
            </a:pPr>
            <a:r>
              <a:rPr sz="900">
                <a:solidFill>
                  <a:srgbClr val="004EA8"/>
                </a:solidFill>
                <a:latin typeface="Arial"/>
              </a:rPr>
              <a:t>•  </a:t>
            </a:r>
            <a:r>
              <a:rPr sz="900">
                <a:solidFill>
                  <a:srgbClr val="4B4B4B"/>
                </a:solidFill>
                <a:latin typeface="Arial"/>
              </a:rPr>
              <a:t>SCR-PM-11 Products</a:t>
            </a:r>
          </a:p>
          <a:p>
            <a:pPr>
              <a:spcAft>
                <a:spcPts val="600"/>
              </a:spcAft>
            </a:pPr>
            <a:r>
              <a:rPr sz="900">
                <a:solidFill>
                  <a:srgbClr val="004EA8"/>
                </a:solidFill>
                <a:latin typeface="Arial"/>
              </a:rPr>
              <a:t>•  </a:t>
            </a:r>
            <a:r>
              <a:rPr sz="900">
                <a:solidFill>
                  <a:srgbClr val="4B4B4B"/>
                </a:solidFill>
                <a:latin typeface="Arial"/>
              </a:rPr>
              <a:t>SCR-PM-12 Product record</a:t>
            </a:r>
          </a:p>
          <a:p>
            <a:pPr>
              <a:spcAft>
                <a:spcPts val="600"/>
              </a:spcAft>
            </a:pPr>
            <a:r>
              <a:rPr sz="900">
                <a:solidFill>
                  <a:srgbClr val="004EA8"/>
                </a:solidFill>
                <a:latin typeface="Arial"/>
              </a:rPr>
              <a:t>•  </a:t>
            </a:r>
            <a:r>
              <a:rPr sz="900">
                <a:solidFill>
                  <a:srgbClr val="4B4B4B"/>
                </a:solidFill>
                <a:latin typeface="Arial"/>
              </a:rPr>
              <a:t>SCR-PM-13 Package Version</a:t>
            </a:r>
          </a:p>
          <a:p>
            <a:pPr>
              <a:spcAft>
                <a:spcPts val="600"/>
              </a:spcAft>
            </a:pPr>
            <a:r>
              <a:rPr sz="900">
                <a:solidFill>
                  <a:srgbClr val="004EA8"/>
                </a:solidFill>
                <a:latin typeface="Arial"/>
              </a:rPr>
              <a:t>•  </a:t>
            </a:r>
            <a:r>
              <a:rPr sz="900">
                <a:solidFill>
                  <a:srgbClr val="4B4B4B"/>
                </a:solidFill>
                <a:latin typeface="Arial"/>
              </a:rPr>
              <a:t>SCR-PM-15 Coverages &amp; Clauses</a:t>
            </a:r>
          </a:p>
          <a:p>
            <a:pPr>
              <a:spcAft>
                <a:spcPts val="600"/>
              </a:spcAft>
            </a:pPr>
            <a:r>
              <a:rPr sz="900">
                <a:solidFill>
                  <a:srgbClr val="004EA8"/>
                </a:solidFill>
                <a:latin typeface="Arial"/>
              </a:rPr>
              <a:t>•  </a:t>
            </a:r>
            <a:r>
              <a:rPr sz="900">
                <a:solidFill>
                  <a:srgbClr val="4B4B4B"/>
                </a:solidFill>
                <a:latin typeface="Arial"/>
              </a:rPr>
              <a:t>SCR-PM-16 Incentive Criteria</a:t>
            </a:r>
          </a:p>
          <a:p>
            <a:pPr>
              <a:spcAft>
                <a:spcPts val="600"/>
              </a:spcAft>
            </a:pPr>
            <a:r>
              <a:rPr sz="900">
                <a:solidFill>
                  <a:srgbClr val="004EA8"/>
                </a:solidFill>
                <a:latin typeface="Arial"/>
              </a:rPr>
              <a:t>•  </a:t>
            </a:r>
            <a:r>
              <a:rPr sz="900">
                <a:solidFill>
                  <a:srgbClr val="4B4B4B"/>
                </a:solidFill>
                <a:latin typeface="Arial"/>
              </a:rPr>
              <a:t>SCR-PM-17 Insurers</a:t>
            </a:r>
          </a:p>
          <a:p>
            <a:pPr>
              <a:spcAft>
                <a:spcPts val="600"/>
              </a:spcAft>
            </a:pPr>
            <a:r>
              <a:rPr sz="900">
                <a:solidFill>
                  <a:srgbClr val="004EA8"/>
                </a:solidFill>
                <a:latin typeface="Arial"/>
              </a:rPr>
              <a:t>•  </a:t>
            </a:r>
            <a:r>
              <a:rPr sz="900">
                <a:solidFill>
                  <a:srgbClr val="4B4B4B"/>
                </a:solidFill>
                <a:latin typeface="Arial"/>
              </a:rPr>
              <a:t>SCR-PM-18 Insurer record</a:t>
            </a:r>
          </a:p>
          <a:p>
            <a:pPr>
              <a:spcAft>
                <a:spcPts val="600"/>
              </a:spcAft>
            </a:pPr>
            <a:r>
              <a:rPr sz="900">
                <a:solidFill>
                  <a:srgbClr val="004EA8"/>
                </a:solidFill>
                <a:latin typeface="Arial"/>
              </a:rPr>
              <a:t>•  </a:t>
            </a:r>
            <a:r>
              <a:rPr sz="900">
                <a:solidFill>
                  <a:srgbClr val="4B4B4B"/>
                </a:solidFill>
                <a:latin typeface="Arial"/>
              </a:rPr>
              <a:t>SCR-PM-19 Rates &amp; Taxes</a:t>
            </a:r>
          </a:p>
          <a:p>
            <a:pPr>
              <a:spcAft>
                <a:spcPts val="600"/>
              </a:spcAft>
            </a:pPr>
            <a:r>
              <a:rPr sz="900">
                <a:solidFill>
                  <a:srgbClr val="004EA8"/>
                </a:solidFill>
                <a:latin typeface="Arial"/>
              </a:rPr>
              <a:t>•  </a:t>
            </a:r>
            <a:r>
              <a:rPr sz="900">
                <a:solidFill>
                  <a:srgbClr val="4B4B4B"/>
                </a:solidFill>
                <a:latin typeface="Arial"/>
              </a:rPr>
              <a:t>SCR-PM-20 Sales Organisation</a:t>
            </a:r>
          </a:p>
          <a:p>
            <a:pPr>
              <a:spcAft>
                <a:spcPts val="600"/>
              </a:spcAft>
            </a:pPr>
            <a:r>
              <a:rPr sz="900">
                <a:solidFill>
                  <a:srgbClr val="004EA8"/>
                </a:solidFill>
                <a:latin typeface="Arial"/>
              </a:rPr>
              <a:t>•  </a:t>
            </a:r>
            <a:r>
              <a:rPr sz="900">
                <a:solidFill>
                  <a:srgbClr val="4B4B4B"/>
                </a:solidFill>
                <a:latin typeface="Arial"/>
              </a:rPr>
              <a:t>SCR-PM-21 Premium Calculator</a:t>
            </a:r>
          </a:p>
          <a:p>
            <a:pPr>
              <a:spcAft>
                <a:spcPts val="600"/>
              </a:spcAft>
            </a:pPr>
            <a:r>
              <a:rPr sz="900">
                <a:solidFill>
                  <a:srgbClr val="004EA8"/>
                </a:solidFill>
                <a:latin typeface="Arial"/>
              </a:rPr>
              <a:t>•  </a:t>
            </a:r>
            <a:r>
              <a:rPr sz="900">
                <a:solidFill>
                  <a:srgbClr val="4B4B4B"/>
                </a:solidFill>
                <a:latin typeface="Arial"/>
              </a:rPr>
              <a:t>SCR-PM-22 Quotation: package rate scheme and rate exception</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A new package from the request to its first New Business quotation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07592"/>
          <a:ext cx="11094415" cy="3291825"/>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WT-A A new package from the request to its first New Business quotation</a:t>
                      </a:r>
                    </a:p>
                  </a:txBody>
                  <a:tcPr marL="54864" marR="54864" marT="27432" marB="27432">
                    <a:solidFill>
                      <a:srgbClr val="FFFFFF"/>
                    </a:solidFill>
                  </a:tcPr>
                </a:tc>
              </a:tr>
              <a:tr h="1554472">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Marketing asks for a new generic motor package for SME fleets. MBS first adds a clause wording to the library, which the Business Administrator authorises. The request is approved by Marketing, recommended and approved by TSU, negotiated with two insurers and made final; the requirements pack with the signed package slip is signed off by ManCom. MBS sets up version 1 with its rate scheme, coverages, panel insurers and clauses; the TSU Head validates and releases it, the Business Administrator adds the insurer's commission rate for the new product and the New Business Approver authorises it. TSU sends the advisory. Marketing then prices the package and quotes it; a quotation with a different item rate needs a rate exception, which the New Business Approver opens from My Approvals and approves on its record, so the quotation can be submitted. The package documents use the templates of the Document Templates screen (New Business set, SCR-NB-44).</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new request Motor Fleet Plus (fictitious), line Motor, cover type Comprehensive, insurers Mabuhay General Insurance Corp. and Luzon Assurance Co., new risk code MTR30, client Garcia (seed client)</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Business Services, Business Administrator, Marketing Account Officer, Marketing TL / TH / UH, TSU Team Lead, TSU Head, TSU Officer, ManCom member, New Business Approver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24 steps, 19 hand-offs, 9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14.1</a:t>
                      </a:r>
                    </a:p>
                  </a:txBody>
                  <a:tcPr marL="54864" marR="54864" marT="27432" marB="27432">
                    <a:solidFill>
                      <a:srgbClr val="FFFFFF"/>
                    </a:solidFill>
                  </a:tcPr>
                </a:tc>
              </a:tr>
            </a:tbl>
          </a:graphicData>
        </a:graphic>
      </p:graphicFrame>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Rectangle 8"/>
          <p:cNvSpPr/>
          <p:nvPr/>
        </p:nvSpPr>
        <p:spPr>
          <a:xfrm>
            <a:off x="548640" y="130759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629629"/>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11" name="Rectangle 10"/>
          <p:cNvSpPr/>
          <p:nvPr/>
        </p:nvSpPr>
        <p:spPr>
          <a:xfrm>
            <a:off x="2331720" y="130759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7379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1973797"/>
            <a:ext cx="1691640" cy="629629"/>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197379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4000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2640002"/>
            <a:ext cx="1691640" cy="629629"/>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7" name="Rectangle 16"/>
          <p:cNvSpPr/>
          <p:nvPr/>
        </p:nvSpPr>
        <p:spPr>
          <a:xfrm>
            <a:off x="2331720" y="264000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30620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306207"/>
            <a:ext cx="1691640" cy="629629"/>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20" name="Rectangle 19"/>
          <p:cNvSpPr/>
          <p:nvPr/>
        </p:nvSpPr>
        <p:spPr>
          <a:xfrm>
            <a:off x="2331720" y="330620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97241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3972412"/>
            <a:ext cx="1691640" cy="629629"/>
          </a:xfrm>
          <a:prstGeom prst="rect">
            <a:avLst/>
          </a:prstGeom>
          <a:noFill/>
        </p:spPr>
        <p:txBody>
          <a:bodyPr wrap="square" anchor="ctr" lIns="45720" rIns="45720">
            <a:spAutoFit/>
          </a:bodyPr>
          <a:lstStyle/>
          <a:p>
            <a:r>
              <a:rPr sz="1000" b="1" i="0">
                <a:solidFill>
                  <a:srgbClr val="FFFFFF"/>
                </a:solidFill>
                <a:latin typeface="Arial"/>
              </a:rPr>
              <a:t>TSU Team Lead</a:t>
            </a:r>
          </a:p>
        </p:txBody>
      </p:sp>
      <p:sp>
        <p:nvSpPr>
          <p:cNvPr id="23" name="Rectangle 22"/>
          <p:cNvSpPr/>
          <p:nvPr/>
        </p:nvSpPr>
        <p:spPr>
          <a:xfrm>
            <a:off x="2331720" y="397241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48640" y="4638617"/>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638617"/>
            <a:ext cx="1691640" cy="629629"/>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26" name="Rectangle 25"/>
          <p:cNvSpPr/>
          <p:nvPr/>
        </p:nvSpPr>
        <p:spPr>
          <a:xfrm>
            <a:off x="2331720" y="4638617"/>
            <a:ext cx="9311335" cy="629629"/>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5304822"/>
            <a:ext cx="1783080" cy="629629"/>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94360" y="5304822"/>
            <a:ext cx="1691640" cy="629629"/>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9" name="Rectangle 28"/>
          <p:cNvSpPr/>
          <p:nvPr/>
        </p:nvSpPr>
        <p:spPr>
          <a:xfrm>
            <a:off x="2331720" y="5304822"/>
            <a:ext cx="9311335" cy="629629"/>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32304" y="139903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Coverages &amp; Clauses</a:t>
            </a:r>
          </a:p>
        </p:txBody>
      </p:sp>
      <p:sp>
        <p:nvSpPr>
          <p:cNvPr id="31" name="Rounded Rectangle 30"/>
          <p:cNvSpPr/>
          <p:nvPr/>
        </p:nvSpPr>
        <p:spPr>
          <a:xfrm>
            <a:off x="3596220" y="206523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Coverages &amp; Clauses</a:t>
            </a:r>
          </a:p>
        </p:txBody>
      </p:sp>
      <p:sp>
        <p:nvSpPr>
          <p:cNvPr id="32" name="Rounded Rectangle 31"/>
          <p:cNvSpPr/>
          <p:nvPr/>
        </p:nvSpPr>
        <p:spPr>
          <a:xfrm>
            <a:off x="3900600" y="197379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3" name="Rounded Rectangle 32"/>
          <p:cNvSpPr/>
          <p:nvPr/>
        </p:nvSpPr>
        <p:spPr>
          <a:xfrm>
            <a:off x="4760136" y="273144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New Package Request and Edit Package Request</a:t>
            </a:r>
          </a:p>
        </p:txBody>
      </p:sp>
      <p:sp>
        <p:nvSpPr>
          <p:cNvPr id="34" name="Rounded Rectangle 33"/>
          <p:cNvSpPr/>
          <p:nvPr/>
        </p:nvSpPr>
        <p:spPr>
          <a:xfrm>
            <a:off x="5924052" y="339764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Package Request record</a:t>
            </a:r>
          </a:p>
        </p:txBody>
      </p:sp>
      <p:sp>
        <p:nvSpPr>
          <p:cNvPr id="35" name="Rounded Rectangle 34"/>
          <p:cNvSpPr/>
          <p:nvPr/>
        </p:nvSpPr>
        <p:spPr>
          <a:xfrm>
            <a:off x="6228432" y="330620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6" name="Rounded Rectangle 35"/>
          <p:cNvSpPr/>
          <p:nvPr/>
        </p:nvSpPr>
        <p:spPr>
          <a:xfrm>
            <a:off x="7087968" y="4063852"/>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Package Request record</a:t>
            </a:r>
          </a:p>
        </p:txBody>
      </p:sp>
      <p:sp>
        <p:nvSpPr>
          <p:cNvPr id="37" name="Rounded Rectangle 36"/>
          <p:cNvSpPr/>
          <p:nvPr/>
        </p:nvSpPr>
        <p:spPr>
          <a:xfrm>
            <a:off x="7392348" y="39724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8" name="Rounded Rectangle 37"/>
          <p:cNvSpPr/>
          <p:nvPr/>
        </p:nvSpPr>
        <p:spPr>
          <a:xfrm>
            <a:off x="8251884" y="4730057"/>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Package Request record</a:t>
            </a:r>
          </a:p>
        </p:txBody>
      </p:sp>
      <p:sp>
        <p:nvSpPr>
          <p:cNvPr id="39" name="Rounded Rectangle 38"/>
          <p:cNvSpPr/>
          <p:nvPr/>
        </p:nvSpPr>
        <p:spPr>
          <a:xfrm>
            <a:off x="8556264" y="4638617"/>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40" name="Rounded Rectangle 39"/>
          <p:cNvSpPr/>
          <p:nvPr/>
        </p:nvSpPr>
        <p:spPr>
          <a:xfrm>
            <a:off x="9415800" y="5396262"/>
            <a:ext cx="962748" cy="483325"/>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Package Request record: Negotiation tab</a:t>
            </a:r>
          </a:p>
        </p:txBody>
      </p:sp>
      <p:sp>
        <p:nvSpPr>
          <p:cNvPr id="41" name="Rounded Rectangle 40"/>
          <p:cNvSpPr/>
          <p:nvPr/>
        </p:nvSpPr>
        <p:spPr>
          <a:xfrm>
            <a:off x="10579716" y="4063852"/>
            <a:ext cx="962748" cy="483325"/>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Package Request record: Negotiation tab</a:t>
            </a:r>
          </a:p>
        </p:txBody>
      </p:sp>
      <p:sp>
        <p:nvSpPr>
          <p:cNvPr id="42" name="Rounded Rectangle 41"/>
          <p:cNvSpPr/>
          <p:nvPr/>
        </p:nvSpPr>
        <p:spPr>
          <a:xfrm>
            <a:off x="10884096" y="39724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43" name="Connector 42"/>
          <p:cNvCxnSpPr/>
          <p:nvPr/>
        </p:nvCxnSpPr>
        <p:spPr>
          <a:xfrm>
            <a:off x="3395052" y="164069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558968" y="230689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722884" y="297310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886800" y="363930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8050716" y="4305514"/>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214632" y="4971719"/>
            <a:ext cx="201168" cy="666205"/>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0378548" y="4305514"/>
            <a:ext cx="201168" cy="133241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ManCom member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Package Request record: Negotiation tab</a:t>
            </a:r>
          </a:p>
        </p:txBody>
      </p:sp>
      <p:sp>
        <p:nvSpPr>
          <p:cNvPr id="22" name="Rounded Rectangle 21"/>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Package Request record: Negotiation tab</a:t>
            </a:r>
          </a:p>
        </p:txBody>
      </p:sp>
      <p:sp>
        <p:nvSpPr>
          <p:cNvPr id="23" name="Rounded Rectangle 22"/>
          <p:cNvSpPr/>
          <p:nvPr/>
        </p:nvSpPr>
        <p:spPr>
          <a:xfrm>
            <a:off x="4760136"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Package Request record: Comparative tab</a:t>
            </a:r>
          </a:p>
        </p:txBody>
      </p:sp>
      <p:sp>
        <p:nvSpPr>
          <p:cNvPr id="24" name="Rounded Rectangle 23"/>
          <p:cNvSpPr/>
          <p:nvPr/>
        </p:nvSpPr>
        <p:spPr>
          <a:xfrm>
            <a:off x="5924052"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Package Request record</a:t>
            </a:r>
          </a:p>
        </p:txBody>
      </p:sp>
      <p:sp>
        <p:nvSpPr>
          <p:cNvPr id="25" name="Rounded Rectangle 24"/>
          <p:cNvSpPr/>
          <p:nvPr/>
        </p:nvSpPr>
        <p:spPr>
          <a:xfrm>
            <a:off x="7087968"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Package Request record: Requirements &amp; Sign-off tab</a:t>
            </a:r>
          </a:p>
        </p:txBody>
      </p:sp>
      <p:sp>
        <p:nvSpPr>
          <p:cNvPr id="26" name="Rounded Rectangle 25"/>
          <p:cNvSpPr/>
          <p:nvPr/>
        </p:nvSpPr>
        <p:spPr>
          <a:xfrm>
            <a:off x="8251884"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Package Request record: Requirements &amp; Sign-off tab</a:t>
            </a:r>
          </a:p>
        </p:txBody>
      </p:sp>
      <p:sp>
        <p:nvSpPr>
          <p:cNvPr id="27" name="Rounded Rectangle 26"/>
          <p:cNvSpPr/>
          <p:nvPr/>
        </p:nvSpPr>
        <p:spPr>
          <a:xfrm>
            <a:off x="8556264"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9415800"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15. </a:t>
            </a:r>
            <a:r>
              <a:rPr sz="800">
                <a:solidFill>
                  <a:srgbClr val="2E2E2E"/>
                </a:solidFill>
                <a:latin typeface="Arial"/>
              </a:rPr>
              <a:t>Package Request record: Set-up and Advisories tabs</a:t>
            </a:r>
          </a:p>
        </p:txBody>
      </p:sp>
      <p:sp>
        <p:nvSpPr>
          <p:cNvPr id="29" name="Rounded Rectangle 28"/>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16. </a:t>
            </a:r>
            <a:r>
              <a:rPr sz="800">
                <a:solidFill>
                  <a:srgbClr val="2E2E2E"/>
                </a:solidFill>
                <a:latin typeface="Arial"/>
              </a:rPr>
              <a:t>Package Version</a:t>
            </a:r>
          </a:p>
        </p:txBody>
      </p:sp>
      <p:cxnSp>
        <p:nvCxnSpPr>
          <p:cNvPr id="30" name="Connector 29"/>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58968"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72288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886800"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050716" y="174193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21463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378548"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swimlane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Business Administrator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New Business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17. </a:t>
            </a:r>
            <a:r>
              <a:rPr sz="800">
                <a:solidFill>
                  <a:srgbClr val="2E2E2E"/>
                </a:solidFill>
                <a:latin typeface="Arial"/>
              </a:rPr>
              <a:t>Package Version</a:t>
            </a:r>
          </a:p>
        </p:txBody>
      </p:sp>
      <p:sp>
        <p:nvSpPr>
          <p:cNvPr id="25" name="Rounded Rectangle 24"/>
          <p:cNvSpPr/>
          <p:nvPr/>
        </p:nvSpPr>
        <p:spPr>
          <a:xfrm>
            <a:off x="2736684" y="130759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6" name="Rounded Rectangle 25"/>
          <p:cNvSpPr/>
          <p:nvPr/>
        </p:nvSpPr>
        <p:spPr>
          <a:xfrm>
            <a:off x="3596220" y="226771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18. </a:t>
            </a:r>
            <a:r>
              <a:rPr sz="800">
                <a:solidFill>
                  <a:srgbClr val="2E2E2E"/>
                </a:solidFill>
                <a:latin typeface="Arial"/>
              </a:rPr>
              <a:t>Insurer record</a:t>
            </a:r>
          </a:p>
        </p:txBody>
      </p:sp>
      <p:sp>
        <p:nvSpPr>
          <p:cNvPr id="27" name="Rounded Rectangle 26"/>
          <p:cNvSpPr/>
          <p:nvPr/>
        </p:nvSpPr>
        <p:spPr>
          <a:xfrm>
            <a:off x="4760136"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19. </a:t>
            </a:r>
            <a:r>
              <a:rPr sz="800">
                <a:solidFill>
                  <a:srgbClr val="2E2E2E"/>
                </a:solidFill>
                <a:latin typeface="Arial"/>
              </a:rPr>
              <a:t>Insurer record</a:t>
            </a:r>
          </a:p>
        </p:txBody>
      </p:sp>
      <p:sp>
        <p:nvSpPr>
          <p:cNvPr id="28" name="Rounded Rectangle 27"/>
          <p:cNvSpPr/>
          <p:nvPr/>
        </p:nvSpPr>
        <p:spPr>
          <a:xfrm>
            <a:off x="5064516"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9" name="Rounded Rectangle 28"/>
          <p:cNvSpPr/>
          <p:nvPr/>
        </p:nvSpPr>
        <p:spPr>
          <a:xfrm>
            <a:off x="5924052"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20. </a:t>
            </a:r>
            <a:r>
              <a:rPr sz="800">
                <a:solidFill>
                  <a:srgbClr val="2E2E2E"/>
                </a:solidFill>
                <a:latin typeface="Arial"/>
              </a:rPr>
              <a:t>Package Request record: Set-up and Advisories tabs</a:t>
            </a:r>
          </a:p>
        </p:txBody>
      </p:sp>
      <p:sp>
        <p:nvSpPr>
          <p:cNvPr id="30" name="Rounded Rectangle 29"/>
          <p:cNvSpPr/>
          <p:nvPr/>
        </p:nvSpPr>
        <p:spPr>
          <a:xfrm>
            <a:off x="7087968"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21. </a:t>
            </a:r>
            <a:r>
              <a:rPr sz="800">
                <a:solidFill>
                  <a:srgbClr val="2E2E2E"/>
                </a:solidFill>
                <a:latin typeface="Arial"/>
              </a:rPr>
              <a:t>Premium Calculator</a:t>
            </a:r>
          </a:p>
        </p:txBody>
      </p:sp>
      <p:sp>
        <p:nvSpPr>
          <p:cNvPr id="31" name="Rounded Rectangle 30"/>
          <p:cNvSpPr/>
          <p:nvPr/>
        </p:nvSpPr>
        <p:spPr>
          <a:xfrm>
            <a:off x="8251884"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22. </a:t>
            </a:r>
            <a:r>
              <a:rPr sz="800">
                <a:solidFill>
                  <a:srgbClr val="2E2E2E"/>
                </a:solidFill>
                <a:latin typeface="Arial"/>
              </a:rPr>
              <a:t>Quotation: package rate scheme and rate exception</a:t>
            </a:r>
          </a:p>
        </p:txBody>
      </p:sp>
      <p:sp>
        <p:nvSpPr>
          <p:cNvPr id="32" name="Rounded Rectangle 31"/>
          <p:cNvSpPr/>
          <p:nvPr/>
        </p:nvSpPr>
        <p:spPr>
          <a:xfrm>
            <a:off x="9415800"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23. </a:t>
            </a:r>
            <a:r>
              <a:rPr sz="800">
                <a:solidFill>
                  <a:srgbClr val="2E2E2E"/>
                </a:solidFill>
                <a:latin typeface="Arial"/>
              </a:rPr>
              <a:t>Quotation: package rate scheme and rate exception</a:t>
            </a:r>
          </a:p>
        </p:txBody>
      </p:sp>
      <p:sp>
        <p:nvSpPr>
          <p:cNvPr id="33" name="Rounded Rectangle 32"/>
          <p:cNvSpPr/>
          <p:nvPr/>
        </p:nvSpPr>
        <p:spPr>
          <a:xfrm>
            <a:off x="9720180"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4" name="Rounded Rectangle 33"/>
          <p:cNvSpPr/>
          <p:nvPr/>
        </p:nvSpPr>
        <p:spPr>
          <a:xfrm>
            <a:off x="10579716"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24. </a:t>
            </a:r>
            <a:r>
              <a:rPr sz="800">
                <a:solidFill>
                  <a:srgbClr val="2E2E2E"/>
                </a:solidFill>
                <a:latin typeface="Arial"/>
              </a:rPr>
              <a:t>Quotation: package rate scheme and rate exception</a:t>
            </a:r>
          </a:p>
        </p:txBody>
      </p:sp>
      <p:cxnSp>
        <p:nvCxnSpPr>
          <p:cNvPr id="35" name="Connector 34"/>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22884"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86800"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50716" y="521665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9214632" y="347929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378548" y="347929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 of 24: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01.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Business Services: Opens Coverages &amp; Clauses › Clause Library, clicks New Clause, enters the code FLEET_REPAIR, kind, line Motor, title, effective date and wording, and clicks Save for Authorization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Clause pending authorisation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Clause FLEET_REPAIR saved – pending authorization; the row shows Pending Authorization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Business Administrator on Coverages &amp; Clauses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 of 24: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2.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the Clause Library and clicks Authorize on FLEET_REPAIR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Clause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FLEET_REPAIR authorized; the status is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Account Officer on New Package Request and Edit Package Request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3 of 24: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800" b="0" i="0">
                <a:solidFill>
                  <a:srgbClr val="2E2E2E"/>
                </a:solidFill>
                <a:latin typeface="Arial"/>
              </a:rPr>
              <a:t>Marketing Account Officer: 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Marketing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PKR-yyyy-nnnnnn submitted for Marketing approval; the request opens in For Marketing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Marketing TL / TH / UH on Package Request record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4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Opens the request from the For Approval tab and clicks Approve and send to TSU</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TSU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For TSU review; the history lists the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TSU Team Lead on Package Request record</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5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Clicks Recommend for approval, writes the recommendation and clicks Recommend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TSU Head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TSU recommendation shows on the Details tab; the stage becomes For TSU Head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TSU Head on Package Request record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6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0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Reads the recommendation and clicks Approve for negotiation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Insurer negotiation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Insurer negotiation; round 1 is opened with the two target insurers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TSU Officer on Package Request record: Negotiation tab</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7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Negotiation tab, adds a note to the insurers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Slip for approval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PQS-yyyy-nnnnnn submitted for approval; round 1 shows For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TSU Team Lead on Package Request record: Negotiation tab</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8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Clicks Approve and Send on round 1</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Slip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PQS-yyyy-nnnnnn sent to 2 insurer(s); both responses show Pending; the E-mails tab lists the slip and password e-mails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TSU Officer on Package Request record: Negotiation tab</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9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Key In for each insurer, enters the outcome, rate, minimum premium and deductibles, attaches the insurer's reply and clicks Save Terms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Responses recorded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Terms of &lt;insurer&gt; saved; the responses show Approved with changes and Counter-proposal with their rates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TSU Officer on Package Request record: Negotiation tab</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10 of 24: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Terms final, ticks the offer of Mabuhay General Insurance Corp. and clicks Make Terms Final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Terms final</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Negotiated terms review; the chosen insurer shows in the header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TSU Officer on Package Request record: Comparative tab</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WT-A step 11 of 24: Package Request record: Comparative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SCR-PM-06</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Comparative tab</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Comparative master stored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round 1 comparison with the Lowest rate tag and the current audit master in Stored outputs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TSU Head on Package Request record</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12 of 24: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2.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Clicks Proceed to requirements (generic package)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Requirements preparation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TSU Officer on Package Request record: Requirements &amp; Sign-off tab</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13 of 24: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3.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TSU Officer: Enters the computation basis, clicks Save Requirements, downloads the Package Slip, uploads the signed slip on the Documents tab as Package slip (signed), and clicks Submit requirements for ManCom sign-off</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ManCom sign-off</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reads The requirements pack is complete.; the stage becomes For ManCom sign-off</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ManCom member on Package Request record: Requirements &amp; Sign-off tab</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14 of 24: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ManCom member: Reviews the proposed terms and clicks Sign off and send to MBS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off</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ManCom decisions lists MC-PKR-yyyy-nnnnnn Signed; the slips show Locked; the stage becomes With MBS for set-up</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15: Marketing Business Services on Package Request record: Set-up and Advisories tabs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15 of 24: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5.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Clicks Set up package version, enters the risk code MTR30 and the product name, and clicks Set Up Version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version 1</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set up; the Set-up tab shows MTR30 version 1; the stage becomes Package version for validation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16: Marketing Business Services on Package Version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16 of 24: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16.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Clicks Open Version Editor, adds the clause FLEET_REPAIR on the insurer terms, saves and clicks Submit for Validation</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 validation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submitted for validation; the version shows For validation</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17: TSU Head on Package Version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17 of 24: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719011"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1" name="Picture 10" descr="wt-a-1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Opens the version from the Validation Queue, ticks the five checklist items and clicks Validate and Release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Released</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1 released; the Validation card shows the result Passed, the validator, the date, the test premium and the checks with their figures</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18: Business Administrator on Insurer record</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18 of 24: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18.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Business Administrator: Opens Insurers › Mabuhay General Insurance Corp., clicks Add rate, chooses MTR30, 15% from today and clicks Save for Authorization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Commission rate pending</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Commission rate saved – pending authorization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19: New Business Approver on Insurer record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19 of 24: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wt-a-19.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New Business Approver: Opens the insurer and clicks Authorize on the new commission 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Commission rate active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for MTR30 shows Active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20: TSU Officer on Package Request record: Set-up and Advisories tabs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20 of 24: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the Advisories tab of the released request, checks that both supporting documents are Attached and clicks Send Advisory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Advisory sent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Advisory sent; the advisory shows Sent with the date; Marketing users receive the notice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21: Marketing Account Officer on Premium Calculator</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WT-A step 21 of 24: Premium Calculator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SCR-PM-21</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Premium Calculator, chooses MTR30 and Mabuhay General Insurance Corp., enters a vehicle value and clicks Calculate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Priced on version 1</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Priced on package version 1 (effective &lt;date&gt;, scheme rate 1.2%) with every charge and the commission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22: Marketing Account Officer on Quotation: package rate scheme and rate exception</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22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wt-a-22.png"/>
          <p:cNvPicPr>
            <a:picLocks noChangeAspect="1"/>
          </p:cNvPicPr>
          <p:nvPr/>
        </p:nvPicPr>
        <p:blipFill>
          <a:blip r:embed="rId3"/>
          <a:stretch>
            <a:fillRect/>
          </a:stretch>
        </p:blipFill>
        <p:spPr>
          <a:xfrm>
            <a:off x="548640" y="1261872"/>
            <a:ext cx="7665415" cy="296966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Marketing Account Officer: Creates a New Business quotation of MTR30 for the seed client with an item rate of 1.10%, opens it and clicks Request Rate Exception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Exception requested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scheme panel shows the exception pending approval</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23: New Business Approver on Quotation: package rate scheme and rate exception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23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3.png"/>
          <p:cNvPicPr>
            <a:picLocks noChangeAspect="1"/>
          </p:cNvPicPr>
          <p:nvPr/>
        </p:nvPicPr>
        <p:blipFill>
          <a:blip r:embed="rId3"/>
          <a:stretch>
            <a:fillRect/>
          </a:stretch>
        </p:blipFill>
        <p:spPr>
          <a:xfrm>
            <a:off x="1040563" y="1261872"/>
            <a:ext cx="668156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900" b="0" i="0">
                <a:solidFill>
                  <a:srgbClr val="2E2E2E"/>
                </a:solidFill>
                <a:latin typeface="Arial"/>
              </a:rPr>
              <a:t>New Business Approver: Opens My Approvals, clicks the rate exception of the quotation, compares the requested rate with the scheme in force on the exception record, clicks Approve, writes the comment and confirms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Exception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Rate exception RSE-yyyy-nnnnnn approved; the record shows Approved with the approver, the date and the comment; the Account Officer receives the notice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24: Marketing Account Officer on Quotation: package rate scheme and rate exception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WT-A step 24 of 24: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wt-a-24.png"/>
          <p:cNvPicPr>
            <a:picLocks noChangeAspect="1"/>
          </p:cNvPicPr>
          <p:nvPr/>
        </p:nvPicPr>
        <p:blipFill>
          <a:blip r:embed="rId3"/>
          <a:stretch>
            <a:fillRect/>
          </a:stretch>
        </p:blipFill>
        <p:spPr>
          <a:xfrm>
            <a:off x="548640" y="1261872"/>
            <a:ext cx="7665415" cy="296966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SCR-PM-22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the quotation again after the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Quotation ready for review</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Rate Exceptions table lists the exception Approved; the quotation can be submitted for review</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Returns and refusals, and the messages the user sees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graphicFrame>
        <p:nvGraphicFramePr>
          <p:cNvPr id="9" name="Table 8"/>
          <p:cNvGraphicFramePr>
            <a:graphicFrameLocks noGrp="1"/>
          </p:cNvGraphicFramePr>
          <p:nvPr/>
        </p:nvGraphicFramePr>
        <p:xfrm>
          <a:off x="548640" y="1307592"/>
          <a:ext cx="11094415" cy="2560309"/>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WT-B Returns and refusals, and the messages the user sees</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same process when something is missing or not allowed: an incomplete form, an approval by the maker, a return by TSU, a slip approved by its preparer, terms made final before every insurer answered, a ManCom return, a requirements pack without the signed slip, and a version returned by the validator. Each step shows the message on the screen and what the user does next.</a:t>
                      </a:r>
                    </a:p>
                  </a:txBody>
                  <a:tcPr marL="54864" marR="54864" marT="27432" marB="27432">
                    <a:solidFill>
                      <a:srgbClr val="FFFFFF"/>
                    </a:solidFill>
                  </a:tcPr>
                </a:tc>
              </a:tr>
              <a:tr h="457198">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Seed data: package requests PKR-2026-900002 (For TSU review), PKR-2026-900003 (round 2 with one insurer pending), PKR-2026-900004 (For ManCom sign-off), PKR-2026-900005 (With MBS) and the draft version 2 of MTR12</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Marketing TL / TH / UH, TSU Team Lead, TSU Officer, ManCom member, Marketing Business Services, TSU Head</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12 steps, 8 hand-offs, 2 approval steps</a:t>
                      </a:r>
                    </a:p>
                  </a:txBody>
                  <a:tcPr marL="54864" marR="54864" marT="27432" marB="27432">
                    <a:solidFill>
                      <a:srgbClr val="FFFFFF"/>
                    </a:solidFill>
                  </a:tcPr>
                </a:tc>
              </a:tr>
              <a:tr h="274319">
                <a:tc>
                  <a:txBody>
                    <a:bodyPr/>
                    <a:lstStyle/>
                    <a:p>
                      <a:r>
                        <a:rPr sz="1200" b="1">
                          <a:solidFill>
                            <a:srgbClr val="004EA8"/>
                          </a:solidFill>
                          <a:latin typeface="Arial"/>
                        </a:rPr>
                        <a:t>FRS section</a:t>
                      </a:r>
                    </a:p>
                  </a:txBody>
                  <a:tcPr marL="54864" marR="54864" marT="27432" marB="27432">
                    <a:solidFill>
                      <a:srgbClr val="E5F5FF"/>
                    </a:solidFill>
                  </a:tcPr>
                </a:tc>
                <a:tc>
                  <a:txBody>
                    <a:bodyPr/>
                    <a:lstStyle/>
                    <a:p>
                      <a:r>
                        <a:rPr sz="1200" b="0">
                          <a:solidFill>
                            <a:srgbClr val="4B4B4B"/>
                          </a:solidFill>
                          <a:latin typeface="Arial"/>
                        </a:rPr>
                        <a:t>14.2</a:t>
                      </a:r>
                    </a:p>
                  </a:txBody>
                  <a:tcPr marL="54864" marR="54864" marT="27432" marB="27432">
                    <a:solidFill>
                      <a:srgbClr val="FFFFFF"/>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Marketing TL / TH / UH</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TSU Team Lead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TSU Officer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ManCom member</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New Package Request and Edit Package Request</a:t>
            </a:r>
          </a:p>
        </p:txBody>
      </p:sp>
      <p:sp>
        <p:nvSpPr>
          <p:cNvPr id="25" name="Rounded Rectangle 24"/>
          <p:cNvSpPr/>
          <p:nvPr/>
        </p:nvSpPr>
        <p:spPr>
          <a:xfrm>
            <a:off x="3596220"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New Package Request and Edit Package Request</a:t>
            </a:r>
          </a:p>
        </p:txBody>
      </p:sp>
      <p:sp>
        <p:nvSpPr>
          <p:cNvPr id="26" name="Rounded Rectangle 25"/>
          <p:cNvSpPr/>
          <p:nvPr/>
        </p:nvSpPr>
        <p:spPr>
          <a:xfrm>
            <a:off x="4760136"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Package Request record</a:t>
            </a:r>
          </a:p>
        </p:txBody>
      </p:sp>
      <p:sp>
        <p:nvSpPr>
          <p:cNvPr id="27" name="Rounded Rectangle 26"/>
          <p:cNvSpPr/>
          <p:nvPr/>
        </p:nvSpPr>
        <p:spPr>
          <a:xfrm>
            <a:off x="5064516"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Package Request record</a:t>
            </a:r>
          </a:p>
        </p:txBody>
      </p:sp>
      <p:sp>
        <p:nvSpPr>
          <p:cNvPr id="29" name="Rounded Rectangle 28"/>
          <p:cNvSpPr/>
          <p:nvPr/>
        </p:nvSpPr>
        <p:spPr>
          <a:xfrm>
            <a:off x="7087968" y="313639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Package Request record: Negotiation tab</a:t>
            </a:r>
          </a:p>
        </p:txBody>
      </p:sp>
      <p:sp>
        <p:nvSpPr>
          <p:cNvPr id="30" name="Rounded Rectangle 29"/>
          <p:cNvSpPr/>
          <p:nvPr/>
        </p:nvSpPr>
        <p:spPr>
          <a:xfrm>
            <a:off x="739234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31" name="Rounded Rectangle 30"/>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Package Request record: Negotiation tab</a:t>
            </a:r>
          </a:p>
        </p:txBody>
      </p:sp>
      <p:sp>
        <p:nvSpPr>
          <p:cNvPr id="32" name="Rounded Rectangle 31"/>
          <p:cNvSpPr/>
          <p:nvPr/>
        </p:nvSpPr>
        <p:spPr>
          <a:xfrm>
            <a:off x="9415800" y="487375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Package Request record</a:t>
            </a:r>
          </a:p>
        </p:txBody>
      </p:sp>
      <p:sp>
        <p:nvSpPr>
          <p:cNvPr id="33" name="Rounded Rectangle 32"/>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Package Request record: Requirements &amp; Sign-off tab</a:t>
            </a:r>
          </a:p>
        </p:txBody>
      </p:sp>
      <p:cxnSp>
        <p:nvCxnSpPr>
          <p:cNvPr id="34" name="Connector 33"/>
          <p:cNvCxnSpPr/>
          <p:nvPr/>
        </p:nvCxnSpPr>
        <p:spPr>
          <a:xfrm>
            <a:off x="339505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558968"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2288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886800"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0716"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14632"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378548" y="434797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Business Services</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TSU Head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Package Request record: Set-up and Advisories tabs</a:t>
            </a:r>
          </a:p>
        </p:txBody>
      </p:sp>
      <p:sp>
        <p:nvSpPr>
          <p:cNvPr id="16" name="Rounded Rectangle 15"/>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Package Version</a:t>
            </a:r>
          </a:p>
        </p:txBody>
      </p:sp>
      <p:sp>
        <p:nvSpPr>
          <p:cNvPr id="17" name="Rounded Rectangle 16"/>
          <p:cNvSpPr/>
          <p:nvPr/>
        </p:nvSpPr>
        <p:spPr>
          <a:xfrm>
            <a:off x="7087970"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Package Version</a:t>
            </a:r>
          </a:p>
        </p:txBody>
      </p:sp>
      <p:sp>
        <p:nvSpPr>
          <p:cNvPr id="18" name="Rounded Rectangle 17"/>
          <p:cNvSpPr/>
          <p:nvPr/>
        </p:nvSpPr>
        <p:spPr>
          <a:xfrm>
            <a:off x="9415803"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Package Version</a:t>
            </a:r>
          </a:p>
        </p:txBody>
      </p:sp>
      <p:cxnSp>
        <p:nvCxnSpPr>
          <p:cNvPr id="19" name="Connector 18"/>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921463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1 of 12: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1.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Opens New Package Request and clicks Save Draft without the name, line and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Form corrected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Under the fields: Enter the package or programme name; Select the product line; Select the reason. Nothing is saved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Marketing Account Officer on New Package Request and Edit Package Request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2 of 12: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Completes the header only and clicks Submit for Approval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Request stays a 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900" b="0" i="0">
                <a:solidFill>
                  <a:srgbClr val="2E2E2E"/>
                </a:solidFill>
                <a:latin typeface="Arial"/>
              </a:rPr>
              <a:t>The hint Before submitting, complete the requested terms (coverages or sections); at least one target insurer; the package end date, and the refusal Complete the request: ... with its reference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Marketing TL / TH / UH on Package Request record</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3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3.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TL / TH / UH: Creates and submits a request himself, then clicks Approve and send to TSU on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Marketing approver is needed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A package request is approved by someone other than its maker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TSU Team Lead on Package Request record</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4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4.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Opens PKR-2026-900002 and clicks Return to requester, chooses the reason and writes what is missing</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the requester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Draft request; the requester receives the workflow notice with the comment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TSU Team Lead on Package Request record: Negotiation tab</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5 of 12: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5.png"/>
          <p:cNvPicPr>
            <a:picLocks noChangeAspect="1"/>
          </p:cNvPicPr>
          <p:nvPr/>
        </p:nvPicPr>
        <p:blipFill>
          <a:blip r:embed="rId3"/>
          <a:stretch>
            <a:fillRect/>
          </a:stretch>
        </p:blipFill>
        <p:spPr>
          <a:xfrm>
            <a:off x="548640" y="1261872"/>
            <a:ext cx="7665415" cy="190011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Team Lead: Prepares and submits a slip himself, then clicks Approve and Send on 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Another approver is needed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quotation slip is approved by a TL or a co-officer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TSU Officer on Package Request record: Negotiation tab</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WT-B step 6 of 12: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6.png"/>
          <p:cNvPicPr>
            <a:picLocks noChangeAspect="1"/>
          </p:cNvPicPr>
          <p:nvPr/>
        </p:nvPicPr>
        <p:blipFill>
          <a:blip r:embed="rId3"/>
          <a:stretch>
            <a:fillRect/>
          </a:stretch>
        </p:blipFill>
        <p:spPr>
          <a:xfrm>
            <a:off x="548640" y="1261872"/>
            <a:ext cx="7665415" cy="443359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SCR-PM-05</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Opens PKR-2026-900003 and clicks Terms final while Luzon Assurance is still pending in round 2</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Outcome to be keyed in first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Every insurer of round 2 needs an outcome before the terms are final (1 pending)</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ManCom member on Package Request record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7 of 12: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7.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SCR-PM-04</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ManCom member: Opens PKR-2026-900004 and clicks Return to TSU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 ManCom decisions lists the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TSU Officer on Package Request record: Requirements &amp; Sign-off tab</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8 of 12: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08.png"/>
          <p:cNvPicPr>
            <a:picLocks noChangeAspect="1"/>
          </p:cNvPicPr>
          <p:nvPr/>
        </p:nvPicPr>
        <p:blipFill>
          <a:blip r:embed="rId3"/>
          <a:stretch>
            <a:fillRect/>
          </a:stretch>
        </p:blipFill>
        <p:spPr>
          <a:xfrm>
            <a:off x="548640" y="1261872"/>
            <a:ext cx="7665415" cy="324805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SCR-PM-07</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Officer: Clicks Submit requirements for ManCom sign-off before uploading the signed package slip</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Signed slip to be uploaded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checklist lists the missing signed package slip; the refusal Complete the requirements: ...</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Marketing Business Services on Package Request record: Set-up and Advisories tabs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WT-B step 9 of 12: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09.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SCR-PM-08</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PKR-2026-900005 and clicks Return incomplete requirements to TSU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TSU</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stage becomes Requirements preparation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Marketing Business Services on Package Version</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10 of 12: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wt-b-10.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MTR12 version 2, clears the minimum premium and sets an effective date before today, then clicks Submit for Validation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Version stays a draft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Correct the highlighted fields; under the fields Enter the minimum premium and The effective date cannot be before today</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TSU Head on Package Version</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11 of 12: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11.png"/>
          <p:cNvPicPr>
            <a:picLocks noChangeAspect="1"/>
          </p:cNvPicPr>
          <p:nvPr/>
        </p:nvPicPr>
        <p:blipFill>
          <a:blip r:embed="rId3"/>
          <a:stretch>
            <a:fillRect/>
          </a:stretch>
        </p:blipFill>
        <p:spPr>
          <a:xfrm>
            <a:off x="1088288" y="1261872"/>
            <a:ext cx="658611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TSU Head: Opens the submitted MTR12 version 2 and clicks Return to MBS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Returned to MBS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Version 2 returned to MBS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Marketing Business Services on Package Version</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WT-B step 12 of 12: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9539935" y="896112"/>
            <a:ext cx="2103120"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Rejected or returned</a:t>
            </a:r>
          </a:p>
        </p:txBody>
      </p:sp>
      <p:pic>
        <p:nvPicPr>
          <p:cNvPr id="10" name="Picture 9" descr="wt-b-12.png"/>
          <p:cNvPicPr>
            <a:picLocks noChangeAspect="1"/>
          </p:cNvPicPr>
          <p:nvPr/>
        </p:nvPicPr>
        <p:blipFill>
          <a:blip r:embed="rId3"/>
          <a:stretch>
            <a:fillRect/>
          </a:stretch>
        </p:blipFill>
        <p:spPr>
          <a:xfrm>
            <a:off x="1110843" y="1261872"/>
            <a:ext cx="6541008"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SCR-PM-13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Business Services: Opens MTR12 version 2</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Draft to correct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banner Returned by the validator: &lt;reason&gt; above the tabs; the draft can be corrected and submitted again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Product Maintenance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starting point of Product Maintenance: where every package request stands, by stage, with the requests past their service level; the packages ending within 30, 60 and 90 days; the package versions waiting for validation, the advisories not yet sent and the comparative outputs of the week. Every tile opens its list.</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 Maintenance Home</a:t>
                      </a:r>
                    </a:p>
                    <a:p>
                      <a:r>
                        <a:rPr sz="950" b="0">
                          <a:solidFill>
                            <a:srgbClr val="4B4B4B"/>
                          </a:solidFill>
                          <a:latin typeface="Arial"/>
                        </a:rPr>
                        <a:t>Sign in, then the sidebar entry Product Maintenance Home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FR-PM-070,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user sees at once the package work waiting in each stage and the packages that end soon, and opens the list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325880"/>
          <a:ext cx="11094411" cy="219454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Package requests by stage</a:t>
                      </a:r>
                    </a:p>
                  </a:txBody>
                  <a:tcPr marL="54864" marR="54864" marT="27432" marB="27432">
                    <a:solidFill>
                      <a:srgbClr val="FFFFFF"/>
                    </a:solidFill>
                  </a:tcPr>
                </a:tc>
                <a:tc>
                  <a:txBody>
                    <a:bodyPr/>
                    <a:lstStyle/>
                    <a:p>
                      <a:r>
                        <a:rPr sz="850" b="0">
                          <a:solidFill>
                            <a:srgbClr val="4B4B4B"/>
                          </a:solidFill>
                          <a:latin typeface="Arial"/>
                        </a:rPr>
                        <a:t>Drafts / For Approval / TSU Review / Negotiation / ManCom / With MBS / For Validation / Released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of requests; '· n overdue' added when a request of the tile is past its due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Red marker when a request is overdue or due within eight hours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Packages ending soon</a:t>
                      </a:r>
                    </a:p>
                  </a:txBody>
                  <a:tcPr marL="54864" marR="54864" marT="27432" marB="27432">
                    <a:solidFill>
                      <a:srgbClr val="E5F5FF"/>
                    </a:solidFill>
                  </a:tcPr>
                </a:tc>
                <a:tc>
                  <a:txBody>
                    <a:bodyPr/>
                    <a:lstStyle/>
                    <a:p>
                      <a:r>
                        <a:rPr sz="850" b="0">
                          <a:solidFill>
                            <a:srgbClr val="4B4B4B"/>
                          </a:solidFill>
                          <a:latin typeface="Arial"/>
                        </a:rPr>
                        <a:t>Within 30 days / Within 60 days / Within 90 days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of released packages whose package end date falls in the window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30-day tile is always marked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Shortcuts</a:t>
                      </a:r>
                    </a:p>
                  </a:txBody>
                  <a:tcPr marL="54864" marR="54864" marT="27432" marB="27432">
                    <a:solidFill>
                      <a:srgbClr val="FFFFFF"/>
                    </a:solidFill>
                  </a:tcPr>
                </a:tc>
                <a:tc>
                  <a:txBody>
                    <a:bodyPr/>
                    <a:lstStyle/>
                    <a:p>
                      <a:r>
                        <a:rPr sz="850" b="0">
                          <a:solidFill>
                            <a:srgbClr val="4B4B4B"/>
                          </a:solidFill>
                          <a:latin typeface="Arial"/>
                        </a:rPr>
                        <a:t>Versions for validation</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'n set up by MBS, waiting for the checkpoint'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Shortcuts</a:t>
                      </a:r>
                    </a:p>
                  </a:txBody>
                  <a:tcPr marL="54864" marR="54864" marT="27432" marB="27432">
                    <a:solidFill>
                      <a:srgbClr val="E5F5FF"/>
                    </a:solidFill>
                  </a:tcPr>
                </a:tc>
                <a:tc>
                  <a:txBody>
                    <a:bodyPr/>
                    <a:lstStyle/>
                    <a:p>
                      <a:r>
                        <a:rPr sz="850" b="0">
                          <a:solidFill>
                            <a:srgbClr val="4B4B4B"/>
                          </a:solidFill>
                          <a:latin typeface="Arial"/>
                        </a:rPr>
                        <a:t>Advisories pending</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'n drafted, not sent yet'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Shortcuts</a:t>
                      </a:r>
                    </a:p>
                  </a:txBody>
                  <a:tcPr marL="54864" marR="54864" marT="27432" marB="27432">
                    <a:solidFill>
                      <a:srgbClr val="FFFFFF"/>
                    </a:solidFill>
                  </a:tcPr>
                </a:tc>
                <a:tc>
                  <a:txBody>
                    <a:bodyPr/>
                    <a:lstStyle/>
                    <a:p>
                      <a:r>
                        <a:rPr sz="850" b="0">
                          <a:solidFill>
                            <a:srgbClr val="4B4B4B"/>
                          </a:solidFill>
                          <a:latin typeface="Arial"/>
                        </a:rPr>
                        <a:t>Comparative outputs this week</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'n master and client outputs generated'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Shortcuts</a:t>
                      </a:r>
                    </a:p>
                  </a:txBody>
                  <a:tcPr marL="54864" marR="54864" marT="27432" marB="27432">
                    <a:solidFill>
                      <a:srgbClr val="E5F5FF"/>
                    </a:solidFill>
                  </a:tcPr>
                </a:tc>
                <a:tc>
                  <a:txBody>
                    <a:bodyPr/>
                    <a:lstStyle/>
                    <a:p>
                      <a:r>
                        <a:rPr sz="850" b="0">
                          <a:solidFill>
                            <a:srgbClr val="4B4B4B"/>
                          </a:solidFill>
                          <a:latin typeface="Arial"/>
                        </a:rPr>
                        <a:t>Package Expiry</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Link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New Package Request</a:t>
                      </a:r>
                    </a:p>
                  </a:txBody>
                  <a:tcPr marL="54864" marR="54864" marT="27432" marB="27432">
                    <a:solidFill>
                      <a:srgbClr val="FFFFFF"/>
                    </a:solidFill>
                  </a:tcPr>
                </a:tc>
                <a:tc>
                  <a:txBody>
                    <a:bodyPr/>
                    <a:lstStyle/>
                    <a:p>
                      <a:r>
                        <a:rPr sz="850" b="0">
                          <a:solidFill>
                            <a:srgbClr val="4B4B4B"/>
                          </a:solidFill>
                          <a:latin typeface="Arial"/>
                        </a:rPr>
                        <a:t>Marketing AO, Marketing TL, TSU Officer (permission PKG_REQUEST)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New Package Request form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stage tile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Package Requests on the tab of the tile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An expiry tile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Package Expiry with the window of the tile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counts are those of the company selected in the page header (FR-PM-070).</a:t>
                      </a:r>
                    </a:p>
                  </a:txBody>
                  <a:tcPr marL="54864" marR="54864" marT="27432" marB="27432">
                    <a:solidFill>
                      <a:srgbClr val="FFFFFF"/>
                    </a:solidFill>
                  </a:tcPr>
                </a:tc>
              </a:tr>
              <a:tr h="243840">
                <a:tc>
                  <a:txBody>
                    <a:bodyPr/>
                    <a:lstStyle/>
                    <a:p>
                      <a:r>
                        <a:rPr sz="1000" b="0">
                          <a:solidFill>
                            <a:srgbClr val="4B4B4B"/>
                          </a:solidFill>
                          <a:latin typeface="Arial"/>
                        </a:rPr>
                        <a:t>A request is marked overdue when its stage due time has passed and due soon within eight hours of it; the due time comes from the service level hours of the stage (FR-PM-073).</a:t>
                      </a:r>
                    </a:p>
                  </a:txBody>
                  <a:tcPr marL="54864" marR="54864" marT="27432" marB="27432">
                    <a:solidFill>
                      <a:srgbClr val="E5F5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SCR-PM-01 Product Maintenance Home: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1-01-view.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Maintenance Home of the TSU Head</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work list of package requests of the company, by stage, from the draft to the released or closed request. Team leaders assign the selected requests of one stage to a user of the team.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a:t>
                      </a:r>
                    </a:p>
                    <a:p>
                      <a:r>
                        <a:rPr sz="950" b="0">
                          <a:solidFill>
                            <a:srgbClr val="4B4B4B"/>
                          </a:solidFill>
                          <a:latin typeface="Arial"/>
                        </a:rPr>
                        <a:t>Product Maintenance Home › a stage tile (opens the tab of the stage)</a:t>
                      </a:r>
                    </a:p>
                    <a:p>
                      <a:r>
                        <a:rPr sz="950" b="0">
                          <a:solidFill>
                            <a:srgbClr val="4B4B4B"/>
                          </a:solidFill>
                          <a:latin typeface="Arial"/>
                        </a:rPr>
                        <a:t>Package Request record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FR-PM-024,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finds any package request by stage or number and opens it; team leaders spread the work.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Drafts / For Approval / TSU Review / Negotiation / ManCom / With MBS / For Validation / Released / Closed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Each tab lists its stages: TSU Review = TSU review and TSU Head approval; Negotiation = negotiation, terms review, Marketing review and requirements; Closed = retired, not proceeded and voided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Request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PKR-yyyy-nnnnnn, part of a number allowed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 on the request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Only My Requests</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Requests created by the user or assigned to the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types, New package, Amend package terms, Update package details, Renew package, Retire package, Reactivate expired package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 No.</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PKR-yyyy-nnnnnn with the creation date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Type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Scope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Generic or Client-specific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Client / Programme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Package or programme name, with the client name or Programme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Line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and resulting version (v2), or New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Status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In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 days, with overdue or due soon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Red when past the due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Assignee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or a dash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graphicFrame>
        <p:nvGraphicFramePr>
          <p:cNvPr id="9" name="Table 8"/>
          <p:cNvGraphicFramePr>
            <a:graphicFrameLocks noGrp="1"/>
          </p:cNvGraphicFramePr>
          <p:nvPr/>
        </p:nvGraphicFramePr>
        <p:xfrm>
          <a:off x="548640" y="1325880"/>
          <a:ext cx="11094412" cy="158495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Package Expiry</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Package Expiry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New Package Request</a:t>
                      </a:r>
                    </a:p>
                  </a:txBody>
                  <a:tcPr marL="54864" marR="54864" marT="27432" marB="27432">
                    <a:solidFill>
                      <a:srgbClr val="E5F5FF"/>
                    </a:solidFill>
                  </a:tcPr>
                </a:tc>
                <a:tc>
                  <a:txBody>
                    <a:bodyPr/>
                    <a:lstStyle/>
                    <a:p>
                      <a:r>
                        <a:rPr sz="850" b="0">
                          <a:solidFill>
                            <a:srgbClr val="4B4B4B"/>
                          </a:solidFill>
                          <a:latin typeface="Arial"/>
                        </a:rPr>
                        <a:t>Marketing AO, Marketing TL, TSU Officer (PKG_REQUEST)</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New Package Request form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Team leaders (WORK_ASSIGN)</a:t>
                      </a:r>
                    </a:p>
                  </a:txBody>
                  <a:tcPr marL="54864" marR="54864" marT="27432" marB="27432">
                    <a:solidFill>
                      <a:srgbClr val="FFFFFF"/>
                    </a:solidFill>
                  </a:tcPr>
                </a:tc>
                <a:tc>
                  <a:txBody>
                    <a:bodyPr/>
                    <a:lstStyle/>
                    <a:p>
                      <a:r>
                        <a:rPr sz="850" b="0">
                          <a:solidFill>
                            <a:srgbClr val="4B4B4B"/>
                          </a:solidFill>
                          <a:latin typeface="Arial"/>
                        </a:rPr>
                        <a:t>Rows of one stage are selected</a:t>
                      </a:r>
                    </a:p>
                  </a:txBody>
                  <a:tcPr marL="54864" marR="54864" marT="27432" marB="27432">
                    <a:solidFill>
                      <a:srgbClr val="FFFFFF"/>
                    </a:solidFill>
                  </a:tcPr>
                </a:tc>
                <a:tc>
                  <a:txBody>
                    <a:bodyPr/>
                    <a:lstStyle/>
                    <a:p>
                      <a:r>
                        <a:rPr sz="850" b="0">
                          <a:solidFill>
                            <a:srgbClr val="4B4B4B"/>
                          </a:solidFill>
                          <a:latin typeface="Arial"/>
                        </a:rPr>
                        <a:t>Opens Assign Package Requests: choose a user of the team of the stage, or Team queue (unassigned), and click Assign</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Assignment notice to the new assignee</a:t>
                      </a:r>
                    </a:p>
                  </a:txBody>
                  <a:tcPr marL="54864" marR="54864" marT="27432" marB="27432">
                    <a:solidFill>
                      <a:srgbClr val="FFFFFF"/>
                    </a:solidFill>
                  </a:tcPr>
                </a:tc>
              </a:tr>
              <a:tr h="220979">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Shows or hides the request type filter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package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list shows the requests of the company selected in the page header (FR-PM-024).</a:t>
                      </a:r>
                    </a:p>
                  </a:txBody>
                  <a:tcPr marL="54864" marR="54864" marT="27432" marB="27432">
                    <a:solidFill>
                      <a:srgbClr val="FFFFFF"/>
                    </a:solidFill>
                  </a:tcPr>
                </a:tc>
              </a:tr>
              <a:tr h="243840">
                <a:tc>
                  <a:txBody>
                    <a:bodyPr/>
                    <a:lstStyle/>
                    <a:p>
                      <a:r>
                        <a:rPr sz="1000" b="0">
                          <a:solidFill>
                            <a:srgbClr val="4B4B4B"/>
                          </a:solidFill>
                          <a:latin typeface="Arial"/>
                        </a:rPr>
                        <a:t>Assign is offered only for requests of one stage; the assignee is chosen among the users who work that stage (FR-PM-024).</a:t>
                      </a:r>
                    </a:p>
                  </a:txBody>
                  <a:tcPr marL="54864" marR="54864" marT="27432" marB="27432">
                    <a:solidFill>
                      <a:srgbClr val="E5F5FF"/>
                    </a:solidFill>
                  </a:tcPr>
                </a:tc>
              </a:tr>
              <a:tr h="243840">
                <a:tc>
                  <a:txBody>
                    <a:bodyPr/>
                    <a:lstStyle/>
                    <a:p>
                      <a:r>
                        <a:rPr sz="1000" b="0">
                          <a:solidFill>
                            <a:srgbClr val="4B4B4B"/>
                          </a:solidFill>
                          <a:latin typeface="Arial"/>
                        </a:rPr>
                        <a:t>The time in stage turns red when the stage due time has passed (FR-PM-073).</a:t>
                      </a:r>
                    </a:p>
                  </a:txBody>
                  <a:tcPr marL="54864" marR="54864" marT="27432" marB="27432">
                    <a:solidFill>
                      <a:srgbClr val="FFFFFF"/>
                    </a:solidFill>
                  </a:tcPr>
                </a:tc>
              </a:tr>
            </a:tbl>
          </a:graphicData>
        </a:graphic>
      </p:graphicFrame>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2-01-list.png"/>
          <p:cNvPicPr>
            <a:picLocks noChangeAspect="1"/>
          </p:cNvPicPr>
          <p:nvPr/>
        </p:nvPicPr>
        <p:blipFill>
          <a:blip r:embed="rId3"/>
          <a:stretch>
            <a:fillRect/>
          </a:stretch>
        </p:blipFill>
        <p:spPr>
          <a:xfrm>
            <a:off x="626984" y="1261872"/>
            <a:ext cx="1093772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Requests, Negotiation tab</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02-02-filters.png"/>
          <p:cNvPicPr>
            <a:picLocks noChangeAspect="1"/>
          </p:cNvPicPr>
          <p:nvPr/>
        </p:nvPicPr>
        <p:blipFill>
          <a:blip r:embed="rId3"/>
          <a:stretch>
            <a:fillRect/>
          </a:stretch>
        </p:blipFill>
        <p:spPr>
          <a:xfrm>
            <a:off x="1606920" y="1261872"/>
            <a:ext cx="897785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Requests with the request type filter</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SCR-PM-02 Package Requests: Empty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ux-scr-pm-02-empty.png"/>
          <p:cNvPicPr>
            <a:picLocks noChangeAspect="1"/>
          </p:cNvPicPr>
          <p:nvPr/>
        </p:nvPicPr>
        <p:blipFill>
          <a:blip r:embed="rId3"/>
          <a:stretch>
            <a:fillRect/>
          </a:stretch>
        </p:blipFill>
        <p:spPr>
          <a:xfrm>
            <a:off x="1592203" y="1261872"/>
            <a:ext cx="9007289"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package request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SCR-PM-03 New Package Request and Edit Package Request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Request Form. Marketing or TSU describe the package: the request type and scope, the package or programme name, the client of a client-specific package, the product line, cover type and product, the reason, the requested terms by section and coverage, the requested rate scheme and package term, and the insurers to approach. The draft is saved at any time; submission checks that the request is complete. The TSU Team Lead can complete the form during the TSU review.</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New Package Request</a:t>
                      </a:r>
                    </a:p>
                    <a:p>
                      <a:r>
                        <a:rPr sz="950" b="0">
                          <a:solidFill>
                            <a:srgbClr val="4B4B4B"/>
                          </a:solidFill>
                          <a:latin typeface="Arial"/>
                        </a:rPr>
                        <a:t>Package Requests › New Package Request</a:t>
                      </a:r>
                    </a:p>
                    <a:p>
                      <a:r>
                        <a:rPr sz="950" b="0">
                          <a:solidFill>
                            <a:srgbClr val="4B4B4B"/>
                          </a:solidFill>
                          <a:latin typeface="Arial"/>
                        </a:rPr>
                        <a:t>Product Maintenance Home › New Package Request</a:t>
                      </a:r>
                    </a:p>
                    <a:p>
                      <a:r>
                        <a:rPr sz="950" b="0">
                          <a:solidFill>
                            <a:srgbClr val="4B4B4B"/>
                          </a:solidFill>
                          <a:latin typeface="Arial"/>
                        </a:rPr>
                        <a:t>Package Request record › Edit (draft, or TSU review for the TSU Team Lead)</a:t>
                      </a:r>
                    </a:p>
                    <a:p>
                      <a:r>
                        <a:rPr sz="950" b="0">
                          <a:solidFill>
                            <a:srgbClr val="4B4B4B"/>
                          </a:solidFill>
                          <a:latin typeface="Arial"/>
                        </a:rPr>
                        <a:t>Package Expiry › Generate Renewal Request (opens the drafted renewal request)</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FR-PM-020, FR-PM-010, FR-PM-045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package request is numbered, complete and waiting for the Marketing approval, with its supporting documents attached.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25880"/>
          <a:ext cx="11094411" cy="489201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Request type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New package, Amend package terms, Update package details, Renew package, Retire package, Reactivate expired package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type of a saved request cannot change</a:t>
                      </a:r>
                    </a:p>
                  </a:txBody>
                  <a:tcPr marL="54864" marR="54864" marT="27432" marB="27432">
                    <a:solidFill>
                      <a:srgbClr val="FFFFFF"/>
                    </a:solidFill>
                  </a:tcPr>
                </a:tc>
                <a:tc>
                  <a:txBody>
                    <a:bodyPr/>
                    <a:lstStyle/>
                    <a:p>
                      <a:r>
                        <a:rPr sz="850" b="0">
                          <a:solidFill>
                            <a:srgbClr val="4B4B4B"/>
                          </a:solidFill>
                          <a:latin typeface="Arial"/>
                        </a:rPr>
                        <a:t>The type of a request cannot change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Scope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Generic programme or Client-specific package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Select the request type and the package scope</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Package / programme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package or programme name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Client or prospect</a:t>
                      </a:r>
                    </a:p>
                  </a:txBody>
                  <a:tcPr marL="54864" marR="54864" marT="27432" marB="27432">
                    <a:solidFill>
                      <a:srgbClr val="E5F5FF"/>
                    </a:solidFill>
                  </a:tcPr>
                </a:tc>
                <a:tc>
                  <a:txBody>
                    <a:bodyPr/>
                    <a:lstStyle/>
                    <a:p>
                      <a:r>
                        <a:rPr sz="850" b="0">
                          <a:solidFill>
                            <a:srgbClr val="4B4B4B"/>
                          </a:solidFill>
                          <a:latin typeface="Arial"/>
                        </a:rPr>
                        <a:t>Look-up</a:t>
                      </a:r>
                    </a:p>
                  </a:txBody>
                  <a:tcPr marL="54864" marR="54864" marT="27432" marB="27432">
                    <a:solidFill>
                      <a:srgbClr val="E5F5FF"/>
                    </a:solidFill>
                  </a:tcPr>
                </a:tc>
                <a:tc>
                  <a:txBody>
                    <a:bodyPr/>
                    <a:lstStyle/>
                    <a:p>
                      <a:r>
                        <a:rPr sz="850" b="0">
                          <a:solidFill>
                            <a:srgbClr val="4B4B4B"/>
                          </a:solidFill>
                          <a:latin typeface="Arial"/>
                        </a:rPr>
                        <a:t>Client code or name</a:t>
                      </a:r>
                    </a:p>
                  </a:txBody>
                  <a:tcPr marL="54864" marR="54864" marT="27432" marB="27432">
                    <a:solidFill>
                      <a:srgbClr val="E5F5FF"/>
                    </a:solidFill>
                  </a:tcPr>
                </a:tc>
                <a:tc>
                  <a:txBody>
                    <a:bodyPr/>
                    <a:lstStyle/>
                    <a:p>
                      <a:r>
                        <a:rPr sz="850" b="0">
                          <a:solidFill>
                            <a:srgbClr val="4B4B4B"/>
                          </a:solidFill>
                          <a:latin typeface="Arial"/>
                        </a:rPr>
                        <a:t>Cond.: client-specific package</a:t>
                      </a:r>
                    </a:p>
                  </a:txBody>
                  <a:tcPr marL="54864" marR="54864" marT="27432" marB="27432">
                    <a:solidFill>
                      <a:srgbClr val="E5F5FF"/>
                    </a:solidFill>
                  </a:tcPr>
                </a:tc>
                <a:tc>
                  <a:txBody>
                    <a:bodyPr/>
                    <a:lstStyle/>
                    <a:p>
                      <a:r>
                        <a:rPr sz="850" b="0">
                          <a:solidFill>
                            <a:srgbClr val="4B4B4B"/>
                          </a:solidFill>
                          <a:latin typeface="Arial"/>
                        </a:rPr>
                        <a:t>An active client</a:t>
                      </a:r>
                    </a:p>
                  </a:txBody>
                  <a:tcPr marL="54864" marR="54864" marT="27432" marB="27432">
                    <a:solidFill>
                      <a:srgbClr val="E5F5FF"/>
                    </a:solidFill>
                  </a:tcPr>
                </a:tc>
                <a:tc>
                  <a:txBody>
                    <a:bodyPr/>
                    <a:lstStyle/>
                    <a:p>
                      <a:r>
                        <a:rPr sz="850" b="0">
                          <a:solidFill>
                            <a:srgbClr val="4B4B4B"/>
                          </a:solidFill>
                          <a:latin typeface="Arial"/>
                        </a:rPr>
                        <a:t>Select the client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existing line</a:t>
                      </a:r>
                    </a:p>
                  </a:txBody>
                  <a:tcPr marL="54864" marR="54864" marT="27432" marB="27432">
                    <a:solidFill>
                      <a:srgbClr val="FFFFFF"/>
                    </a:solidFill>
                  </a:tcPr>
                </a:tc>
                <a:tc>
                  <a:txBody>
                    <a:bodyPr/>
                    <a:lstStyle/>
                    <a:p>
                      <a:r>
                        <a:rPr sz="850" b="0">
                          <a:solidFill>
                            <a:srgbClr val="4B4B4B"/>
                          </a:solidFill>
                          <a:latin typeface="Arial"/>
                        </a:rPr>
                        <a:t>Select the product line</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Cover type / subtype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 types of the line</a:t>
                      </a:r>
                    </a:p>
                  </a:txBody>
                  <a:tcPr marL="54864" marR="54864" marT="27432" marB="27432">
                    <a:solidFill>
                      <a:srgbClr val="E5F5FF"/>
                    </a:solidFill>
                  </a:tcPr>
                </a:tc>
                <a:tc>
                  <a:txBody>
                    <a:bodyPr/>
                    <a:lstStyle/>
                    <a:p>
                      <a:r>
                        <a:rPr sz="850" b="0">
                          <a:solidFill>
                            <a:srgbClr val="4B4B4B"/>
                          </a:solidFill>
                          <a:latin typeface="Arial"/>
                        </a:rPr>
                        <a:t>Cond.: New package</a:t>
                      </a:r>
                    </a:p>
                  </a:txBody>
                  <a:tcPr marL="54864" marR="54864" marT="27432" marB="27432">
                    <a:solidFill>
                      <a:srgbClr val="E5F5FF"/>
                    </a:solidFill>
                  </a:tcPr>
                </a:tc>
                <a:tc>
                  <a:txBody>
                    <a:bodyPr/>
                    <a:lstStyle/>
                    <a:p>
                      <a:r>
                        <a:rPr sz="850" b="0">
                          <a:solidFill>
                            <a:srgbClr val="4B4B4B"/>
                          </a:solidFill>
                          <a:latin typeface="Arial"/>
                        </a:rPr>
                        <a:t>A cover type of the chosen line</a:t>
                      </a:r>
                    </a:p>
                  </a:txBody>
                  <a:tcPr marL="54864" marR="54864" marT="27432" marB="27432">
                    <a:solidFill>
                      <a:srgbClr val="E5F5FF"/>
                    </a:solidFill>
                  </a:tcPr>
                </a:tc>
                <a:tc>
                  <a:txBody>
                    <a:bodyPr/>
                    <a:lstStyle/>
                    <a:p>
                      <a:r>
                        <a:rPr sz="850" b="0">
                          <a:solidFill>
                            <a:srgbClr val="4B4B4B"/>
                          </a:solidFill>
                          <a:latin typeface="Arial"/>
                        </a:rPr>
                        <a:t>Select the cover type</a:t>
                      </a:r>
                    </a:p>
                  </a:txBody>
                  <a:tcPr marL="54864" marR="54864" marT="27432" marB="27432">
                    <a:solidFill>
                      <a:srgbClr val="E5F5FF"/>
                    </a:solidFill>
                  </a:tcPr>
                </a:tc>
              </a:tr>
              <a:tr h="739135">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Package 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 of the packaged products of the line</a:t>
                      </a:r>
                    </a:p>
                  </a:txBody>
                  <a:tcPr marL="54864" marR="54864" marT="27432" marB="27432">
                    <a:solidFill>
                      <a:srgbClr val="FFFFFF"/>
                    </a:solidFill>
                  </a:tcPr>
                </a:tc>
                <a:tc>
                  <a:txBody>
                    <a:bodyPr/>
                    <a:lstStyle/>
                    <a:p>
                      <a:r>
                        <a:rPr sz="850" b="0">
                          <a:solidFill>
                            <a:srgbClr val="4B4B4B"/>
                          </a:solidFill>
                          <a:latin typeface="Arial"/>
                        </a:rPr>
                        <a:t>Cond.: every type except New package</a:t>
                      </a:r>
                    </a:p>
                  </a:txBody>
                  <a:tcPr marL="54864" marR="54864" marT="27432" marB="27432">
                    <a:solidFill>
                      <a:srgbClr val="FFFFFF"/>
                    </a:solidFill>
                  </a:tcPr>
                </a:tc>
                <a:tc>
                  <a:txBody>
                    <a:bodyPr/>
                    <a:lstStyle/>
                    <a:p>
                      <a:r>
                        <a:rPr sz="850" b="0">
                          <a:solidFill>
                            <a:srgbClr val="4B4B4B"/>
                          </a:solidFill>
                          <a:latin typeface="Arial"/>
                        </a:rPr>
                        <a:t>A packaged product of the chosen line</a:t>
                      </a:r>
                    </a:p>
                  </a:txBody>
                  <a:tcPr marL="54864" marR="54864" marT="27432" marB="27432">
                    <a:solidFill>
                      <a:srgbClr val="FFFFFF"/>
                    </a:solidFill>
                  </a:tcPr>
                </a:tc>
                <a:tc>
                  <a:txBody>
                    <a:bodyPr/>
                    <a:lstStyle/>
                    <a:p>
                      <a:r>
                        <a:rPr sz="850" b="0">
                          <a:solidFill>
                            <a:srgbClr val="4B4B4B"/>
                          </a:solidFill>
                          <a:latin typeface="Arial"/>
                        </a:rPr>
                        <a:t>Select the package product</a:t>
                      </a:r>
                    </a:p>
                  </a:txBody>
                  <a:tcPr marL="54864" marR="54864" marT="27432" marB="27432">
                    <a:solidFill>
                      <a:srgbClr val="FFFFFF"/>
                    </a:solidFill>
                  </a:tcPr>
                </a:tc>
              </a:tr>
              <a:tr h="868674">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Client requirement, New programme for a market segment, Market competitiveness, Change in insurer terms or rates, Loss experience, Regulatory change, Package expiry or anniversary, Others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Select the reason</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Comment on the 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Negotiate with the insurers</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Shown for Renew, Update and Reactivate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New and Amend always negotiate; Retire never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Market segments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One or more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values of the 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Requested terms</a:t>
                      </a:r>
                    </a:p>
                  </a:txBody>
                  <a:tcPr marL="54864" marR="54864" marT="27432" marB="27432">
                    <a:solidFill>
                      <a:srgbClr val="E5F5FF"/>
                    </a:solidFill>
                  </a:tcPr>
                </a:tc>
                <a:tc>
                  <a:txBody>
                    <a:bodyPr/>
                    <a:lstStyle/>
                    <a:p>
                      <a:r>
                        <a:rPr sz="850" b="0">
                          <a:solidFill>
                            <a:srgbClr val="4B4B4B"/>
                          </a:solidFill>
                          <a:latin typeface="Arial"/>
                        </a:rPr>
                        <a:t>Heading /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Heading and up to 4,000 characters per section; suggested sections Target market / client and Requested cover and features</a:t>
                      </a:r>
                    </a:p>
                  </a:txBody>
                  <a:tcPr marL="54864" marR="54864" marT="27432" marB="27432">
                    <a:solidFill>
                      <a:srgbClr val="E5F5FF"/>
                    </a:solidFill>
                  </a:tcPr>
                </a:tc>
                <a:tc>
                  <a:txBody>
                    <a:bodyPr/>
                    <a:lstStyle/>
                    <a:p>
                      <a:r>
                        <a:rPr sz="850" b="0">
                          <a:solidFill>
                            <a:srgbClr val="4B4B4B"/>
                          </a:solidFill>
                          <a:latin typeface="Arial"/>
                        </a:rPr>
                        <a:t>Cond.: sections or coverages before submission</a:t>
                      </a:r>
                    </a:p>
                  </a:txBody>
                  <a:tcPr marL="54864" marR="54864" marT="27432" marB="27432">
                    <a:solidFill>
                      <a:srgbClr val="E5F5FF"/>
                    </a:solidFill>
                  </a:tcPr>
                </a:tc>
                <a:tc>
                  <a:txBody>
                    <a:bodyPr/>
                    <a:lstStyle/>
                    <a:p>
                      <a:r>
                        <a:rPr sz="850" b="0">
                          <a:solidFill>
                            <a:srgbClr val="4B4B4B"/>
                          </a:solidFill>
                          <a:latin typeface="Arial"/>
                        </a:rPr>
                        <a:t>Empty sections are dropped</a:t>
                      </a:r>
                    </a:p>
                  </a:txBody>
                  <a:tcPr marL="54864" marR="54864" marT="27432" marB="27432">
                    <a:solidFill>
                      <a:srgbClr val="E5F5FF"/>
                    </a:solidFill>
                  </a:tcPr>
                </a:tc>
                <a:tc>
                  <a:txBody>
                    <a:bodyPr/>
                    <a:lstStyle/>
                    <a:p>
                      <a:r>
                        <a:rPr sz="850" b="0">
                          <a:solidFill>
                            <a:srgbClr val="4B4B4B"/>
                          </a:solidFill>
                          <a:latin typeface="Arial"/>
                        </a:rPr>
                        <a:t>Complete the request: the requested terms (coverages or sections)</a:t>
                      </a:r>
                    </a:p>
                  </a:txBody>
                  <a:tcPr marL="54864" marR="54864" marT="27432" marB="27432">
                    <a:solidFill>
                      <a:srgbClr val="E5F5FF"/>
                    </a:solidFill>
                  </a:tcPr>
                </a:tc>
              </a:tr>
              <a:tr h="868674">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Coverages and perils</a:t>
                      </a:r>
                    </a:p>
                  </a:txBody>
                  <a:tcPr marL="54864" marR="54864" marT="27432" marB="27432">
                    <a:solidFill>
                      <a:srgbClr val="FFFFFF"/>
                    </a:solidFill>
                  </a:tcPr>
                </a:tc>
                <a:tc>
                  <a:txBody>
                    <a:bodyPr/>
                    <a:lstStyle/>
                    <a:p>
                      <a:r>
                        <a:rPr sz="850" b="0">
                          <a:solidFill>
                            <a:srgbClr val="4B4B4B"/>
                          </a:solidFill>
                          <a:latin typeface="Arial"/>
                        </a:rPr>
                        <a:t>Coverage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Coverage code of the line, in capitals</a:t>
                      </a:r>
                    </a:p>
                  </a:txBody>
                  <a:tcPr marL="54864" marR="54864" marT="27432" marB="27432">
                    <a:solidFill>
                      <a:srgbClr val="FFFFFF"/>
                    </a:solidFill>
                  </a:tcPr>
                </a:tc>
                <a:tc>
                  <a:txBody>
                    <a:bodyPr/>
                    <a:lstStyle/>
                    <a:p>
                      <a:r>
                        <a:rPr sz="850" b="0">
                          <a:solidFill>
                            <a:srgbClr val="4B4B4B"/>
                          </a:solidFill>
                          <a:latin typeface="Arial"/>
                        </a:rPr>
                        <a:t>Cond.: sections or coverages before submission</a:t>
                      </a:r>
                    </a:p>
                  </a:txBody>
                  <a:tcPr marL="54864" marR="54864" marT="27432" marB="27432">
                    <a:solidFill>
                      <a:srgbClr val="FFFFFF"/>
                    </a:solidFill>
                  </a:tcPr>
                </a:tc>
                <a:tc>
                  <a:txBody>
                    <a:bodyPr/>
                    <a:lstStyle/>
                    <a:p>
                      <a:r>
                        <a:rPr sz="850" b="0">
                          <a:solidFill>
                            <a:srgbClr val="4B4B4B"/>
                          </a:solidFill>
                          <a:latin typeface="Arial"/>
                        </a:rPr>
                        <a:t>Every line has a code</a:t>
                      </a:r>
                    </a:p>
                  </a:txBody>
                  <a:tcPr marL="54864" marR="54864" marT="27432" marB="27432">
                    <a:solidFill>
                      <a:srgbClr val="FFFFFF"/>
                    </a:solidFill>
                  </a:tcPr>
                </a:tc>
                <a:tc>
                  <a:txBody>
                    <a:bodyPr/>
                    <a:lstStyle/>
                    <a:p>
                      <a:r>
                        <a:rPr sz="850" b="0">
                          <a:solidFill>
                            <a:srgbClr val="4B4B4B"/>
                          </a:solidFill>
                          <a:latin typeface="Arial"/>
                        </a:rPr>
                        <a:t>Enter a code for every coverage or remove the line</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Coverages and perils</a:t>
                      </a:r>
                    </a:p>
                  </a:txBody>
                  <a:tcPr marL="54864" marR="54864" marT="27432" marB="27432">
                    <a:solidFill>
                      <a:srgbClr val="E5F5FF"/>
                    </a:solidFill>
                  </a:tcPr>
                </a:tc>
                <a:tc>
                  <a:txBody>
                    <a:bodyPr/>
                    <a:lstStyle/>
                    <a:p>
                      <a:r>
                        <a:rPr sz="850" b="0">
                          <a:solidFill>
                            <a:srgbClr val="4B4B4B"/>
                          </a:solidFill>
                          <a:latin typeface="Arial"/>
                        </a:rPr>
                        <a:t>Included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Coverages and perils</a:t>
                      </a:r>
                    </a:p>
                  </a:txBody>
                  <a:tcPr marL="54864" marR="54864" marT="27432" marB="27432">
                    <a:solidFill>
                      <a:srgbClr val="FFFFFF"/>
                    </a:solidFill>
                  </a:tcPr>
                </a:tc>
                <a:tc>
                  <a:txBody>
                    <a:bodyPr/>
                    <a:lstStyle/>
                    <a:p>
                      <a:r>
                        <a:rPr sz="850" b="0">
                          <a:solidFill>
                            <a:srgbClr val="4B4B4B"/>
                          </a:solidFill>
                          <a:latin typeface="Arial"/>
                        </a:rPr>
                        <a:t>Limit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Coverages and perils</a:t>
                      </a:r>
                    </a:p>
                  </a:txBody>
                  <a:tcPr marL="54864" marR="54864" marT="27432" marB="27432">
                    <a:solidFill>
                      <a:srgbClr val="E5F5FF"/>
                    </a:solidFill>
                  </a:tcPr>
                </a:tc>
                <a:tc>
                  <a:txBody>
                    <a:bodyPr/>
                    <a:lstStyle/>
                    <a:p>
                      <a:r>
                        <a:rPr sz="850" b="0">
                          <a:solidFill>
                            <a:srgbClr val="4B4B4B"/>
                          </a:solidFill>
                          <a:latin typeface="Arial"/>
                        </a:rPr>
                        <a:t>Deductible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Wording, for example 1% of loss, minimum PHP 20,000</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Requested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graphicFrame>
        <p:nvGraphicFramePr>
          <p:cNvPr id="9" name="Table 8"/>
          <p:cNvGraphicFramePr>
            <a:graphicFrameLocks noGrp="1"/>
          </p:cNvGraphicFramePr>
          <p:nvPr/>
        </p:nvGraphicFramePr>
        <p:xfrm>
          <a:off x="548640" y="1325880"/>
          <a:ext cx="11094411" cy="300988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Package start</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Rate scheme and package term</a:t>
                      </a:r>
                    </a:p>
                  </a:txBody>
                  <a:tcPr marL="54864" marR="54864" marT="27432" marB="27432">
                    <a:solidFill>
                      <a:srgbClr val="E5F5FF"/>
                    </a:solidFill>
                  </a:tcPr>
                </a:tc>
                <a:tc>
                  <a:txBody>
                    <a:bodyPr/>
                    <a:lstStyle/>
                    <a:p>
                      <a:r>
                        <a:rPr sz="850" b="0">
                          <a:solidFill>
                            <a:srgbClr val="4B4B4B"/>
                          </a:solidFill>
                          <a:latin typeface="Arial"/>
                        </a:rPr>
                        <a:t>Package end</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 monitored for expiry and renewal</a:t>
                      </a:r>
                    </a:p>
                  </a:txBody>
                  <a:tcPr marL="54864" marR="54864" marT="27432" marB="27432">
                    <a:solidFill>
                      <a:srgbClr val="E5F5FF"/>
                    </a:solidFill>
                  </a:tcPr>
                </a:tc>
                <a:tc>
                  <a:txBody>
                    <a:bodyPr/>
                    <a:lstStyle/>
                    <a:p>
                      <a:r>
                        <a:rPr sz="850" b="0">
                          <a:solidFill>
                            <a:srgbClr val="4B4B4B"/>
                          </a:solidFill>
                          <a:latin typeface="Arial"/>
                        </a:rPr>
                        <a:t>Cond.: before submission (not for Retire)</a:t>
                      </a:r>
                    </a:p>
                  </a:txBody>
                  <a:tcPr marL="54864" marR="54864" marT="27432" marB="27432">
                    <a:solidFill>
                      <a:srgbClr val="E5F5FF"/>
                    </a:solidFill>
                  </a:tcPr>
                </a:tc>
                <a:tc>
                  <a:txBody>
                    <a:bodyPr/>
                    <a:lstStyle/>
                    <a:p>
                      <a:r>
                        <a:rPr sz="850" b="0">
                          <a:solidFill>
                            <a:srgbClr val="4B4B4B"/>
                          </a:solidFill>
                          <a:latin typeface="Arial"/>
                        </a:rPr>
                        <a:t>After the package start</a:t>
                      </a:r>
                    </a:p>
                  </a:txBody>
                  <a:tcPr marL="54864" marR="54864" marT="27432" marB="27432">
                    <a:solidFill>
                      <a:srgbClr val="E5F5FF"/>
                    </a:solidFill>
                  </a:tcPr>
                </a:tc>
                <a:tc>
                  <a:txBody>
                    <a:bodyPr/>
                    <a:lstStyle/>
                    <a:p>
                      <a:r>
                        <a:rPr sz="850" b="0">
                          <a:solidFill>
                            <a:srgbClr val="4B4B4B"/>
                          </a:solidFill>
                          <a:latin typeface="Arial"/>
                        </a:rPr>
                        <a:t>The package end date must be after its start date</a:t>
                      </a:r>
                    </a:p>
                  </a:txBody>
                  <a:tcPr marL="54864" marR="54864" marT="27432" marB="27432">
                    <a:solidFill>
                      <a:srgbClr val="E5F5FF"/>
                    </a:solidFill>
                  </a:tcPr>
                </a:tc>
              </a:tr>
              <a:tr h="350518">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Rate scheme and package term</a:t>
                      </a:r>
                    </a:p>
                  </a:txBody>
                  <a:tcPr marL="54864" marR="54864" marT="27432" marB="27432">
                    <a:solidFill>
                      <a:srgbClr val="FFFFFF"/>
                    </a:solidFill>
                  </a:tcPr>
                </a:tc>
                <a:tc>
                  <a:txBody>
                    <a:bodyPr/>
                    <a:lstStyle/>
                    <a:p>
                      <a:r>
                        <a:rPr sz="850" b="0">
                          <a:solidFill>
                            <a:srgbClr val="4B4B4B"/>
                          </a:solidFill>
                          <a:latin typeface="Arial"/>
                        </a:rPr>
                        <a:t>Anniversary</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Target insurers</a:t>
                      </a:r>
                    </a:p>
                  </a:txBody>
                  <a:tcPr marL="54864" marR="54864" marT="27432" marB="27432">
                    <a:solidFill>
                      <a:srgbClr val="E5F5FF"/>
                    </a:solidFill>
                  </a:tcPr>
                </a:tc>
                <a:tc>
                  <a:txBody>
                    <a:bodyPr/>
                    <a:lstStyle/>
                    <a:p>
                      <a:r>
                        <a:rPr sz="850" b="0">
                          <a:solidFill>
                            <a:srgbClr val="4B4B4B"/>
                          </a:solidFill>
                          <a:latin typeface="Arial"/>
                        </a:rPr>
                        <a:t>Insurer check boxes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Name of each insurer of the panel</a:t>
                      </a:r>
                    </a:p>
                  </a:txBody>
                  <a:tcPr marL="54864" marR="54864" marT="27432" marB="27432">
                    <a:solidFill>
                      <a:srgbClr val="E5F5FF"/>
                    </a:solidFill>
                  </a:tcPr>
                </a:tc>
                <a:tc>
                  <a:txBody>
                    <a:bodyPr/>
                    <a:lstStyle/>
                    <a:p>
                      <a:r>
                        <a:rPr sz="850" b="0">
                          <a:solidFill>
                            <a:srgbClr val="4B4B4B"/>
                          </a:solidFill>
                          <a:latin typeface="Arial"/>
                        </a:rPr>
                        <a:t>Cond.: at least one when the insurers are approached</a:t>
                      </a:r>
                    </a:p>
                  </a:txBody>
                  <a:tcPr marL="54864" marR="54864" marT="27432" marB="27432">
                    <a:solidFill>
                      <a:srgbClr val="E5F5FF"/>
                    </a:solidFill>
                  </a:tcPr>
                </a:tc>
                <a:tc>
                  <a:txBody>
                    <a:bodyPr/>
                    <a:lstStyle/>
                    <a:p>
                      <a:r>
                        <a:rPr sz="850" b="0">
                          <a:solidFill>
                            <a:srgbClr val="4B4B4B"/>
                          </a:solidFill>
                          <a:latin typeface="Arial"/>
                        </a:rPr>
                        <a:t>Authorised and active insurers</a:t>
                      </a:r>
                    </a:p>
                  </a:txBody>
                  <a:tcPr marL="54864" marR="54864" marT="27432" marB="27432">
                    <a:solidFill>
                      <a:srgbClr val="E5F5FF"/>
                    </a:solidFill>
                  </a:tcPr>
                </a:tc>
                <a:tc>
                  <a:txBody>
                    <a:bodyPr/>
                    <a:lstStyle/>
                    <a:p>
                      <a:r>
                        <a:rPr sz="850" b="0">
                          <a:solidFill>
                            <a:srgbClr val="4B4B4B"/>
                          </a:solidFill>
                          <a:latin typeface="Arial"/>
                        </a:rPr>
                        <a:t>Complete the request: at least one target insurer</a:t>
                      </a:r>
                    </a:p>
                  </a:txBody>
                  <a:tcPr marL="54864" marR="54864" marT="27432" marB="27432">
                    <a:solidFill>
                      <a:srgbClr val="E5F5FF"/>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Documents</a:t>
                      </a:r>
                    </a:p>
                  </a:txBody>
                  <a:tcPr marL="54864" marR="54864" marT="27432" marB="27432">
                    <a:solidFill>
                      <a:srgbClr val="FFFFFF"/>
                    </a:solidFill>
                  </a:tcPr>
                </a:tc>
                <a:tc>
                  <a:txBody>
                    <a:bodyPr/>
                    <a:lstStyle/>
                    <a:p>
                      <a:r>
                        <a:rPr sz="850" b="0">
                          <a:solidFill>
                            <a:srgbClr val="4B4B4B"/>
                          </a:solidFill>
                          <a:latin typeface="Arial"/>
                        </a:rPr>
                        <a:t>Documents panel</a:t>
                      </a:r>
                    </a:p>
                  </a:txBody>
                  <a:tcPr marL="54864" marR="54864" marT="27432" marB="27432">
                    <a:solidFill>
                      <a:srgbClr val="FFFFFF"/>
                    </a:solidFill>
                  </a:tcPr>
                </a:tc>
                <a:tc>
                  <a:txBody>
                    <a:bodyPr/>
                    <a:lstStyle/>
                    <a:p>
                      <a:r>
                        <a:rPr sz="850" b="0">
                          <a:solidFill>
                            <a:srgbClr val="4B4B4B"/>
                          </a:solidFill>
                          <a:latin typeface="Arial"/>
                        </a:rPr>
                        <a:t>Upload</a:t>
                      </a:r>
                    </a:p>
                  </a:txBody>
                  <a:tcPr marL="54864" marR="54864" marT="27432" marB="27432">
                    <a:solidFill>
                      <a:srgbClr val="FFFFFF"/>
                    </a:solidFill>
                  </a:tcPr>
                </a:tc>
                <a:tc>
                  <a:txBody>
                    <a:bodyPr/>
                    <a:lstStyle/>
                    <a:p>
                      <a:r>
                        <a:rPr sz="850" b="0">
                          <a:solidFill>
                            <a:srgbClr val="4B4B4B"/>
                          </a:solidFill>
                          <a:latin typeface="Arial"/>
                        </a:rPr>
                        <a:t>See Common screen elements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File checks of every upload</a:t>
                      </a:r>
                    </a:p>
                  </a:txBody>
                  <a:tcPr marL="54864" marR="54864" marT="27432" marB="27432">
                    <a:solidFill>
                      <a:srgbClr val="FFFFFF"/>
                    </a:solidFill>
                  </a:tcPr>
                </a:tc>
                <a:tc>
                  <a:txBody>
                    <a:bodyPr/>
                    <a:lstStyle/>
                    <a:p>
                      <a:r>
                        <a:rPr sz="850" b="0">
                          <a:solidFill>
                            <a:srgbClr val="4B4B4B"/>
                          </a:solidFill>
                          <a:latin typeface="Arial"/>
                        </a:rPr>
                        <a:t>Save the draft to attach the supporting documents.</a:t>
                      </a:r>
                    </a:p>
                  </a:txBody>
                  <a:tcPr marL="54864" marR="54864" marT="27432" marB="27432">
                    <a:solidFill>
                      <a:srgbClr val="FFFFFF"/>
                    </a:solidFill>
                  </a:tcPr>
                </a:tc>
              </a:tr>
            </a:tbl>
          </a:graphicData>
        </a:graphic>
      </p:graphicFrame>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graphicFrame>
        <p:nvGraphicFramePr>
          <p:cNvPr id="9" name="Table 8"/>
          <p:cNvGraphicFramePr>
            <a:graphicFrameLocks noGrp="1"/>
          </p:cNvGraphicFramePr>
          <p:nvPr/>
        </p:nvGraphicFramePr>
        <p:xfrm>
          <a:off x="548640" y="1325880"/>
          <a:ext cx="11094412" cy="179068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Load Current Terms</a:t>
                      </a:r>
                    </a:p>
                  </a:txBody>
                  <a:tcPr marL="54864" marR="54864" marT="27432" marB="27432">
                    <a:solidFill>
                      <a:srgbClr val="FFFFFF"/>
                    </a:solidFill>
                  </a:tcPr>
                </a:tc>
                <a:tc>
                  <a:txBody>
                    <a:bodyPr/>
                    <a:lstStyle/>
                    <a:p>
                      <a:r>
                        <a:rPr sz="850" b="0">
                          <a:solidFill>
                            <a:srgbClr val="4B4B4B"/>
                          </a:solidFill>
                          <a:latin typeface="Arial"/>
                        </a:rPr>
                        <a:t>Users of the form</a:t>
                      </a:r>
                    </a:p>
                  </a:txBody>
                  <a:tcPr marL="54864" marR="54864" marT="27432" marB="27432">
                    <a:solidFill>
                      <a:srgbClr val="FFFFFF"/>
                    </a:solidFill>
                  </a:tcPr>
                </a:tc>
                <a:tc>
                  <a:txBody>
                    <a:bodyPr/>
                    <a:lstStyle/>
                    <a:p>
                      <a:r>
                        <a:rPr sz="850" b="0">
                          <a:solidFill>
                            <a:srgbClr val="4B4B4B"/>
                          </a:solidFill>
                          <a:latin typeface="Arial"/>
                        </a:rPr>
                        <a:t>Type other than New package and a package product chosen</a:t>
                      </a:r>
                    </a:p>
                  </a:txBody>
                  <a:tcPr marL="54864" marR="54864" marT="27432" marB="27432">
                    <a:solidFill>
                      <a:srgbClr val="FFFFFF"/>
                    </a:solidFill>
                  </a:tcPr>
                </a:tc>
                <a:tc>
                  <a:txBody>
                    <a:bodyPr/>
                    <a:lstStyle/>
                    <a:p>
                      <a:r>
                        <a:rPr sz="850" b="0">
                          <a:solidFill>
                            <a:srgbClr val="4B4B4B"/>
                          </a:solidFill>
                          <a:latin typeface="Arial"/>
                        </a:rPr>
                        <a:t>Copies the terms of the version in force (coverages, rate scheme, dates, insurers) into the requested terms; the sections typed stay</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Save Draft</a:t>
                      </a:r>
                    </a:p>
                  </a:txBody>
                  <a:tcPr marL="54864" marR="54864" marT="27432" marB="27432">
                    <a:solidFill>
                      <a:srgbClr val="E5F5FF"/>
                    </a:solidFill>
                  </a:tcPr>
                </a:tc>
                <a:tc>
                  <a:txBody>
                    <a:bodyPr/>
                    <a:lstStyle/>
                    <a:p>
                      <a:r>
                        <a:rPr sz="850" b="0">
                          <a:solidFill>
                            <a:srgbClr val="4B4B4B"/>
                          </a:solidFill>
                          <a:latin typeface="Arial"/>
                        </a:rPr>
                        <a:t>Marketing AO, Marketing TL, TSU Officer (PKG_REQUEST); TSU Team Lead during the TSU review</a:t>
                      </a:r>
                    </a:p>
                  </a:txBody>
                  <a:tcPr marL="54864" marR="54864" marT="27432" marB="27432">
                    <a:solidFill>
                      <a:srgbClr val="E5F5FF"/>
                    </a:solidFill>
                  </a:tcPr>
                </a:tc>
                <a:tc>
                  <a:txBody>
                    <a:bodyPr/>
                    <a:lstStyle/>
                    <a:p>
                      <a:r>
                        <a:rPr sz="850" b="0">
                          <a:solidFill>
                            <a:srgbClr val="4B4B4B"/>
                          </a:solidFill>
                          <a:latin typeface="Arial"/>
                        </a:rPr>
                        <a:t>No field message on the form</a:t>
                      </a:r>
                    </a:p>
                  </a:txBody>
                  <a:tcPr marL="54864" marR="54864" marT="27432" marB="27432">
                    <a:solidFill>
                      <a:srgbClr val="E5F5FF"/>
                    </a:solidFill>
                  </a:tcPr>
                </a:tc>
                <a:tc>
                  <a:txBody>
                    <a:bodyPr/>
                    <a:lstStyle/>
                    <a:p>
                      <a:r>
                        <a:rPr sz="850" b="0">
                          <a:solidFill>
                            <a:srgbClr val="4B4B4B"/>
                          </a:solidFill>
                          <a:latin typeface="Arial"/>
                        </a:rPr>
                        <a:t>Checks the fields and saves the draft; a new request is numbered PKR-yyyy-nnnnnn</a:t>
                      </a:r>
                    </a:p>
                  </a:txBody>
                  <a:tcPr marL="54864" marR="54864" marT="27432" marB="27432">
                    <a:solidFill>
                      <a:srgbClr val="E5F5FF"/>
                    </a:solidFill>
                  </a:tcPr>
                </a:tc>
                <a:tc>
                  <a:txBody>
                    <a:bodyPr/>
                    <a:lstStyle/>
                    <a:p>
                      <a:r>
                        <a:rPr sz="850" b="0">
                          <a:solidFill>
                            <a:srgbClr val="4B4B4B"/>
                          </a:solidFill>
                          <a:latin typeface="Arial"/>
                        </a:rPr>
                        <a:t>Draft request (new); unchanged (edit)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As Save Draft</a:t>
                      </a:r>
                    </a:p>
                  </a:txBody>
                  <a:tcPr marL="54864" marR="54864" marT="27432" marB="27432">
                    <a:solidFill>
                      <a:srgbClr val="FFFFFF"/>
                    </a:solidFill>
                  </a:tcPr>
                </a:tc>
                <a:tc>
                  <a:txBody>
                    <a:bodyPr/>
                    <a:lstStyle/>
                    <a:p>
                      <a:r>
                        <a:rPr sz="850" b="0">
                          <a:solidFill>
                            <a:srgbClr val="4B4B4B"/>
                          </a:solidFill>
                          <a:latin typeface="Arial"/>
                        </a:rPr>
                        <a:t>No field message on the form</a:t>
                      </a:r>
                    </a:p>
                  </a:txBody>
                  <a:tcPr marL="54864" marR="54864" marT="27432" marB="27432">
                    <a:solidFill>
                      <a:srgbClr val="FFFFFF"/>
                    </a:solidFill>
                  </a:tcPr>
                </a:tc>
                <a:tc>
                  <a:txBody>
                    <a:bodyPr/>
                    <a:lstStyle/>
                    <a:p>
                      <a:r>
                        <a:rPr sz="850" b="0">
                          <a:solidFill>
                            <a:srgbClr val="4B4B4B"/>
                          </a:solidFill>
                          <a:latin typeface="Arial"/>
                        </a:rPr>
                        <a:t>Saves the request, checks that it is complete (requested terms, target insurers when negotiated, package end date, cover type of a new package) and sends it to Marketing approval</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Workflow notice to the Marketing approvers</a:t>
                      </a:r>
                    </a:p>
                  </a:txBody>
                  <a:tcPr marL="54864" marR="54864" marT="27432" marB="27432">
                    <a:solidFill>
                      <a:srgbClr val="FFFFFF"/>
                    </a:solidFill>
                  </a:tcPr>
                </a:tc>
              </a:tr>
            </a:tbl>
          </a:graphicData>
        </a:graphic>
      </p:graphicFrame>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graphicFrame>
        <p:nvGraphicFramePr>
          <p:cNvPr id="9" name="Table 8"/>
          <p:cNvGraphicFramePr>
            <a:graphicFrameLocks noGrp="1"/>
          </p:cNvGraphicFramePr>
          <p:nvPr/>
        </p:nvGraphicFramePr>
        <p:xfrm>
          <a:off x="548640" y="1325880"/>
          <a:ext cx="11094415" cy="21031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request number PKR-yyyy-nnnnnn is given at the first save (parameter PKG_REQUEST_PREFIX) (FR-PM-020).</a:t>
                      </a:r>
                    </a:p>
                  </a:txBody>
                  <a:tcPr marL="54864" marR="54864" marT="27432" marB="27432">
                    <a:solidFill>
                      <a:srgbClr val="FFFFFF"/>
                    </a:solidFill>
                  </a:tcPr>
                </a:tc>
              </a:tr>
              <a:tr h="243840">
                <a:tc>
                  <a:txBody>
                    <a:bodyPr/>
                    <a:lstStyle/>
                    <a:p>
                      <a:r>
                        <a:rPr sz="1000" b="0">
                          <a:solidFill>
                            <a:srgbClr val="4B4B4B"/>
                          </a:solidFill>
                          <a:latin typeface="Arial"/>
                        </a:rPr>
                        <a:t>A new package needs its cover type; every other type needs the packaged product it changes, of the chosen line (FR-PM-010, FR-PM-020).</a:t>
                      </a:r>
                    </a:p>
                  </a:txBody>
                  <a:tcPr marL="54864" marR="54864" marT="27432" marB="27432">
                    <a:solidFill>
                      <a:srgbClr val="E5F5FF"/>
                    </a:solidFill>
                  </a:tcPr>
                </a:tc>
              </a:tr>
              <a:tr h="243840">
                <a:tc>
                  <a:txBody>
                    <a:bodyPr/>
                    <a:lstStyle/>
                    <a:p>
                      <a:r>
                        <a:rPr sz="1000" b="0">
                          <a:solidFill>
                            <a:srgbClr val="4B4B4B"/>
                          </a:solidFill>
                          <a:latin typeface="Arial"/>
                        </a:rPr>
                        <a:t>A client-specific package needs an active client of the client master (FR-PM-020).</a:t>
                      </a:r>
                    </a:p>
                  </a:txBody>
                  <a:tcPr marL="54864" marR="54864" marT="27432" marB="27432">
                    <a:solidFill>
                      <a:srgbClr val="FFFFFF"/>
                    </a:solidFill>
                  </a:tcPr>
                </a:tc>
              </a:tr>
              <a:tr h="243840">
                <a:tc>
                  <a:txBody>
                    <a:bodyPr/>
                    <a:lstStyle/>
                    <a:p>
                      <a:r>
                        <a:rPr sz="1000" b="0">
                          <a:solidFill>
                            <a:srgbClr val="4B4B4B"/>
                          </a:solidFill>
                          <a:latin typeface="Arial"/>
                        </a:rPr>
                        <a:t>New and Amend always go to the insurers; Retire never; Renew, Update and Reactivate go to the insurers only when Negotiate with the insurers is ticked (FR-PM-020, FR-PM-045).</a:t>
                      </a:r>
                    </a:p>
                  </a:txBody>
                  <a:tcPr marL="54864" marR="54864" marT="27432" marB="27432">
                    <a:solidFill>
                      <a:srgbClr val="E5F5FF"/>
                    </a:solidFill>
                  </a:tcPr>
                </a:tc>
              </a:tr>
              <a:tr h="396240">
                <a:tc>
                  <a:txBody>
                    <a:bodyPr/>
                    <a:lstStyle/>
                    <a:p>
                      <a:r>
                        <a:rPr sz="1000" b="0">
                          <a:solidFill>
                            <a:srgbClr val="4B4B4B"/>
                          </a:solidFill>
                          <a:latin typeface="Arial"/>
                        </a:rPr>
                        <a:t>Before submission the request needs its requested terms (coverages or sections), at least one target insurer when negotiated, and the package end date; a retirement needs none of these (FR-PM-020).</a:t>
                      </a:r>
                    </a:p>
                  </a:txBody>
                  <a:tcPr marL="54864" marR="54864" marT="27432" marB="27432">
                    <a:solidFill>
                      <a:srgbClr val="FFFFFF"/>
                    </a:solidFill>
                  </a:tcPr>
                </a:tc>
              </a:tr>
              <a:tr h="243840">
                <a:tc>
                  <a:txBody>
                    <a:bodyPr/>
                    <a:lstStyle/>
                    <a:p>
                      <a:r>
                        <a:rPr sz="1000" b="0">
                          <a:solidFill>
                            <a:srgbClr val="4B4B4B"/>
                          </a:solidFill>
                          <a:latin typeface="Arial"/>
                        </a:rPr>
                        <a:t>The type and the product of a saved request cannot change (FR-PM-020).</a:t>
                      </a:r>
                    </a:p>
                  </a:txBody>
                  <a:tcPr marL="54864" marR="54864" marT="27432" marB="27432">
                    <a:solidFill>
                      <a:srgbClr val="E5F5FF"/>
                    </a:solidFill>
                  </a:tcPr>
                </a:tc>
              </a:tr>
              <a:tr h="243840">
                <a:tc>
                  <a:txBody>
                    <a:bodyPr/>
                    <a:lstStyle/>
                    <a:p>
                      <a:r>
                        <a:rPr sz="1000" b="0">
                          <a:solidFill>
                            <a:srgbClr val="4B4B4B"/>
                          </a:solidFill>
                          <a:latin typeface="Arial"/>
                        </a:rPr>
                        <a:t>A draft is edited by the Marketing or TSU users who create requests; during the TSU review, by the TSU Team Lead (FR-PM-020, FR-PM-022).</a:t>
                      </a:r>
                    </a:p>
                  </a:txBody>
                  <a:tcPr marL="54864" marR="54864" marT="27432" marB="27432">
                    <a:solidFill>
                      <a:srgbClr val="FFFFFF"/>
                    </a:solidFill>
                  </a:tcPr>
                </a:tc>
              </a:tr>
            </a:tbl>
          </a:graphicData>
        </a:graphic>
      </p:graphicFrame>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graphicFrame>
        <p:nvGraphicFramePr>
          <p:cNvPr id="9" name="Table 8"/>
          <p:cNvGraphicFramePr>
            <a:graphicFrameLocks noGrp="1"/>
          </p:cNvGraphicFramePr>
          <p:nvPr/>
        </p:nvGraphicFramePr>
        <p:xfrm>
          <a:off x="548640" y="1325880"/>
          <a:ext cx="11094413" cy="13258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1</a:t>
                      </a:r>
                    </a:p>
                  </a:txBody>
                  <a:tcPr marL="54864" marR="54864" marT="27432" marB="27432">
                    <a:solidFill>
                      <a:srgbClr val="FFFFFF"/>
                    </a:solidFill>
                  </a:tcPr>
                </a:tc>
                <a:tc>
                  <a:txBody>
                    <a:bodyPr/>
                    <a:lstStyle/>
                    <a:p>
                      <a:r>
                        <a:rPr sz="900" b="0">
                          <a:solidFill>
                            <a:srgbClr val="4B4B4B"/>
                          </a:solidFill>
                          <a:latin typeface="Arial"/>
                        </a:rPr>
                        <a:t>Opens New Package Request and clicks Save Draft without the name, line and reason</a:t>
                      </a:r>
                    </a:p>
                  </a:txBody>
                  <a:tcPr marL="54864" marR="54864" marT="27432" marB="27432">
                    <a:solidFill>
                      <a:srgbClr val="FFFFFF"/>
                    </a:solidFill>
                  </a:tcPr>
                </a:tc>
                <a:tc>
                  <a:txBody>
                    <a:bodyPr/>
                    <a:lstStyle/>
                    <a:p>
                      <a:r>
                        <a:rPr sz="900" b="0">
                          <a:solidFill>
                            <a:srgbClr val="4B4B4B"/>
                          </a:solidFill>
                          <a:latin typeface="Arial"/>
                        </a:rPr>
                        <a:t>SCR-PM-03_wt-b-step-01.png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WT-B step 2</a:t>
                      </a:r>
                    </a:p>
                  </a:txBody>
                  <a:tcPr marL="54864" marR="54864" marT="27432" marB="27432">
                    <a:solidFill>
                      <a:srgbClr val="E5F5FF"/>
                    </a:solidFill>
                  </a:tcPr>
                </a:tc>
                <a:tc>
                  <a:txBody>
                    <a:bodyPr/>
                    <a:lstStyle/>
                    <a:p>
                      <a:r>
                        <a:rPr sz="900" b="0">
                          <a:solidFill>
                            <a:srgbClr val="4B4B4B"/>
                          </a:solidFill>
                          <a:latin typeface="Arial"/>
                        </a:rPr>
                        <a:t>Completes the header only and clicks Submit for Approval</a:t>
                      </a:r>
                    </a:p>
                  </a:txBody>
                  <a:tcPr marL="54864" marR="54864" marT="27432" marB="27432">
                    <a:solidFill>
                      <a:srgbClr val="E5F5FF"/>
                    </a:solidFill>
                  </a:tcPr>
                </a:tc>
                <a:tc>
                  <a:txBody>
                    <a:bodyPr/>
                    <a:lstStyle/>
                    <a:p>
                      <a:r>
                        <a:rPr sz="900" b="0">
                          <a:solidFill>
                            <a:srgbClr val="4B4B4B"/>
                          </a:solidFill>
                          <a:latin typeface="Arial"/>
                        </a:rPr>
                        <a:t>SCR-PM-03_wt-b-step-02.png</a:t>
                      </a:r>
                    </a:p>
                  </a:txBody>
                  <a:tcPr marL="54864" marR="54864" marT="27432" marB="27432">
                    <a:solidFill>
                      <a:srgbClr val="E5F5FF"/>
                    </a:solidFill>
                  </a:tcPr>
                </a:tc>
              </a:tr>
              <a:tr h="64008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3</a:t>
                      </a:r>
                    </a:p>
                  </a:txBody>
                  <a:tcPr marL="54864" marR="54864" marT="27432" marB="27432">
                    <a:solidFill>
                      <a:srgbClr val="FFFFFF"/>
                    </a:solidFill>
                  </a:tcPr>
                </a:tc>
                <a:tc>
                  <a:txBody>
                    <a:bodyPr/>
                    <a:lstStyle/>
                    <a:p>
                      <a:r>
                        <a:rPr sz="900" b="0">
                          <a:solidFill>
                            <a:srgbClr val="4B4B4B"/>
                          </a:solidFill>
                          <a:latin typeface="Arial"/>
                        </a:rPr>
                        <a:t>Opens Package Requests › New Package Request, chooses New package and Generic programme, enters Motor Fleet Plus, line Motor, cover type Comprehensive, reason New programme for a market segment, the segments, the requested coverages, rate 1.20%, minimum premium and package dates, ticks Mabuhay General Insurance Corp. and Luzon Assurance Co., and clicks Submit for Approval</a:t>
                      </a:r>
                    </a:p>
                  </a:txBody>
                  <a:tcPr marL="54864" marR="54864" marT="27432" marB="27432">
                    <a:solidFill>
                      <a:srgbClr val="FFFFFF"/>
                    </a:solidFill>
                  </a:tcPr>
                </a:tc>
                <a:tc>
                  <a:txBody>
                    <a:bodyPr/>
                    <a:lstStyle/>
                    <a:p>
                      <a:r>
                        <a:rPr sz="900" b="0">
                          <a:solidFill>
                            <a:srgbClr val="4B4B4B"/>
                          </a:solidFill>
                          <a:latin typeface="Arial"/>
                        </a:rPr>
                        <a:t>SCR-PM-03_wt-a-step-03.png</a:t>
                      </a:r>
                    </a:p>
                  </a:txBody>
                  <a:tcPr marL="54864" marR="54864" marT="27432" marB="27432">
                    <a:solidFill>
                      <a:srgbClr val="FFFFFF"/>
                    </a:solidFill>
                  </a:tcPr>
                </a:tc>
              </a:tr>
            </a:tbl>
          </a:graphicData>
        </a:graphic>
      </p:graphicFrame>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7.png"/>
          <p:cNvPicPr>
            <a:picLocks noChangeAspect="1"/>
          </p:cNvPicPr>
          <p:nvPr/>
        </p:nvPicPr>
        <p:blipFill>
          <a:blip r:embed="rId3"/>
          <a:stretch>
            <a:fillRect/>
          </a:stretch>
        </p:blipFill>
        <p:spPr>
          <a:xfrm>
            <a:off x="548640" y="1261872"/>
            <a:ext cx="11094415" cy="3739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1 of 4)</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2 of 4)</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3 of 4)</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0.png"/>
          <p:cNvPicPr>
            <a:picLocks noChangeAspect="1"/>
          </p:cNvPicPr>
          <p:nvPr/>
        </p:nvPicPr>
        <p:blipFill>
          <a:blip r:embed="rId3"/>
          <a:stretch>
            <a:fillRect/>
          </a:stretch>
        </p:blipFill>
        <p:spPr>
          <a:xfrm>
            <a:off x="548640" y="1261872"/>
            <a:ext cx="11094415" cy="43421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form (part 4 of 4)</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1.png"/>
          <p:cNvPicPr>
            <a:picLocks noChangeAspect="1"/>
          </p:cNvPicPr>
          <p:nvPr/>
        </p:nvPicPr>
        <p:blipFill>
          <a:blip r:embed="rId3"/>
          <a:stretch>
            <a:fillRect/>
          </a:stretch>
        </p:blipFill>
        <p:spPr>
          <a:xfrm>
            <a:off x="548640" y="1261872"/>
            <a:ext cx="11094415" cy="373958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1 of 5)</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2 of 5)</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3 of 5)</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4 of 5)</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Filled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085.png"/>
          <p:cNvPicPr>
            <a:picLocks noChangeAspect="1"/>
          </p:cNvPicPr>
          <p:nvPr/>
        </p:nvPicPr>
        <p:blipFill>
          <a:blip r:embed="rId3"/>
          <a:stretch>
            <a:fillRect/>
          </a:stretch>
        </p:blipFill>
        <p:spPr>
          <a:xfrm>
            <a:off x="548640" y="1261872"/>
            <a:ext cx="11094415" cy="25823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Package Request with the requested terms and target insurers entered (part 5 of 5)</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1 of 4)</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2 of 4)</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8.png"/>
          <p:cNvPicPr>
            <a:picLocks noChangeAspect="1"/>
          </p:cNvPicPr>
          <p:nvPr/>
        </p:nvPicPr>
        <p:blipFill>
          <a:blip r:embed="rId3"/>
          <a:stretch>
            <a:fillRect/>
          </a:stretch>
        </p:blipFill>
        <p:spPr>
          <a:xfrm>
            <a:off x="548640" y="1261872"/>
            <a:ext cx="11094415" cy="44186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3 of 4)</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Validation error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089.png"/>
          <p:cNvPicPr>
            <a:picLocks noChangeAspect="1"/>
          </p:cNvPicPr>
          <p:nvPr/>
        </p:nvPicPr>
        <p:blipFill>
          <a:blip r:embed="rId3"/>
          <a:stretch>
            <a:fillRect/>
          </a:stretch>
        </p:blipFill>
        <p:spPr>
          <a:xfrm>
            <a:off x="548640" y="1261872"/>
            <a:ext cx="11094415" cy="412214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after Save Draft without the name, line and reason (part 4 of 4)</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90.png"/>
          <p:cNvPicPr>
            <a:picLocks noChangeAspect="1"/>
          </p:cNvPicPr>
          <p:nvPr/>
        </p:nvPicPr>
        <p:blipFill>
          <a:blip r:embed="rId3"/>
          <a:stretch>
            <a:fillRect/>
          </a:stretch>
        </p:blipFill>
        <p:spPr>
          <a:xfrm>
            <a:off x="548640" y="1261872"/>
            <a:ext cx="11094415" cy="44311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1 of 4)</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91.png"/>
          <p:cNvPicPr>
            <a:picLocks noChangeAspect="1"/>
          </p:cNvPicPr>
          <p:nvPr/>
        </p:nvPicPr>
        <p:blipFill>
          <a:blip r:embed="rId3"/>
          <a:stretch>
            <a:fillRect/>
          </a:stretch>
        </p:blipFill>
        <p:spPr>
          <a:xfrm>
            <a:off x="548640" y="1261872"/>
            <a:ext cx="11094415" cy="45261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2 of 4)</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92.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3 of 4)</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SCR-PM-03 New Package Request and Edit Package Request: Success message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093.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The request saved as a draft, with the confirmation (part 4 of 4)</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Package Request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package request: its number, stage and flags, the key facts (type, client or programme, line and product, scheme rate, package term, insurers), the workflow header (stage stepper, then Current Stage, Since, Due and Assigned To) with the actions of the stage, and the tabs Details, Requested Terms, Negotiation, Comparative, Requirements &amp; Sign-off, Set-up, Advisories, Documents, E-mails and History. This section specifies the header, the stage actions and the tabs Details, Requested Terms, Documents, E-mails and History; the other tabs have their own sections (SCR-PM-05 to SCR-PM-08).</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Requests › a row</a:t>
                      </a:r>
                    </a:p>
                    <a:p>
                      <a:r>
                        <a:rPr sz="950" b="0">
                          <a:solidFill>
                            <a:srgbClr val="4B4B4B"/>
                          </a:solidFill>
                          <a:latin typeface="Arial"/>
                        </a:rPr>
                        <a:t>TSU Workbench › a row</a:t>
                      </a:r>
                    </a:p>
                    <a:p>
                      <a:r>
                        <a:rPr sz="950" b="0">
                          <a:solidFill>
                            <a:srgbClr val="4B4B4B"/>
                          </a:solidFill>
                          <a:latin typeface="Arial"/>
                        </a:rPr>
                        <a:t>A workflow notice or an assignment notice (bell)</a:t>
                      </a:r>
                    </a:p>
                    <a:p>
                      <a:r>
                        <a:rPr sz="950" b="0">
                          <a:solidFill>
                            <a:srgbClr val="4B4B4B"/>
                          </a:solidFill>
                          <a:latin typeface="Arial"/>
                        </a:rPr>
                        <a:t>Package Expiry › the renewal request number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FR-PM-021, FR-PM-022, FR-PM-023, FR-PM-024, FR-PM-005, FR-PM-073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request moves stage by stage with every decision, reason and document recorded, and each user sees only the actions of his stage.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bl>
          </a:graphicData>
        </a:graphic>
      </p:graphicFrame>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graphicFrame>
        <p:nvGraphicFramePr>
          <p:cNvPr id="9" name="Table 8"/>
          <p:cNvGraphicFramePr>
            <a:graphicFrameLocks noGrp="1"/>
          </p:cNvGraphicFramePr>
          <p:nvPr/>
        </p:nvGraphicFramePr>
        <p:xfrm>
          <a:off x="548640" y="1325880"/>
          <a:ext cx="11094411" cy="455673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Request</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PKR-yyyy-nnnnnn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Stage of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Scope and negotiation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Generic or Client-specific; No negotiation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Request type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Client / programme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Client name or Generic programme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Line / product</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Line · risk code and resulting version, or new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Scheme rate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 of the proposed terms, else of the requested terms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Package term</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Package start – package end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Target insurers / Chosen insurers</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Insurer codes; the chosen insurers once the terms are final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Workflow</a:t>
                      </a:r>
                    </a:p>
                  </a:txBody>
                  <a:tcPr marL="54864" marR="54864" marT="27432" marB="27432">
                    <a:solidFill>
                      <a:srgbClr val="E5F5FF"/>
                    </a:solidFill>
                  </a:tcPr>
                </a:tc>
                <a:tc>
                  <a:txBody>
                    <a:bodyPr/>
                    <a:lstStyle/>
                    <a:p>
                      <a:r>
                        <a:rPr sz="850" b="0">
                          <a:solidFill>
                            <a:srgbClr val="4B4B4B"/>
                          </a:solidFill>
                          <a:latin typeface="Arial"/>
                        </a:rPr>
                        <a:t>Stage stepper and meta row</a:t>
                      </a:r>
                    </a:p>
                  </a:txBody>
                  <a:tcPr marL="54864" marR="54864" marT="27432" marB="27432">
                    <a:solidFill>
                      <a:srgbClr val="E5F5FF"/>
                    </a:solidFill>
                  </a:tcPr>
                </a:tc>
                <a:tc>
                  <a:txBody>
                    <a:bodyPr/>
                    <a:lstStyle/>
                    <a:p>
                      <a:r>
                        <a:rPr sz="850" b="0">
                          <a:solidFill>
                            <a:srgbClr val="4B4B4B"/>
                          </a:solidFill>
                          <a:latin typeface="Arial"/>
                        </a:rPr>
                        <a:t>Panel</a:t>
                      </a:r>
                    </a:p>
                  </a:txBody>
                  <a:tcPr marL="54864" marR="54864" marT="27432" marB="27432">
                    <a:solidFill>
                      <a:srgbClr val="E5F5FF"/>
                    </a:solidFill>
                  </a:tcPr>
                </a:tc>
                <a:tc>
                  <a:txBody>
                    <a:bodyPr/>
                    <a:lstStyle/>
                    <a:p>
                      <a:r>
                        <a:rPr sz="850" b="0">
                          <a:solidFill>
                            <a:srgbClr val="4B4B4B"/>
                          </a:solidFill>
                          <a:latin typeface="Arial"/>
                        </a:rPr>
                        <a:t>The stages of the request in order, the current one highlighted; Current Stage, Since, Due, Assigned To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Overdue pill after the due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Details › Request</a:t>
                      </a:r>
                    </a:p>
                  </a:txBody>
                  <a:tcPr marL="54864" marR="54864" marT="27432" marB="27432">
                    <a:solidFill>
                      <a:srgbClr val="FFFFFF"/>
                    </a:solidFill>
                  </a:tcPr>
                </a:tc>
                <a:tc>
                  <a:txBody>
                    <a:bodyPr/>
                    <a:lstStyle/>
                    <a:p>
                      <a:r>
                        <a:rPr sz="850" b="0">
                          <a:solidFill>
                            <a:srgbClr val="4B4B4B"/>
                          </a:solidFill>
                          <a:latin typeface="Arial"/>
                        </a:rPr>
                        <a:t>Type / Scope / Client / Line / cover type / Market segments / Reason / Negotiation / TSU recommendation</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entered on the form; Negotiation: Insurers approached or No negotiation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Details › Approvals and steps</a:t>
                      </a:r>
                    </a:p>
                  </a:txBody>
                  <a:tcPr marL="54864" marR="54864" marT="27432" marB="27432">
                    <a:solidFill>
                      <a:srgbClr val="E5F5FF"/>
                    </a:solidFill>
                  </a:tcPr>
                </a:tc>
                <a:tc>
                  <a:txBody>
                    <a:bodyPr/>
                    <a:lstStyle/>
                    <a:p>
                      <a:r>
                        <a:rPr sz="850" b="0">
                          <a:solidFill>
                            <a:srgbClr val="4B4B4B"/>
                          </a:solidFill>
                          <a:latin typeface="Arial"/>
                        </a:rPr>
                        <a:t>Submitted / Marketing approval / TSU recommendation / TSU Head approval / Terms final / Requirements to ManCom / MBS set-up / Released</a:t>
                      </a:r>
                    </a:p>
                  </a:txBody>
                  <a:tcPr marL="54864" marR="54864" marT="27432" marB="27432">
                    <a:solidFill>
                      <a:srgbClr val="E5F5FF"/>
                    </a:solidFill>
                  </a:tcPr>
                </a:tc>
                <a:tc>
                  <a:txBody>
                    <a:bodyPr/>
                    <a:lstStyle/>
                    <a:p>
                      <a:r>
                        <a:rPr sz="850" b="0">
                          <a:solidFill>
                            <a:srgbClr val="4B4B4B"/>
                          </a:solidFill>
                          <a:latin typeface="Arial"/>
                        </a:rPr>
                        <a:t>Detail</a:t>
                      </a:r>
                    </a:p>
                  </a:txBody>
                  <a:tcPr marL="54864" marR="54864" marT="27432" marB="27432">
                    <a:solidFill>
                      <a:srgbClr val="E5F5FF"/>
                    </a:solidFill>
                  </a:tcPr>
                </a:tc>
                <a:tc>
                  <a:txBody>
                    <a:bodyPr/>
                    <a:lstStyle/>
                    <a:p>
                      <a:r>
                        <a:rPr sz="850" b="0">
                          <a:solidFill>
                            <a:srgbClr val="4B4B4B"/>
                          </a:solidFill>
                          <a:latin typeface="Arial"/>
                        </a:rPr>
                        <a:t>User · dd-MMM-yyyy HH:mm, or a dash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graphicFrame>
        <p:nvGraphicFramePr>
          <p:cNvPr id="9" name="Table 8"/>
          <p:cNvGraphicFramePr>
            <a:graphicFrameLocks noGrp="1"/>
          </p:cNvGraphicFramePr>
          <p:nvPr/>
        </p:nvGraphicFramePr>
        <p:xfrm>
          <a:off x="548640" y="1325880"/>
          <a:ext cx="11094411" cy="24917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868674">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Requested Terms</a:t>
                      </a:r>
                    </a:p>
                  </a:txBody>
                  <a:tcPr marL="54864" marR="54864" marT="27432" marB="27432">
                    <a:solidFill>
                      <a:srgbClr val="FFFFFF"/>
                    </a:solidFill>
                  </a:tcPr>
                </a:tc>
                <a:tc>
                  <a:txBody>
                    <a:bodyPr/>
                    <a:lstStyle/>
                    <a:p>
                      <a:r>
                        <a:rPr sz="850" b="0">
                          <a:solidFill>
                            <a:srgbClr val="4B4B4B"/>
                          </a:solidFill>
                          <a:latin typeface="Arial"/>
                        </a:rPr>
                        <a:t>Sections, coverages, rate scheme, dates and insurers</a:t>
                      </a:r>
                    </a:p>
                  </a:txBody>
                  <a:tcPr marL="54864" marR="54864" marT="27432" marB="27432">
                    <a:solidFill>
                      <a:srgbClr val="FFFFFF"/>
                    </a:solidFill>
                  </a:tcPr>
                </a:tc>
                <a:tc>
                  <a:txBody>
                    <a:bodyPr/>
                    <a:lstStyle/>
                    <a:p>
                      <a:r>
                        <a:rPr sz="850" b="0">
                          <a:solidFill>
                            <a:srgbClr val="4B4B4B"/>
                          </a:solidFill>
                          <a:latin typeface="Arial"/>
                        </a:rPr>
                        <a:t>Read-only view</a:t>
                      </a:r>
                    </a:p>
                  </a:txBody>
                  <a:tcPr marL="54864" marR="54864" marT="27432" marB="27432">
                    <a:solidFill>
                      <a:srgbClr val="FFFFFF"/>
                    </a:solidFill>
                  </a:tcPr>
                </a:tc>
                <a:tc>
                  <a:txBody>
                    <a:bodyPr/>
                    <a:lstStyle/>
                    <a:p>
                      <a:r>
                        <a:rPr sz="850" b="0">
                          <a:solidFill>
                            <a:srgbClr val="4B4B4B"/>
                          </a:solidFill>
                          <a:latin typeface="Arial"/>
                        </a:rPr>
                        <a:t>Sections; Coverage, Included, Limit, Deductible; Rate / minimum premium; Commission / TSI limit; Computation basis; Effective from; Package term; Insurer, Role, Share %, Rate %, Minimum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History › Status history</a:t>
                      </a:r>
                    </a:p>
                  </a:txBody>
                  <a:tcPr marL="54864" marR="54864" marT="27432" marB="27432">
                    <a:solidFill>
                      <a:srgbClr val="E5F5FF"/>
                    </a:solidFill>
                  </a:tcPr>
                </a:tc>
                <a:tc>
                  <a:txBody>
                    <a:bodyPr/>
                    <a:lstStyle/>
                    <a:p>
                      <a:r>
                        <a:rPr sz="850" b="0">
                          <a:solidFill>
                            <a:srgbClr val="4B4B4B"/>
                          </a:solidFill>
                          <a:latin typeface="Arial"/>
                        </a:rPr>
                        <a:t>Stage / From Stage / Action / By / Date and Time / Remarks / Duration in Stage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Newest first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History › Insurer response revisions</a:t>
                      </a:r>
                    </a:p>
                  </a:txBody>
                  <a:tcPr marL="54864" marR="54864" marT="27432" marB="27432">
                    <a:solidFill>
                      <a:srgbClr val="FFFFFF"/>
                    </a:solidFill>
                  </a:tcPr>
                </a:tc>
                <a:tc>
                  <a:txBody>
                    <a:bodyPr/>
                    <a:lstStyle/>
                    <a:p>
                      <a:r>
                        <a:rPr sz="850" b="0">
                          <a:solidFill>
                            <a:srgbClr val="4B4B4B"/>
                          </a:solidFill>
                          <a:latin typeface="Arial"/>
                        </a:rPr>
                        <a:t>Changed / By / Rev. / Outcome / Rate % / Remarks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Every saved revision of every insurer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response keyed in yet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Documents</a:t>
                      </a:r>
                    </a:p>
                  </a:txBody>
                  <a:tcPr marL="54864" marR="54864" marT="27432" marB="27432">
                    <a:solidFill>
                      <a:srgbClr val="E5F5FF"/>
                    </a:solidFill>
                  </a:tcPr>
                </a:tc>
                <a:tc>
                  <a:txBody>
                    <a:bodyPr/>
                    <a:lstStyle/>
                    <a:p>
                      <a:r>
                        <a:rPr sz="850" b="0">
                          <a:solidFill>
                            <a:srgbClr val="4B4B4B"/>
                          </a:solidFill>
                          <a:latin typeface="Arial"/>
                        </a:rPr>
                        <a:t>Documents panel</a:t>
                      </a:r>
                    </a:p>
                  </a:txBody>
                  <a:tcPr marL="54864" marR="54864" marT="27432" marB="27432">
                    <a:solidFill>
                      <a:srgbClr val="E5F5FF"/>
                    </a:solidFill>
                  </a:tcPr>
                </a:tc>
                <a:tc>
                  <a:txBody>
                    <a:bodyPr/>
                    <a:lstStyle/>
                    <a:p>
                      <a:r>
                        <a:rPr sz="850" b="0">
                          <a:solidFill>
                            <a:srgbClr val="4B4B4B"/>
                          </a:solidFill>
                          <a:latin typeface="Arial"/>
                        </a:rPr>
                        <a:t>Table and upload</a:t>
                      </a:r>
                    </a:p>
                  </a:txBody>
                  <a:tcPr marL="54864" marR="54864" marT="27432" marB="27432">
                    <a:solidFill>
                      <a:srgbClr val="E5F5FF"/>
                    </a:solidFill>
                  </a:tcPr>
                </a:tc>
                <a:tc>
                  <a:txBody>
                    <a:bodyPr/>
                    <a:lstStyle/>
                    <a:p>
                      <a:r>
                        <a:rPr sz="850" b="0">
                          <a:solidFill>
                            <a:srgbClr val="4B4B4B"/>
                          </a:solidFill>
                          <a:latin typeface="Arial"/>
                        </a:rPr>
                        <a:t>See Common screen elements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File checks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E-mails</a:t>
                      </a:r>
                    </a:p>
                  </a:txBody>
                  <a:tcPr marL="54864" marR="54864" marT="27432" marB="27432">
                    <a:solidFill>
                      <a:srgbClr val="FFFFFF"/>
                    </a:solidFill>
                  </a:tcPr>
                </a:tc>
                <a:tc>
                  <a:txBody>
                    <a:bodyPr/>
                    <a:lstStyle/>
                    <a:p>
                      <a:r>
                        <a:rPr sz="850" b="0">
                          <a:solidFill>
                            <a:srgbClr val="4B4B4B"/>
                          </a:solidFill>
                          <a:latin typeface="Arial"/>
                        </a:rPr>
                        <a:t>Sent e-mails</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Recipient, subject, attachments,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graphicFrame>
        <p:nvGraphicFramePr>
          <p:cNvPr id="9" name="Table 8"/>
          <p:cNvGraphicFramePr>
            <a:graphicFrameLocks noGrp="1"/>
          </p:cNvGraphicFramePr>
          <p:nvPr/>
        </p:nvGraphicFramePr>
        <p:xfrm>
          <a:off x="548640" y="1325880"/>
          <a:ext cx="11094412" cy="454149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Request Form</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Package Request Form (PDF) with the requested terms</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Edit</a:t>
                      </a:r>
                    </a:p>
                  </a:txBody>
                  <a:tcPr marL="54864" marR="54864" marT="27432" marB="27432">
                    <a:solidFill>
                      <a:srgbClr val="E5F5FF"/>
                    </a:solidFill>
                  </a:tcPr>
                </a:tc>
                <a:tc>
                  <a:txBody>
                    <a:bodyPr/>
                    <a:lstStyle/>
                    <a:p>
                      <a:r>
                        <a:rPr sz="850" b="0">
                          <a:solidFill>
                            <a:srgbClr val="4B4B4B"/>
                          </a:solidFill>
                          <a:latin typeface="Arial"/>
                        </a:rPr>
                        <a:t>PKG_REQUEST in Draft; PKG_TSU_RECOMMEND (TSU Team Lead) in For TSU review</a:t>
                      </a:r>
                    </a:p>
                  </a:txBody>
                  <a:tcPr marL="54864" marR="54864" marT="27432" marB="27432">
                    <a:solidFill>
                      <a:srgbClr val="E5F5FF"/>
                    </a:solidFill>
                  </a:tcPr>
                </a:tc>
                <a:tc>
                  <a:txBody>
                    <a:bodyPr/>
                    <a:lstStyle/>
                    <a:p>
                      <a:r>
                        <a:rPr sz="850" b="0">
                          <a:solidFill>
                            <a:srgbClr val="4B4B4B"/>
                          </a:solidFill>
                          <a:latin typeface="Arial"/>
                        </a:rPr>
                        <a:t>Draft or For TSU review</a:t>
                      </a:r>
                    </a:p>
                  </a:txBody>
                  <a:tcPr marL="54864" marR="54864" marT="27432" marB="27432">
                    <a:solidFill>
                      <a:srgbClr val="E5F5FF"/>
                    </a:solidFill>
                  </a:tcPr>
                </a:tc>
                <a:tc>
                  <a:txBody>
                    <a:bodyPr/>
                    <a:lstStyle/>
                    <a:p>
                      <a:r>
                        <a:rPr sz="850" b="0">
                          <a:solidFill>
                            <a:srgbClr val="4B4B4B"/>
                          </a:solidFill>
                          <a:latin typeface="Arial"/>
                        </a:rPr>
                        <a:t>Opens Edit Package Request</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approval</a:t>
                      </a:r>
                    </a:p>
                  </a:txBody>
                  <a:tcPr marL="54864" marR="54864" marT="27432" marB="27432">
                    <a:solidFill>
                      <a:srgbClr val="FFFFFF"/>
                    </a:solidFill>
                  </a:tcPr>
                </a:tc>
                <a:tc>
                  <a:txBody>
                    <a:bodyPr/>
                    <a:lstStyle/>
                    <a:p>
                      <a:r>
                        <a:rPr sz="850" b="0">
                          <a:solidFill>
                            <a:srgbClr val="4B4B4B"/>
                          </a:solidFill>
                          <a:latin typeface="Arial"/>
                        </a:rPr>
                        <a:t>PKG_REQUEST</a:t>
                      </a:r>
                    </a:p>
                  </a:txBody>
                  <a:tcPr marL="54864" marR="54864" marT="27432" marB="27432">
                    <a:solidFill>
                      <a:srgbClr val="FFFFFF"/>
                    </a:solidFill>
                  </a:tcPr>
                </a:tc>
                <a:tc>
                  <a:txBody>
                    <a:bodyPr/>
                    <a:lstStyle/>
                    <a:p>
                      <a:r>
                        <a:rPr sz="850" b="0">
                          <a:solidFill>
                            <a:srgbClr val="4B4B4B"/>
                          </a:solidFill>
                          <a:latin typeface="Arial"/>
                        </a:rPr>
                        <a:t>Draft; the request is complete</a:t>
                      </a:r>
                    </a:p>
                  </a:txBody>
                  <a:tcPr marL="54864" marR="54864" marT="27432" marB="27432">
                    <a:solidFill>
                      <a:srgbClr val="FFFFFF"/>
                    </a:solidFill>
                  </a:tcPr>
                </a:tc>
                <a:tc>
                  <a:txBody>
                    <a:bodyPr/>
                    <a:lstStyle/>
                    <a:p>
                      <a:r>
                        <a:rPr sz="850" b="0">
                          <a:solidFill>
                            <a:srgbClr val="4B4B4B"/>
                          </a:solidFill>
                          <a:latin typeface="Arial"/>
                        </a:rPr>
                        <a:t>Checks completeness and submits</a:t>
                      </a:r>
                    </a:p>
                  </a:txBody>
                  <a:tcPr marL="54864" marR="54864" marT="27432" marB="27432">
                    <a:solidFill>
                      <a:srgbClr val="FFFFFF"/>
                    </a:solidFill>
                  </a:tcPr>
                </a:tc>
                <a:tc>
                  <a:txBody>
                    <a:bodyPr/>
                    <a:lstStyle/>
                    <a:p>
                      <a:r>
                        <a:rPr sz="850" b="0">
                          <a:solidFill>
                            <a:srgbClr val="4B4B4B"/>
                          </a:solidFill>
                          <a:latin typeface="Arial"/>
                        </a:rPr>
                        <a:t>For Marketing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and send to TSU</a:t>
                      </a:r>
                    </a:p>
                  </a:txBody>
                  <a:tcPr marL="54864" marR="54864" marT="27432" marB="27432">
                    <a:solidFill>
                      <a:srgbClr val="E5F5FF"/>
                    </a:solidFill>
                  </a:tcPr>
                </a:tc>
                <a:tc>
                  <a:txBody>
                    <a:bodyPr/>
                    <a:lstStyle/>
                    <a:p>
                      <a:r>
                        <a:rPr sz="850" b="0">
                          <a:solidFill>
                            <a:srgbClr val="4B4B4B"/>
                          </a:solidFill>
                          <a:latin typeface="Arial"/>
                        </a:rPr>
                        <a:t>Marketing TL / TH / UH (PKG_REQUEST_APPROVE)</a:t>
                      </a:r>
                    </a:p>
                  </a:txBody>
                  <a:tcPr marL="54864" marR="54864" marT="27432" marB="27432">
                    <a:solidFill>
                      <a:srgbClr val="E5F5FF"/>
                    </a:solidFill>
                  </a:tcPr>
                </a:tc>
                <a:tc>
                  <a:txBody>
                    <a:bodyPr/>
                    <a:lstStyle/>
                    <a:p>
                      <a:r>
                        <a:rPr sz="850" b="0">
                          <a:solidFill>
                            <a:srgbClr val="4B4B4B"/>
                          </a:solidFill>
                          <a:latin typeface="Arial"/>
                        </a:rPr>
                        <a:t>For Marketing approval; the user is not the maker or the submitter</a:t>
                      </a:r>
                    </a:p>
                  </a:txBody>
                  <a:tcPr marL="54864" marR="54864" marT="27432" marB="27432">
                    <a:solidFill>
                      <a:srgbClr val="E5F5FF"/>
                    </a:solidFill>
                  </a:tcPr>
                </a:tc>
                <a:tc>
                  <a:txBody>
                    <a:bodyPr/>
                    <a:lstStyle/>
                    <a:p>
                      <a:r>
                        <a:rPr sz="850" b="0">
                          <a:solidFill>
                            <a:srgbClr val="4B4B4B"/>
                          </a:solidFill>
                          <a:latin typeface="Arial"/>
                        </a:rPr>
                        <a:t>Records the Marketing approval</a:t>
                      </a:r>
                    </a:p>
                  </a:txBody>
                  <a:tcPr marL="54864" marR="54864" marT="27432" marB="27432">
                    <a:solidFill>
                      <a:srgbClr val="E5F5FF"/>
                    </a:solidFill>
                  </a:tcPr>
                </a:tc>
                <a:tc>
                  <a:txBody>
                    <a:bodyPr/>
                    <a:lstStyle/>
                    <a:p>
                      <a:r>
                        <a:rPr sz="850" b="0">
                          <a:solidFill>
                            <a:srgbClr val="4B4B4B"/>
                          </a:solidFill>
                          <a:latin typeface="Arial"/>
                        </a:rPr>
                        <a:t>For TSU review</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Return to requester</a:t>
                      </a:r>
                    </a:p>
                  </a:txBody>
                  <a:tcPr marL="54864" marR="54864" marT="27432" marB="27432">
                    <a:solidFill>
                      <a:srgbClr val="FFFFFF"/>
                    </a:solidFill>
                  </a:tcPr>
                </a:tc>
                <a:tc>
                  <a:txBody>
                    <a:bodyPr/>
                    <a:lstStyle/>
                    <a:p>
                      <a:r>
                        <a:rPr sz="850" b="0">
                          <a:solidFill>
                            <a:srgbClr val="4B4B4B"/>
                          </a:solidFill>
                          <a:latin typeface="Arial"/>
                        </a:rPr>
                        <a:t>Marketing TL (For Marketing approval); TSU Team Lead (For TSU review); TSU Head (For TSU Head approval)</a:t>
                      </a:r>
                    </a:p>
                  </a:txBody>
                  <a:tcPr marL="54864" marR="54864" marT="27432" marB="27432">
                    <a:solidFill>
                      <a:srgbClr val="FFFFFF"/>
                    </a:solidFill>
                  </a:tcPr>
                </a:tc>
                <a:tc>
                  <a:txBody>
                    <a:bodyPr/>
                    <a:lstStyle/>
                    <a:p>
                      <a:r>
                        <a:rPr sz="850" b="0">
                          <a:solidFill>
                            <a:srgbClr val="4B4B4B"/>
                          </a:solidFill>
                          <a:latin typeface="Arial"/>
                        </a:rPr>
                        <a:t>Those stages</a:t>
                      </a:r>
                    </a:p>
                  </a:txBody>
                  <a:tcPr marL="54864" marR="54864" marT="27432" marB="27432">
                    <a:solidFill>
                      <a:srgbClr val="FFFFFF"/>
                    </a:solidFill>
                  </a:tcPr>
                </a:tc>
                <a:tc>
                  <a:txBody>
                    <a:bodyPr/>
                    <a:lstStyle/>
                    <a:p>
                      <a:r>
                        <a:rPr sz="850" b="0">
                          <a:solidFill>
                            <a:srgbClr val="4B4B4B"/>
                          </a:solidFill>
                          <a:latin typeface="Arial"/>
                        </a:rPr>
                        <a:t>Opens the reason dialog (Return reason, mandatory; Comment) and returns the request</a:t>
                      </a:r>
                    </a:p>
                  </a:txBody>
                  <a:tcPr marL="54864" marR="54864" marT="27432" marB="27432">
                    <a:solidFill>
                      <a:srgbClr val="FFFFFF"/>
                    </a:solidFill>
                  </a:tcPr>
                </a:tc>
                <a:tc>
                  <a:txBody>
                    <a:bodyPr/>
                    <a:lstStyle/>
                    <a:p>
                      <a:r>
                        <a:rPr sz="850" b="0">
                          <a:solidFill>
                            <a:srgbClr val="4B4B4B"/>
                          </a:solidFill>
                          <a:latin typeface="Arial"/>
                        </a:rPr>
                        <a:t>Draft request</a:t>
                      </a:r>
                    </a:p>
                  </a:txBody>
                  <a:tcPr marL="54864" marR="54864" marT="27432" marB="27432">
                    <a:solidFill>
                      <a:srgbClr val="FFFFFF"/>
                    </a:solidFill>
                  </a:tcPr>
                </a:tc>
                <a:tc>
                  <a:txBody>
                    <a:bodyPr/>
                    <a:lstStyle/>
                    <a:p>
                      <a:r>
                        <a:rPr sz="850" b="0">
                          <a:solidFill>
                            <a:srgbClr val="4B4B4B"/>
                          </a:solidFill>
                          <a:latin typeface="Arial"/>
                        </a:rPr>
                        <a:t>Workflow notice with the comment</a:t>
                      </a:r>
                    </a:p>
                  </a:txBody>
                  <a:tcPr marL="54864" marR="54864" marT="27432" marB="27432">
                    <a:solidFill>
                      <a:srgbClr val="FFFFFF"/>
                    </a:solidFill>
                  </a:tcPr>
                </a:tc>
              </a:tr>
              <a:tr h="609596">
                <a:tc>
                  <a:txBody>
                    <a:bodyPr/>
                    <a:lstStyle/>
                    <a:p>
                      <a:r>
                        <a:rPr sz="850" b="0">
                          <a:solidFill>
                            <a:srgbClr val="4B4B4B"/>
                          </a:solidFill>
                          <a:latin typeface="Arial"/>
                        </a:rPr>
                        <a:t>Void</a:t>
                      </a:r>
                    </a:p>
                  </a:txBody>
                  <a:tcPr marL="54864" marR="54864" marT="27432" marB="27432">
                    <a:solidFill>
                      <a:srgbClr val="E5F5FF"/>
                    </a:solidFill>
                  </a:tcPr>
                </a:tc>
                <a:tc>
                  <a:txBody>
                    <a:bodyPr/>
                    <a:lstStyle/>
                    <a:p>
                      <a:r>
                        <a:rPr sz="850" b="0">
                          <a:solidFill>
                            <a:srgbClr val="4B4B4B"/>
                          </a:solidFill>
                          <a:latin typeface="Arial"/>
                        </a:rPr>
                        <a:t>The requester (Draft, For Marketing approval); the Marketing approver; the TSU Team Lead; the TSU Head</a:t>
                      </a:r>
                    </a:p>
                  </a:txBody>
                  <a:tcPr marL="54864" marR="54864" marT="27432" marB="27432">
                    <a:solidFill>
                      <a:srgbClr val="E5F5FF"/>
                    </a:solidFill>
                  </a:tcPr>
                </a:tc>
                <a:tc>
                  <a:txBody>
                    <a:bodyPr/>
                    <a:lstStyle/>
                    <a:p>
                      <a:r>
                        <a:rPr sz="850" b="0">
                          <a:solidFill>
                            <a:srgbClr val="4B4B4B"/>
                          </a:solidFill>
                          <a:latin typeface="Arial"/>
                        </a:rPr>
                        <a:t>Draft to For TSU Head approval</a:t>
                      </a:r>
                    </a:p>
                  </a:txBody>
                  <a:tcPr marL="54864" marR="54864" marT="27432" marB="27432">
                    <a:solidFill>
                      <a:srgbClr val="E5F5FF"/>
                    </a:solidFill>
                  </a:tcPr>
                </a:tc>
                <a:tc>
                  <a:txBody>
                    <a:bodyPr/>
                    <a:lstStyle/>
                    <a:p>
                      <a:r>
                        <a:rPr sz="850" b="0">
                          <a:solidFill>
                            <a:srgbClr val="4B4B4B"/>
                          </a:solidFill>
                          <a:latin typeface="Arial"/>
                        </a:rPr>
                        <a:t>Opens the reason dialog (Void reason, mandatory) and closes the request without a package</a:t>
                      </a:r>
                    </a:p>
                  </a:txBody>
                  <a:tcPr marL="54864" marR="54864" marT="27432" marB="27432">
                    <a:solidFill>
                      <a:srgbClr val="E5F5FF"/>
                    </a:solidFill>
                  </a:tcPr>
                </a:tc>
                <a:tc>
                  <a:txBody>
                    <a:bodyPr/>
                    <a:lstStyle/>
                    <a:p>
                      <a:r>
                        <a:rPr sz="850" b="0">
                          <a:solidFill>
                            <a:srgbClr val="4B4B4B"/>
                          </a:solidFill>
                          <a:latin typeface="Arial"/>
                        </a:rPr>
                        <a:t>Voided</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Recommend for approval</a:t>
                      </a:r>
                    </a:p>
                  </a:txBody>
                  <a:tcPr marL="54864" marR="54864" marT="27432" marB="27432">
                    <a:solidFill>
                      <a:srgbClr val="FFFFFF"/>
                    </a:solidFill>
                  </a:tcPr>
                </a:tc>
                <a:tc>
                  <a:txBody>
                    <a:bodyPr/>
                    <a:lstStyle/>
                    <a:p>
                      <a:r>
                        <a:rPr sz="850" b="0">
                          <a:solidFill>
                            <a:srgbClr val="4B4B4B"/>
                          </a:solidFill>
                          <a:latin typeface="Arial"/>
                        </a:rPr>
                        <a:t>TSU Team Lead (PKG_TSU_RECOMMEND)</a:t>
                      </a:r>
                    </a:p>
                  </a:txBody>
                  <a:tcPr marL="54864" marR="54864" marT="27432" marB="27432">
                    <a:solidFill>
                      <a:srgbClr val="FFFFFF"/>
                    </a:solidFill>
                  </a:tcPr>
                </a:tc>
                <a:tc>
                  <a:txBody>
                    <a:bodyPr/>
                    <a:lstStyle/>
                    <a:p>
                      <a:r>
                        <a:rPr sz="850" b="0">
                          <a:solidFill>
                            <a:srgbClr val="4B4B4B"/>
                          </a:solidFill>
                          <a:latin typeface="Arial"/>
                        </a:rPr>
                        <a:t>For TSU review</a:t>
                      </a:r>
                    </a:p>
                  </a:txBody>
                  <a:tcPr marL="54864" marR="54864" marT="27432" marB="27432">
                    <a:solidFill>
                      <a:srgbClr val="FFFFFF"/>
                    </a:solidFill>
                  </a:tcPr>
                </a:tc>
                <a:tc>
                  <a:txBody>
                    <a:bodyPr/>
                    <a:lstStyle/>
                    <a:p>
                      <a:r>
                        <a:rPr sz="850" b="0">
                          <a:solidFill>
                            <a:srgbClr val="4B4B4B"/>
                          </a:solidFill>
                          <a:latin typeface="Arial"/>
                        </a:rPr>
                        <a:t>Opens Recommend for Approval: the Recommendation (mandatory, up to 2,000 characters) is kept on the request and shown to the TSU Head</a:t>
                      </a:r>
                    </a:p>
                  </a:txBody>
                  <a:tcPr marL="54864" marR="54864" marT="27432" marB="27432">
                    <a:solidFill>
                      <a:srgbClr val="FFFFFF"/>
                    </a:solidFill>
                  </a:tcPr>
                </a:tc>
                <a:tc>
                  <a:txBody>
                    <a:bodyPr/>
                    <a:lstStyle/>
                    <a:p>
                      <a:r>
                        <a:rPr sz="850" b="0">
                          <a:solidFill>
                            <a:srgbClr val="4B4B4B"/>
                          </a:solidFill>
                          <a:latin typeface="Arial"/>
                        </a:rPr>
                        <a:t>For TSU Head approval</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Approve for negotiation</a:t>
                      </a:r>
                    </a:p>
                  </a:txBody>
                  <a:tcPr marL="54864" marR="54864" marT="27432" marB="27432">
                    <a:solidFill>
                      <a:srgbClr val="E5F5FF"/>
                    </a:solidFill>
                  </a:tcPr>
                </a:tc>
                <a:tc>
                  <a:txBody>
                    <a:bodyPr/>
                    <a:lstStyle/>
                    <a:p>
                      <a:r>
                        <a:rPr sz="850" b="0">
                          <a:solidFill>
                            <a:srgbClr val="4B4B4B"/>
                          </a:solidFill>
                          <a:latin typeface="Arial"/>
                        </a:rPr>
                        <a:t>TSU Head (PKG_TSU_APPROVE)</a:t>
                      </a:r>
                    </a:p>
                  </a:txBody>
                  <a:tcPr marL="54864" marR="54864" marT="27432" marB="27432">
                    <a:solidFill>
                      <a:srgbClr val="E5F5FF"/>
                    </a:solidFill>
                  </a:tcPr>
                </a:tc>
                <a:tc>
                  <a:txBody>
                    <a:bodyPr/>
                    <a:lstStyle/>
                    <a:p>
                      <a:r>
                        <a:rPr sz="850" b="0">
                          <a:solidFill>
                            <a:srgbClr val="4B4B4B"/>
                          </a:solidFill>
                          <a:latin typeface="Arial"/>
                        </a:rPr>
                        <a:t>For TSU Head approval; the request is negotiated; the user is not the recommender</a:t>
                      </a:r>
                    </a:p>
                  </a:txBody>
                  <a:tcPr marL="54864" marR="54864" marT="27432" marB="27432">
                    <a:solidFill>
                      <a:srgbClr val="E5F5FF"/>
                    </a:solidFill>
                  </a:tcPr>
                </a:tc>
                <a:tc>
                  <a:txBody>
                    <a:bodyPr/>
                    <a:lstStyle/>
                    <a:p>
                      <a:r>
                        <a:rPr sz="850" b="0">
                          <a:solidFill>
                            <a:srgbClr val="4B4B4B"/>
                          </a:solidFill>
                          <a:latin typeface="Arial"/>
                        </a:rPr>
                        <a:t>Approves the request and opens negotiation round 1 with the target insurers</a:t>
                      </a:r>
                    </a:p>
                  </a:txBody>
                  <a:tcPr marL="54864" marR="54864" marT="27432" marB="27432">
                    <a:solidFill>
                      <a:srgbClr val="E5F5FF"/>
                    </a:solidFill>
                  </a:tcPr>
                </a:tc>
                <a:tc>
                  <a:txBody>
                    <a:bodyPr/>
                    <a:lstStyle/>
                    <a:p>
                      <a:r>
                        <a:rPr sz="850" b="0">
                          <a:solidFill>
                            <a:srgbClr val="4B4B4B"/>
                          </a:solidFill>
                          <a:latin typeface="Arial"/>
                        </a:rPr>
                        <a:t>Insurer negotiation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609596">
                <a:tc>
                  <a:txBody>
                    <a:bodyPr/>
                    <a:lstStyle/>
                    <a:p>
                      <a:r>
                        <a:rPr sz="850" b="0">
                          <a:solidFill>
                            <a:srgbClr val="4B4B4B"/>
                          </a:solidFill>
                          <a:latin typeface="Arial"/>
                        </a:rPr>
                        <a:t>Approve without negotiation</a:t>
                      </a:r>
                    </a:p>
                  </a:txBody>
                  <a:tcPr marL="54864" marR="54864" marT="27432" marB="27432">
                    <a:solidFill>
                      <a:srgbClr val="FFFFFF"/>
                    </a:solidFill>
                  </a:tcPr>
                </a:tc>
                <a:tc>
                  <a:txBody>
                    <a:bodyPr/>
                    <a:lstStyle/>
                    <a:p>
                      <a:r>
                        <a:rPr sz="850" b="0">
                          <a:solidFill>
                            <a:srgbClr val="4B4B4B"/>
                          </a:solidFill>
                          <a:latin typeface="Arial"/>
                        </a:rPr>
                        <a:t>TSU Head (PKG_TSU_APPROVE)</a:t>
                      </a:r>
                    </a:p>
                  </a:txBody>
                  <a:tcPr marL="54864" marR="54864" marT="27432" marB="27432">
                    <a:solidFill>
                      <a:srgbClr val="FFFFFF"/>
                    </a:solidFill>
                  </a:tcPr>
                </a:tc>
                <a:tc>
                  <a:txBody>
                    <a:bodyPr/>
                    <a:lstStyle/>
                    <a:p>
                      <a:r>
                        <a:rPr sz="850" b="0">
                          <a:solidFill>
                            <a:srgbClr val="4B4B4B"/>
                          </a:solidFill>
                          <a:latin typeface="Arial"/>
                        </a:rPr>
                        <a:t>For TSU Head approval; no negotiation (Retire, or Renew, Update, Reactivate without insurers)</a:t>
                      </a:r>
                    </a:p>
                  </a:txBody>
                  <a:tcPr marL="54864" marR="54864" marT="27432" marB="27432">
                    <a:solidFill>
                      <a:srgbClr val="FFFFFF"/>
                    </a:solidFill>
                  </a:tcPr>
                </a:tc>
                <a:tc>
                  <a:txBody>
                    <a:bodyPr/>
                    <a:lstStyle/>
                    <a:p>
                      <a:r>
                        <a:rPr sz="850" b="0">
                          <a:solidFill>
                            <a:srgbClr val="4B4B4B"/>
                          </a:solidFill>
                          <a:latin typeface="Arial"/>
                        </a:rPr>
                        <a:t>The requested terms become the proposed terms; the request goes to ManCom</a:t>
                      </a:r>
                    </a:p>
                  </a:txBody>
                  <a:tcPr marL="54864" marR="54864" marT="27432" marB="27432">
                    <a:solidFill>
                      <a:srgbClr val="FFFFFF"/>
                    </a:solidFill>
                  </a:tcPr>
                </a:tc>
                <a:tc>
                  <a:txBody>
                    <a:bodyPr/>
                    <a:lstStyle/>
                    <a:p>
                      <a:r>
                        <a:rPr sz="850" b="0">
                          <a:solidFill>
                            <a:srgbClr val="4B4B4B"/>
                          </a:solidFill>
                          <a:latin typeface="Arial"/>
                        </a:rPr>
                        <a:t>For ManCom sign-off</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graphicFrame>
        <p:nvGraphicFramePr>
          <p:cNvPr id="9" name="Table 8"/>
          <p:cNvGraphicFramePr>
            <a:graphicFrameLocks noGrp="1"/>
          </p:cNvGraphicFramePr>
          <p:nvPr/>
        </p:nvGraphicFramePr>
        <p:xfrm>
          <a:off x="548640" y="1325880"/>
          <a:ext cx="11094412" cy="328420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TSU Officer or TSU Head (Insurer negotiation); Marketing (Marketing review of terms)</a:t>
                      </a:r>
                    </a:p>
                  </a:txBody>
                  <a:tcPr marL="54864" marR="54864" marT="27432" marB="27432">
                    <a:solidFill>
                      <a:srgbClr val="FFFFFF"/>
                    </a:solidFill>
                  </a:tcPr>
                </a:tc>
                <a:tc>
                  <a:txBody>
                    <a:bodyPr/>
                    <a:lstStyle/>
                    <a:p>
                      <a:r>
                        <a:rPr sz="850" b="0">
                          <a:solidFill>
                            <a:srgbClr val="4B4B4B"/>
                          </a:solidFill>
                          <a:latin typeface="Arial"/>
                        </a:rPr>
                        <a:t>Those stages</a:t>
                      </a:r>
                    </a:p>
                  </a:txBody>
                  <a:tcPr marL="54864" marR="54864" marT="27432" marB="27432">
                    <a:solidFill>
                      <a:srgbClr val="FFFFFF"/>
                    </a:solidFill>
                  </a:tcPr>
                </a:tc>
                <a:tc>
                  <a:txBody>
                    <a:bodyPr/>
                    <a:lstStyle/>
                    <a:p>
                      <a:r>
                        <a:rPr sz="850" b="0">
                          <a:solidFill>
                            <a:srgbClr val="4B4B4B"/>
                          </a:solidFill>
                          <a:latin typeface="Arial"/>
                        </a:rPr>
                        <a:t>Opens the reason dialog (Not proceeded reason, mandatory) and closes the request</a:t>
                      </a:r>
                    </a:p>
                  </a:txBody>
                  <a:tcPr marL="54864" marR="54864" marT="27432" marB="27432">
                    <a:solidFill>
                      <a:srgbClr val="FFFFFF"/>
                    </a:solidFill>
                  </a:tcPr>
                </a:tc>
                <a:tc>
                  <a:txBody>
                    <a:bodyPr/>
                    <a:lstStyle/>
                    <a:p>
                      <a:r>
                        <a:rPr sz="850" b="0">
                          <a:solidFill>
                            <a:srgbClr val="4B4B4B"/>
                          </a:solidFill>
                          <a:latin typeface="Arial"/>
                        </a:rPr>
                        <a:t>Not proceeded</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Release terms to Marketing</a:t>
                      </a:r>
                    </a:p>
                  </a:txBody>
                  <a:tcPr marL="54864" marR="54864" marT="27432" marB="27432">
                    <a:solidFill>
                      <a:srgbClr val="E5F5FF"/>
                    </a:solidFill>
                  </a:tcPr>
                </a:tc>
                <a:tc>
                  <a:txBody>
                    <a:bodyPr/>
                    <a:lstStyle/>
                    <a:p>
                      <a:r>
                        <a:rPr sz="850" b="0">
                          <a:solidFill>
                            <a:srgbClr val="4B4B4B"/>
                          </a:solidFill>
                          <a:latin typeface="Arial"/>
                        </a:rPr>
                        <a:t>TSU Head (PKG_TSU_APPROVE)</a:t>
                      </a:r>
                    </a:p>
                  </a:txBody>
                  <a:tcPr marL="54864" marR="54864" marT="27432" marB="27432">
                    <a:solidFill>
                      <a:srgbClr val="E5F5FF"/>
                    </a:solidFill>
                  </a:tcPr>
                </a:tc>
                <a:tc>
                  <a:txBody>
                    <a:bodyPr/>
                    <a:lstStyle/>
                    <a:p>
                      <a:r>
                        <a:rPr sz="850" b="0">
                          <a:solidFill>
                            <a:srgbClr val="4B4B4B"/>
                          </a:solidFill>
                          <a:latin typeface="Arial"/>
                        </a:rPr>
                        <a:t>Negotiated terms review; client-specific package</a:t>
                      </a:r>
                    </a:p>
                  </a:txBody>
                  <a:tcPr marL="54864" marR="54864" marT="27432" marB="27432">
                    <a:solidFill>
                      <a:srgbClr val="E5F5FF"/>
                    </a:solidFill>
                  </a:tcPr>
                </a:tc>
                <a:tc>
                  <a:txBody>
                    <a:bodyPr/>
                    <a:lstStyle/>
                    <a:p>
                      <a:r>
                        <a:rPr sz="850" b="0">
                          <a:solidFill>
                            <a:srgbClr val="4B4B4B"/>
                          </a:solidFill>
                          <a:latin typeface="Arial"/>
                        </a:rPr>
                        <a:t>Sends the negotiated terms to Marketing for the client</a:t>
                      </a:r>
                    </a:p>
                  </a:txBody>
                  <a:tcPr marL="54864" marR="54864" marT="27432" marB="27432">
                    <a:solidFill>
                      <a:srgbClr val="E5F5FF"/>
                    </a:solidFill>
                  </a:tcPr>
                </a:tc>
                <a:tc>
                  <a:txBody>
                    <a:bodyPr/>
                    <a:lstStyle/>
                    <a:p>
                      <a:r>
                        <a:rPr sz="850" b="0">
                          <a:solidFill>
                            <a:srgbClr val="4B4B4B"/>
                          </a:solidFill>
                          <a:latin typeface="Arial"/>
                        </a:rPr>
                        <a:t>Marketing review of terms</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Proceed to requirements (generic package)</a:t>
                      </a:r>
                    </a:p>
                  </a:txBody>
                  <a:tcPr marL="54864" marR="54864" marT="27432" marB="27432">
                    <a:solidFill>
                      <a:srgbClr val="FFFFFF"/>
                    </a:solidFill>
                  </a:tcPr>
                </a:tc>
                <a:tc>
                  <a:txBody>
                    <a:bodyPr/>
                    <a:lstStyle/>
                    <a:p>
                      <a:r>
                        <a:rPr sz="850" b="0">
                          <a:solidFill>
                            <a:srgbClr val="4B4B4B"/>
                          </a:solidFill>
                          <a:latin typeface="Arial"/>
                        </a:rPr>
                        <a:t>TSU Head (PKG_TSU_APPROVE)</a:t>
                      </a:r>
                    </a:p>
                  </a:txBody>
                  <a:tcPr marL="54864" marR="54864" marT="27432" marB="27432">
                    <a:solidFill>
                      <a:srgbClr val="FFFFFF"/>
                    </a:solidFill>
                  </a:tcPr>
                </a:tc>
                <a:tc>
                  <a:txBody>
                    <a:bodyPr/>
                    <a:lstStyle/>
                    <a:p>
                      <a:r>
                        <a:rPr sz="850" b="0">
                          <a:solidFill>
                            <a:srgbClr val="4B4B4B"/>
                          </a:solidFill>
                          <a:latin typeface="Arial"/>
                        </a:rPr>
                        <a:t>Negotiated terms review; generic programme</a:t>
                      </a:r>
                    </a:p>
                  </a:txBody>
                  <a:tcPr marL="54864" marR="54864" marT="27432" marB="27432">
                    <a:solidFill>
                      <a:srgbClr val="FFFFFF"/>
                    </a:solidFill>
                  </a:tcPr>
                </a:tc>
                <a:tc>
                  <a:txBody>
                    <a:bodyPr/>
                    <a:lstStyle/>
                    <a:p>
                      <a:r>
                        <a:rPr sz="850" b="0">
                          <a:solidFill>
                            <a:srgbClr val="4B4B4B"/>
                          </a:solidFill>
                          <a:latin typeface="Arial"/>
                        </a:rPr>
                        <a:t>Skips the Marketing review</a:t>
                      </a:r>
                    </a:p>
                  </a:txBody>
                  <a:tcPr marL="54864" marR="54864" marT="27432" marB="27432">
                    <a:solidFill>
                      <a:srgbClr val="FFFFFF"/>
                    </a:solidFill>
                  </a:tcPr>
                </a:tc>
                <a:tc>
                  <a:txBody>
                    <a:bodyPr/>
                    <a:lstStyle/>
                    <a:p>
                      <a:r>
                        <a:rPr sz="850" b="0">
                          <a:solidFill>
                            <a:srgbClr val="4B4B4B"/>
                          </a:solidFill>
                          <a:latin typeface="Arial"/>
                        </a:rPr>
                        <a:t>Requirements preparation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350518">
                <a:tc>
                  <a:txBody>
                    <a:bodyPr/>
                    <a:lstStyle/>
                    <a:p>
                      <a:r>
                        <a:rPr sz="850" b="0">
                          <a:solidFill>
                            <a:srgbClr val="4B4B4B"/>
                          </a:solidFill>
                          <a:latin typeface="Arial"/>
                        </a:rPr>
                        <a:t>Accept terms</a:t>
                      </a:r>
                    </a:p>
                  </a:txBody>
                  <a:tcPr marL="54864" marR="54864" marT="27432" marB="27432">
                    <a:solidFill>
                      <a:srgbClr val="E5F5FF"/>
                    </a:solidFill>
                  </a:tcPr>
                </a:tc>
                <a:tc>
                  <a:txBody>
                    <a:bodyPr/>
                    <a:lstStyle/>
                    <a:p>
                      <a:r>
                        <a:rPr sz="850" b="0">
                          <a:solidFill>
                            <a:srgbClr val="4B4B4B"/>
                          </a:solidFill>
                          <a:latin typeface="Arial"/>
                        </a:rPr>
                        <a:t>Marketing (PKG_REQUEST)</a:t>
                      </a:r>
                    </a:p>
                  </a:txBody>
                  <a:tcPr marL="54864" marR="54864" marT="27432" marB="27432">
                    <a:solidFill>
                      <a:srgbClr val="E5F5FF"/>
                    </a:solidFill>
                  </a:tcPr>
                </a:tc>
                <a:tc>
                  <a:txBody>
                    <a:bodyPr/>
                    <a:lstStyle/>
                    <a:p>
                      <a:r>
                        <a:rPr sz="850" b="0">
                          <a:solidFill>
                            <a:srgbClr val="4B4B4B"/>
                          </a:solidFill>
                          <a:latin typeface="Arial"/>
                        </a:rPr>
                        <a:t>Marketing review of terms</a:t>
                      </a:r>
                    </a:p>
                  </a:txBody>
                  <a:tcPr marL="54864" marR="54864" marT="27432" marB="27432">
                    <a:solidFill>
                      <a:srgbClr val="E5F5FF"/>
                    </a:solidFill>
                  </a:tcPr>
                </a:tc>
                <a:tc>
                  <a:txBody>
                    <a:bodyPr/>
                    <a:lstStyle/>
                    <a:p>
                      <a:r>
                        <a:rPr sz="850" b="0">
                          <a:solidFill>
                            <a:srgbClr val="4B4B4B"/>
                          </a:solidFill>
                          <a:latin typeface="Arial"/>
                        </a:rPr>
                        <a:t>Records the client's acceptance of the terms</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350518">
                <a:tc>
                  <a:txBody>
                    <a:bodyPr/>
                    <a:lstStyle/>
                    <a:p>
                      <a:r>
                        <a:rPr sz="850" b="0">
                          <a:solidFill>
                            <a:srgbClr val="4B4B4B"/>
                          </a:solidFill>
                          <a:latin typeface="Arial"/>
                        </a:rPr>
                        <a:t>Request changes</a:t>
                      </a:r>
                    </a:p>
                  </a:txBody>
                  <a:tcPr marL="54864" marR="54864" marT="27432" marB="27432">
                    <a:solidFill>
                      <a:srgbClr val="FFFFFF"/>
                    </a:solidFill>
                  </a:tcPr>
                </a:tc>
                <a:tc>
                  <a:txBody>
                    <a:bodyPr/>
                    <a:lstStyle/>
                    <a:p>
                      <a:r>
                        <a:rPr sz="850" b="0">
                          <a:solidFill>
                            <a:srgbClr val="4B4B4B"/>
                          </a:solidFill>
                          <a:latin typeface="Arial"/>
                        </a:rPr>
                        <a:t>Marketing (PKG_REQUEST)</a:t>
                      </a:r>
                    </a:p>
                  </a:txBody>
                  <a:tcPr marL="54864" marR="54864" marT="27432" marB="27432">
                    <a:solidFill>
                      <a:srgbClr val="FFFFFF"/>
                    </a:solidFill>
                  </a:tcPr>
                </a:tc>
                <a:tc>
                  <a:txBody>
                    <a:bodyPr/>
                    <a:lstStyle/>
                    <a:p>
                      <a:r>
                        <a:rPr sz="850" b="0">
                          <a:solidFill>
                            <a:srgbClr val="4B4B4B"/>
                          </a:solidFill>
                          <a:latin typeface="Arial"/>
                        </a:rPr>
                        <a:t>Marketing review of terms</a:t>
                      </a:r>
                    </a:p>
                  </a:txBody>
                  <a:tcPr marL="54864" marR="54864" marT="27432" marB="27432">
                    <a:solidFill>
                      <a:srgbClr val="FFFFFF"/>
                    </a:solidFill>
                  </a:tcPr>
                </a:tc>
                <a:tc>
                  <a:txBody>
                    <a:bodyPr/>
                    <a:lstStyle/>
                    <a:p>
                      <a:r>
                        <a:rPr sz="850" b="0">
                          <a:solidFill>
                            <a:srgbClr val="4B4B4B"/>
                          </a:solidFill>
                          <a:latin typeface="Arial"/>
                        </a:rPr>
                        <a:t>Opens the reason dialog; the latest round stays open so that TSU revises the slip or makes the terms final again</a:t>
                      </a:r>
                    </a:p>
                  </a:txBody>
                  <a:tcPr marL="54864" marR="54864" marT="27432" marB="27432">
                    <a:solidFill>
                      <a:srgbClr val="FFFFFF"/>
                    </a:solidFill>
                  </a:tcPr>
                </a:tc>
                <a:tc>
                  <a:txBody>
                    <a:bodyPr/>
                    <a:lstStyle/>
                    <a:p>
                      <a:r>
                        <a:rPr sz="850" b="0">
                          <a:solidFill>
                            <a:srgbClr val="4B4B4B"/>
                          </a:solidFill>
                          <a:latin typeface="Arial"/>
                        </a:rPr>
                        <a:t>Insurer negotiation</a:t>
                      </a:r>
                    </a:p>
                  </a:txBody>
                  <a:tcPr marL="54864" marR="54864" marT="27432" marB="27432">
                    <a:solidFill>
                      <a:srgbClr val="FFFFFF"/>
                    </a:solidFill>
                  </a:tcPr>
                </a:tc>
                <a:tc>
                  <a:txBody>
                    <a:bodyPr/>
                    <a:lstStyle/>
                    <a:p>
                      <a:r>
                        <a:rPr sz="850" b="0">
                          <a:solidFill>
                            <a:srgbClr val="4B4B4B"/>
                          </a:solidFill>
                          <a:latin typeface="Arial"/>
                        </a:rPr>
                        <a:t>Workflow notice with the comment</a:t>
                      </a:r>
                    </a:p>
                  </a:txBody>
                  <a:tcPr marL="54864" marR="54864" marT="27432" marB="27432">
                    <a:solidFill>
                      <a:srgbClr val="FFFFFF"/>
                    </a:solidFill>
                  </a:tcPr>
                </a:tc>
              </a:tr>
              <a:tr h="350518">
                <a:tc>
                  <a:txBody>
                    <a:bodyPr/>
                    <a:lstStyle/>
                    <a:p>
                      <a:r>
                        <a:rPr sz="850" b="0">
                          <a:solidFill>
                            <a:srgbClr val="4B4B4B"/>
                          </a:solidFill>
                          <a:latin typeface="Arial"/>
                        </a:rPr>
                        <a:t>Return to TSU</a:t>
                      </a:r>
                    </a:p>
                  </a:txBody>
                  <a:tcPr marL="54864" marR="54864" marT="27432" marB="27432">
                    <a:solidFill>
                      <a:srgbClr val="E5F5FF"/>
                    </a:solidFill>
                  </a:tcPr>
                </a:tc>
                <a:tc>
                  <a:txBody>
                    <a:bodyPr/>
                    <a:lstStyle/>
                    <a:p>
                      <a:r>
                        <a:rPr sz="850" b="0">
                          <a:solidFill>
                            <a:srgbClr val="4B4B4B"/>
                          </a:solidFill>
                          <a:latin typeface="Arial"/>
                        </a:rPr>
                        <a:t>ManCom (PKG_MANCOM_SIGNOFF)</a:t>
                      </a:r>
                    </a:p>
                  </a:txBody>
                  <a:tcPr marL="54864" marR="54864" marT="27432" marB="27432">
                    <a:solidFill>
                      <a:srgbClr val="E5F5FF"/>
                    </a:solidFill>
                  </a:tcPr>
                </a:tc>
                <a:tc>
                  <a:txBody>
                    <a:bodyPr/>
                    <a:lstStyle/>
                    <a:p>
                      <a:r>
                        <a:rPr sz="850" b="0">
                          <a:solidFill>
                            <a:srgbClr val="4B4B4B"/>
                          </a:solidFill>
                          <a:latin typeface="Arial"/>
                        </a:rPr>
                        <a:t>For ManCom sign-off</a:t>
                      </a:r>
                    </a:p>
                  </a:txBody>
                  <a:tcPr marL="54864" marR="54864" marT="27432" marB="27432">
                    <a:solidFill>
                      <a:srgbClr val="E5F5FF"/>
                    </a:solidFill>
                  </a:tcPr>
                </a:tc>
                <a:tc>
                  <a:txBody>
                    <a:bodyPr/>
                    <a:lstStyle/>
                    <a:p>
                      <a:r>
                        <a:rPr sz="850" b="0">
                          <a:solidFill>
                            <a:srgbClr val="4B4B4B"/>
                          </a:solidFill>
                          <a:latin typeface="Arial"/>
                        </a:rPr>
                        <a:t>Opens the reason dialog; the return is kept as a ManCom decision Returned</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Retire package</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With MBS for set-up; request type Retire</a:t>
                      </a:r>
                    </a:p>
                  </a:txBody>
                  <a:tcPr marL="54864" marR="54864" marT="27432" marB="27432">
                    <a:solidFill>
                      <a:srgbClr val="FFFFFF"/>
                    </a:solidFill>
                  </a:tcPr>
                </a:tc>
                <a:tc>
                  <a:txBody>
                    <a:bodyPr/>
                    <a:lstStyle/>
                    <a:p>
                      <a:r>
                        <a:rPr sz="850" b="0">
                          <a:solidFill>
                            <a:srgbClr val="4B4B4B"/>
                          </a:solidFill>
                          <a:latin typeface="Arial"/>
                        </a:rPr>
                        <a:t>Retires the product: it is no longer sold; its versions stay readable; the retirement advisory is drafted and incentive criteria on the product are flagged</a:t>
                      </a:r>
                    </a:p>
                  </a:txBody>
                  <a:tcPr marL="54864" marR="54864" marT="27432" marB="27432">
                    <a:solidFill>
                      <a:srgbClr val="FFFFFF"/>
                    </a:solidFill>
                  </a:tcPr>
                </a:tc>
                <a:tc>
                  <a:txBody>
                    <a:bodyPr/>
                    <a:lstStyle/>
                    <a:p>
                      <a:r>
                        <a:rPr sz="850" b="0">
                          <a:solidFill>
                            <a:srgbClr val="4B4B4B"/>
                          </a:solidFill>
                          <a:latin typeface="Arial"/>
                        </a:rPr>
                        <a:t>Package retired</a:t>
                      </a:r>
                    </a:p>
                  </a:txBody>
                  <a:tcPr marL="54864" marR="54864" marT="27432" marB="27432">
                    <a:solidFill>
                      <a:srgbClr val="FFFFFF"/>
                    </a:solidFill>
                  </a:tcPr>
                </a:tc>
                <a:tc>
                  <a:txBody>
                    <a:bodyPr/>
                    <a:lstStyle/>
                    <a:p>
                      <a:r>
                        <a:rPr sz="850" b="0">
                          <a:solidFill>
                            <a:srgbClr val="4B4B4B"/>
                          </a:solidFill>
                          <a:latin typeface="Arial"/>
                        </a:rPr>
                        <a:t>Workflow notice; incentive alert</a:t>
                      </a:r>
                    </a:p>
                  </a:txBody>
                  <a:tcPr marL="54864" marR="54864" marT="27432" marB="27432">
                    <a:solidFill>
                      <a:srgbClr val="FFFFFF"/>
                    </a:solidFill>
                  </a:tcPr>
                </a:tc>
              </a:tr>
              <a:tr h="350518">
                <a:tc>
                  <a:txBody>
                    <a:bodyPr/>
                    <a:lstStyle/>
                    <a:p>
                      <a:r>
                        <a:rPr sz="850" b="0">
                          <a:solidFill>
                            <a:srgbClr val="4B4B4B"/>
                          </a:solidFill>
                          <a:latin typeface="Arial"/>
                        </a:rPr>
                        <a:t>Return incomplete requirements to TSU</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With MBS for set-up</a:t>
                      </a:r>
                    </a:p>
                  </a:txBody>
                  <a:tcPr marL="54864" marR="54864" marT="27432" marB="27432">
                    <a:solidFill>
                      <a:srgbClr val="E5F5FF"/>
                    </a:solidFill>
                  </a:tcPr>
                </a:tc>
                <a:tc>
                  <a:txBody>
                    <a:bodyPr/>
                    <a:lstStyle/>
                    <a:p>
                      <a:r>
                        <a:rPr sz="850" b="0">
                          <a:solidFill>
                            <a:srgbClr val="4B4B4B"/>
                          </a:solidFill>
                          <a:latin typeface="Arial"/>
                        </a:rPr>
                        <a:t>Opens Return Incomplete Requirements (Return reason, mandatory; Comment; Return to TSU)</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request is never approved by its maker or submitter, and the TSU Head approval is never given by the recommender (FR-PM-021, FR-PM-023).</a:t>
                      </a:r>
                    </a:p>
                  </a:txBody>
                  <a:tcPr marL="54864" marR="54864" marT="27432" marB="27432">
                    <a:solidFill>
                      <a:srgbClr val="FFFFFF"/>
                    </a:solidFill>
                  </a:tcPr>
                </a:tc>
              </a:tr>
              <a:tr h="243840">
                <a:tc>
                  <a:txBody>
                    <a:bodyPr/>
                    <a:lstStyle/>
                    <a:p>
                      <a:r>
                        <a:rPr sz="1000" b="0">
                          <a:solidFill>
                            <a:srgbClr val="4B4B4B"/>
                          </a:solidFill>
                          <a:latin typeface="Arial"/>
                        </a:rPr>
                        <a:t>The TSU Team Lead's recommendation is mandatory and is shown to the TSU Head (FR-PM-022).</a:t>
                      </a:r>
                    </a:p>
                  </a:txBody>
                  <a:tcPr marL="54864" marR="54864" marT="27432" marB="27432">
                    <a:solidFill>
                      <a:srgbClr val="E5F5FF"/>
                    </a:solidFill>
                  </a:tcPr>
                </a:tc>
              </a:tr>
              <a:tr h="243840">
                <a:tc>
                  <a:txBody>
                    <a:bodyPr/>
                    <a:lstStyle/>
                    <a:p>
                      <a:r>
                        <a:rPr sz="1000" b="0">
                          <a:solidFill>
                            <a:srgbClr val="4B4B4B"/>
                          </a:solidFill>
                          <a:latin typeface="Arial"/>
                        </a:rPr>
                        <a:t>Return, void, not proceeded and request changes need a reason from their list of values; the comment is kept in the history (FR-PM-021, FR-PM-073).</a:t>
                      </a:r>
                    </a:p>
                  </a:txBody>
                  <a:tcPr marL="54864" marR="54864" marT="27432" marB="27432">
                    <a:solidFill>
                      <a:srgbClr val="FFFFFF"/>
                    </a:solidFill>
                  </a:tcPr>
                </a:tc>
              </a:tr>
              <a:tr h="243840">
                <a:tc>
                  <a:txBody>
                    <a:bodyPr/>
                    <a:lstStyle/>
                    <a:p>
                      <a:r>
                        <a:rPr sz="1000" b="0">
                          <a:solidFill>
                            <a:srgbClr val="4B4B4B"/>
                          </a:solidFill>
                          <a:latin typeface="Arial"/>
                        </a:rPr>
                        <a:t>Void is possible from the draft to the TSU Head approval; after that a request ends as not proceeded, released or retired (FR-PM-073).</a:t>
                      </a:r>
                    </a:p>
                  </a:txBody>
                  <a:tcPr marL="54864" marR="54864" marT="27432" marB="27432">
                    <a:solidFill>
                      <a:srgbClr val="E5F5FF"/>
                    </a:solidFill>
                  </a:tcPr>
                </a:tc>
              </a:tr>
              <a:tr h="396240">
                <a:tc>
                  <a:txBody>
                    <a:bodyPr/>
                    <a:lstStyle/>
                    <a:p>
                      <a:r>
                        <a:rPr sz="1000" b="0">
                          <a:solidFill>
                            <a:srgbClr val="4B4B4B"/>
                          </a:solidFill>
                          <a:latin typeface="Arial"/>
                        </a:rPr>
                        <a:t>Every stage has a due time from its service level hours (parameters PKG_SLA_*): Marketing approval 24, TSU review 24, TSU Head approval 24, negotiation 120, ManCom 72, MBS set-up 48 hours by default (FR-PM-073).</a:t>
                      </a:r>
                    </a:p>
                  </a:txBody>
                  <a:tcPr marL="54864" marR="54864" marT="27432" marB="27432">
                    <a:solidFill>
                      <a:srgbClr val="FFFFFF"/>
                    </a:solidFill>
                  </a:tcPr>
                </a:tc>
              </a:tr>
              <a:tr h="243840">
                <a:tc>
                  <a:txBody>
                    <a:bodyPr/>
                    <a:lstStyle/>
                    <a:p>
                      <a:r>
                        <a:rPr sz="1000" b="0">
                          <a:solidFill>
                            <a:srgbClr val="4B4B4B"/>
                          </a:solidFill>
                          <a:latin typeface="Arial"/>
                        </a:rPr>
                        <a:t>Every action is written to the history and the audit trail; audit rows cannot be changed or deleted (FR-PM-005).</a:t>
                      </a:r>
                    </a:p>
                  </a:txBody>
                  <a:tcPr marL="54864" marR="54864" marT="27432" marB="27432">
                    <a:solidFill>
                      <a:srgbClr val="E5F5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SCR-PM-04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25880"/>
          <a:ext cx="11094413" cy="18288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5</a:t>
                      </a:r>
                    </a:p>
                  </a:txBody>
                  <a:tcPr marL="54864" marR="54864" marT="27432" marB="27432">
                    <a:solidFill>
                      <a:srgbClr val="FFFFFF"/>
                    </a:solidFill>
                  </a:tcPr>
                </a:tc>
                <a:tc>
                  <a:txBody>
                    <a:bodyPr/>
                    <a:lstStyle/>
                    <a:p>
                      <a:r>
                        <a:rPr sz="900" b="0">
                          <a:solidFill>
                            <a:srgbClr val="4B4B4B"/>
                          </a:solidFill>
                          <a:latin typeface="Arial"/>
                        </a:rPr>
                        <a:t>Clicks Recommend for approval, writes the recommendation and clicks Recommend</a:t>
                      </a:r>
                    </a:p>
                  </a:txBody>
                  <a:tcPr marL="54864" marR="54864" marT="27432" marB="27432">
                    <a:solidFill>
                      <a:srgbClr val="FFFFFF"/>
                    </a:solidFill>
                  </a:tcPr>
                </a:tc>
                <a:tc>
                  <a:txBody>
                    <a:bodyPr/>
                    <a:lstStyle/>
                    <a:p>
                      <a:r>
                        <a:rPr sz="900" b="0">
                          <a:solidFill>
                            <a:srgbClr val="4B4B4B"/>
                          </a:solidFill>
                          <a:latin typeface="Arial"/>
                        </a:rPr>
                        <a:t>SCR-PM-04_wt-a-step-05.png</a:t>
                      </a:r>
                    </a:p>
                  </a:txBody>
                  <a:tcPr marL="54864" marR="54864" marT="27432" marB="27432">
                    <a:solidFill>
                      <a:srgbClr val="FFFFFF"/>
                    </a:solidFill>
                  </a:tcPr>
                </a:tc>
              </a:tr>
              <a:tr h="228600">
                <a:tc>
                  <a:txBody>
                    <a:bodyPr/>
                    <a:lstStyle/>
                    <a:p>
                      <a:r>
                        <a:rPr sz="900" b="0">
                          <a:solidFill>
                            <a:srgbClr val="4B4B4B"/>
                          </a:solidFill>
                          <a:latin typeface="Arial"/>
                        </a:rPr>
                        <a:t>Default</a:t>
                      </a:r>
                    </a:p>
                  </a:txBody>
                  <a:tcPr marL="54864" marR="54864" marT="27432" marB="27432">
                    <a:solidFill>
                      <a:srgbClr val="E5F5FF"/>
                    </a:solidFill>
                  </a:tcPr>
                </a:tc>
                <a:tc>
                  <a:txBody>
                    <a:bodyPr/>
                    <a:lstStyle/>
                    <a:p>
                      <a:r>
                        <a:rPr sz="900" b="0">
                          <a:solidFill>
                            <a:srgbClr val="4B4B4B"/>
                          </a:solidFill>
                          <a:latin typeface="Arial"/>
                        </a:rPr>
                        <a:t>WT-A step 6</a:t>
                      </a:r>
                    </a:p>
                  </a:txBody>
                  <a:tcPr marL="54864" marR="54864" marT="27432" marB="27432">
                    <a:solidFill>
                      <a:srgbClr val="E5F5FF"/>
                    </a:solidFill>
                  </a:tcPr>
                </a:tc>
                <a:tc>
                  <a:txBody>
                    <a:bodyPr/>
                    <a:lstStyle/>
                    <a:p>
                      <a:r>
                        <a:rPr sz="900" b="0">
                          <a:solidFill>
                            <a:srgbClr val="4B4B4B"/>
                          </a:solidFill>
                          <a:latin typeface="Arial"/>
                        </a:rPr>
                        <a:t>Reads the recommendation and clicks Approve for negotiation</a:t>
                      </a:r>
                    </a:p>
                  </a:txBody>
                  <a:tcPr marL="54864" marR="54864" marT="27432" marB="27432">
                    <a:solidFill>
                      <a:srgbClr val="E5F5FF"/>
                    </a:solidFill>
                  </a:tcPr>
                </a:tc>
                <a:tc>
                  <a:txBody>
                    <a:bodyPr/>
                    <a:lstStyle/>
                    <a:p>
                      <a:r>
                        <a:rPr sz="900" b="0">
                          <a:solidFill>
                            <a:srgbClr val="4B4B4B"/>
                          </a:solidFill>
                          <a:latin typeface="Arial"/>
                        </a:rPr>
                        <a:t>SCR-PM-04_wt-a-step-06.png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3</a:t>
                      </a:r>
                    </a:p>
                  </a:txBody>
                  <a:tcPr marL="54864" marR="54864" marT="27432" marB="27432">
                    <a:solidFill>
                      <a:srgbClr val="FFFFFF"/>
                    </a:solidFill>
                  </a:tcPr>
                </a:tc>
                <a:tc>
                  <a:txBody>
                    <a:bodyPr/>
                    <a:lstStyle/>
                    <a:p>
                      <a:r>
                        <a:rPr sz="900" b="0">
                          <a:solidFill>
                            <a:srgbClr val="4B4B4B"/>
                          </a:solidFill>
                          <a:latin typeface="Arial"/>
                        </a:rPr>
                        <a:t>Creates and submits a request himself, then clicks Approve and send to TSU on it</a:t>
                      </a:r>
                    </a:p>
                  </a:txBody>
                  <a:tcPr marL="54864" marR="54864" marT="27432" marB="27432">
                    <a:solidFill>
                      <a:srgbClr val="FFFFFF"/>
                    </a:solidFill>
                  </a:tcPr>
                </a:tc>
                <a:tc>
                  <a:txBody>
                    <a:bodyPr/>
                    <a:lstStyle/>
                    <a:p>
                      <a:r>
                        <a:rPr sz="900" b="0">
                          <a:solidFill>
                            <a:srgbClr val="4B4B4B"/>
                          </a:solidFill>
                          <a:latin typeface="Arial"/>
                        </a:rPr>
                        <a:t>SCR-PM-04_wt-b-step-03.png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4</a:t>
                      </a:r>
                    </a:p>
                  </a:txBody>
                  <a:tcPr marL="54864" marR="54864" marT="27432" marB="27432">
                    <a:solidFill>
                      <a:srgbClr val="E5F5FF"/>
                    </a:solidFill>
                  </a:tcPr>
                </a:tc>
                <a:tc>
                  <a:txBody>
                    <a:bodyPr/>
                    <a:lstStyle/>
                    <a:p>
                      <a:r>
                        <a:rPr sz="900" b="0">
                          <a:solidFill>
                            <a:srgbClr val="4B4B4B"/>
                          </a:solidFill>
                          <a:latin typeface="Arial"/>
                        </a:rPr>
                        <a:t>Opens the request from the For Approval tab and clicks Approve and send to TSU</a:t>
                      </a:r>
                    </a:p>
                  </a:txBody>
                  <a:tcPr marL="54864" marR="54864" marT="27432" marB="27432">
                    <a:solidFill>
                      <a:srgbClr val="E5F5FF"/>
                    </a:solidFill>
                  </a:tcPr>
                </a:tc>
                <a:tc>
                  <a:txBody>
                    <a:bodyPr/>
                    <a:lstStyle/>
                    <a:p>
                      <a:r>
                        <a:rPr sz="900" b="0">
                          <a:solidFill>
                            <a:srgbClr val="4B4B4B"/>
                          </a:solidFill>
                          <a:latin typeface="Arial"/>
                        </a:rPr>
                        <a:t>SCR-PM-04_wt-a-step-04.png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12</a:t>
                      </a:r>
                    </a:p>
                  </a:txBody>
                  <a:tcPr marL="54864" marR="54864" marT="27432" marB="27432">
                    <a:solidFill>
                      <a:srgbClr val="FFFFFF"/>
                    </a:solidFill>
                  </a:tcPr>
                </a:tc>
                <a:tc>
                  <a:txBody>
                    <a:bodyPr/>
                    <a:lstStyle/>
                    <a:p>
                      <a:r>
                        <a:rPr sz="900" b="0">
                          <a:solidFill>
                            <a:srgbClr val="4B4B4B"/>
                          </a:solidFill>
                          <a:latin typeface="Arial"/>
                        </a:rPr>
                        <a:t>Clicks Proceed to requirements (generic package)</a:t>
                      </a:r>
                    </a:p>
                  </a:txBody>
                  <a:tcPr marL="54864" marR="54864" marT="27432" marB="27432">
                    <a:solidFill>
                      <a:srgbClr val="FFFFFF"/>
                    </a:solidFill>
                  </a:tcPr>
                </a:tc>
                <a:tc>
                  <a:txBody>
                    <a:bodyPr/>
                    <a:lstStyle/>
                    <a:p>
                      <a:r>
                        <a:rPr sz="900" b="0">
                          <a:solidFill>
                            <a:srgbClr val="4B4B4B"/>
                          </a:solidFill>
                          <a:latin typeface="Arial"/>
                        </a:rPr>
                        <a:t>SCR-PM-04_wt-a-step-12.png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WT-B step 4</a:t>
                      </a:r>
                    </a:p>
                  </a:txBody>
                  <a:tcPr marL="54864" marR="54864" marT="27432" marB="27432">
                    <a:solidFill>
                      <a:srgbClr val="E5F5FF"/>
                    </a:solidFill>
                  </a:tcPr>
                </a:tc>
                <a:tc>
                  <a:txBody>
                    <a:bodyPr/>
                    <a:lstStyle/>
                    <a:p>
                      <a:r>
                        <a:rPr sz="900" b="0">
                          <a:solidFill>
                            <a:srgbClr val="4B4B4B"/>
                          </a:solidFill>
                          <a:latin typeface="Arial"/>
                        </a:rPr>
                        <a:t>Opens PKR-2026-900002 and clicks Return to requester, chooses the reason and writes what is missing</a:t>
                      </a:r>
                    </a:p>
                  </a:txBody>
                  <a:tcPr marL="54864" marR="54864" marT="27432" marB="27432">
                    <a:solidFill>
                      <a:srgbClr val="E5F5FF"/>
                    </a:solidFill>
                  </a:tcPr>
                </a:tc>
                <a:tc>
                  <a:txBody>
                    <a:bodyPr/>
                    <a:lstStyle/>
                    <a:p>
                      <a:r>
                        <a:rPr sz="900" b="0">
                          <a:solidFill>
                            <a:srgbClr val="4B4B4B"/>
                          </a:solidFill>
                          <a:latin typeface="Arial"/>
                        </a:rPr>
                        <a:t>SCR-PM-04_wt-b-step-04.png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7</a:t>
                      </a:r>
                    </a:p>
                  </a:txBody>
                  <a:tcPr marL="54864" marR="54864" marT="27432" marB="27432">
                    <a:solidFill>
                      <a:srgbClr val="FFFFFF"/>
                    </a:solidFill>
                  </a:tcPr>
                </a:tc>
                <a:tc>
                  <a:txBody>
                    <a:bodyPr/>
                    <a:lstStyle/>
                    <a:p>
                      <a:r>
                        <a:rPr sz="900" b="0">
                          <a:solidFill>
                            <a:srgbClr val="4B4B4B"/>
                          </a:solidFill>
                          <a:latin typeface="Arial"/>
                        </a:rPr>
                        <a:t>Opens PKR-2026-900004 and clicks Return to TSU with the reason</a:t>
                      </a:r>
                    </a:p>
                  </a:txBody>
                  <a:tcPr marL="54864" marR="54864" marT="27432" marB="27432">
                    <a:solidFill>
                      <a:srgbClr val="FFFFFF"/>
                    </a:solidFill>
                  </a:tcPr>
                </a:tc>
                <a:tc>
                  <a:txBody>
                    <a:bodyPr/>
                    <a:lstStyle/>
                    <a:p>
                      <a:r>
                        <a:rPr sz="900" b="0">
                          <a:solidFill>
                            <a:srgbClr val="4B4B4B"/>
                          </a:solidFill>
                          <a:latin typeface="Arial"/>
                        </a:rPr>
                        <a:t>SCR-PM-04_wt-b-step-07.png</a:t>
                      </a:r>
                    </a:p>
                  </a:txBody>
                  <a:tcPr marL="54864" marR="54864"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04-03-return.png"/>
          <p:cNvPicPr>
            <a:picLocks noChangeAspect="1"/>
          </p:cNvPicPr>
          <p:nvPr/>
        </p:nvPicPr>
        <p:blipFill>
          <a:blip r:embed="rId3"/>
          <a:stretch>
            <a:fillRect/>
          </a:stretch>
        </p:blipFill>
        <p:spPr>
          <a:xfrm>
            <a:off x="1609794" y="1261872"/>
            <a:ext cx="897210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Return to requester dialog with the mandatory reason</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1 of 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5.png"/>
          <p:cNvPicPr>
            <a:picLocks noChangeAspect="1"/>
          </p:cNvPicPr>
          <p:nvPr/>
        </p:nvPicPr>
        <p:blipFill>
          <a:blip r:embed="rId3"/>
          <a:stretch>
            <a:fillRect/>
          </a:stretch>
        </p:blipFill>
        <p:spPr>
          <a:xfrm>
            <a:off x="548640" y="1261872"/>
            <a:ext cx="11094415" cy="45764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2 of 4)</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6.png"/>
          <p:cNvPicPr>
            <a:picLocks noChangeAspect="1"/>
          </p:cNvPicPr>
          <p:nvPr/>
        </p:nvPicPr>
        <p:blipFill>
          <a:blip r:embed="rId3"/>
          <a:stretch>
            <a:fillRect/>
          </a:stretch>
        </p:blipFill>
        <p:spPr>
          <a:xfrm>
            <a:off x="548640" y="1261872"/>
            <a:ext cx="11094415" cy="44568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3 of 4)</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SCR-PM-04 Package Request record: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97.png"/>
          <p:cNvPicPr>
            <a:picLocks noChangeAspect="1"/>
          </p:cNvPicPr>
          <p:nvPr/>
        </p:nvPicPr>
        <p:blipFill>
          <a:blip r:embed="rId3"/>
          <a:stretch>
            <a:fillRect/>
          </a:stretch>
        </p:blipFill>
        <p:spPr>
          <a:xfrm>
            <a:off x="548640" y="1261872"/>
            <a:ext cx="11094415" cy="27401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History tab of a released request (part 4 of 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1 of 3)</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2 of 3)</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0.png"/>
          <p:cNvPicPr>
            <a:picLocks noChangeAspect="1"/>
          </p:cNvPicPr>
          <p:nvPr/>
        </p:nvPicPr>
        <p:blipFill>
          <a:blip r:embed="rId3"/>
          <a:stretch>
            <a:fillRect/>
          </a:stretch>
        </p:blipFill>
        <p:spPr>
          <a:xfrm>
            <a:off x="548640" y="1261872"/>
            <a:ext cx="11094415" cy="14824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request waiting for the Marketing approval, Details tab (part 3 of 3)</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1 of 3)</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2 of 3)</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SCR-PM-04 Package Request record: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03.png"/>
          <p:cNvPicPr>
            <a:picLocks noChangeAspect="1"/>
          </p:cNvPicPr>
          <p:nvPr/>
        </p:nvPicPr>
        <p:blipFill>
          <a:blip r:embed="rId3"/>
          <a:stretch>
            <a:fillRect/>
          </a:stretch>
        </p:blipFill>
        <p:spPr>
          <a:xfrm>
            <a:off x="548640" y="1261872"/>
            <a:ext cx="11094415" cy="16737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Head approval with the recommendation of the TSU Team Lead (part 3 of 3)</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SCR-PM-05 Package Request record: Negotiation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negotiation with the insurers, one card per round, newest first. TSU prepares the quotation slip of the round (insurers and notes), a TSU Team Lead or a co-officer approves it and BIBS e-mails it to each insurer, password protected. TSU keys in each insurer's reply with its outcome, rate and terms; a further round revises the slip. When every insurer has answered, TSU makes the terms final with the insurers the package takes.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Negotiation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FR-PM-030, FR-PM-031, FR-PM-032, FR-PM-033, FR-PM-004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negotiated terms of each insurer are recorded round by round with their documents, and the insurers the package takes are chosen.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(10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2 images</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1" cy="398523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Round card</a:t>
                      </a:r>
                    </a:p>
                  </a:txBody>
                  <a:tcPr marL="54864" marR="54864" marT="27432" marB="27432">
                    <a:solidFill>
                      <a:srgbClr val="FFFFFF"/>
                    </a:solidFill>
                  </a:tcPr>
                </a:tc>
                <a:tc>
                  <a:txBody>
                    <a:bodyPr/>
                    <a:lstStyle/>
                    <a:p>
                      <a:r>
                        <a:rPr sz="850" b="0">
                          <a:solidFill>
                            <a:srgbClr val="4B4B4B"/>
                          </a:solidFill>
                          <a:latin typeface="Arial"/>
                        </a:rPr>
                        <a:t>Round n · slip number</a:t>
                      </a:r>
                    </a:p>
                  </a:txBody>
                  <a:tcPr marL="54864" marR="54864" marT="27432" marB="27432">
                    <a:solidFill>
                      <a:srgbClr val="FFFFFF"/>
                    </a:solidFill>
                  </a:tcPr>
                </a:tc>
                <a:tc>
                  <a:txBody>
                    <a:bodyPr/>
                    <a:lstStyle/>
                    <a:p>
                      <a:r>
                        <a:rPr sz="850" b="0">
                          <a:solidFill>
                            <a:srgbClr val="4B4B4B"/>
                          </a:solidFill>
                          <a:latin typeface="Arial"/>
                        </a:rPr>
                        <a:t>Card title</a:t>
                      </a:r>
                    </a:p>
                  </a:txBody>
                  <a:tcPr marL="54864" marR="54864" marT="27432" marB="27432">
                    <a:solidFill>
                      <a:srgbClr val="FFFFFF"/>
                    </a:solidFill>
                  </a:tcPr>
                </a:tc>
                <a:tc>
                  <a:txBody>
                    <a:bodyPr/>
                    <a:lstStyle/>
                    <a:p>
                      <a:r>
                        <a:rPr sz="850" b="0">
                          <a:solidFill>
                            <a:srgbClr val="4B4B4B"/>
                          </a:solidFill>
                          <a:latin typeface="Arial"/>
                        </a:rPr>
                        <a:t>Round number and quotation slip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Round card</a:t>
                      </a:r>
                    </a:p>
                  </a:txBody>
                  <a:tcPr marL="54864" marR="54864" marT="27432" marB="27432">
                    <a:solidFill>
                      <a:srgbClr val="E5F5FF"/>
                    </a:solidFill>
                  </a:tcPr>
                </a:tc>
                <a:tc>
                  <a:txBody>
                    <a:bodyPr/>
                    <a:lstStyle/>
                    <a:p>
                      <a:r>
                        <a:rPr sz="850" b="0">
                          <a:solidFill>
                            <a:srgbClr val="4B4B4B"/>
                          </a:solidFill>
                          <a:latin typeface="Arial"/>
                        </a:rPr>
                        <a:t>Round status pill and Locked tag</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Preparation, For approval, Sent, Superseded; Locked after the ManCom sign-off</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Round card</a:t>
                      </a:r>
                    </a:p>
                  </a:txBody>
                  <a:tcPr marL="54864" marR="54864" marT="27432" marB="27432">
                    <a:solidFill>
                      <a:srgbClr val="FFFFFF"/>
                    </a:solidFill>
                  </a:tcPr>
                </a:tc>
                <a:tc>
                  <a:txBody>
                    <a:bodyPr/>
                    <a:lstStyle/>
                    <a:p>
                      <a:r>
                        <a:rPr sz="850" b="0">
                          <a:solidFill>
                            <a:srgbClr val="4B4B4B"/>
                          </a:solidFill>
                          <a:latin typeface="Arial"/>
                        </a:rPr>
                        <a:t>Round note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Notes of the round; Reply by dd-MMM-yyyy; Sent dd-MMM-yyyy HH:mm (approved by user)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Slip preparation</a:t>
                      </a:r>
                    </a:p>
                  </a:txBody>
                  <a:tcPr marL="54864" marR="54864" marT="27432" marB="27432">
                    <a:solidFill>
                      <a:srgbClr val="E5F5FF"/>
                    </a:solidFill>
                  </a:tcPr>
                </a:tc>
                <a:tc>
                  <a:txBody>
                    <a:bodyPr/>
                    <a:lstStyle/>
                    <a:p>
                      <a:r>
                        <a:rPr sz="850" b="0">
                          <a:solidFill>
                            <a:srgbClr val="4B4B4B"/>
                          </a:solidFill>
                          <a:latin typeface="Arial"/>
                        </a:rPr>
                        <a:t>Insurer check boxes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Insurers of the round</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At least one insurer; each insurer authorised and with a placement e-mail</a:t>
                      </a:r>
                    </a:p>
                  </a:txBody>
                  <a:tcPr marL="54864" marR="54864" marT="27432" marB="27432">
                    <a:solidFill>
                      <a:srgbClr val="E5F5FF"/>
                    </a:solidFill>
                  </a:tcPr>
                </a:tc>
                <a:tc>
                  <a:txBody>
                    <a:bodyPr/>
                    <a:lstStyle/>
                    <a:p>
                      <a:r>
                        <a:rPr sz="850" b="0">
                          <a:solidFill>
                            <a:srgbClr val="4B4B4B"/>
                          </a:solidFill>
                          <a:latin typeface="Arial"/>
                        </a:rPr>
                        <a:t>Select at least one insurer for the quotation slip</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Slip preparation</a:t>
                      </a:r>
                    </a:p>
                  </a:txBody>
                  <a:tcPr marL="54864" marR="54864" marT="27432" marB="27432">
                    <a:solidFill>
                      <a:srgbClr val="FFFFFF"/>
                    </a:solidFill>
                  </a:tcPr>
                </a:tc>
                <a:tc>
                  <a:txBody>
                    <a:bodyPr/>
                    <a:lstStyle/>
                    <a:p>
                      <a:r>
                        <a:rPr sz="850" b="0">
                          <a:solidFill>
                            <a:srgbClr val="4B4B4B"/>
                          </a:solidFill>
                          <a:latin typeface="Arial"/>
                        </a:rPr>
                        <a:t>Notes to the insurers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4,000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Responses</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Insurer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Outcome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Pending, Accepted as requested, Approved with changes, Counter-proposal, Declined, No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Responses</a:t>
                      </a:r>
                    </a:p>
                  </a:txBody>
                  <a:tcPr marL="54864" marR="54864" marT="27432" marB="27432">
                    <a:solidFill>
                      <a:srgbClr val="E5F5FF"/>
                    </a:solidFill>
                  </a:tcPr>
                </a:tc>
                <a:tc>
                  <a:txBody>
                    <a:bodyPr/>
                    <a:lstStyle/>
                    <a:p>
                      <a:r>
                        <a:rPr sz="850" b="0">
                          <a:solidFill>
                            <a:srgbClr val="4B4B4B"/>
                          </a:solidFill>
                          <a:latin typeface="Arial"/>
                        </a:rPr>
                        <a:t>Rate % / Minimum / Conditions / Valid Until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keyed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Responses</a:t>
                      </a:r>
                    </a:p>
                  </a:txBody>
                  <a:tcPr marL="54864" marR="54864" marT="27432" marB="27432">
                    <a:solidFill>
                      <a:srgbClr val="FFFFFF"/>
                    </a:solidFill>
                  </a:tcPr>
                </a:tc>
                <a:tc>
                  <a:txBody>
                    <a:bodyPr/>
                    <a:lstStyle/>
                    <a:p>
                      <a:r>
                        <a:rPr sz="850" b="0">
                          <a:solidFill>
                            <a:srgbClr val="4B4B4B"/>
                          </a:solidFill>
                          <a:latin typeface="Arial"/>
                        </a:rPr>
                        <a:t>Rev.</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Revision number of the response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Outcome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Accepted as requested, Approved with changes, Counter-proposal, Declined, No response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active value of the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1127752">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Cond.: an offer (accepted, approved with changes, counter-proposal)</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Enter the rate offered</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Valid until</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Deductible per coverage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One field per requested coverage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Conditions and warranties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Terms of &lt;insurer&gt;</a:t>
                      </a:r>
                    </a:p>
                  </a:txBody>
                  <a:tcPr marL="54864" marR="54864" marT="27432" marB="27432">
                    <a:solidFill>
                      <a:srgbClr val="E5F5FF"/>
                    </a:solidFill>
                  </a:tcPr>
                </a:tc>
                <a:tc>
                  <a:txBody>
                    <a:bodyPr/>
                    <a:lstStyle/>
                    <a:p>
                      <a:r>
                        <a:rPr sz="850" b="0">
                          <a:solidFill>
                            <a:srgbClr val="4B4B4B"/>
                          </a:solidFill>
                          <a:latin typeface="Arial"/>
                        </a:rPr>
                        <a:t>Remarks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Terms of &lt;insurer&gt;</a:t>
                      </a:r>
                    </a:p>
                  </a:txBody>
                  <a:tcPr marL="54864" marR="54864" marT="27432" marB="27432">
                    <a:solidFill>
                      <a:srgbClr val="FFFFFF"/>
                    </a:solidFill>
                  </a:tcPr>
                </a:tc>
                <a:tc>
                  <a:txBody>
                    <a:bodyPr/>
                    <a:lstStyle/>
                    <a:p>
                      <a:r>
                        <a:rPr sz="850" b="0">
                          <a:solidFill>
                            <a:srgbClr val="4B4B4B"/>
                          </a:solidFill>
                          <a:latin typeface="Arial"/>
                        </a:rPr>
                        <a:t>Response document</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The insurer's reply (PDF, e-mail or image)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File checks of every upload</a:t>
                      </a:r>
                    </a:p>
                  </a:txBody>
                  <a:tcPr marL="54864" marR="54864" marT="27432" marB="27432">
                    <a:solidFill>
                      <a:srgbClr val="FFFFFF"/>
                    </a:solidFill>
                  </a:tcPr>
                </a:tc>
                <a:tc>
                  <a:txBody>
                    <a:bodyPr/>
                    <a:lstStyle/>
                    <a:p>
                      <a:r>
                        <a:rPr sz="850" b="0">
                          <a:solidFill>
                            <a:srgbClr val="4B4B4B"/>
                          </a:solidFill>
                          <a:latin typeface="Arial"/>
                        </a:rPr>
                        <a:t>The file could not be read</a:t>
                      </a:r>
                    </a:p>
                  </a:txBody>
                  <a:tcPr marL="54864" marR="54864" marT="27432" marB="27432">
                    <a:solidFill>
                      <a:srgbClr val="FFFFFF"/>
                    </a:solidFill>
                  </a:tcPr>
                </a:tc>
              </a:tr>
              <a:tr h="480057">
                <a:tc>
                  <a:txBody>
                    <a:bodyPr/>
                    <a:lstStyle/>
                    <a:p>
                      <a:r>
                        <a:rPr sz="850" b="0">
                          <a:solidFill>
                            <a:srgbClr val="4B4B4B"/>
                          </a:solidFill>
                          <a:latin typeface="Arial"/>
                        </a:rPr>
                        <a:t>18</a:t>
                      </a:r>
                    </a:p>
                  </a:txBody>
                  <a:tcPr marL="54864" marR="54864" marT="27432" marB="27432">
                    <a:solidFill>
                      <a:srgbClr val="E5F5FF"/>
                    </a:solidFill>
                  </a:tcPr>
                </a:tc>
                <a:tc>
                  <a:txBody>
                    <a:bodyPr/>
                    <a:lstStyle/>
                    <a:p>
                      <a:r>
                        <a:rPr sz="850" b="0">
                          <a:solidFill>
                            <a:srgbClr val="4B4B4B"/>
                          </a:solidFill>
                          <a:latin typeface="Arial"/>
                        </a:rPr>
                        <a:t>Terms Final</a:t>
                      </a:r>
                    </a:p>
                  </a:txBody>
                  <a:tcPr marL="54864" marR="54864" marT="27432" marB="27432">
                    <a:solidFill>
                      <a:srgbClr val="E5F5FF"/>
                    </a:solidFill>
                  </a:tcPr>
                </a:tc>
                <a:tc>
                  <a:txBody>
                    <a:bodyPr/>
                    <a:lstStyle/>
                    <a:p>
                      <a:r>
                        <a:rPr sz="850" b="0">
                          <a:solidFill>
                            <a:srgbClr val="4B4B4B"/>
                          </a:solidFill>
                          <a:latin typeface="Arial"/>
                        </a:rPr>
                        <a:t>Offer check box</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Insurer name · rate %, one per insurer that offered terms in the latest round</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Only insurers that offered terms</a:t>
                      </a:r>
                    </a:p>
                  </a:txBody>
                  <a:tcPr marL="54864" marR="54864" marT="27432" marB="27432">
                    <a:solidFill>
                      <a:srgbClr val="E5F5FF"/>
                    </a:solidFill>
                  </a:tcPr>
                </a:tc>
                <a:tc>
                  <a:txBody>
                    <a:bodyPr/>
                    <a:lstStyle/>
                    <a:p>
                      <a:r>
                        <a:rPr sz="850" b="0">
                          <a:solidFill>
                            <a:srgbClr val="4B4B4B"/>
                          </a:solidFill>
                          <a:latin typeface="Arial"/>
                        </a:rPr>
                        <a:t>Choose the insurer(s) whose terms the package takes</a:t>
                      </a:r>
                    </a:p>
                  </a:txBody>
                  <a:tcPr marL="54864" marR="54864" marT="27432" marB="27432">
                    <a:solidFill>
                      <a:srgbClr val="E5F5FF"/>
                    </a:solidFill>
                  </a:tcPr>
                </a:tc>
              </a:tr>
              <a:tr h="220979">
                <a:tc>
                  <a:txBody>
                    <a:bodyPr/>
                    <a:lstStyle/>
                    <a:p>
                      <a:r>
                        <a:rPr sz="850" b="0">
                          <a:solidFill>
                            <a:srgbClr val="4B4B4B"/>
                          </a:solidFill>
                          <a:latin typeface="Arial"/>
                        </a:rPr>
                        <a:t>19</a:t>
                      </a:r>
                    </a:p>
                  </a:txBody>
                  <a:tcPr marL="54864" marR="54864" marT="27432" marB="27432">
                    <a:solidFill>
                      <a:srgbClr val="FFFFFF"/>
                    </a:solidFill>
                  </a:tcPr>
                </a:tc>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Role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Panel, Lead, Participant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20</a:t>
                      </a:r>
                    </a:p>
                  </a:txBody>
                  <a:tcPr marL="54864" marR="54864" marT="27432" marB="27432">
                    <a:solidFill>
                      <a:srgbClr val="E5F5FF"/>
                    </a:solidFill>
                  </a:tcPr>
                </a:tc>
                <a:tc>
                  <a:txBody>
                    <a:bodyPr/>
                    <a:lstStyle/>
                    <a:p>
                      <a:r>
                        <a:rPr sz="850" b="0">
                          <a:solidFill>
                            <a:srgbClr val="4B4B4B"/>
                          </a:solidFill>
                          <a:latin typeface="Arial"/>
                        </a:rPr>
                        <a:t>Terms Final</a:t>
                      </a:r>
                    </a:p>
                  </a:txBody>
                  <a:tcPr marL="54864" marR="54864" marT="27432" marB="27432">
                    <a:solidFill>
                      <a:srgbClr val="E5F5FF"/>
                    </a:solidFill>
                  </a:tcPr>
                </a:tc>
                <a:tc>
                  <a:txBody>
                    <a:bodyPr/>
                    <a:lstStyle/>
                    <a:p>
                      <a:r>
                        <a:rPr sz="850" b="0">
                          <a:solidFill>
                            <a:srgbClr val="4B4B4B"/>
                          </a:solidFill>
                          <a:latin typeface="Arial"/>
                        </a:rPr>
                        <a:t>Share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Co-insurance share</a:t>
                      </a:r>
                    </a:p>
                  </a:txBody>
                  <a:tcPr marL="54864" marR="54864" marT="27432" marB="27432">
                    <a:solidFill>
                      <a:srgbClr val="E5F5FF"/>
                    </a:solidFill>
                  </a:tcPr>
                </a:tc>
                <a:tc>
                  <a:txBody>
                    <a:bodyPr/>
                    <a:lstStyle/>
                    <a:p>
                      <a:r>
                        <a:rPr sz="850" b="0">
                          <a:solidFill>
                            <a:srgbClr val="4B4B4B"/>
                          </a:solidFill>
                          <a:latin typeface="Arial"/>
                        </a:rPr>
                        <a:t>Cond.: co-insurance (lead and participants)</a:t>
                      </a:r>
                    </a:p>
                  </a:txBody>
                  <a:tcPr marL="54864" marR="54864" marT="27432" marB="27432">
                    <a:solidFill>
                      <a:srgbClr val="E5F5FF"/>
                    </a:solidFill>
                  </a:tcPr>
                </a:tc>
                <a:tc>
                  <a:txBody>
                    <a:bodyPr/>
                    <a:lstStyle/>
                    <a:p>
                      <a:r>
                        <a:rPr sz="850" b="0">
                          <a:solidFill>
                            <a:srgbClr val="4B4B4B"/>
                          </a:solidFill>
                          <a:latin typeface="Arial"/>
                        </a:rPr>
                        <a:t>Shares given for every co-insurer and totalling 100</a:t>
                      </a:r>
                    </a:p>
                  </a:txBody>
                  <a:tcPr marL="54864" marR="54864" marT="27432" marB="27432">
                    <a:solidFill>
                      <a:srgbClr val="E5F5FF"/>
                    </a:solidFill>
                  </a:tcPr>
                </a:tc>
                <a:tc>
                  <a:txBody>
                    <a:bodyPr/>
                    <a:lstStyle/>
                    <a:p>
                      <a:r>
                        <a:rPr sz="850" b="0">
                          <a:solidFill>
                            <a:srgbClr val="4B4B4B"/>
                          </a:solidFill>
                          <a:latin typeface="Arial"/>
                        </a:rPr>
                        <a:t>Co-insurance shares must be given for every insurer and total 100</a:t>
                      </a:r>
                    </a:p>
                  </a:txBody>
                  <a:tcPr marL="54864" marR="54864" marT="27432" marB="27432">
                    <a:solidFill>
                      <a:srgbClr val="E5F5FF"/>
                    </a:solidFill>
                  </a:tcPr>
                </a:tc>
              </a:tr>
              <a:tr h="220979">
                <a:tc>
                  <a:txBody>
                    <a:bodyPr/>
                    <a:lstStyle/>
                    <a:p>
                      <a:r>
                        <a:rPr sz="850" b="0">
                          <a:solidFill>
                            <a:srgbClr val="4B4B4B"/>
                          </a:solidFill>
                          <a:latin typeface="Arial"/>
                        </a:rPr>
                        <a:t>21</a:t>
                      </a:r>
                    </a:p>
                  </a:txBody>
                  <a:tcPr marL="54864" marR="54864" marT="27432" marB="27432">
                    <a:solidFill>
                      <a:srgbClr val="FFFFFF"/>
                    </a:solidFill>
                  </a:tcPr>
                </a:tc>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Comment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1,000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graphicFrame>
        <p:nvGraphicFramePr>
          <p:cNvPr id="9" name="Table 8"/>
          <p:cNvGraphicFramePr>
            <a:graphicFrameLocks noGrp="1"/>
          </p:cNvGraphicFramePr>
          <p:nvPr/>
        </p:nvGraphicFramePr>
        <p:xfrm>
          <a:off x="548640" y="1325880"/>
          <a:ext cx="11094411" cy="7924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Revise Quotation Slip</a:t>
                      </a:r>
                    </a:p>
                  </a:txBody>
                  <a:tcPr marL="54864" marR="54864" marT="27432" marB="27432">
                    <a:solidFill>
                      <a:srgbClr val="FFFFFF"/>
                    </a:solidFill>
                  </a:tcPr>
                </a:tc>
                <a:tc>
                  <a:txBody>
                    <a:bodyPr/>
                    <a:lstStyle/>
                    <a:p>
                      <a:r>
                        <a:rPr sz="850" b="0">
                          <a:solidFill>
                            <a:srgbClr val="4B4B4B"/>
                          </a:solidFill>
                          <a:latin typeface="Arial"/>
                        </a:rPr>
                        <a:t>Insurer check boxes</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Insurers of the next round</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Revise Quotation Slip</a:t>
                      </a:r>
                    </a:p>
                  </a:txBody>
                  <a:tcPr marL="54864" marR="54864" marT="27432" marB="27432">
                    <a:solidFill>
                      <a:srgbClr val="E5F5FF"/>
                    </a:solidFill>
                  </a:tcPr>
                </a:tc>
                <a:tc>
                  <a:txBody>
                    <a:bodyPr/>
                    <a:lstStyle/>
                    <a:p>
                      <a:r>
                        <a:rPr sz="850" b="0">
                          <a:solidFill>
                            <a:srgbClr val="4B4B4B"/>
                          </a:solidFill>
                          <a:latin typeface="Arial"/>
                        </a:rPr>
                        <a:t>What changes in this round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4,000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graphicFrame>
        <p:nvGraphicFramePr>
          <p:cNvPr id="9" name="Table 8"/>
          <p:cNvGraphicFramePr>
            <a:graphicFrameLocks noGrp="1"/>
          </p:cNvGraphicFramePr>
          <p:nvPr/>
        </p:nvGraphicFramePr>
        <p:xfrm>
          <a:off x="548640" y="1325880"/>
          <a:ext cx="11094412" cy="350518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Save Slip</a:t>
                      </a:r>
                    </a:p>
                  </a:txBody>
                  <a:tcPr marL="54864" marR="54864" marT="27432" marB="27432">
                    <a:solidFill>
                      <a:srgbClr val="FFFFFF"/>
                    </a:solidFill>
                  </a:tcPr>
                </a:tc>
                <a:tc>
                  <a:txBody>
                    <a:bodyPr/>
                    <a:lstStyle/>
                    <a:p>
                      <a:r>
                        <a:rPr sz="850" b="0">
                          <a:solidFill>
                            <a:srgbClr val="4B4B4B"/>
                          </a:solidFill>
                          <a:latin typeface="Arial"/>
                        </a:rPr>
                        <a:t>TSU Officer or Team Lead (PKG_NEGOTIATE)</a:t>
                      </a:r>
                    </a:p>
                  </a:txBody>
                  <a:tcPr marL="54864" marR="54864" marT="27432" marB="27432">
                    <a:solidFill>
                      <a:srgbClr val="FFFFFF"/>
                    </a:solidFill>
                  </a:tcPr>
                </a:tc>
                <a:tc>
                  <a:txBody>
                    <a:bodyPr/>
                    <a:lstStyle/>
                    <a:p>
                      <a:r>
                        <a:rPr sz="850" b="0">
                          <a:solidFill>
                            <a:srgbClr val="4B4B4B"/>
                          </a:solidFill>
                          <a:latin typeface="Arial"/>
                        </a:rPr>
                        <a:t>Round in preparation</a:t>
                      </a:r>
                    </a:p>
                  </a:txBody>
                  <a:tcPr marL="54864" marR="54864" marT="27432" marB="27432">
                    <a:solidFill>
                      <a:srgbClr val="FFFFFF"/>
                    </a:solidFill>
                  </a:tcPr>
                </a:tc>
                <a:tc>
                  <a:txBody>
                    <a:bodyPr/>
                    <a:lstStyle/>
                    <a:p>
                      <a:r>
                        <a:rPr sz="850" b="0">
                          <a:solidFill>
                            <a:srgbClr val="4B4B4B"/>
                          </a:solidFill>
                          <a:latin typeface="Arial"/>
                        </a:rPr>
                        <a:t>Saves the insurers and notes of the slip</a:t>
                      </a:r>
                    </a:p>
                  </a:txBody>
                  <a:tcPr marL="54864" marR="54864" marT="27432" marB="27432">
                    <a:solidFill>
                      <a:srgbClr val="FFFFFF"/>
                    </a:solidFill>
                  </a:tcPr>
                </a:tc>
                <a:tc>
                  <a:txBody>
                    <a:bodyPr/>
                    <a:lstStyle/>
                    <a:p>
                      <a:r>
                        <a:rPr sz="850" b="0">
                          <a:solidFill>
                            <a:srgbClr val="4B4B4B"/>
                          </a:solidFill>
                          <a:latin typeface="Arial"/>
                        </a:rPr>
                        <a:t>Round in preparation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for Approval</a:t>
                      </a:r>
                    </a:p>
                  </a:txBody>
                  <a:tcPr marL="54864" marR="54864" marT="27432" marB="27432">
                    <a:solidFill>
                      <a:srgbClr val="E5F5FF"/>
                    </a:solidFill>
                  </a:tcPr>
                </a:tc>
                <a:tc>
                  <a:txBody>
                    <a:bodyPr/>
                    <a:lstStyle/>
                    <a:p>
                      <a:r>
                        <a:rPr sz="850" b="0">
                          <a:solidFill>
                            <a:srgbClr val="4B4B4B"/>
                          </a:solidFill>
                          <a:latin typeface="Arial"/>
                        </a:rPr>
                        <a:t>TSU Officer or Team Lead (PKG_NEGOTIATE)</a:t>
                      </a:r>
                    </a:p>
                  </a:txBody>
                  <a:tcPr marL="54864" marR="54864" marT="27432" marB="27432">
                    <a:solidFill>
                      <a:srgbClr val="E5F5FF"/>
                    </a:solidFill>
                  </a:tcPr>
                </a:tc>
                <a:tc>
                  <a:txBody>
                    <a:bodyPr/>
                    <a:lstStyle/>
                    <a:p>
                      <a:r>
                        <a:rPr sz="850" b="0">
                          <a:solidFill>
                            <a:srgbClr val="4B4B4B"/>
                          </a:solidFill>
                          <a:latin typeface="Arial"/>
                        </a:rPr>
                        <a:t>Round in preparation; at least one insurer</a:t>
                      </a:r>
                    </a:p>
                  </a:txBody>
                  <a:tcPr marL="54864" marR="54864" marT="27432" marB="27432">
                    <a:solidFill>
                      <a:srgbClr val="E5F5FF"/>
                    </a:solidFill>
                  </a:tcPr>
                </a:tc>
                <a:tc>
                  <a:txBody>
                    <a:bodyPr/>
                    <a:lstStyle/>
                    <a:p>
                      <a:r>
                        <a:rPr sz="850" b="0">
                          <a:solidFill>
                            <a:srgbClr val="4B4B4B"/>
                          </a:solidFill>
                          <a:latin typeface="Arial"/>
                        </a:rPr>
                        <a:t>Saves the slip, numbers it PQS-yyyy-nnnnnn and sets the reply date (today + PKG_QS_REPLY_DAYS, 5 days)</a:t>
                      </a:r>
                    </a:p>
                  </a:txBody>
                  <a:tcPr marL="54864" marR="54864" marT="27432" marB="27432">
                    <a:solidFill>
                      <a:srgbClr val="E5F5FF"/>
                    </a:solidFill>
                  </a:tcPr>
                </a:tc>
                <a:tc>
                  <a:txBody>
                    <a:bodyPr/>
                    <a:lstStyle/>
                    <a:p>
                      <a:r>
                        <a:rPr sz="850" b="0">
                          <a:solidFill>
                            <a:srgbClr val="4B4B4B"/>
                          </a:solidFill>
                          <a:latin typeface="Arial"/>
                        </a:rPr>
                        <a:t>Round 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Approve and Send</a:t>
                      </a:r>
                    </a:p>
                  </a:txBody>
                  <a:tcPr marL="54864" marR="54864" marT="27432" marB="27432">
                    <a:solidFill>
                      <a:srgbClr val="FFFFFF"/>
                    </a:solidFill>
                  </a:tcPr>
                </a:tc>
                <a:tc>
                  <a:txBody>
                    <a:bodyPr/>
                    <a:lstStyle/>
                    <a:p>
                      <a:r>
                        <a:rPr sz="850" b="0">
                          <a:solidFill>
                            <a:srgbClr val="4B4B4B"/>
                          </a:solidFill>
                          <a:latin typeface="Arial"/>
                        </a:rPr>
                        <a:t>TSU Team Lead or a co-officer (PKG_QS_APPROVE), not the preparer</a:t>
                      </a:r>
                    </a:p>
                  </a:txBody>
                  <a:tcPr marL="54864" marR="54864" marT="27432" marB="27432">
                    <a:solidFill>
                      <a:srgbClr val="FFFFFF"/>
                    </a:solidFill>
                  </a:tcPr>
                </a:tc>
                <a:tc>
                  <a:txBody>
                    <a:bodyPr/>
                    <a:lstStyle/>
                    <a:p>
                      <a:r>
                        <a:rPr sz="850" b="0">
                          <a:solidFill>
                            <a:srgbClr val="4B4B4B"/>
                          </a:solidFill>
                          <a:latin typeface="Arial"/>
                        </a:rPr>
                        <a:t>Round for approval</a:t>
                      </a:r>
                    </a:p>
                  </a:txBody>
                  <a:tcPr marL="54864" marR="54864" marT="27432" marB="27432">
                    <a:solidFill>
                      <a:srgbClr val="FFFFFF"/>
                    </a:solidFill>
                  </a:tcPr>
                </a:tc>
                <a:tc>
                  <a:txBody>
                    <a:bodyPr/>
                    <a:lstStyle/>
                    <a:p>
                      <a:r>
                        <a:rPr sz="850" b="0">
                          <a:solidFill>
                            <a:srgbClr val="4B4B4B"/>
                          </a:solidFill>
                          <a:latin typeface="Arial"/>
                        </a:rPr>
                        <a:t>Approves the slip and e-mails it to each insurer, password protected; a pending response is opened per insurer</a:t>
                      </a:r>
                    </a:p>
                  </a:txBody>
                  <a:tcPr marL="54864" marR="54864" marT="27432" marB="27432">
                    <a:solidFill>
                      <a:srgbClr val="FFFFFF"/>
                    </a:solidFill>
                  </a:tcPr>
                </a:tc>
                <a:tc>
                  <a:txBody>
                    <a:bodyPr/>
                    <a:lstStyle/>
                    <a:p>
                      <a:r>
                        <a:rPr sz="850" b="0">
                          <a:solidFill>
                            <a:srgbClr val="4B4B4B"/>
                          </a:solidFill>
                          <a:latin typeface="Arial"/>
                        </a:rPr>
                        <a:t>Round sent</a:t>
                      </a:r>
                    </a:p>
                  </a:txBody>
                  <a:tcPr marL="54864" marR="54864" marT="27432" marB="27432">
                    <a:solidFill>
                      <a:srgbClr val="FFFFFF"/>
                    </a:solidFill>
                  </a:tcPr>
                </a:tc>
                <a:tc>
                  <a:txBody>
                    <a:bodyPr/>
                    <a:lstStyle/>
                    <a:p>
                      <a:r>
                        <a:rPr sz="850" b="0">
                          <a:solidFill>
                            <a:srgbClr val="4B4B4B"/>
                          </a:solidFill>
                          <a:latin typeface="Arial"/>
                        </a:rPr>
                        <a:t>Quotation slip e-mail to each insurer (NT-05)</a:t>
                      </a:r>
                    </a:p>
                  </a:txBody>
                  <a:tcPr marL="54864" marR="54864" marT="27432" marB="27432">
                    <a:solidFill>
                      <a:srgbClr val="FFFFFF"/>
                    </a:solidFill>
                  </a:tcPr>
                </a:tc>
              </a:tr>
              <a:tr h="220979">
                <a:tc>
                  <a:txBody>
                    <a:bodyPr/>
                    <a:lstStyle/>
                    <a:p>
                      <a:r>
                        <a:rPr sz="850" b="0">
                          <a:solidFill>
                            <a:srgbClr val="4B4B4B"/>
                          </a:solidFill>
                          <a:latin typeface="Arial"/>
                        </a:rPr>
                        <a:t>Quotation Slip</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The slip is numbered</a:t>
                      </a:r>
                    </a:p>
                  </a:txBody>
                  <a:tcPr marL="54864" marR="54864" marT="27432" marB="27432">
                    <a:solidFill>
                      <a:srgbClr val="E5F5FF"/>
                    </a:solidFill>
                  </a:tcPr>
                </a:tc>
                <a:tc>
                  <a:txBody>
                    <a:bodyPr/>
                    <a:lstStyle/>
                    <a:p>
                      <a:r>
                        <a:rPr sz="850" b="0">
                          <a:solidFill>
                            <a:srgbClr val="4B4B4B"/>
                          </a:solidFill>
                          <a:latin typeface="Arial"/>
                        </a:rPr>
                        <a:t>Downloads the quotation slip PDF of the round</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Key In</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Round sent, open and not locked</a:t>
                      </a:r>
                    </a:p>
                  </a:txBody>
                  <a:tcPr marL="54864" marR="54864" marT="27432" marB="27432">
                    <a:solidFill>
                      <a:srgbClr val="FFFFFF"/>
                    </a:solidFill>
                  </a:tcPr>
                </a:tc>
                <a:tc>
                  <a:txBody>
                    <a:bodyPr/>
                    <a:lstStyle/>
                    <a:p>
                      <a:r>
                        <a:rPr sz="850" b="0">
                          <a:solidFill>
                            <a:srgbClr val="4B4B4B"/>
                          </a:solidFill>
                          <a:latin typeface="Arial"/>
                        </a:rPr>
                        <a:t>Opens Terms of &lt;insurer&gt;</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Terms</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Outcome chosen; a rate for an offer</a:t>
                      </a:r>
                    </a:p>
                  </a:txBody>
                  <a:tcPr marL="54864" marR="54864" marT="27432" marB="27432">
                    <a:solidFill>
                      <a:srgbClr val="E5F5FF"/>
                    </a:solidFill>
                  </a:tcPr>
                </a:tc>
                <a:tc>
                  <a:txBody>
                    <a:bodyPr/>
                    <a:lstStyle/>
                    <a:p>
                      <a:r>
                        <a:rPr sz="850" b="0">
                          <a:solidFill>
                            <a:srgbClr val="4B4B4B"/>
                          </a:solidFill>
                          <a:latin typeface="Arial"/>
                        </a:rPr>
                        <a:t>Saves the response as a new revision (the previous values stay in the history) and attaches the response document</a:t>
                      </a:r>
                    </a:p>
                  </a:txBody>
                  <a:tcPr marL="54864" marR="54864" marT="27432" marB="27432">
                    <a:solidFill>
                      <a:srgbClr val="E5F5FF"/>
                    </a:solidFill>
                  </a:tcPr>
                </a:tc>
                <a:tc>
                  <a:txBody>
                    <a:bodyPr/>
                    <a:lstStyle/>
                    <a:p>
                      <a:r>
                        <a:rPr sz="850" b="0">
                          <a:solidFill>
                            <a:srgbClr val="4B4B4B"/>
                          </a:solidFill>
                          <a:latin typeface="Arial"/>
                        </a:rPr>
                        <a:t>Response outcome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Resend</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Round sent, open and not locked</a:t>
                      </a:r>
                    </a:p>
                  </a:txBody>
                  <a:tcPr marL="54864" marR="54864" marT="27432" marB="27432">
                    <a:solidFill>
                      <a:srgbClr val="FFFFFF"/>
                    </a:solidFill>
                  </a:tcPr>
                </a:tc>
                <a:tc>
                  <a:txBody>
                    <a:bodyPr/>
                    <a:lstStyle/>
                    <a:p>
                      <a:r>
                        <a:rPr sz="850" b="0">
                          <a:solidFill>
                            <a:srgbClr val="4B4B4B"/>
                          </a:solidFill>
                          <a:latin typeface="Arial"/>
                        </a:rPr>
                        <a:t>E-mails the slip again to that insurer</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Quotation slip e-mail (NT-05)</a:t>
                      </a:r>
                    </a:p>
                  </a:txBody>
                  <a:tcPr marL="54864" marR="54864" marT="27432" marB="27432">
                    <a:solidFill>
                      <a:srgbClr val="FFFFFF"/>
                    </a:solidFill>
                  </a:tcPr>
                </a:tc>
              </a:tr>
              <a:tr h="350518">
                <a:tc>
                  <a:txBody>
                    <a:bodyPr/>
                    <a:lstStyle/>
                    <a:p>
                      <a:r>
                        <a:rPr sz="850" b="0">
                          <a:solidFill>
                            <a:srgbClr val="4B4B4B"/>
                          </a:solidFill>
                          <a:latin typeface="Arial"/>
                        </a:rPr>
                        <a:t>Revise quotation slip (new round)</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Insurer negotiation; the latest slip was sent</a:t>
                      </a:r>
                    </a:p>
                  </a:txBody>
                  <a:tcPr marL="54864" marR="54864" marT="27432" marB="27432">
                    <a:solidFill>
                      <a:srgbClr val="E5F5FF"/>
                    </a:solidFill>
                  </a:tcPr>
                </a:tc>
                <a:tc>
                  <a:txBody>
                    <a:bodyPr/>
                    <a:lstStyle/>
                    <a:p>
                      <a:r>
                        <a:rPr sz="850" b="0">
                          <a:solidFill>
                            <a:srgbClr val="4B4B4B"/>
                          </a:solidFill>
                          <a:latin typeface="Arial"/>
                        </a:rPr>
                        <a:t>Opens Revise Quotation Slip; Open New Round closes the sent round and opens round n+1 with the chosen insurers</a:t>
                      </a:r>
                    </a:p>
                  </a:txBody>
                  <a:tcPr marL="54864" marR="54864" marT="27432" marB="27432">
                    <a:solidFill>
                      <a:srgbClr val="E5F5FF"/>
                    </a:solidFill>
                  </a:tcPr>
                </a:tc>
                <a:tc>
                  <a:txBody>
                    <a:bodyPr/>
                    <a:lstStyle/>
                    <a:p>
                      <a:r>
                        <a:rPr sz="850" b="0">
                          <a:solidFill>
                            <a:srgbClr val="4B4B4B"/>
                          </a:solidFill>
                          <a:latin typeface="Arial"/>
                        </a:rPr>
                        <a:t>Insurer negotiation (round n+1)</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r h="480057">
                <a:tc>
                  <a:txBody>
                    <a:bodyPr/>
                    <a:lstStyle/>
                    <a:p>
                      <a:r>
                        <a:rPr sz="850" b="0">
                          <a:solidFill>
                            <a:srgbClr val="4B4B4B"/>
                          </a:solidFill>
                          <a:latin typeface="Arial"/>
                        </a:rPr>
                        <a:t>Terms final</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Insurer negotiation; every insurer of the latest round has an outcome</a:t>
                      </a:r>
                    </a:p>
                  </a:txBody>
                  <a:tcPr marL="54864" marR="54864" marT="27432" marB="27432">
                    <a:solidFill>
                      <a:srgbClr val="FFFFFF"/>
                    </a:solidFill>
                  </a:tcPr>
                </a:tc>
                <a:tc>
                  <a:txBody>
                    <a:bodyPr/>
                    <a:lstStyle/>
                    <a:p>
                      <a:r>
                        <a:rPr sz="850" b="0">
                          <a:solidFill>
                            <a:srgbClr val="4B4B4B"/>
                          </a:solidFill>
                          <a:latin typeface="Arial"/>
                        </a:rPr>
                        <a:t>Opens Terms Final; Make Terms Final records the chosen insurers with role and share as the proposed terms and compiles the comparative master</a:t>
                      </a:r>
                    </a:p>
                  </a:txBody>
                  <a:tcPr marL="54864" marR="54864" marT="27432" marB="27432">
                    <a:solidFill>
                      <a:srgbClr val="FFFFFF"/>
                    </a:solidFill>
                  </a:tcPr>
                </a:tc>
                <a:tc>
                  <a:txBody>
                    <a:bodyPr/>
                    <a:lstStyle/>
                    <a:p>
                      <a:r>
                        <a:rPr sz="850" b="0">
                          <a:solidFill>
                            <a:srgbClr val="4B4B4B"/>
                          </a:solidFill>
                          <a:latin typeface="Arial"/>
                        </a:rPr>
                        <a:t>Negotiated terms review</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bl>
          </a:graphicData>
        </a:graphic>
      </p:graphicFrame>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graphicFrame>
        <p:nvGraphicFramePr>
          <p:cNvPr id="9" name="Table 8"/>
          <p:cNvGraphicFramePr>
            <a:graphicFrameLocks noGrp="1"/>
          </p:cNvGraphicFramePr>
          <p:nvPr/>
        </p:nvGraphicFramePr>
        <p:xfrm>
          <a:off x="548640" y="1325880"/>
          <a:ext cx="11094415" cy="17068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quotation slip is approved by a TSU Team Lead or a co-officer, never by its preparer (FR-PM-030).</a:t>
                      </a:r>
                    </a:p>
                  </a:txBody>
                  <a:tcPr marL="54864" marR="54864" marT="27432" marB="27432">
                    <a:solidFill>
                      <a:srgbClr val="FFFFFF"/>
                    </a:solidFill>
                  </a:tcPr>
                </a:tc>
              </a:tr>
              <a:tr h="243840">
                <a:tc>
                  <a:txBody>
                    <a:bodyPr/>
                    <a:lstStyle/>
                    <a:p>
                      <a:r>
                        <a:rPr sz="1000" b="0">
                          <a:solidFill>
                            <a:srgbClr val="4B4B4B"/>
                          </a:solidFill>
                          <a:latin typeface="Arial"/>
                        </a:rPr>
                        <a:t>Each insurer receives its own protected e-mail; an insurer without a placement e-mail address stops the sending (FR-PM-030, FR-PM-004).</a:t>
                      </a:r>
                    </a:p>
                  </a:txBody>
                  <a:tcPr marL="54864" marR="54864" marT="27432" marB="27432">
                    <a:solidFill>
                      <a:srgbClr val="E5F5FF"/>
                    </a:solidFill>
                  </a:tcPr>
                </a:tc>
              </a:tr>
              <a:tr h="243840">
                <a:tc>
                  <a:txBody>
                    <a:bodyPr/>
                    <a:lstStyle/>
                    <a:p>
                      <a:r>
                        <a:rPr sz="1000" b="0">
                          <a:solidFill>
                            <a:srgbClr val="4B4B4B"/>
                          </a:solidFill>
                          <a:latin typeface="Arial"/>
                        </a:rPr>
                        <a:t>An offer (accepted as requested, approved with changes, counter-proposal) needs the rate offered; every change of a response is kept as a revision (FR-PM-031).</a:t>
                      </a:r>
                    </a:p>
                  </a:txBody>
                  <a:tcPr marL="54864" marR="54864" marT="27432" marB="27432">
                    <a:solidFill>
                      <a:srgbClr val="FFFFFF"/>
                    </a:solidFill>
                  </a:tcPr>
                </a:tc>
              </a:tr>
              <a:tr h="243840">
                <a:tc>
                  <a:txBody>
                    <a:bodyPr/>
                    <a:lstStyle/>
                    <a:p>
                      <a:r>
                        <a:rPr sz="1000" b="0">
                          <a:solidFill>
                            <a:srgbClr val="4B4B4B"/>
                          </a:solidFill>
                          <a:latin typeface="Arial"/>
                        </a:rPr>
                        <a:t>Only the latest round is keyed in; a sent round is revised through a new round, never changed (FR-PM-032).</a:t>
                      </a:r>
                    </a:p>
                  </a:txBody>
                  <a:tcPr marL="54864" marR="54864" marT="27432" marB="27432">
                    <a:solidFill>
                      <a:srgbClr val="E5F5FF"/>
                    </a:solidFill>
                  </a:tcPr>
                </a:tc>
              </a:tr>
              <a:tr h="243840">
                <a:tc>
                  <a:txBody>
                    <a:bodyPr/>
                    <a:lstStyle/>
                    <a:p>
                      <a:r>
                        <a:rPr sz="1000" b="0">
                          <a:solidFill>
                            <a:srgbClr val="4B4B4B"/>
                          </a:solidFill>
                          <a:latin typeface="Arial"/>
                        </a:rPr>
                        <a:t>The terms are final only when every insurer of the latest round has an outcome and the chosen insurers offered terms; co-insurance shares total 100 (FR-PM-033).</a:t>
                      </a:r>
                    </a:p>
                  </a:txBody>
                  <a:tcPr marL="54864" marR="54864" marT="27432" marB="27432">
                    <a:solidFill>
                      <a:srgbClr val="FFFFFF"/>
                    </a:solidFill>
                  </a:tcPr>
                </a:tc>
              </a:tr>
              <a:tr h="243840">
                <a:tc>
                  <a:txBody>
                    <a:bodyPr/>
                    <a:lstStyle/>
                    <a:p>
                      <a:r>
                        <a:rPr sz="1000" b="0">
                          <a:solidFill>
                            <a:srgbClr val="4B4B4B"/>
                          </a:solidFill>
                          <a:latin typeface="Arial"/>
                        </a:rPr>
                        <a:t>The slips are locked at the ManCom sign-off (FR-PM-041).</a:t>
                      </a:r>
                    </a:p>
                  </a:txBody>
                  <a:tcPr marL="54864" marR="54864" marT="27432" marB="27432">
                    <a:solidFill>
                      <a:srgbClr val="E5F5FF"/>
                    </a:solidFill>
                  </a:tcPr>
                </a:tc>
              </a:tr>
            </a:tbl>
          </a:graphicData>
        </a:graphic>
      </p:graphicFrame>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graphicFrame>
        <p:nvGraphicFramePr>
          <p:cNvPr id="9" name="Table 8"/>
          <p:cNvGraphicFramePr>
            <a:graphicFrameLocks noGrp="1"/>
          </p:cNvGraphicFramePr>
          <p:nvPr/>
        </p:nvGraphicFramePr>
        <p:xfrm>
          <a:off x="548640" y="1325880"/>
          <a:ext cx="11094413" cy="1737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10</a:t>
                      </a:r>
                    </a:p>
                  </a:txBody>
                  <a:tcPr marL="54864" marR="54864" marT="27432" marB="27432">
                    <a:solidFill>
                      <a:srgbClr val="FFFFFF"/>
                    </a:solidFill>
                  </a:tcPr>
                </a:tc>
                <a:tc>
                  <a:txBody>
                    <a:bodyPr/>
                    <a:lstStyle/>
                    <a:p>
                      <a:r>
                        <a:rPr sz="900" b="0">
                          <a:solidFill>
                            <a:srgbClr val="4B4B4B"/>
                          </a:solidFill>
                          <a:latin typeface="Arial"/>
                        </a:rPr>
                        <a:t>Clicks Terms final, ticks the offer of Mabuhay General Insurance Corp. and clicks Make Terms Final</a:t>
                      </a:r>
                    </a:p>
                  </a:txBody>
                  <a:tcPr marL="54864" marR="54864" marT="27432" marB="27432">
                    <a:solidFill>
                      <a:srgbClr val="FFFFFF"/>
                    </a:solidFill>
                  </a:tcPr>
                </a:tc>
                <a:tc>
                  <a:txBody>
                    <a:bodyPr/>
                    <a:lstStyle/>
                    <a:p>
                      <a:r>
                        <a:rPr sz="900" b="0">
                          <a:solidFill>
                            <a:srgbClr val="4B4B4B"/>
                          </a:solidFill>
                          <a:latin typeface="Arial"/>
                        </a:rPr>
                        <a:t>SCR-PM-05_wt-a-step-10.png</a:t>
                      </a:r>
                    </a:p>
                  </a:txBody>
                  <a:tcPr marL="54864" marR="54864" marT="27432" marB="27432">
                    <a:solidFill>
                      <a:srgbClr val="FFFFFF"/>
                    </a:solidFill>
                  </a:tcPr>
                </a:tc>
              </a:tr>
              <a:tr h="228600">
                <a:tc>
                  <a:txBody>
                    <a:bodyPr/>
                    <a:lstStyle/>
                    <a:p>
                      <a:r>
                        <a:rPr sz="900" b="0">
                          <a:solidFill>
                            <a:srgbClr val="4B4B4B"/>
                          </a:solidFill>
                          <a:latin typeface="Arial"/>
                        </a:rPr>
                        <a:t>Validation error</a:t>
                      </a:r>
                    </a:p>
                  </a:txBody>
                  <a:tcPr marL="54864" marR="54864" marT="27432" marB="27432">
                    <a:solidFill>
                      <a:srgbClr val="E5F5FF"/>
                    </a:solidFill>
                  </a:tcPr>
                </a:tc>
                <a:tc>
                  <a:txBody>
                    <a:bodyPr/>
                    <a:lstStyle/>
                    <a:p>
                      <a:r>
                        <a:rPr sz="900" b="0">
                          <a:solidFill>
                            <a:srgbClr val="4B4B4B"/>
                          </a:solidFill>
                          <a:latin typeface="Arial"/>
                        </a:rPr>
                        <a:t>WT-B step 5</a:t>
                      </a:r>
                    </a:p>
                  </a:txBody>
                  <a:tcPr marL="54864" marR="54864" marT="27432" marB="27432">
                    <a:solidFill>
                      <a:srgbClr val="E5F5FF"/>
                    </a:solidFill>
                  </a:tcPr>
                </a:tc>
                <a:tc>
                  <a:txBody>
                    <a:bodyPr/>
                    <a:lstStyle/>
                    <a:p>
                      <a:r>
                        <a:rPr sz="900" b="0">
                          <a:solidFill>
                            <a:srgbClr val="4B4B4B"/>
                          </a:solidFill>
                          <a:latin typeface="Arial"/>
                        </a:rPr>
                        <a:t>Prepares and submits a slip himself, then clicks Approve and Send on it</a:t>
                      </a:r>
                    </a:p>
                  </a:txBody>
                  <a:tcPr marL="54864" marR="54864" marT="27432" marB="27432">
                    <a:solidFill>
                      <a:srgbClr val="E5F5FF"/>
                    </a:solidFill>
                  </a:tcPr>
                </a:tc>
                <a:tc>
                  <a:txBody>
                    <a:bodyPr/>
                    <a:lstStyle/>
                    <a:p>
                      <a:r>
                        <a:rPr sz="900" b="0">
                          <a:solidFill>
                            <a:srgbClr val="4B4B4B"/>
                          </a:solidFill>
                          <a:latin typeface="Arial"/>
                        </a:rPr>
                        <a:t>SCR-PM-05_wt-b-step-05.png</a:t>
                      </a:r>
                    </a:p>
                  </a:txBody>
                  <a:tcPr marL="54864" marR="54864" marT="27432" marB="27432">
                    <a:solidFill>
                      <a:srgbClr val="E5F5FF"/>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6</a:t>
                      </a:r>
                    </a:p>
                  </a:txBody>
                  <a:tcPr marL="54864" marR="54864" marT="27432" marB="27432">
                    <a:solidFill>
                      <a:srgbClr val="FFFFFF"/>
                    </a:solidFill>
                  </a:tcPr>
                </a:tc>
                <a:tc>
                  <a:txBody>
                    <a:bodyPr/>
                    <a:lstStyle/>
                    <a:p>
                      <a:r>
                        <a:rPr sz="900" b="0">
                          <a:solidFill>
                            <a:srgbClr val="4B4B4B"/>
                          </a:solidFill>
                          <a:latin typeface="Arial"/>
                        </a:rPr>
                        <a:t>Opens PKR-2026-900003 and clicks Terms final while Luzon Assurance is still pending in round 2</a:t>
                      </a:r>
                    </a:p>
                  </a:txBody>
                  <a:tcPr marL="54864" marR="54864" marT="27432" marB="27432">
                    <a:solidFill>
                      <a:srgbClr val="FFFFFF"/>
                    </a:solidFill>
                  </a:tcPr>
                </a:tc>
                <a:tc>
                  <a:txBody>
                    <a:bodyPr/>
                    <a:lstStyle/>
                    <a:p>
                      <a:r>
                        <a:rPr sz="900" b="0">
                          <a:solidFill>
                            <a:srgbClr val="4B4B4B"/>
                          </a:solidFill>
                          <a:latin typeface="Arial"/>
                        </a:rPr>
                        <a:t>SCR-PM-05_wt-b-step-06.png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7</a:t>
                      </a:r>
                    </a:p>
                  </a:txBody>
                  <a:tcPr marL="54864" marR="54864" marT="27432" marB="27432">
                    <a:solidFill>
                      <a:srgbClr val="E5F5FF"/>
                    </a:solidFill>
                  </a:tcPr>
                </a:tc>
                <a:tc>
                  <a:txBody>
                    <a:bodyPr/>
                    <a:lstStyle/>
                    <a:p>
                      <a:r>
                        <a:rPr sz="900" b="0">
                          <a:solidFill>
                            <a:srgbClr val="4B4B4B"/>
                          </a:solidFill>
                          <a:latin typeface="Arial"/>
                        </a:rPr>
                        <a:t>Opens the Negotiation tab, adds a note to the insurers and clicks Submit for Approval</a:t>
                      </a:r>
                    </a:p>
                  </a:txBody>
                  <a:tcPr marL="54864" marR="54864" marT="27432" marB="27432">
                    <a:solidFill>
                      <a:srgbClr val="E5F5FF"/>
                    </a:solidFill>
                  </a:tcPr>
                </a:tc>
                <a:tc>
                  <a:txBody>
                    <a:bodyPr/>
                    <a:lstStyle/>
                    <a:p>
                      <a:r>
                        <a:rPr sz="900" b="0">
                          <a:solidFill>
                            <a:srgbClr val="4B4B4B"/>
                          </a:solidFill>
                          <a:latin typeface="Arial"/>
                        </a:rPr>
                        <a:t>SCR-PM-05_wt-a-step-07.png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8</a:t>
                      </a:r>
                    </a:p>
                  </a:txBody>
                  <a:tcPr marL="54864" marR="54864" marT="27432" marB="27432">
                    <a:solidFill>
                      <a:srgbClr val="FFFFFF"/>
                    </a:solidFill>
                  </a:tcPr>
                </a:tc>
                <a:tc>
                  <a:txBody>
                    <a:bodyPr/>
                    <a:lstStyle/>
                    <a:p>
                      <a:r>
                        <a:rPr sz="900" b="0">
                          <a:solidFill>
                            <a:srgbClr val="4B4B4B"/>
                          </a:solidFill>
                          <a:latin typeface="Arial"/>
                        </a:rPr>
                        <a:t>Clicks Approve and Send on round 1</a:t>
                      </a:r>
                    </a:p>
                  </a:txBody>
                  <a:tcPr marL="54864" marR="54864" marT="27432" marB="27432">
                    <a:solidFill>
                      <a:srgbClr val="FFFFFF"/>
                    </a:solidFill>
                  </a:tcPr>
                </a:tc>
                <a:tc>
                  <a:txBody>
                    <a:bodyPr/>
                    <a:lstStyle/>
                    <a:p>
                      <a:r>
                        <a:rPr sz="900" b="0">
                          <a:solidFill>
                            <a:srgbClr val="4B4B4B"/>
                          </a:solidFill>
                          <a:latin typeface="Arial"/>
                        </a:rPr>
                        <a:t>SCR-PM-05_wt-a-step-08.png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9</a:t>
                      </a:r>
                    </a:p>
                  </a:txBody>
                  <a:tcPr marL="54864" marR="54864" marT="27432" marB="27432">
                    <a:solidFill>
                      <a:srgbClr val="E5F5FF"/>
                    </a:solidFill>
                  </a:tcPr>
                </a:tc>
                <a:tc>
                  <a:txBody>
                    <a:bodyPr/>
                    <a:lstStyle/>
                    <a:p>
                      <a:r>
                        <a:rPr sz="900" b="0">
                          <a:solidFill>
                            <a:srgbClr val="4B4B4B"/>
                          </a:solidFill>
                          <a:latin typeface="Arial"/>
                        </a:rPr>
                        <a:t>Clicks Key In for each insurer, enters the outcome, rate, minimum premium and deductibles, attaches the insurer's reply and clicks Save Terms</a:t>
                      </a:r>
                    </a:p>
                  </a:txBody>
                  <a:tcPr marL="54864" marR="54864" marT="27432" marB="27432">
                    <a:solidFill>
                      <a:srgbClr val="E5F5FF"/>
                    </a:solidFill>
                  </a:tcPr>
                </a:tc>
                <a:tc>
                  <a:txBody>
                    <a:bodyPr/>
                    <a:lstStyle/>
                    <a:p>
                      <a:r>
                        <a:rPr sz="900" b="0">
                          <a:solidFill>
                            <a:srgbClr val="4B4B4B"/>
                          </a:solidFill>
                          <a:latin typeface="Arial"/>
                        </a:rPr>
                        <a:t>SCR-PM-05_wt-a-step-09.png</a:t>
                      </a:r>
                    </a:p>
                  </a:txBody>
                  <a:tcPr marL="54864" marR="54864" marT="27432" marB="27432">
                    <a:solidFill>
                      <a:srgbClr val="E5F5FF"/>
                    </a:solidFill>
                  </a:tcPr>
                </a:tc>
              </a:tr>
            </a:tbl>
          </a:graphicData>
        </a:graphic>
      </p:graphicFrame>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1 of 4)</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44282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2 of 4)</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433256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3 of 4)</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23432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Negotiation tab: round 2 sent, round 1 closed with three outcomes (part 4 of 4)</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Filled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of an insurer: outcome, rate and deductibles (part 1 of 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Filled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09.png"/>
          <p:cNvPicPr>
            <a:picLocks noChangeAspect="1"/>
          </p:cNvPicPr>
          <p:nvPr/>
        </p:nvPicPr>
        <p:blipFill>
          <a:blip r:embed="rId3"/>
          <a:stretch>
            <a:fillRect/>
          </a:stretch>
        </p:blipFill>
        <p:spPr>
          <a:xfrm>
            <a:off x="548640" y="1261872"/>
            <a:ext cx="11094415" cy="47113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of an insurer: outcome, rate and deductibles (part 2 of 2)</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SCR-PM-05 Package Request record: Negotiation tab: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5-04-revise.png"/>
          <p:cNvPicPr>
            <a:picLocks noChangeAspect="1"/>
          </p:cNvPicPr>
          <p:nvPr/>
        </p:nvPicPr>
        <p:blipFill>
          <a:blip r:embed="rId3"/>
          <a:stretch>
            <a:fillRect/>
          </a:stretch>
        </p:blipFill>
        <p:spPr>
          <a:xfrm>
            <a:off x="1045257" y="1261872"/>
            <a:ext cx="1010118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Revise Quotation Slip dialog: insurers of the next round</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SCR-PM-05 Package Request record: Negotiation tab: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05-03-terms_final.png"/>
          <p:cNvPicPr>
            <a:picLocks noChangeAspect="1"/>
          </p:cNvPicPr>
          <p:nvPr/>
        </p:nvPicPr>
        <p:blipFill>
          <a:blip r:embed="rId3"/>
          <a:stretch>
            <a:fillRect/>
          </a:stretch>
        </p:blipFill>
        <p:spPr>
          <a:xfrm>
            <a:off x="1177876" y="1261872"/>
            <a:ext cx="983594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Terms Final dialog: insurers, role and share</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SCR-PM-06 Package Request record: Comparative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comparison of the insurer terms of the latest round, the one current comparative master kept for audit, and the client views derived from it for a client presentation. Every output is stored with its PDF and Excel file.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Comparative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FR-PM-034, FR-PM-035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and Marketing compare the insurers on one current table and give the client a tailored view that matches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graphicFrame>
        <p:nvGraphicFramePr>
          <p:cNvPr id="9" name="Table 8"/>
          <p:cNvGraphicFramePr>
            <a:graphicFrameLocks noGrp="1"/>
          </p:cNvGraphicFramePr>
          <p:nvPr/>
        </p:nvGraphicFramePr>
        <p:xfrm>
          <a:off x="548640" y="1325880"/>
          <a:ext cx="11094411" cy="333754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Round n comparison</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name, with the Lowest rate tag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terms to compare yet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Round n comparison</a:t>
                      </a:r>
                    </a:p>
                  </a:txBody>
                  <a:tcPr marL="54864" marR="54864" marT="27432" marB="27432">
                    <a:solidFill>
                      <a:srgbClr val="E5F5FF"/>
                    </a:solidFill>
                  </a:tcPr>
                </a:tc>
                <a:tc>
                  <a:txBody>
                    <a:bodyPr/>
                    <a:lstStyle/>
                    <a:p>
                      <a:r>
                        <a:rPr sz="850" b="0">
                          <a:solidFill>
                            <a:srgbClr val="4B4B4B"/>
                          </a:solidFill>
                          <a:latin typeface="Arial"/>
                        </a:rPr>
                        <a:t>Outcome / Rate % / Minimum / Coverages / Deductibles / Conditions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As keyed in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Output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Title, with Audit master or Client view and the round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comparative output yet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Stored outputs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Current or Superseded (master)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Fields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or the number of fields shown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Stored outputs</a:t>
                      </a:r>
                    </a:p>
                  </a:txBody>
                  <a:tcPr marL="54864" marR="54864" marT="27432" marB="27432">
                    <a:solidFill>
                      <a:srgbClr val="E5F5FF"/>
                    </a:solidFill>
                  </a:tcPr>
                </a:tc>
                <a:tc>
                  <a:txBody>
                    <a:bodyPr/>
                    <a:lstStyle/>
                    <a:p>
                      <a:r>
                        <a:rPr sz="850" b="0">
                          <a:solidFill>
                            <a:srgbClr val="4B4B4B"/>
                          </a:solidFill>
                          <a:latin typeface="Arial"/>
                        </a:rPr>
                        <a:t>Generated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 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Stored outputs</a:t>
                      </a:r>
                    </a:p>
                  </a:txBody>
                  <a:tcPr marL="54864" marR="54864" marT="27432" marB="27432">
                    <a:solidFill>
                      <a:srgbClr val="FFFFFF"/>
                    </a:solidFill>
                  </a:tcPr>
                </a:tc>
                <a:tc>
                  <a:txBody>
                    <a:bodyPr/>
                    <a:lstStyle/>
                    <a:p>
                      <a:r>
                        <a:rPr sz="850" b="0">
                          <a:solidFill>
                            <a:srgbClr val="4B4B4B"/>
                          </a:solidFill>
                          <a:latin typeface="Arial"/>
                        </a:rPr>
                        <a:t>SHA-256</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First 12 characters of the file fingerprint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title of the view</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Generate Client View</a:t>
                      </a:r>
                    </a:p>
                  </a:txBody>
                  <a:tcPr marL="54864" marR="54864" marT="27432" marB="27432">
                    <a:solidFill>
                      <a:srgbClr val="FFFFFF"/>
                    </a:solidFill>
                  </a:tcPr>
                </a:tc>
                <a:tc>
                  <a:txBody>
                    <a:bodyPr/>
                    <a:lstStyle/>
                    <a:p>
                      <a:r>
                        <a:rPr sz="850" b="0">
                          <a:solidFill>
                            <a:srgbClr val="4B4B4B"/>
                          </a:solidFill>
                          <a:latin typeface="Arial"/>
                        </a:rPr>
                        <a:t>Fields shown</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Outcome, Rate %, Minimum Premium, Coverages, Deductibles, Conditions / Warranties, Valid Until, Remarks</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Known fields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Insurers shown</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Insurers of the master</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Insurers of the master</a:t>
                      </a:r>
                    </a:p>
                  </a:txBody>
                  <a:tcPr marL="54864" marR="54864" marT="27432" marB="27432">
                    <a:solidFill>
                      <a:srgbClr val="E5F5FF"/>
                    </a:solidFill>
                  </a:tcPr>
                </a:tc>
                <a:tc>
                  <a:txBody>
                    <a:bodyPr/>
                    <a:lstStyle/>
                    <a:p>
                      <a:r>
                        <a:rPr sz="850" b="0">
                          <a:solidFill>
                            <a:srgbClr val="4B4B4B"/>
                          </a:solidFill>
                          <a:latin typeface="Arial"/>
                        </a:rPr>
                        <a:t>Select at least one insurer of the master</a:t>
                      </a:r>
                    </a:p>
                  </a:txBody>
                  <a:tcPr marL="54864" marR="54864" marT="27432" marB="27432">
                    <a:solidFill>
                      <a:srgbClr val="E5F5FF"/>
                    </a:solidFill>
                  </a:tcPr>
                </a:tc>
              </a:tr>
            </a:tbl>
          </a:graphicData>
        </a:graphic>
      </p:graphicFrame>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Compile Master</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The slip of the latest round was sent</a:t>
                      </a:r>
                    </a:p>
                  </a:txBody>
                  <a:tcPr marL="54864" marR="54864" marT="27432" marB="27432">
                    <a:solidFill>
                      <a:srgbClr val="FFFFFF"/>
                    </a:solidFill>
                  </a:tcPr>
                </a:tc>
                <a:tc>
                  <a:txBody>
                    <a:bodyPr/>
                    <a:lstStyle/>
                    <a:p>
                      <a:r>
                        <a:rPr sz="850" b="0">
                          <a:solidFill>
                            <a:srgbClr val="4B4B4B"/>
                          </a:solidFill>
                          <a:latin typeface="Arial"/>
                        </a:rPr>
                        <a:t>Compiles a new comparative master from the latest round; the previous master becomes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Generate Client View</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A current master exists</a:t>
                      </a:r>
                    </a:p>
                  </a:txBody>
                  <a:tcPr marL="54864" marR="54864" marT="27432" marB="27432">
                    <a:solidFill>
                      <a:srgbClr val="E5F5FF"/>
                    </a:solidFill>
                  </a:tcPr>
                </a:tc>
                <a:tc>
                  <a:txBody>
                    <a:bodyPr/>
                    <a:lstStyle/>
                    <a:p>
                      <a:r>
                        <a:rPr sz="850" b="0">
                          <a:solidFill>
                            <a:srgbClr val="4B4B4B"/>
                          </a:solidFill>
                          <a:latin typeface="Arial"/>
                        </a:rPr>
                        <a:t>Opens Generate Client View; Generate stores a view with the chosen fields and insurers, taken from the master's values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PDF /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stored output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There is one current comparative master per request; a new master supersedes the previous one (FR-PM-034).</a:t>
                      </a:r>
                    </a:p>
                  </a:txBody>
                  <a:tcPr marL="54864" marR="54864" marT="27432" marB="27432">
                    <a:solidFill>
                      <a:srgbClr val="FFFFFF"/>
                    </a:solidFill>
                  </a:tcPr>
                </a:tc>
              </a:tr>
              <a:tr h="243840">
                <a:tc>
                  <a:txBody>
                    <a:bodyPr/>
                    <a:lstStyle/>
                    <a:p>
                      <a:r>
                        <a:rPr sz="1000" b="0">
                          <a:solidFill>
                            <a:srgbClr val="4B4B4B"/>
                          </a:solidFill>
                          <a:latin typeface="Arial"/>
                        </a:rPr>
                        <a:t>A client view is taken from the current master and never changes a value; it shows only the fields and insurers chosen (FR-PM-035).</a:t>
                      </a:r>
                    </a:p>
                  </a:txBody>
                  <a:tcPr marL="54864" marR="54864" marT="27432" marB="27432">
                    <a:solidFill>
                      <a:srgbClr val="E5F5FF"/>
                    </a:solidFill>
                  </a:tcPr>
                </a:tc>
              </a:tr>
              <a:tr h="243840">
                <a:tc>
                  <a:txBody>
                    <a:bodyPr/>
                    <a:lstStyle/>
                    <a:p>
                      <a:r>
                        <a:rPr sz="1000" b="0">
                          <a:solidFill>
                            <a:srgbClr val="4B4B4B"/>
                          </a:solidFill>
                          <a:latin typeface="Arial"/>
                        </a:rPr>
                        <a:t>Every output is attached to the request with its SHA-256 and written to the audit trail (FR-PM-034, FR-PM-005).</a:t>
                      </a:r>
                    </a:p>
                  </a:txBody>
                  <a:tcPr marL="54864" marR="54864" marT="27432" marB="27432">
                    <a:solidFill>
                      <a:srgbClr val="FFFFFF"/>
                    </a:solidFill>
                  </a:tcPr>
                </a:tc>
              </a:tr>
            </a:tbl>
          </a:graphicData>
        </a:graphic>
      </p:graphicFrame>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SCR-PM-06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graphicFrame>
        <p:nvGraphicFramePr>
          <p:cNvPr id="9" name="Table 8"/>
          <p:cNvGraphicFramePr>
            <a:graphicFrameLocks noGrp="1"/>
          </p:cNvGraphicFramePr>
          <p:nvPr/>
        </p:nvGraphicFramePr>
        <p:xfrm>
          <a:off x="548640" y="1325880"/>
          <a:ext cx="11094413" cy="45720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11</a:t>
                      </a:r>
                    </a:p>
                  </a:txBody>
                  <a:tcPr marL="54864" marR="54864" marT="27432" marB="27432">
                    <a:solidFill>
                      <a:srgbClr val="FFFFFF"/>
                    </a:solidFill>
                  </a:tcPr>
                </a:tc>
                <a:tc>
                  <a:txBody>
                    <a:bodyPr/>
                    <a:lstStyle/>
                    <a:p>
                      <a:r>
                        <a:rPr sz="900" b="0">
                          <a:solidFill>
                            <a:srgbClr val="4B4B4B"/>
                          </a:solidFill>
                          <a:latin typeface="Arial"/>
                        </a:rPr>
                        <a:t>Opens the Comparative tab</a:t>
                      </a:r>
                    </a:p>
                  </a:txBody>
                  <a:tcPr marL="54864" marR="54864" marT="27432" marB="27432">
                    <a:solidFill>
                      <a:srgbClr val="FFFFFF"/>
                    </a:solidFill>
                  </a:tcPr>
                </a:tc>
                <a:tc>
                  <a:txBody>
                    <a:bodyPr/>
                    <a:lstStyle/>
                    <a:p>
                      <a:r>
                        <a:rPr sz="900" b="0">
                          <a:solidFill>
                            <a:srgbClr val="4B4B4B"/>
                          </a:solidFill>
                          <a:latin typeface="Arial"/>
                        </a:rPr>
                        <a:t>SCR-PM-06_wt-a-step-11.png</a:t>
                      </a:r>
                    </a:p>
                  </a:txBody>
                  <a:tcPr marL="54864" marR="54864" marT="27432" marB="27432">
                    <a:solidFill>
                      <a:srgbClr val="FFFFFF"/>
                    </a:solidFill>
                  </a:tcPr>
                </a:tc>
              </a:tr>
            </a:tbl>
          </a:graphicData>
        </a:graphic>
      </p:graphicFrame>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0.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1 of 3)</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1.png"/>
          <p:cNvPicPr>
            <a:picLocks noChangeAspect="1"/>
          </p:cNvPicPr>
          <p:nvPr/>
        </p:nvPicPr>
        <p:blipFill>
          <a:blip r:embed="rId3"/>
          <a:stretch>
            <a:fillRect/>
          </a:stretch>
        </p:blipFill>
        <p:spPr>
          <a:xfrm>
            <a:off x="548640" y="1261872"/>
            <a:ext cx="11094415" cy="429908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2 of 3)</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SCR-PM-06 Package Request record: Comparative tab: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343831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Comparative tab with the round 2 comparison and the stored outputs (part 3 of 3)</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SCR-PM-06 Package Request record: Comparative tab: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6-02-client_view.png"/>
          <p:cNvPicPr>
            <a:picLocks noChangeAspect="1"/>
          </p:cNvPicPr>
          <p:nvPr/>
        </p:nvPicPr>
        <p:blipFill>
          <a:blip r:embed="rId3"/>
          <a:stretch>
            <a:fillRect/>
          </a:stretch>
        </p:blipFill>
        <p:spPr>
          <a:xfrm>
            <a:off x="1979523" y="1261872"/>
            <a:ext cx="823264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Client View dialog</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requirements pack that ManCom signs off: what the pack still lacks, the proposed rate scheme, computation basis and dates (editable while the requirements are prepared), the package slip to print and sign, and the ManCom decisions with their sign-off reference.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Requirements &amp; Sign-off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FR-PM-040, FR-PM-041, FR-PM-036</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ManCom signs off a complete pack in BIBS and the request goes to MBS for the set-up.</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1" cy="415287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Requirements pack</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Missing items, or The requirements pack is complete.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The effective date and package end date, a scheme rate or a rate for every insurer, the computation basis, the chosen insurer(s) and the signed package slip</a:t>
                      </a:r>
                    </a:p>
                  </a:txBody>
                  <a:tcPr marL="54864" marR="54864" marT="27432" marB="27432">
                    <a:solidFill>
                      <a:srgbClr val="FFFFFF"/>
                    </a:solidFill>
                  </a:tcPr>
                </a:tc>
                <a:tc>
                  <a:txBody>
                    <a:bodyPr/>
                    <a:lstStyle/>
                    <a:p>
                      <a:r>
                        <a:rPr sz="850" b="0">
                          <a:solidFill>
                            <a:srgbClr val="4B4B4B"/>
                          </a:solidFill>
                          <a:latin typeface="Arial"/>
                        </a:rPr>
                        <a:t>Complete the requirements: &lt;missing&gt;</a:t>
                      </a:r>
                    </a:p>
                  </a:txBody>
                  <a:tcPr marL="54864" marR="54864" marT="27432" marB="27432">
                    <a:solidFill>
                      <a:srgbClr val="FFFFFF"/>
                    </a:solidFill>
                  </a:tcPr>
                </a:tc>
              </a:tr>
              <a:tr h="739135">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Scheme 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Up to four decimals</a:t>
                      </a:r>
                    </a:p>
                  </a:txBody>
                  <a:tcPr marL="54864" marR="54864" marT="27432" marB="27432">
                    <a:solidFill>
                      <a:srgbClr val="E5F5FF"/>
                    </a:solidFill>
                  </a:tcPr>
                </a:tc>
                <a:tc>
                  <a:txBody>
                    <a:bodyPr/>
                    <a:lstStyle/>
                    <a:p>
                      <a:r>
                        <a:rPr sz="850" b="0">
                          <a:solidFill>
                            <a:srgbClr val="4B4B4B"/>
                          </a:solidFill>
                          <a:latin typeface="Arial"/>
                        </a:rPr>
                        <a:t>Cond.: or a rate for every insurer</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Rates and amounts cannot be negative</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Minimum premium / Commission % / Package TSI limit</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 percentage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Rates and amounts cannot be negative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Computation basis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How the premium is computed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 before submission</a:t>
                      </a:r>
                    </a:p>
                  </a:txBody>
                  <a:tcPr marL="54864" marR="54864" marT="27432" marB="27432">
                    <a:solidFill>
                      <a:srgbClr val="E5F5FF"/>
                    </a:solidFill>
                  </a:tcPr>
                </a:tc>
                <a:tc>
                  <a:txBody>
                    <a:bodyPr/>
                    <a:lstStyle/>
                    <a:p>
                      <a:r>
                        <a:rPr sz="850" b="0">
                          <a:solidFill>
                            <a:srgbClr val="4B4B4B"/>
                          </a:solidFill>
                          <a:latin typeface="Arial"/>
                        </a:rPr>
                        <a:t>Complete the requirements: the computation basis</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Complete the requirements: the effective date and the package end date</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Rate scheme, computation basis and dates</a:t>
                      </a:r>
                    </a:p>
                  </a:txBody>
                  <a:tcPr marL="54864" marR="54864" marT="27432" marB="27432">
                    <a:solidFill>
                      <a:srgbClr val="E5F5FF"/>
                    </a:solidFill>
                  </a:tcPr>
                </a:tc>
                <a:tc>
                  <a:txBody>
                    <a:bodyPr/>
                    <a:lstStyle/>
                    <a:p>
                      <a:r>
                        <a:rPr sz="850" b="0">
                          <a:solidFill>
                            <a:srgbClr val="4B4B4B"/>
                          </a:solidFill>
                          <a:latin typeface="Arial"/>
                        </a:rPr>
                        <a:t>Package start / Anniversary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Rate scheme, computation basis and dates</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After the effective date</a:t>
                      </a:r>
                    </a:p>
                  </a:txBody>
                  <a:tcPr marL="54864" marR="54864" marT="27432" marB="27432">
                    <a:solidFill>
                      <a:srgbClr val="FFFFFF"/>
                    </a:solidFill>
                  </a:tcPr>
                </a:tc>
                <a:tc>
                  <a:txBody>
                    <a:bodyPr/>
                    <a:lstStyle/>
                    <a:p>
                      <a:r>
                        <a:rPr sz="850" b="0">
                          <a:solidFill>
                            <a:srgbClr val="4B4B4B"/>
                          </a:solidFill>
                          <a:latin typeface="Arial"/>
                        </a:rPr>
                        <a:t>The package end date must be after the effective date</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Proposed terms</a:t>
                      </a:r>
                    </a:p>
                  </a:txBody>
                  <a:tcPr marL="54864" marR="54864" marT="27432" marB="27432">
                    <a:solidFill>
                      <a:srgbClr val="E5F5FF"/>
                    </a:solidFill>
                  </a:tcPr>
                </a:tc>
                <a:tc>
                  <a:txBody>
                    <a:bodyPr/>
                    <a:lstStyle/>
                    <a:p>
                      <a:r>
                        <a:rPr sz="850" b="0">
                          <a:solidFill>
                            <a:srgbClr val="4B4B4B"/>
                          </a:solidFill>
                          <a:latin typeface="Arial"/>
                        </a:rPr>
                        <a:t>Sections, coverages, rate scheme, dates and insurers</a:t>
                      </a:r>
                    </a:p>
                  </a:txBody>
                  <a:tcPr marL="54864" marR="54864" marT="27432" marB="27432">
                    <a:solidFill>
                      <a:srgbClr val="E5F5FF"/>
                    </a:solidFill>
                  </a:tcPr>
                </a:tc>
                <a:tc>
                  <a:txBody>
                    <a:bodyPr/>
                    <a:lstStyle/>
                    <a:p>
                      <a:r>
                        <a:rPr sz="850" b="0">
                          <a:solidFill>
                            <a:srgbClr val="4B4B4B"/>
                          </a:solidFill>
                          <a:latin typeface="Arial"/>
                        </a:rPr>
                        <a:t>Read-only view</a:t>
                      </a:r>
                    </a:p>
                  </a:txBody>
                  <a:tcPr marL="54864" marR="54864" marT="27432" marB="27432">
                    <a:solidFill>
                      <a:srgbClr val="E5F5FF"/>
                    </a:solidFill>
                  </a:tcPr>
                </a:tc>
                <a:tc>
                  <a:txBody>
                    <a:bodyPr/>
                    <a:lstStyle/>
                    <a:p>
                      <a:r>
                        <a:rPr sz="850" b="0">
                          <a:solidFill>
                            <a:srgbClr val="4B4B4B"/>
                          </a:solidFill>
                          <a:latin typeface="Arial"/>
                        </a:rPr>
                        <a:t>As on the Requested Terms tab</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ManCom decisions</a:t>
                      </a:r>
                    </a:p>
                  </a:txBody>
                  <a:tcPr marL="54864" marR="54864" marT="27432" marB="27432">
                    <a:solidFill>
                      <a:srgbClr val="FFFFFF"/>
                    </a:solidFill>
                  </a:tcPr>
                </a:tc>
                <a:tc>
                  <a:txBody>
                    <a:bodyPr/>
                    <a:lstStyle/>
                    <a:p>
                      <a:r>
                        <a:rPr sz="850" b="0">
                          <a:solidFill>
                            <a:srgbClr val="4B4B4B"/>
                          </a:solidFill>
                          <a:latin typeface="Arial"/>
                        </a:rPr>
                        <a:t>Reference / Decision / By / On / Comment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MC-PKR-yyyy-nnnnnn; Signed or Returned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ManCom decision yet</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Package Slip</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package slip (PDF) with the proposed terms, to be printed and signed</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Save Requirements</a:t>
                      </a:r>
                    </a:p>
                  </a:txBody>
                  <a:tcPr marL="54864" marR="54864" marT="27432" marB="27432">
                    <a:solidFill>
                      <a:srgbClr val="E5F5FF"/>
                    </a:solidFill>
                  </a:tcPr>
                </a:tc>
                <a:tc>
                  <a:txBody>
                    <a:bodyPr/>
                    <a:lstStyle/>
                    <a:p>
                      <a:r>
                        <a:rPr sz="850" b="0">
                          <a:solidFill>
                            <a:srgbClr val="4B4B4B"/>
                          </a:solidFill>
                          <a:latin typeface="Arial"/>
                        </a:rPr>
                        <a:t>PKG_NEGOTIATE</a:t>
                      </a:r>
                    </a:p>
                  </a:txBody>
                  <a:tcPr marL="54864" marR="54864" marT="27432" marB="27432">
                    <a:solidFill>
                      <a:srgbClr val="E5F5FF"/>
                    </a:solidFill>
                  </a:tcPr>
                </a:tc>
                <a:tc>
                  <a:txBody>
                    <a:bodyPr/>
                    <a:lstStyle/>
                    <a:p>
                      <a:r>
                        <a:rPr sz="850" b="0">
                          <a:solidFill>
                            <a:srgbClr val="4B4B4B"/>
                          </a:solidFill>
                          <a:latin typeface="Arial"/>
                        </a:rPr>
                        <a:t>Requirements preparation</a:t>
                      </a:r>
                    </a:p>
                  </a:txBody>
                  <a:tcPr marL="54864" marR="54864" marT="27432" marB="27432">
                    <a:solidFill>
                      <a:srgbClr val="E5F5FF"/>
                    </a:solidFill>
                  </a:tcPr>
                </a:tc>
                <a:tc>
                  <a:txBody>
                    <a:bodyPr/>
                    <a:lstStyle/>
                    <a:p>
                      <a:r>
                        <a:rPr sz="850" b="0">
                          <a:solidFill>
                            <a:srgbClr val="4B4B4B"/>
                          </a:solidFill>
                          <a:latin typeface="Arial"/>
                        </a:rPr>
                        <a:t>Saves the rate scheme, computation basis and dates of the proposed terms</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requirements for ManCom sign-off</a:t>
                      </a:r>
                    </a:p>
                  </a:txBody>
                  <a:tcPr marL="54864" marR="54864" marT="27432" marB="27432">
                    <a:solidFill>
                      <a:srgbClr val="FFFFFF"/>
                    </a:solidFill>
                  </a:tcPr>
                </a:tc>
                <a:tc>
                  <a:txBody>
                    <a:bodyPr/>
                    <a:lstStyle/>
                    <a:p>
                      <a:r>
                        <a:rPr sz="850" b="0">
                          <a:solidFill>
                            <a:srgbClr val="4B4B4B"/>
                          </a:solidFill>
                          <a:latin typeface="Arial"/>
                        </a:rPr>
                        <a:t>PKG_NEGOTIATE</a:t>
                      </a:r>
                    </a:p>
                  </a:txBody>
                  <a:tcPr marL="54864" marR="54864" marT="27432" marB="27432">
                    <a:solidFill>
                      <a:srgbClr val="FFFFFF"/>
                    </a:solidFill>
                  </a:tcPr>
                </a:tc>
                <a:tc>
                  <a:txBody>
                    <a:bodyPr/>
                    <a:lstStyle/>
                    <a:p>
                      <a:r>
                        <a:rPr sz="850" b="0">
                          <a:solidFill>
                            <a:srgbClr val="4B4B4B"/>
                          </a:solidFill>
                          <a:latin typeface="Arial"/>
                        </a:rPr>
                        <a:t>Requirements preparation; the pack is complete</a:t>
                      </a:r>
                    </a:p>
                  </a:txBody>
                  <a:tcPr marL="54864" marR="54864" marT="27432" marB="27432">
                    <a:solidFill>
                      <a:srgbClr val="FFFFFF"/>
                    </a:solidFill>
                  </a:tcPr>
                </a:tc>
                <a:tc>
                  <a:txBody>
                    <a:bodyPr/>
                    <a:lstStyle/>
                    <a:p>
                      <a:r>
                        <a:rPr sz="850" b="0">
                          <a:solidFill>
                            <a:srgbClr val="4B4B4B"/>
                          </a:solidFill>
                          <a:latin typeface="Arial"/>
                        </a:rPr>
                        <a:t>Sends the pack to ManCom</a:t>
                      </a:r>
                    </a:p>
                  </a:txBody>
                  <a:tcPr marL="54864" marR="54864" marT="27432" marB="27432">
                    <a:solidFill>
                      <a:srgbClr val="FFFFFF"/>
                    </a:solidFill>
                  </a:tcPr>
                </a:tc>
                <a:tc>
                  <a:txBody>
                    <a:bodyPr/>
                    <a:lstStyle/>
                    <a:p>
                      <a:r>
                        <a:rPr sz="850" b="0">
                          <a:solidFill>
                            <a:srgbClr val="4B4B4B"/>
                          </a:solidFill>
                          <a:latin typeface="Arial"/>
                        </a:rPr>
                        <a:t>For ManCom sign-off</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480057">
                <a:tc>
                  <a:txBody>
                    <a:bodyPr/>
                    <a:lstStyle/>
                    <a:p>
                      <a:r>
                        <a:rPr sz="850" b="0">
                          <a:solidFill>
                            <a:srgbClr val="4B4B4B"/>
                          </a:solidFill>
                          <a:latin typeface="Arial"/>
                        </a:rPr>
                        <a:t>Sign off and send to MBS</a:t>
                      </a:r>
                    </a:p>
                  </a:txBody>
                  <a:tcPr marL="54864" marR="54864" marT="27432" marB="27432">
                    <a:solidFill>
                      <a:srgbClr val="E5F5FF"/>
                    </a:solidFill>
                  </a:tcPr>
                </a:tc>
                <a:tc>
                  <a:txBody>
                    <a:bodyPr/>
                    <a:lstStyle/>
                    <a:p>
                      <a:r>
                        <a:rPr sz="850" b="0">
                          <a:solidFill>
                            <a:srgbClr val="4B4B4B"/>
                          </a:solidFill>
                          <a:latin typeface="Arial"/>
                        </a:rPr>
                        <a:t>ManCom (PKG_MANCOM_SIGNOFF), not the submitter of the requirements</a:t>
                      </a:r>
                    </a:p>
                  </a:txBody>
                  <a:tcPr marL="54864" marR="54864" marT="27432" marB="27432">
                    <a:solidFill>
                      <a:srgbClr val="E5F5FF"/>
                    </a:solidFill>
                  </a:tcPr>
                </a:tc>
                <a:tc>
                  <a:txBody>
                    <a:bodyPr/>
                    <a:lstStyle/>
                    <a:p>
                      <a:r>
                        <a:rPr sz="850" b="0">
                          <a:solidFill>
                            <a:srgbClr val="4B4B4B"/>
                          </a:solidFill>
                          <a:latin typeface="Arial"/>
                        </a:rPr>
                        <a:t>For ManCom sign-off</a:t>
                      </a:r>
                    </a:p>
                  </a:txBody>
                  <a:tcPr marL="54864" marR="54864" marT="27432" marB="27432">
                    <a:solidFill>
                      <a:srgbClr val="E5F5FF"/>
                    </a:solidFill>
                  </a:tcPr>
                </a:tc>
                <a:tc>
                  <a:txBody>
                    <a:bodyPr/>
                    <a:lstStyle/>
                    <a:p>
                      <a:r>
                        <a:rPr sz="850" b="0">
                          <a:solidFill>
                            <a:srgbClr val="4B4B4B"/>
                          </a:solidFill>
                          <a:latin typeface="Arial"/>
                        </a:rPr>
                        <a:t>Records the sign-off MC-&lt;request no.&gt;, locks the quotation slips and attaches the sign-off record (or links the uploaded ManCom sign-off sheet)</a:t>
                      </a:r>
                    </a:p>
                  </a:txBody>
                  <a:tcPr marL="54864" marR="54864" marT="27432" marB="27432">
                    <a:solidFill>
                      <a:srgbClr val="E5F5FF"/>
                    </a:solidFill>
                  </a:tcPr>
                </a:tc>
                <a:tc>
                  <a:txBody>
                    <a:bodyPr/>
                    <a:lstStyle/>
                    <a:p>
                      <a:r>
                        <a:rPr sz="850" b="0">
                          <a:solidFill>
                            <a:srgbClr val="4B4B4B"/>
                          </a:solidFill>
                          <a:latin typeface="Arial"/>
                        </a:rPr>
                        <a:t>With MBS for set-up</a:t>
                      </a:r>
                    </a:p>
                  </a:txBody>
                  <a:tcPr marL="54864" marR="54864" marT="27432" marB="27432">
                    <a:solidFill>
                      <a:srgbClr val="E5F5FF"/>
                    </a:solidFill>
                  </a:tcPr>
                </a:tc>
                <a:tc>
                  <a:txBody>
                    <a:bodyPr/>
                    <a:lstStyle/>
                    <a:p>
                      <a:r>
                        <a:rPr sz="850" b="0">
                          <a:solidFill>
                            <a:srgbClr val="4B4B4B"/>
                          </a:solidFill>
                          <a:latin typeface="Arial"/>
                        </a:rPr>
                        <a:t>Workflow notice</a:t>
                      </a:r>
                    </a:p>
                  </a:txBody>
                  <a:tcPr marL="54864" marR="54864" marT="27432" marB="27432">
                    <a:solidFill>
                      <a:srgbClr val="E5F5FF"/>
                    </a:solidFill>
                  </a:tcPr>
                </a:tc>
              </a:tr>
            </a:tbl>
          </a:graphicData>
        </a:graphic>
      </p:graphicFrame>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requirements pack needs the effective date and package end date, a scheme rate or a rate for every insurer, the computation basis, at least one chosen insurer and the signed package slip attached as Package slip (signed) (FR-PM-040).</a:t>
                      </a:r>
                    </a:p>
                  </a:txBody>
                  <a:tcPr marL="54864" marR="54864" marT="27432" marB="27432">
                    <a:solidFill>
                      <a:srgbClr val="FFFFFF"/>
                    </a:solidFill>
                  </a:tcPr>
                </a:tc>
              </a:tr>
              <a:tr h="243840">
                <a:tc>
                  <a:txBody>
                    <a:bodyPr/>
                    <a:lstStyle/>
                    <a:p>
                      <a:r>
                        <a:rPr sz="1000" b="0">
                          <a:solidFill>
                            <a:srgbClr val="4B4B4B"/>
                          </a:solidFill>
                          <a:latin typeface="Arial"/>
                        </a:rPr>
                        <a:t>ManCom never signs off requirements it submitted; a single ManCom sign-off is recorded (FR-PM-041).</a:t>
                      </a:r>
                    </a:p>
                  </a:txBody>
                  <a:tcPr marL="54864" marR="54864" marT="27432" marB="27432">
                    <a:solidFill>
                      <a:srgbClr val="E5F5FF"/>
                    </a:solidFill>
                  </a:tcPr>
                </a:tc>
              </a:tr>
              <a:tr h="243840">
                <a:tc>
                  <a:txBody>
                    <a:bodyPr/>
                    <a:lstStyle/>
                    <a:p>
                      <a:r>
                        <a:rPr sz="1000" b="0">
                          <a:solidFill>
                            <a:srgbClr val="4B4B4B"/>
                          </a:solidFill>
                          <a:latin typeface="Arial"/>
                        </a:rPr>
                        <a:t>At the sign-off the quotation slips of every round are locked (FR-PM-041).</a:t>
                      </a:r>
                    </a:p>
                  </a:txBody>
                  <a:tcPr marL="54864" marR="54864" marT="27432" marB="27432">
                    <a:solidFill>
                      <a:srgbClr val="FFFFFF"/>
                    </a:solidFill>
                  </a:tcPr>
                </a:tc>
              </a:tr>
            </a:tbl>
          </a:graphicData>
        </a:graphic>
      </p:graphicFrame>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SCR-PM-07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8</a:t>
                      </a:r>
                    </a:p>
                  </a:txBody>
                  <a:tcPr marL="54864" marR="54864" marT="27432" marB="27432">
                    <a:solidFill>
                      <a:srgbClr val="FFFFFF"/>
                    </a:solidFill>
                  </a:tcPr>
                </a:tc>
                <a:tc>
                  <a:txBody>
                    <a:bodyPr/>
                    <a:lstStyle/>
                    <a:p>
                      <a:r>
                        <a:rPr sz="900" b="0">
                          <a:solidFill>
                            <a:srgbClr val="4B4B4B"/>
                          </a:solidFill>
                          <a:latin typeface="Arial"/>
                        </a:rPr>
                        <a:t>Clicks Submit requirements for ManCom sign-off before uploading the signed package slip</a:t>
                      </a:r>
                    </a:p>
                  </a:txBody>
                  <a:tcPr marL="54864" marR="54864" marT="27432" marB="27432">
                    <a:solidFill>
                      <a:srgbClr val="FFFFFF"/>
                    </a:solidFill>
                  </a:tcPr>
                </a:tc>
                <a:tc>
                  <a:txBody>
                    <a:bodyPr/>
                    <a:lstStyle/>
                    <a:p>
                      <a:r>
                        <a:rPr sz="900" b="0">
                          <a:solidFill>
                            <a:srgbClr val="4B4B4B"/>
                          </a:solidFill>
                          <a:latin typeface="Arial"/>
                        </a:rPr>
                        <a:t>SCR-PM-07_wt-b-step-08.png</a:t>
                      </a:r>
                    </a:p>
                  </a:txBody>
                  <a:tcPr marL="54864" marR="54864" marT="27432" marB="27432">
                    <a:solidFill>
                      <a:srgbClr val="FFFFFF"/>
                    </a:solidFill>
                  </a:tcPr>
                </a:tc>
              </a:tr>
              <a:tr h="50292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13</a:t>
                      </a:r>
                    </a:p>
                  </a:txBody>
                  <a:tcPr marL="54864" marR="54864" marT="27432" marB="27432">
                    <a:solidFill>
                      <a:srgbClr val="E5F5FF"/>
                    </a:solidFill>
                  </a:tcPr>
                </a:tc>
                <a:tc>
                  <a:txBody>
                    <a:bodyPr/>
                    <a:lstStyle/>
                    <a:p>
                      <a:r>
                        <a:rPr sz="900" b="0">
                          <a:solidFill>
                            <a:srgbClr val="4B4B4B"/>
                          </a:solidFill>
                          <a:latin typeface="Arial"/>
                        </a:rPr>
                        <a:t>Enters the computation basis, clicks Save Requirements, downloads the Package Slip, uploads the signed slip on the Documents tab as Package slip (signed), and clicks Submit requirements for ManCom sign-off</a:t>
                      </a:r>
                    </a:p>
                  </a:txBody>
                  <a:tcPr marL="54864" marR="54864" marT="27432" marB="27432">
                    <a:solidFill>
                      <a:srgbClr val="E5F5FF"/>
                    </a:solidFill>
                  </a:tcPr>
                </a:tc>
                <a:tc>
                  <a:txBody>
                    <a:bodyPr/>
                    <a:lstStyle/>
                    <a:p>
                      <a:r>
                        <a:rPr sz="900" b="0">
                          <a:solidFill>
                            <a:srgbClr val="4B4B4B"/>
                          </a:solidFill>
                          <a:latin typeface="Arial"/>
                        </a:rPr>
                        <a:t>SCR-PM-07_wt-a-step-13.png</a:t>
                      </a:r>
                    </a:p>
                  </a:txBody>
                  <a:tcPr marL="54864" marR="54864" marT="27432" marB="27432">
                    <a:solidFill>
                      <a:srgbClr val="E5F5FF"/>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14</a:t>
                      </a:r>
                    </a:p>
                  </a:txBody>
                  <a:tcPr marL="54864" marR="54864" marT="27432" marB="27432">
                    <a:solidFill>
                      <a:srgbClr val="FFFFFF"/>
                    </a:solidFill>
                  </a:tcPr>
                </a:tc>
                <a:tc>
                  <a:txBody>
                    <a:bodyPr/>
                    <a:lstStyle/>
                    <a:p>
                      <a:r>
                        <a:rPr sz="900" b="0">
                          <a:solidFill>
                            <a:srgbClr val="4B4B4B"/>
                          </a:solidFill>
                          <a:latin typeface="Arial"/>
                        </a:rPr>
                        <a:t>Reviews the proposed terms and clicks Sign off and send to MBS</a:t>
                      </a:r>
                    </a:p>
                  </a:txBody>
                  <a:tcPr marL="54864" marR="54864" marT="27432" marB="27432">
                    <a:solidFill>
                      <a:srgbClr val="FFFFFF"/>
                    </a:solidFill>
                  </a:tcPr>
                </a:tc>
                <a:tc>
                  <a:txBody>
                    <a:bodyPr/>
                    <a:lstStyle/>
                    <a:p>
                      <a:r>
                        <a:rPr sz="900" b="0">
                          <a:solidFill>
                            <a:srgbClr val="4B4B4B"/>
                          </a:solidFill>
                          <a:latin typeface="Arial"/>
                        </a:rPr>
                        <a:t>SCR-PM-07_wt-a-step-14.png</a:t>
                      </a:r>
                    </a:p>
                  </a:txBody>
                  <a:tcPr marL="54864" marR="54864" marT="27432" marB="27432">
                    <a:solidFill>
                      <a:srgbClr val="FFFFFF"/>
                    </a:solidFill>
                  </a:tcPr>
                </a:tc>
              </a:tr>
            </a:tbl>
          </a:graphicData>
        </a:graphic>
      </p:graphicFrame>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1 of 4)</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2 of 4)</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3 of 4)</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6.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Requirements &amp; Sign-off tab during the requirements preparation (part 4 of 4)</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1 of 4)</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2 of 4)</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1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3 of 4)</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SCR-PM-07 Package Request record: Requirements &amp; Sign-off tab: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20.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ManCom view before the sign-off (part 4 of 4)</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SCR-PM-08 Package Request record: Set-up and Advisories tabs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MBS turns the signed-off terms into a draft catalog version (Set up package version), completes it in the version editor and submits it for validation; the request is released when the version is validated. On release (or retirement) BIBS drafts the advisory, which TSU edits and sends to the recipient groups once the signed package slip and the ManCom sign-off are attached.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Requests › Package Request</a:t>
                      </a:r>
                    </a:p>
                    <a:p>
                      <a:r>
                        <a:rPr sz="950" b="0">
                          <a:solidFill>
                            <a:srgbClr val="4B4B4B"/>
                          </a:solidFill>
                          <a:latin typeface="Arial"/>
                        </a:rPr>
                        <a:t>Package Request record › Set-up tab, Advisories tab</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FR-PM-042, FR-PM-043, FR-PM-044, FR-PM-045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signed-off terms reach the catalog without re-keying, and every unit is told, with the documents, that the package is available, changed or retired.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(6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bl>
          </a:graphicData>
        </a:graphic>
      </p:graphicFrame>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graphicFrame>
        <p:nvGraphicFramePr>
          <p:cNvPr id="9" name="Table 8"/>
          <p:cNvGraphicFramePr>
            <a:graphicFrameLocks noGrp="1"/>
          </p:cNvGraphicFramePr>
          <p:nvPr/>
        </p:nvGraphicFramePr>
        <p:xfrm>
          <a:off x="548640" y="1325880"/>
          <a:ext cx="11094411" cy="355852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Risk code of the new package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 capitals or digits; the naming convention of the line when set</a:t>
                      </a:r>
                    </a:p>
                  </a:txBody>
                  <a:tcPr marL="54864" marR="54864" marT="27432" marB="27432">
                    <a:solidFill>
                      <a:srgbClr val="FFFFFF"/>
                    </a:solidFill>
                  </a:tcPr>
                </a:tc>
                <a:tc>
                  <a:txBody>
                    <a:bodyPr/>
                    <a:lstStyle/>
                    <a:p>
                      <a:r>
                        <a:rPr sz="850" b="0">
                          <a:solidFill>
                            <a:srgbClr val="4B4B4B"/>
                          </a:solidFill>
                          <a:latin typeface="Arial"/>
                        </a:rPr>
                        <a:t>Cond.: New package</a:t>
                      </a:r>
                    </a:p>
                  </a:txBody>
                  <a:tcPr marL="54864" marR="54864" marT="27432" marB="27432">
                    <a:solidFill>
                      <a:srgbClr val="FFFFFF"/>
                    </a:solidFill>
                  </a:tcPr>
                </a:tc>
                <a:tc>
                  <a:txBody>
                    <a:bodyPr/>
                    <a:lstStyle/>
                    <a:p>
                      <a:r>
                        <a:rPr sz="850" b="0">
                          <a:solidFill>
                            <a:srgbClr val="4B4B4B"/>
                          </a:solidFill>
                          <a:latin typeface="Arial"/>
                        </a:rPr>
                        <a:t>Not blank; not an existing product</a:t>
                      </a:r>
                    </a:p>
                  </a:txBody>
                  <a:tcPr marL="54864" marR="54864" marT="27432" marB="27432">
                    <a:solidFill>
                      <a:srgbClr val="FFFFFF"/>
                    </a:solidFill>
                  </a:tcPr>
                </a:tc>
                <a:tc>
                  <a:txBody>
                    <a:bodyPr/>
                    <a:lstStyle/>
                    <a:p>
                      <a:r>
                        <a:rPr sz="850" b="0">
                          <a:solidFill>
                            <a:srgbClr val="4B4B4B"/>
                          </a:solidFill>
                          <a:latin typeface="Arial"/>
                        </a:rPr>
                        <a:t>Enter the risk code of the new package</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Set Up Package Version</a:t>
                      </a:r>
                    </a:p>
                  </a:txBody>
                  <a:tcPr marL="54864" marR="54864" marT="27432" marB="27432">
                    <a:solidFill>
                      <a:srgbClr val="E5F5FF"/>
                    </a:solidFill>
                  </a:tcPr>
                </a:tc>
                <a:tc>
                  <a:txBody>
                    <a:bodyPr/>
                    <a:lstStyle/>
                    <a:p>
                      <a:r>
                        <a:rPr sz="850" b="0">
                          <a:solidFill>
                            <a:srgbClr val="4B4B4B"/>
                          </a:solidFill>
                          <a:latin typeface="Arial"/>
                        </a:rPr>
                        <a:t>Product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Change summary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Set Up Package Version</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Set-up › Catalog version</a:t>
                      </a:r>
                    </a:p>
                  </a:txBody>
                  <a:tcPr marL="54864" marR="54864" marT="27432" marB="27432">
                    <a:solidFill>
                      <a:srgbClr val="FFFFFF"/>
                    </a:solidFill>
                  </a:tcPr>
                </a:tc>
                <a:tc>
                  <a:txBody>
                    <a:bodyPr/>
                    <a:lstStyle/>
                    <a:p>
                      <a:r>
                        <a:rPr sz="850" b="0">
                          <a:solidFill>
                            <a:srgbClr val="4B4B4B"/>
                          </a:solidFill>
                          <a:latin typeface="Arial"/>
                        </a:rPr>
                        <a:t>Product / Version / Request stage</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Risk code, version number, stage pill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MBS sets the package up after the ManCom sign-off</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Advisories</a:t>
                      </a:r>
                    </a:p>
                  </a:txBody>
                  <a:tcPr marL="54864" marR="54864" marT="27432" marB="27432">
                    <a:solidFill>
                      <a:srgbClr val="E5F5FF"/>
                    </a:solidFill>
                  </a:tcPr>
                </a:tc>
                <a:tc>
                  <a:txBody>
                    <a:bodyPr/>
                    <a:lstStyle/>
                    <a:p>
                      <a:r>
                        <a:rPr sz="850" b="0">
                          <a:solidFill>
                            <a:srgbClr val="4B4B4B"/>
                          </a:solidFill>
                          <a:latin typeface="Arial"/>
                        </a:rPr>
                        <a:t>Advisory card</a:t>
                      </a:r>
                    </a:p>
                  </a:txBody>
                  <a:tcPr marL="54864" marR="54864" marT="27432" marB="27432">
                    <a:solidFill>
                      <a:srgbClr val="E5F5FF"/>
                    </a:solidFill>
                  </a:tcPr>
                </a:tc>
                <a:tc>
                  <a:txBody>
                    <a:bodyPr/>
                    <a:lstStyle/>
                    <a:p>
                      <a:r>
                        <a:rPr sz="850" b="0">
                          <a:solidFill>
                            <a:srgbClr val="4B4B4B"/>
                          </a:solidFill>
                          <a:latin typeface="Arial"/>
                        </a:rPr>
                        <a:t>Card</a:t>
                      </a:r>
                    </a:p>
                  </a:txBody>
                  <a:tcPr marL="54864" marR="54864" marT="27432" marB="27432">
                    <a:solidFill>
                      <a:srgbClr val="E5F5FF"/>
                    </a:solidFill>
                  </a:tcPr>
                </a:tc>
                <a:tc>
                  <a:txBody>
                    <a:bodyPr/>
                    <a:lstStyle/>
                    <a:p>
                      <a:r>
                        <a:rPr sz="850" b="0">
                          <a:solidFill>
                            <a:srgbClr val="4B4B4B"/>
                          </a:solidFill>
                          <a:latin typeface="Arial"/>
                        </a:rPr>
                        <a:t>Subject, status pill, type · recipient groups, sent date and user, 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An advisory is drafted when the package is released or retired</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Advisories</a:t>
                      </a:r>
                    </a:p>
                  </a:txBody>
                  <a:tcPr marL="54864" marR="54864" marT="27432" marB="27432">
                    <a:solidFill>
                      <a:srgbClr val="FFFFFF"/>
                    </a:solidFill>
                  </a:tcPr>
                </a:tc>
                <a:tc>
                  <a:txBody>
                    <a:bodyPr/>
                    <a:lstStyle/>
                    <a:p>
                      <a:r>
                        <a:rPr sz="850" b="0">
                          <a:solidFill>
                            <a:srgbClr val="4B4B4B"/>
                          </a:solidFill>
                          <a:latin typeface="Arial"/>
                        </a:rPr>
                        <a:t>Supporting documents checklist</a:t>
                      </a:r>
                    </a:p>
                  </a:txBody>
                  <a:tcPr marL="54864" marR="54864" marT="27432" marB="27432">
                    <a:solidFill>
                      <a:srgbClr val="FFFFFF"/>
                    </a:solidFill>
                  </a:tcPr>
                </a:tc>
                <a:tc>
                  <a:txBody>
                    <a:bodyPr/>
                    <a:lstStyle/>
                    <a:p>
                      <a:r>
                        <a:rPr sz="850" b="0">
                          <a:solidFill>
                            <a:srgbClr val="4B4B4B"/>
                          </a:solidFill>
                          <a:latin typeface="Arial"/>
                        </a:rPr>
                        <a:t>Checklist</a:t>
                      </a:r>
                    </a:p>
                  </a:txBody>
                  <a:tcPr marL="54864" marR="54864" marT="27432" marB="27432">
                    <a:solidFill>
                      <a:srgbClr val="FFFFFF"/>
                    </a:solidFill>
                  </a:tcPr>
                </a:tc>
                <a:tc>
                  <a:txBody>
                    <a:bodyPr/>
                    <a:lstStyle/>
                    <a:p>
                      <a:r>
                        <a:rPr sz="850" b="0">
                          <a:solidFill>
                            <a:srgbClr val="4B4B4B"/>
                          </a:solidFill>
                          <a:latin typeface="Arial"/>
                        </a:rPr>
                        <a:t>Package slip (signed) and ManCom sign-off (retirement: ManCom sign-off only), each Attached or Missing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Both documents attached before sending</a:t>
                      </a:r>
                    </a:p>
                  </a:txBody>
                  <a:tcPr marL="54864" marR="54864" marT="27432" marB="27432">
                    <a:solidFill>
                      <a:srgbClr val="FFFFFF"/>
                    </a:solidFill>
                  </a:tcPr>
                </a:tc>
                <a:tc>
                  <a:txBody>
                    <a:bodyPr/>
                    <a:lstStyle/>
                    <a:p>
                      <a:r>
                        <a:rPr sz="850" b="0">
                          <a:solidFill>
                            <a:srgbClr val="4B4B4B"/>
                          </a:solidFill>
                          <a:latin typeface="Arial"/>
                        </a:rPr>
                        <a:t>The advisory cannot be sent until the supporting documents are attached (Documents tab).</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Edit Advisory</a:t>
                      </a:r>
                    </a:p>
                  </a:txBody>
                  <a:tcPr marL="54864" marR="54864" marT="27432" marB="27432">
                    <a:solidFill>
                      <a:srgbClr val="E5F5FF"/>
                    </a:solidFill>
                  </a:tcPr>
                </a:tc>
                <a:tc>
                  <a:txBody>
                    <a:bodyPr/>
                    <a:lstStyle/>
                    <a:p>
                      <a:r>
                        <a:rPr sz="850" b="0">
                          <a:solidFill>
                            <a:srgbClr val="4B4B4B"/>
                          </a:solidFill>
                          <a:latin typeface="Arial"/>
                        </a:rPr>
                        <a:t>Recipient groups</a:t>
                      </a:r>
                    </a:p>
                  </a:txBody>
                  <a:tcPr marL="54864" marR="54864" marT="27432" marB="27432">
                    <a:solidFill>
                      <a:srgbClr val="E5F5FF"/>
                    </a:solidFill>
                  </a:tcPr>
                </a:tc>
                <a:tc>
                  <a:txBody>
                    <a:bodyPr/>
                    <a:lstStyle/>
                    <a:p>
                      <a:r>
                        <a:rPr sz="850" b="0">
                          <a:solidFill>
                            <a:srgbClr val="4B4B4B"/>
                          </a:solidFill>
                          <a:latin typeface="Arial"/>
                        </a:rPr>
                        <a:t>Check boxes</a:t>
                      </a:r>
                    </a:p>
                  </a:txBody>
                  <a:tcPr marL="54864" marR="54864" marT="27432" marB="27432">
                    <a:solidFill>
                      <a:srgbClr val="E5F5FF"/>
                    </a:solidFill>
                  </a:tcPr>
                </a:tc>
                <a:tc>
                  <a:txBody>
                    <a:bodyPr/>
                    <a:lstStyle/>
                    <a:p>
                      <a:r>
                        <a:rPr sz="850" b="0">
                          <a:solidFill>
                            <a:srgbClr val="4B4B4B"/>
                          </a:solidFill>
                          <a:latin typeface="Arial"/>
                        </a:rPr>
                        <a:t>Marketing, TSU, MBS, Processing, Operations</a:t>
                      </a:r>
                    </a:p>
                  </a:txBody>
                  <a:tcPr marL="54864" marR="54864" marT="27432" marB="27432">
                    <a:solidFill>
                      <a:srgbClr val="E5F5FF"/>
                    </a:solidFill>
                  </a:tcPr>
                </a:tc>
                <a:tc>
                  <a:txBody>
                    <a:bodyPr/>
                    <a:lstStyle/>
                    <a:p>
                      <a:r>
                        <a:rPr sz="850" b="0">
                          <a:solidFill>
                            <a:srgbClr val="4B4B4B"/>
                          </a:solidFill>
                          <a:latin typeface="Arial"/>
                        </a:rPr>
                        <a:t>Y (at least one)</a:t>
                      </a:r>
                    </a:p>
                  </a:txBody>
                  <a:tcPr marL="54864" marR="54864" marT="27432" marB="27432">
                    <a:solidFill>
                      <a:srgbClr val="E5F5FF"/>
                    </a:solidFill>
                  </a:tcPr>
                </a:tc>
                <a:tc>
                  <a:txBody>
                    <a:bodyPr/>
                    <a:lstStyle/>
                    <a:p>
                      <a:r>
                        <a:rPr sz="850" b="0">
                          <a:solidFill>
                            <a:srgbClr val="4B4B4B"/>
                          </a:solidFill>
                          <a:latin typeface="Arial"/>
                        </a:rPr>
                        <a:t>Active values of the list</a:t>
                      </a:r>
                    </a:p>
                  </a:txBody>
                  <a:tcPr marL="54864" marR="54864" marT="27432" marB="27432">
                    <a:solidFill>
                      <a:srgbClr val="E5F5FF"/>
                    </a:solidFill>
                  </a:tcPr>
                </a:tc>
                <a:tc>
                  <a:txBody>
                    <a:bodyPr/>
                    <a:lstStyle/>
                    <a:p>
                      <a:r>
                        <a:rPr sz="850" b="0">
                          <a:solidFill>
                            <a:srgbClr val="4B4B4B"/>
                          </a:solidFill>
                          <a:latin typeface="Arial"/>
                        </a:rPr>
                        <a:t>Select at least one recipient group</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Edit Advisory</a:t>
                      </a:r>
                    </a:p>
                  </a:txBody>
                  <a:tcPr marL="54864" marR="54864" marT="27432" marB="27432">
                    <a:solidFill>
                      <a:srgbClr val="FFFFFF"/>
                    </a:solidFill>
                  </a:tcPr>
                </a:tc>
                <a:tc>
                  <a:txBody>
                    <a:bodyPr/>
                    <a:lstStyle/>
                    <a:p>
                      <a:r>
                        <a:rPr sz="850" b="0">
                          <a:solidFill>
                            <a:srgbClr val="4B4B4B"/>
                          </a:solidFill>
                          <a:latin typeface="Arial"/>
                        </a:rPr>
                        <a:t>E-mail to (optional)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Comma-separated addresses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Edit Advisory</a:t>
                      </a:r>
                    </a:p>
                  </a:txBody>
                  <a:tcPr marL="54864" marR="54864" marT="27432" marB="27432">
                    <a:solidFill>
                      <a:srgbClr val="E5F5FF"/>
                    </a:solidFill>
                  </a:tcPr>
                </a:tc>
                <a:tc>
                  <a:txBody>
                    <a:bodyPr/>
                    <a:lstStyle/>
                    <a:p>
                      <a:r>
                        <a:rPr sz="850" b="0">
                          <a:solidFill>
                            <a:srgbClr val="4B4B4B"/>
                          </a:solidFill>
                          <a:latin typeface="Arial"/>
                        </a:rPr>
                        <a:t>Subject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subject and the text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Edit Advisory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8,000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subject and the text</a:t>
                      </a:r>
                    </a:p>
                  </a:txBody>
                  <a:tcPr marL="54864" marR="54864" marT="27432" marB="27432">
                    <a:solidFill>
                      <a:srgbClr val="FFFFFF"/>
                    </a:solidFill>
                  </a:tcPr>
                </a:tc>
              </a:tr>
            </a:tbl>
          </a:graphicData>
        </a:graphic>
      </p:graphicFrame>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graphicFrame>
        <p:nvGraphicFramePr>
          <p:cNvPr id="9" name="Table 8"/>
          <p:cNvGraphicFramePr>
            <a:graphicFrameLocks noGrp="1"/>
          </p:cNvGraphicFramePr>
          <p:nvPr/>
        </p:nvGraphicFramePr>
        <p:xfrm>
          <a:off x="548640" y="1325880"/>
          <a:ext cx="11094412" cy="162305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Set up package version</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With MBS for set-up; not a Retire request</a:t>
                      </a:r>
                    </a:p>
                  </a:txBody>
                  <a:tcPr marL="54864" marR="54864" marT="27432" marB="27432">
                    <a:solidFill>
                      <a:srgbClr val="FFFFFF"/>
                    </a:solidFill>
                  </a:tcPr>
                </a:tc>
                <a:tc>
                  <a:txBody>
                    <a:bodyPr/>
                    <a:lstStyle/>
                    <a:p>
                      <a:r>
                        <a:rPr sz="850" b="0">
                          <a:solidFill>
                            <a:srgbClr val="4B4B4B"/>
                          </a:solidFill>
                          <a:latin typeface="Arial"/>
                        </a:rPr>
                        <a:t>Opens Set Up Package Version; Set Up Version creates the draft catalog version from the signed-off terms (a new package also creates its product, pending authorisation)</a:t>
                      </a:r>
                    </a:p>
                  </a:txBody>
                  <a:tcPr marL="54864" marR="54864" marT="27432" marB="27432">
                    <a:solidFill>
                      <a:srgbClr val="FFFFFF"/>
                    </a:solidFill>
                  </a:tcPr>
                </a:tc>
                <a:tc>
                  <a:txBody>
                    <a:bodyPr/>
                    <a:lstStyle/>
                    <a:p>
                      <a:r>
                        <a:rPr sz="850" b="0">
                          <a:solidFill>
                            <a:srgbClr val="4B4B4B"/>
                          </a:solidFill>
                          <a:latin typeface="Arial"/>
                        </a:rPr>
                        <a:t>Package version for validation</a:t>
                      </a:r>
                    </a:p>
                  </a:txBody>
                  <a:tcPr marL="54864" marR="54864" marT="27432" marB="27432">
                    <a:solidFill>
                      <a:srgbClr val="FFFFFF"/>
                    </a:solidFill>
                  </a:tcPr>
                </a:tc>
                <a:tc>
                  <a:txBody>
                    <a:bodyPr/>
                    <a:lstStyle/>
                    <a:p>
                      <a:r>
                        <a:rPr sz="850" b="0">
                          <a:solidFill>
                            <a:srgbClr val="4B4B4B"/>
                          </a:solidFill>
                          <a:latin typeface="Arial"/>
                        </a:rPr>
                        <a:t>Workflow notice</a:t>
                      </a:r>
                    </a:p>
                  </a:txBody>
                  <a:tcPr marL="54864" marR="54864" marT="27432" marB="27432">
                    <a:solidFill>
                      <a:srgbClr val="FFFFFF"/>
                    </a:solidFill>
                  </a:tcPr>
                </a:tc>
              </a:tr>
              <a:tr h="220979">
                <a:tc>
                  <a:txBody>
                    <a:bodyPr/>
                    <a:lstStyle/>
                    <a:p>
                      <a:r>
                        <a:rPr sz="850" b="0">
                          <a:solidFill>
                            <a:srgbClr val="4B4B4B"/>
                          </a:solidFill>
                          <a:latin typeface="Arial"/>
                        </a:rPr>
                        <a:t>Open Version Editor</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 version was set up</a:t>
                      </a:r>
                    </a:p>
                  </a:txBody>
                  <a:tcPr marL="54864" marR="54864" marT="27432" marB="27432">
                    <a:solidFill>
                      <a:srgbClr val="E5F5FF"/>
                    </a:solidFill>
                  </a:tcPr>
                </a:tc>
                <a:tc>
                  <a:txBody>
                    <a:bodyPr/>
                    <a:lstStyle/>
                    <a:p>
                      <a:r>
                        <a:rPr sz="850" b="0">
                          <a:solidFill>
                            <a:srgbClr val="4B4B4B"/>
                          </a:solidFill>
                          <a:latin typeface="Arial"/>
                        </a:rPr>
                        <a:t>Opens the Package Version (SCR-PM-13)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TSU (PKG_ADVISORY)</a:t>
                      </a:r>
                    </a:p>
                  </a:txBody>
                  <a:tcPr marL="54864" marR="54864" marT="27432" marB="27432">
                    <a:solidFill>
                      <a:srgbClr val="FFFFFF"/>
                    </a:solidFill>
                  </a:tcPr>
                </a:tc>
                <a:tc>
                  <a:txBody>
                    <a:bodyPr/>
                    <a:lstStyle/>
                    <a:p>
                      <a:r>
                        <a:rPr sz="850" b="0">
                          <a:solidFill>
                            <a:srgbClr val="4B4B4B"/>
                          </a:solidFill>
                          <a:latin typeface="Arial"/>
                        </a:rPr>
                        <a:t>Draft advisory</a:t>
                      </a:r>
                    </a:p>
                  </a:txBody>
                  <a:tcPr marL="54864" marR="54864" marT="27432" marB="27432">
                    <a:solidFill>
                      <a:srgbClr val="FFFFFF"/>
                    </a:solidFill>
                  </a:tcPr>
                </a:tc>
                <a:tc>
                  <a:txBody>
                    <a:bodyPr/>
                    <a:lstStyle/>
                    <a:p>
                      <a:r>
                        <a:rPr sz="850" b="0">
                          <a:solidFill>
                            <a:srgbClr val="4B4B4B"/>
                          </a:solidFill>
                          <a:latin typeface="Arial"/>
                        </a:rPr>
                        <a:t>Opens Edit Advisory; Save keeps the changes</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Send Advisory</a:t>
                      </a:r>
                    </a:p>
                  </a:txBody>
                  <a:tcPr marL="54864" marR="54864" marT="27432" marB="27432">
                    <a:solidFill>
                      <a:srgbClr val="E5F5FF"/>
                    </a:solidFill>
                  </a:tcPr>
                </a:tc>
                <a:tc>
                  <a:txBody>
                    <a:bodyPr/>
                    <a:lstStyle/>
                    <a:p>
                      <a:r>
                        <a:rPr sz="850" b="0">
                          <a:solidFill>
                            <a:srgbClr val="4B4B4B"/>
                          </a:solidFill>
                          <a:latin typeface="Arial"/>
                        </a:rPr>
                        <a:t>TSU (PKG_ADVISORY)</a:t>
                      </a:r>
                    </a:p>
                  </a:txBody>
                  <a:tcPr marL="54864" marR="54864" marT="27432" marB="27432">
                    <a:solidFill>
                      <a:srgbClr val="E5F5FF"/>
                    </a:solidFill>
                  </a:tcPr>
                </a:tc>
                <a:tc>
                  <a:txBody>
                    <a:bodyPr/>
                    <a:lstStyle/>
                    <a:p>
                      <a:r>
                        <a:rPr sz="850" b="0">
                          <a:solidFill>
                            <a:srgbClr val="4B4B4B"/>
                          </a:solidFill>
                          <a:latin typeface="Arial"/>
                        </a:rPr>
                        <a:t>Draft advisory; the supporting documents are attached</a:t>
                      </a:r>
                    </a:p>
                  </a:txBody>
                  <a:tcPr marL="54864" marR="54864" marT="27432" marB="27432">
                    <a:solidFill>
                      <a:srgbClr val="E5F5FF"/>
                    </a:solidFill>
                  </a:tcPr>
                </a:tc>
                <a:tc>
                  <a:txBody>
                    <a:bodyPr/>
                    <a:lstStyle/>
                    <a:p>
                      <a:r>
                        <a:rPr sz="850" b="0">
                          <a:solidFill>
                            <a:srgbClr val="4B4B4B"/>
                          </a:solidFill>
                          <a:latin typeface="Arial"/>
                        </a:rPr>
                        <a:t>Stores the advisory PDF on the request, notifies the users of each recipient group in the app and, when addresses are given, e-mails the protected PDF</a:t>
                      </a:r>
                    </a:p>
                  </a:txBody>
                  <a:tcPr marL="54864" marR="54864" marT="27432" marB="27432">
                    <a:solidFill>
                      <a:srgbClr val="E5F5FF"/>
                    </a:solidFill>
                  </a:tcPr>
                </a:tc>
                <a:tc>
                  <a:txBody>
                    <a:bodyPr/>
                    <a:lstStyle/>
                    <a:p>
                      <a:r>
                        <a:rPr sz="850" b="0">
                          <a:solidFill>
                            <a:srgbClr val="4B4B4B"/>
                          </a:solidFill>
                          <a:latin typeface="Arial"/>
                        </a:rPr>
                        <a:t>Sent</a:t>
                      </a:r>
                    </a:p>
                  </a:txBody>
                  <a:tcPr marL="54864" marR="54864" marT="27432" marB="27432">
                    <a:solidFill>
                      <a:srgbClr val="E5F5FF"/>
                    </a:solidFill>
                  </a:tcPr>
                </a:tc>
                <a:tc>
                  <a:txBody>
                    <a:bodyPr/>
                    <a:lstStyle/>
                    <a:p>
                      <a:r>
                        <a:rPr sz="850" b="0">
                          <a:solidFill>
                            <a:srgbClr val="4B4B4B"/>
                          </a:solidFill>
                          <a:latin typeface="Arial"/>
                        </a:rPr>
                        <a:t>Advisory notice (NT-03); advisory e-mail (NT-06)</a:t>
                      </a:r>
                    </a:p>
                  </a:txBody>
                  <a:tcPr marL="54864" marR="54864" marT="27432" marB="27432">
                    <a:solidFill>
                      <a:srgbClr val="E5F5FF"/>
                    </a:solidFill>
                  </a:tcPr>
                </a:tc>
              </a:tr>
            </a:tbl>
          </a:graphicData>
        </a:graphic>
      </p:graphicFrame>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set-up creates a draft version; a product can have only one version being set up at a time (FR-PM-042).</a:t>
                      </a:r>
                    </a:p>
                  </a:txBody>
                  <a:tcPr marL="54864" marR="54864" marT="27432" marB="27432">
                    <a:solidFill>
                      <a:srgbClr val="FFFFFF"/>
                    </a:solidFill>
                  </a:tcPr>
                </a:tc>
              </a:tr>
              <a:tr h="243840">
                <a:tc>
                  <a:txBody>
                    <a:bodyPr/>
                    <a:lstStyle/>
                    <a:p>
                      <a:r>
                        <a:rPr sz="1000" b="0">
                          <a:solidFill>
                            <a:srgbClr val="4B4B4B"/>
                          </a:solidFill>
                          <a:latin typeface="Arial"/>
                        </a:rPr>
                        <a:t>A new package needs its risk code; the product is authorised when its first version is validated (FR-PM-042, FR-PM-043).</a:t>
                      </a:r>
                    </a:p>
                  </a:txBody>
                  <a:tcPr marL="54864" marR="54864" marT="27432" marB="27432">
                    <a:solidFill>
                      <a:srgbClr val="E5F5FF"/>
                    </a:solidFill>
                  </a:tcPr>
                </a:tc>
              </a:tr>
              <a:tr h="243840">
                <a:tc>
                  <a:txBody>
                    <a:bodyPr/>
                    <a:lstStyle/>
                    <a:p>
                      <a:r>
                        <a:rPr sz="1000" b="0">
                          <a:solidFill>
                            <a:srgbClr val="4B4B4B"/>
                          </a:solidFill>
                          <a:latin typeface="Arial"/>
                        </a:rPr>
                        <a:t>The request is released automatically when its version is validated, and returns to MBS when the validator returns the version (FR-PM-043).</a:t>
                      </a:r>
                    </a:p>
                  </a:txBody>
                  <a:tcPr marL="54864" marR="54864" marT="27432" marB="27432">
                    <a:solidFill>
                      <a:srgbClr val="FFFFFF"/>
                    </a:solidFill>
                  </a:tcPr>
                </a:tc>
              </a:tr>
              <a:tr h="243840">
                <a:tc>
                  <a:txBody>
                    <a:bodyPr/>
                    <a:lstStyle/>
                    <a:p>
                      <a:r>
                        <a:rPr sz="1000" b="0">
                          <a:solidFill>
                            <a:srgbClr val="4B4B4B"/>
                          </a:solidFill>
                          <a:latin typeface="Arial"/>
                        </a:rPr>
                        <a:t>An advisory is sent only with the signed package slip and the ManCom sign-off attached; a retirement advisory needs the ManCom sign-off only (FR-PM-044).</a:t>
                      </a:r>
                    </a:p>
                  </a:txBody>
                  <a:tcPr marL="54864" marR="54864" marT="27432" marB="27432">
                    <a:solidFill>
                      <a:srgbClr val="E5F5FF"/>
                    </a:solidFill>
                  </a:tcPr>
                </a:tc>
              </a:tr>
              <a:tr h="243840">
                <a:tc>
                  <a:txBody>
                    <a:bodyPr/>
                    <a:lstStyle/>
                    <a:p>
                      <a:r>
                        <a:rPr sz="1000" b="0">
                          <a:solidFill>
                            <a:srgbClr val="4B4B4B"/>
                          </a:solidFill>
                          <a:latin typeface="Arial"/>
                        </a:rPr>
                        <a:t>Recipient groups are notified in the app: Marketing, TSU, MBS, Processing and Operations users by their permissions; e-mail addresses are optional (FR-PM-044).</a:t>
                      </a:r>
                    </a:p>
                  </a:txBody>
                  <a:tcPr marL="54864" marR="54864" marT="27432" marB="27432">
                    <a:solidFill>
                      <a:srgbClr val="FFFFFF"/>
                    </a:solidFill>
                  </a:tcPr>
                </a:tc>
              </a:tr>
            </a:tbl>
          </a:graphicData>
        </a:graphic>
      </p:graphicFrame>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15</a:t>
                      </a:r>
                    </a:p>
                  </a:txBody>
                  <a:tcPr marL="54864" marR="54864" marT="27432" marB="27432">
                    <a:solidFill>
                      <a:srgbClr val="FFFFFF"/>
                    </a:solidFill>
                  </a:tcPr>
                </a:tc>
                <a:tc>
                  <a:txBody>
                    <a:bodyPr/>
                    <a:lstStyle/>
                    <a:p>
                      <a:r>
                        <a:rPr sz="900" b="0">
                          <a:solidFill>
                            <a:srgbClr val="4B4B4B"/>
                          </a:solidFill>
                          <a:latin typeface="Arial"/>
                        </a:rPr>
                        <a:t>Clicks Set up package version, enters the risk code MTR30 and the product name, and clicks Set Up Version</a:t>
                      </a:r>
                    </a:p>
                  </a:txBody>
                  <a:tcPr marL="54864" marR="54864" marT="27432" marB="27432">
                    <a:solidFill>
                      <a:srgbClr val="FFFFFF"/>
                    </a:solidFill>
                  </a:tcPr>
                </a:tc>
                <a:tc>
                  <a:txBody>
                    <a:bodyPr/>
                    <a:lstStyle/>
                    <a:p>
                      <a:r>
                        <a:rPr sz="900" b="0">
                          <a:solidFill>
                            <a:srgbClr val="4B4B4B"/>
                          </a:solidFill>
                          <a:latin typeface="Arial"/>
                        </a:rPr>
                        <a:t>SCR-PM-08_wt-a-step-15.png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20</a:t>
                      </a:r>
                    </a:p>
                  </a:txBody>
                  <a:tcPr marL="54864" marR="54864" marT="27432" marB="27432">
                    <a:solidFill>
                      <a:srgbClr val="E5F5FF"/>
                    </a:solidFill>
                  </a:tcPr>
                </a:tc>
                <a:tc>
                  <a:txBody>
                    <a:bodyPr/>
                    <a:lstStyle/>
                    <a:p>
                      <a:r>
                        <a:rPr sz="900" b="0">
                          <a:solidFill>
                            <a:srgbClr val="4B4B4B"/>
                          </a:solidFill>
                          <a:latin typeface="Arial"/>
                        </a:rPr>
                        <a:t>Opens the Advisories tab of the released request, checks that both supporting documents are Attached and clicks Send Advisory</a:t>
                      </a:r>
                    </a:p>
                  </a:txBody>
                  <a:tcPr marL="54864" marR="54864" marT="27432" marB="27432">
                    <a:solidFill>
                      <a:srgbClr val="E5F5FF"/>
                    </a:solidFill>
                  </a:tcPr>
                </a:tc>
                <a:tc>
                  <a:txBody>
                    <a:bodyPr/>
                    <a:lstStyle/>
                    <a:p>
                      <a:r>
                        <a:rPr sz="900" b="0">
                          <a:solidFill>
                            <a:srgbClr val="4B4B4B"/>
                          </a:solidFill>
                          <a:latin typeface="Arial"/>
                        </a:rPr>
                        <a:t>SCR-PM-08_wt-a-step-20.png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9</a:t>
                      </a:r>
                    </a:p>
                  </a:txBody>
                  <a:tcPr marL="54864" marR="54864" marT="27432" marB="27432">
                    <a:solidFill>
                      <a:srgbClr val="FFFFFF"/>
                    </a:solidFill>
                  </a:tcPr>
                </a:tc>
                <a:tc>
                  <a:txBody>
                    <a:bodyPr/>
                    <a:lstStyle/>
                    <a:p>
                      <a:r>
                        <a:rPr sz="900" b="0">
                          <a:solidFill>
                            <a:srgbClr val="4B4B4B"/>
                          </a:solidFill>
                          <a:latin typeface="Arial"/>
                        </a:rPr>
                        <a:t>Opens PKR-2026-900005 and clicks Return incomplete requirements to TSU with the reason</a:t>
                      </a:r>
                    </a:p>
                  </a:txBody>
                  <a:tcPr marL="54864" marR="54864" marT="27432" marB="27432">
                    <a:solidFill>
                      <a:srgbClr val="FFFFFF"/>
                    </a:solidFill>
                  </a:tcPr>
                </a:tc>
                <a:tc>
                  <a:txBody>
                    <a:bodyPr/>
                    <a:lstStyle/>
                    <a:p>
                      <a:r>
                        <a:rPr sz="900" b="0">
                          <a:solidFill>
                            <a:srgbClr val="4B4B4B"/>
                          </a:solidFill>
                          <a:latin typeface="Arial"/>
                        </a:rPr>
                        <a:t>SCR-PM-08_wt-b-step-09.png</a:t>
                      </a:r>
                    </a:p>
                  </a:txBody>
                  <a:tcPr marL="54864" marR="54864" marT="27432" marB="27432">
                    <a:solidFill>
                      <a:srgbClr val="FFFFFF"/>
                    </a:solidFill>
                  </a:tcPr>
                </a:tc>
              </a:tr>
            </a:tbl>
          </a:graphicData>
        </a:graphic>
      </p:graphicFrame>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1 of 3)</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2 of 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7746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Set-up tab with the catalog version (part 3 of 3)</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08-01-setup.png"/>
          <p:cNvPicPr>
            <a:picLocks noChangeAspect="1"/>
          </p:cNvPicPr>
          <p:nvPr/>
        </p:nvPicPr>
        <p:blipFill>
          <a:blip r:embed="rId3"/>
          <a:stretch>
            <a:fillRect/>
          </a:stretch>
        </p:blipFill>
        <p:spPr>
          <a:xfrm>
            <a:off x="1461800" y="1261872"/>
            <a:ext cx="926809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Set Up Package Version dialog of MBS</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1 of 3)</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2 of 3)</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SCR-PM-08 Package Request record: Set-up and Advisories tabs: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6.png"/>
          <p:cNvPicPr>
            <a:picLocks noChangeAspect="1"/>
          </p:cNvPicPr>
          <p:nvPr/>
        </p:nvPicPr>
        <p:blipFill>
          <a:blip r:embed="rId3"/>
          <a:stretch>
            <a:fillRect/>
          </a:stretch>
        </p:blipFill>
        <p:spPr>
          <a:xfrm>
            <a:off x="548640" y="1261872"/>
            <a:ext cx="11094415" cy="860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Advisories tab of a released request (part 3 of 3)</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request queues of the TSU Officer, Team Lead and Head: one tile per stage they work (review, approval, negotiation, terms review, requirements), with the open and overdue counts, and the queue of the chosen stage, oldest due first. A user claims a request to work it; team leads assign requests.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TSU Officer, TSU Team Lead, TSU Head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TSU Workbench</a:t>
                      </a:r>
                    </a:p>
                    <a:p>
                      <a:r>
                        <a:rPr sz="950" b="0">
                          <a:solidFill>
                            <a:srgbClr val="4B4B4B"/>
                          </a:solidFill>
                          <a:latin typeface="Arial"/>
                        </a:rPr>
                        <a:t>Sidebar entry TSU Workbench</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FR-PM-024, FR-PM-022, FR-PM-023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TSU users pick up their package work by stage and due time; team leaders balance the queues.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25880"/>
          <a:ext cx="11094411" cy="224788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Package requests</a:t>
                      </a:r>
                    </a:p>
                  </a:txBody>
                  <a:tcPr marL="54864" marR="54864" marT="27432" marB="27432">
                    <a:solidFill>
                      <a:srgbClr val="FFFFFF"/>
                    </a:solidFill>
                  </a:tcPr>
                </a:tc>
                <a:tc>
                  <a:txBody>
                    <a:bodyPr/>
                    <a:lstStyle/>
                    <a:p>
                      <a:r>
                        <a:rPr sz="850" b="0">
                          <a:solidFill>
                            <a:srgbClr val="4B4B4B"/>
                          </a:solidFill>
                          <a:latin typeface="Arial"/>
                        </a:rPr>
                        <a:t>Stage tiles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Stage name, open count, 'n overdue', 'n mine'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Reference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PKR-yyyy-nnnnnn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Description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 type, product and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Stage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From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Unit or user that raised the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In Stage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Time in the stage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Due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 Overdue in 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Assignee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User or unassigned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 stage tile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Shows the queue of that stage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Claim</a:t>
                      </a:r>
                    </a:p>
                  </a:txBody>
                  <a:tcPr marL="54864" marR="54864" marT="27432" marB="27432">
                    <a:solidFill>
                      <a:srgbClr val="E5F5FF"/>
                    </a:solidFill>
                  </a:tcPr>
                </a:tc>
                <a:tc>
                  <a:txBody>
                    <a:bodyPr/>
                    <a:lstStyle/>
                    <a:p>
                      <a:r>
                        <a:rPr sz="850" b="0">
                          <a:solidFill>
                            <a:srgbClr val="4B4B4B"/>
                          </a:solidFill>
                          <a:latin typeface="Arial"/>
                        </a:rPr>
                        <a:t>A user of the stage</a:t>
                      </a:r>
                    </a:p>
                  </a:txBody>
                  <a:tcPr marL="54864" marR="54864" marT="27432" marB="27432">
                    <a:solidFill>
                      <a:srgbClr val="E5F5FF"/>
                    </a:solidFill>
                  </a:tcPr>
                </a:tc>
                <a:tc>
                  <a:txBody>
                    <a:bodyPr/>
                    <a:lstStyle/>
                    <a:p>
                      <a:r>
                        <a:rPr sz="850" b="0">
                          <a:solidFill>
                            <a:srgbClr val="4B4B4B"/>
                          </a:solidFill>
                          <a:latin typeface="Arial"/>
                        </a:rPr>
                        <a:t>Unassigned item</a:t>
                      </a:r>
                    </a:p>
                  </a:txBody>
                  <a:tcPr marL="54864" marR="54864" marT="27432" marB="27432">
                    <a:solidFill>
                      <a:srgbClr val="E5F5FF"/>
                    </a:solidFill>
                  </a:tcPr>
                </a:tc>
                <a:tc>
                  <a:txBody>
                    <a:bodyPr/>
                    <a:lstStyle/>
                    <a:p>
                      <a:r>
                        <a:rPr sz="850" b="0">
                          <a:solidFill>
                            <a:srgbClr val="4B4B4B"/>
                          </a:solidFill>
                          <a:latin typeface="Arial"/>
                        </a:rPr>
                        <a:t>Assigns the request to the user</a:t>
                      </a:r>
                    </a:p>
                  </a:txBody>
                  <a:tcPr marL="54864" marR="54864" marT="27432" marB="27432">
                    <a:solidFill>
                      <a:srgbClr val="E5F5FF"/>
                    </a:solidFill>
                  </a:tcPr>
                </a:tc>
                <a:tc>
                  <a:txBody>
                    <a:bodyPr/>
                    <a:lstStyle/>
                    <a:p>
                      <a:r>
                        <a:rPr sz="850" b="0">
                          <a:solidFill>
                            <a:srgbClr val="4B4B4B"/>
                          </a:solidFill>
                          <a:latin typeface="Arial"/>
                        </a:rPr>
                        <a:t>Unchanged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Assign</a:t>
                      </a:r>
                    </a:p>
                  </a:txBody>
                  <a:tcPr marL="54864" marR="54864" marT="27432" marB="27432">
                    <a:solidFill>
                      <a:srgbClr val="FFFFFF"/>
                    </a:solidFill>
                  </a:tcPr>
                </a:tc>
                <a:tc>
                  <a:txBody>
                    <a:bodyPr/>
                    <a:lstStyle/>
                    <a:p>
                      <a:r>
                        <a:rPr sz="850" b="0">
                          <a:solidFill>
                            <a:srgbClr val="4B4B4B"/>
                          </a:solidFill>
                          <a:latin typeface="Arial"/>
                        </a:rPr>
                        <a:t>Team leaders (WORK_ASSIGN)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assignment dialog: a user of the stage or the team queue</a:t>
                      </a:r>
                    </a:p>
                  </a:txBody>
                  <a:tcPr marL="54864" marR="54864" marT="27432" marB="27432">
                    <a:solidFill>
                      <a:srgbClr val="FFFFFF"/>
                    </a:solidFill>
                  </a:tcPr>
                </a:tc>
                <a:tc>
                  <a:txBody>
                    <a:bodyPr/>
                    <a:lstStyle/>
                    <a:p>
                      <a:r>
                        <a:rPr sz="850" b="0">
                          <a:solidFill>
                            <a:srgbClr val="4B4B4B"/>
                          </a:solidFill>
                          <a:latin typeface="Arial"/>
                        </a:rPr>
                        <a:t>Unchanged</a:t>
                      </a:r>
                    </a:p>
                  </a:txBody>
                  <a:tcPr marL="54864" marR="54864" marT="27432" marB="27432">
                    <a:solidFill>
                      <a:srgbClr val="FFFFFF"/>
                    </a:solidFill>
                  </a:tcPr>
                </a:tc>
                <a:tc>
                  <a:txBody>
                    <a:bodyPr/>
                    <a:lstStyle/>
                    <a:p>
                      <a:r>
                        <a:rPr sz="850" b="0">
                          <a:solidFill>
                            <a:srgbClr val="4B4B4B"/>
                          </a:solidFill>
                          <a:latin typeface="Arial"/>
                        </a:rPr>
                        <a:t>Assignment notice</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package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stages the user's permissions work are shown (FR-PM-024).</a:t>
                      </a:r>
                    </a:p>
                  </a:txBody>
                  <a:tcPr marL="54864" marR="54864" marT="27432" marB="27432">
                    <a:solidFill>
                      <a:srgbClr val="FFFFFF"/>
                    </a:solidFill>
                  </a:tcPr>
                </a:tc>
              </a:tr>
              <a:tr h="243840">
                <a:tc>
                  <a:txBody>
                    <a:bodyPr/>
                    <a:lstStyle/>
                    <a:p>
                      <a:r>
                        <a:rPr sz="1000" b="0">
                          <a:solidFill>
                            <a:srgbClr val="4B4B4B"/>
                          </a:solidFill>
                          <a:latin typeface="Arial"/>
                        </a:rPr>
                        <a:t>A claimed request is worked by the user who claimed it; a team leader can re-assign it (FR-PM-024).</a:t>
                      </a:r>
                    </a:p>
                  </a:txBody>
                  <a:tcPr marL="54864" marR="54864" marT="27432" marB="27432">
                    <a:solidFill>
                      <a:srgbClr val="E5F5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446167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of the TSU Team Lead (part 1 of 2)</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SCR-PM-09 TSU Workbench: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8.png"/>
          <p:cNvPicPr>
            <a:picLocks noChangeAspect="1"/>
          </p:cNvPicPr>
          <p:nvPr/>
        </p:nvPicPr>
        <p:blipFill>
          <a:blip r:embed="rId3"/>
          <a:stretch>
            <a:fillRect/>
          </a:stretch>
        </p:blipFill>
        <p:spPr>
          <a:xfrm>
            <a:off x="548640" y="1261872"/>
            <a:ext cx="11094415" cy="449036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TSU Workbench of the TSU Team Lead (part 2 of 2)</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Package requests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released packages by package end date, with their renewal status: packages ending without a renewal request, packages whose renewal is in progress, and the pointer to the expired packages kept in the catalog. TSU drafts renewal requests for the selected packages, pre-filled from the version in force.</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TL / TH / UH, TSU Officer, TSU Team Lead, TSU Head, Marketing Business Services, Business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Package Expiry</a:t>
                      </a:r>
                    </a:p>
                    <a:p>
                      <a:r>
                        <a:rPr sz="950" b="0">
                          <a:solidFill>
                            <a:srgbClr val="4B4B4B"/>
                          </a:solidFill>
                          <a:latin typeface="Arial"/>
                        </a:rPr>
                        <a:t>Product Maintenance Home › Packages ending soon tiles</a:t>
                      </a:r>
                    </a:p>
                    <a:p>
                      <a:r>
                        <a:rPr sz="950" b="0">
                          <a:solidFill>
                            <a:srgbClr val="4B4B4B"/>
                          </a:solidFill>
                          <a:latin typeface="Arial"/>
                        </a:rPr>
                        <a:t>Package Requests › Package Expiry</a:t>
                      </a:r>
                    </a:p>
                    <a:p>
                      <a:r>
                        <a:rPr sz="950" b="0">
                          <a:solidFill>
                            <a:srgbClr val="4B4B4B"/>
                          </a:solidFill>
                          <a:latin typeface="Arial"/>
                        </a:rPr>
                        <a:t>The expiry alert (Alert inbox) and the package expired notice</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13.1.10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FR-PM-060, FR-PM-061, FR-PM-052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package ends unnoticed, and its renewal request starts from the current terms without re-keying.</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Expiring / Renewal in Progress / Expired</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Expiring = no renewal request yet; Renewal in Progress = an open renewal or reactivation request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v&lt;version&gt;, with the product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Days Left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Days until the package end, red up to 7, amber up to 30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Anniversary</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Renewal Request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Request number and its stage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Generate Expiry List</a:t>
                      </a:r>
                    </a:p>
                  </a:txBody>
                  <a:tcPr marL="54864" marR="54864" marT="27432" marB="27432">
                    <a:solidFill>
                      <a:srgbClr val="FFFFFF"/>
                    </a:solidFill>
                  </a:tcPr>
                </a:tc>
                <a:tc>
                  <a:txBody>
                    <a:bodyPr/>
                    <a:lstStyle/>
                    <a:p>
                      <a:r>
                        <a:rPr sz="850" b="0">
                          <a:solidFill>
                            <a:srgbClr val="4B4B4B"/>
                          </a:solidFill>
                          <a:latin typeface="Arial"/>
                        </a:rPr>
                        <a:t>Packages ending within (days)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days from today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graphicFrame>
        <p:nvGraphicFramePr>
          <p:cNvPr id="9" name="Table 8"/>
          <p:cNvGraphicFramePr>
            <a:graphicFrameLocks noGrp="1"/>
          </p:cNvGraphicFramePr>
          <p:nvPr/>
        </p:nvGraphicFramePr>
        <p:xfrm>
          <a:off x="548640" y="1325880"/>
          <a:ext cx="11094412" cy="118109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Generate Expiry List</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Generate lists the packages ending within the days entered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Generate Renewal Request</a:t>
                      </a:r>
                    </a:p>
                  </a:txBody>
                  <a:tcPr marL="54864" marR="54864" marT="27432" marB="27432">
                    <a:solidFill>
                      <a:srgbClr val="E5F5FF"/>
                    </a:solidFill>
                  </a:tcPr>
                </a:tc>
                <a:tc>
                  <a:txBody>
                    <a:bodyPr/>
                    <a:lstStyle/>
                    <a:p>
                      <a:r>
                        <a:rPr sz="850" b="0">
                          <a:solidFill>
                            <a:srgbClr val="4B4B4B"/>
                          </a:solidFill>
                          <a:latin typeface="Arial"/>
                        </a:rPr>
                        <a:t>TSU (PKG_NEGOTIATE)</a:t>
                      </a:r>
                    </a:p>
                  </a:txBody>
                  <a:tcPr marL="54864" marR="54864" marT="27432" marB="27432">
                    <a:solidFill>
                      <a:srgbClr val="E5F5FF"/>
                    </a:solidFill>
                  </a:tcPr>
                </a:tc>
                <a:tc>
                  <a:txBody>
                    <a:bodyPr/>
                    <a:lstStyle/>
                    <a:p>
                      <a:r>
                        <a:rPr sz="850" b="0">
                          <a:solidFill>
                            <a:srgbClr val="4B4B4B"/>
                          </a:solidFill>
                          <a:latin typeface="Arial"/>
                        </a:rPr>
                        <a:t>Expiring tab; at least one package selected</a:t>
                      </a:r>
                    </a:p>
                  </a:txBody>
                  <a:tcPr marL="54864" marR="54864" marT="27432" marB="27432">
                    <a:solidFill>
                      <a:srgbClr val="E5F5FF"/>
                    </a:solidFill>
                  </a:tcPr>
                </a:tc>
                <a:tc>
                  <a:txBody>
                    <a:bodyPr/>
                    <a:lstStyle/>
                    <a:p>
                      <a:r>
                        <a:rPr sz="850" b="0">
                          <a:solidFill>
                            <a:srgbClr val="4B4B4B"/>
                          </a:solidFill>
                          <a:latin typeface="Arial"/>
                        </a:rPr>
                        <a:t>Drafts one Renew request per package, pre-filled from the version in force with the next term (start = old end + 1 day, same length); a package with an open renewal keeps it; one request opens directly</a:t>
                      </a:r>
                    </a:p>
                  </a:txBody>
                  <a:tcPr marL="54864" marR="54864" marT="27432" marB="27432">
                    <a:solidFill>
                      <a:srgbClr val="E5F5FF"/>
                    </a:solidFill>
                  </a:tcPr>
                </a:tc>
                <a:tc>
                  <a:txBody>
                    <a:bodyPr/>
                    <a:lstStyle/>
                    <a:p>
                      <a:r>
                        <a:rPr sz="850" b="0">
                          <a:solidFill>
                            <a:srgbClr val="4B4B4B"/>
                          </a:solidFill>
                          <a:latin typeface="Arial"/>
                        </a:rPr>
                        <a:t>Draft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package is listed from its version in force; the expiry monitor alerts at 60 days (PACKAGE_EXPIRY_NOTICE_DAYS) and again at 30 and 7 days (FR-PM-060).</a:t>
                      </a:r>
                    </a:p>
                  </a:txBody>
                  <a:tcPr marL="54864" marR="54864" marT="27432" marB="27432">
                    <a:solidFill>
                      <a:srgbClr val="FFFFFF"/>
                    </a:solidFill>
                  </a:tcPr>
                </a:tc>
              </a:tr>
              <a:tr h="243840">
                <a:tc>
                  <a:txBody>
                    <a:bodyPr/>
                    <a:lstStyle/>
                    <a:p>
                      <a:r>
                        <a:rPr sz="1000" b="0">
                          <a:solidFill>
                            <a:srgbClr val="4B4B4B"/>
                          </a:solidFill>
                          <a:latin typeface="Arial"/>
                        </a:rPr>
                        <a:t>A renewal request is never drafted twice for the same package; when PACKAGE_RENEWAL_AUTODRAFT is on, the monitor drafts it itself (FR-PM-061).</a:t>
                      </a:r>
                    </a:p>
                  </a:txBody>
                  <a:tcPr marL="54864" marR="54864" marT="27432" marB="27432">
                    <a:solidFill>
                      <a:srgbClr val="E5F5FF"/>
                    </a:solidFill>
                  </a:tcPr>
                </a:tc>
              </a:tr>
              <a:tr h="243840">
                <a:tc>
                  <a:txBody>
                    <a:bodyPr/>
                    <a:lstStyle/>
                    <a:p>
                      <a:r>
                        <a:rPr sz="1000" b="0">
                          <a:solidFill>
                            <a:srgbClr val="4B4B4B"/>
                          </a:solidFill>
                          <a:latin typeface="Arial"/>
                        </a:rPr>
                        <a:t>Expired packages stay readable on Products with the Expired filter; an expired package is sold again only through a Reactivate request (FR-PM-052).</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0-01-list.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Package Expiry, Expiring tab</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SCR-PM-10 Package Expiry: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10-02-dialog.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Generate Expiry List dialog</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product catalogue: every product (risk code) with its line, package flag, current version, market segments, rate and minimum premium, and its lifecycle; and, on their own tabs, the field rules, document rules and TSU routing rules that decide what an account needs and when TSU reviews it. MBS creates products and rules; a second user authorises them. Expired and retired products are listed for the users who may see the archive.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Products</a:t>
                      </a:r>
                    </a:p>
                    <a:p>
                      <a:r>
                        <a:rPr sz="950" b="0">
                          <a:solidFill>
                            <a:srgbClr val="4B4B4B"/>
                          </a:solidFill>
                          <a:latin typeface="Arial"/>
                        </a:rPr>
                        <a:t>Sidebar entry Products</a:t>
                      </a:r>
                    </a:p>
                    <a:p>
                      <a:r>
                        <a:rPr sz="950" b="0">
                          <a:solidFill>
                            <a:srgbClr val="4B4B4B"/>
                          </a:solidFill>
                          <a:latin typeface="Arial"/>
                        </a:rPr>
                        <a:t>Package Expiry › Expired tab › Products</a:t>
                      </a:r>
                    </a:p>
                    <a:p>
                      <a:r>
                        <a:rPr sz="950" b="0">
                          <a:solidFill>
                            <a:srgbClr val="4B4B4B"/>
                          </a:solidFill>
                          <a:latin typeface="Arial"/>
                        </a:rPr>
                        <a:t>Product record › back arrow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FR-PM-010, FR-PM-012, FR-PM-013, FR-PM-050, FR-PM-052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finds any product with its current version and lifecycle, and maintains products and their rules under maker-checker.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graphicFrame>
        <p:nvGraphicFramePr>
          <p:cNvPr id="9" name="Table 8"/>
          <p:cNvGraphicFramePr>
            <a:graphicFrameLocks noGrp="1"/>
          </p:cNvGraphicFramePr>
          <p:nvPr/>
        </p:nvGraphicFramePr>
        <p:xfrm>
          <a:off x="548640" y="1325880"/>
          <a:ext cx="11094411" cy="483105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Products / Field rules / Document rules / TSU routing</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or name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lines or one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Package and non-package, Package only, Non-package only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Market segment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segments or 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Lifecycle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Sellable, Expired, Retired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Shown only to users who may see the archive (PRODUCT_ARCHIVE_VIEW)</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Active only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Authorised and active records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Code / Name / Line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product name, line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product matches the filters.</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Package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Yes for a package product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Version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Current version (v2) and the pill of a version being set up (Draft, 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Segments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Market segments, or All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Rate % / Min. Premium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Product rate and minimum premium (of the version in force for a package)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Pending Authorization, Active, Inactive; Expired or Retired for a package no longer sold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1 to 20 capitals or digits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the naming convention of the line when set</a:t>
                      </a:r>
                    </a:p>
                  </a:txBody>
                  <a:tcPr marL="54864" marR="54864" marT="27432" marB="27432">
                    <a:solidFill>
                      <a:srgbClr val="E5F5FF"/>
                    </a:solidFill>
                  </a:tcPr>
                </a:tc>
                <a:tc>
                  <a:txBody>
                    <a:bodyPr/>
                    <a:lstStyle/>
                    <a:p>
                      <a:r>
                        <a:rPr sz="850" b="0">
                          <a:solidFill>
                            <a:srgbClr val="4B4B4B"/>
                          </a:solidFill>
                          <a:latin typeface="Arial"/>
                        </a:rPr>
                        <a:t>Code: 1 to 20 capital letters or digits.</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Name is required.</a:t>
                      </a:r>
                    </a:p>
                  </a:txBody>
                  <a:tcPr marL="54864" marR="54864" marT="27432" marB="27432">
                    <a:solidFill>
                      <a:srgbClr val="FFFFFF"/>
                    </a:solidFill>
                  </a:tcPr>
                </a:tc>
              </a:tr>
            </a:tbl>
          </a:graphicData>
        </a:graphic>
      </p:graphicFrame>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the product line.</a:t>
                      </a:r>
                    </a:p>
                  </a:txBody>
                  <a:tcPr marL="54864" marR="54864" marT="27432" marB="27432">
                    <a:solidFill>
                      <a:srgbClr val="FFFFFF"/>
                    </a:solidFill>
                  </a:tcPr>
                </a:tc>
              </a:tr>
              <a:tr h="480057">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Cover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 types of the line</a:t>
                      </a:r>
                    </a:p>
                  </a:txBody>
                  <a:tcPr marL="54864" marR="54864" marT="27432" marB="27432">
                    <a:solidFill>
                      <a:srgbClr val="E5F5FF"/>
                    </a:solidFill>
                  </a:tcPr>
                </a:tc>
                <a:tc>
                  <a:txBody>
                    <a:bodyPr/>
                    <a:lstStyle/>
                    <a:p>
                      <a:r>
                        <a:rPr sz="850" b="0">
                          <a:solidFill>
                            <a:srgbClr val="4B4B4B"/>
                          </a:solidFill>
                          <a:latin typeface="Arial"/>
                        </a:rPr>
                        <a:t>Cond.: package product</a:t>
                      </a:r>
                    </a:p>
                  </a:txBody>
                  <a:tcPr marL="54864" marR="54864" marT="27432" marB="27432">
                    <a:solidFill>
                      <a:srgbClr val="E5F5FF"/>
                    </a:solidFill>
                  </a:tcPr>
                </a:tc>
                <a:tc>
                  <a:txBody>
                    <a:bodyPr/>
                    <a:lstStyle/>
                    <a:p>
                      <a:r>
                        <a:rPr sz="850" b="0">
                          <a:solidFill>
                            <a:srgbClr val="4B4B4B"/>
                          </a:solidFill>
                          <a:latin typeface="Arial"/>
                        </a:rPr>
                        <a:t>A cover type of the line; a package needs one</a:t>
                      </a:r>
                    </a:p>
                  </a:txBody>
                  <a:tcPr marL="54864" marR="54864" marT="27432" marB="27432">
                    <a:solidFill>
                      <a:srgbClr val="E5F5FF"/>
                    </a:solidFill>
                  </a:tcPr>
                </a:tc>
                <a:tc>
                  <a:txBody>
                    <a:bodyPr/>
                    <a:lstStyle/>
                    <a:p>
                      <a:r>
                        <a:rPr sz="850" b="0">
                          <a:solidFill>
                            <a:srgbClr val="4B4B4B"/>
                          </a:solidFill>
                          <a:latin typeface="Arial"/>
                        </a:rPr>
                        <a:t>A package needs its cover type</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Placement after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Paid, Client confirmation</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TSU review</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By rules, Always, Never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Default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rate, minimum premium, commission and TSI limit of package &lt;code&gt; change through a new version (Versions tab)</a:t>
                      </a:r>
                    </a:p>
                  </a:txBody>
                  <a:tcPr marL="54864" marR="54864" marT="27432" marB="27432">
                    <a:solidFill>
                      <a:srgbClr val="FFFFFF"/>
                    </a:solidFill>
                  </a:tcPr>
                </a:tc>
              </a:tr>
              <a:tr h="350518">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Default commission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Percentage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Default commission rate is required.</a:t>
                      </a:r>
                    </a:p>
                  </a:txBody>
                  <a:tcPr marL="54864" marR="54864" marT="27432" marB="27432">
                    <a:solidFill>
                      <a:srgbClr val="E5F5FF"/>
                    </a:solidFill>
                  </a:tcPr>
                </a:tc>
              </a:tr>
              <a:tr h="350518">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Minimum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 in PHP</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The minimum premium cannot be negative</a:t>
                      </a:r>
                    </a:p>
                  </a:txBody>
                  <a:tcPr marL="54864" marR="54864" marT="27432" marB="27432">
                    <a:solidFill>
                      <a:srgbClr val="FFFFFF"/>
                    </a:solidFill>
                  </a:tcPr>
                </a:tc>
              </a:tr>
              <a:tr h="350518">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New product</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 above it the account goes to TSU</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Maximum term (years)</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1 to 10</a:t>
                      </a:r>
                    </a:p>
                  </a:txBody>
                  <a:tcPr marL="54864" marR="54864" marT="27432" marB="27432">
                    <a:solidFill>
                      <a:srgbClr val="FFFFFF"/>
                    </a:solidFill>
                  </a:tcPr>
                </a:tc>
                <a:tc>
                  <a:txBody>
                    <a:bodyPr/>
                    <a:lstStyle/>
                    <a:p>
                      <a:r>
                        <a:rPr sz="850" b="0">
                          <a:solidFill>
                            <a:srgbClr val="4B4B4B"/>
                          </a:solidFill>
                          <a:latin typeface="Arial"/>
                        </a:rPr>
                        <a:t>Cond.: multi-year term allowed</a:t>
                      </a:r>
                    </a:p>
                  </a:txBody>
                  <a:tcPr marL="54864" marR="54864" marT="27432" marB="27432">
                    <a:solidFill>
                      <a:srgbClr val="FFFFFF"/>
                    </a:solidFill>
                  </a:tcPr>
                </a:tc>
                <a:tc>
                  <a:txBody>
                    <a:bodyPr/>
                    <a:lstStyle/>
                    <a:p>
                      <a:r>
                        <a:rPr sz="850" b="0">
                          <a:solidFill>
                            <a:srgbClr val="4B4B4B"/>
                          </a:solidFill>
                          <a:latin typeface="Arial"/>
                        </a:rPr>
                        <a:t>At least 2 for a multi-year product</a:t>
                      </a:r>
                    </a:p>
                  </a:txBody>
                  <a:tcPr marL="54864" marR="54864" marT="27432" marB="27432">
                    <a:solidFill>
                      <a:srgbClr val="FFFFFF"/>
                    </a:solidFill>
                  </a:tcPr>
                </a:tc>
                <a:tc>
                  <a:txBody>
                    <a:bodyPr/>
                    <a:lstStyle/>
                    <a:p>
                      <a:r>
                        <a:rPr sz="850" b="0">
                          <a:solidFill>
                            <a:srgbClr val="4B4B4B"/>
                          </a:solidFill>
                          <a:latin typeface="Arial"/>
                        </a:rPr>
                        <a:t>A multi-year product needs a maximum term of at least 2 years.</a:t>
                      </a:r>
                    </a:p>
                  </a:txBody>
                  <a:tcPr marL="54864" marR="54864" marT="27432" marB="27432">
                    <a:solidFill>
                      <a:srgbClr val="FFFFFF"/>
                    </a:solidFill>
                  </a:tcPr>
                </a:tc>
              </a:tr>
              <a:tr h="868674">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New product › Features</a:t>
                      </a:r>
                    </a:p>
                  </a:txBody>
                  <a:tcPr marL="54864" marR="54864" marT="27432" marB="27432">
                    <a:solidFill>
                      <a:srgbClr val="E5F5FF"/>
                    </a:solidFill>
                  </a:tcPr>
                </a:tc>
                <a:tc>
                  <a:txBody>
                    <a:bodyPr/>
                    <a:lstStyle/>
                    <a:p>
                      <a:r>
                        <a:rPr sz="850" b="0">
                          <a:solidFill>
                            <a:srgbClr val="4B4B4B"/>
                          </a:solidFill>
                          <a:latin typeface="Arial"/>
                        </a:rPr>
                        <a:t>Package product (fixed cover) / Fleet (several vehicles) / Mortgage / loan related / Direct payment to insurer allowed / Multi-year term allowed / Free First Year eligible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Market segments (none = all)</a:t>
                      </a:r>
                    </a:p>
                  </a:txBody>
                  <a:tcPr marL="54864" marR="54864" marT="27432" marB="27432">
                    <a:solidFill>
                      <a:srgbClr val="FFFFFF"/>
                    </a:solidFill>
                  </a:tcPr>
                </a:tc>
                <a:tc>
                  <a:txBody>
                    <a:bodyPr/>
                    <a:lstStyle/>
                    <a:p>
                      <a:r>
                        <a:rPr sz="850" b="0">
                          <a:solidFill>
                            <a:srgbClr val="4B4B4B"/>
                          </a:solidFill>
                          <a:latin typeface="Arial"/>
                        </a:rPr>
                        <a:t>Check boxes</a:t>
                      </a:r>
                    </a:p>
                  </a:txBody>
                  <a:tcPr marL="54864" marR="54864" marT="27432" marB="27432">
                    <a:solidFill>
                      <a:srgbClr val="FFFFFF"/>
                    </a:solidFill>
                  </a:tcPr>
                </a:tc>
                <a:tc>
                  <a:txBody>
                    <a:bodyPr/>
                    <a:lstStyle/>
                    <a:p>
                      <a:r>
                        <a:rPr sz="850" b="0">
                          <a:solidFill>
                            <a:srgbClr val="4B4B4B"/>
                          </a:solidFill>
                          <a:latin typeface="Arial"/>
                        </a:rPr>
                        <a:t>Segments the product is offered to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values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SCR-PM-11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27</a:t>
                      </a:r>
                    </a:p>
                  </a:txBody>
                  <a:tcPr marL="54864" marR="54864" marT="27432" marB="27432">
                    <a:solidFill>
                      <a:srgbClr val="FFFFFF"/>
                    </a:solidFill>
                  </a:tcPr>
                </a:tc>
                <a:tc>
                  <a:txBody>
                    <a:bodyPr/>
                    <a:lstStyle/>
                    <a:p>
                      <a:r>
                        <a:rPr sz="850" b="0">
                          <a:solidFill>
                            <a:srgbClr val="4B4B4B"/>
                          </a:solidFill>
                          <a:latin typeface="Arial"/>
                        </a:rPr>
                        <a:t>Field rules</a:t>
                      </a:r>
                    </a:p>
                  </a:txBody>
                  <a:tcPr marL="54864" marR="54864" marT="27432" marB="27432">
                    <a:solidFill>
                      <a:srgbClr val="FFFFFF"/>
                    </a:solidFill>
                  </a:tcPr>
                </a:tc>
                <a:tc>
                  <a:txBody>
                    <a:bodyPr/>
                    <a:lstStyle/>
                    <a:p>
                      <a:r>
                        <a:rPr sz="850" b="0">
                          <a:solidFill>
                            <a:srgbClr val="4B4B4B"/>
                          </a:solidFill>
                          <a:latin typeface="Arial"/>
                        </a:rPr>
                        <a:t>Applies to / Level / Field / Key / Mandatory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products, a line or a product; Account or Risk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28</a:t>
                      </a:r>
                    </a:p>
                  </a:txBody>
                  <a:tcPr marL="54864" marR="54864" marT="27432" marB="27432">
                    <a:solidFill>
                      <a:srgbClr val="E5F5FF"/>
                    </a:solidFill>
                  </a:tcPr>
                </a:tc>
                <a:tc>
                  <a:txBody>
                    <a:bodyPr/>
                    <a:lstStyle/>
                    <a:p>
                      <a:r>
                        <a:rPr sz="850" b="0">
                          <a:solidFill>
                            <a:srgbClr val="4B4B4B"/>
                          </a:solidFill>
                          <a:latin typeface="Arial"/>
                        </a:rPr>
                        <a:t>Document rules</a:t>
                      </a:r>
                    </a:p>
                  </a:txBody>
                  <a:tcPr marL="54864" marR="54864" marT="27432" marB="27432">
                    <a:solidFill>
                      <a:srgbClr val="E5F5FF"/>
                    </a:solidFill>
                  </a:tcPr>
                </a:tc>
                <a:tc>
                  <a:txBody>
                    <a:bodyPr/>
                    <a:lstStyle/>
                    <a:p>
                      <a:r>
                        <a:rPr sz="850" b="0">
                          <a:solidFill>
                            <a:srgbClr val="4B4B4B"/>
                          </a:solidFill>
                          <a:latin typeface="Arial"/>
                        </a:rPr>
                        <a:t>Applies to / Document / Before Submission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Document type; Required or Optional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29</a:t>
                      </a:r>
                    </a:p>
                  </a:txBody>
                  <a:tcPr marL="54864" marR="54864" marT="27432" marB="27432">
                    <a:solidFill>
                      <a:srgbClr val="FFFFFF"/>
                    </a:solidFill>
                  </a:tcPr>
                </a:tc>
                <a:tc>
                  <a:txBody>
                    <a:bodyPr/>
                    <a:lstStyle/>
                    <a:p>
                      <a:r>
                        <a:rPr sz="850" b="0">
                          <a:solidFill>
                            <a:srgbClr val="4B4B4B"/>
                          </a:solidFill>
                          <a:latin typeface="Arial"/>
                        </a:rPr>
                        <a:t>TSU routing</a:t>
                      </a:r>
                    </a:p>
                  </a:txBody>
                  <a:tcPr marL="54864" marR="54864" marT="27432" marB="27432">
                    <a:solidFill>
                      <a:srgbClr val="FFFFFF"/>
                    </a:solidFill>
                  </a:tcPr>
                </a:tc>
                <a:tc>
                  <a:txBody>
                    <a:bodyPr/>
                    <a:lstStyle/>
                    <a:p>
                      <a:r>
                        <a:rPr sz="850" b="0">
                          <a:solidFill>
                            <a:srgbClr val="4B4B4B"/>
                          </a:solidFill>
                          <a:latin typeface="Arial"/>
                        </a:rPr>
                        <a:t>Priority / Code / Description / Criteria / TSI Above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Lower priority evaluated first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graphicFrame>
        <p:nvGraphicFramePr>
          <p:cNvPr id="9" name="Table 8"/>
          <p:cNvGraphicFramePr>
            <a:graphicFrameLocks noGrp="1"/>
          </p:cNvGraphicFramePr>
          <p:nvPr/>
        </p:nvGraphicFramePr>
        <p:xfrm>
          <a:off x="548640" y="1325880"/>
          <a:ext cx="11094412" cy="223264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Product</a:t>
                      </a:r>
                    </a:p>
                  </a:txBody>
                  <a:tcPr marL="54864" marR="54864" marT="27432" marB="27432">
                    <a:solidFill>
                      <a:srgbClr val="FFFFFF"/>
                    </a:solidFill>
                  </a:tcPr>
                </a:tc>
                <a:tc>
                  <a:txBody>
                    <a:bodyPr/>
                    <a:lstStyle/>
                    <a:p>
                      <a:r>
                        <a:rPr sz="850" b="0">
                          <a:solidFill>
                            <a:srgbClr val="4B4B4B"/>
                          </a:solidFill>
                          <a:latin typeface="Arial"/>
                        </a:rPr>
                        <a:t>MBS (PRODUCT_MAINTAIN, MASTER_MAINTAIN)</a:t>
                      </a:r>
                    </a:p>
                  </a:txBody>
                  <a:tcPr marL="54864" marR="54864" marT="27432" marB="27432">
                    <a:solidFill>
                      <a:srgbClr val="FFFFFF"/>
                    </a:solidFill>
                  </a:tcPr>
                </a:tc>
                <a:tc>
                  <a:txBody>
                    <a:bodyPr/>
                    <a:lstStyle/>
                    <a:p>
                      <a:r>
                        <a:rPr sz="850" b="0">
                          <a:solidFill>
                            <a:srgbClr val="4B4B4B"/>
                          </a:solidFill>
                          <a:latin typeface="Arial"/>
                        </a:rPr>
                        <a:t>Products tab</a:t>
                      </a:r>
                    </a:p>
                  </a:txBody>
                  <a:tcPr marL="54864" marR="54864" marT="27432" marB="27432">
                    <a:solidFill>
                      <a:srgbClr val="FFFFFF"/>
                    </a:solidFill>
                  </a:tcPr>
                </a:tc>
                <a:tc>
                  <a:txBody>
                    <a:bodyPr/>
                    <a:lstStyle/>
                    <a:p>
                      <a:r>
                        <a:rPr sz="850" b="0">
                          <a:solidFill>
                            <a:srgbClr val="4B4B4B"/>
                          </a:solidFill>
                          <a:latin typeface="Arial"/>
                        </a:rPr>
                        <a:t>Opens New product; Save for Authorization saves it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Add Rule</a:t>
                      </a:r>
                    </a:p>
                  </a:txBody>
                  <a:tcPr marL="54864" marR="54864" marT="27432" marB="27432">
                    <a:solidFill>
                      <a:srgbClr val="E5F5FF"/>
                    </a:solidFill>
                  </a:tcPr>
                </a:tc>
                <a:tc>
                  <a:txBody>
                    <a:bodyPr/>
                    <a:lstStyle/>
                    <a:p>
                      <a:r>
                        <a:rPr sz="850" b="0">
                          <a:solidFill>
                            <a:srgbClr val="4B4B4B"/>
                          </a:solidFill>
                          <a:latin typeface="Arial"/>
                        </a:rPr>
                        <a:t>MBS (PRODUCT_MAINTAIN), Business Administrator (MASTER_MAINTAIN)</a:t>
                      </a:r>
                    </a:p>
                  </a:txBody>
                  <a:tcPr marL="54864" marR="54864" marT="27432" marB="27432">
                    <a:solidFill>
                      <a:srgbClr val="E5F5FF"/>
                    </a:solidFill>
                  </a:tcPr>
                </a:tc>
                <a:tc>
                  <a:txBody>
                    <a:bodyPr/>
                    <a:lstStyle/>
                    <a:p>
                      <a:r>
                        <a:rPr sz="850" b="0">
                          <a:solidFill>
                            <a:srgbClr val="4B4B4B"/>
                          </a:solidFill>
                          <a:latin typeface="Arial"/>
                        </a:rPr>
                        <a:t>Field rules, Document rules or TSU routing tab</a:t>
                      </a:r>
                    </a:p>
                  </a:txBody>
                  <a:tcPr marL="54864" marR="54864" marT="27432" marB="27432">
                    <a:solidFill>
                      <a:srgbClr val="E5F5FF"/>
                    </a:solidFill>
                  </a:tcPr>
                </a:tc>
                <a:tc>
                  <a:txBody>
                    <a:bodyPr/>
                    <a:lstStyle/>
                    <a:p>
                      <a:r>
                        <a:rPr sz="850" b="0">
                          <a:solidFill>
                            <a:srgbClr val="4B4B4B"/>
                          </a:solidFill>
                          <a:latin typeface="Arial"/>
                        </a:rPr>
                        <a:t>Opens New Rule (see SCR-PM-12)</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or MASTER_AUTHORIZE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Row pending authorisation</a:t>
                      </a:r>
                    </a:p>
                  </a:txBody>
                  <a:tcPr marL="54864" marR="54864" marT="27432" marB="27432">
                    <a:solidFill>
                      <a:srgbClr val="FFFFFF"/>
                    </a:solidFill>
                  </a:tcPr>
                </a:tc>
                <a:tc>
                  <a:txBody>
                    <a:bodyPr/>
                    <a:lstStyle/>
                    <a:p>
                      <a:r>
                        <a:rPr sz="850" b="0">
                          <a:solidFill>
                            <a:srgbClr val="4B4B4B"/>
                          </a:solidFill>
                          <a:latin typeface="Arial"/>
                        </a:rPr>
                        <a:t>Authorises the record; it is used by quotations, accounts and rating from now</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PRODUCT_MAINTAIN or MASTER_MAINTAIN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Ends the use of the record; its history stays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Products tab</a:t>
                      </a:r>
                    </a:p>
                  </a:txBody>
                  <a:tcPr marL="54864" marR="54864" marT="27432" marB="27432">
                    <a:solidFill>
                      <a:srgbClr val="FFFFFF"/>
                    </a:solidFill>
                  </a:tcPr>
                </a:tc>
                <a:tc>
                  <a:txBody>
                    <a:bodyPr/>
                    <a:lstStyle/>
                    <a:p>
                      <a:r>
                        <a:rPr sz="850" b="0">
                          <a:solidFill>
                            <a:srgbClr val="4B4B4B"/>
                          </a:solidFill>
                          <a:latin typeface="Arial"/>
                        </a:rPr>
                        <a:t>Opens the product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product and rule is maker-checker: saved changes wait for a second user's authorisation and are not used until then (FR-PM-010, FR-PM-012).</a:t>
                      </a:r>
                    </a:p>
                  </a:txBody>
                  <a:tcPr marL="54864" marR="54864" marT="27432" marB="27432">
                    <a:solidFill>
                      <a:srgbClr val="FFFFFF"/>
                    </a:solidFill>
                  </a:tcPr>
                </a:tc>
              </a:tr>
              <a:tr h="243840">
                <a:tc>
                  <a:txBody>
                    <a:bodyPr/>
                    <a:lstStyle/>
                    <a:p>
                      <a:r>
                        <a:rPr sz="1000" b="0">
                          <a:solidFill>
                            <a:srgbClr val="4B4B4B"/>
                          </a:solidFill>
                          <a:latin typeface="Arial"/>
                        </a:rPr>
                        <a:t>A package product needs its cover type; the risk code follows the naming convention of its line once BDOI has stated it (FR-PM-010).</a:t>
                      </a:r>
                    </a:p>
                  </a:txBody>
                  <a:tcPr marL="54864" marR="54864" marT="27432" marB="27432">
                    <a:solidFill>
                      <a:srgbClr val="E5F5FF"/>
                    </a:solidFill>
                  </a:tcPr>
                </a:tc>
              </a:tr>
              <a:tr h="243840">
                <a:tc>
                  <a:txBody>
                    <a:bodyPr/>
                    <a:lstStyle/>
                    <a:p>
                      <a:r>
                        <a:rPr sz="1000" b="0">
                          <a:solidFill>
                            <a:srgbClr val="4B4B4B"/>
                          </a:solidFill>
                          <a:latin typeface="Arial"/>
                        </a:rPr>
                        <a:t>The rate, minimum premium, commission and TSI limit of a package change only through a new version, so a released package stays sellable while it is changed (FR-PM-050).</a:t>
                      </a:r>
                    </a:p>
                  </a:txBody>
                  <a:tcPr marL="54864" marR="54864" marT="27432" marB="27432">
                    <a:solidFill>
                      <a:srgbClr val="FFFFFF"/>
                    </a:solidFill>
                  </a:tcPr>
                </a:tc>
              </a:tr>
              <a:tr h="243840">
                <a:tc>
                  <a:txBody>
                    <a:bodyPr/>
                    <a:lstStyle/>
                    <a:p>
                      <a:r>
                        <a:rPr sz="1000" b="0">
                          <a:solidFill>
                            <a:srgbClr val="4B4B4B"/>
                          </a:solidFill>
                          <a:latin typeface="Arial"/>
                        </a:rPr>
                        <a:t>Sellable lists show active products only; expired and retired products are shown to the archive users and are never deleted (FR-PM-052).</a:t>
                      </a:r>
                    </a:p>
                  </a:txBody>
                  <a:tcPr marL="54864" marR="54864" marT="27432" marB="27432">
                    <a:solidFill>
                      <a:srgbClr val="E5F5FF"/>
                    </a:solidFill>
                  </a:tcPr>
                </a:tc>
              </a:tr>
              <a:tr h="243840">
                <a:tc>
                  <a:txBody>
                    <a:bodyPr/>
                    <a:lstStyle/>
                    <a:p>
                      <a:r>
                        <a:rPr sz="1000" b="0">
                          <a:solidFill>
                            <a:srgbClr val="4B4B4B"/>
                          </a:solidFill>
                          <a:latin typeface="Arial"/>
                        </a:rPr>
                        <a:t>Field rules check presence, a list of values, a number range or a format; document rules name the documents an account needs before submission (FR-PM-012, FR-PM-013).</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9.png"/>
          <p:cNvPicPr>
            <a:picLocks noChangeAspect="1"/>
          </p:cNvPicPr>
          <p:nvPr/>
        </p:nvPicPr>
        <p:blipFill>
          <a:blip r:embed="rId3"/>
          <a:stretch>
            <a:fillRect/>
          </a:stretch>
        </p:blipFill>
        <p:spPr>
          <a:xfrm>
            <a:off x="548640" y="1261872"/>
            <a:ext cx="11094415" cy="464461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1 of 3)</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0.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2 of 3)</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1.png"/>
          <p:cNvPicPr>
            <a:picLocks noChangeAspect="1"/>
          </p:cNvPicPr>
          <p:nvPr/>
        </p:nvPicPr>
        <p:blipFill>
          <a:blip r:embed="rId3"/>
          <a:stretch>
            <a:fillRect/>
          </a:stretch>
        </p:blipFill>
        <p:spPr>
          <a:xfrm>
            <a:off x="548640" y="1261872"/>
            <a:ext cx="11094415" cy="82267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with the package filter (part 3 of 3)</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2.png"/>
          <p:cNvPicPr>
            <a:picLocks noChangeAspect="1"/>
          </p:cNvPicPr>
          <p:nvPr/>
        </p:nvPicPr>
        <p:blipFill>
          <a:blip r:embed="rId3"/>
          <a:stretch>
            <a:fillRect/>
          </a:stretch>
        </p:blipFill>
        <p:spPr>
          <a:xfrm>
            <a:off x="548640" y="1261872"/>
            <a:ext cx="11094415" cy="40683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 dialog (part 1 of 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3.png"/>
          <p:cNvPicPr>
            <a:picLocks noChangeAspect="1"/>
          </p:cNvPicPr>
          <p:nvPr/>
        </p:nvPicPr>
        <p:blipFill>
          <a:blip r:embed="rId3"/>
          <a:stretch>
            <a:fillRect/>
          </a:stretch>
        </p:blipFill>
        <p:spPr>
          <a:xfrm>
            <a:off x="548640" y="1261872"/>
            <a:ext cx="11094415" cy="41969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product dialog (part 2 of 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4.png"/>
          <p:cNvPicPr>
            <a:picLocks noChangeAspect="1"/>
          </p:cNvPicPr>
          <p:nvPr/>
        </p:nvPicPr>
        <p:blipFill>
          <a:blip r:embed="rId3"/>
          <a:stretch>
            <a:fillRect/>
          </a:stretch>
        </p:blipFill>
        <p:spPr>
          <a:xfrm>
            <a:off x="548640" y="1261872"/>
            <a:ext cx="11094415" cy="460700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1 of 3)</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5.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2 of 3)</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SCR-PM-11 Products: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6.png"/>
          <p:cNvPicPr>
            <a:picLocks noChangeAspect="1"/>
          </p:cNvPicPr>
          <p:nvPr/>
        </p:nvPicPr>
        <p:blipFill>
          <a:blip r:embed="rId3"/>
          <a:stretch>
            <a:fillRect/>
          </a:stretch>
        </p:blipFill>
        <p:spPr>
          <a:xfrm>
            <a:off x="548640" y="1261872"/>
            <a:ext cx="11094415" cy="8602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Products as the Auditor sees them, without the maintenance actions (part 3 of 3)</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7.png"/>
          <p:cNvPicPr>
            <a:picLocks noChangeAspect="1"/>
          </p:cNvPicPr>
          <p:nvPr/>
        </p:nvPicPr>
        <p:blipFill>
          <a:blip r:embed="rId3"/>
          <a:stretch>
            <a:fillRect/>
          </a:stretch>
        </p:blipFill>
        <p:spPr>
          <a:xfrm>
            <a:off x="548640" y="1261872"/>
            <a:ext cx="11094415" cy="458657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1 of 2)</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SCR-PM-11 Products: Pending approval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38.png"/>
          <p:cNvPicPr>
            <a:picLocks noChangeAspect="1"/>
          </p:cNvPicPr>
          <p:nvPr/>
        </p:nvPicPr>
        <p:blipFill>
          <a:blip r:embed="rId3"/>
          <a:stretch>
            <a:fillRect/>
          </a:stretch>
        </p:blipFill>
        <p:spPr>
          <a:xfrm>
            <a:off x="548640" y="1261872"/>
            <a:ext cx="11094415" cy="451122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tab with the authorisation actions (part 2 of 2)</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product: its risk code, lifecycle and authorisation status, package and version flags, line and cover type, current version, rate, package end and TSU review; the tabs Versions (every package version with its status, dates, source request and validator), Features (all product attributes) and Field Rules &amp; Documents (the field matrix and the documents an account needs). MBS creates the next version of a package from here.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67056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Products › Product</a:t>
                      </a:r>
                    </a:p>
                    <a:p>
                      <a:r>
                        <a:rPr sz="950" b="0">
                          <a:solidFill>
                            <a:srgbClr val="4B4B4B"/>
                          </a:solidFill>
                          <a:latin typeface="Arial"/>
                        </a:rPr>
                        <a:t>Products › a row</a:t>
                      </a:r>
                    </a:p>
                    <a:p>
                      <a:r>
                        <a:rPr sz="950" b="0">
                          <a:solidFill>
                            <a:srgbClr val="4B4B4B"/>
                          </a:solidFill>
                          <a:latin typeface="Arial"/>
                        </a:rPr>
                        <a:t>Package Version › back arrow</a:t>
                      </a:r>
                    </a:p>
                    <a:p>
                      <a:r>
                        <a:rPr sz="950" b="0">
                          <a:solidFill>
                            <a:srgbClr val="4B4B4B"/>
                          </a:solidFill>
                          <a:latin typeface="Arial"/>
                        </a:rPr>
                        <a:t>Incentive Criteria (products matrix)</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FR-PM-050, FR-PM-012, FR-PM-013, FR-PM-042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MBS and the approvers see the whole history of a product and start its next version from the terms in force.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graphicFrame>
        <p:nvGraphicFramePr>
          <p:cNvPr id="9" name="Table 8"/>
          <p:cNvGraphicFramePr>
            <a:graphicFrameLocks noGrp="1"/>
          </p:cNvGraphicFramePr>
          <p:nvPr/>
        </p:nvGraphicFramePr>
        <p:xfrm>
          <a:off x="548640" y="1325880"/>
          <a:ext cx="11094411" cy="472437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Risk code</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Product code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Lifecycle and record status pills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Active, Expired, Retired; Pending Authorization, Active,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Package and version tags</a:t>
                      </a:r>
                    </a:p>
                  </a:txBody>
                  <a:tcPr marL="54864" marR="54864" marT="27432" marB="27432">
                    <a:solidFill>
                      <a:srgbClr val="FFFFFF"/>
                    </a:solidFill>
                  </a:tcPr>
                </a:tc>
                <a:tc>
                  <a:txBody>
                    <a:bodyPr/>
                    <a:lstStyle/>
                    <a:p>
                      <a:r>
                        <a:rPr sz="850" b="0">
                          <a:solidFill>
                            <a:srgbClr val="4B4B4B"/>
                          </a:solidFill>
                          <a:latin typeface="Arial"/>
                        </a:rPr>
                        <a:t>Tag</a:t>
                      </a:r>
                    </a:p>
                  </a:txBody>
                  <a:tcPr marL="54864" marR="54864" marT="27432" marB="27432">
                    <a:solidFill>
                      <a:srgbClr val="FFFFFF"/>
                    </a:solidFill>
                  </a:tcPr>
                </a:tc>
                <a:tc>
                  <a:txBody>
                    <a:bodyPr/>
                    <a:lstStyle/>
                    <a:p>
                      <a:r>
                        <a:rPr sz="850" b="0">
                          <a:solidFill>
                            <a:srgbClr val="4B4B4B"/>
                          </a:solidFill>
                          <a:latin typeface="Arial"/>
                        </a:rPr>
                        <a:t>Package; Version n Draft or For validation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Line › Type / Current Version / Rate % / Package End / TSU Review</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As in the catalogue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Versions</a:t>
                      </a:r>
                    </a:p>
                  </a:txBody>
                  <a:tcPr marL="54864" marR="54864" marT="27432" marB="27432">
                    <a:solidFill>
                      <a:srgbClr val="FFFFFF"/>
                    </a:solidFill>
                  </a:tcPr>
                </a:tc>
                <a:tc>
                  <a:txBody>
                    <a:bodyPr/>
                    <a:lstStyle/>
                    <a:p>
                      <a:r>
                        <a:rPr sz="850" b="0">
                          <a:solidFill>
                            <a:srgbClr val="4B4B4B"/>
                          </a:solidFill>
                          <a:latin typeface="Arial"/>
                        </a:rPr>
                        <a:t>Version / Status / Effective From / Effective To / Rate % / Package End / Request / Validated By / Change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Newest first; Draft, For validation, Released, Superseded, Expired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version yet.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Version</a:t>
                      </a:r>
                    </a:p>
                  </a:txBody>
                  <a:tcPr marL="54864" marR="54864" marT="27432" marB="27432">
                    <a:solidFill>
                      <a:srgbClr val="E5F5FF"/>
                    </a:solidFill>
                  </a:tcPr>
                </a:tc>
                <a:tc>
                  <a:txBody>
                    <a:bodyPr/>
                    <a:lstStyle/>
                    <a:p>
                      <a:r>
                        <a:rPr sz="850" b="0">
                          <a:solidFill>
                            <a:srgbClr val="4B4B4B"/>
                          </a:solidFill>
                          <a:latin typeface="Arial"/>
                        </a:rPr>
                        <a:t>What changes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Describe the change</a:t>
                      </a:r>
                    </a:p>
                  </a:txBody>
                  <a:tcPr marL="54864" marR="54864" marT="27432" marB="27432">
                    <a:solidFill>
                      <a:srgbClr val="E5F5FF"/>
                    </a:solidFill>
                  </a:tcPr>
                </a:tc>
              </a:tr>
              <a:tr h="1127752">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Features</a:t>
                      </a:r>
                    </a:p>
                  </a:txBody>
                  <a:tcPr marL="54864" marR="54864" marT="27432" marB="27432">
                    <a:solidFill>
                      <a:srgbClr val="FFFFFF"/>
                    </a:solidFill>
                  </a:tcPr>
                </a:tc>
                <a:tc>
                  <a:txBody>
                    <a:bodyPr/>
                    <a:lstStyle/>
                    <a:p>
                      <a:r>
                        <a:rPr sz="850" b="0">
                          <a:solidFill>
                            <a:srgbClr val="4B4B4B"/>
                          </a:solidFill>
                          <a:latin typeface="Arial"/>
                        </a:rPr>
                        <a:t>Line / Cover type / Risk items / Rating / Package / Package TSI limit / Fleet / Market segments / Mortgage related / Direct payment allowed / Multi-year / Free First Year / Placement after / Default rate % / Default commission % / Minimum premium / TSU review</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on the product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Field Rules &amp; Documents › Field matrix</a:t>
                      </a:r>
                    </a:p>
                  </a:txBody>
                  <a:tcPr marL="54864" marR="54864" marT="27432" marB="27432">
                    <a:solidFill>
                      <a:srgbClr val="E5F5FF"/>
                    </a:solidFill>
                  </a:tcPr>
                </a:tc>
                <a:tc>
                  <a:txBody>
                    <a:bodyPr/>
                    <a:lstStyle/>
                    <a:p>
                      <a:r>
                        <a:rPr sz="850" b="0">
                          <a:solidFill>
                            <a:srgbClr val="4B4B4B"/>
                          </a:solidFill>
                          <a:latin typeface="Arial"/>
                        </a:rPr>
                        <a:t>Level / Field / Key / Mandatory / Check / From</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Rules of all products, the line and the product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field rules apply.</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Field Rules &amp; Documents</a:t>
                      </a:r>
                    </a:p>
                  </a:txBody>
                  <a:tcPr marL="54864" marR="54864" marT="27432" marB="27432">
                    <a:solidFill>
                      <a:srgbClr val="FFFFFF"/>
                    </a:solidFill>
                  </a:tcPr>
                </a:tc>
                <a:tc>
                  <a:txBody>
                    <a:bodyPr/>
                    <a:lstStyle/>
                    <a:p>
                      <a:r>
                        <a:rPr sz="850" b="0">
                          <a:solidFill>
                            <a:srgbClr val="4B4B4B"/>
                          </a:solidFill>
                          <a:latin typeface="Arial"/>
                        </a:rPr>
                        <a:t>Documents required before submission</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Document types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document is required.</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Rule (field)</a:t>
                      </a:r>
                    </a:p>
                  </a:txBody>
                  <a:tcPr marL="54864" marR="54864" marT="27432" marB="27432">
                    <a:solidFill>
                      <a:srgbClr val="E5F5FF"/>
                    </a:solidFill>
                  </a:tcPr>
                </a:tc>
                <a:tc>
                  <a:txBody>
                    <a:bodyPr/>
                    <a:lstStyle/>
                    <a:p>
                      <a:r>
                        <a:rPr sz="850" b="0">
                          <a:solidFill>
                            <a:srgbClr val="4B4B4B"/>
                          </a:solidFill>
                          <a:latin typeface="Arial"/>
                        </a:rPr>
                        <a:t>Applies to</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Line, Product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Rules for every product use the scope code *</a:t>
                      </a:r>
                    </a:p>
                  </a:txBody>
                  <a:tcPr marL="54864" marR="54864" marT="27432" marB="27432">
                    <a:solidFill>
                      <a:srgbClr val="E5F5FF"/>
                    </a:solidFill>
                  </a:tcPr>
                </a:tc>
                <a:tc>
                  <a:txBody>
                    <a:bodyPr/>
                    <a:lstStyle/>
                    <a:p>
                      <a:r>
                        <a:rPr sz="850" b="0">
                          <a:solidFill>
                            <a:srgbClr val="4B4B4B"/>
                          </a:solidFill>
                          <a:latin typeface="Arial"/>
                        </a:rPr>
                        <a:t>Rules for every product use the scope code '*'</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Level</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Account or Risk item</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1" cy="171449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Field key / Label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Field key (one of several keys with a vertical bar) and its label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per scope</a:t>
                      </a:r>
                    </a:p>
                  </a:txBody>
                  <a:tcPr marL="54864" marR="54864" marT="27432" marB="27432">
                    <a:solidFill>
                      <a:srgbClr val="FFFFFF"/>
                    </a:solidFill>
                  </a:tcPr>
                </a:tc>
                <a:tc>
                  <a:txBody>
                    <a:bodyPr/>
                    <a:lstStyle/>
                    <a:p>
                      <a:r>
                        <a:rPr sz="850" b="0">
                          <a:solidFill>
                            <a:srgbClr val="4B4B4B"/>
                          </a:solidFill>
                          <a:latin typeface="Arial"/>
                        </a:rPr>
                        <a:t>Minimum-field rule already exists: &lt;key&gt;</a:t>
                      </a:r>
                    </a:p>
                  </a:txBody>
                  <a:tcPr marL="54864" marR="54864" marT="27432" marB="27432">
                    <a:solidFill>
                      <a:srgbClr val="FFFFFF"/>
                    </a:solidFill>
                  </a:tcPr>
                </a:tc>
              </a:tr>
              <a:tr h="350518">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New Rule (field)</a:t>
                      </a:r>
                    </a:p>
                  </a:txBody>
                  <a:tcPr marL="54864" marR="54864" marT="27432" marB="27432">
                    <a:solidFill>
                      <a:srgbClr val="E5F5FF"/>
                    </a:solidFill>
                  </a:tcPr>
                </a:tc>
                <a:tc>
                  <a:txBody>
                    <a:bodyPr/>
                    <a:lstStyle/>
                    <a:p>
                      <a:r>
                        <a:rPr sz="850" b="0">
                          <a:solidFill>
                            <a:srgbClr val="4B4B4B"/>
                          </a:solidFill>
                          <a:latin typeface="Arial"/>
                        </a:rPr>
                        <a:t>Check</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Presence only, List of values, Number range, Format (pattern)</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The parameters of the check are complete</a:t>
                      </a:r>
                    </a:p>
                  </a:txBody>
                  <a:tcPr marL="54864" marR="54864" marT="27432" marB="27432">
                    <a:solidFill>
                      <a:srgbClr val="E5F5FF"/>
                    </a:solidFill>
                  </a:tcPr>
                </a:tc>
                <a:tc>
                  <a:txBody>
                    <a:bodyPr/>
                    <a:lstStyle/>
                    <a:p>
                      <a:r>
                        <a:rPr sz="850" b="0">
                          <a:solidFill>
                            <a:srgbClr val="4B4B4B"/>
                          </a:solidFill>
                          <a:latin typeface="Arial"/>
                        </a:rPr>
                        <a:t>Complete the parameters of the &lt;type&gt; rule</a:t>
                      </a:r>
                    </a:p>
                  </a:txBody>
                  <a:tcPr marL="54864" marR="54864" marT="27432" marB="27432">
                    <a:solidFill>
                      <a:srgbClr val="E5F5FF"/>
                    </a:solidFill>
                  </a:tcPr>
                </a:tc>
              </a:tr>
              <a:tr h="350518">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New Rule (field)</a:t>
                      </a:r>
                    </a:p>
                  </a:txBody>
                  <a:tcPr marL="54864" marR="54864" marT="27432" marB="27432">
                    <a:solidFill>
                      <a:srgbClr val="FFFFFF"/>
                    </a:solidFill>
                  </a:tcPr>
                </a:tc>
                <a:tc>
                  <a:txBody>
                    <a:bodyPr/>
                    <a:lstStyle/>
                    <a:p>
                      <a:r>
                        <a:rPr sz="850" b="0">
                          <a:solidFill>
                            <a:srgbClr val="4B4B4B"/>
                          </a:solidFill>
                          <a:latin typeface="Arial"/>
                        </a:rPr>
                        <a:t>List of values / Minimum / Maximum / Pattern</a:t>
                      </a:r>
                    </a:p>
                  </a:txBody>
                  <a:tcPr marL="54864" marR="54864" marT="27432" marB="27432">
                    <a:solidFill>
                      <a:srgbClr val="FFFFFF"/>
                    </a:solidFill>
                  </a:tcPr>
                </a:tc>
                <a:tc>
                  <a:txBody>
                    <a:bodyPr/>
                    <a:lstStyle/>
                    <a:p>
                      <a:r>
                        <a:rPr sz="850" b="0">
                          <a:solidFill>
                            <a:srgbClr val="4B4B4B"/>
                          </a:solidFill>
                          <a:latin typeface="Arial"/>
                        </a:rPr>
                        <a:t>Text / Number</a:t>
                      </a:r>
                    </a:p>
                  </a:txBody>
                  <a:tcPr marL="54864" marR="54864" marT="27432" marB="27432">
                    <a:solidFill>
                      <a:srgbClr val="FFFFFF"/>
                    </a:solidFill>
                  </a:tcPr>
                </a:tc>
                <a:tc>
                  <a:txBody>
                    <a:bodyPr/>
                    <a:lstStyle/>
                    <a:p>
                      <a:r>
                        <a:rPr sz="850" b="0">
                          <a:solidFill>
                            <a:srgbClr val="4B4B4B"/>
                          </a:solidFill>
                          <a:latin typeface="Arial"/>
                        </a:rPr>
                        <a:t>List code; range; regular expression</a:t>
                      </a:r>
                    </a:p>
                  </a:txBody>
                  <a:tcPr marL="54864" marR="54864" marT="27432" marB="27432">
                    <a:solidFill>
                      <a:srgbClr val="FFFFFF"/>
                    </a:solidFill>
                  </a:tcPr>
                </a:tc>
                <a:tc>
                  <a:txBody>
                    <a:bodyPr/>
                    <a:lstStyle/>
                    <a:p>
                      <a:r>
                        <a:rPr sz="850" b="0">
                          <a:solidFill>
                            <a:srgbClr val="4B4B4B"/>
                          </a:solidFill>
                          <a:latin typeface="Arial"/>
                        </a:rPr>
                        <a:t>Cond.: by check</a:t>
                      </a:r>
                    </a:p>
                  </a:txBody>
                  <a:tcPr marL="54864" marR="54864" marT="27432" marB="27432">
                    <a:solidFill>
                      <a:srgbClr val="FFFFFF"/>
                    </a:solidFill>
                  </a:tcPr>
                </a:tc>
                <a:tc>
                  <a:txBody>
                    <a:bodyPr/>
                    <a:lstStyle/>
                    <a:p>
                      <a:r>
                        <a:rPr sz="850" b="0">
                          <a:solidFill>
                            <a:srgbClr val="4B4B4B"/>
                          </a:solidFill>
                          <a:latin typeface="Arial"/>
                        </a:rPr>
                        <a:t>Known list; valid pattern</a:t>
                      </a:r>
                    </a:p>
                  </a:txBody>
                  <a:tcPr marL="54864" marR="54864" marT="27432" marB="27432">
                    <a:solidFill>
                      <a:srgbClr val="FFFFFF"/>
                    </a:solidFill>
                  </a:tcPr>
                </a:tc>
                <a:tc>
                  <a:txBody>
                    <a:bodyPr/>
                    <a:lstStyle/>
                    <a:p>
                      <a:r>
                        <a:rPr sz="850" b="0">
                          <a:solidFill>
                            <a:srgbClr val="4B4B4B"/>
                          </a:solidFill>
                          <a:latin typeface="Arial"/>
                        </a:rPr>
                        <a:t>Unknown list of values &lt;lov type&gt;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New Rule (document)</a:t>
                      </a:r>
                    </a:p>
                  </a:txBody>
                  <a:tcPr marL="54864" marR="54864" marT="27432" marB="27432">
                    <a:solidFill>
                      <a:srgbClr val="E5F5FF"/>
                    </a:solidFill>
                  </a:tcPr>
                </a:tc>
                <a:tc>
                  <a:txBody>
                    <a:bodyPr/>
                    <a:lstStyle/>
                    <a:p>
                      <a:r>
                        <a:rPr sz="850" b="0">
                          <a:solidFill>
                            <a:srgbClr val="4B4B4B"/>
                          </a:solidFill>
                          <a:latin typeface="Arial"/>
                        </a:rPr>
                        <a:t>Document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Document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New Rule</a:t>
                      </a:r>
                    </a:p>
                  </a:txBody>
                  <a:tcPr marL="54864" marR="54864" marT="27432" marB="27432">
                    <a:solidFill>
                      <a:srgbClr val="FFFFFF"/>
                    </a:solidFill>
                  </a:tcPr>
                </a:tc>
                <a:tc>
                  <a:txBody>
                    <a:bodyPr/>
                    <a:lstStyle/>
                    <a:p>
                      <a:r>
                        <a:rPr sz="850" b="0">
                          <a:solidFill>
                            <a:srgbClr val="4B4B4B"/>
                          </a:solidFill>
                          <a:latin typeface="Arial"/>
                        </a:rPr>
                        <a:t>Mandatory</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PRODUCT_MAINTAIN or 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product dialog (as New product, code fixed);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As on Products</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Package product with a version in force and no version being set up</a:t>
                      </a:r>
                    </a:p>
                  </a:txBody>
                  <a:tcPr marL="54864" marR="54864" marT="27432" marB="27432">
                    <a:solidFill>
                      <a:srgbClr val="FFFFFF"/>
                    </a:solidFill>
                  </a:tcPr>
                </a:tc>
                <a:tc>
                  <a:txBody>
                    <a:bodyPr/>
                    <a:lstStyle/>
                    <a:p>
                      <a:r>
                        <a:rPr sz="850" b="0">
                          <a:solidFill>
                            <a:srgbClr val="4B4B4B"/>
                          </a:solidFill>
                          <a:latin typeface="Arial"/>
                        </a:rPr>
                        <a:t>Opens New Version; Create Draft copies the version in force into a new draft effective tomorrow and opens it</a:t>
                      </a:r>
                    </a:p>
                  </a:txBody>
                  <a:tcPr marL="54864" marR="54864" marT="27432" marB="27432">
                    <a:solidFill>
                      <a:srgbClr val="FFFFFF"/>
                    </a:solidFill>
                  </a:tcPr>
                </a:tc>
                <a:tc>
                  <a:txBody>
                    <a:bodyPr/>
                    <a:lstStyle/>
                    <a:p>
                      <a:r>
                        <a:rPr sz="850" b="0">
                          <a:solidFill>
                            <a:srgbClr val="4B4B4B"/>
                          </a:solidFill>
                          <a:latin typeface="Arial"/>
                        </a:rPr>
                        <a:t>Draft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Product Rule</a:t>
                      </a:r>
                    </a:p>
                  </a:txBody>
                  <a:tcPr marL="54864" marR="54864" marT="27432" marB="27432">
                    <a:solidFill>
                      <a:srgbClr val="E5F5FF"/>
                    </a:solidFill>
                  </a:tcPr>
                </a:tc>
                <a:tc>
                  <a:txBody>
                    <a:bodyPr/>
                    <a:lstStyle/>
                    <a:p>
                      <a:r>
                        <a:rPr sz="850" b="0">
                          <a:solidFill>
                            <a:srgbClr val="4B4B4B"/>
                          </a:solidFill>
                          <a:latin typeface="Arial"/>
                        </a:rPr>
                        <a:t>PRODUCT_MAINTAIN or MASTER_MAINTAIN</a:t>
                      </a:r>
                    </a:p>
                  </a:txBody>
                  <a:tcPr marL="54864" marR="54864" marT="27432" marB="27432">
                    <a:solidFill>
                      <a:srgbClr val="E5F5FF"/>
                    </a:solidFill>
                  </a:tcPr>
                </a:tc>
                <a:tc>
                  <a:txBody>
                    <a:bodyPr/>
                    <a:lstStyle/>
                    <a:p>
                      <a:r>
                        <a:rPr sz="850" b="0">
                          <a:solidFill>
                            <a:srgbClr val="4B4B4B"/>
                          </a:solidFill>
                          <a:latin typeface="Arial"/>
                        </a:rPr>
                        <a:t>Field Rules &amp; Documents tab</a:t>
                      </a:r>
                    </a:p>
                  </a:txBody>
                  <a:tcPr marL="54864" marR="54864" marT="27432" marB="27432">
                    <a:solidFill>
                      <a:srgbClr val="E5F5FF"/>
                    </a:solidFill>
                  </a:tcPr>
                </a:tc>
                <a:tc>
                  <a:txBody>
                    <a:bodyPr/>
                    <a:lstStyle/>
                    <a:p>
                      <a:r>
                        <a:rPr sz="850" b="0">
                          <a:solidFill>
                            <a:srgbClr val="4B4B4B"/>
                          </a:solidFill>
                          <a:latin typeface="Arial"/>
                        </a:rPr>
                        <a:t>Opens New Rule with the scope set to this product;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Open a version row</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Versions tab</a:t>
                      </a:r>
                    </a:p>
                  </a:txBody>
                  <a:tcPr marL="54864" marR="54864" marT="27432" marB="27432">
                    <a:solidFill>
                      <a:srgbClr val="FFFFFF"/>
                    </a:solidFill>
                  </a:tcPr>
                </a:tc>
                <a:tc>
                  <a:txBody>
                    <a:bodyPr/>
                    <a:lstStyle/>
                    <a:p>
                      <a:r>
                        <a:rPr sz="850" b="0">
                          <a:solidFill>
                            <a:srgbClr val="4B4B4B"/>
                          </a:solidFill>
                          <a:latin typeface="Arial"/>
                        </a:rPr>
                        <a:t>Opens the Package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non-package product has no versions; it is rated on the product rate (FR-PM-050).</a:t>
                      </a:r>
                    </a:p>
                  </a:txBody>
                  <a:tcPr marL="54864" marR="54864" marT="27432" marB="27432">
                    <a:solidFill>
                      <a:srgbClr val="FFFFFF"/>
                    </a:solidFill>
                  </a:tcPr>
                </a:tc>
              </a:tr>
              <a:tr h="243840">
                <a:tc>
                  <a:txBody>
                    <a:bodyPr/>
                    <a:lstStyle/>
                    <a:p>
                      <a:r>
                        <a:rPr sz="1000" b="0">
                          <a:solidFill>
                            <a:srgbClr val="4B4B4B"/>
                          </a:solidFill>
                          <a:latin typeface="Arial"/>
                        </a:rPr>
                        <a:t>A package has at most one version being set up (draft or for validation) at a time (FR-PM-042, FR-PM-050).</a:t>
                      </a:r>
                    </a:p>
                  </a:txBody>
                  <a:tcPr marL="54864" marR="54864" marT="27432" marB="27432">
                    <a:solidFill>
                      <a:srgbClr val="E5F5FF"/>
                    </a:solidFill>
                  </a:tcPr>
                </a:tc>
              </a:tr>
              <a:tr h="243840">
                <a:tc>
                  <a:txBody>
                    <a:bodyPr/>
                    <a:lstStyle/>
                    <a:p>
                      <a:r>
                        <a:rPr sz="1000" b="0">
                          <a:solidFill>
                            <a:srgbClr val="4B4B4B"/>
                          </a:solidFill>
                          <a:latin typeface="Arial"/>
                        </a:rPr>
                        <a:t>Every version is kept: superseded and expired versions stay readable with their validator and source request (FR-PM-050, FR-PM-005).</a:t>
                      </a:r>
                    </a:p>
                  </a:txBody>
                  <a:tcPr marL="54864" marR="54864" marT="27432" marB="27432">
                    <a:solidFill>
                      <a:srgbClr val="FFFFFF"/>
                    </a:solidFill>
                  </a:tcPr>
                </a:tc>
              </a:tr>
              <a:tr h="243840">
                <a:tc>
                  <a:txBody>
                    <a:bodyPr/>
                    <a:lstStyle/>
                    <a:p>
                      <a:r>
                        <a:rPr sz="1000" b="0">
                          <a:solidFill>
                            <a:srgbClr val="4B4B4B"/>
                          </a:solidFill>
                          <a:latin typeface="Arial"/>
                        </a:rPr>
                        <a:t>Field rules of all products, of the line and of the product apply together; the account checks refuse a missing or invalid value (FR-PM-012).</a:t>
                      </a:r>
                    </a:p>
                  </a:txBody>
                  <a:tcPr marL="54864" marR="54864" marT="27432" marB="27432">
                    <a:solidFill>
                      <a:srgbClr val="E5F5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66730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record of a package, Versions tab (part 1 of 2)</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21710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Product record of a package, Versions tab (part 2 of 2)</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2-02-new_version.png"/>
          <p:cNvPicPr>
            <a:picLocks noChangeAspect="1"/>
          </p:cNvPicPr>
          <p:nvPr/>
        </p:nvPicPr>
        <p:blipFill>
          <a:blip r:embed="rId3"/>
          <a:stretch>
            <a:fillRect/>
          </a:stretch>
        </p:blipFill>
        <p:spPr>
          <a:xfrm>
            <a:off x="548640" y="1261872"/>
            <a:ext cx="11094415" cy="329675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Version dialog</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1.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1 of 3)</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2 of 3)</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SCR-PM-12 Product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36248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Rules &amp; Documents tab (part 3 of 3)</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graphicFrame>
        <p:nvGraphicFramePr>
          <p:cNvPr id="10" name="Table 9"/>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version of a package: the rate scheme, dates and origin, the coverages and perils, the insurers of the panel with their role, share, rate and minimum premium, and the insurer terms per coverage with their clauses. MBS edits a draft and submits it for validation; the validator (TSU Head or Business Administrator, never the maker or submitter) confirms the checklist and releases it, or returns it to MBS with a reason. Released versions are read only and show who validated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Product › Package Version</a:t>
                      </a:r>
                    </a:p>
                    <a:p>
                      <a:r>
                        <a:rPr sz="950" b="0">
                          <a:solidFill>
                            <a:srgbClr val="4B4B4B"/>
                          </a:solidFill>
                          <a:latin typeface="Arial"/>
                        </a:rPr>
                        <a:t>Product record › Versions tab › a row</a:t>
                      </a:r>
                    </a:p>
                    <a:p>
                      <a:r>
                        <a:rPr sz="950" b="0">
                          <a:solidFill>
                            <a:srgbClr val="4B4B4B"/>
                          </a:solidFill>
                          <a:latin typeface="Arial"/>
                        </a:rPr>
                        <a:t>Product record › New Version</a:t>
                      </a:r>
                    </a:p>
                    <a:p>
                      <a:r>
                        <a:rPr sz="950" b="0">
                          <a:solidFill>
                            <a:srgbClr val="4B4B4B"/>
                          </a:solidFill>
                          <a:latin typeface="Arial"/>
                        </a:rPr>
                        <a:t>Package Request record › Set-up tab › Open Version Editor</a:t>
                      </a:r>
                    </a:p>
                    <a:p>
                      <a:r>
                        <a:rPr sz="950" b="0">
                          <a:solidFill>
                            <a:srgbClr val="4B4B4B"/>
                          </a:solidFill>
                          <a:latin typeface="Arial"/>
                        </a:rPr>
                        <a:t>Validation Queue ›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FR-PM-043, FR-PM-050, FR-PM-014, FR-PM-011, FR-PM-042</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package version is set up once, checked by a second person and released on its effective date; every earlier version stays on record.</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(11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bl>
          </a:graphicData>
        </a:graphic>
      </p:graphicFrame>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Product / Version</a:t>
                      </a:r>
                    </a:p>
                  </a:txBody>
                  <a:tcPr marL="54864" marR="54864" marT="27432" marB="27432">
                    <a:solidFill>
                      <a:srgbClr val="FFFFFF"/>
                    </a:solidFill>
                  </a:tcPr>
                </a:tc>
                <a:tc>
                  <a:txBody>
                    <a:bodyPr/>
                    <a:lstStyle/>
                    <a:p>
                      <a:r>
                        <a:rPr sz="850" b="0">
                          <a:solidFill>
                            <a:srgbClr val="4B4B4B"/>
                          </a:solidFill>
                          <a:latin typeface="Arial"/>
                        </a:rPr>
                        <a:t>Reference chip</a:t>
                      </a:r>
                    </a:p>
                  </a:txBody>
                  <a:tcPr marL="54864" marR="54864" marT="27432" marB="27432">
                    <a:solidFill>
                      <a:srgbClr val="FFFFFF"/>
                    </a:solidFill>
                  </a:tcPr>
                </a:tc>
                <a:tc>
                  <a:txBody>
                    <a:bodyPr/>
                    <a:lstStyle/>
                    <a:p>
                      <a:r>
                        <a:rPr sz="850" b="0">
                          <a:solidFill>
                            <a:srgbClr val="4B4B4B"/>
                          </a:solidFill>
                          <a:latin typeface="Arial"/>
                        </a:rPr>
                        <a:t>Risk code; version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Version status pill</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For validation, Released, Superseded, Expired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Effective / Package End / Rate % / Set Up By / ManCom Ref.</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 shows Per insurer when every insurer has its own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Package Request</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PKR-yyyy-nnnnnn of the request that produced the version, a link to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Rate Scheme</a:t>
                      </a:r>
                    </a:p>
                  </a:txBody>
                  <a:tcPr marL="54864" marR="54864" marT="27432" marB="27432">
                    <a:solidFill>
                      <a:srgbClr val="FFFFFF"/>
                    </a:solidFill>
                  </a:tcPr>
                </a:tc>
                <a:tc>
                  <a:txBody>
                    <a:bodyPr/>
                    <a:lstStyle/>
                    <a:p>
                      <a:r>
                        <a:rPr sz="850" b="0">
                          <a:solidFill>
                            <a:srgbClr val="4B4B4B"/>
                          </a:solidFill>
                          <a:latin typeface="Arial"/>
                        </a:rPr>
                        <a:t>Package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Up to four decimals; empty when every insurer has its own rate</a:t>
                      </a:r>
                    </a:p>
                  </a:txBody>
                  <a:tcPr marL="54864" marR="54864" marT="27432" marB="27432">
                    <a:solidFill>
                      <a:srgbClr val="FFFFFF"/>
                    </a:solidFill>
                  </a:tcPr>
                </a:tc>
                <a:tc>
                  <a:txBody>
                    <a:bodyPr/>
                    <a:lstStyle/>
                    <a:p>
                      <a:r>
                        <a:rPr sz="850" b="0">
                          <a:solidFill>
                            <a:srgbClr val="4B4B4B"/>
                          </a:solidFill>
                          <a:latin typeface="Arial"/>
                        </a:rPr>
                        <a:t>Cond.: or a rate for every insurer</a:t>
                      </a:r>
                    </a:p>
                  </a:txBody>
                  <a:tcPr marL="54864" marR="54864" marT="27432" marB="27432">
                    <a:solidFill>
                      <a:srgbClr val="FFFFFF"/>
                    </a:solidFill>
                  </a:tcPr>
                </a:tc>
                <a:tc>
                  <a:txBody>
                    <a:bodyPr/>
                    <a:lstStyle/>
                    <a:p>
                      <a:r>
                        <a:rPr sz="850" b="0">
                          <a:solidFill>
                            <a:srgbClr val="4B4B4B"/>
                          </a:solidFill>
                          <a:latin typeface="Arial"/>
                        </a:rPr>
                        <a:t>0 to 100; the package rate or a rate for every insurer</a:t>
                      </a:r>
                    </a:p>
                  </a:txBody>
                  <a:tcPr marL="54864" marR="54864" marT="27432" marB="27432">
                    <a:solidFill>
                      <a:srgbClr val="FFFFFF"/>
                    </a:solidFill>
                  </a:tcPr>
                </a:tc>
                <a:tc>
                  <a:txBody>
                    <a:bodyPr/>
                    <a:lstStyle/>
                    <a:p>
                      <a:r>
                        <a:rPr sz="850" b="0">
                          <a:solidFill>
                            <a:srgbClr val="4B4B4B"/>
                          </a:solidFill>
                          <a:latin typeface="Arial"/>
                        </a:rPr>
                        <a:t>Enter a rate between 0 and 100 / Enter the package rate or a rate for every insurer</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Rate Scheme</a:t>
                      </a:r>
                    </a:p>
                  </a:txBody>
                  <a:tcPr marL="54864" marR="54864" marT="27432" marB="27432">
                    <a:solidFill>
                      <a:srgbClr val="E5F5FF"/>
                    </a:solidFill>
                  </a:tcPr>
                </a:tc>
                <a:tc>
                  <a:txBody>
                    <a:bodyPr/>
                    <a:lstStyle/>
                    <a:p>
                      <a:r>
                        <a:rPr sz="850" b="0">
                          <a:solidFill>
                            <a:srgbClr val="4B4B4B"/>
                          </a:solidFill>
                          <a:latin typeface="Arial"/>
                        </a:rPr>
                        <a:t>Minimum Premium</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the minimum premium</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Rate Scheme</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Enter a commission between 0 and 100</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Rate Scheme</a:t>
                      </a:r>
                    </a:p>
                  </a:txBody>
                  <a:tcPr marL="54864" marR="54864" marT="27432" marB="27432">
                    <a:solidFill>
                      <a:srgbClr val="E5F5FF"/>
                    </a:solidFill>
                  </a:tcPr>
                </a:tc>
                <a:tc>
                  <a:txBody>
                    <a:bodyPr/>
                    <a:lstStyle/>
                    <a:p>
                      <a:r>
                        <a:rPr sz="850" b="0">
                          <a:solidFill>
                            <a:srgbClr val="4B4B4B"/>
                          </a:solidFill>
                          <a:latin typeface="Arial"/>
                        </a:rPr>
                        <a:t>Package TSI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Amount in PHP; above it TSU prices the risk</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a positive amount</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Dates</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Today or later; after the start of the version in force</a:t>
                      </a:r>
                    </a:p>
                  </a:txBody>
                  <a:tcPr marL="54864" marR="54864" marT="27432" marB="27432">
                    <a:solidFill>
                      <a:srgbClr val="FFFFFF"/>
                    </a:solidFill>
                  </a:tcPr>
                </a:tc>
                <a:tc>
                  <a:txBody>
                    <a:bodyPr/>
                    <a:lstStyle/>
                    <a:p>
                      <a:r>
                        <a:rPr sz="850" b="0">
                          <a:solidFill>
                            <a:srgbClr val="4B4B4B"/>
                          </a:solidFill>
                          <a:latin typeface="Arial"/>
                        </a:rPr>
                        <a:t>Enter the effective date / The effective date cannot be before today / The effective date must be after the start of version &lt;version no&gt;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Dates</a:t>
                      </a:r>
                    </a:p>
                  </a:txBody>
                  <a:tcPr marL="54864" marR="54864" marT="27432" marB="27432">
                    <a:solidFill>
                      <a:srgbClr val="E5F5FF"/>
                    </a:solidFill>
                  </a:tcPr>
                </a:tc>
                <a:tc>
                  <a:txBody>
                    <a:bodyPr/>
                    <a:lstStyle/>
                    <a:p>
                      <a:r>
                        <a:rPr sz="850" b="0">
                          <a:solidFill>
                            <a:srgbClr val="4B4B4B"/>
                          </a:solidFill>
                          <a:latin typeface="Arial"/>
                        </a:rPr>
                        <a:t>Package Start</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Dates</a:t>
                      </a:r>
                    </a:p>
                  </a:txBody>
                  <a:tcPr marL="54864" marR="54864" marT="27432" marB="27432">
                    <a:solidFill>
                      <a:srgbClr val="FFFFFF"/>
                    </a:solidFill>
                  </a:tcPr>
                </a:tc>
                <a:tc>
                  <a:txBody>
                    <a:bodyPr/>
                    <a:lstStyle/>
                    <a:p>
                      <a:r>
                        <a:rPr sz="850" b="0">
                          <a:solidFill>
                            <a:srgbClr val="4B4B4B"/>
                          </a:solidFill>
                          <a:latin typeface="Arial"/>
                        </a:rPr>
                        <a:t>Package End</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 expiry monitoring</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After the effective date</a:t>
                      </a:r>
                    </a:p>
                  </a:txBody>
                  <a:tcPr marL="54864" marR="54864" marT="27432" marB="27432">
                    <a:solidFill>
                      <a:srgbClr val="FFFFFF"/>
                    </a:solidFill>
                  </a:tcPr>
                </a:tc>
                <a:tc>
                  <a:txBody>
                    <a:bodyPr/>
                    <a:lstStyle/>
                    <a:p>
                      <a:r>
                        <a:rPr sz="850" b="0">
                          <a:solidFill>
                            <a:srgbClr val="4B4B4B"/>
                          </a:solidFill>
                          <a:latin typeface="Arial"/>
                        </a:rPr>
                        <a:t>The package end date must be after the effective date</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Dates</a:t>
                      </a:r>
                    </a:p>
                  </a:txBody>
                  <a:tcPr marL="54864" marR="54864" marT="27432" marB="27432">
                    <a:solidFill>
                      <a:srgbClr val="E5F5FF"/>
                    </a:solidFill>
                  </a:tcPr>
                </a:tc>
                <a:tc>
                  <a:txBody>
                    <a:bodyPr/>
                    <a:lstStyle/>
                    <a:p>
                      <a:r>
                        <a:rPr sz="850" b="0">
                          <a:solidFill>
                            <a:srgbClr val="4B4B4B"/>
                          </a:solidFill>
                          <a:latin typeface="Arial"/>
                        </a:rPr>
                        <a:t>Anniversary</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Change Summary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ManCom Sign-off Reference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MC-PKR-yyyy-nnnnnn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Origin</a:t>
                      </a:r>
                    </a:p>
                  </a:txBody>
                  <a:tcPr marL="54864" marR="54864" marT="27432" marB="27432">
                    <a:solidFill>
                      <a:srgbClr val="E5F5FF"/>
                    </a:solidFill>
                  </a:tcPr>
                </a:tc>
                <a:tc>
                  <a:txBody>
                    <a:bodyPr/>
                    <a:lstStyle/>
                    <a:p>
                      <a:r>
                        <a:rPr sz="850" b="0">
                          <a:solidFill>
                            <a:srgbClr val="4B4B4B"/>
                          </a:solidFill>
                          <a:latin typeface="Arial"/>
                        </a:rPr>
                        <a:t>Computation Basis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As agreed with the insurers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Coverages</a:t>
                      </a:r>
                    </a:p>
                  </a:txBody>
                  <a:tcPr marL="54864" marR="54864" marT="27432" marB="27432">
                    <a:solidFill>
                      <a:srgbClr val="FFFFFF"/>
                    </a:solidFill>
                  </a:tcPr>
                </a:tc>
                <a:tc>
                  <a:txBody>
                    <a:bodyPr/>
                    <a:lstStyle/>
                    <a:p>
                      <a:r>
                        <a:rPr sz="850" b="0">
                          <a:solidFill>
                            <a:srgbClr val="4B4B4B"/>
                          </a:solidFill>
                          <a:latin typeface="Arial"/>
                        </a:rPr>
                        <a:t>Coverage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Coverage name, with the Basic tag</a:t>
                      </a:r>
                    </a:p>
                  </a:txBody>
                  <a:tcPr marL="54864" marR="54864" marT="27432" marB="27432">
                    <a:solidFill>
                      <a:srgbClr val="FFFFFF"/>
                    </a:solidFill>
                  </a:tcPr>
                </a:tc>
                <a:tc>
                  <a:txBody>
                    <a:bodyPr/>
                    <a:lstStyle/>
                    <a:p>
                      <a:r>
                        <a:rPr sz="850" b="0">
                          <a:solidFill>
                            <a:srgbClr val="4B4B4B"/>
                          </a:solidFill>
                          <a:latin typeface="Arial"/>
                        </a:rPr>
                        <a:t>Y (at least one included)</a:t>
                      </a:r>
                    </a:p>
                  </a:txBody>
                  <a:tcPr marL="54864" marR="54864" marT="27432" marB="27432">
                    <a:solidFill>
                      <a:srgbClr val="FFFFFF"/>
                    </a:solidFill>
                  </a:tcPr>
                </a:tc>
                <a:tc>
                  <a:txBody>
                    <a:bodyPr/>
                    <a:lstStyle/>
                    <a:p>
                      <a:r>
                        <a:rPr sz="850" b="0">
                          <a:solidFill>
                            <a:srgbClr val="4B4B4B"/>
                          </a:solidFill>
                          <a:latin typeface="Arial"/>
                        </a:rPr>
                        <a:t>At least one included coverage; a basic coverage</a:t>
                      </a:r>
                    </a:p>
                  </a:txBody>
                  <a:tcPr marL="54864" marR="54864" marT="27432" marB="27432">
                    <a:solidFill>
                      <a:srgbClr val="FFFFFF"/>
                    </a:solidFill>
                  </a:tcPr>
                </a:tc>
                <a:tc>
                  <a:txBody>
                    <a:bodyPr/>
                    <a:lstStyle/>
                    <a:p>
                      <a:r>
                        <a:rPr sz="850" b="0">
                          <a:solidFill>
                            <a:srgbClr val="4B4B4B"/>
                          </a:solidFill>
                          <a:latin typeface="Arial"/>
                        </a:rPr>
                        <a:t>Include at least one coverage / The package needs its cover type and at least one included basic coverage</a:t>
                      </a:r>
                    </a:p>
                  </a:txBody>
                  <a:tcPr marL="54864" marR="54864" marT="27432" marB="27432">
                    <a:solidFill>
                      <a:srgbClr val="FFFFFF"/>
                    </a:solidFill>
                  </a:tcPr>
                </a:tc>
              </a:tr>
              <a:tr h="220979">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Coverages</a:t>
                      </a:r>
                    </a:p>
                  </a:txBody>
                  <a:tcPr marL="54864" marR="54864" marT="27432" marB="27432">
                    <a:solidFill>
                      <a:srgbClr val="E5F5FF"/>
                    </a:solidFill>
                  </a:tcPr>
                </a:tc>
                <a:tc>
                  <a:txBody>
                    <a:bodyPr/>
                    <a:lstStyle/>
                    <a:p>
                      <a:r>
                        <a:rPr sz="850" b="0">
                          <a:solidFill>
                            <a:srgbClr val="4B4B4B"/>
                          </a:solidFill>
                          <a:latin typeface="Arial"/>
                        </a:rPr>
                        <a:t>Included / Optional</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Coverages</a:t>
                      </a:r>
                    </a:p>
                  </a:txBody>
                  <a:tcPr marL="54864" marR="54864" marT="27432" marB="27432">
                    <a:solidFill>
                      <a:srgbClr val="FFFFFF"/>
                    </a:solidFill>
                  </a:tcPr>
                </a:tc>
                <a:tc>
                  <a:txBody>
                    <a:bodyPr/>
                    <a:lstStyle/>
                    <a:p>
                      <a:r>
                        <a:rPr sz="850" b="0">
                          <a:solidFill>
                            <a:srgbClr val="4B4B4B"/>
                          </a:solidFill>
                          <a:latin typeface="Arial"/>
                        </a:rPr>
                        <a:t>Limit / Deductible</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Amounts in PHP</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Coverages</a:t>
                      </a:r>
                    </a:p>
                  </a:txBody>
                  <a:tcPr marL="54864" marR="54864" marT="27432" marB="27432">
                    <a:solidFill>
                      <a:srgbClr val="E5F5FF"/>
                    </a:solidFill>
                  </a:tcPr>
                </a:tc>
                <a:tc>
                  <a:txBody>
                    <a:bodyPr/>
                    <a:lstStyle/>
                    <a:p>
                      <a:r>
                        <a:rPr sz="850" b="0">
                          <a:solidFill>
                            <a:srgbClr val="4B4B4B"/>
                          </a:solidFill>
                          <a:latin typeface="Arial"/>
                        </a:rPr>
                        <a:t>Add coverage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coverages of the line not yet added, (basic) marked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20</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Insurer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Insurer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Every insurer with terms is on the package</a:t>
                      </a:r>
                    </a:p>
                  </a:txBody>
                  <a:tcPr marL="54864" marR="54864" marT="27432" marB="27432">
                    <a:solidFill>
                      <a:srgbClr val="FFFFFF"/>
                    </a:solidFill>
                  </a:tcPr>
                </a:tc>
                <a:tc>
                  <a:txBody>
                    <a:bodyPr/>
                    <a:lstStyle/>
                    <a:p>
                      <a:r>
                        <a:rPr sz="850" b="0">
                          <a:solidFill>
                            <a:srgbClr val="4B4B4B"/>
                          </a:solidFill>
                          <a:latin typeface="Arial"/>
                        </a:rPr>
                        <a:t>Insurer &lt;insurer code&gt; has terms but is not on the package</a:t>
                      </a:r>
                    </a:p>
                  </a:txBody>
                  <a:tcPr marL="54864" marR="54864" marT="27432" marB="27432">
                    <a:solidFill>
                      <a:srgbClr val="FFFFFF"/>
                    </a:solidFill>
                  </a:tcPr>
                </a:tc>
              </a:tr>
              <a:tr h="220979">
                <a:tc>
                  <a:txBody>
                    <a:bodyPr/>
                    <a:lstStyle/>
                    <a:p>
                      <a:r>
                        <a:rPr sz="850" b="0">
                          <a:solidFill>
                            <a:srgbClr val="4B4B4B"/>
                          </a:solidFill>
                          <a:latin typeface="Arial"/>
                        </a:rPr>
                        <a:t>21</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Role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Panel, Lead, Participant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22</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Share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Co-insurance share</a:t>
                      </a:r>
                    </a:p>
                  </a:txBody>
                  <a:tcPr marL="54864" marR="54864" marT="27432" marB="27432">
                    <a:solidFill>
                      <a:srgbClr val="FFFFFF"/>
                    </a:solidFill>
                  </a:tcPr>
                </a:tc>
                <a:tc>
                  <a:txBody>
                    <a:bodyPr/>
                    <a:lstStyle/>
                    <a:p>
                      <a:r>
                        <a:rPr sz="850" b="0">
                          <a:solidFill>
                            <a:srgbClr val="4B4B4B"/>
                          </a:solidFill>
                          <a:latin typeface="Arial"/>
                        </a:rPr>
                        <a:t>Cond.: lead and participants</a:t>
                      </a:r>
                    </a:p>
                  </a:txBody>
                  <a:tcPr marL="54864" marR="54864" marT="27432" marB="27432">
                    <a:solidFill>
                      <a:srgbClr val="FFFFFF"/>
                    </a:solidFill>
                  </a:tcPr>
                </a:tc>
                <a:tc>
                  <a:txBody>
                    <a:bodyPr/>
                    <a:lstStyle/>
                    <a:p>
                      <a:r>
                        <a:rPr sz="850" b="0">
                          <a:solidFill>
                            <a:srgbClr val="4B4B4B"/>
                          </a:solidFill>
                          <a:latin typeface="Arial"/>
                        </a:rPr>
                        <a:t>0 to 100; lead and participant shares total 100%</a:t>
                      </a:r>
                    </a:p>
                  </a:txBody>
                  <a:tcPr marL="54864" marR="54864" marT="27432" marB="27432">
                    <a:solidFill>
                      <a:srgbClr val="FFFFFF"/>
                    </a:solidFill>
                  </a:tcPr>
                </a:tc>
                <a:tc>
                  <a:txBody>
                    <a:bodyPr/>
                    <a:lstStyle/>
                    <a:p>
                      <a:r>
                        <a:rPr sz="850" b="0">
                          <a:solidFill>
                            <a:srgbClr val="4B4B4B"/>
                          </a:solidFill>
                          <a:latin typeface="Arial"/>
                        </a:rPr>
                        <a:t>Enter a share between 0 and 100 / The co-insurance shares must add up to 100%</a:t>
                      </a:r>
                    </a:p>
                  </a:txBody>
                  <a:tcPr marL="54864" marR="54864" marT="27432" marB="27432">
                    <a:solidFill>
                      <a:srgbClr val="FFFFFF"/>
                    </a:solidFill>
                  </a:tcPr>
                </a:tc>
              </a:tr>
              <a:tr h="739135">
                <a:tc>
                  <a:txBody>
                    <a:bodyPr/>
                    <a:lstStyle/>
                    <a:p>
                      <a:r>
                        <a:rPr sz="850" b="0">
                          <a:solidFill>
                            <a:srgbClr val="4B4B4B"/>
                          </a:solidFill>
                          <a:latin typeface="Arial"/>
                        </a:rPr>
                        <a:t>23</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Rate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Insurer's own rate; wins over the package rate</a:t>
                      </a:r>
                    </a:p>
                  </a:txBody>
                  <a:tcPr marL="54864" marR="54864" marT="27432" marB="27432">
                    <a:solidFill>
                      <a:srgbClr val="E5F5FF"/>
                    </a:solidFill>
                  </a:tcPr>
                </a:tc>
                <a:tc>
                  <a:txBody>
                    <a:bodyPr/>
                    <a:lstStyle/>
                    <a:p>
                      <a:r>
                        <a:rPr sz="850" b="0">
                          <a:solidFill>
                            <a:srgbClr val="4B4B4B"/>
                          </a:solidFill>
                          <a:latin typeface="Arial"/>
                        </a:rPr>
                        <a:t>Cond.: when there is no package rate</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Enter a rate between 0 and 100</a:t>
                      </a:r>
                    </a:p>
                  </a:txBody>
                  <a:tcPr marL="54864" marR="54864" marT="27432" marB="27432">
                    <a:solidFill>
                      <a:srgbClr val="E5F5FF"/>
                    </a:solidFill>
                  </a:tcPr>
                </a:tc>
              </a:tr>
              <a:tr h="220979">
                <a:tc>
                  <a:txBody>
                    <a:bodyPr/>
                    <a:lstStyle/>
                    <a:p>
                      <a:r>
                        <a:rPr sz="850" b="0">
                          <a:solidFill>
                            <a:srgbClr val="4B4B4B"/>
                          </a:solidFill>
                          <a:latin typeface="Arial"/>
                        </a:rPr>
                        <a:t>24</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Minimum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Insurer's own minimum premium</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Zero or more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25</a:t>
                      </a:r>
                    </a:p>
                  </a:txBody>
                  <a:tcPr marL="54864" marR="54864" marT="27432" marB="27432">
                    <a:solidFill>
                      <a:srgbClr val="E5F5FF"/>
                    </a:solidFill>
                  </a:tcPr>
                </a:tc>
                <a:tc>
                  <a:txBody>
                    <a:bodyPr/>
                    <a:lstStyle/>
                    <a:p>
                      <a:r>
                        <a:rPr sz="850" b="0">
                          <a:solidFill>
                            <a:srgbClr val="4B4B4B"/>
                          </a:solidFill>
                          <a:latin typeface="Arial"/>
                        </a:rPr>
                        <a:t>Insurers</a:t>
                      </a:r>
                    </a:p>
                  </a:txBody>
                  <a:tcPr marL="54864" marR="54864" marT="27432" marB="27432">
                    <a:solidFill>
                      <a:srgbClr val="E5F5FF"/>
                    </a:solidFill>
                  </a:tcPr>
                </a:tc>
                <a:tc>
                  <a:txBody>
                    <a:bodyPr/>
                    <a:lstStyle/>
                    <a:p>
                      <a:r>
                        <a:rPr sz="850" b="0">
                          <a:solidFill>
                            <a:srgbClr val="4B4B4B"/>
                          </a:solidFill>
                          <a:latin typeface="Arial"/>
                        </a:rPr>
                        <a:t>Add 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insurers not yet on the panel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26</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Insurer / Coverage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row per panel insurer and included coverage</a:t>
                      </a:r>
                    </a:p>
                  </a:txBody>
                  <a:tcPr marL="54864" marR="54864" marT="27432" marB="27432">
                    <a:solidFill>
                      <a:srgbClr val="FFFFFF"/>
                    </a:solidFill>
                  </a:tcPr>
                </a:tc>
                <a:tc>
                  <a:txBody>
                    <a:bodyPr/>
                    <a:lstStyle/>
                    <a:p>
                      <a:r>
                        <a:rPr sz="850" b="0">
                          <a:solidFill>
                            <a:srgbClr val="4B4B4B"/>
                          </a:solidFill>
                          <a:latin typeface="Arial"/>
                        </a:rPr>
                        <a:t>Y (every pair)</a:t>
                      </a:r>
                    </a:p>
                  </a:txBody>
                  <a:tcPr marL="54864" marR="54864" marT="27432" marB="27432">
                    <a:solidFill>
                      <a:srgbClr val="FFFFFF"/>
                    </a:solidFill>
                  </a:tcPr>
                </a:tc>
                <a:tc>
                  <a:txBody>
                    <a:bodyPr/>
                    <a:lstStyle/>
                    <a:p>
                      <a:r>
                        <a:rPr sz="850" b="0">
                          <a:solidFill>
                            <a:srgbClr val="4B4B4B"/>
                          </a:solidFill>
                          <a:latin typeface="Arial"/>
                        </a:rPr>
                        <a:t>Every panel insurer has terms for each included coverage</a:t>
                      </a:r>
                    </a:p>
                  </a:txBody>
                  <a:tcPr marL="54864" marR="54864" marT="27432" marB="27432">
                    <a:solidFill>
                      <a:srgbClr val="FFFFFF"/>
                    </a:solidFill>
                  </a:tcPr>
                </a:tc>
                <a:tc>
                  <a:txBody>
                    <a:bodyPr/>
                    <a:lstStyle/>
                    <a:p>
                      <a:r>
                        <a:rPr sz="850" b="0">
                          <a:solidFill>
                            <a:srgbClr val="4B4B4B"/>
                          </a:solidFill>
                          <a:latin typeface="Arial"/>
                        </a:rPr>
                        <a:t>Insurer &lt;insurer code&gt; has no terms for coverage &lt;coverage&gt;</a:t>
                      </a:r>
                    </a:p>
                  </a:txBody>
                  <a:tcPr marL="54864" marR="54864" marT="27432" marB="27432">
                    <a:solidFill>
                      <a:srgbClr val="FFFFFF"/>
                    </a:solidFill>
                  </a:tcPr>
                </a:tc>
              </a:tr>
            </a:tbl>
          </a:graphicData>
        </a:graphic>
      </p:graphicFrame>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SCR-PM-13 fields and columns (No. = callout on the first image)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graphicFrame>
        <p:nvGraphicFramePr>
          <p:cNvPr id="9" name="Table 8"/>
          <p:cNvGraphicFramePr>
            <a:graphicFrameLocks noGrp="1"/>
          </p:cNvGraphicFramePr>
          <p:nvPr/>
        </p:nvGraphicFramePr>
        <p:xfrm>
          <a:off x="548640" y="1325880"/>
          <a:ext cx="11094411" cy="42290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27</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Covered</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28</a:t>
                      </a:r>
                    </a:p>
                  </a:txBody>
                  <a:tcPr marL="54864" marR="54864" marT="27432" marB="27432">
                    <a:solidFill>
                      <a:srgbClr val="E5F5FF"/>
                    </a:solidFill>
                  </a:tcPr>
                </a:tc>
                <a:tc>
                  <a:txBody>
                    <a:bodyPr/>
                    <a:lstStyle/>
                    <a:p>
                      <a:r>
                        <a:rPr sz="850" b="0">
                          <a:solidFill>
                            <a:srgbClr val="4B4B4B"/>
                          </a:solidFill>
                          <a:latin typeface="Arial"/>
                        </a:rPr>
                        <a:t>Insurer Terms</a:t>
                      </a:r>
                    </a:p>
                  </a:txBody>
                  <a:tcPr marL="54864" marR="54864" marT="27432" marB="27432">
                    <a:solidFill>
                      <a:srgbClr val="E5F5FF"/>
                    </a:solidFill>
                  </a:tcPr>
                </a:tc>
                <a:tc>
                  <a:txBody>
                    <a:bodyPr/>
                    <a:lstStyle/>
                    <a:p>
                      <a:r>
                        <a:rPr sz="850" b="0">
                          <a:solidFill>
                            <a:srgbClr val="4B4B4B"/>
                          </a:solidFill>
                          <a:latin typeface="Arial"/>
                        </a:rPr>
                        <a:t>Limit / Deductible / Deductible Wording</a:t>
                      </a:r>
                    </a:p>
                  </a:txBody>
                  <a:tcPr marL="54864" marR="54864" marT="27432" marB="27432">
                    <a:solidFill>
                      <a:srgbClr val="E5F5FF"/>
                    </a:solidFill>
                  </a:tcPr>
                </a:tc>
                <a:tc>
                  <a:txBody>
                    <a:bodyPr/>
                    <a:lstStyle/>
                    <a:p>
                      <a:r>
                        <a:rPr sz="850" b="0">
                          <a:solidFill>
                            <a:srgbClr val="4B4B4B"/>
                          </a:solidFill>
                          <a:latin typeface="Arial"/>
                        </a:rPr>
                        <a:t>Number / Text</a:t>
                      </a:r>
                    </a:p>
                  </a:txBody>
                  <a:tcPr marL="54864" marR="54864" marT="27432" marB="27432">
                    <a:solidFill>
                      <a:srgbClr val="E5F5FF"/>
                    </a:solidFill>
                  </a:tcPr>
                </a:tc>
                <a:tc>
                  <a:txBody>
                    <a:bodyPr/>
                    <a:lstStyle/>
                    <a:p>
                      <a:r>
                        <a:rPr sz="850" b="0">
                          <a:solidFill>
                            <a:srgbClr val="4B4B4B"/>
                          </a:solidFill>
                          <a:latin typeface="Arial"/>
                        </a:rPr>
                        <a:t>Amounts in PHP; wording</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29</a:t>
                      </a:r>
                    </a:p>
                  </a:txBody>
                  <a:tcPr marL="54864" marR="54864" marT="27432" marB="27432">
                    <a:solidFill>
                      <a:srgbClr val="FFFFFF"/>
                    </a:solidFill>
                  </a:tcPr>
                </a:tc>
                <a:tc>
                  <a:txBody>
                    <a:bodyPr/>
                    <a:lstStyle/>
                    <a:p>
                      <a:r>
                        <a:rPr sz="850" b="0">
                          <a:solidFill>
                            <a:srgbClr val="4B4B4B"/>
                          </a:solidFill>
                          <a:latin typeface="Arial"/>
                        </a:rPr>
                        <a:t>Insurer Terms</a:t>
                      </a:r>
                    </a:p>
                  </a:txBody>
                  <a:tcPr marL="54864" marR="54864" marT="27432" marB="27432">
                    <a:solidFill>
                      <a:srgbClr val="FFFFFF"/>
                    </a:solidFill>
                  </a:tcPr>
                </a:tc>
                <a:tc>
                  <a:txBody>
                    <a:bodyPr/>
                    <a:lstStyle/>
                    <a:p>
                      <a:r>
                        <a:rPr sz="850" b="0">
                          <a:solidFill>
                            <a:srgbClr val="4B4B4B"/>
                          </a:solidFill>
                          <a:latin typeface="Arial"/>
                        </a:rPr>
                        <a:t>Clauses</a:t>
                      </a:r>
                    </a:p>
                  </a:txBody>
                  <a:tcPr marL="54864" marR="54864" marT="27432" marB="27432">
                    <a:solidFill>
                      <a:srgbClr val="FFFFFF"/>
                    </a:solidFill>
                  </a:tcPr>
                </a:tc>
                <a:tc>
                  <a:txBody>
                    <a:bodyPr/>
                    <a:lstStyle/>
                    <a:p>
                      <a:r>
                        <a:rPr sz="850" b="0">
                          <a:solidFill>
                            <a:srgbClr val="4B4B4B"/>
                          </a:solidFill>
                          <a:latin typeface="Arial"/>
                        </a:rPr>
                        <a:t>Multi-select</a:t>
                      </a:r>
                    </a:p>
                  </a:txBody>
                  <a:tcPr marL="54864" marR="54864" marT="27432" marB="27432">
                    <a:solidFill>
                      <a:srgbClr val="FFFFFF"/>
                    </a:solidFill>
                  </a:tcPr>
                </a:tc>
                <a:tc>
                  <a:txBody>
                    <a:bodyPr/>
                    <a:lstStyle/>
                    <a:p>
                      <a:r>
                        <a:rPr sz="850" b="0">
                          <a:solidFill>
                            <a:srgbClr val="4B4B4B"/>
                          </a:solidFill>
                          <a:latin typeface="Arial"/>
                        </a:rPr>
                        <a:t>Active clauses of the line or of every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Active clauses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998213">
                <a:tc>
                  <a:txBody>
                    <a:bodyPr/>
                    <a:lstStyle/>
                    <a:p>
                      <a:r>
                        <a:rPr sz="850" b="0">
                          <a:solidFill>
                            <a:srgbClr val="4B4B4B"/>
                          </a:solidFill>
                          <a:latin typeface="Arial"/>
                        </a:rPr>
                        <a:t>30</a:t>
                      </a:r>
                    </a:p>
                  </a:txBody>
                  <a:tcPr marL="54864" marR="54864" marT="27432" marB="27432">
                    <a:solidFill>
                      <a:srgbClr val="E5F5FF"/>
                    </a:solidFill>
                  </a:tcPr>
                </a:tc>
                <a:tc>
                  <a:txBody>
                    <a:bodyPr/>
                    <a:lstStyle/>
                    <a:p>
                      <a:r>
                        <a:rPr sz="850" b="0">
                          <a:solidFill>
                            <a:srgbClr val="4B4B4B"/>
                          </a:solidFill>
                          <a:latin typeface="Arial"/>
                        </a:rPr>
                        <a:t>Validation Checklist</a:t>
                      </a:r>
                    </a:p>
                  </a:txBody>
                  <a:tcPr marL="54864" marR="54864" marT="27432" marB="27432">
                    <a:solidFill>
                      <a:srgbClr val="E5F5FF"/>
                    </a:solidFill>
                  </a:tcPr>
                </a:tc>
                <a:tc>
                  <a:txBody>
                    <a:bodyPr/>
                    <a:lstStyle/>
                    <a:p>
                      <a:r>
                        <a:rPr sz="850" b="0">
                          <a:solidFill>
                            <a:srgbClr val="4B4B4B"/>
                          </a:solidFill>
                          <a:latin typeface="Arial"/>
                        </a:rPr>
                        <a:t>Hierarchy complete: cover type and basic coverage / Every panel insurer has terms for each included coverage / Rates and minimum premiums match the signed-off terms / Dates and package term are correct / Test premium reviewed</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Every item</a:t>
                      </a:r>
                    </a:p>
                  </a:txBody>
                  <a:tcPr marL="54864" marR="54864" marT="27432" marB="27432">
                    <a:solidFill>
                      <a:srgbClr val="E5F5FF"/>
                    </a:solidFill>
                  </a:tcPr>
                </a:tc>
                <a:tc>
                  <a:txBody>
                    <a:bodyPr/>
                    <a:lstStyle/>
                    <a:p>
                      <a:r>
                        <a:rPr sz="850" b="0">
                          <a:solidFill>
                            <a:srgbClr val="4B4B4B"/>
                          </a:solidFill>
                          <a:latin typeface="Arial"/>
                        </a:rPr>
                        <a:t>Y (all five)</a:t>
                      </a:r>
                    </a:p>
                  </a:txBody>
                  <a:tcPr marL="54864" marR="54864" marT="27432" marB="27432">
                    <a:solidFill>
                      <a:srgbClr val="E5F5FF"/>
                    </a:solidFill>
                  </a:tcPr>
                </a:tc>
                <a:tc>
                  <a:txBody>
                    <a:bodyPr/>
                    <a:lstStyle/>
                    <a:p>
                      <a:r>
                        <a:rPr sz="850" b="0">
                          <a:solidFill>
                            <a:srgbClr val="4B4B4B"/>
                          </a:solidFill>
                          <a:latin typeface="Arial"/>
                        </a:rPr>
                        <a:t>Every item confirmed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31</a:t>
                      </a:r>
                    </a:p>
                  </a:txBody>
                  <a:tcPr marL="54864" marR="54864" marT="27432" marB="27432">
                    <a:solidFill>
                      <a:srgbClr val="FFFFFF"/>
                    </a:solidFill>
                  </a:tcPr>
                </a:tc>
                <a:tc>
                  <a:txBody>
                    <a:bodyPr/>
                    <a:lstStyle/>
                    <a:p>
                      <a:r>
                        <a:rPr sz="850" b="0">
                          <a:solidFill>
                            <a:srgbClr val="4B4B4B"/>
                          </a:solidFill>
                          <a:latin typeface="Arial"/>
                        </a:rPr>
                        <a:t>Validation</a:t>
                      </a:r>
                    </a:p>
                  </a:txBody>
                  <a:tcPr marL="54864" marR="54864" marT="27432" marB="27432">
                    <a:solidFill>
                      <a:srgbClr val="FFFFFF"/>
                    </a:solidFill>
                  </a:tcPr>
                </a:tc>
                <a:tc>
                  <a:txBody>
                    <a:bodyPr/>
                    <a:lstStyle/>
                    <a:p>
                      <a:r>
                        <a:rPr sz="850" b="0">
                          <a:solidFill>
                            <a:srgbClr val="4B4B4B"/>
                          </a:solidFill>
                          <a:latin typeface="Arial"/>
                        </a:rPr>
                        <a:t>Result / Validated By / Validated On / Test Premium / Return Reason</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Passed or Returned pill; validator's name; dd-MMM-yyyy HH:mm; PHP amount; the reason when returned (Returned By / Returned 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1127752">
                <a:tc>
                  <a:txBody>
                    <a:bodyPr/>
                    <a:lstStyle/>
                    <a:p>
                      <a:r>
                        <a:rPr sz="850" b="0">
                          <a:solidFill>
                            <a:srgbClr val="4B4B4B"/>
                          </a:solidFill>
                          <a:latin typeface="Arial"/>
                        </a:rPr>
                        <a:t>32</a:t>
                      </a:r>
                    </a:p>
                  </a:txBody>
                  <a:tcPr marL="54864" marR="54864" marT="27432" marB="27432">
                    <a:solidFill>
                      <a:srgbClr val="E5F5FF"/>
                    </a:solidFill>
                  </a:tcPr>
                </a:tc>
                <a:tc>
                  <a:txBody>
                    <a:bodyPr/>
                    <a:lstStyle/>
                    <a:p>
                      <a:r>
                        <a:rPr sz="850" b="0">
                          <a:solidFill>
                            <a:srgbClr val="4B4B4B"/>
                          </a:solidFill>
                          <a:latin typeface="Arial"/>
                        </a:rPr>
                        <a:t>Validation</a:t>
                      </a:r>
                    </a:p>
                  </a:txBody>
                  <a:tcPr marL="54864" marR="54864" marT="27432" marB="27432">
                    <a:solidFill>
                      <a:srgbClr val="E5F5FF"/>
                    </a:solidFill>
                  </a:tcPr>
                </a:tc>
                <a:tc>
                  <a:txBody>
                    <a:bodyPr/>
                    <a:lstStyle/>
                    <a:p>
                      <a:r>
                        <a:rPr sz="850" b="0">
                          <a:solidFill>
                            <a:srgbClr val="4B4B4B"/>
                          </a:solidFill>
                          <a:latin typeface="Arial"/>
                        </a:rPr>
                        <a:t># / Check / Result / Details</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check: hierarchy, insurer terms, co-insurance shares, rates and minimum premiums, dates and package term, test premium; Passed, Failed or Not Applicable with the figures compared (for example 3 of 3 insurers have terms for 2 included coverages)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33</a:t>
                      </a:r>
                    </a:p>
                  </a:txBody>
                  <a:tcPr marL="54864" marR="54864" marT="27432" marB="27432">
                    <a:solidFill>
                      <a:srgbClr val="FFFFFF"/>
                    </a:solidFill>
                  </a:tcPr>
                </a:tc>
                <a:tc>
                  <a:txBody>
                    <a:bodyPr/>
                    <a:lstStyle/>
                    <a:p>
                      <a:r>
                        <a:rPr sz="850" b="0">
                          <a:solidFill>
                            <a:srgbClr val="4B4B4B"/>
                          </a:solidFill>
                          <a:latin typeface="Arial"/>
                        </a:rPr>
                        <a:t>Return Version to MBS</a:t>
                      </a:r>
                    </a:p>
                  </a:txBody>
                  <a:tcPr marL="54864" marR="54864" marT="27432" marB="27432">
                    <a:solidFill>
                      <a:srgbClr val="FFFFFF"/>
                    </a:solidFill>
                  </a:tcPr>
                </a:tc>
                <a:tc>
                  <a:txBody>
                    <a:bodyPr/>
                    <a:lstStyle/>
                    <a:p>
                      <a:r>
                        <a:rPr sz="850" b="0">
                          <a:solidFill>
                            <a:srgbClr val="4B4B4B"/>
                          </a:solidFill>
                          <a:latin typeface="Arial"/>
                        </a:rPr>
                        <a:t>Return reason / Comment</a:t>
                      </a:r>
                    </a:p>
                  </a:txBody>
                  <a:tcPr marL="54864" marR="54864" marT="27432" marB="27432">
                    <a:solidFill>
                      <a:srgbClr val="FFFFFF"/>
                    </a:solidFill>
                  </a:tcPr>
                </a:tc>
                <a:tc>
                  <a:txBody>
                    <a:bodyPr/>
                    <a:lstStyle/>
                    <a:p>
                      <a:r>
                        <a:rPr sz="850" b="0">
                          <a:solidFill>
                            <a:srgbClr val="4B4B4B"/>
                          </a:solidFill>
                          <a:latin typeface="Arial"/>
                        </a:rPr>
                        <a:t>Drop-down / Text</a:t>
                      </a:r>
                    </a:p>
                  </a:txBody>
                  <a:tcPr marL="54864" marR="54864" marT="27432" marB="27432">
                    <a:solidFill>
                      <a:srgbClr val="FFFFFF"/>
                    </a:solidFill>
                  </a:tcPr>
                </a:tc>
                <a:tc>
                  <a:txBody>
                    <a:bodyPr/>
                    <a:lstStyle/>
                    <a:p>
                      <a:r>
                        <a:rPr sz="850" b="0">
                          <a:solidFill>
                            <a:srgbClr val="4B4B4B"/>
                          </a:solidFill>
                          <a:latin typeface="Arial"/>
                        </a:rPr>
                        <a:t>Return reason list; free text</a:t>
                      </a:r>
                    </a:p>
                  </a:txBody>
                  <a:tcPr marL="54864" marR="54864" marT="27432" marB="27432">
                    <a:solidFill>
                      <a:srgbClr val="FFFFFF"/>
                    </a:solidFill>
                  </a:tcPr>
                </a:tc>
                <a:tc>
                  <a:txBody>
                    <a:bodyPr/>
                    <a:lstStyle/>
                    <a:p>
                      <a:r>
                        <a:rPr sz="850" b="0">
                          <a:solidFill>
                            <a:srgbClr val="4B4B4B"/>
                          </a:solidFill>
                          <a:latin typeface="Arial"/>
                        </a:rPr>
                        <a:t>Y (reason)</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 of the return</a:t>
                      </a:r>
                    </a:p>
                  </a:txBody>
                  <a:tcPr marL="54864" marR="54864" marT="27432" marB="27432">
                    <a:solidFill>
                      <a:srgbClr val="FFFFFF"/>
                    </a:solidFill>
                  </a:tcPr>
                </a:tc>
              </a:tr>
            </a:tbl>
          </a:graphicData>
        </a:graphic>
      </p:graphicFrame>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Save Draft</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Checks the fields and saves the whole draft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Submit for Validation</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Draft; no field message</a:t>
                      </a:r>
                    </a:p>
                  </a:txBody>
                  <a:tcPr marL="54864" marR="54864" marT="27432" marB="27432">
                    <a:solidFill>
                      <a:srgbClr val="E5F5FF"/>
                    </a:solidFill>
                  </a:tcPr>
                </a:tc>
                <a:tc>
                  <a:txBody>
                    <a:bodyPr/>
                    <a:lstStyle/>
                    <a:p>
                      <a:r>
                        <a:rPr sz="850" b="0">
                          <a:solidFill>
                            <a:srgbClr val="4B4B4B"/>
                          </a:solidFill>
                          <a:latin typeface="Arial"/>
                        </a:rPr>
                        <a:t>Saves the draft and checks completeness (cover type and basic coverage, insurer terms for every included coverage, shares, rate, dates)</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Validate and Release</a:t>
                      </a:r>
                    </a:p>
                  </a:txBody>
                  <a:tcPr marL="54864" marR="54864" marT="27432" marB="27432">
                    <a:solidFill>
                      <a:srgbClr val="FFFFFF"/>
                    </a:solidFill>
                  </a:tcPr>
                </a:tc>
                <a:tc>
                  <a:txBody>
                    <a:bodyPr/>
                    <a:lstStyle/>
                    <a:p>
                      <a:r>
                        <a:rPr sz="850" b="0">
                          <a:solidFill>
                            <a:srgbClr val="4B4B4B"/>
                          </a:solidFill>
                          <a:latin typeface="Arial"/>
                        </a:rPr>
                        <a:t>TSU Head or Business Administrator (PRODUCT_VALIDATE), not the maker or the submitter</a:t>
                      </a:r>
                    </a:p>
                  </a:txBody>
                  <a:tcPr marL="54864" marR="54864" marT="27432" marB="27432">
                    <a:solidFill>
                      <a:srgbClr val="FFFFFF"/>
                    </a:solidFill>
                  </a:tcPr>
                </a:tc>
                <a:tc>
                  <a:txBody>
                    <a:bodyPr/>
                    <a:lstStyle/>
                    <a:p>
                      <a:r>
                        <a:rPr sz="850" b="0">
                          <a:solidFill>
                            <a:srgbClr val="4B4B4B"/>
                          </a:solidFill>
                          <a:latin typeface="Arial"/>
                        </a:rPr>
                        <a:t>For validation; every checklist item ticked</a:t>
                      </a:r>
                    </a:p>
                  </a:txBody>
                  <a:tcPr marL="54864" marR="54864" marT="27432" marB="27432">
                    <a:solidFill>
                      <a:srgbClr val="FFFFFF"/>
                    </a:solidFill>
                  </a:tcPr>
                </a:tc>
                <a:tc>
                  <a:txBody>
                    <a:bodyPr/>
                    <a:lstStyle/>
                    <a:p>
                      <a:r>
                        <a:rPr sz="850" b="0">
                          <a:solidFill>
                            <a:srgbClr val="4B4B4B"/>
                          </a:solidFill>
                          <a:latin typeface="Arial"/>
                        </a:rPr>
                        <a:t>Computes the test premium, releases the version and ends the previous version the day before; releases the source request, drafts its advisory and, for a new package, authorises the product</a:t>
                      </a:r>
                    </a:p>
                  </a:txBody>
                  <a:tcPr marL="54864" marR="54864" marT="27432" marB="27432">
                    <a:solidFill>
                      <a:srgbClr val="FFFFFF"/>
                    </a:solidFill>
                  </a:tcPr>
                </a:tc>
                <a:tc>
                  <a:txBody>
                    <a:bodyPr/>
                    <a:lstStyle/>
                    <a:p>
                      <a:r>
                        <a:rPr sz="850" b="0">
                          <a:solidFill>
                            <a:srgbClr val="4B4B4B"/>
                          </a:solidFill>
                          <a:latin typeface="Arial"/>
                        </a:rPr>
                        <a:t>Released</a:t>
                      </a:r>
                    </a:p>
                  </a:txBody>
                  <a:tcPr marL="54864" marR="54864" marT="27432" marB="27432">
                    <a:solidFill>
                      <a:srgbClr val="FFFFFF"/>
                    </a:solidFill>
                  </a:tcPr>
                </a:tc>
                <a:tc>
                  <a:txBody>
                    <a:bodyPr/>
                    <a:lstStyle/>
                    <a:p>
                      <a:r>
                        <a:rPr sz="850" b="0">
                          <a:solidFill>
                            <a:srgbClr val="4B4B4B"/>
                          </a:solidFill>
                          <a:latin typeface="Arial"/>
                        </a:rPr>
                        <a:t>Package available notice to Marketing (NT-02)</a:t>
                      </a:r>
                    </a:p>
                  </a:txBody>
                  <a:tcPr marL="54864" marR="54864" marT="27432" marB="27432">
                    <a:solidFill>
                      <a:srgbClr val="FFFFFF"/>
                    </a:solidFill>
                  </a:tcPr>
                </a:tc>
              </a:tr>
              <a:tr h="350518">
                <a:tc>
                  <a:txBody>
                    <a:bodyPr/>
                    <a:lstStyle/>
                    <a:p>
                      <a:r>
                        <a:rPr sz="850" b="0">
                          <a:solidFill>
                            <a:srgbClr val="4B4B4B"/>
                          </a:solidFill>
                          <a:latin typeface="Arial"/>
                        </a:rPr>
                        <a:t>Return to MBS</a:t>
                      </a:r>
                    </a:p>
                  </a:txBody>
                  <a:tcPr marL="54864" marR="54864" marT="27432" marB="27432">
                    <a:solidFill>
                      <a:srgbClr val="E5F5FF"/>
                    </a:solidFill>
                  </a:tcPr>
                </a:tc>
                <a:tc>
                  <a:txBody>
                    <a:bodyPr/>
                    <a:lstStyle/>
                    <a:p>
                      <a:r>
                        <a:rPr sz="850" b="0">
                          <a:solidFill>
                            <a:srgbClr val="4B4B4B"/>
                          </a:solidFill>
                          <a:latin typeface="Arial"/>
                        </a:rPr>
                        <a:t>As Validate and Release</a:t>
                      </a:r>
                    </a:p>
                  </a:txBody>
                  <a:tcPr marL="54864" marR="54864" marT="27432" marB="27432">
                    <a:solidFill>
                      <a:srgbClr val="E5F5FF"/>
                    </a:solidFill>
                  </a:tcPr>
                </a:tc>
                <a:tc>
                  <a:txBody>
                    <a:bodyPr/>
                    <a:lstStyle/>
                    <a:p>
                      <a:r>
                        <a:rPr sz="850" b="0">
                          <a:solidFill>
                            <a:srgbClr val="4B4B4B"/>
                          </a:solidFill>
                          <a:latin typeface="Arial"/>
                        </a:rPr>
                        <a:t>For validation</a:t>
                      </a:r>
                    </a:p>
                  </a:txBody>
                  <a:tcPr marL="54864" marR="54864" marT="27432" marB="27432">
                    <a:solidFill>
                      <a:srgbClr val="E5F5FF"/>
                    </a:solidFill>
                  </a:tcPr>
                </a:tc>
                <a:tc>
                  <a:txBody>
                    <a:bodyPr/>
                    <a:lstStyle/>
                    <a:p>
                      <a:r>
                        <a:rPr sz="850" b="0">
                          <a:solidFill>
                            <a:srgbClr val="4B4B4B"/>
                          </a:solidFill>
                          <a:latin typeface="Arial"/>
                        </a:rPr>
                        <a:t>Opens Return Version n to MBS; Return sends the version back to draft with the reason, and the request back to MBS</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Workflow notice on the request</a:t>
                      </a:r>
                    </a:p>
                  </a:txBody>
                  <a:tcPr marL="54864" marR="54864" marT="27432" marB="27432">
                    <a:solidFill>
                      <a:srgbClr val="E5F5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5" cy="21640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draft is invisible to rating; only a released version prices new business (FR-PM-050, FR-PM-051).</a:t>
                      </a:r>
                    </a:p>
                  </a:txBody>
                  <a:tcPr marL="54864" marR="54864" marT="27432" marB="27432">
                    <a:solidFill>
                      <a:srgbClr val="FFFFFF"/>
                    </a:solidFill>
                  </a:tcPr>
                </a:tc>
              </a:tr>
              <a:tr h="396240">
                <a:tc>
                  <a:txBody>
                    <a:bodyPr/>
                    <a:lstStyle/>
                    <a:p>
                      <a:r>
                        <a:rPr sz="1000" b="0">
                          <a:solidFill>
                            <a:srgbClr val="4B4B4B"/>
                          </a:solidFill>
                          <a:latin typeface="Arial"/>
                        </a:rPr>
                        <a:t>Submission needs the cover type and at least one included basic coverage, terms for every panel insurer on every included coverage, the package rate or a rate for every insurer, co-insurance shares totalling 100%, an effective date today or later and after the start of the version in force, and a package end after the effective date (FR-PM-043, FR-PM-014).</a:t>
                      </a:r>
                    </a:p>
                  </a:txBody>
                  <a:tcPr marL="54864" marR="54864" marT="27432" marB="27432">
                    <a:solidFill>
                      <a:srgbClr val="E5F5FF"/>
                    </a:solidFill>
                  </a:tcPr>
                </a:tc>
              </a:tr>
              <a:tr h="243840">
                <a:tc>
                  <a:txBody>
                    <a:bodyPr/>
                    <a:lstStyle/>
                    <a:p>
                      <a:r>
                        <a:rPr sz="1000" b="0">
                          <a:solidFill>
                            <a:srgbClr val="4B4B4B"/>
                          </a:solidFill>
                          <a:latin typeface="Arial"/>
                        </a:rPr>
                        <a:t>The validator is never the maker or the submitter of the version; the validator confirms the five checklist items and a test premium is computed (FR-PM-043).</a:t>
                      </a:r>
                    </a:p>
                  </a:txBody>
                  <a:tcPr marL="54864" marR="54864" marT="27432" marB="27432">
                    <a:solidFill>
                      <a:srgbClr val="FFFFFF"/>
                    </a:solidFill>
                  </a:tcPr>
                </a:tc>
              </a:tr>
              <a:tr h="396240">
                <a:tc>
                  <a:txBody>
                    <a:bodyPr/>
                    <a:lstStyle/>
                    <a:p>
                      <a:r>
                        <a:rPr sz="1000" b="0">
                          <a:solidFill>
                            <a:srgbClr val="4B4B4B"/>
                          </a:solidFill>
                          <a:latin typeface="Arial"/>
                        </a:rPr>
                        <a:t>At release and at return BIBS records each check with its result (Passed, Failed or Not Applicable) and the figures compared, with the validator, the time and, for a return, the reason; the Validation card shows them until the version is submitted again (FR-PM-043).</a:t>
                      </a:r>
                    </a:p>
                  </a:txBody>
                  <a:tcPr marL="54864" marR="54864" marT="27432" marB="27432">
                    <a:solidFill>
                      <a:srgbClr val="E5F5FF"/>
                    </a:solidFill>
                  </a:tcPr>
                </a:tc>
              </a:tr>
              <a:tr h="396240">
                <a:tc>
                  <a:txBody>
                    <a:bodyPr/>
                    <a:lstStyle/>
                    <a:p>
                      <a:r>
                        <a:rPr sz="1000" b="0">
                          <a:solidFill>
                            <a:srgbClr val="4B4B4B"/>
                          </a:solidFill>
                          <a:latin typeface="Arial"/>
                        </a:rPr>
                        <a:t>On release the previous version ends the day before the new one takes effect and becomes Superseded; a version whose package end has passed without a renewal becomes Expired and the product is no longer sold (FR-PM-050, FR-PM-052).</a:t>
                      </a:r>
                    </a:p>
                  </a:txBody>
                  <a:tcPr marL="54864" marR="54864" marT="27432" marB="27432">
                    <a:solidFill>
                      <a:srgbClr val="FFFFFF"/>
                    </a:solidFill>
                  </a:tcPr>
                </a:tc>
              </a:tr>
              <a:tr h="243840">
                <a:tc>
                  <a:txBody>
                    <a:bodyPr/>
                    <a:lstStyle/>
                    <a:p>
                      <a:r>
                        <a:rPr sz="1000" b="0">
                          <a:solidFill>
                            <a:srgbClr val="4B4B4B"/>
                          </a:solidFill>
                          <a:latin typeface="Arial"/>
                        </a:rPr>
                        <a:t>An insurer's own rate and minimum premium win over the package's; a package with a panel is placed only with its panel insurers (FR-PM-014, FR-PM-051).</a:t>
                      </a:r>
                    </a:p>
                  </a:txBody>
                  <a:tcPr marL="54864" marR="54864" marT="27432" marB="27432">
                    <a:solidFill>
                      <a:srgbClr val="E5F5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3" cy="178308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Validation error</a:t>
                      </a:r>
                    </a:p>
                  </a:txBody>
                  <a:tcPr marL="54864" marR="54864" marT="27432" marB="27432">
                    <a:solidFill>
                      <a:srgbClr val="FFFFFF"/>
                    </a:solidFill>
                  </a:tcPr>
                </a:tc>
                <a:tc>
                  <a:txBody>
                    <a:bodyPr/>
                    <a:lstStyle/>
                    <a:p>
                      <a:r>
                        <a:rPr sz="900" b="0">
                          <a:solidFill>
                            <a:srgbClr val="4B4B4B"/>
                          </a:solidFill>
                          <a:latin typeface="Arial"/>
                        </a:rPr>
                        <a:t>WT-B step 10</a:t>
                      </a:r>
                    </a:p>
                  </a:txBody>
                  <a:tcPr marL="54864" marR="54864" marT="27432" marB="27432">
                    <a:solidFill>
                      <a:srgbClr val="FFFFFF"/>
                    </a:solidFill>
                  </a:tcPr>
                </a:tc>
                <a:tc>
                  <a:txBody>
                    <a:bodyPr/>
                    <a:lstStyle/>
                    <a:p>
                      <a:r>
                        <a:rPr sz="900" b="0">
                          <a:solidFill>
                            <a:srgbClr val="4B4B4B"/>
                          </a:solidFill>
                          <a:latin typeface="Arial"/>
                        </a:rPr>
                        <a:t>Opens MTR12 version 2, clears the minimum premium and sets an effective date before today, then clicks Submit for Validation</a:t>
                      </a:r>
                    </a:p>
                  </a:txBody>
                  <a:tcPr marL="54864" marR="54864" marT="27432" marB="27432">
                    <a:solidFill>
                      <a:srgbClr val="FFFFFF"/>
                    </a:solidFill>
                  </a:tcPr>
                </a:tc>
                <a:tc>
                  <a:txBody>
                    <a:bodyPr/>
                    <a:lstStyle/>
                    <a:p>
                      <a:r>
                        <a:rPr sz="900" b="0">
                          <a:solidFill>
                            <a:srgbClr val="4B4B4B"/>
                          </a:solidFill>
                          <a:latin typeface="Arial"/>
                        </a:rPr>
                        <a:t>SCR-PM-13_wt-b-step-10.png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16</a:t>
                      </a:r>
                    </a:p>
                  </a:txBody>
                  <a:tcPr marL="54864" marR="54864" marT="27432" marB="27432">
                    <a:solidFill>
                      <a:srgbClr val="E5F5FF"/>
                    </a:solidFill>
                  </a:tcPr>
                </a:tc>
                <a:tc>
                  <a:txBody>
                    <a:bodyPr/>
                    <a:lstStyle/>
                    <a:p>
                      <a:r>
                        <a:rPr sz="900" b="0">
                          <a:solidFill>
                            <a:srgbClr val="4B4B4B"/>
                          </a:solidFill>
                          <a:latin typeface="Arial"/>
                        </a:rPr>
                        <a:t>Clicks Open Version Editor, adds the clause FLEET_REPAIR on the insurer terms, saves and clicks Submit for Validation</a:t>
                      </a:r>
                    </a:p>
                  </a:txBody>
                  <a:tcPr marL="54864" marR="54864" marT="27432" marB="27432">
                    <a:solidFill>
                      <a:srgbClr val="E5F5FF"/>
                    </a:solidFill>
                  </a:tcPr>
                </a:tc>
                <a:tc>
                  <a:txBody>
                    <a:bodyPr/>
                    <a:lstStyle/>
                    <a:p>
                      <a:r>
                        <a:rPr sz="900" b="0">
                          <a:solidFill>
                            <a:srgbClr val="4B4B4B"/>
                          </a:solidFill>
                          <a:latin typeface="Arial"/>
                        </a:rPr>
                        <a:t>SCR-PM-13_wt-a-step-16.png</a:t>
                      </a:r>
                    </a:p>
                  </a:txBody>
                  <a:tcPr marL="54864" marR="54864" marT="27432" marB="27432">
                    <a:solidFill>
                      <a:srgbClr val="E5F5FF"/>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17</a:t>
                      </a:r>
                    </a:p>
                  </a:txBody>
                  <a:tcPr marL="54864" marR="54864" marT="27432" marB="27432">
                    <a:solidFill>
                      <a:srgbClr val="FFFFFF"/>
                    </a:solidFill>
                  </a:tcPr>
                </a:tc>
                <a:tc>
                  <a:txBody>
                    <a:bodyPr/>
                    <a:lstStyle/>
                    <a:p>
                      <a:r>
                        <a:rPr sz="900" b="0">
                          <a:solidFill>
                            <a:srgbClr val="4B4B4B"/>
                          </a:solidFill>
                          <a:latin typeface="Arial"/>
                        </a:rPr>
                        <a:t>Opens the version from the Validation Queue, ticks the five checklist items and clicks Validate and Release</a:t>
                      </a:r>
                    </a:p>
                  </a:txBody>
                  <a:tcPr marL="54864" marR="54864" marT="27432" marB="27432">
                    <a:solidFill>
                      <a:srgbClr val="FFFFFF"/>
                    </a:solidFill>
                  </a:tcPr>
                </a:tc>
                <a:tc>
                  <a:txBody>
                    <a:bodyPr/>
                    <a:lstStyle/>
                    <a:p>
                      <a:r>
                        <a:rPr sz="900" b="0">
                          <a:solidFill>
                            <a:srgbClr val="4B4B4B"/>
                          </a:solidFill>
                          <a:latin typeface="Arial"/>
                        </a:rPr>
                        <a:t>SCR-PM-13_wt-a-step-17.png</a:t>
                      </a:r>
                    </a:p>
                  </a:txBody>
                  <a:tcPr marL="54864" marR="54864" marT="27432" marB="27432">
                    <a:solidFill>
                      <a:srgbClr val="FFFFFF"/>
                    </a:solidFill>
                  </a:tcPr>
                </a:tc>
              </a:tr>
              <a:tr h="228600">
                <a:tc>
                  <a:txBody>
                    <a:bodyPr/>
                    <a:lstStyle/>
                    <a:p>
                      <a:r>
                        <a:rPr sz="900" b="0">
                          <a:solidFill>
                            <a:srgbClr val="4B4B4B"/>
                          </a:solidFill>
                          <a:latin typeface="Arial"/>
                        </a:rPr>
                        <a:t>Rejected or returned</a:t>
                      </a:r>
                    </a:p>
                  </a:txBody>
                  <a:tcPr marL="54864" marR="54864" marT="27432" marB="27432">
                    <a:solidFill>
                      <a:srgbClr val="E5F5FF"/>
                    </a:solidFill>
                  </a:tcPr>
                </a:tc>
                <a:tc>
                  <a:txBody>
                    <a:bodyPr/>
                    <a:lstStyle/>
                    <a:p>
                      <a:r>
                        <a:rPr sz="900" b="0">
                          <a:solidFill>
                            <a:srgbClr val="4B4B4B"/>
                          </a:solidFill>
                          <a:latin typeface="Arial"/>
                        </a:rPr>
                        <a:t>WT-B step 11</a:t>
                      </a:r>
                    </a:p>
                  </a:txBody>
                  <a:tcPr marL="54864" marR="54864" marT="27432" marB="27432">
                    <a:solidFill>
                      <a:srgbClr val="E5F5FF"/>
                    </a:solidFill>
                  </a:tcPr>
                </a:tc>
                <a:tc>
                  <a:txBody>
                    <a:bodyPr/>
                    <a:lstStyle/>
                    <a:p>
                      <a:r>
                        <a:rPr sz="900" b="0">
                          <a:solidFill>
                            <a:srgbClr val="4B4B4B"/>
                          </a:solidFill>
                          <a:latin typeface="Arial"/>
                        </a:rPr>
                        <a:t>Opens the submitted MTR12 version 2 and clicks Return to MBS with the reason</a:t>
                      </a:r>
                    </a:p>
                  </a:txBody>
                  <a:tcPr marL="54864" marR="54864" marT="27432" marB="27432">
                    <a:solidFill>
                      <a:srgbClr val="E5F5FF"/>
                    </a:solidFill>
                  </a:tcPr>
                </a:tc>
                <a:tc>
                  <a:txBody>
                    <a:bodyPr/>
                    <a:lstStyle/>
                    <a:p>
                      <a:r>
                        <a:rPr sz="900" b="0">
                          <a:solidFill>
                            <a:srgbClr val="4B4B4B"/>
                          </a:solidFill>
                          <a:latin typeface="Arial"/>
                        </a:rPr>
                        <a:t>SCR-PM-13_wt-b-step-11.png</a:t>
                      </a:r>
                    </a:p>
                  </a:txBody>
                  <a:tcPr marL="54864" marR="54864" marT="27432" marB="27432">
                    <a:solidFill>
                      <a:srgbClr val="E5F5FF"/>
                    </a:solidFill>
                  </a:tcPr>
                </a:tc>
              </a:tr>
              <a:tr h="228600">
                <a:tc>
                  <a:txBody>
                    <a:bodyPr/>
                    <a:lstStyle/>
                    <a:p>
                      <a:r>
                        <a:rPr sz="900" b="0">
                          <a:solidFill>
                            <a:srgbClr val="4B4B4B"/>
                          </a:solidFill>
                          <a:latin typeface="Arial"/>
                        </a:rPr>
                        <a:t>Rejected or returned</a:t>
                      </a:r>
                    </a:p>
                  </a:txBody>
                  <a:tcPr marL="54864" marR="54864" marT="27432" marB="27432">
                    <a:solidFill>
                      <a:srgbClr val="FFFFFF"/>
                    </a:solidFill>
                  </a:tcPr>
                </a:tc>
                <a:tc>
                  <a:txBody>
                    <a:bodyPr/>
                    <a:lstStyle/>
                    <a:p>
                      <a:r>
                        <a:rPr sz="900" b="0">
                          <a:solidFill>
                            <a:srgbClr val="4B4B4B"/>
                          </a:solidFill>
                          <a:latin typeface="Arial"/>
                        </a:rPr>
                        <a:t>WT-B step 12</a:t>
                      </a:r>
                    </a:p>
                  </a:txBody>
                  <a:tcPr marL="54864" marR="54864" marT="27432" marB="27432">
                    <a:solidFill>
                      <a:srgbClr val="FFFFFF"/>
                    </a:solidFill>
                  </a:tcPr>
                </a:tc>
                <a:tc>
                  <a:txBody>
                    <a:bodyPr/>
                    <a:lstStyle/>
                    <a:p>
                      <a:r>
                        <a:rPr sz="900" b="0">
                          <a:solidFill>
                            <a:srgbClr val="4B4B4B"/>
                          </a:solidFill>
                          <a:latin typeface="Arial"/>
                        </a:rPr>
                        <a:t>Opens MTR12 version 2</a:t>
                      </a:r>
                    </a:p>
                  </a:txBody>
                  <a:tcPr marL="54864" marR="54864" marT="27432" marB="27432">
                    <a:solidFill>
                      <a:srgbClr val="FFFFFF"/>
                    </a:solidFill>
                  </a:tcPr>
                </a:tc>
                <a:tc>
                  <a:txBody>
                    <a:bodyPr/>
                    <a:lstStyle/>
                    <a:p>
                      <a:r>
                        <a:rPr sz="900" b="0">
                          <a:solidFill>
                            <a:srgbClr val="4B4B4B"/>
                          </a:solidFill>
                          <a:latin typeface="Arial"/>
                        </a:rPr>
                        <a:t>SCR-PM-13_wt-b-step-12.png</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4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1 of 3)</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4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2 of 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46.png"/>
          <p:cNvPicPr>
            <a:picLocks noChangeAspect="1"/>
          </p:cNvPicPr>
          <p:nvPr/>
        </p:nvPicPr>
        <p:blipFill>
          <a:blip r:embed="rId3"/>
          <a:stretch>
            <a:fillRect/>
          </a:stretch>
        </p:blipFill>
        <p:spPr>
          <a:xfrm>
            <a:off x="548640" y="1261872"/>
            <a:ext cx="11094415" cy="109987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Draft version of the MTR12 package, Rate Scheme &amp; Dates tab (part 3 of 3)</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tab of the draft (part 1 of 2)</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8.png"/>
          <p:cNvPicPr>
            <a:picLocks noChangeAspect="1"/>
          </p:cNvPicPr>
          <p:nvPr/>
        </p:nvPicPr>
        <p:blipFill>
          <a:blip r:embed="rId3"/>
          <a:stretch>
            <a:fillRect/>
          </a:stretch>
        </p:blipFill>
        <p:spPr>
          <a:xfrm>
            <a:off x="548640" y="1261872"/>
            <a:ext cx="11094415" cy="33283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tab of the draft (part 2 of 2)</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1 of 3)</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2 of 3)</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SCR-PM-13 Package Version: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1.png"/>
          <p:cNvPicPr>
            <a:picLocks noChangeAspect="1"/>
          </p:cNvPicPr>
          <p:nvPr/>
        </p:nvPicPr>
        <p:blipFill>
          <a:blip r:embed="rId3"/>
          <a:stretch>
            <a:fillRect/>
          </a:stretch>
        </p:blipFill>
        <p:spPr>
          <a:xfrm>
            <a:off x="548640" y="1261872"/>
            <a:ext cx="11094415" cy="21901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Terms tab: terms and clauses per insurer and coverage (part 3 of 3)</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2.png"/>
          <p:cNvPicPr>
            <a:picLocks noChangeAspect="1"/>
          </p:cNvPicPr>
          <p:nvPr/>
        </p:nvPicPr>
        <p:blipFill>
          <a:blip r:embed="rId3"/>
          <a:stretch>
            <a:fillRect/>
          </a:stretch>
        </p:blipFill>
        <p:spPr>
          <a:xfrm>
            <a:off x="548640" y="1261872"/>
            <a:ext cx="11094415" cy="47350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1 of 3)</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3.png"/>
          <p:cNvPicPr>
            <a:picLocks noChangeAspect="1"/>
          </p:cNvPicPr>
          <p:nvPr/>
        </p:nvPicPr>
        <p:blipFill>
          <a:blip r:embed="rId3"/>
          <a:stretch>
            <a:fillRect/>
          </a:stretch>
        </p:blipFill>
        <p:spPr>
          <a:xfrm>
            <a:off x="548640" y="1261872"/>
            <a:ext cx="11094415" cy="46305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2 of 3)</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9887407"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0" name="Picture 9" descr="slice-00154.png"/>
          <p:cNvPicPr>
            <a:picLocks noChangeAspect="1"/>
          </p:cNvPicPr>
          <p:nvPr/>
        </p:nvPicPr>
        <p:blipFill>
          <a:blip r:embed="rId3"/>
          <a:stretch>
            <a:fillRect/>
          </a:stretch>
        </p:blipFill>
        <p:spPr>
          <a:xfrm>
            <a:off x="548640" y="1261872"/>
            <a:ext cx="11094415" cy="15862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Field messages of the version form (part 3 of 3)</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5.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1 of 4)</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2 of 4)</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3 of 4)</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371539"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1" name="Picture 10" descr="slice-00158.png"/>
          <p:cNvPicPr>
            <a:picLocks noChangeAspect="1"/>
          </p:cNvPicPr>
          <p:nvPr/>
        </p:nvPicPr>
        <p:blipFill>
          <a:blip r:embed="rId3"/>
          <a:stretch>
            <a:fillRect/>
          </a:stretch>
        </p:blipFill>
        <p:spPr>
          <a:xfrm>
            <a:off x="548640" y="1261872"/>
            <a:ext cx="11094415" cy="174067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Released version: header with the package request, and the Validation card with the checks (part 4 of 4)</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5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1 of 3)</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60.png"/>
          <p:cNvPicPr>
            <a:picLocks noChangeAspect="1"/>
          </p:cNvPicPr>
          <p:nvPr/>
        </p:nvPicPr>
        <p:blipFill>
          <a:blip r:embed="rId3"/>
          <a:stretch>
            <a:fillRect/>
          </a:stretch>
        </p:blipFill>
        <p:spPr>
          <a:xfrm>
            <a:off x="548640" y="1261872"/>
            <a:ext cx="11094415" cy="460035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2 of 3)</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SCR-PM-13 Package Version: Pending approval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CHG-PM-2.0-02</a:t>
            </a:r>
          </a:p>
        </p:txBody>
      </p:sp>
      <p:sp>
        <p:nvSpPr>
          <p:cNvPr id="10" name="Rounded Rectangle 9"/>
          <p:cNvSpPr/>
          <p:nvPr/>
        </p:nvSpPr>
        <p:spPr>
          <a:xfrm>
            <a:off x="6632143"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1" name="Picture 10" descr="slice-00161.png"/>
          <p:cNvPicPr>
            <a:picLocks noChangeAspect="1"/>
          </p:cNvPicPr>
          <p:nvPr/>
        </p:nvPicPr>
        <p:blipFill>
          <a:blip r:embed="rId3"/>
          <a:stretch>
            <a:fillRect/>
          </a:stretch>
        </p:blipFill>
        <p:spPr>
          <a:xfrm>
            <a:off x="548640" y="1261872"/>
            <a:ext cx="11094415" cy="289793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Checklist of the TSU Head (part 3 of 3)</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Validation Queue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3810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package versions submitted by MBS that wait for the post-set-up validation, oldest first, with their age. A row opens the version with its checklist.</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TSU Head, Business Administrator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Validation Queue</a:t>
                      </a:r>
                    </a:p>
                    <a:p>
                      <a:r>
                        <a:rPr sz="950" b="0">
                          <a:solidFill>
                            <a:srgbClr val="4B4B4B"/>
                          </a:solidFill>
                          <a:latin typeface="Arial"/>
                        </a:rPr>
                        <a:t>Sidebar entry Validation Queue</a:t>
                      </a:r>
                    </a:p>
                    <a:p>
                      <a:r>
                        <a:rPr sz="950" b="0">
                          <a:solidFill>
                            <a:srgbClr val="4B4B4B"/>
                          </a:solidFill>
                          <a:latin typeface="Arial"/>
                        </a:rPr>
                        <a:t>Product Maintenance Home › Versions for validation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FR-PM-043</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No submitted version waits unseen; the validator works the oldest first.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1" cy="167639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Search Product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Product / Name / Version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Risk code, product name, v&lt;n&gt;, For validation pill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package version waits for validation.</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Request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PKR-yyyy-nnnnnn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Submitted By / Submitted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User;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Age (days)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Whole days since the submission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Open a row</a:t>
                      </a:r>
                    </a:p>
                  </a:txBody>
                  <a:tcPr marL="54864" marR="54864" marT="27432" marB="27432">
                    <a:solidFill>
                      <a:srgbClr val="FFFFFF"/>
                    </a:solidFill>
                  </a:tcPr>
                </a:tc>
                <a:tc>
                  <a:txBody>
                    <a:bodyPr/>
                    <a:lstStyle/>
                    <a:p>
                      <a:r>
                        <a:rPr sz="850" b="0">
                          <a:solidFill>
                            <a:srgbClr val="4B4B4B"/>
                          </a:solidFill>
                          <a:latin typeface="Arial"/>
                        </a:rPr>
                        <a:t>TSU Head, Business Administrator (PRODUCT_VALIDATE)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Package Version with the Validation Checklist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25880"/>
          <a:ext cx="11094415" cy="4876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users who validate package versions see the queue; a version they set up or submitted is shown but cannot be validated by them (FR-PM-043).</a:t>
                      </a:r>
                    </a:p>
                  </a:txBody>
                  <a:tcPr marL="54864" marR="54864" marT="27432" marB="27432">
                    <a:solidFill>
                      <a:srgbClr val="FFFF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SCR-PM-14 Validation Queue: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14-01-list.png"/>
          <p:cNvPicPr>
            <a:picLocks noChangeAspect="1"/>
          </p:cNvPicPr>
          <p:nvPr/>
        </p:nvPicPr>
        <p:blipFill>
          <a:blip r:embed="rId3"/>
          <a:stretch>
            <a:fillRect/>
          </a:stretch>
        </p:blipFill>
        <p:spPr>
          <a:xfrm>
            <a:off x="548640" y="1261872"/>
            <a:ext cx="11094415" cy="34717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Validation Queue of the TSU Head</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Coverages &amp; Clauses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coverage and peril level of the product hierarchy, per line, and the clause library (warranties, clauses, exclusions and deductible wordings) that package versions use in their insurer terms. MBS maintains them; a second user authorises them.</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Coverages &amp; Clauses</a:t>
                      </a:r>
                    </a:p>
                    <a:p>
                      <a:r>
                        <a:rPr sz="950" b="0">
                          <a:solidFill>
                            <a:srgbClr val="4B4B4B"/>
                          </a:solidFill>
                          <a:latin typeface="Arial"/>
                        </a:rPr>
                        <a:t>Sidebar entry Coverages &amp; Clauses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FR-PM-010, FR-PM-011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keeps one library of coverages and clause wordings that every package version reuses.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3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1" cy="427479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Coverages &amp; Perils / Clause Library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Coverages &amp; Perils</a:t>
                      </a:r>
                    </a:p>
                  </a:txBody>
                  <a:tcPr marL="54864" marR="54864" marT="27432" marB="27432">
                    <a:solidFill>
                      <a:srgbClr val="E5F5FF"/>
                    </a:solidFill>
                  </a:tcPr>
                </a:tc>
                <a:tc>
                  <a:txBody>
                    <a:bodyPr/>
                    <a:lstStyle/>
                    <a:p>
                      <a:r>
                        <a:rPr sz="850" b="0">
                          <a:solidFill>
                            <a:srgbClr val="4B4B4B"/>
                          </a:solidFill>
                          <a:latin typeface="Arial"/>
                        </a:rPr>
                        <a:t>Product line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lines or one line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Coverages &amp; Perils</a:t>
                      </a:r>
                    </a:p>
                  </a:txBody>
                  <a:tcPr marL="54864" marR="54864" marT="27432" marB="27432">
                    <a:solidFill>
                      <a:srgbClr val="FFFFFF"/>
                    </a:solidFill>
                  </a:tcPr>
                </a:tc>
                <a:tc>
                  <a:txBody>
                    <a:bodyPr/>
                    <a:lstStyle/>
                    <a:p>
                      <a:r>
                        <a:rPr sz="850" b="0">
                          <a:solidFill>
                            <a:srgbClr val="4B4B4B"/>
                          </a:solidFill>
                          <a:latin typeface="Arial"/>
                        </a:rPr>
                        <a:t>Line / Code / Name / Kind / Basic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Coverage of the line; Basic Yes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coverage is set up for this line.</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Clause Library</a:t>
                      </a:r>
                    </a:p>
                  </a:txBody>
                  <a:tcPr marL="54864" marR="54864" marT="27432" marB="27432">
                    <a:solidFill>
                      <a:srgbClr val="E5F5FF"/>
                    </a:solidFill>
                  </a:tcPr>
                </a:tc>
                <a:tc>
                  <a:txBody>
                    <a:bodyPr/>
                    <a:lstStyle/>
                    <a:p>
                      <a:r>
                        <a:rPr sz="850" b="0">
                          <a:solidFill>
                            <a:srgbClr val="4B4B4B"/>
                          </a:solidFill>
                          <a:latin typeface="Arial"/>
                        </a:rPr>
                        <a:t>Code / Kind / Title / Line / Effective / Until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 or All lines; 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clause library is empty.</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Line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Select the product line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A-Z, 0-9 and _</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line</a:t>
                      </a:r>
                    </a:p>
                  </a:txBody>
                  <a:tcPr marL="54864" marR="54864" marT="27432" marB="27432">
                    <a:solidFill>
                      <a:srgbClr val="E5F5FF"/>
                    </a:solidFill>
                  </a:tcPr>
                </a:tc>
                <a:tc>
                  <a:txBody>
                    <a:bodyPr/>
                    <a:lstStyle/>
                    <a:p>
                      <a:r>
                        <a:rPr sz="850" b="0">
                          <a:solidFill>
                            <a:srgbClr val="4B4B4B"/>
                          </a:solidFill>
                          <a:latin typeface="Arial"/>
                        </a:rPr>
                        <a:t>Use A-Z, 0-9 and _</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Coverage kinds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kind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Coverage</a:t>
                      </a:r>
                    </a:p>
                  </a:txBody>
                  <a:tcPr marL="54864" marR="54864" marT="27432" marB="27432">
                    <a:solidFill>
                      <a:srgbClr val="FFFFFF"/>
                    </a:solidFill>
                  </a:tcPr>
                </a:tc>
                <a:tc>
                  <a:txBody>
                    <a:bodyPr/>
                    <a:lstStyle/>
                    <a:p>
                      <a:r>
                        <a:rPr sz="850" b="0">
                          <a:solidFill>
                            <a:srgbClr val="4B4B4B"/>
                          </a:solidFill>
                          <a:latin typeface="Arial"/>
                        </a:rPr>
                        <a:t>Display order</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Whole number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Coverage</a:t>
                      </a:r>
                    </a:p>
                  </a:txBody>
                  <a:tcPr marL="54864" marR="54864" marT="27432" marB="27432">
                    <a:solidFill>
                      <a:srgbClr val="E5F5FF"/>
                    </a:solidFill>
                  </a:tcPr>
                </a:tc>
                <a:tc>
                  <a:txBody>
                    <a:bodyPr/>
                    <a:lstStyle/>
                    <a:p>
                      <a:r>
                        <a:rPr sz="850" b="0">
                          <a:solidFill>
                            <a:srgbClr val="4B4B4B"/>
                          </a:solidFill>
                          <a:latin typeface="Arial"/>
                        </a:rPr>
                        <a:t>Basic coverage</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A-Z, 0-9 and _</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Use A-Z, 0-9 and _</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Clause kinds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kind</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Product line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Every line or one line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title</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New Clause</a:t>
                      </a:r>
                    </a:p>
                  </a:txBody>
                  <a:tcPr marL="54864" marR="54864" marT="27432" marB="27432">
                    <a:solidFill>
                      <a:srgbClr val="FFFFFF"/>
                    </a:solidFill>
                  </a:tcPr>
                </a:tc>
                <a:tc>
                  <a:txBody>
                    <a:bodyPr/>
                    <a:lstStyle/>
                    <a:p>
                      <a:r>
                        <a:rPr sz="850" b="0">
                          <a:solidFill>
                            <a:srgbClr val="4B4B4B"/>
                          </a:solidFill>
                          <a:latin typeface="Arial"/>
                        </a:rPr>
                        <a:t>Effective from / Effective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 (from)</a:t>
                      </a:r>
                    </a:p>
                  </a:txBody>
                  <a:tcPr marL="54864" marR="54864" marT="27432" marB="27432">
                    <a:solidFill>
                      <a:srgbClr val="FFFFFF"/>
                    </a:solidFill>
                  </a:tcPr>
                </a:tc>
                <a:tc>
                  <a:txBody>
                    <a:bodyPr/>
                    <a:lstStyle/>
                    <a:p>
                      <a:r>
                        <a:rPr sz="850" b="0">
                          <a:solidFill>
                            <a:srgbClr val="4B4B4B"/>
                          </a:solidFill>
                          <a:latin typeface="Arial"/>
                        </a:rPr>
                        <a:t>To on or after from</a:t>
                      </a:r>
                    </a:p>
                  </a:txBody>
                  <a:tcPr marL="54864" marR="54864" marT="27432" marB="27432">
                    <a:solidFill>
                      <a:srgbClr val="FFFFFF"/>
                    </a:solidFill>
                  </a:tcPr>
                </a:tc>
                <a:tc>
                  <a:txBody>
                    <a:bodyPr/>
                    <a:lstStyle/>
                    <a:p>
                      <a:r>
                        <a:rPr sz="850" b="0">
                          <a:solidFill>
                            <a:srgbClr val="4B4B4B"/>
                          </a:solidFill>
                          <a:latin typeface="Arial"/>
                        </a:rPr>
                        <a:t>Enter the effective date / The end is before the start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New Clause</a:t>
                      </a:r>
                    </a:p>
                  </a:txBody>
                  <a:tcPr marL="54864" marR="54864" marT="27432" marB="27432">
                    <a:solidFill>
                      <a:srgbClr val="E5F5FF"/>
                    </a:solidFill>
                  </a:tcPr>
                </a:tc>
                <a:tc>
                  <a:txBody>
                    <a:bodyPr/>
                    <a:lstStyle/>
                    <a:p>
                      <a:r>
                        <a:rPr sz="850" b="0">
                          <a:solidFill>
                            <a:srgbClr val="4B4B4B"/>
                          </a:solidFill>
                          <a:latin typeface="Arial"/>
                        </a:rPr>
                        <a:t>Wording</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Full wording</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wording</a:t>
                      </a:r>
                    </a:p>
                  </a:txBody>
                  <a:tcPr marL="54864" marR="54864" marT="27432" marB="27432">
                    <a:solidFill>
                      <a:srgbClr val="E5F5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graphicFrame>
        <p:nvGraphicFramePr>
          <p:cNvPr id="9" name="Table 8"/>
          <p:cNvGraphicFramePr>
            <a:graphicFrameLocks noGrp="1"/>
          </p:cNvGraphicFramePr>
          <p:nvPr/>
        </p:nvGraphicFramePr>
        <p:xfrm>
          <a:off x="548640" y="1325880"/>
          <a:ext cx="11094412" cy="149351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Coverage / New Clause</a:t>
                      </a:r>
                    </a:p>
                  </a:txBody>
                  <a:tcPr marL="54864" marR="54864" marT="27432" marB="27432">
                    <a:solidFill>
                      <a:srgbClr val="FFFFFF"/>
                    </a:solidFill>
                  </a:tcPr>
                </a:tc>
                <a:tc>
                  <a:txBody>
                    <a:bodyPr/>
                    <a:lstStyle/>
                    <a:p>
                      <a:r>
                        <a:rPr sz="850" b="0">
                          <a:solidFill>
                            <a:srgbClr val="4B4B4B"/>
                          </a:solidFill>
                          <a:latin typeface="Arial"/>
                        </a:rPr>
                        <a:t>MBS (PRODUCT_MAINTAIN)</a:t>
                      </a:r>
                    </a:p>
                  </a:txBody>
                  <a:tcPr marL="54864" marR="54864" marT="27432" marB="27432">
                    <a:solidFill>
                      <a:srgbClr val="FFFFFF"/>
                    </a:solidFill>
                  </a:tcPr>
                </a:tc>
                <a:tc>
                  <a:txBody>
                    <a:bodyPr/>
                    <a:lstStyle/>
                    <a:p>
                      <a:r>
                        <a:rPr sz="850" b="0">
                          <a:solidFill>
                            <a:srgbClr val="4B4B4B"/>
                          </a:solidFill>
                          <a:latin typeface="Arial"/>
                        </a:rPr>
                        <a:t>Tab of the kind</a:t>
                      </a:r>
                    </a:p>
                  </a:txBody>
                  <a:tcPr marL="54864" marR="54864" marT="27432" marB="27432">
                    <a:solidFill>
                      <a:srgbClr val="FFFFFF"/>
                    </a:solidFill>
                  </a:tcPr>
                </a:tc>
                <a:tc>
                  <a:txBody>
                    <a:bodyPr/>
                    <a:lstStyle/>
                    <a:p>
                      <a:r>
                        <a:rPr sz="850" b="0">
                          <a:solidFill>
                            <a:srgbClr val="4B4B4B"/>
                          </a:solidFill>
                          <a:latin typeface="Arial"/>
                        </a:rPr>
                        <a:t>Opens the dialog; Save for Authorization saves it pending authorisation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MBS (PRODUCT_MAINTAIN)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coverage or clause for change (code fixed)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Pending row</a:t>
                      </a:r>
                    </a:p>
                  </a:txBody>
                  <a:tcPr marL="54864" marR="54864" marT="27432" marB="27432">
                    <a:solidFill>
                      <a:srgbClr val="FFFFFF"/>
                    </a:solidFill>
                  </a:tcPr>
                </a:tc>
                <a:tc>
                  <a:txBody>
                    <a:bodyPr/>
                    <a:lstStyle/>
                    <a:p>
                      <a:r>
                        <a:rPr sz="850" b="0">
                          <a:solidFill>
                            <a:srgbClr val="4B4B4B"/>
                          </a:solidFill>
                          <a:latin typeface="Arial"/>
                        </a:rPr>
                        <a:t>Authorises the coverage or clause</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PRODUCT_MAINTAIN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Ends its use; versions already released keep it</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hierarchy is line, cover type with at most one subtype level, product, and coverage or peril of the line (FR-PM-010).</a:t>
                      </a:r>
                    </a:p>
                  </a:txBody>
                  <a:tcPr marL="54864" marR="54864" marT="27432" marB="27432">
                    <a:solidFill>
                      <a:srgbClr val="FFFFFF"/>
                    </a:solidFill>
                  </a:tcPr>
                </a:tc>
              </a:tr>
              <a:tr h="243840">
                <a:tc>
                  <a:txBody>
                    <a:bodyPr/>
                    <a:lstStyle/>
                    <a:p>
                      <a:r>
                        <a:rPr sz="1000" b="0">
                          <a:solidFill>
                            <a:srgbClr val="4B4B4B"/>
                          </a:solidFill>
                          <a:latin typeface="Arial"/>
                        </a:rPr>
                        <a:t>A package version offers only the active coverages of its line and the active clauses of its line or of every line (FR-PM-010, FR-PM-011).</a:t>
                      </a:r>
                    </a:p>
                  </a:txBody>
                  <a:tcPr marL="54864" marR="54864" marT="27432" marB="27432">
                    <a:solidFill>
                      <a:srgbClr val="E5F5FF"/>
                    </a:solidFill>
                  </a:tcPr>
                </a:tc>
              </a:tr>
              <a:tr h="243840">
                <a:tc>
                  <a:txBody>
                    <a:bodyPr/>
                    <a:lstStyle/>
                    <a:p>
                      <a:r>
                        <a:rPr sz="1000" b="0">
                          <a:solidFill>
                            <a:srgbClr val="4B4B4B"/>
                          </a:solidFill>
                          <a:latin typeface="Arial"/>
                        </a:rPr>
                        <a:t>Coverages and clauses are maker-checker and never deleted (FR-PM-011).</a:t>
                      </a:r>
                    </a:p>
                  </a:txBody>
                  <a:tcPr marL="54864" marR="54864" marT="27432" marB="27432">
                    <a:solidFill>
                      <a:srgbClr val="FFFFFF"/>
                    </a:solidFill>
                  </a:tcPr>
                </a:tc>
              </a:tr>
            </a:tbl>
          </a:graphicData>
        </a:graphic>
      </p:graphicFrame>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a:t>
                      </a:r>
                    </a:p>
                  </a:txBody>
                  <a:tcPr marL="54864" marR="54864" marT="27432" marB="27432">
                    <a:solidFill>
                      <a:srgbClr val="FFFFFF"/>
                    </a:solidFill>
                  </a:tcPr>
                </a:tc>
                <a:tc>
                  <a:txBody>
                    <a:bodyPr/>
                    <a:lstStyle/>
                    <a:p>
                      <a:r>
                        <a:rPr sz="900" b="0">
                          <a:solidFill>
                            <a:srgbClr val="4B4B4B"/>
                          </a:solidFill>
                          <a:latin typeface="Arial"/>
                        </a:rPr>
                        <a:t>Opens the Clause Library and clicks Authorize on FLEET_REPAIR</a:t>
                      </a:r>
                    </a:p>
                  </a:txBody>
                  <a:tcPr marL="54864" marR="54864" marT="27432" marB="27432">
                    <a:solidFill>
                      <a:srgbClr val="FFFFFF"/>
                    </a:solidFill>
                  </a:tcPr>
                </a:tc>
                <a:tc>
                  <a:txBody>
                    <a:bodyPr/>
                    <a:lstStyle/>
                    <a:p>
                      <a:r>
                        <a:rPr sz="900" b="0">
                          <a:solidFill>
                            <a:srgbClr val="4B4B4B"/>
                          </a:solidFill>
                          <a:latin typeface="Arial"/>
                        </a:rPr>
                        <a:t>SCR-PM-15_wt-a-step-02.png</a:t>
                      </a:r>
                    </a:p>
                  </a:txBody>
                  <a:tcPr marL="54864" marR="54864" marT="27432" marB="27432">
                    <a:solidFill>
                      <a:srgbClr val="FFFFFF"/>
                    </a:solidFill>
                  </a:tcPr>
                </a:tc>
              </a:tr>
              <a:tr h="365760">
                <a:tc>
                  <a:txBody>
                    <a:bodyPr/>
                    <a:lstStyle/>
                    <a:p>
                      <a:r>
                        <a:rPr sz="900" b="0">
                          <a:solidFill>
                            <a:srgbClr val="4B4B4B"/>
                          </a:solidFill>
                          <a:latin typeface="Arial"/>
                        </a:rPr>
                        <a:t>Pending approval</a:t>
                      </a:r>
                    </a:p>
                  </a:txBody>
                  <a:tcPr marL="54864" marR="54864" marT="27432" marB="27432">
                    <a:solidFill>
                      <a:srgbClr val="E5F5FF"/>
                    </a:solidFill>
                  </a:tcPr>
                </a:tc>
                <a:tc>
                  <a:txBody>
                    <a:bodyPr/>
                    <a:lstStyle/>
                    <a:p>
                      <a:r>
                        <a:rPr sz="900" b="0">
                          <a:solidFill>
                            <a:srgbClr val="4B4B4B"/>
                          </a:solidFill>
                          <a:latin typeface="Arial"/>
                        </a:rPr>
                        <a:t>WT-A step 1</a:t>
                      </a:r>
                    </a:p>
                  </a:txBody>
                  <a:tcPr marL="54864" marR="54864" marT="27432" marB="27432">
                    <a:solidFill>
                      <a:srgbClr val="E5F5FF"/>
                    </a:solidFill>
                  </a:tcPr>
                </a:tc>
                <a:tc>
                  <a:txBody>
                    <a:bodyPr/>
                    <a:lstStyle/>
                    <a:p>
                      <a:r>
                        <a:rPr sz="900" b="0">
                          <a:solidFill>
                            <a:srgbClr val="4B4B4B"/>
                          </a:solidFill>
                          <a:latin typeface="Arial"/>
                        </a:rPr>
                        <a:t>Opens Coverages &amp; Clauses › Clause Library, clicks New Clause, enters the code FLEET_REPAIR, kind, line Motor, title, effective date and wording, and clicks Save for Authorization</a:t>
                      </a:r>
                    </a:p>
                  </a:txBody>
                  <a:tcPr marL="54864" marR="54864" marT="27432" marB="27432">
                    <a:solidFill>
                      <a:srgbClr val="E5F5FF"/>
                    </a:solidFill>
                  </a:tcPr>
                </a:tc>
                <a:tc>
                  <a:txBody>
                    <a:bodyPr/>
                    <a:lstStyle/>
                    <a:p>
                      <a:r>
                        <a:rPr sz="900" b="0">
                          <a:solidFill>
                            <a:srgbClr val="4B4B4B"/>
                          </a:solidFill>
                          <a:latin typeface="Arial"/>
                        </a:rPr>
                        <a:t>SCR-PM-15_wt-a-step-01.png</a:t>
                      </a:r>
                    </a:p>
                  </a:txBody>
                  <a:tcPr marL="54864" marR="54864" marT="27432" marB="27432">
                    <a:solidFill>
                      <a:srgbClr val="E5F5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Coverages &amp; Perils tab (part 1 of 3)</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3.png"/>
          <p:cNvPicPr>
            <a:picLocks noChangeAspect="1"/>
          </p:cNvPicPr>
          <p:nvPr/>
        </p:nvPicPr>
        <p:blipFill>
          <a:blip r:embed="rId3"/>
          <a:stretch>
            <a:fillRect/>
          </a:stretch>
        </p:blipFill>
        <p:spPr>
          <a:xfrm>
            <a:off x="548640" y="1261872"/>
            <a:ext cx="11094415" cy="45429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Coverages &amp; Perils tab (part 2 of 3)</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4.png"/>
          <p:cNvPicPr>
            <a:picLocks noChangeAspect="1"/>
          </p:cNvPicPr>
          <p:nvPr/>
        </p:nvPicPr>
        <p:blipFill>
          <a:blip r:embed="rId3"/>
          <a:stretch>
            <a:fillRect/>
          </a:stretch>
        </p:blipFill>
        <p:spPr>
          <a:xfrm>
            <a:off x="548640" y="1261872"/>
            <a:ext cx="11094415" cy="2964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Coverages &amp; Perils tab (part 3 of 3)</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Clause Library tab (part 1 of 2)</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SCR-PM-15 Coverages &amp; Clauses: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226670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Clause Library tab (part 2 of 2)</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SCR-PM-15 Coverages &amp; Clauses: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5-03-new.png"/>
          <p:cNvPicPr>
            <a:picLocks noChangeAspect="1"/>
          </p:cNvPicPr>
          <p:nvPr/>
        </p:nvPicPr>
        <p:blipFill>
          <a:blip r:embed="rId3"/>
          <a:stretch>
            <a:fillRect/>
          </a:stretch>
        </p:blipFill>
        <p:spPr>
          <a:xfrm>
            <a:off x="548640" y="1261872"/>
            <a:ext cx="11094415" cy="429046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Coverage dialog</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CHG-PM-2.0-03</a:t>
            </a:r>
          </a:p>
        </p:txBody>
      </p:sp>
      <p:graphicFrame>
        <p:nvGraphicFramePr>
          <p:cNvPr id="10" name="Table 9"/>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Products and package versions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Incentive criteria, such as CPC2, on the products matrix: their value (rate, fixed amount or rule), the products and segments they apply to, and their effective dates. An active criterion is changed by an amendment that starts later and is deactivated, never deleted. Booking stamps on each invoice the criteria it matches.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TSU Team Lead, TSU Head, Marketing Business Services, ManCom member, Business Administrator, New Business Approver, System Administrator, Auditor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Incentive Criteria</a:t>
                      </a:r>
                    </a:p>
                    <a:p>
                      <a:r>
                        <a:rPr sz="950" b="0">
                          <a:solidFill>
                            <a:srgbClr val="4B4B4B"/>
                          </a:solidFill>
                          <a:latin typeface="Arial"/>
                        </a:rPr>
                        <a:t>Sidebar entry Incentive Criteria</a:t>
                      </a:r>
                    </a:p>
                    <a:p>
                      <a:r>
                        <a:rPr sz="950" b="0">
                          <a:solidFill>
                            <a:srgbClr val="4B4B4B"/>
                          </a:solidFill>
                          <a:latin typeface="Arial"/>
                        </a:rPr>
                        <a:t>The incentive alert when a product of a criterion expires or is retired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13.2.6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FR-PM-080, FR-PM-081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incentive criteria are maintained once, on the products matrix, and applied the same way to every booking.</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25880"/>
          <a:ext cx="11094411" cy="490725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Current / Pending Authorization / History</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Current = active and not ended; History = ended, replaced or 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Search Criterion or Product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Code of a criterion or a product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Contains search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 / Name / Type / Value / Products / From / Until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Value as n%, an amount, or Rule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incentive criterion in this list.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A-Z, 0-9, _ and -</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a:t>
                      </a:r>
                    </a:p>
                  </a:txBody>
                  <a:tcPr marL="54864" marR="54864" marT="27432" marB="27432">
                    <a:solidFill>
                      <a:srgbClr val="E5F5FF"/>
                    </a:solidFill>
                  </a:tcPr>
                </a:tc>
                <a:tc>
                  <a:txBody>
                    <a:bodyPr/>
                    <a:lstStyle/>
                    <a:p>
                      <a:r>
                        <a:rPr sz="850" b="0">
                          <a:solidFill>
                            <a:srgbClr val="4B4B4B"/>
                          </a:solidFill>
                          <a:latin typeface="Arial"/>
                        </a:rPr>
                        <a:t>Use A-Z, 0-9, _ and -</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150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name</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Incentive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Incentive types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Active value</a:t>
                      </a:r>
                    </a:p>
                  </a:txBody>
                  <a:tcPr marL="54864" marR="54864" marT="27432" marB="27432">
                    <a:solidFill>
                      <a:srgbClr val="E5F5FF"/>
                    </a:solidFill>
                  </a:tcPr>
                </a:tc>
                <a:tc>
                  <a:txBody>
                    <a:bodyPr/>
                    <a:lstStyle/>
                    <a:p>
                      <a:r>
                        <a:rPr sz="850" b="0">
                          <a:solidFill>
                            <a:srgbClr val="4B4B4B"/>
                          </a:solidFill>
                          <a:latin typeface="Arial"/>
                        </a:rPr>
                        <a:t>Select the type</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Value basis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Rate (%), Fixed amount, Rule (parameters)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Value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Rate 0 to 100 or an amount</a:t>
                      </a:r>
                    </a:p>
                  </a:txBody>
                  <a:tcPr marL="54864" marR="54864" marT="27432" marB="27432">
                    <a:solidFill>
                      <a:srgbClr val="E5F5FF"/>
                    </a:solidFill>
                  </a:tcPr>
                </a:tc>
                <a:tc>
                  <a:txBody>
                    <a:bodyPr/>
                    <a:lstStyle/>
                    <a:p>
                      <a:r>
                        <a:rPr sz="850" b="0">
                          <a:solidFill>
                            <a:srgbClr val="4B4B4B"/>
                          </a:solidFill>
                          <a:latin typeface="Arial"/>
                        </a:rPr>
                        <a:t>Cond.: rate or fixed amount</a:t>
                      </a:r>
                    </a:p>
                  </a:txBody>
                  <a:tcPr marL="54864" marR="54864" marT="27432" marB="27432">
                    <a:solidFill>
                      <a:srgbClr val="E5F5FF"/>
                    </a:solidFill>
                  </a:tcPr>
                </a:tc>
                <a:tc>
                  <a:txBody>
                    <a:bodyPr/>
                    <a:lstStyle/>
                    <a:p>
                      <a:r>
                        <a:rPr sz="850" b="0">
                          <a:solidFill>
                            <a:srgbClr val="4B4B4B"/>
                          </a:solidFill>
                          <a:latin typeface="Arial"/>
                        </a:rPr>
                        <a:t>Zero or more; a rate up to 100</a:t>
                      </a:r>
                    </a:p>
                  </a:txBody>
                  <a:tcPr marL="54864" marR="54864" marT="27432" marB="27432">
                    <a:solidFill>
                      <a:srgbClr val="E5F5FF"/>
                    </a:solidFill>
                  </a:tcPr>
                </a:tc>
                <a:tc>
                  <a:txBody>
                    <a:bodyPr/>
                    <a:lstStyle/>
                    <a:p>
                      <a:r>
                        <a:rPr sz="850" b="0">
                          <a:solidFill>
                            <a:srgbClr val="4B4B4B"/>
                          </a:solidFill>
                          <a:latin typeface="Arial"/>
                        </a:rPr>
                        <a:t>Enter the value / A rate is between 0 and 100</a:t>
                      </a:r>
                    </a:p>
                  </a:txBody>
                  <a:tcPr marL="54864" marR="54864" marT="27432" marB="27432">
                    <a:solidFill>
                      <a:srgbClr val="E5F5FF"/>
                    </a:solidFill>
                  </a:tcPr>
                </a:tc>
              </a:tr>
              <a:tr h="609596">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Effective from</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amendment starts after the active row; no overlap with another row of the code</a:t>
                      </a:r>
                    </a:p>
                  </a:txBody>
                  <a:tcPr marL="54864" marR="54864" marT="27432" marB="27432">
                    <a:solidFill>
                      <a:srgbClr val="FFFFFF"/>
                    </a:solidFill>
                  </a:tcPr>
                </a:tc>
                <a:tc>
                  <a:txBody>
                    <a:bodyPr/>
                    <a:lstStyle/>
                    <a:p>
                      <a:r>
                        <a:rPr sz="850" b="0">
                          <a:solidFill>
                            <a:srgbClr val="4B4B4B"/>
                          </a:solidFill>
                          <a:latin typeface="Arial"/>
                        </a:rPr>
                        <a:t>Enter the start date / The change must start after &lt;active from&gt; / Criterion &lt;code&gt; already covers part of this period</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On or after the start</a:t>
                      </a:r>
                    </a:p>
                  </a:txBody>
                  <a:tcPr marL="54864" marR="54864" marT="27432" marB="27432">
                    <a:solidFill>
                      <a:srgbClr val="E5F5FF"/>
                    </a:solidFill>
                  </a:tcPr>
                </a:tc>
                <a:tc>
                  <a:txBody>
                    <a:bodyPr/>
                    <a:lstStyle/>
                    <a:p>
                      <a:r>
                        <a:rPr sz="850" b="0">
                          <a:solidFill>
                            <a:srgbClr val="4B4B4B"/>
                          </a:solidFill>
                          <a:latin typeface="Arial"/>
                        </a:rPr>
                        <a:t>The end is before the start</a:t>
                      </a:r>
                    </a:p>
                  </a:txBody>
                  <a:tcPr marL="54864" marR="54864" marT="27432" marB="27432">
                    <a:solidFill>
                      <a:srgbClr val="E5F5FF"/>
                    </a:solidFill>
                  </a:tcPr>
                </a:tc>
              </a:tr>
              <a:tr h="739135">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Rule Parameters</a:t>
                      </a:r>
                    </a:p>
                  </a:txBody>
                  <a:tcPr marL="54864" marR="54864" marT="27432" marB="27432">
                    <a:solidFill>
                      <a:srgbClr val="FFFFFF"/>
                    </a:solidFill>
                  </a:tcPr>
                </a:tc>
                <a:tc>
                  <a:txBody>
                    <a:bodyPr/>
                    <a:lstStyle/>
                    <a:p>
                      <a:r>
                        <a:rPr sz="850" b="0">
                          <a:solidFill>
                            <a:srgbClr val="4B4B4B"/>
                          </a:solidFill>
                          <a:latin typeface="Arial"/>
                        </a:rPr>
                        <a:t>Rows: parameter and value</a:t>
                      </a:r>
                    </a:p>
                  </a:txBody>
                  <a:tcPr marL="54864" marR="54864" marT="27432" marB="27432">
                    <a:solidFill>
                      <a:srgbClr val="FFFFFF"/>
                    </a:solidFill>
                  </a:tcPr>
                </a:tc>
                <a:tc>
                  <a:txBody>
                    <a:bodyPr/>
                    <a:lstStyle/>
                    <a:p>
                      <a:r>
                        <a:rPr sz="850" b="0">
                          <a:solidFill>
                            <a:srgbClr val="4B4B4B"/>
                          </a:solidFill>
                          <a:latin typeface="Arial"/>
                        </a:rPr>
                        <a:t>Parameter from the parameters of the incentive type (Minimum Gross Premium); value as the parameter asks (an amount)</a:t>
                      </a:r>
                    </a:p>
                  </a:txBody>
                  <a:tcPr marL="54864" marR="54864" marT="27432" marB="27432">
                    <a:solidFill>
                      <a:srgbClr val="FFFFFF"/>
                    </a:solidFill>
                  </a:tcPr>
                </a:tc>
                <a:tc>
                  <a:txBody>
                    <a:bodyPr/>
                    <a:lstStyle/>
                    <a:p>
                      <a:r>
                        <a:rPr sz="850" b="0">
                          <a:solidFill>
                            <a:srgbClr val="4B4B4B"/>
                          </a:solidFill>
                          <a:latin typeface="Arial"/>
                        </a:rPr>
                        <a:t>N (a value per row)</a:t>
                      </a:r>
                    </a:p>
                  </a:txBody>
                  <a:tcPr marL="54864" marR="54864" marT="27432" marB="27432">
                    <a:solidFill>
                      <a:srgbClr val="FFFFFF"/>
                    </a:solidFill>
                  </a:tcPr>
                </a:tc>
                <a:tc>
                  <a:txBody>
                    <a:bodyPr/>
                    <a:lstStyle/>
                    <a:p>
                      <a:r>
                        <a:rPr sz="850" b="0">
                          <a:solidFill>
                            <a:srgbClr val="4B4B4B"/>
                          </a:solidFill>
                          <a:latin typeface="Arial"/>
                        </a:rPr>
                        <a:t>Each parameter once; a value for each parameter; a number, zero or more</a:t>
                      </a:r>
                    </a:p>
                  </a:txBody>
                  <a:tcPr marL="54864" marR="54864" marT="27432" marB="27432">
                    <a:solidFill>
                      <a:srgbClr val="FFFFFF"/>
                    </a:solidFill>
                  </a:tcPr>
                </a:tc>
                <a:tc>
                  <a:txBody>
                    <a:bodyPr/>
                    <a:lstStyle/>
                    <a:p>
                      <a:r>
                        <a:rPr sz="850" b="0">
                          <a:solidFill>
                            <a:srgbClr val="4B4B4B"/>
                          </a:solidFill>
                          <a:latin typeface="Arial"/>
                        </a:rPr>
                        <a:t>Select the parameter / &lt;parameter&gt; is listed twice / Enter a value for each parameter / &lt;parameter&gt; must be a number / &lt;parameter&gt; cannot be negative</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Incentive Criterion</a:t>
                      </a:r>
                    </a:p>
                  </a:txBody>
                  <a:tcPr marL="54864" marR="54864" marT="27432" marB="27432">
                    <a:solidFill>
                      <a:srgbClr val="E5F5FF"/>
                    </a:solidFill>
                  </a:tcPr>
                </a:tc>
                <a:tc>
                  <a:txBody>
                    <a:bodyPr/>
                    <a:lstStyle/>
                    <a:p>
                      <a:r>
                        <a:rPr sz="850" b="0">
                          <a:solidFill>
                            <a:srgbClr val="4B4B4B"/>
                          </a:solidFill>
                          <a:latin typeface="Arial"/>
                        </a:rPr>
                        <a:t>Description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Incentive Criterion</a:t>
                      </a:r>
                    </a:p>
                  </a:txBody>
                  <a:tcPr marL="54864" marR="54864" marT="27432" marB="27432">
                    <a:solidFill>
                      <a:srgbClr val="FFFFFF"/>
                    </a:solidFill>
                  </a:tcPr>
                </a:tc>
                <a:tc>
                  <a:txBody>
                    <a:bodyPr/>
                    <a:lstStyle/>
                    <a:p>
                      <a:r>
                        <a:rPr sz="850" b="0">
                          <a:solidFill>
                            <a:srgbClr val="4B4B4B"/>
                          </a:solidFill>
                          <a:latin typeface="Arial"/>
                        </a:rPr>
                        <a:t>Products matrix</a:t>
                      </a:r>
                    </a:p>
                  </a:txBody>
                  <a:tcPr marL="54864" marR="54864" marT="27432" marB="27432">
                    <a:solidFill>
                      <a:srgbClr val="FFFFFF"/>
                    </a:solidFill>
                  </a:tcPr>
                </a:tc>
                <a:tc>
                  <a:txBody>
                    <a:bodyPr/>
                    <a:lstStyle/>
                    <a:p>
                      <a:r>
                        <a:rPr sz="850" b="0">
                          <a:solidFill>
                            <a:srgbClr val="4B4B4B"/>
                          </a:solidFill>
                          <a:latin typeface="Arial"/>
                        </a:rPr>
                        <a:t>Drop-down and rows</a:t>
                      </a:r>
                    </a:p>
                  </a:txBody>
                  <a:tcPr marL="54864" marR="54864" marT="27432" marB="27432">
                    <a:solidFill>
                      <a:srgbClr val="FFFFFF"/>
                    </a:solidFill>
                  </a:tcPr>
                </a:tc>
                <a:tc>
                  <a:txBody>
                    <a:bodyPr/>
                    <a:lstStyle/>
                    <a:p>
                      <a:r>
                        <a:rPr sz="850" b="0">
                          <a:solidFill>
                            <a:srgbClr val="4B4B4B"/>
                          </a:solidFill>
                          <a:latin typeface="Arial"/>
                        </a:rPr>
                        <a:t>Active product, with a segment per product (Any segment)</a:t>
                      </a:r>
                    </a:p>
                  </a:txBody>
                  <a:tcPr marL="54864" marR="54864" marT="27432" marB="27432">
                    <a:solidFill>
                      <a:srgbClr val="FFFFFF"/>
                    </a:solidFill>
                  </a:tcPr>
                </a:tc>
                <a:tc>
                  <a:txBody>
                    <a:bodyPr/>
                    <a:lstStyle/>
                    <a:p>
                      <a:r>
                        <a:rPr sz="850" b="0">
                          <a:solidFill>
                            <a:srgbClr val="4B4B4B"/>
                          </a:solidFill>
                          <a:latin typeface="Arial"/>
                        </a:rPr>
                        <a:t>Y (at least one)</a:t>
                      </a:r>
                    </a:p>
                  </a:txBody>
                  <a:tcPr marL="54864" marR="54864" marT="27432" marB="27432">
                    <a:solidFill>
                      <a:srgbClr val="FFFFFF"/>
                    </a:solidFill>
                  </a:tcPr>
                </a:tc>
                <a:tc>
                  <a:txBody>
                    <a:bodyPr/>
                    <a:lstStyle/>
                    <a:p>
                      <a:r>
                        <a:rPr sz="850" b="0">
                          <a:solidFill>
                            <a:srgbClr val="4B4B4B"/>
                          </a:solidFill>
                          <a:latin typeface="Arial"/>
                        </a:rPr>
                        <a:t>Active products only</a:t>
                      </a:r>
                    </a:p>
                  </a:txBody>
                  <a:tcPr marL="54864" marR="54864" marT="27432" marB="27432">
                    <a:solidFill>
                      <a:srgbClr val="FFFFFF"/>
                    </a:solidFill>
                  </a:tcPr>
                </a:tc>
                <a:tc>
                  <a:txBody>
                    <a:bodyPr/>
                    <a:lstStyle/>
                    <a:p>
                      <a:r>
                        <a:rPr sz="850" b="0">
                          <a:solidFill>
                            <a:srgbClr val="4B4B4B"/>
                          </a:solidFill>
                          <a:latin typeface="Arial"/>
                        </a:rPr>
                        <a:t>Select at least one product of the matrix</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2" cy="175259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Criterion</a:t>
                      </a:r>
                    </a:p>
                  </a:txBody>
                  <a:tcPr marL="54864" marR="54864" marT="27432" marB="27432">
                    <a:solidFill>
                      <a:srgbClr val="FFFFFF"/>
                    </a:solidFill>
                  </a:tcPr>
                </a:tc>
                <a:tc>
                  <a:txBody>
                    <a:bodyPr/>
                    <a:lstStyle/>
                    <a:p>
                      <a:r>
                        <a:rPr sz="850" b="0">
                          <a:solidFill>
                            <a:srgbClr val="4B4B4B"/>
                          </a:solidFill>
                          <a:latin typeface="Arial"/>
                        </a:rPr>
                        <a:t>MBS (INCENTIVE_CRITERIA_MAINTAIN)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Incentive Criterion;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MBS (INCENTIVE_CRITERIA_MAINTAIN)</a:t>
                      </a:r>
                    </a:p>
                  </a:txBody>
                  <a:tcPr marL="54864" marR="54864" marT="27432" marB="27432">
                    <a:solidFill>
                      <a:srgbClr val="E5F5FF"/>
                    </a:solidFill>
                  </a:tcPr>
                </a:tc>
                <a:tc>
                  <a:txBody>
                    <a:bodyPr/>
                    <a:lstStyle/>
                    <a:p>
                      <a:r>
                        <a:rPr sz="850" b="0">
                          <a:solidFill>
                            <a:srgbClr val="4B4B4B"/>
                          </a:solidFill>
                          <a:latin typeface="Arial"/>
                        </a:rPr>
                        <a:t>Row not inactive</a:t>
                      </a:r>
                    </a:p>
                  </a:txBody>
                  <a:tcPr marL="54864" marR="54864" marT="27432" marB="27432">
                    <a:solidFill>
                      <a:srgbClr val="E5F5FF"/>
                    </a:solidFill>
                  </a:tcPr>
                </a:tc>
                <a:tc>
                  <a:txBody>
                    <a:bodyPr/>
                    <a:lstStyle/>
                    <a:p>
                      <a:r>
                        <a:rPr sz="850" b="0">
                          <a:solidFill>
                            <a:srgbClr val="4B4B4B"/>
                          </a:solidFill>
                          <a:latin typeface="Arial"/>
                        </a:rPr>
                        <a:t>Opens Change &lt;code&gt; (pending row) or Amend &lt;code&gt; (active row: a successor from a later date)</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Authorize</a:t>
                      </a:r>
                    </a:p>
                  </a:txBody>
                  <a:tcPr marL="54864" marR="54864" marT="27432" marB="27432">
                    <a:solidFill>
                      <a:srgbClr val="FFFFFF"/>
                    </a:solidFill>
                  </a:tcPr>
                </a:tc>
                <a:tc>
                  <a:txBody>
                    <a:bodyPr/>
                    <a:lstStyle/>
                    <a:p>
                      <a:r>
                        <a:rPr sz="850" b="0">
                          <a:solidFill>
                            <a:srgbClr val="4B4B4B"/>
                          </a:solidFill>
                          <a:latin typeface="Arial"/>
                        </a:rPr>
                        <a:t>PRODUCT_AUTHORIZE (Business Administrator, New Business Approver), not the maker</a:t>
                      </a:r>
                    </a:p>
                  </a:txBody>
                  <a:tcPr marL="54864" marR="54864" marT="27432" marB="27432">
                    <a:solidFill>
                      <a:srgbClr val="FFFFFF"/>
                    </a:solidFill>
                  </a:tcPr>
                </a:tc>
                <a:tc>
                  <a:txBody>
                    <a:bodyPr/>
                    <a:lstStyle/>
                    <a:p>
                      <a:r>
                        <a:rPr sz="850" b="0">
                          <a:solidFill>
                            <a:srgbClr val="4B4B4B"/>
                          </a:solidFill>
                          <a:latin typeface="Arial"/>
                        </a:rPr>
                        <a:t>Pending row</a:t>
                      </a:r>
                    </a:p>
                  </a:txBody>
                  <a:tcPr marL="54864" marR="54864" marT="27432" marB="27432">
                    <a:solidFill>
                      <a:srgbClr val="FFFFFF"/>
                    </a:solidFill>
                  </a:tcPr>
                </a:tc>
                <a:tc>
                  <a:txBody>
                    <a:bodyPr/>
                    <a:lstStyle/>
                    <a:p>
                      <a:r>
                        <a:rPr sz="850" b="0">
                          <a:solidFill>
                            <a:srgbClr val="4B4B4B"/>
                          </a:solidFill>
                          <a:latin typeface="Arial"/>
                        </a:rPr>
                        <a:t>Authorises the criterion; an authorised amendment ends the active row the day before it starts</a:t>
                      </a:r>
                    </a:p>
                  </a:txBody>
                  <a:tcPr marL="54864" marR="54864" marT="27432" marB="27432">
                    <a:solidFill>
                      <a:srgbClr val="FFFFFF"/>
                    </a:solidFill>
                  </a:tcPr>
                </a:tc>
                <a:tc>
                  <a:txBody>
                    <a:bodyPr/>
                    <a:lstStyle/>
                    <a:p>
                      <a:r>
                        <a:rPr sz="850" b="0">
                          <a:solidFill>
                            <a:srgbClr val="4B4B4B"/>
                          </a:solidFill>
                          <a:latin typeface="Arial"/>
                        </a:rPr>
                        <a:t>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Deactivate</a:t>
                      </a:r>
                    </a:p>
                  </a:txBody>
                  <a:tcPr marL="54864" marR="54864" marT="27432" marB="27432">
                    <a:solidFill>
                      <a:srgbClr val="E5F5FF"/>
                    </a:solidFill>
                  </a:tcPr>
                </a:tc>
                <a:tc>
                  <a:txBody>
                    <a:bodyPr/>
                    <a:lstStyle/>
                    <a:p>
                      <a:r>
                        <a:rPr sz="850" b="0">
                          <a:solidFill>
                            <a:srgbClr val="4B4B4B"/>
                          </a:solidFill>
                          <a:latin typeface="Arial"/>
                        </a:rPr>
                        <a:t>MBS (INCENTIVE_CRITERIA_MAINTAIN)</a:t>
                      </a:r>
                    </a:p>
                  </a:txBody>
                  <a:tcPr marL="54864" marR="54864" marT="27432" marB="27432">
                    <a:solidFill>
                      <a:srgbClr val="E5F5FF"/>
                    </a:solidFill>
                  </a:tcPr>
                </a:tc>
                <a:tc>
                  <a:txBody>
                    <a:bodyPr/>
                    <a:lstStyle/>
                    <a:p>
                      <a:r>
                        <a:rPr sz="850" b="0">
                          <a:solidFill>
                            <a:srgbClr val="4B4B4B"/>
                          </a:solidFill>
                          <a:latin typeface="Arial"/>
                        </a:rPr>
                        <a:t>Active row</a:t>
                      </a:r>
                    </a:p>
                  </a:txBody>
                  <a:tcPr marL="54864" marR="54864" marT="27432" marB="27432">
                    <a:solidFill>
                      <a:srgbClr val="E5F5FF"/>
                    </a:solidFill>
                  </a:tcPr>
                </a:tc>
                <a:tc>
                  <a:txBody>
                    <a:bodyPr/>
                    <a:lstStyle/>
                    <a:p>
                      <a:r>
                        <a:rPr sz="850" b="0">
                          <a:solidFill>
                            <a:srgbClr val="4B4B4B"/>
                          </a:solidFill>
                          <a:latin typeface="Arial"/>
                        </a:rPr>
                        <a:t>Ends the criterion; its history stays</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criterion names at least one active product of the matrix; a product that expires or is retired raises an alert to review or deactivate the criterion (FR-PM-080, FR-PM-081).</a:t>
                      </a:r>
                    </a:p>
                  </a:txBody>
                  <a:tcPr marL="54864" marR="54864" marT="27432" marB="27432">
                    <a:solidFill>
                      <a:srgbClr val="FFFFFF"/>
                    </a:solidFill>
                  </a:tcPr>
                </a:tc>
              </a:tr>
              <a:tr h="243840">
                <a:tc>
                  <a:txBody>
                    <a:bodyPr/>
                    <a:lstStyle/>
                    <a:p>
                      <a:r>
                        <a:rPr sz="1000" b="0">
                          <a:solidFill>
                            <a:srgbClr val="4B4B4B"/>
                          </a:solidFill>
                          <a:latin typeface="Arial"/>
                        </a:rPr>
                        <a:t>An active criterion is changed only by an amendment starting after it; the active row ends when the amendment is authorised, so there is never a gap or an overlap (FR-PM-080).</a:t>
                      </a:r>
                    </a:p>
                  </a:txBody>
                  <a:tcPr marL="54864" marR="54864" marT="27432" marB="27432">
                    <a:solidFill>
                      <a:srgbClr val="E5F5FF"/>
                    </a:solidFill>
                  </a:tcPr>
                </a:tc>
              </a:tr>
              <a:tr h="243840">
                <a:tc>
                  <a:txBody>
                    <a:bodyPr/>
                    <a:lstStyle/>
                    <a:p>
                      <a:r>
                        <a:rPr sz="1000" b="0">
                          <a:solidFill>
                            <a:srgbClr val="4B4B4B"/>
                          </a:solidFill>
                          <a:latin typeface="Arial"/>
                        </a:rPr>
                        <a:t>At booking, the invoice stores the codes of the criteria that match its product, cover type, segment, channel, lead insurer and booking date (FR-PM-081).</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6-01-list.png"/>
          <p:cNvPicPr>
            <a:picLocks noChangeAspect="1"/>
          </p:cNvPicPr>
          <p:nvPr/>
        </p:nvPicPr>
        <p:blipFill>
          <a:blip r:embed="rId3"/>
          <a:stretch>
            <a:fillRect/>
          </a:stretch>
        </p:blipFill>
        <p:spPr>
          <a:xfrm>
            <a:off x="548640" y="1261872"/>
            <a:ext cx="11094415" cy="39882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Incentive Criteria, Current tab</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Filled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67.png"/>
          <p:cNvPicPr>
            <a:picLocks noChangeAspect="1"/>
          </p:cNvPicPr>
          <p:nvPr/>
        </p:nvPicPr>
        <p:blipFill>
          <a:blip r:embed="rId3"/>
          <a:stretch>
            <a:fillRect/>
          </a:stretch>
        </p:blipFill>
        <p:spPr>
          <a:xfrm>
            <a:off x="548640" y="1261872"/>
            <a:ext cx="11094415" cy="391636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Criterion dialog with its rule parameters (part 1 of 3)</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Filled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68.png"/>
          <p:cNvPicPr>
            <a:picLocks noChangeAspect="1"/>
          </p:cNvPicPr>
          <p:nvPr/>
        </p:nvPicPr>
        <p:blipFill>
          <a:blip r:embed="rId3"/>
          <a:stretch>
            <a:fillRect/>
          </a:stretch>
        </p:blipFill>
        <p:spPr>
          <a:xfrm>
            <a:off x="548640" y="1261872"/>
            <a:ext cx="11094415" cy="473470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Criterion dialog with its rule parameters (part 2 of 3)</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SCR-PM-16 Incentive Criteria: Filled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CHG-PM-2.0-03</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1" name="Picture 10" descr="slice-00169.png"/>
          <p:cNvPicPr>
            <a:picLocks noChangeAspect="1"/>
          </p:cNvPicPr>
          <p:nvPr/>
        </p:nvPicPr>
        <p:blipFill>
          <a:blip r:embed="rId3"/>
          <a:stretch>
            <a:fillRect/>
          </a:stretch>
        </p:blipFill>
        <p:spPr>
          <a:xfrm>
            <a:off x="548640" y="1261872"/>
            <a:ext cx="11094415" cy="116906"/>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Incentive Criterion dialog with its rule parameters (part 3 of 3)</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insurer panel of the company: each accredited insurer with its accreditation date, placement channel and placement e-mails, and its credit days. Package versions, quotation slips and placement use this panel. A new insurer also creates its business partner for the ledger; both are authorised together.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Insurers</a:t>
                      </a:r>
                    </a:p>
                    <a:p>
                      <a:r>
                        <a:rPr sz="950" b="0">
                          <a:solidFill>
                            <a:srgbClr val="4B4B4B"/>
                          </a:solidFill>
                          <a:latin typeface="Arial"/>
                        </a:rPr>
                        <a:t>Sidebar entry Insurers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insurer panel used by every package is maintained once, with the e-mail addresses the slips are sent to.</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Code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Partner code INS-...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insurer on the panel yet.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Registered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Accredited Until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(expired) in red once past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Placement / Placement e-mails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E-mail; addresses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Credit Days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Days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Pending Authorization, Active,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Partner code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INS- followed by capitals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 an existing party must be an insurer</a:t>
                      </a:r>
                    </a:p>
                  </a:txBody>
                  <a:tcPr marL="54864" marR="54864" marT="27432" marB="27432">
                    <a:solidFill>
                      <a:srgbClr val="FFFFFF"/>
                    </a:solidFill>
                  </a:tcPr>
                </a:tc>
                <a:tc>
                  <a:txBody>
                    <a:bodyPr/>
                    <a:lstStyle/>
                    <a:p>
                      <a:r>
                        <a:rPr sz="850" b="0">
                          <a:solidFill>
                            <a:srgbClr val="4B4B4B"/>
                          </a:solidFill>
                          <a:latin typeface="Arial"/>
                        </a:rPr>
                        <a:t>Party &lt;party code&gt; exists and is not an insurer</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Name / Short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Registered and short name</a:t>
                      </a:r>
                    </a:p>
                  </a:txBody>
                  <a:tcPr marL="54864" marR="54864" marT="27432" marB="27432">
                    <a:solidFill>
                      <a:srgbClr val="E5F5FF"/>
                    </a:solidFill>
                  </a:tcPr>
                </a:tc>
                <a:tc>
                  <a:txBody>
                    <a:bodyPr/>
                    <a:lstStyle/>
                    <a:p>
                      <a:r>
                        <a:rPr sz="850" b="0">
                          <a:solidFill>
                            <a:srgbClr val="4B4B4B"/>
                          </a:solidFill>
                          <a:latin typeface="Arial"/>
                        </a:rPr>
                        <a:t>Y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IC accreditation no. / Accredited until</a:t>
                      </a:r>
                    </a:p>
                  </a:txBody>
                  <a:tcPr marL="54864" marR="54864" marT="27432" marB="27432">
                    <a:solidFill>
                      <a:srgbClr val="FFFFFF"/>
                    </a:solidFill>
                  </a:tcPr>
                </a:tc>
                <a:tc>
                  <a:txBody>
                    <a:bodyPr/>
                    <a:lstStyle/>
                    <a:p>
                      <a:r>
                        <a:rPr sz="850" b="0">
                          <a:solidFill>
                            <a:srgbClr val="4B4B4B"/>
                          </a:solidFill>
                          <a:latin typeface="Arial"/>
                        </a:rPr>
                        <a:t>Text / Date</a:t>
                      </a:r>
                    </a:p>
                  </a:txBody>
                  <a:tcPr marL="54864" marR="54864" marT="27432" marB="27432">
                    <a:solidFill>
                      <a:srgbClr val="FFFFFF"/>
                    </a:solidFill>
                  </a:tcPr>
                </a:tc>
                <a:tc>
                  <a:txBody>
                    <a:bodyPr/>
                    <a:lstStyle/>
                    <a:p>
                      <a:r>
                        <a:rPr sz="850" b="0">
                          <a:solidFill>
                            <a:srgbClr val="4B4B4B"/>
                          </a:solidFill>
                          <a:latin typeface="Arial"/>
                        </a:rPr>
                        <a:t>Insurance Commission accreditation; 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Placement channel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Only e-mail placement is available</a:t>
                      </a:r>
                    </a:p>
                  </a:txBody>
                  <a:tcPr marL="54864" marR="54864" marT="27432" marB="27432">
                    <a:solidFill>
                      <a:srgbClr val="E5F5FF"/>
                    </a:solidFill>
                  </a:tcPr>
                </a:tc>
                <a:tc>
                  <a:txBody>
                    <a:bodyPr/>
                    <a:lstStyle/>
                    <a:p>
                      <a:r>
                        <a:rPr sz="850" b="0">
                          <a:solidFill>
                            <a:srgbClr val="4B4B4B"/>
                          </a:solidFill>
                          <a:latin typeface="Arial"/>
                        </a:rPr>
                        <a:t>Only e-mail placement is available; choose the e-mail placement channel</a:t>
                      </a:r>
                    </a:p>
                  </a:txBody>
                  <a:tcPr marL="54864" marR="54864" marT="27432" marB="27432">
                    <a:solidFill>
                      <a:srgbClr val="E5F5FF"/>
                    </a:solidFill>
                  </a:tcPr>
                </a:tc>
              </a:tr>
              <a:tr h="998213">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Placement e-mails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Addresses separated by commas</a:t>
                      </a:r>
                    </a:p>
                  </a:txBody>
                  <a:tcPr marL="54864" marR="54864" marT="27432" marB="27432">
                    <a:solidFill>
                      <a:srgbClr val="FFFFFF"/>
                    </a:solidFill>
                  </a:tcPr>
                </a:tc>
                <a:tc>
                  <a:txBody>
                    <a:bodyPr/>
                    <a:lstStyle/>
                    <a:p>
                      <a:r>
                        <a:rPr sz="850" b="0">
                          <a:solidFill>
                            <a:srgbClr val="4B4B4B"/>
                          </a:solidFill>
                          <a:latin typeface="Arial"/>
                        </a:rPr>
                        <a:t>N (needed to send quotation slips and placement slips)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&lt;name&gt; has no placement e-mail address</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insurer</a:t>
                      </a:r>
                    </a:p>
                  </a:txBody>
                  <a:tcPr marL="54864" marR="54864" marT="27432" marB="27432">
                    <a:solidFill>
                      <a:srgbClr val="E5F5FF"/>
                    </a:solidFill>
                  </a:tcPr>
                </a:tc>
                <a:tc>
                  <a:txBody>
                    <a:bodyPr/>
                    <a:lstStyle/>
                    <a:p>
                      <a:r>
                        <a:rPr sz="850" b="0">
                          <a:solidFill>
                            <a:srgbClr val="4B4B4B"/>
                          </a:solidFill>
                          <a:latin typeface="Arial"/>
                        </a:rPr>
                        <a:t>Credit days</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0 to 365</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0 to 365</a:t>
                      </a:r>
                    </a:p>
                  </a:txBody>
                  <a:tcPr marL="54864" marR="54864" marT="27432" marB="27432">
                    <a:solidFill>
                      <a:srgbClr val="E5F5FF"/>
                    </a:solidFill>
                  </a:tcPr>
                </a:tc>
                <a:tc>
                  <a:txBody>
                    <a:bodyPr/>
                    <a:lstStyle/>
                    <a:p>
                      <a:r>
                        <a:rPr sz="850" b="0">
                          <a:solidFill>
                            <a:srgbClr val="4B4B4B"/>
                          </a:solidFill>
                          <a:latin typeface="Arial"/>
                        </a:rPr>
                        <a:t>Default credit days must be between 0 and 365</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TIN / Address / E-mail / Phone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Business partner details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Insurer</a:t>
                      </a:r>
                    </a:p>
                  </a:txBody>
                  <a:tcPr marL="54864" marR="54864" marT="27432" marB="27432">
                    <a:solidFill>
                      <a:srgbClr val="FFFFFF"/>
                    </a:solidFill>
                  </a:tcPr>
                </a:tc>
                <a:tc>
                  <a:txBody>
                    <a:bodyPr/>
                    <a:lstStyle/>
                    <a:p>
                      <a:r>
                        <a:rPr sz="850" b="0">
                          <a:solidFill>
                            <a:srgbClr val="4B4B4B"/>
                          </a:solidFill>
                          <a:latin typeface="Arial"/>
                        </a:rPr>
                        <a:t>MASTER_MAINTAIN (Business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insurer;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MASTER_AUTHORIZE, not the maker</a:t>
                      </a:r>
                    </a:p>
                  </a:txBody>
                  <a:tcPr marL="54864" marR="54864" marT="27432" marB="27432">
                    <a:solidFill>
                      <a:srgbClr val="E5F5FF"/>
                    </a:solidFill>
                  </a:tcPr>
                </a:tc>
                <a:tc>
                  <a:txBody>
                    <a:bodyPr/>
                    <a:lstStyle/>
                    <a:p>
                      <a:r>
                        <a:rPr sz="850" b="0">
                          <a:solidFill>
                            <a:srgbClr val="4B4B4B"/>
                          </a:solidFill>
                          <a:latin typeface="Arial"/>
                        </a:rPr>
                        <a:t>Pending row</a:t>
                      </a:r>
                    </a:p>
                  </a:txBody>
                  <a:tcPr marL="54864" marR="54864" marT="27432" marB="27432">
                    <a:solidFill>
                      <a:srgbClr val="E5F5FF"/>
                    </a:solidFill>
                  </a:tcPr>
                </a:tc>
                <a:tc>
                  <a:txBody>
                    <a:bodyPr/>
                    <a:lstStyle/>
                    <a:p>
                      <a:r>
                        <a:rPr sz="850" b="0">
                          <a:solidFill>
                            <a:srgbClr val="4B4B4B"/>
                          </a:solidFill>
                          <a:latin typeface="Arial"/>
                        </a:rPr>
                        <a:t>Authorises the insurer and its business partner</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row</a:t>
                      </a:r>
                    </a:p>
                  </a:txBody>
                  <a:tcPr marL="54864" marR="54864" marT="27432" marB="27432">
                    <a:solidFill>
                      <a:srgbClr val="FFFFFF"/>
                    </a:solidFill>
                  </a:tcPr>
                </a:tc>
                <a:tc>
                  <a:txBody>
                    <a:bodyPr/>
                    <a:lstStyle/>
                    <a:p>
                      <a:r>
                        <a:rPr sz="850" b="0">
                          <a:solidFill>
                            <a:srgbClr val="4B4B4B"/>
                          </a:solidFill>
                          <a:latin typeface="Arial"/>
                        </a:rPr>
                        <a:t>The insurer is no longer offered</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a row</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insurer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authorised, active insurers are offered in package requests, package versions and quotation slips (FR-PM-014, FR-PM-030).</a:t>
                      </a:r>
                    </a:p>
                  </a:txBody>
                  <a:tcPr marL="54864" marR="54864" marT="27432" marB="27432">
                    <a:solidFill>
                      <a:srgbClr val="FFFFFF"/>
                    </a:solidFill>
                  </a:tcPr>
                </a:tc>
              </a:tr>
              <a:tr h="243840">
                <a:tc>
                  <a:txBody>
                    <a:bodyPr/>
                    <a:lstStyle/>
                    <a:p>
                      <a:r>
                        <a:rPr sz="1000" b="0">
                          <a:solidFill>
                            <a:srgbClr val="4B4B4B"/>
                          </a:solidFill>
                          <a:latin typeface="Arial"/>
                        </a:rPr>
                        <a:t>The insurer master is maintained under New Business rules (BRD-1, insurer panel); Product Maintenance uses it for the package panels (FR-PM-014).</a:t>
                      </a:r>
                    </a:p>
                  </a:txBody>
                  <a:tcPr marL="54864" marR="54864" marT="27432" marB="27432">
                    <a:solidFill>
                      <a:srgbClr val="E5F5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5286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list (part 1 of 2)</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226192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list (part 2 of 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SCR-PM-17 Insurers: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7-02-new.png"/>
          <p:cNvPicPr>
            <a:picLocks noChangeAspect="1"/>
          </p:cNvPicPr>
          <p:nvPr/>
        </p:nvPicPr>
        <p:blipFill>
          <a:blip r:embed="rId3"/>
          <a:stretch>
            <a:fillRect/>
          </a:stretch>
        </p:blipFill>
        <p:spPr>
          <a:xfrm>
            <a:off x="1887022" y="1261872"/>
            <a:ext cx="841765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insurer dialog</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SCR-PM-17 Insurers: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72.png"/>
          <p:cNvPicPr>
            <a:picLocks noChangeAspect="1"/>
          </p:cNvPicPr>
          <p:nvPr/>
        </p:nvPicPr>
        <p:blipFill>
          <a:blip r:embed="rId3"/>
          <a:stretch>
            <a:fillRect/>
          </a:stretch>
        </p:blipFill>
        <p:spPr>
          <a:xfrm>
            <a:off x="548640" y="1261872"/>
            <a:ext cx="11094415" cy="45286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as the Auditor sees them, without the maintenance actions (part 1 of 2)</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SCR-PM-17 Insurers: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73.png"/>
          <p:cNvPicPr>
            <a:picLocks noChangeAspect="1"/>
          </p:cNvPicPr>
          <p:nvPr/>
        </p:nvPicPr>
        <p:blipFill>
          <a:blip r:embed="rId3"/>
          <a:stretch>
            <a:fillRect/>
          </a:stretch>
        </p:blipFill>
        <p:spPr>
          <a:xfrm>
            <a:off x="548640" y="1261872"/>
            <a:ext cx="11094415" cy="226192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Insurers as the Auditor sees them, without the maintenance actions (part 2 of 2)</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insurer: its profile (partner code, accreditation, placement channel and e-mails, credit days, maker and authoriser), its branches with the local government tax rate, and its commission rates by product.</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Insurers › Insurer</a:t>
                      </a:r>
                    </a:p>
                    <a:p>
                      <a:r>
                        <a:rPr sz="950" b="0">
                          <a:solidFill>
                            <a:srgbClr val="4B4B4B"/>
                          </a:solidFill>
                          <a:latin typeface="Arial"/>
                        </a:rPr>
                        <a:t>Insurers › a row</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FR-PM-014</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business sees and maintains everything that is specific to one insurer.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1" cy="398523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739135">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Profile</a:t>
                      </a:r>
                    </a:p>
                  </a:txBody>
                  <a:tcPr marL="54864" marR="54864" marT="27432" marB="27432">
                    <a:solidFill>
                      <a:srgbClr val="FFFFFF"/>
                    </a:solidFill>
                  </a:tcPr>
                </a:tc>
                <a:tc>
                  <a:txBody>
                    <a:bodyPr/>
                    <a:lstStyle/>
                    <a:p>
                      <a:r>
                        <a:rPr sz="850" b="0">
                          <a:solidFill>
                            <a:srgbClr val="4B4B4B"/>
                          </a:solidFill>
                          <a:latin typeface="Arial"/>
                        </a:rPr>
                        <a:t>Partner code / Short name / IC accreditation / Accredited until / Placement channel / Placement e-mails / Credit days / Maker / Authorized by</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As entered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Branches</a:t>
                      </a:r>
                    </a:p>
                  </a:txBody>
                  <a:tcPr marL="54864" marR="54864" marT="27432" marB="27432">
                    <a:solidFill>
                      <a:srgbClr val="E5F5FF"/>
                    </a:solidFill>
                  </a:tcPr>
                </a:tc>
                <a:tc>
                  <a:txBody>
                    <a:bodyPr/>
                    <a:lstStyle/>
                    <a:p>
                      <a:r>
                        <a:rPr sz="850" b="0">
                          <a:solidFill>
                            <a:srgbClr val="4B4B4B"/>
                          </a:solidFill>
                          <a:latin typeface="Arial"/>
                        </a:rPr>
                        <a:t>Code / Name / City / LGT % / Placement e-mail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Branch of the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branch recorded.</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Commission rates</a:t>
                      </a:r>
                    </a:p>
                  </a:txBody>
                  <a:tcPr marL="54864" marR="54864" marT="27432" marB="27432">
                    <a:solidFill>
                      <a:srgbClr val="FFFFFF"/>
                    </a:solidFill>
                  </a:tcPr>
                </a:tc>
                <a:tc>
                  <a:txBody>
                    <a:bodyPr/>
                    <a:lstStyle/>
                    <a:p>
                      <a:r>
                        <a:rPr sz="850" b="0">
                          <a:solidFill>
                            <a:srgbClr val="4B4B4B"/>
                          </a:solidFill>
                          <a:latin typeface="Arial"/>
                        </a:rPr>
                        <a:t>Product / Commission % / From / To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All products or one product; To shows Open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commission rate: the product default applies.</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Branch</a:t>
                      </a:r>
                    </a:p>
                  </a:txBody>
                  <a:tcPr marL="54864" marR="54864" marT="27432" marB="27432">
                    <a:solidFill>
                      <a:srgbClr val="E5F5FF"/>
                    </a:solidFill>
                  </a:tcPr>
                </a:tc>
                <a:tc>
                  <a:txBody>
                    <a:bodyPr/>
                    <a:lstStyle/>
                    <a:p>
                      <a:r>
                        <a:rPr sz="850" b="0">
                          <a:solidFill>
                            <a:srgbClr val="4B4B4B"/>
                          </a:solidFill>
                          <a:latin typeface="Arial"/>
                        </a:rPr>
                        <a:t>Code / 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Branch code and name</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insurer</a:t>
                      </a:r>
                    </a:p>
                  </a:txBody>
                  <a:tcPr marL="54864" marR="54864" marT="27432" marB="27432">
                    <a:solidFill>
                      <a:srgbClr val="E5F5FF"/>
                    </a:solidFill>
                  </a:tcPr>
                </a:tc>
                <a:tc>
                  <a:txBody>
                    <a:bodyPr/>
                    <a:lstStyle/>
                    <a:p>
                      <a:r>
                        <a:rPr sz="850" b="0">
                          <a:solidFill>
                            <a:srgbClr val="4B4B4B"/>
                          </a:solidFill>
                          <a:latin typeface="Arial"/>
                        </a:rPr>
                        <a:t>Insurer branch already exists: &lt;key&gt;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Branch</a:t>
                      </a:r>
                    </a:p>
                  </a:txBody>
                  <a:tcPr marL="54864" marR="54864" marT="27432" marB="27432">
                    <a:solidFill>
                      <a:srgbClr val="FFFFFF"/>
                    </a:solidFill>
                  </a:tcPr>
                </a:tc>
                <a:tc>
                  <a:txBody>
                    <a:bodyPr/>
                    <a:lstStyle/>
                    <a:p>
                      <a:r>
                        <a:rPr sz="850" b="0">
                          <a:solidFill>
                            <a:srgbClr val="4B4B4B"/>
                          </a:solidFill>
                          <a:latin typeface="Arial"/>
                        </a:rPr>
                        <a:t>City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Branch</a:t>
                      </a:r>
                    </a:p>
                  </a:txBody>
                  <a:tcPr marL="54864" marR="54864" marT="27432" marB="27432">
                    <a:solidFill>
                      <a:srgbClr val="E5F5FF"/>
                    </a:solidFill>
                  </a:tcPr>
                </a:tc>
                <a:tc>
                  <a:txBody>
                    <a:bodyPr/>
                    <a:lstStyle/>
                    <a:p>
                      <a:r>
                        <a:rPr sz="850" b="0">
                          <a:solidFill>
                            <a:srgbClr val="4B4B4B"/>
                          </a:solidFill>
                          <a:latin typeface="Arial"/>
                        </a:rPr>
                        <a:t>LGT %</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Local government tax on premium, up to four decimals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0 to 100</a:t>
                      </a:r>
                    </a:p>
                  </a:txBody>
                  <a:tcPr marL="54864" marR="54864" marT="27432" marB="27432">
                    <a:solidFill>
                      <a:srgbClr val="E5F5FF"/>
                    </a:solidFill>
                  </a:tcPr>
                </a:tc>
                <a:tc>
                  <a:txBody>
                    <a:bodyPr/>
                    <a:lstStyle/>
                    <a:p>
                      <a:r>
                        <a:rPr sz="850" b="0">
                          <a:solidFill>
                            <a:srgbClr val="4B4B4B"/>
                          </a:solidFill>
                          <a:latin typeface="Arial"/>
                        </a:rPr>
                        <a:t>The LGT rate must be between 0 and 100 %</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Branch</a:t>
                      </a:r>
                    </a:p>
                  </a:txBody>
                  <a:tcPr marL="54864" marR="54864" marT="27432" marB="27432">
                    <a:solidFill>
                      <a:srgbClr val="FFFFFF"/>
                    </a:solidFill>
                  </a:tcPr>
                </a:tc>
                <a:tc>
                  <a:txBody>
                    <a:bodyPr/>
                    <a:lstStyle/>
                    <a:p>
                      <a:r>
                        <a:rPr sz="850" b="0">
                          <a:solidFill>
                            <a:srgbClr val="4B4B4B"/>
                          </a:solidFill>
                          <a:latin typeface="Arial"/>
                        </a:rPr>
                        <a:t>Placement e-mail</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Address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Commission Rate</a:t>
                      </a:r>
                    </a:p>
                  </a:txBody>
                  <a:tcPr marL="54864" marR="54864" marT="27432" marB="27432">
                    <a:solidFill>
                      <a:srgbClr val="E5F5FF"/>
                    </a:solidFill>
                  </a:tcPr>
                </a:tc>
                <a:tc>
                  <a:txBody>
                    <a:bodyPr/>
                    <a:lstStyle/>
                    <a:p>
                      <a:r>
                        <a:rPr sz="850" b="0">
                          <a:solidFill>
                            <a:srgbClr val="4B4B4B"/>
                          </a:solidFill>
                          <a:latin typeface="Arial"/>
                        </a:rPr>
                        <a:t>Product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products of the insurer or one active product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Commission Rate</a:t>
                      </a:r>
                    </a:p>
                  </a:txBody>
                  <a:tcPr marL="54864" marR="54864" marT="27432" marB="27432">
                    <a:solidFill>
                      <a:srgbClr val="FFFFFF"/>
                    </a:solidFill>
                  </a:tcPr>
                </a:tc>
                <a:tc>
                  <a:txBody>
                    <a:bodyPr/>
                    <a:lstStyle/>
                    <a:p>
                      <a:r>
                        <a:rPr sz="850" b="0">
                          <a:solidFill>
                            <a:srgbClr val="4B4B4B"/>
                          </a:solidFill>
                          <a:latin typeface="Arial"/>
                        </a:rPr>
                        <a:t>Commission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commission rate must be a percentage between 0 and 100</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Commission Rate</a:t>
                      </a:r>
                    </a:p>
                  </a:txBody>
                  <a:tcPr marL="54864" marR="54864" marT="27432" marB="27432">
                    <a:solidFill>
                      <a:srgbClr val="E5F5FF"/>
                    </a:solidFill>
                  </a:tcPr>
                </a:tc>
                <a:tc>
                  <a:txBody>
                    <a:bodyPr/>
                    <a:lstStyle/>
                    <a:p>
                      <a:r>
                        <a:rPr sz="850" b="0">
                          <a:solidFill>
                            <a:srgbClr val="4B4B4B"/>
                          </a:solidFill>
                          <a:latin typeface="Arial"/>
                        </a:rPr>
                        <a:t>Effective from / 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 (from)</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the effective-from date / The effective-to date is before the effective-from date</a:t>
                      </a:r>
                    </a:p>
                  </a:txBody>
                  <a:tcPr marL="54864" marR="54864" marT="27432" marB="27432">
                    <a:solidFill>
                      <a:srgbClr val="E5F5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graphicFrame>
        <p:nvGraphicFramePr>
          <p:cNvPr id="9" name="Table 8"/>
          <p:cNvGraphicFramePr>
            <a:graphicFrameLocks noGrp="1"/>
          </p:cNvGraphicFramePr>
          <p:nvPr/>
        </p:nvGraphicFramePr>
        <p:xfrm>
          <a:off x="548640" y="1325880"/>
          <a:ext cx="11094412" cy="123443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Edit</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insurer dialog (partner code fixed);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branch</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New Branch;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Add rate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Commission Rate;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commission rate in force on the account's period start applies; without an insurer rate, the product default applies (FR-PM-014).</a:t>
                      </a:r>
                    </a:p>
                  </a:txBody>
                  <a:tcPr marL="54864" marR="54864" marT="27432" marB="27432">
                    <a:solidFill>
                      <a:srgbClr val="FFFFFF"/>
                    </a:solidFill>
                  </a:tcPr>
                </a:tc>
              </a:tr>
              <a:tr h="243840">
                <a:tc>
                  <a:txBody>
                    <a:bodyPr/>
                    <a:lstStyle/>
                    <a:p>
                      <a:r>
                        <a:rPr sz="1000" b="0">
                          <a:solidFill>
                            <a:srgbClr val="4B4B4B"/>
                          </a:solidFill>
                          <a:latin typeface="Arial"/>
                        </a:rPr>
                        <a:t>A package version's own insurer rate and minimum premium win over the insurer's general terms for that package (FR-PM-014).</a:t>
                      </a:r>
                    </a:p>
                  </a:txBody>
                  <a:tcPr marL="54864" marR="54864" marT="27432" marB="27432">
                    <a:solidFill>
                      <a:srgbClr val="E5F5FF"/>
                    </a:solidFill>
                  </a:tcPr>
                </a:tc>
              </a:tr>
            </a:tbl>
          </a:graphicData>
        </a:graphic>
      </p:graphicFrame>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graphicFrame>
        <p:nvGraphicFramePr>
          <p:cNvPr id="9" name="Table 8"/>
          <p:cNvGraphicFramePr>
            <a:graphicFrameLocks noGrp="1"/>
          </p:cNvGraphicFramePr>
          <p:nvPr/>
        </p:nvGraphicFramePr>
        <p:xfrm>
          <a:off x="548640" y="1325880"/>
          <a:ext cx="11094413" cy="8229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228600">
                <a:tc>
                  <a:txBody>
                    <a:bodyPr/>
                    <a:lstStyle/>
                    <a:p>
                      <a:r>
                        <a:rPr sz="900" b="0">
                          <a:solidFill>
                            <a:srgbClr val="4B4B4B"/>
                          </a:solidFill>
                          <a:latin typeface="Arial"/>
                        </a:rPr>
                        <a:t>Default</a:t>
                      </a:r>
                    </a:p>
                  </a:txBody>
                  <a:tcPr marL="54864" marR="54864" marT="27432" marB="27432">
                    <a:solidFill>
                      <a:srgbClr val="FFFFFF"/>
                    </a:solidFill>
                  </a:tcPr>
                </a:tc>
                <a:tc>
                  <a:txBody>
                    <a:bodyPr/>
                    <a:lstStyle/>
                    <a:p>
                      <a:r>
                        <a:rPr sz="900" b="0">
                          <a:solidFill>
                            <a:srgbClr val="4B4B4B"/>
                          </a:solidFill>
                          <a:latin typeface="Arial"/>
                        </a:rPr>
                        <a:t>WT-A step 19</a:t>
                      </a:r>
                    </a:p>
                  </a:txBody>
                  <a:tcPr marL="54864" marR="54864" marT="27432" marB="27432">
                    <a:solidFill>
                      <a:srgbClr val="FFFFFF"/>
                    </a:solidFill>
                  </a:tcPr>
                </a:tc>
                <a:tc>
                  <a:txBody>
                    <a:bodyPr/>
                    <a:lstStyle/>
                    <a:p>
                      <a:r>
                        <a:rPr sz="900" b="0">
                          <a:solidFill>
                            <a:srgbClr val="4B4B4B"/>
                          </a:solidFill>
                          <a:latin typeface="Arial"/>
                        </a:rPr>
                        <a:t>Opens the insurer and clicks Authorize on the new commission rate</a:t>
                      </a:r>
                    </a:p>
                  </a:txBody>
                  <a:tcPr marL="54864" marR="54864" marT="27432" marB="27432">
                    <a:solidFill>
                      <a:srgbClr val="FFFFFF"/>
                    </a:solidFill>
                  </a:tcPr>
                </a:tc>
                <a:tc>
                  <a:txBody>
                    <a:bodyPr/>
                    <a:lstStyle/>
                    <a:p>
                      <a:r>
                        <a:rPr sz="900" b="0">
                          <a:solidFill>
                            <a:srgbClr val="4B4B4B"/>
                          </a:solidFill>
                          <a:latin typeface="Arial"/>
                        </a:rPr>
                        <a:t>SCR-PM-18_wt-a-step-19.png</a:t>
                      </a:r>
                    </a:p>
                  </a:txBody>
                  <a:tcPr marL="54864" marR="54864" marT="27432" marB="27432">
                    <a:solidFill>
                      <a:srgbClr val="FFFFFF"/>
                    </a:solidFill>
                  </a:tcPr>
                </a:tc>
              </a:tr>
              <a:tr h="36576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18</a:t>
                      </a:r>
                    </a:p>
                  </a:txBody>
                  <a:tcPr marL="54864" marR="54864" marT="27432" marB="27432">
                    <a:solidFill>
                      <a:srgbClr val="E5F5FF"/>
                    </a:solidFill>
                  </a:tcPr>
                </a:tc>
                <a:tc>
                  <a:txBody>
                    <a:bodyPr/>
                    <a:lstStyle/>
                    <a:p>
                      <a:r>
                        <a:rPr sz="900" b="0">
                          <a:solidFill>
                            <a:srgbClr val="4B4B4B"/>
                          </a:solidFill>
                          <a:latin typeface="Arial"/>
                        </a:rPr>
                        <a:t>Opens Insurers › Mabuhay General Insurance Corp., clicks Add rate, chooses MTR30, 15% from today and clicks Save for Authorization</a:t>
                      </a:r>
                    </a:p>
                  </a:txBody>
                  <a:tcPr marL="54864" marR="54864" marT="27432" marB="27432">
                    <a:solidFill>
                      <a:srgbClr val="E5F5FF"/>
                    </a:solidFill>
                  </a:tcPr>
                </a:tc>
                <a:tc>
                  <a:txBody>
                    <a:bodyPr/>
                    <a:lstStyle/>
                    <a:p>
                      <a:r>
                        <a:rPr sz="900" b="0">
                          <a:solidFill>
                            <a:srgbClr val="4B4B4B"/>
                          </a:solidFill>
                          <a:latin typeface="Arial"/>
                        </a:rPr>
                        <a:t>SCR-PM-18_wt-a-step-18.png</a:t>
                      </a:r>
                    </a:p>
                  </a:txBody>
                  <a:tcPr marL="54864" marR="54864" marT="27432" marB="27432">
                    <a:solidFill>
                      <a:srgbClr val="E5F5FF"/>
                    </a:solidFill>
                  </a:tcPr>
                </a:tc>
              </a:tr>
            </a:tbl>
          </a:graphicData>
        </a:graphic>
      </p:graphicFrame>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4.png"/>
          <p:cNvPicPr>
            <a:picLocks noChangeAspect="1"/>
          </p:cNvPicPr>
          <p:nvPr/>
        </p:nvPicPr>
        <p:blipFill>
          <a:blip r:embed="rId3"/>
          <a:stretch>
            <a:fillRect/>
          </a:stretch>
        </p:blipFill>
        <p:spPr>
          <a:xfrm>
            <a:off x="548640" y="1261872"/>
            <a:ext cx="11094415" cy="446645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1 of 3)</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5.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2 of 3)</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SCR-PM-18 Insurer record: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6.png"/>
          <p:cNvPicPr>
            <a:picLocks noChangeAspect="1"/>
          </p:cNvPicPr>
          <p:nvPr/>
        </p:nvPicPr>
        <p:blipFill>
          <a:blip r:embed="rId3"/>
          <a:stretch>
            <a:fillRect/>
          </a:stretch>
        </p:blipFill>
        <p:spPr>
          <a:xfrm>
            <a:off x="548640" y="1261872"/>
            <a:ext cx="11094415" cy="138680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Insurer record with branches and commission rates (part 3 of 3)</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335</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statutory charges and rating tables applied by the premium calculation: documentary stamp tax, premium tax, VAT, fire service tax and the motor own-damage factors; the short-period table; and the bodily injury and property damage limit premiums. Every row is effective-dated and maker-checker.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Rates &amp; Taxes</a:t>
                      </a:r>
                    </a:p>
                    <a:p>
                      <a:r>
                        <a:rPr sz="950" b="0">
                          <a:solidFill>
                            <a:srgbClr val="4B4B4B"/>
                          </a:solidFill>
                          <a:latin typeface="Arial"/>
                        </a:rPr>
                        <a:t>Sidebar entry Rates &amp; Taxes</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charge applied to a premium comes from one authorised, effective-dated table.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1" cy="411477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Tabs</a:t>
                      </a:r>
                    </a:p>
                  </a:txBody>
                  <a:tcPr marL="54864" marR="54864" marT="27432" marB="27432">
                    <a:solidFill>
                      <a:srgbClr val="FFFFFF"/>
                    </a:solidFill>
                  </a:tcPr>
                </a:tc>
                <a:tc>
                  <a:txBody>
                    <a:bodyPr/>
                    <a:lstStyle/>
                    <a:p>
                      <a:r>
                        <a:rPr sz="850" b="0">
                          <a:solidFill>
                            <a:srgbClr val="4B4B4B"/>
                          </a:solidFill>
                          <a:latin typeface="Arial"/>
                        </a:rPr>
                        <a:t>Taxes &amp; factors / Short-period table / BI / PD limits</a:t>
                      </a:r>
                    </a:p>
                  </a:txBody>
                  <a:tcPr marL="54864" marR="54864" marT="27432" marB="27432">
                    <a:solidFill>
                      <a:srgbClr val="FFFFFF"/>
                    </a:solidFill>
                  </a:tcPr>
                </a:tc>
                <a:tc>
                  <a:txBody>
                    <a:bodyPr/>
                    <a:lstStyle/>
                    <a:p>
                      <a:r>
                        <a:rPr sz="850" b="0">
                          <a:solidFill>
                            <a:srgbClr val="4B4B4B"/>
                          </a:solidFill>
                          <a:latin typeface="Arial"/>
                        </a:rPr>
                        <a:t>Tab</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Taxes &amp; factors</a:t>
                      </a:r>
                    </a:p>
                  </a:txBody>
                  <a:tcPr marL="54864" marR="54864" marT="27432" marB="27432">
                    <a:solidFill>
                      <a:srgbClr val="E5F5FF"/>
                    </a:solidFill>
                  </a:tcPr>
                </a:tc>
                <a:tc>
                  <a:txBody>
                    <a:bodyPr/>
                    <a:lstStyle/>
                    <a:p>
                      <a:r>
                        <a:rPr sz="850" b="0">
                          <a:solidFill>
                            <a:srgbClr val="4B4B4B"/>
                          </a:solidFill>
                          <a:latin typeface="Arial"/>
                        </a:rPr>
                        <a:t>Rate / Line / % / From / To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Rate name; All lines or a line; percentage; dd-MMM-yyyy; 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Short-period table</a:t>
                      </a:r>
                    </a:p>
                  </a:txBody>
                  <a:tcPr marL="54864" marR="54864" marT="27432" marB="27432">
                    <a:solidFill>
                      <a:srgbClr val="FFFFFF"/>
                    </a:solidFill>
                  </a:tcPr>
                </a:tc>
                <a:tc>
                  <a:txBody>
                    <a:bodyPr/>
                    <a:lstStyle/>
                    <a:p>
                      <a:r>
                        <a:rPr sz="850" b="0">
                          <a:solidFill>
                            <a:srgbClr val="4B4B4B"/>
                          </a:solidFill>
                          <a:latin typeface="Arial"/>
                        </a:rPr>
                        <a:t>Months Covered (up To) / % of Annual Premium / From / To /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Months 1 to 12; percentage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BI / PD limits</a:t>
                      </a:r>
                    </a:p>
                  </a:txBody>
                  <a:tcPr marL="54864" marR="54864" marT="27432" marB="27432">
                    <a:solidFill>
                      <a:srgbClr val="E5F5FF"/>
                    </a:solidFill>
                  </a:tcPr>
                </a:tc>
                <a:tc>
                  <a:txBody>
                    <a:bodyPr/>
                    <a:lstStyle/>
                    <a:p>
                      <a:r>
                        <a:rPr sz="850" b="0">
                          <a:solidFill>
                            <a:srgbClr val="4B4B4B"/>
                          </a:solidFill>
                          <a:latin typeface="Arial"/>
                        </a:rPr>
                        <a:t>Coverage / Limit / Premium / From / To / Status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Bodily injury or Property damage; amounts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Rate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DST, premium tax, VAT, fire service tax and the motor factors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Line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Blank = every line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609596">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Rate % / % of annual premium</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Percentage, up to four decimals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The rate must be a percentage between 0 and 100 / The short-period percentage must be a percentage between 0 and 100</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Months covered</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 to 12</a:t>
                      </a:r>
                    </a:p>
                  </a:txBody>
                  <a:tcPr marL="54864" marR="54864" marT="27432" marB="27432">
                    <a:solidFill>
                      <a:srgbClr val="E5F5FF"/>
                    </a:solidFill>
                  </a:tcPr>
                </a:tc>
                <a:tc>
                  <a:txBody>
                    <a:bodyPr/>
                    <a:lstStyle/>
                    <a:p>
                      <a:r>
                        <a:rPr sz="850" b="0">
                          <a:solidFill>
                            <a:srgbClr val="4B4B4B"/>
                          </a:solidFill>
                          <a:latin typeface="Arial"/>
                        </a:rPr>
                        <a:t>Y (short-period table)</a:t>
                      </a:r>
                    </a:p>
                  </a:txBody>
                  <a:tcPr marL="54864" marR="54864" marT="27432" marB="27432">
                    <a:solidFill>
                      <a:srgbClr val="E5F5FF"/>
                    </a:solidFill>
                  </a:tcPr>
                </a:tc>
                <a:tc>
                  <a:txBody>
                    <a:bodyPr/>
                    <a:lstStyle/>
                    <a:p>
                      <a:r>
                        <a:rPr sz="850" b="0">
                          <a:solidFill>
                            <a:srgbClr val="4B4B4B"/>
                          </a:solidFill>
                          <a:latin typeface="Arial"/>
                        </a:rPr>
                        <a:t>1 to 12</a:t>
                      </a:r>
                    </a:p>
                  </a:txBody>
                  <a:tcPr marL="54864" marR="54864" marT="27432" marB="27432">
                    <a:solidFill>
                      <a:srgbClr val="E5F5FF"/>
                    </a:solidFill>
                  </a:tcPr>
                </a:tc>
                <a:tc>
                  <a:txBody>
                    <a:bodyPr/>
                    <a:lstStyle/>
                    <a:p>
                      <a:r>
                        <a:rPr sz="850" b="0">
                          <a:solidFill>
                            <a:srgbClr val="4B4B4B"/>
                          </a:solidFill>
                          <a:latin typeface="Arial"/>
                        </a:rPr>
                        <a:t>Months covered must be between 1 and 12</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Coverage / Limit / Premium</a:t>
                      </a:r>
                    </a:p>
                  </a:txBody>
                  <a:tcPr marL="54864" marR="54864" marT="27432" marB="27432">
                    <a:solidFill>
                      <a:srgbClr val="FFFFFF"/>
                    </a:solidFill>
                  </a:tcPr>
                </a:tc>
                <a:tc>
                  <a:txBody>
                    <a:bodyPr/>
                    <a:lstStyle/>
                    <a:p>
                      <a:r>
                        <a:rPr sz="850" b="0">
                          <a:solidFill>
                            <a:srgbClr val="4B4B4B"/>
                          </a:solidFill>
                          <a:latin typeface="Arial"/>
                        </a:rPr>
                        <a:t>Drop-down / Number</a:t>
                      </a:r>
                    </a:p>
                  </a:txBody>
                  <a:tcPr marL="54864" marR="54864" marT="27432" marB="27432">
                    <a:solidFill>
                      <a:srgbClr val="FFFFFF"/>
                    </a:solidFill>
                  </a:tcPr>
                </a:tc>
                <a:tc>
                  <a:txBody>
                    <a:bodyPr/>
                    <a:lstStyle/>
                    <a:p>
                      <a:r>
                        <a:rPr sz="850" b="0">
                          <a:solidFill>
                            <a:srgbClr val="4B4B4B"/>
                          </a:solidFill>
                          <a:latin typeface="Arial"/>
                        </a:rPr>
                        <a:t>Bodily injury (BI) or Property damage (PD); amounts</a:t>
                      </a:r>
                    </a:p>
                  </a:txBody>
                  <a:tcPr marL="54864" marR="54864" marT="27432" marB="27432">
                    <a:solidFill>
                      <a:srgbClr val="FFFFFF"/>
                    </a:solidFill>
                  </a:tcPr>
                </a:tc>
                <a:tc>
                  <a:txBody>
                    <a:bodyPr/>
                    <a:lstStyle/>
                    <a:p>
                      <a:r>
                        <a:rPr sz="850" b="0">
                          <a:solidFill>
                            <a:srgbClr val="4B4B4B"/>
                          </a:solidFill>
                          <a:latin typeface="Arial"/>
                        </a:rPr>
                        <a:t>Y (limit table)</a:t>
                      </a:r>
                    </a:p>
                  </a:txBody>
                  <a:tcPr marL="54864" marR="54864" marT="27432" marB="27432">
                    <a:solidFill>
                      <a:srgbClr val="FFFFFF"/>
                    </a:solidFill>
                  </a:tcPr>
                </a:tc>
                <a:tc>
                  <a:txBody>
                    <a:bodyPr/>
                    <a:lstStyle/>
                    <a:p>
                      <a:r>
                        <a:rPr sz="850" b="0">
                          <a:solidFill>
                            <a:srgbClr val="4B4B4B"/>
                          </a:solidFill>
                          <a:latin typeface="Arial"/>
                        </a:rPr>
                        <a:t>Limit greater than zero; premium zero or more</a:t>
                      </a:r>
                    </a:p>
                  </a:txBody>
                  <a:tcPr marL="54864" marR="54864" marT="27432" marB="27432">
                    <a:solidFill>
                      <a:srgbClr val="FFFFFF"/>
                    </a:solidFill>
                  </a:tcPr>
                </a:tc>
                <a:tc>
                  <a:txBody>
                    <a:bodyPr/>
                    <a:lstStyle/>
                    <a:p>
                      <a:r>
                        <a:rPr sz="850" b="0">
                          <a:solidFill>
                            <a:srgbClr val="4B4B4B"/>
                          </a:solidFill>
                          <a:latin typeface="Arial"/>
                        </a:rPr>
                        <a:t>The limit must be greater than zero / The premium cannot be negative</a:t>
                      </a:r>
                    </a:p>
                  </a:txBody>
                  <a:tcPr marL="54864" marR="54864" marT="27432" marB="27432">
                    <a:solidFill>
                      <a:srgbClr val="FFFFFF"/>
                    </a:solidFill>
                  </a:tcPr>
                </a:tc>
              </a:tr>
              <a:tr h="480057">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New rate</a:t>
                      </a:r>
                    </a:p>
                  </a:txBody>
                  <a:tcPr marL="54864" marR="54864" marT="27432" marB="27432">
                    <a:solidFill>
                      <a:srgbClr val="E5F5FF"/>
                    </a:solidFill>
                  </a:tcPr>
                </a:tc>
                <a:tc>
                  <a:txBody>
                    <a:bodyPr/>
                    <a:lstStyle/>
                    <a:p>
                      <a:r>
                        <a:rPr sz="850" b="0">
                          <a:solidFill>
                            <a:srgbClr val="4B4B4B"/>
                          </a:solidFill>
                          <a:latin typeface="Arial"/>
                        </a:rPr>
                        <a:t>Effective from / Effective to</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 (from)</a:t>
                      </a:r>
                    </a:p>
                  </a:txBody>
                  <a:tcPr marL="54864" marR="54864" marT="27432" marB="27432">
                    <a:solidFill>
                      <a:srgbClr val="E5F5FF"/>
                    </a:solidFill>
                  </a:tcPr>
                </a:tc>
                <a:tc>
                  <a:txBody>
                    <a:bodyPr/>
                    <a:lstStyle/>
                    <a:p>
                      <a:r>
                        <a:rPr sz="850" b="0">
                          <a:solidFill>
                            <a:srgbClr val="4B4B4B"/>
                          </a:solidFill>
                          <a:latin typeface="Arial"/>
                        </a:rPr>
                        <a:t>To on or after from</a:t>
                      </a:r>
                    </a:p>
                  </a:txBody>
                  <a:tcPr marL="54864" marR="54864" marT="27432" marB="27432">
                    <a:solidFill>
                      <a:srgbClr val="E5F5FF"/>
                    </a:solidFill>
                  </a:tcPr>
                </a:tc>
                <a:tc>
                  <a:txBody>
                    <a:bodyPr/>
                    <a:lstStyle/>
                    <a:p>
                      <a:r>
                        <a:rPr sz="850" b="0">
                          <a:solidFill>
                            <a:srgbClr val="4B4B4B"/>
                          </a:solidFill>
                          <a:latin typeface="Arial"/>
                        </a:rPr>
                        <a:t>Enter the effective-from date / The effective-to date is before the effective-from date</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Rate</a:t>
                      </a:r>
                    </a:p>
                  </a:txBody>
                  <a:tcPr marL="54864" marR="54864" marT="27432" marB="27432">
                    <a:solidFill>
                      <a:srgbClr val="FFFFFF"/>
                    </a:solidFill>
                  </a:tcPr>
                </a:tc>
                <a:tc>
                  <a:txBody>
                    <a:bodyPr/>
                    <a:lstStyle/>
                    <a:p>
                      <a:r>
                        <a:rPr sz="850" b="0">
                          <a:solidFill>
                            <a:srgbClr val="4B4B4B"/>
                          </a:solidFill>
                          <a:latin typeface="Arial"/>
                        </a:rPr>
                        <a:t>MASTER_MAINTAIN (Business Administrator)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the dialog of the current tab;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 / Deactivate</a:t>
                      </a:r>
                    </a:p>
                  </a:txBody>
                  <a:tcPr marL="54864" marR="54864" marT="27432" marB="27432">
                    <a:solidFill>
                      <a:srgbClr val="E5F5FF"/>
                    </a:solidFill>
                  </a:tcPr>
                </a:tc>
                <a:tc>
                  <a:txBody>
                    <a:bodyPr/>
                    <a:lstStyle/>
                    <a:p>
                      <a:r>
                        <a:rPr sz="850" b="0">
                          <a:solidFill>
                            <a:srgbClr val="4B4B4B"/>
                          </a:solidFill>
                          <a:latin typeface="Arial"/>
                        </a:rPr>
                        <a:t>MASTER_AUTHORIZE / MASTER_MAINTAIN</a:t>
                      </a:r>
                    </a:p>
                  </a:txBody>
                  <a:tcPr marL="54864" marR="54864" marT="27432" marB="27432">
                    <a:solidFill>
                      <a:srgbClr val="E5F5FF"/>
                    </a:solidFill>
                  </a:tcPr>
                </a:tc>
                <a:tc>
                  <a:txBody>
                    <a:bodyPr/>
                    <a:lstStyle/>
                    <a:p>
                      <a:r>
                        <a:rPr sz="850" b="0">
                          <a:solidFill>
                            <a:srgbClr val="4B4B4B"/>
                          </a:solidFill>
                          <a:latin typeface="Arial"/>
                        </a:rPr>
                        <a:t>As on Insurers</a:t>
                      </a:r>
                    </a:p>
                  </a:txBody>
                  <a:tcPr marL="54864" marR="54864" marT="27432" marB="27432">
                    <a:solidFill>
                      <a:srgbClr val="E5F5FF"/>
                    </a:solidFill>
                  </a:tcPr>
                </a:tc>
                <a:tc>
                  <a:txBody>
                    <a:bodyPr/>
                    <a:lstStyle/>
                    <a:p>
                      <a:r>
                        <a:rPr sz="850" b="0">
                          <a:solidFill>
                            <a:srgbClr val="4B4B4B"/>
                          </a:solidFill>
                          <a:latin typeface="Arial"/>
                        </a:rPr>
                        <a:t>Authorises the row or ends its use</a:t>
                      </a:r>
                    </a:p>
                  </a:txBody>
                  <a:tcPr marL="54864" marR="54864" marT="27432" marB="27432">
                    <a:solidFill>
                      <a:srgbClr val="E5F5FF"/>
                    </a:solidFill>
                  </a:tcPr>
                </a:tc>
                <a:tc>
                  <a:txBody>
                    <a:bodyPr/>
                    <a:lstStyle/>
                    <a:p>
                      <a:r>
                        <a:rPr sz="850" b="0">
                          <a:solidFill>
                            <a:srgbClr val="4B4B4B"/>
                          </a:solidFill>
                          <a:latin typeface="Arial"/>
                        </a:rPr>
                        <a:t>Active /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row in force on the rating date applies; statutory rates keep their effective-date look-up and do not follow the package version (FR-PM-051).</a:t>
                      </a:r>
                    </a:p>
                  </a:txBody>
                  <a:tcPr marL="54864" marR="54864" marT="27432" marB="27432">
                    <a:solidFill>
                      <a:srgbClr val="FFFFFF"/>
                    </a:solidFill>
                  </a:tcPr>
                </a:tc>
              </a:tr>
              <a:tr h="243840">
                <a:tc>
                  <a:txBody>
                    <a:bodyPr/>
                    <a:lstStyle/>
                    <a:p>
                      <a:r>
                        <a:rPr sz="1000" b="0">
                          <a:solidFill>
                            <a:srgbClr val="4B4B4B"/>
                          </a:solidFill>
                          <a:latin typeface="Arial"/>
                        </a:rPr>
                        <a:t>A period without a short-period row, or a motor limit not in the table, is refused at rating (FR-PM-051).</a:t>
                      </a:r>
                    </a:p>
                  </a:txBody>
                  <a:tcPr marL="54864" marR="54864" marT="27432" marB="27432">
                    <a:solidFill>
                      <a:srgbClr val="E5F5FF"/>
                    </a:solidFill>
                  </a:tcPr>
                </a:tc>
              </a:tr>
            </a:tbl>
          </a:graphicData>
        </a:graphic>
      </p:graphicFrame>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Rates &amp; Taxes, Taxes &amp; factors tab (part 1 of 2)</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8.png"/>
          <p:cNvPicPr>
            <a:picLocks noChangeAspect="1"/>
          </p:cNvPicPr>
          <p:nvPr/>
        </p:nvPicPr>
        <p:blipFill>
          <a:blip r:embed="rId3"/>
          <a:stretch>
            <a:fillRect/>
          </a:stretch>
        </p:blipFill>
        <p:spPr>
          <a:xfrm>
            <a:off x="548640" y="1261872"/>
            <a:ext cx="11094415" cy="18745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Rates &amp; Taxes, Taxes &amp; factors tab (part 2 of 2)</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SCR-PM-19 Rates &amp; Taxes: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pm-19-02-new.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tax or rating factor dialog</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sales organisation of the company as one tree table: regions, departments and teams with their cost centres, and the account officers of each team by name, role and assignment date. Accounts are stamped with the creator's units and cost centre when they are created.</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Business Services, Business Administrator, New Business Approver, System Administrator,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Sales Organisation</a:t>
                      </a:r>
                    </a:p>
                    <a:p>
                      <a:r>
                        <a:rPr sz="950" b="0">
                          <a:solidFill>
                            <a:srgbClr val="4B4B4B"/>
                          </a:solidFill>
                          <a:latin typeface="Arial"/>
                        </a:rPr>
                        <a:t>Sidebar entry Sales Organisation</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account and production report is attributed to the right region, department, team and officer.</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SCR-PM-20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343</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Search unit code, name or officer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Unit code or name, or the officer's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Contains search; the matching branches open</a:t>
                      </a:r>
                    </a:p>
                  </a:txBody>
                  <a:tcPr marL="54864" marR="54864" marT="27432" marB="27432">
                    <a:solidFill>
                      <a:srgbClr val="FFFFFF"/>
                    </a:solidFill>
                  </a:tcPr>
                </a:tc>
                <a:tc>
                  <a:txBody>
                    <a:bodyPr/>
                    <a:lstStyle/>
                    <a:p>
                      <a:r>
                        <a:rPr sz="850" b="0">
                          <a:solidFill>
                            <a:srgbClr val="4B4B4B"/>
                          </a:solidFill>
                          <a:latin typeface="Arial"/>
                        </a:rPr>
                        <a:t>No unit or officer matches the search</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Expand All / Collapse All</a:t>
                      </a:r>
                    </a:p>
                  </a:txBody>
                  <a:tcPr marL="54864" marR="54864" marT="27432" marB="27432">
                    <a:solidFill>
                      <a:srgbClr val="E5F5FF"/>
                    </a:solidFill>
                  </a:tcPr>
                </a:tc>
                <a:tc>
                  <a:txBody>
                    <a:bodyPr/>
                    <a:lstStyle/>
                    <a:p>
                      <a:r>
                        <a:rPr sz="850" b="0">
                          <a:solidFill>
                            <a:srgbClr val="4B4B4B"/>
                          </a:solidFill>
                          <a:latin typeface="Arial"/>
                        </a:rPr>
                        <a:t>Button</a:t>
                      </a:r>
                    </a:p>
                  </a:txBody>
                  <a:tcPr marL="54864" marR="54864" marT="27432" marB="27432">
                    <a:solidFill>
                      <a:srgbClr val="E5F5FF"/>
                    </a:solidFill>
                  </a:tcPr>
                </a:tc>
                <a:tc>
                  <a:txBody>
                    <a:bodyPr/>
                    <a:lstStyle/>
                    <a:p>
                      <a:r>
                        <a:rPr sz="850" b="0">
                          <a:solidFill>
                            <a:srgbClr val="4B4B4B"/>
                          </a:solidFill>
                          <a:latin typeface="Arial"/>
                        </a:rPr>
                        <a:t>Opens or closes every branch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Toolbar</a:t>
                      </a:r>
                    </a:p>
                  </a:txBody>
                  <a:tcPr marL="54864" marR="54864" marT="27432" marB="27432">
                    <a:solidFill>
                      <a:srgbClr val="FFFFFF"/>
                    </a:solidFill>
                  </a:tcPr>
                </a:tc>
                <a:tc>
                  <a:txBody>
                    <a:bodyPr/>
                    <a:lstStyle/>
                    <a:p>
                      <a:r>
                        <a:rPr sz="850" b="0">
                          <a:solidFill>
                            <a:srgbClr val="4B4B4B"/>
                          </a:solidFill>
                          <a:latin typeface="Arial"/>
                        </a:rPr>
                        <a:t>Show Inactive</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Lists deactivated units and removed officers in grey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Toolbar</a:t>
                      </a:r>
                    </a:p>
                  </a:txBody>
                  <a:tcPr marL="54864" marR="54864" marT="27432" marB="27432">
                    <a:solidFill>
                      <a:srgbClr val="E5F5FF"/>
                    </a:solidFill>
                  </a:tcPr>
                </a:tc>
                <a:tc>
                  <a:txBody>
                    <a:bodyPr/>
                    <a:lstStyle/>
                    <a:p>
                      <a:r>
                        <a:rPr sz="850" b="0">
                          <a:solidFill>
                            <a:srgbClr val="4B4B4B"/>
                          </a:solidFill>
                          <a:latin typeface="Arial"/>
                        </a:rPr>
                        <a:t>Summary</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 regions · n departments · n teams · n officers of the rows shown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Unit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Chevron and indentation per level; code in bold and name; an officer by full name with the role below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No sales unit defined yet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Level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Region, Department, Team or Account Officer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The unit's own cost centre, or the cost centre in force with Inherited from &lt;parent code&gt; below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Account Officers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Number of active officers of a team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Assigned Since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date the officer joined the team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Tree table</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Active, Pending Authorization, 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Tree table</a:t>
                      </a:r>
                    </a:p>
                  </a:txBody>
                  <a:tcPr marL="54864" marR="54864" marT="27432" marB="27432">
                    <a:solidFill>
                      <a:srgbClr val="FFFFFF"/>
                    </a:solidFill>
                  </a:tcPr>
                </a:tc>
                <a:tc>
                  <a:txBody>
                    <a:bodyPr/>
                    <a:lstStyle/>
                    <a:p>
                      <a:r>
                        <a:rPr sz="850" b="0">
                          <a:solidFill>
                            <a:srgbClr val="4B4B4B"/>
                          </a:solidFill>
                          <a:latin typeface="Arial"/>
                        </a:rPr>
                        <a:t>Actions</a:t>
                      </a:r>
                    </a:p>
                  </a:txBody>
                  <a:tcPr marL="54864" marR="54864" marT="27432" marB="27432">
                    <a:solidFill>
                      <a:srgbClr val="FFFFFF"/>
                    </a:solidFill>
                  </a:tcPr>
                </a:tc>
                <a:tc>
                  <a:txBody>
                    <a:bodyPr/>
                    <a:lstStyle/>
                    <a:p>
                      <a:r>
                        <a:rPr sz="850" b="0">
                          <a:solidFill>
                            <a:srgbClr val="4B4B4B"/>
                          </a:solidFill>
                          <a:latin typeface="Arial"/>
                        </a:rPr>
                        <a:t>Menu</a:t>
                      </a:r>
                    </a:p>
                  </a:txBody>
                  <a:tcPr marL="54864" marR="54864" marT="27432" marB="27432">
                    <a:solidFill>
                      <a:srgbClr val="FFFFFF"/>
                    </a:solidFill>
                  </a:tcPr>
                </a:tc>
                <a:tc>
                  <a:txBody>
                    <a:bodyPr/>
                    <a:lstStyle/>
                    <a:p>
                      <a:r>
                        <a:rPr sz="850" b="0">
                          <a:solidFill>
                            <a:srgbClr val="4B4B4B"/>
                          </a:solidFill>
                          <a:latin typeface="Arial"/>
                        </a:rPr>
                        <a:t>The actions of the row (see Actions)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New unit / Add sub-unit</a:t>
                      </a:r>
                    </a:p>
                  </a:txBody>
                  <a:tcPr marL="54864" marR="54864" marT="27432" marB="27432">
                    <a:solidFill>
                      <a:srgbClr val="E5F5FF"/>
                    </a:solidFill>
                  </a:tcPr>
                </a:tc>
                <a:tc>
                  <a:txBody>
                    <a:bodyPr/>
                    <a:lstStyle/>
                    <a:p>
                      <a:r>
                        <a:rPr sz="850" b="0">
                          <a:solidFill>
                            <a:srgbClr val="4B4B4B"/>
                          </a:solidFill>
                          <a:latin typeface="Arial"/>
                        </a:rPr>
                        <a:t>Level</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Region, Department, Team; fixed to the level below when opened from a unit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department belongs to a region; a team to a department</a:t>
                      </a:r>
                    </a:p>
                  </a:txBody>
                  <a:tcPr marL="54864" marR="54864" marT="27432" marB="27432">
                    <a:solidFill>
                      <a:srgbClr val="E5F5FF"/>
                    </a:solidFill>
                  </a:tcPr>
                </a:tc>
                <a:tc>
                  <a:txBody>
                    <a:bodyPr/>
                    <a:lstStyle/>
                    <a:p>
                      <a:r>
                        <a:rPr sz="850" b="0">
                          <a:solidFill>
                            <a:srgbClr val="4B4B4B"/>
                          </a:solidFill>
                          <a:latin typeface="Arial"/>
                        </a:rPr>
                        <a:t>A &lt;level&gt; must belong to an active &lt;parent level&gt;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New unit / Add sub-unit</a:t>
                      </a:r>
                    </a:p>
                  </a:txBody>
                  <a:tcPr marL="54864" marR="54864" marT="27432" marB="27432">
                    <a:solidFill>
                      <a:srgbClr val="FFFFFF"/>
                    </a:solidFill>
                  </a:tcPr>
                </a:tc>
                <a:tc>
                  <a:txBody>
                    <a:bodyPr/>
                    <a:lstStyle/>
                    <a:p>
                      <a:r>
                        <a:rPr sz="850" b="0">
                          <a:solidFill>
                            <a:srgbClr val="4B4B4B"/>
                          </a:solidFill>
                          <a:latin typeface="Arial"/>
                        </a:rPr>
                        <a:t>Code / Name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Unit code and name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Unique</a:t>
                      </a:r>
                    </a:p>
                  </a:txBody>
                  <a:tcPr marL="54864" marR="54864" marT="27432" marB="27432">
                    <a:solidFill>
                      <a:srgbClr val="FFFFFF"/>
                    </a:solidFill>
                  </a:tcPr>
                </a:tc>
                <a:tc>
                  <a:txBody>
                    <a:bodyPr/>
                    <a:lstStyle/>
                    <a:p>
                      <a:r>
                        <a:rPr sz="850" b="0">
                          <a:solidFill>
                            <a:srgbClr val="4B4B4B"/>
                          </a:solidFill>
                          <a:latin typeface="Arial"/>
                        </a:rPr>
                        <a:t>Sales unit already exists: &lt;key&gt;</a:t>
                      </a:r>
                    </a:p>
                  </a:txBody>
                  <a:tcPr marL="54864" marR="54864" marT="27432" marB="27432">
                    <a:solidFill>
                      <a:srgbClr val="FFFFFF"/>
                    </a:solidFill>
                  </a:tcPr>
                </a:tc>
              </a:tr>
            </a:tbl>
          </a:graphicData>
        </a:graphic>
      </p:graphicFrame>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SCR-PM-20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344</a:t>
            </a:r>
          </a:p>
        </p:txBody>
      </p:sp>
      <p:graphicFrame>
        <p:nvGraphicFramePr>
          <p:cNvPr id="9" name="Table 8"/>
          <p:cNvGraphicFramePr>
            <a:graphicFrameLocks noGrp="1"/>
          </p:cNvGraphicFramePr>
          <p:nvPr/>
        </p:nvGraphicFramePr>
        <p:xfrm>
          <a:off x="548640" y="1325880"/>
          <a:ext cx="11094411" cy="28422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New unit / Add sub-unit</a:t>
                      </a:r>
                    </a:p>
                  </a:txBody>
                  <a:tcPr marL="54864" marR="54864" marT="27432" marB="27432">
                    <a:solidFill>
                      <a:srgbClr val="FFFFFF"/>
                    </a:solidFill>
                  </a:tcPr>
                </a:tc>
                <a:tc>
                  <a:txBody>
                    <a:bodyPr/>
                    <a:lstStyle/>
                    <a:p>
                      <a:r>
                        <a:rPr sz="850" b="0">
                          <a:solidFill>
                            <a:srgbClr val="4B4B4B"/>
                          </a:solidFill>
                          <a:latin typeface="Arial"/>
                        </a:rPr>
                        <a:t>Cost Center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Blank = inherited from the parent</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cost centre of the company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15</a:t>
                      </a:r>
                    </a:p>
                  </a:txBody>
                  <a:tcPr marL="54864" marR="54864" marT="27432" marB="27432">
                    <a:solidFill>
                      <a:srgbClr val="E5F5FF"/>
                    </a:solidFill>
                  </a:tcPr>
                </a:tc>
                <a:tc>
                  <a:txBody>
                    <a:bodyPr/>
                    <a:lstStyle/>
                    <a:p>
                      <a:r>
                        <a:rPr sz="850" b="0">
                          <a:solidFill>
                            <a:srgbClr val="4B4B4B"/>
                          </a:solidFill>
                          <a:latin typeface="Arial"/>
                        </a:rPr>
                        <a:t>New unit / Add sub-unit</a:t>
                      </a:r>
                    </a:p>
                  </a:txBody>
                  <a:tcPr marL="54864" marR="54864" marT="27432" marB="27432">
                    <a:solidFill>
                      <a:srgbClr val="E5F5FF"/>
                    </a:solidFill>
                  </a:tcPr>
                </a:tc>
                <a:tc>
                  <a:txBody>
                    <a:bodyPr/>
                    <a:lstStyle/>
                    <a:p>
                      <a:r>
                        <a:rPr sz="850" b="0">
                          <a:solidFill>
                            <a:srgbClr val="4B4B4B"/>
                          </a:solidFill>
                          <a:latin typeface="Arial"/>
                        </a:rPr>
                        <a:t>Parent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units of the level above</a:t>
                      </a:r>
                    </a:p>
                  </a:txBody>
                  <a:tcPr marL="54864" marR="54864" marT="27432" marB="27432">
                    <a:solidFill>
                      <a:srgbClr val="E5F5FF"/>
                    </a:solidFill>
                  </a:tcPr>
                </a:tc>
                <a:tc>
                  <a:txBody>
                    <a:bodyPr/>
                    <a:lstStyle/>
                    <a:p>
                      <a:r>
                        <a:rPr sz="850" b="0">
                          <a:solidFill>
                            <a:srgbClr val="4B4B4B"/>
                          </a:solidFill>
                          <a:latin typeface="Arial"/>
                        </a:rPr>
                        <a:t>Cond.: department and team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Unit details</a:t>
                      </a:r>
                    </a:p>
                  </a:txBody>
                  <a:tcPr marL="54864" marR="54864" marT="27432" marB="27432">
                    <a:solidFill>
                      <a:srgbClr val="FFFFFF"/>
                    </a:solidFill>
                  </a:tcPr>
                </a:tc>
                <a:tc>
                  <a:txBody>
                    <a:bodyPr/>
                    <a:lstStyle/>
                    <a:p>
                      <a:r>
                        <a:rPr sz="850" b="0">
                          <a:solidFill>
                            <a:srgbClr val="4B4B4B"/>
                          </a:solidFill>
                          <a:latin typeface="Arial"/>
                        </a:rPr>
                        <a:t>Code, Name, Level, Parent Unit, Cost Center, Unit Head, Sub-units, Account Officers, Status, Status Reason, Created, Last Changed, Authorized</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Names of users, 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17</a:t>
                      </a:r>
                    </a:p>
                  </a:txBody>
                  <a:tcPr marL="54864" marR="54864" marT="27432" marB="27432">
                    <a:solidFill>
                      <a:srgbClr val="E5F5FF"/>
                    </a:solidFill>
                  </a:tcPr>
                </a:tc>
                <a:tc>
                  <a:txBody>
                    <a:bodyPr/>
                    <a:lstStyle/>
                    <a:p>
                      <a:r>
                        <a:rPr sz="850" b="0">
                          <a:solidFill>
                            <a:srgbClr val="4B4B4B"/>
                          </a:solidFill>
                          <a:latin typeface="Arial"/>
                        </a:rPr>
                        <a:t>Assign Account Officer / Reassign</a:t>
                      </a:r>
                    </a:p>
                  </a:txBody>
                  <a:tcPr marL="54864" marR="54864" marT="27432" marB="27432">
                    <a:solidFill>
                      <a:srgbClr val="E5F5FF"/>
                    </a:solidFill>
                  </a:tcPr>
                </a:tc>
                <a:tc>
                  <a:txBody>
                    <a:bodyPr/>
                    <a:lstStyle/>
                    <a:p>
                      <a:r>
                        <a:rPr sz="850" b="0">
                          <a:solidFill>
                            <a:srgbClr val="4B4B4B"/>
                          </a:solidFill>
                          <a:latin typeface="Arial"/>
                        </a:rPr>
                        <a:t>Team</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Active teams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An existing, active team</a:t>
                      </a:r>
                    </a:p>
                  </a:txBody>
                  <a:tcPr marL="54864" marR="54864" marT="27432" marB="27432">
                    <a:solidFill>
                      <a:srgbClr val="E5F5FF"/>
                    </a:solidFill>
                  </a:tcPr>
                </a:tc>
                <a:tc>
                  <a:txBody>
                    <a:bodyPr/>
                    <a:lstStyle/>
                    <a:p>
                      <a:r>
                        <a:rPr sz="850" b="0">
                          <a:solidFill>
                            <a:srgbClr val="4B4B4B"/>
                          </a:solidFill>
                          <a:latin typeface="Arial"/>
                        </a:rPr>
                        <a:t>Team &lt;team code&gt; is unknown or inactive</a:t>
                      </a:r>
                    </a:p>
                  </a:txBody>
                  <a:tcPr marL="54864" marR="54864" marT="27432" marB="27432">
                    <a:solidFill>
                      <a:srgbClr val="E5F5FF"/>
                    </a:solidFill>
                  </a:tcPr>
                </a:tc>
              </a:tr>
              <a:tr h="350518">
                <a:tc>
                  <a:txBody>
                    <a:bodyPr/>
                    <a:lstStyle/>
                    <a:p>
                      <a:r>
                        <a:rPr sz="850" b="0">
                          <a:solidFill>
                            <a:srgbClr val="4B4B4B"/>
                          </a:solidFill>
                          <a:latin typeface="Arial"/>
                        </a:rPr>
                        <a:t>18</a:t>
                      </a:r>
                    </a:p>
                  </a:txBody>
                  <a:tcPr marL="54864" marR="54864" marT="27432" marB="27432">
                    <a:solidFill>
                      <a:srgbClr val="FFFFFF"/>
                    </a:solidFill>
                  </a:tcPr>
                </a:tc>
                <a:tc>
                  <a:txBody>
                    <a:bodyPr/>
                    <a:lstStyle/>
                    <a:p>
                      <a:r>
                        <a:rPr sz="850" b="0">
                          <a:solidFill>
                            <a:srgbClr val="4B4B4B"/>
                          </a:solidFill>
                          <a:latin typeface="Arial"/>
                        </a:rPr>
                        <a:t>Assign Account Officer / Reassign</a:t>
                      </a:r>
                    </a:p>
                  </a:txBody>
                  <a:tcPr marL="54864" marR="54864" marT="27432" marB="27432">
                    <a:solidFill>
                      <a:srgbClr val="FFFFFF"/>
                    </a:solidFill>
                  </a:tcPr>
                </a:tc>
                <a:tc>
                  <a:txBody>
                    <a:bodyPr/>
                    <a:lstStyle/>
                    <a:p>
                      <a:r>
                        <a:rPr sz="850" b="0">
                          <a:solidFill>
                            <a:srgbClr val="4B4B4B"/>
                          </a:solidFill>
                          <a:latin typeface="Arial"/>
                        </a:rPr>
                        <a:t>Account Officer</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BIBS users by name and role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An existing user</a:t>
                      </a:r>
                    </a:p>
                  </a:txBody>
                  <a:tcPr marL="54864" marR="54864" marT="27432" marB="27432">
                    <a:solidFill>
                      <a:srgbClr val="FFFFFF"/>
                    </a:solidFill>
                  </a:tcPr>
                </a:tc>
                <a:tc>
                  <a:txBody>
                    <a:bodyPr/>
                    <a:lstStyle/>
                    <a:p>
                      <a:r>
                        <a:rPr sz="850" b="0">
                          <a:solidFill>
                            <a:srgbClr val="4B4B4B"/>
                          </a:solidFill>
                          <a:latin typeface="Arial"/>
                        </a:rPr>
                        <a:t>Unknown user &lt;user&gt;</a:t>
                      </a:r>
                    </a:p>
                  </a:txBody>
                  <a:tcPr marL="54864" marR="54864" marT="27432" marB="27432">
                    <a:solidFill>
                      <a:srgbClr val="FFFFFF"/>
                    </a:solidFill>
                  </a:tcPr>
                </a:tc>
              </a:tr>
              <a:tr h="350518">
                <a:tc>
                  <a:txBody>
                    <a:bodyPr/>
                    <a:lstStyle/>
                    <a:p>
                      <a:r>
                        <a:rPr sz="850" b="0">
                          <a:solidFill>
                            <a:srgbClr val="4B4B4B"/>
                          </a:solidFill>
                          <a:latin typeface="Arial"/>
                        </a:rPr>
                        <a:t>19</a:t>
                      </a:r>
                    </a:p>
                  </a:txBody>
                  <a:tcPr marL="54864" marR="54864" marT="27432" marB="27432">
                    <a:solidFill>
                      <a:srgbClr val="E5F5FF"/>
                    </a:solidFill>
                  </a:tcPr>
                </a:tc>
                <a:tc>
                  <a:txBody>
                    <a:bodyPr/>
                    <a:lstStyle/>
                    <a:p>
                      <a:r>
                        <a:rPr sz="850" b="0">
                          <a:solidFill>
                            <a:srgbClr val="4B4B4B"/>
                          </a:solidFill>
                          <a:latin typeface="Arial"/>
                        </a:rPr>
                        <a:t>Deactivate / Reactivate / Remove from Team</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Why the unit or officer changes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a:t>
                      </a:r>
                    </a:p>
                  </a:txBody>
                  <a:tcPr marL="54864" marR="54864" marT="27432" marB="27432">
                    <a:solidFill>
                      <a:srgbClr val="E5F5FF"/>
                    </a:solidFill>
                  </a:tcPr>
                </a:tc>
              </a:tr>
            </a:tbl>
          </a:graphicData>
        </a:graphic>
      </p:graphicFrame>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345</a:t>
            </a:r>
          </a:p>
        </p:txBody>
      </p:sp>
      <p:graphicFrame>
        <p:nvGraphicFramePr>
          <p:cNvPr id="9" name="Table 8"/>
          <p:cNvGraphicFramePr>
            <a:graphicFrameLocks noGrp="1"/>
          </p:cNvGraphicFramePr>
          <p:nvPr/>
        </p:nvGraphicFramePr>
        <p:xfrm>
          <a:off x="548640" y="1325880"/>
          <a:ext cx="11094412" cy="3428982"/>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Unit</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New unit;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Assign Officer</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Assign Account Officer; Save for Authorization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View / Edit</a:t>
                      </a:r>
                    </a:p>
                  </a:txBody>
                  <a:tcPr marL="54864" marR="54864" marT="27432" marB="27432">
                    <a:solidFill>
                      <a:srgbClr val="FFFFFF"/>
                    </a:solidFill>
                  </a:tcPr>
                </a:tc>
                <a:tc>
                  <a:txBody>
                    <a:bodyPr/>
                    <a:lstStyle/>
                    <a:p>
                      <a:r>
                        <a:rPr sz="850" b="0">
                          <a:solidFill>
                            <a:srgbClr val="4B4B4B"/>
                          </a:solidFill>
                          <a:latin typeface="Arial"/>
                        </a:rPr>
                        <a:t>Every user of the screen; Edit with MASTER_MAINTAIN</a:t>
                      </a:r>
                    </a:p>
                  </a:txBody>
                  <a:tcPr marL="54864" marR="54864" marT="27432" marB="27432">
                    <a:solidFill>
                      <a:srgbClr val="FFFFFF"/>
                    </a:solidFill>
                  </a:tcPr>
                </a:tc>
                <a:tc>
                  <a:txBody>
                    <a:bodyPr/>
                    <a:lstStyle/>
                    <a:p>
                      <a:r>
                        <a:rPr sz="850" b="0">
                          <a:solidFill>
                            <a:srgbClr val="4B4B4B"/>
                          </a:solidFill>
                          <a:latin typeface="Arial"/>
                        </a:rPr>
                        <a:t>Unit row</a:t>
                      </a:r>
                    </a:p>
                  </a:txBody>
                  <a:tcPr marL="54864" marR="54864" marT="27432" marB="27432">
                    <a:solidFill>
                      <a:srgbClr val="FFFFFF"/>
                    </a:solidFill>
                  </a:tcPr>
                </a:tc>
                <a:tc>
                  <a:txBody>
                    <a:bodyPr/>
                    <a:lstStyle/>
                    <a:p>
                      <a:r>
                        <a:rPr sz="850" b="0">
                          <a:solidFill>
                            <a:srgbClr val="4B4B4B"/>
                          </a:solidFill>
                          <a:latin typeface="Arial"/>
                        </a:rPr>
                        <a:t>Opens the unit details; Edit changes name, parent and cost centre, Save for Authorization</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 Department / Add Team</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Active region / department</a:t>
                      </a:r>
                    </a:p>
                  </a:txBody>
                  <a:tcPr marL="54864" marR="54864" marT="27432" marB="27432">
                    <a:solidFill>
                      <a:srgbClr val="E5F5FF"/>
                    </a:solidFill>
                  </a:tcPr>
                </a:tc>
                <a:tc>
                  <a:txBody>
                    <a:bodyPr/>
                    <a:lstStyle/>
                    <a:p>
                      <a:r>
                        <a:rPr sz="850" b="0">
                          <a:solidFill>
                            <a:srgbClr val="4B4B4B"/>
                          </a:solidFill>
                          <a:latin typeface="Arial"/>
                        </a:rPr>
                        <a:t>Opens New unit at the level below, the parent filled</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Assign Officer (row)</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team</a:t>
                      </a:r>
                    </a:p>
                  </a:txBody>
                  <a:tcPr marL="54864" marR="54864" marT="27432" marB="27432">
                    <a:solidFill>
                      <a:srgbClr val="FFFFFF"/>
                    </a:solidFill>
                  </a:tcPr>
                </a:tc>
                <a:tc>
                  <a:txBody>
                    <a:bodyPr/>
                    <a:lstStyle/>
                    <a:p>
                      <a:r>
                        <a:rPr sz="850" b="0">
                          <a:solidFill>
                            <a:srgbClr val="4B4B4B"/>
                          </a:solidFill>
                          <a:latin typeface="Arial"/>
                        </a:rPr>
                        <a:t>Opens Assign Account Officer with the team filled</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Authorize</a:t>
                      </a:r>
                    </a:p>
                  </a:txBody>
                  <a:tcPr marL="54864" marR="54864" marT="27432" marB="27432">
                    <a:solidFill>
                      <a:srgbClr val="E5F5FF"/>
                    </a:solidFill>
                  </a:tcPr>
                </a:tc>
                <a:tc>
                  <a:txBody>
                    <a:bodyPr/>
                    <a:lstStyle/>
                    <a:p>
                      <a:r>
                        <a:rPr sz="850" b="0">
                          <a:solidFill>
                            <a:srgbClr val="4B4B4B"/>
                          </a:solidFill>
                          <a:latin typeface="Arial"/>
                        </a:rPr>
                        <a:t>MASTER_AUTHORIZE, not the maker</a:t>
                      </a:r>
                    </a:p>
                  </a:txBody>
                  <a:tcPr marL="54864" marR="54864" marT="27432" marB="27432">
                    <a:solidFill>
                      <a:srgbClr val="E5F5FF"/>
                    </a:solidFill>
                  </a:tcPr>
                </a:tc>
                <a:tc>
                  <a:txBody>
                    <a:bodyPr/>
                    <a:lstStyle/>
                    <a:p>
                      <a:r>
                        <a:rPr sz="850" b="0">
                          <a:solidFill>
                            <a:srgbClr val="4B4B4B"/>
                          </a:solidFill>
                          <a:latin typeface="Arial"/>
                        </a:rPr>
                        <a:t>Pending unit or officer</a:t>
                      </a:r>
                    </a:p>
                  </a:txBody>
                  <a:tcPr marL="54864" marR="54864" marT="27432" marB="27432">
                    <a:solidFill>
                      <a:srgbClr val="E5F5FF"/>
                    </a:solidFill>
                  </a:tcPr>
                </a:tc>
                <a:tc>
                  <a:txBody>
                    <a:bodyPr/>
                    <a:lstStyle/>
                    <a:p>
                      <a:r>
                        <a:rPr sz="850" b="0">
                          <a:solidFill>
                            <a:srgbClr val="4B4B4B"/>
                          </a:solidFill>
                          <a:latin typeface="Arial"/>
                        </a:rPr>
                        <a:t>Authorises the record</a:t>
                      </a:r>
                    </a:p>
                  </a:txBody>
                  <a:tcPr marL="54864" marR="54864" marT="27432" marB="27432">
                    <a:solidFill>
                      <a:srgbClr val="E5F5FF"/>
                    </a:solidFill>
                  </a:tcPr>
                </a:tc>
                <a:tc>
                  <a:txBody>
                    <a:bodyPr/>
                    <a:lstStyle/>
                    <a:p>
                      <a:r>
                        <a:rPr sz="850" b="0">
                          <a:solidFill>
                            <a:srgbClr val="4B4B4B"/>
                          </a:solidFill>
                          <a:latin typeface="Arial"/>
                        </a:rPr>
                        <a:t>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Deactivate</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Active or pending unit without active sub-units or officers</a:t>
                      </a:r>
                    </a:p>
                  </a:txBody>
                  <a:tcPr marL="54864" marR="54864" marT="27432" marB="27432">
                    <a:solidFill>
                      <a:srgbClr val="FFFFFF"/>
                    </a:solidFill>
                  </a:tcPr>
                </a:tc>
                <a:tc>
                  <a:txBody>
                    <a:bodyPr/>
                    <a:lstStyle/>
                    <a:p>
                      <a:r>
                        <a:rPr sz="850" b="0">
                          <a:solidFill>
                            <a:srgbClr val="4B4B4B"/>
                          </a:solidFill>
                          <a:latin typeface="Arial"/>
                        </a:rPr>
                        <a:t>Asks the reason and deactivates the unit; refused with a notice while sub-units or officers remain</a:t>
                      </a:r>
                    </a:p>
                  </a:txBody>
                  <a:tcPr marL="54864" marR="54864" marT="27432" marB="27432">
                    <a:solidFill>
                      <a:srgbClr val="FFFFFF"/>
                    </a:solidFill>
                  </a:tcPr>
                </a:tc>
                <a:tc>
                  <a:txBody>
                    <a:bodyPr/>
                    <a:lstStyle/>
                    <a:p>
                      <a:r>
                        <a:rPr sz="850" b="0">
                          <a:solidFill>
                            <a:srgbClr val="4B4B4B"/>
                          </a:solidFill>
                          <a:latin typeface="Arial"/>
                        </a:rPr>
                        <a:t>Inactive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Reactivate</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Inactive unit whose parent is not inactive</a:t>
                      </a:r>
                    </a:p>
                  </a:txBody>
                  <a:tcPr marL="54864" marR="54864" marT="27432" marB="27432">
                    <a:solidFill>
                      <a:srgbClr val="E5F5FF"/>
                    </a:solidFill>
                  </a:tcPr>
                </a:tc>
                <a:tc>
                  <a:txBody>
                    <a:bodyPr/>
                    <a:lstStyle/>
                    <a:p>
                      <a:r>
                        <a:rPr sz="850" b="0">
                          <a:solidFill>
                            <a:srgbClr val="4B4B4B"/>
                          </a:solidFill>
                          <a:latin typeface="Arial"/>
                        </a:rPr>
                        <a:t>Asks the reason; the unit waits for authorisation again</a:t>
                      </a:r>
                    </a:p>
                  </a:txBody>
                  <a:tcPr marL="54864" marR="54864" marT="27432" marB="27432">
                    <a:solidFill>
                      <a:srgbClr val="E5F5FF"/>
                    </a:solidFill>
                  </a:tcPr>
                </a:tc>
                <a:tc>
                  <a:txBody>
                    <a:bodyPr/>
                    <a:lstStyle/>
                    <a:p>
                      <a:r>
                        <a:rPr sz="850" b="0">
                          <a:solidFill>
                            <a:srgbClr val="4B4B4B"/>
                          </a:solidFill>
                          <a:latin typeface="Arial"/>
                        </a:rPr>
                        <a:t>Pending Authorization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Reassign / Assign to a Team</a:t>
                      </a:r>
                    </a:p>
                  </a:txBody>
                  <a:tcPr marL="54864" marR="54864" marT="27432" marB="27432">
                    <a:solidFill>
                      <a:srgbClr val="FFFFFF"/>
                    </a:solidFill>
                  </a:tcPr>
                </a:tc>
                <a:tc>
                  <a:txBody>
                    <a:bodyPr/>
                    <a:lstStyle/>
                    <a:p>
                      <a:r>
                        <a:rPr sz="850" b="0">
                          <a:solidFill>
                            <a:srgbClr val="4B4B4B"/>
                          </a:solidFill>
                          <a:latin typeface="Arial"/>
                        </a:rPr>
                        <a:t>MASTER_MAINTAIN</a:t>
                      </a:r>
                    </a:p>
                  </a:txBody>
                  <a:tcPr marL="54864" marR="54864" marT="27432" marB="27432">
                    <a:solidFill>
                      <a:srgbClr val="FFFFFF"/>
                    </a:solidFill>
                  </a:tcPr>
                </a:tc>
                <a:tc>
                  <a:txBody>
                    <a:bodyPr/>
                    <a:lstStyle/>
                    <a:p>
                      <a:r>
                        <a:rPr sz="850" b="0">
                          <a:solidFill>
                            <a:srgbClr val="4B4B4B"/>
                          </a:solidFill>
                          <a:latin typeface="Arial"/>
                        </a:rPr>
                        <a:t>Officer row</a:t>
                      </a:r>
                    </a:p>
                  </a:txBody>
                  <a:tcPr marL="54864" marR="54864" marT="27432" marB="27432">
                    <a:solidFill>
                      <a:srgbClr val="FFFFFF"/>
                    </a:solidFill>
                  </a:tcPr>
                </a:tc>
                <a:tc>
                  <a:txBody>
                    <a:bodyPr/>
                    <a:lstStyle/>
                    <a:p>
                      <a:r>
                        <a:rPr sz="850" b="0">
                          <a:solidFill>
                            <a:srgbClr val="4B4B4B"/>
                          </a:solidFill>
                          <a:latin typeface="Arial"/>
                        </a:rPr>
                        <a:t>Moves the officer to another team (or places a removed officer again) from today</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Remove from Team</a:t>
                      </a:r>
                    </a:p>
                  </a:txBody>
                  <a:tcPr marL="54864" marR="54864" marT="27432" marB="27432">
                    <a:solidFill>
                      <a:srgbClr val="E5F5FF"/>
                    </a:solidFill>
                  </a:tcPr>
                </a:tc>
                <a:tc>
                  <a:txBody>
                    <a:bodyPr/>
                    <a:lstStyle/>
                    <a:p>
                      <a:r>
                        <a:rPr sz="850" b="0">
                          <a:solidFill>
                            <a:srgbClr val="4B4B4B"/>
                          </a:solidFill>
                          <a:latin typeface="Arial"/>
                        </a:rPr>
                        <a:t>MASTER_MAINTAIN</a:t>
                      </a:r>
                    </a:p>
                  </a:txBody>
                  <a:tcPr marL="54864" marR="54864" marT="27432" marB="27432">
                    <a:solidFill>
                      <a:srgbClr val="E5F5FF"/>
                    </a:solidFill>
                  </a:tcPr>
                </a:tc>
                <a:tc>
                  <a:txBody>
                    <a:bodyPr/>
                    <a:lstStyle/>
                    <a:p>
                      <a:r>
                        <a:rPr sz="850" b="0">
                          <a:solidFill>
                            <a:srgbClr val="4B4B4B"/>
                          </a:solidFill>
                          <a:latin typeface="Arial"/>
                        </a:rPr>
                        <a:t>Active or pending officer</a:t>
                      </a:r>
                    </a:p>
                  </a:txBody>
                  <a:tcPr marL="54864" marR="54864" marT="27432" marB="27432">
                    <a:solidFill>
                      <a:srgbClr val="E5F5FF"/>
                    </a:solidFill>
                  </a:tcPr>
                </a:tc>
                <a:tc>
                  <a:txBody>
                    <a:bodyPr/>
                    <a:lstStyle/>
                    <a:p>
                      <a:r>
                        <a:rPr sz="850" b="0">
                          <a:solidFill>
                            <a:srgbClr val="4B4B4B"/>
                          </a:solidFill>
                          <a:latin typeface="Arial"/>
                        </a:rPr>
                        <a:t>Asks the reason and ends the officer's assignment</a:t>
                      </a:r>
                    </a:p>
                  </a:txBody>
                  <a:tcPr marL="54864" marR="54864" marT="27432" marB="27432">
                    <a:solidFill>
                      <a:srgbClr val="E5F5FF"/>
                    </a:solidFill>
                  </a:tcPr>
                </a:tc>
                <a:tc>
                  <a:txBody>
                    <a:bodyPr/>
                    <a:lstStyle/>
                    <a:p>
                      <a:r>
                        <a:rPr sz="850" b="0">
                          <a:solidFill>
                            <a:srgbClr val="4B4B4B"/>
                          </a:solidFill>
                          <a:latin typeface="Arial"/>
                        </a:rPr>
                        <a:t>Inactive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Export to Excel</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tree in tree order with the effective cost centres and the officers by name and role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346</a:t>
            </a:r>
          </a:p>
        </p:txBody>
      </p:sp>
      <p:graphicFrame>
        <p:nvGraphicFramePr>
          <p:cNvPr id="9" name="Table 8"/>
          <p:cNvGraphicFramePr>
            <a:graphicFrameLocks noGrp="1"/>
          </p:cNvGraphicFramePr>
          <p:nvPr/>
        </p:nvGraphicFramePr>
        <p:xfrm>
          <a:off x="548640" y="1325880"/>
          <a:ext cx="11094415" cy="15240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396240">
                <a:tc>
                  <a:txBody>
                    <a:bodyPr/>
                    <a:lstStyle/>
                    <a:p>
                      <a:r>
                        <a:rPr sz="1000" b="0">
                          <a:solidFill>
                            <a:srgbClr val="4B4B4B"/>
                          </a:solidFill>
                          <a:latin typeface="Arial"/>
                        </a:rPr>
                        <a:t>The sales organisation is a New Business master (BRD-1, sales hierarchy and production reporting) kept in the Product Maintenance section of the menu; it is loaded at go-live by the data migration.</a:t>
                      </a:r>
                    </a:p>
                  </a:txBody>
                  <a:tcPr marL="54864" marR="54864" marT="27432" marB="27432">
                    <a:solidFill>
                      <a:srgbClr val="FFFFFF"/>
                    </a:solidFill>
                  </a:tcPr>
                </a:tc>
              </a:tr>
              <a:tr h="396240">
                <a:tc>
                  <a:txBody>
                    <a:bodyPr/>
                    <a:lstStyle/>
                    <a:p>
                      <a:r>
                        <a:rPr sz="1000" b="0">
                          <a:solidFill>
                            <a:srgbClr val="4B4B4B"/>
                          </a:solidFill>
                          <a:latin typeface="Arial"/>
                        </a:rPr>
                        <a:t>A unit is deactivated only when none of its sub-units and account officers is still active or pending; a unit is reactivated only under an active or pending parent, and waits for authorisation again.</a:t>
                      </a:r>
                    </a:p>
                  </a:txBody>
                  <a:tcPr marL="54864" marR="54864" marT="27432" marB="27432">
                    <a:solidFill>
                      <a:srgbClr val="E5F5FF"/>
                    </a:solidFill>
                  </a:tcPr>
                </a:tc>
              </a:tr>
              <a:tr h="243840">
                <a:tc>
                  <a:txBody>
                    <a:bodyPr/>
                    <a:lstStyle/>
                    <a:p>
                      <a:r>
                        <a:rPr sz="1000" b="0">
                          <a:solidFill>
                            <a:srgbClr val="4B4B4B"/>
                          </a:solidFill>
                          <a:latin typeface="Arial"/>
                        </a:rPr>
                        <a:t>Deactivation, reactivation and removal from a team need a reason, kept on the record and in the audit trail with the user and time.</a:t>
                      </a:r>
                    </a:p>
                  </a:txBody>
                  <a:tcPr marL="54864" marR="54864" marT="27432" marB="27432">
                    <a:solidFill>
                      <a:srgbClr val="FFFFFF"/>
                    </a:solidFill>
                  </a:tcPr>
                </a:tc>
              </a:tr>
              <a:tr h="243840">
                <a:tc>
                  <a:txBody>
                    <a:bodyPr/>
                    <a:lstStyle/>
                    <a:p>
                      <a:r>
                        <a:rPr sz="1000" b="0">
                          <a:solidFill>
                            <a:srgbClr val="4B4B4B"/>
                          </a:solidFill>
                          <a:latin typeface="Arial"/>
                        </a:rPr>
                        <a:t>A team without its own cost centre uses the cost centre of the nearest parent that has one.</a:t>
                      </a:r>
                    </a:p>
                  </a:txBody>
                  <a:tcPr marL="54864" marR="54864" marT="27432" marB="27432">
                    <a:solidFill>
                      <a:srgbClr val="E5F5FF"/>
                    </a:solidFill>
                  </a:tcPr>
                </a:tc>
              </a:tr>
            </a:tbl>
          </a:graphicData>
        </a:graphic>
      </p:graphicFrame>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7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Sales Organisation tree table, every branch expanded (part 1 of 2)</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0.png"/>
          <p:cNvPicPr>
            <a:picLocks noChangeAspect="1"/>
          </p:cNvPicPr>
          <p:nvPr/>
        </p:nvPicPr>
        <p:blipFill>
          <a:blip r:embed="rId3"/>
          <a:stretch>
            <a:fillRect/>
          </a:stretch>
        </p:blipFill>
        <p:spPr>
          <a:xfrm>
            <a:off x="548640" y="1261872"/>
            <a:ext cx="11094415" cy="423691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Sales Organisation tree table, every branch expanded (part 2 of 2)</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1.png"/>
          <p:cNvPicPr>
            <a:picLocks noChangeAspect="1"/>
          </p:cNvPicPr>
          <p:nvPr/>
        </p:nvPicPr>
        <p:blipFill>
          <a:blip r:embed="rId3"/>
          <a:stretch>
            <a:fillRect/>
          </a:stretch>
        </p:blipFill>
        <p:spPr>
          <a:xfrm>
            <a:off x="548640" y="1261872"/>
            <a:ext cx="11094415" cy="4351688"/>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Actions menu of a team (part 1 of 2)</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lice-00182.png"/>
          <p:cNvPicPr>
            <a:picLocks noChangeAspect="1"/>
          </p:cNvPicPr>
          <p:nvPr/>
        </p:nvPicPr>
        <p:blipFill>
          <a:blip r:embed="rId3"/>
          <a:stretch>
            <a:fillRect/>
          </a:stretch>
        </p:blipFill>
        <p:spPr>
          <a:xfrm>
            <a:off x="548640" y="1261872"/>
            <a:ext cx="11094415" cy="4619484"/>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Actions menu of a team (part 2 of 2)</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SCR-PM-20 Sales Organisation: Validation error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CHG-PM-2.0-01</a:t>
            </a:r>
          </a:p>
        </p:txBody>
      </p:sp>
      <p:sp>
        <p:nvSpPr>
          <p:cNvPr id="10" name="Rounded Rectangle 9"/>
          <p:cNvSpPr/>
          <p:nvPr/>
        </p:nvSpPr>
        <p:spPr>
          <a:xfrm>
            <a:off x="663214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cr-pm-20-03-deactivate.png"/>
          <p:cNvPicPr>
            <a:picLocks noChangeAspect="1"/>
          </p:cNvPicPr>
          <p:nvPr/>
        </p:nvPicPr>
        <p:blipFill>
          <a:blip r:embed="rId3"/>
          <a:stretch>
            <a:fillRect/>
          </a:stretch>
        </p:blipFill>
        <p:spPr>
          <a:xfrm>
            <a:off x="548640" y="1261872"/>
            <a:ext cx="11094415" cy="3619787"/>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Deactivation refused while the team still has active account officers</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352</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Rates a product with the charges in force, for an insurer and branch, annual, pro-rata or short period, for a new account or an endorsement over the remaining term, and shows every charge and the commission. For a package it shows the version that priced it; an earlier released version can be chosen for information.</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New Business Approver, Auditor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Product Maintenance › Premium Calculator</a:t>
                      </a:r>
                    </a:p>
                    <a:p>
                      <a:r>
                        <a:rPr sz="950" b="0">
                          <a:solidFill>
                            <a:srgbClr val="4B4B4B"/>
                          </a:solidFill>
                          <a:latin typeface="Arial"/>
                        </a:rPr>
                        <a:t>Sidebar entry Premium Calculator</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 FR-PM-052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Anyone can check what a package costs today, and on which version, before quoting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SCR-PM-21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353</a:t>
            </a:r>
          </a:p>
        </p:txBody>
      </p:sp>
      <p:graphicFrame>
        <p:nvGraphicFramePr>
          <p:cNvPr id="9" name="Table 8"/>
          <p:cNvGraphicFramePr>
            <a:graphicFrameLocks noGrp="1"/>
          </p:cNvGraphicFramePr>
          <p:nvPr/>
        </p:nvGraphicFramePr>
        <p:xfrm>
          <a:off x="548640" y="1325880"/>
          <a:ext cx="11094411" cy="494535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Product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Code – name of the active products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Choose a product.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Insurer</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Insurers of the panel</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package with a panel accepts only its panel insurers</a:t>
                      </a:r>
                    </a:p>
                  </a:txBody>
                  <a:tcPr marL="54864" marR="54864" marT="27432" marB="27432">
                    <a:solidFill>
                      <a:srgbClr val="E5F5FF"/>
                    </a:solidFill>
                  </a:tcPr>
                </a:tc>
                <a:tc>
                  <a:txBody>
                    <a:bodyPr/>
                    <a:lstStyle/>
                    <a:p>
                      <a:r>
                        <a:rPr sz="850" b="0">
                          <a:solidFill>
                            <a:srgbClr val="4B4B4B"/>
                          </a:solidFill>
                          <a:latin typeface="Arial"/>
                        </a:rPr>
                        <a:t>Insurer &lt;insurer code&gt; is not on the panel of &lt;product code&gt; version &lt;version no&gt;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Insurer branch (LGT)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Branch name (LGT %)</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An authorised branch of the insurer</a:t>
                      </a:r>
                    </a:p>
                  </a:txBody>
                  <a:tcPr marL="54864" marR="54864" marT="27432" marB="27432">
                    <a:solidFill>
                      <a:srgbClr val="FFFFFF"/>
                    </a:solidFill>
                  </a:tcPr>
                </a:tc>
                <a:tc>
                  <a:txBody>
                    <a:bodyPr/>
                    <a:lstStyle/>
                    <a:p>
                      <a:r>
                        <a:rPr sz="850" b="0">
                          <a:solidFill>
                            <a:srgbClr val="4B4B4B"/>
                          </a:solidFill>
                          <a:latin typeface="Arial"/>
                        </a:rPr>
                        <a:t>Branch &lt;branch code&gt; is not authorized or inactive</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Period basis</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Annual, Pro-rata (days), Short period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Pro-rata and short period need the period</a:t>
                      </a:r>
                    </a:p>
                  </a:txBody>
                  <a:tcPr marL="54864" marR="54864" marT="27432" marB="27432">
                    <a:solidFill>
                      <a:srgbClr val="E5F5FF"/>
                    </a:solidFill>
                  </a:tcPr>
                </a:tc>
                <a:tc>
                  <a:txBody>
                    <a:bodyPr/>
                    <a:lstStyle/>
                    <a:p>
                      <a:r>
                        <a:rPr sz="850" b="0">
                          <a:solidFill>
                            <a:srgbClr val="4B4B4B"/>
                          </a:solidFill>
                          <a:latin typeface="Arial"/>
                        </a:rPr>
                        <a:t>Pro-rata and short-period rating need the period (for endorsements: the remaining term).</a:t>
                      </a:r>
                    </a:p>
                  </a:txBody>
                  <a:tcPr marL="54864" marR="54864" marT="27432" marB="27432">
                    <a:solidFill>
                      <a:srgbClr val="E5F5FF"/>
                    </a:solidFill>
                  </a:tcPr>
                </a:tc>
              </a:tr>
              <a:tr h="609596">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From /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Cond.: pro-rata or short period</a:t>
                      </a:r>
                    </a:p>
                  </a:txBody>
                  <a:tcPr marL="54864" marR="54864" marT="27432" marB="27432">
                    <a:solidFill>
                      <a:srgbClr val="FFFFFF"/>
                    </a:solidFill>
                  </a:tcPr>
                </a:tc>
                <a:tc>
                  <a:txBody>
                    <a:bodyPr/>
                    <a:lstStyle/>
                    <a:p>
                      <a:r>
                        <a:rPr sz="850" b="0">
                          <a:solidFill>
                            <a:srgbClr val="4B4B4B"/>
                          </a:solidFill>
                          <a:latin typeface="Arial"/>
                        </a:rPr>
                        <a:t>To after From</a:t>
                      </a:r>
                    </a:p>
                  </a:txBody>
                  <a:tcPr marL="54864" marR="54864" marT="27432" marB="27432">
                    <a:solidFill>
                      <a:srgbClr val="FFFFFF"/>
                    </a:solidFill>
                  </a:tcPr>
                </a:tc>
                <a:tc>
                  <a:txBody>
                    <a:bodyPr/>
                    <a:lstStyle/>
                    <a:p>
                      <a:r>
                        <a:rPr sz="850" b="0">
                          <a:solidFill>
                            <a:srgbClr val="4B4B4B"/>
                          </a:solidFill>
                          <a:latin typeface="Arial"/>
                        </a:rPr>
                        <a:t>The period end must be after the period start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Commission % override</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Percentage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Package version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Version in force, or an earlier released version</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Shown when the package has two or more sold versions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Cover</a:t>
                      </a:r>
                    </a:p>
                  </a:txBody>
                  <a:tcPr marL="54864" marR="54864" marT="27432" marB="27432">
                    <a:solidFill>
                      <a:srgbClr val="E5F5FF"/>
                    </a:solidFill>
                  </a:tcPr>
                </a:tc>
                <a:tc>
                  <a:txBody>
                    <a:bodyPr/>
                    <a:lstStyle/>
                    <a:p>
                      <a:r>
                        <a:rPr sz="850" b="0">
                          <a:solidFill>
                            <a:srgbClr val="4B4B4B"/>
                          </a:solidFill>
                          <a:latin typeface="Arial"/>
                        </a:rPr>
                        <a:t>Endorsement (remaining term, may return premium)</a:t>
                      </a:r>
                    </a:p>
                  </a:txBody>
                  <a:tcPr marL="54864" marR="54864" marT="27432" marB="27432">
                    <a:solidFill>
                      <a:srgbClr val="E5F5FF"/>
                    </a:solidFill>
                  </a:tcPr>
                </a:tc>
                <a:tc>
                  <a:txBody>
                    <a:bodyPr/>
                    <a:lstStyle/>
                    <a:p>
                      <a:r>
                        <a:rPr sz="850" b="0">
                          <a:solidFill>
                            <a:srgbClr val="4B4B4B"/>
                          </a:solidFill>
                          <a:latin typeface="Arial"/>
                        </a:rPr>
                        <a:t>Check box</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Only an endorsement may reduce the sum insured</a:t>
                      </a:r>
                    </a:p>
                  </a:txBody>
                  <a:tcPr marL="54864" marR="54864" marT="27432" marB="27432">
                    <a:solidFill>
                      <a:srgbClr val="E5F5FF"/>
                    </a:solidFill>
                  </a:tcPr>
                </a:tc>
                <a:tc>
                  <a:txBody>
                    <a:bodyPr/>
                    <a:lstStyle/>
                    <a:p>
                      <a:r>
                        <a:rPr sz="850" b="0">
                          <a:solidFill>
                            <a:srgbClr val="4B4B4B"/>
                          </a:solidFill>
                          <a:latin typeface="Arial"/>
                        </a:rPr>
                        <a:t>Only an endorsement may reduce the sum insured.</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Cover</a:t>
                      </a:r>
                    </a:p>
                  </a:txBody>
                  <a:tcPr marL="54864" marR="54864" marT="27432" marB="27432">
                    <a:solidFill>
                      <a:srgbClr val="FFFFFF"/>
                    </a:solidFill>
                  </a:tcPr>
                </a:tc>
                <a:tc>
                  <a:txBody>
                    <a:bodyPr/>
                    <a:lstStyle/>
                    <a:p>
                      <a:r>
                        <a:rPr sz="850" b="0">
                          <a:solidFill>
                            <a:srgbClr val="4B4B4B"/>
                          </a:solidFill>
                          <a:latin typeface="Arial"/>
                        </a:rPr>
                        <a:t>Multi-year own damage factor</a:t>
                      </a:r>
                    </a:p>
                  </a:txBody>
                  <a:tcPr marL="54864" marR="54864" marT="27432" marB="27432">
                    <a:solidFill>
                      <a:srgbClr val="FFFFFF"/>
                    </a:solidFill>
                  </a:tcPr>
                </a:tc>
                <a:tc>
                  <a:txBody>
                    <a:bodyPr/>
                    <a:lstStyle/>
                    <a:p>
                      <a:r>
                        <a:rPr sz="850" b="0">
                          <a:solidFill>
                            <a:srgbClr val="4B4B4B"/>
                          </a:solidFill>
                          <a:latin typeface="Arial"/>
                        </a:rPr>
                        <a:t>Check box</a:t>
                      </a:r>
                    </a:p>
                  </a:txBody>
                  <a:tcPr marL="54864" marR="54864" marT="27432" marB="27432">
                    <a:solidFill>
                      <a:srgbClr val="FFFFFF"/>
                    </a:solidFill>
                  </a:tcPr>
                </a:tc>
                <a:tc>
                  <a:txBody>
                    <a:bodyPr/>
                    <a:lstStyle/>
                    <a:p>
                      <a:r>
                        <a:rPr sz="850" b="0">
                          <a:solidFill>
                            <a:srgbClr val="4B4B4B"/>
                          </a:solidFill>
                          <a:latin typeface="Arial"/>
                        </a:rPr>
                        <a:t>Motor multi-year products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739135">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Item / Sum insured</a:t>
                      </a:r>
                    </a:p>
                  </a:txBody>
                  <a:tcPr marL="54864" marR="54864" marT="27432" marB="27432">
                    <a:solidFill>
                      <a:srgbClr val="E5F5FF"/>
                    </a:solidFill>
                  </a:tcPr>
                </a:tc>
                <a:tc>
                  <a:txBody>
                    <a:bodyPr/>
                    <a:lstStyle/>
                    <a:p>
                      <a:r>
                        <a:rPr sz="850" b="0">
                          <a:solidFill>
                            <a:srgbClr val="4B4B4B"/>
                          </a:solidFill>
                          <a:latin typeface="Arial"/>
                        </a:rPr>
                        <a:t>Text / Number</a:t>
                      </a:r>
                    </a:p>
                  </a:txBody>
                  <a:tcPr marL="54864" marR="54864" marT="27432" marB="27432">
                    <a:solidFill>
                      <a:srgbClr val="E5F5FF"/>
                    </a:solidFill>
                  </a:tcPr>
                </a:tc>
                <a:tc>
                  <a:txBody>
                    <a:bodyPr/>
                    <a:lstStyle/>
                    <a:p>
                      <a:r>
                        <a:rPr sz="850" b="0">
                          <a:solidFill>
                            <a:srgbClr val="4B4B4B"/>
                          </a:solidFill>
                          <a:latin typeface="Arial"/>
                        </a:rPr>
                        <a:t>Label; amount in PHP</a:t>
                      </a:r>
                    </a:p>
                  </a:txBody>
                  <a:tcPr marL="54864" marR="54864" marT="27432" marB="27432">
                    <a:solidFill>
                      <a:srgbClr val="E5F5FF"/>
                    </a:solidFill>
                  </a:tcPr>
                </a:tc>
                <a:tc>
                  <a:txBody>
                    <a:bodyPr/>
                    <a:lstStyle/>
                    <a:p>
                      <a:r>
                        <a:rPr sz="850" b="0">
                          <a:solidFill>
                            <a:srgbClr val="4B4B4B"/>
                          </a:solidFill>
                          <a:latin typeface="Arial"/>
                        </a:rPr>
                        <a:t>Y (a sum insured for at least one item)</a:t>
                      </a:r>
                    </a:p>
                  </a:txBody>
                  <a:tcPr marL="54864" marR="54864" marT="27432" marB="27432">
                    <a:solidFill>
                      <a:srgbClr val="E5F5FF"/>
                    </a:solidFill>
                  </a:tcPr>
                </a:tc>
                <a:tc>
                  <a:txBody>
                    <a:bodyPr/>
                    <a:lstStyle/>
                    <a:p>
                      <a:r>
                        <a:rPr sz="850" b="0">
                          <a:solidFill>
                            <a:srgbClr val="4B4B4B"/>
                          </a:solidFill>
                          <a:latin typeface="Arial"/>
                        </a:rPr>
                        <a:t>Zero or more</a:t>
                      </a:r>
                    </a:p>
                  </a:txBody>
                  <a:tcPr marL="54864" marR="54864" marT="27432" marB="27432">
                    <a:solidFill>
                      <a:srgbClr val="E5F5FF"/>
                    </a:solidFill>
                  </a:tcPr>
                </a:tc>
                <a:tc>
                  <a:txBody>
                    <a:bodyPr/>
                    <a:lstStyle/>
                    <a:p>
                      <a:r>
                        <a:rPr sz="850" b="0">
                          <a:solidFill>
                            <a:srgbClr val="4B4B4B"/>
                          </a:solidFill>
                          <a:latin typeface="Arial"/>
                        </a:rPr>
                        <a:t>Enter the sum insured of at least one item.</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Items</a:t>
                      </a:r>
                    </a:p>
                  </a:txBody>
                  <a:tcPr marL="54864" marR="54864" marT="27432" marB="27432">
                    <a:solidFill>
                      <a:srgbClr val="FFFFFF"/>
                    </a:solidFill>
                  </a:tcPr>
                </a:tc>
                <a:tc>
                  <a:txBody>
                    <a:bodyPr/>
                    <a:lstStyle/>
                    <a:p>
                      <a:r>
                        <a:rPr sz="850" b="0">
                          <a:solidFill>
                            <a:srgbClr val="4B4B4B"/>
                          </a:solidFill>
                          <a:latin typeface="Arial"/>
                        </a:rPr>
                        <a:t>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Blank = product default (non-motor)</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 rate other than the scheme rate is priced but flagged</a:t>
                      </a:r>
                    </a:p>
                  </a:txBody>
                  <a:tcPr marL="54864" marR="54864" marT="27432" marB="27432">
                    <a:solidFill>
                      <a:srgbClr val="FFFFFF"/>
                    </a:solidFill>
                  </a:tcPr>
                </a:tc>
                <a:tc>
                  <a:txBody>
                    <a:bodyPr/>
                    <a:lstStyle/>
                    <a:p>
                      <a:r>
                        <a:rPr sz="850" b="0">
                          <a:solidFill>
                            <a:srgbClr val="4B4B4B"/>
                          </a:solidFill>
                          <a:latin typeface="Arial"/>
                        </a:rPr>
                        <a:t>Enter the premium rate of &lt;item&gt;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Items</a:t>
                      </a:r>
                    </a:p>
                  </a:txBody>
                  <a:tcPr marL="54864" marR="54864" marT="27432" marB="27432">
                    <a:solidFill>
                      <a:srgbClr val="E5F5FF"/>
                    </a:solidFill>
                  </a:tcPr>
                </a:tc>
                <a:tc>
                  <a:txBody>
                    <a:bodyPr/>
                    <a:lstStyle/>
                    <a:p>
                      <a:r>
                        <a:rPr sz="850" b="0">
                          <a:solidFill>
                            <a:srgbClr val="4B4B4B"/>
                          </a:solidFill>
                          <a:latin typeface="Arial"/>
                        </a:rPr>
                        <a:t>Excess BI limit / PD limit</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Motor limits of the table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 limit of the table</a:t>
                      </a:r>
                    </a:p>
                  </a:txBody>
                  <a:tcPr marL="54864" marR="54864" marT="27432" marB="27432">
                    <a:solidFill>
                      <a:srgbClr val="E5F5FF"/>
                    </a:solidFill>
                  </a:tcPr>
                </a:tc>
                <a:tc>
                  <a:txBody>
                    <a:bodyPr/>
                    <a:lstStyle/>
                    <a:p>
                      <a:r>
                        <a:rPr sz="850" b="0">
                          <a:solidFill>
                            <a:srgbClr val="4B4B4B"/>
                          </a:solidFill>
                          <a:latin typeface="Arial"/>
                        </a:rPr>
                        <a:t>&lt;coverage&gt; limit &lt;amount&gt; is not in the limit table</a:t>
                      </a:r>
                    </a:p>
                  </a:txBody>
                  <a:tcPr marL="54864" marR="54864" marT="27432" marB="27432">
                    <a:solidFill>
                      <a:srgbClr val="E5F5FF"/>
                    </a:solidFill>
                  </a:tcPr>
                </a:tc>
              </a:tr>
            </a:tbl>
          </a:graphicData>
        </a:graphic>
      </p:graphicFrame>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SCR-PM-21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354</a:t>
            </a:r>
          </a:p>
        </p:txBody>
      </p:sp>
      <p:graphicFrame>
        <p:nvGraphicFramePr>
          <p:cNvPr id="9" name="Table 8"/>
          <p:cNvGraphicFramePr>
            <a:graphicFrameLocks noGrp="1"/>
          </p:cNvGraphicFramePr>
          <p:nvPr/>
        </p:nvGraphicFramePr>
        <p:xfrm>
          <a:off x="548640" y="1325880"/>
          <a:ext cx="11094411" cy="192022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Version line</a:t>
                      </a:r>
                    </a:p>
                  </a:txBody>
                  <a:tcPr marL="54864" marR="54864" marT="27432" marB="27432">
                    <a:solidFill>
                      <a:srgbClr val="FFFFFF"/>
                    </a:solidFill>
                  </a:tcPr>
                </a:tc>
                <a:tc>
                  <a:txBody>
                    <a:bodyPr/>
                    <a:lstStyle/>
                    <a:p>
                      <a:r>
                        <a:rPr sz="850" b="0">
                          <a:solidFill>
                            <a:srgbClr val="4B4B4B"/>
                          </a:solidFill>
                          <a:latin typeface="Arial"/>
                        </a:rPr>
                        <a:t>Banner</a:t>
                      </a:r>
                    </a:p>
                  </a:txBody>
                  <a:tcPr marL="54864" marR="54864" marT="27432" marB="27432">
                    <a:solidFill>
                      <a:srgbClr val="FFFFFF"/>
                    </a:solidFill>
                  </a:tcPr>
                </a:tc>
                <a:tc>
                  <a:txBody>
                    <a:bodyPr/>
                    <a:lstStyle/>
                    <a:p>
                      <a:r>
                        <a:rPr sz="850" b="0">
                          <a:solidFill>
                            <a:srgbClr val="4B4B4B"/>
                          </a:solidFill>
                          <a:latin typeface="Arial"/>
                        </a:rPr>
                        <a:t>Priced on package version n (effective dd-MMM-yyyy, scheme rate r%); not the current version; an item rate differs from the scheme rate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Result</a:t>
                      </a:r>
                    </a:p>
                  </a:txBody>
                  <a:tcPr marL="54864" marR="54864" marT="27432" marB="27432">
                    <a:solidFill>
                      <a:srgbClr val="E5F5FF"/>
                    </a:solidFill>
                  </a:tcPr>
                </a:tc>
                <a:tc>
                  <a:txBody>
                    <a:bodyPr/>
                    <a:lstStyle/>
                    <a:p>
                      <a:r>
                        <a:rPr sz="850" b="0">
                          <a:solidFill>
                            <a:srgbClr val="4B4B4B"/>
                          </a:solidFill>
                          <a:latin typeface="Arial"/>
                        </a:rPr>
                        <a:t>Sum insured / Net premium / Gross premium / Commission</a:t>
                      </a:r>
                    </a:p>
                  </a:txBody>
                  <a:tcPr marL="54864" marR="54864" marT="27432" marB="27432">
                    <a:solidFill>
                      <a:srgbClr val="E5F5FF"/>
                    </a:solidFill>
                  </a:tcPr>
                </a:tc>
                <a:tc>
                  <a:txBody>
                    <a:bodyPr/>
                    <a:lstStyle/>
                    <a:p>
                      <a:r>
                        <a:rPr sz="850" b="0">
                          <a:solidFill>
                            <a:srgbClr val="4B4B4B"/>
                          </a:solidFill>
                          <a:latin typeface="Arial"/>
                        </a:rPr>
                        <a:t>Figure</a:t>
                      </a:r>
                    </a:p>
                  </a:txBody>
                  <a:tcPr marL="54864" marR="54864" marT="27432" marB="27432">
                    <a:solidFill>
                      <a:srgbClr val="E5F5FF"/>
                    </a:solidFill>
                  </a:tcPr>
                </a:tc>
                <a:tc>
                  <a:txBody>
                    <a:bodyPr/>
                    <a:lstStyle/>
                    <a:p>
                      <a:r>
                        <a:rPr sz="850" b="0">
                          <a:solidFill>
                            <a:srgbClr val="4B4B4B"/>
                          </a:solidFill>
                          <a:latin typeface="Arial"/>
                        </a:rPr>
                        <a:t>Amounts in PHP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739135">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Result</a:t>
                      </a:r>
                    </a:p>
                  </a:txBody>
                  <a:tcPr marL="54864" marR="54864" marT="27432" marB="27432">
                    <a:solidFill>
                      <a:srgbClr val="FFFFFF"/>
                    </a:solidFill>
                  </a:tcPr>
                </a:tc>
                <a:tc>
                  <a:txBody>
                    <a:bodyPr/>
                    <a:lstStyle/>
                    <a:p>
                      <a:r>
                        <a:rPr sz="850" b="0">
                          <a:solidFill>
                            <a:srgbClr val="4B4B4B"/>
                          </a:solidFill>
                          <a:latin typeface="Arial"/>
                        </a:rPr>
                        <a:t>Component / Basis / Amount</a:t>
                      </a:r>
                    </a:p>
                  </a:txBody>
                  <a:tcPr marL="54864" marR="54864" marT="27432" marB="27432">
                    <a:solidFill>
                      <a:srgbClr val="FFFFFF"/>
                    </a:solidFill>
                  </a:tcPr>
                </a:tc>
                <a:tc>
                  <a:txBody>
                    <a:bodyPr/>
                    <a:lstStyle/>
                    <a:p>
                      <a:r>
                        <a:rPr sz="850" b="0">
                          <a:solidFill>
                            <a:srgbClr val="4B4B4B"/>
                          </a:solidFill>
                          <a:latin typeface="Arial"/>
                        </a:rPr>
                        <a:t>Table</a:t>
                      </a:r>
                    </a:p>
                  </a:txBody>
                  <a:tcPr marL="54864" marR="54864" marT="27432" marB="27432">
                    <a:solidFill>
                      <a:srgbClr val="FFFFFF"/>
                    </a:solidFill>
                  </a:tcPr>
                </a:tc>
                <a:tc>
                  <a:txBody>
                    <a:bodyPr/>
                    <a:lstStyle/>
                    <a:p>
                      <a:r>
                        <a:rPr sz="850" b="0">
                          <a:solidFill>
                            <a:srgbClr val="4B4B4B"/>
                          </a:solidFill>
                          <a:latin typeface="Arial"/>
                        </a:rPr>
                        <a:t>Annual premium, net premium, documentary stamp tax, premium tax, VAT, fire service tax, local government tax, total charges, commission, VAT on commission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355</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 Item / Remove</a:t>
                      </a:r>
                    </a:p>
                  </a:txBody>
                  <a:tcPr marL="54864" marR="54864" marT="27432" marB="27432">
                    <a:solidFill>
                      <a:srgbClr val="FFFFFF"/>
                    </a:solidFill>
                  </a:tcPr>
                </a:tc>
                <a:tc>
                  <a:txBody>
                    <a:bodyPr/>
                    <a:lstStyle/>
                    <a:p>
                      <a:r>
                        <a:rPr sz="850" b="0">
                          <a:solidFill>
                            <a:srgbClr val="4B4B4B"/>
                          </a:solidFill>
                          <a:latin typeface="Arial"/>
                        </a:rPr>
                        <a:t>Every user of the screen</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Adds or removes an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Calculate</a:t>
                      </a:r>
                    </a:p>
                  </a:txBody>
                  <a:tcPr marL="54864" marR="54864" marT="27432" marB="27432">
                    <a:solidFill>
                      <a:srgbClr val="E5F5FF"/>
                    </a:solidFill>
                  </a:tcPr>
                </a:tc>
                <a:tc>
                  <a:txBody>
                    <a:bodyPr/>
                    <a:lstStyle/>
                    <a:p>
                      <a:r>
                        <a:rPr sz="850" b="0">
                          <a:solidFill>
                            <a:srgbClr val="4B4B4B"/>
                          </a:solidFill>
                          <a:latin typeface="Arial"/>
                        </a:rPr>
                        <a:t>Every user of the screen</a:t>
                      </a:r>
                    </a:p>
                  </a:txBody>
                  <a:tcPr marL="54864" marR="54864" marT="27432" marB="27432">
                    <a:solidFill>
                      <a:srgbClr val="E5F5FF"/>
                    </a:solidFill>
                  </a:tcPr>
                </a:tc>
                <a:tc>
                  <a:txBody>
                    <a:bodyPr/>
                    <a:lstStyle/>
                    <a:p>
                      <a:r>
                        <a:rPr sz="850" b="0">
                          <a:solidFill>
                            <a:srgbClr val="4B4B4B"/>
                          </a:solidFill>
                          <a:latin typeface="Arial"/>
                        </a:rPr>
                        <a:t>Product chosen and a sum insured entered</a:t>
                      </a:r>
                    </a:p>
                  </a:txBody>
                  <a:tcPr marL="54864" marR="54864" marT="27432" marB="27432">
                    <a:solidFill>
                      <a:srgbClr val="E5F5FF"/>
                    </a:solidFill>
                  </a:tcPr>
                </a:tc>
                <a:tc>
                  <a:txBody>
                    <a:bodyPr/>
                    <a:lstStyle/>
                    <a:p>
                      <a:r>
                        <a:rPr sz="850" b="0">
                          <a:solidFill>
                            <a:srgbClr val="4B4B4B"/>
                          </a:solidFill>
                          <a:latin typeface="Arial"/>
                        </a:rPr>
                        <a:t>Rates the cover and shows the result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356</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New business is priced on the package version in force on the transaction date, not on the period start (FR-PM-051).</a:t>
                      </a:r>
                    </a:p>
                  </a:txBody>
                  <a:tcPr marL="54864" marR="54864" marT="27432" marB="27432">
                    <a:solidFill>
                      <a:srgbClr val="FFFFFF"/>
                    </a:solidFill>
                  </a:tcPr>
                </a:tc>
              </a:tr>
              <a:tr h="243840">
                <a:tc>
                  <a:txBody>
                    <a:bodyPr/>
                    <a:lstStyle/>
                    <a:p>
                      <a:r>
                        <a:rPr sz="1000" b="0">
                          <a:solidFill>
                            <a:srgbClr val="4B4B4B"/>
                          </a:solidFill>
                          <a:latin typeface="Arial"/>
                        </a:rPr>
                        <a:t>A version other than the one in force is shown for information only; a quotation needs the current version or an approved rate exception (FR-PM-051).</a:t>
                      </a:r>
                    </a:p>
                  </a:txBody>
                  <a:tcPr marL="54864" marR="54864" marT="27432" marB="27432">
                    <a:solidFill>
                      <a:srgbClr val="E5F5FF"/>
                    </a:solidFill>
                  </a:tcPr>
                </a:tc>
              </a:tr>
              <a:tr h="243840">
                <a:tc>
                  <a:txBody>
                    <a:bodyPr/>
                    <a:lstStyle/>
                    <a:p>
                      <a:r>
                        <a:rPr sz="1000" b="0">
                          <a:solidFill>
                            <a:srgbClr val="4B4B4B"/>
                          </a:solidFill>
                          <a:latin typeface="Arial"/>
                        </a:rPr>
                        <a:t>An item rate different from the scheme rate (or the panel insurer's rate) is priced but flagged; a quotation with it needs an approved rate exception (FR-PM-051).</a:t>
                      </a:r>
                    </a:p>
                  </a:txBody>
                  <a:tcPr marL="54864" marR="54864" marT="27432" marB="27432">
                    <a:solidFill>
                      <a:srgbClr val="FFFFFF"/>
                    </a:solidFill>
                  </a:tcPr>
                </a:tc>
              </a:tr>
              <a:tr h="243840">
                <a:tc>
                  <a:txBody>
                    <a:bodyPr/>
                    <a:lstStyle/>
                    <a:p>
                      <a:r>
                        <a:rPr sz="1000" b="0">
                          <a:solidFill>
                            <a:srgbClr val="4B4B4B"/>
                          </a:solidFill>
                          <a:latin typeface="Arial"/>
                        </a:rPr>
                        <a:t>An expired or retired package, or a package with no version in force, cannot be priced for new business (FR-PM-052).</a:t>
                      </a:r>
                    </a:p>
                  </a:txBody>
                  <a:tcPr marL="54864" marR="54864" marT="27432" marB="27432">
                    <a:solidFill>
                      <a:srgbClr val="E5F5FF"/>
                    </a:solidFill>
                  </a:tcPr>
                </a:tc>
              </a:tr>
            </a:tbl>
          </a:graphicData>
        </a:graphic>
      </p:graphicFrame>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357</a:t>
            </a:r>
          </a:p>
        </p:txBody>
      </p:sp>
      <p:graphicFrame>
        <p:nvGraphicFramePr>
          <p:cNvPr id="9" name="Table 8"/>
          <p:cNvGraphicFramePr>
            <a:graphicFrameLocks noGrp="1"/>
          </p:cNvGraphicFramePr>
          <p:nvPr/>
        </p:nvGraphicFramePr>
        <p:xfrm>
          <a:off x="548640" y="1325880"/>
          <a:ext cx="11094413" cy="59436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21</a:t>
                      </a:r>
                    </a:p>
                  </a:txBody>
                  <a:tcPr marL="54864" marR="54864" marT="27432" marB="27432">
                    <a:solidFill>
                      <a:srgbClr val="FFFFFF"/>
                    </a:solidFill>
                  </a:tcPr>
                </a:tc>
                <a:tc>
                  <a:txBody>
                    <a:bodyPr/>
                    <a:lstStyle/>
                    <a:p>
                      <a:r>
                        <a:rPr sz="900" b="0">
                          <a:solidFill>
                            <a:srgbClr val="4B4B4B"/>
                          </a:solidFill>
                          <a:latin typeface="Arial"/>
                        </a:rPr>
                        <a:t>Opens Premium Calculator, chooses MTR30 and Mabuhay General Insurance Corp., enters a vehicle value and clicks Calculate</a:t>
                      </a:r>
                    </a:p>
                  </a:txBody>
                  <a:tcPr marL="54864" marR="54864" marT="27432" marB="27432">
                    <a:solidFill>
                      <a:srgbClr val="FFFFFF"/>
                    </a:solidFill>
                  </a:tcPr>
                </a:tc>
                <a:tc>
                  <a:txBody>
                    <a:bodyPr/>
                    <a:lstStyle/>
                    <a:p>
                      <a:r>
                        <a:rPr sz="900" b="0">
                          <a:solidFill>
                            <a:srgbClr val="4B4B4B"/>
                          </a:solidFill>
                          <a:latin typeface="Arial"/>
                        </a:rPr>
                        <a:t>SCR-PM-21_wt-a-step-21.png</a:t>
                      </a:r>
                    </a:p>
                  </a:txBody>
                  <a:tcPr marL="54864" marR="54864" marT="27432" marB="27432">
                    <a:solidFill>
                      <a:srgbClr val="FFFFFF"/>
                    </a:solidFill>
                  </a:tcPr>
                </a:tc>
              </a:tr>
            </a:tbl>
          </a:graphicData>
        </a:graphic>
      </p:graphicFrame>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3.png"/>
          <p:cNvPicPr>
            <a:picLocks noChangeAspect="1"/>
          </p:cNvPicPr>
          <p:nvPr/>
        </p:nvPicPr>
        <p:blipFill>
          <a:blip r:embed="rId3"/>
          <a:stretch>
            <a:fillRect/>
          </a:stretch>
        </p:blipFill>
        <p:spPr>
          <a:xfrm>
            <a:off x="548640" y="1261872"/>
            <a:ext cx="11094415" cy="470556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1 of 4)</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4.png"/>
          <p:cNvPicPr>
            <a:picLocks noChangeAspect="1"/>
          </p:cNvPicPr>
          <p:nvPr/>
        </p:nvPicPr>
        <p:blipFill>
          <a:blip r:embed="rId3"/>
          <a:stretch>
            <a:fillRect/>
          </a:stretch>
        </p:blipFill>
        <p:spPr>
          <a:xfrm>
            <a:off x="548640" y="1261872"/>
            <a:ext cx="11094415" cy="468643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2 of 4)</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3 of 4)</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SCR-PM-21 Premium Calculator: Filled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lice-00186.png"/>
          <p:cNvPicPr>
            <a:picLocks noChangeAspect="1"/>
          </p:cNvPicPr>
          <p:nvPr/>
        </p:nvPicPr>
        <p:blipFill>
          <a:blip r:embed="rId3"/>
          <a:stretch>
            <a:fillRect/>
          </a:stretch>
        </p:blipFill>
        <p:spPr>
          <a:xfrm>
            <a:off x="548640" y="1261872"/>
            <a:ext cx="11094415" cy="42177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Premium Calculator: a package priced on its version in force (part 4 of 4)</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SCR-PM-22 Quotation: package rate scheme and rate exception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362</a:t>
            </a:r>
          </a:p>
        </p:txBody>
      </p:sp>
      <p:graphicFrame>
        <p:nvGraphicFramePr>
          <p:cNvPr id="9" name="Table 8"/>
          <p:cNvGraphicFramePr>
            <a:graphicFrameLocks noGrp="1"/>
          </p:cNvGraphicFramePr>
          <p:nvPr/>
        </p:nvGraphicFramePr>
        <p:xfrm>
          <a:off x="548640" y="1307592"/>
          <a:ext cx="6434760" cy="35356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Insurers, rates and pricing</a:t>
                      </a:r>
                    </a:p>
                  </a:txBody>
                  <a:tcPr marL="54864" marR="54864" marT="27432" marB="27432">
                    <a:solidFill>
                      <a:srgbClr val="FFFFFF"/>
                    </a:solidFill>
                  </a:tcPr>
                </a:tc>
              </a:tr>
              <a:tr h="12496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Where New Business meets the package version: the quotation record of a package product shows the version that priced it and warns when an item rate differs from the scheme rate. The Account Officer then requests a rate exception. The approver opens the exception record from My Approvals, compares the requested rate with the scheme in force and approves it with a comment or rejects it with a reason; the requester is notified and the quotation is submitted with the approved exception. Only the Rate Exceptions card, the Request Rate Exception dialog and the exception record are specified here; the rest of the quotation record is specified in the New Business set (SCR-NB-07).</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Marketing Account Officer, Marketing TL / TH / UH, TSU Officer, New Business Approver, Auditor</a:t>
                      </a:r>
                    </a:p>
                  </a:txBody>
                  <a:tcPr marL="54864" marR="54864" marT="27432" marB="27432">
                    <a:solidFill>
                      <a:srgbClr val="FFFFFF"/>
                    </a:solidFill>
                  </a:tcPr>
                </a:tc>
              </a:tr>
              <a:tr h="81534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Quotation / Proposal › Quotations › Quotation</a:t>
                      </a:r>
                    </a:p>
                    <a:p>
                      <a:r>
                        <a:rPr sz="950" b="0">
                          <a:solidFill>
                            <a:srgbClr val="4B4B4B"/>
                          </a:solidFill>
                          <a:latin typeface="Arial"/>
                        </a:rPr>
                        <a:t>Quotations › a row (New Business)</a:t>
                      </a:r>
                    </a:p>
                    <a:p>
                      <a:r>
                        <a:rPr sz="950" b="0">
                          <a:solidFill>
                            <a:srgbClr val="4B4B4B"/>
                          </a:solidFill>
                          <a:latin typeface="Arial"/>
                        </a:rPr>
                        <a:t>New Quotation › Submit for Review refused with the rate scheme message</a:t>
                      </a:r>
                    </a:p>
                    <a:p>
                      <a:r>
                        <a:rPr sz="950" b="0">
                          <a:solidFill>
                            <a:srgbClr val="4B4B4B"/>
                          </a:solidFill>
                          <a:latin typeface="Arial"/>
                        </a:rPr>
                        <a:t>My Approvals › the rate exception row (the exception record)</a:t>
                      </a:r>
                    </a:p>
                    <a:p>
                      <a:r>
                        <a:rPr sz="950" b="0">
                          <a:solidFill>
                            <a:srgbClr val="4B4B4B"/>
                          </a:solidFill>
                          <a:latin typeface="Arial"/>
                        </a:rPr>
                        <a:t>Notification of the decision › the exception record</a:t>
                      </a:r>
                    </a:p>
                  </a:txBody>
                  <a:tcPr marL="54864" marR="54864" marT="27432" marB="27432">
                    <a:solidFill>
                      <a:srgbClr val="FFFFFF"/>
                    </a:solidFill>
                  </a:tcPr>
                </a:tc>
              </a:tr>
              <a:tr h="236220">
                <a:tc>
                  <a:txBody>
                    <a:bodyPr/>
                    <a:lstStyle/>
                    <a:p>
                      <a:r>
                        <a:rPr sz="950" b="1">
                          <a:solidFill>
                            <a:srgbClr val="004EA8"/>
                          </a:solidFill>
                          <a:latin typeface="Arial"/>
                        </a:rPr>
                        <a:t>FRS section</a:t>
                      </a:r>
                    </a:p>
                  </a:txBody>
                  <a:tcPr marL="54864" marR="54864" marT="27432" marB="27432">
                    <a:solidFill>
                      <a:srgbClr val="E5F5FF"/>
                    </a:solidFill>
                  </a:tcPr>
                </a:tc>
                <a:tc>
                  <a:txBody>
                    <a:bodyPr/>
                    <a:lstStyle/>
                    <a:p>
                      <a:r>
                        <a:rPr sz="950" b="0">
                          <a:solidFill>
                            <a:srgbClr val="4B4B4B"/>
                          </a:solidFill>
                          <a:latin typeface="Arial"/>
                        </a:rPr>
                        <a:t>13.3.6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FR-PM-051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A package is sold on its approved scheme, and any exception is approved by a second person and kept with the transaction.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(7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3 images</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363</a:t>
            </a:r>
          </a:p>
        </p:txBody>
      </p:sp>
      <p:graphicFrame>
        <p:nvGraphicFramePr>
          <p:cNvPr id="9" name="Table 8"/>
          <p:cNvGraphicFramePr>
            <a:graphicFrameLocks noGrp="1"/>
          </p:cNvGraphicFramePr>
          <p:nvPr/>
        </p:nvGraphicFramePr>
        <p:xfrm>
          <a:off x="548640" y="1325880"/>
          <a:ext cx="11094411" cy="4853911"/>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609596">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Rate Exceptions card</a:t>
                      </a:r>
                    </a:p>
                  </a:txBody>
                  <a:tcPr marL="54864" marR="54864" marT="27432" marB="27432">
                    <a:solidFill>
                      <a:srgbClr val="FFFFFF"/>
                    </a:solidFill>
                  </a:tcPr>
                </a:tc>
                <a:tc>
                  <a:txBody>
                    <a:bodyPr/>
                    <a:lstStyle/>
                    <a:p>
                      <a:r>
                        <a:rPr sz="850" b="0">
                          <a:solidFill>
                            <a:srgbClr val="4B4B4B"/>
                          </a:solidFill>
                          <a:latin typeface="Arial"/>
                        </a:rPr>
                        <a:t>Pricing notice</a:t>
                      </a:r>
                    </a:p>
                  </a:txBody>
                  <a:tcPr marL="54864" marR="54864" marT="27432" marB="27432">
                    <a:solidFill>
                      <a:srgbClr val="FFFFFF"/>
                    </a:solidFill>
                  </a:tcPr>
                </a:tc>
                <a:tc>
                  <a:txBody>
                    <a:bodyPr/>
                    <a:lstStyle/>
                    <a:p>
                      <a:r>
                        <a:rPr sz="850" b="0">
                          <a:solidFill>
                            <a:srgbClr val="4B4B4B"/>
                          </a:solidFill>
                          <a:latin typeface="Arial"/>
                        </a:rPr>
                        <a:t>Notice</a:t>
                      </a:r>
                    </a:p>
                  </a:txBody>
                  <a:tcPr marL="54864" marR="54864" marT="27432" marB="27432">
                    <a:solidFill>
                      <a:srgbClr val="FFFFFF"/>
                    </a:solidFill>
                  </a:tcPr>
                </a:tc>
                <a:tc>
                  <a:txBody>
                    <a:bodyPr/>
                    <a:lstStyle/>
                    <a:p>
                      <a:r>
                        <a:rPr sz="850" b="0">
                          <a:solidFill>
                            <a:srgbClr val="4B4B4B"/>
                          </a:solidFill>
                          <a:latin typeface="Arial"/>
                        </a:rPr>
                        <a:t>Priced on package version n. An item rate differs from the scheme rate, so submission needs an approved rate exception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Shown while an item rate differs</a:t>
                      </a:r>
                    </a:p>
                  </a:txBody>
                  <a:tcPr marL="54864" marR="54864" marT="27432" marB="27432">
                    <a:solidFill>
                      <a:srgbClr val="FFFFFF"/>
                    </a:solidFill>
                  </a:tcPr>
                </a:tc>
                <a:tc>
                  <a:txBody>
                    <a:bodyPr/>
                    <a:lstStyle/>
                    <a:p>
                      <a:r>
                        <a:rPr sz="850" b="0">
                          <a:solidFill>
                            <a:srgbClr val="4B4B4B"/>
                          </a:solidFill>
                          <a:latin typeface="Arial"/>
                        </a:rPr>
                        <a:t>Package &lt;product code&gt; is priced on the current rate scheme: &lt;what&gt; needs an approved rate exception</a:t>
                      </a:r>
                    </a:p>
                  </a:txBody>
                  <a:tcPr marL="54864" marR="54864" marT="27432" marB="27432">
                    <a:solidFill>
                      <a:srgbClr val="FFFFFF"/>
                    </a:solidFill>
                  </a:tcPr>
                </a:tc>
              </a:tr>
              <a:tr h="1127752">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Rate Exceptions card</a:t>
                      </a:r>
                    </a:p>
                  </a:txBody>
                  <a:tcPr marL="54864" marR="54864" marT="27432" marB="27432">
                    <a:solidFill>
                      <a:srgbClr val="E5F5FF"/>
                    </a:solidFill>
                  </a:tcPr>
                </a:tc>
                <a:tc>
                  <a:txBody>
                    <a:bodyPr/>
                    <a:lstStyle/>
                    <a:p>
                      <a:r>
                        <a:rPr sz="850" b="0">
                          <a:solidFill>
                            <a:srgbClr val="4B4B4B"/>
                          </a:solidFill>
                          <a:latin typeface="Arial"/>
                        </a:rPr>
                        <a:t>Rate exceptions table</a:t>
                      </a:r>
                    </a:p>
                  </a:txBody>
                  <a:tcPr marL="54864" marR="54864" marT="27432" marB="27432">
                    <a:solidFill>
                      <a:srgbClr val="E5F5FF"/>
                    </a:solidFill>
                  </a:tcPr>
                </a:tc>
                <a:tc>
                  <a:txBody>
                    <a:bodyPr/>
                    <a:lstStyle/>
                    <a:p>
                      <a:r>
                        <a:rPr sz="850" b="0">
                          <a:solidFill>
                            <a:srgbClr val="4B4B4B"/>
                          </a:solidFill>
                          <a:latin typeface="Arial"/>
                        </a:rPr>
                        <a:t>Table</a:t>
                      </a:r>
                    </a:p>
                  </a:txBody>
                  <a:tcPr marL="54864" marR="54864" marT="27432" marB="27432">
                    <a:solidFill>
                      <a:srgbClr val="E5F5FF"/>
                    </a:solidFill>
                  </a:tcPr>
                </a:tc>
                <a:tc>
                  <a:txBody>
                    <a:bodyPr/>
                    <a:lstStyle/>
                    <a:p>
                      <a:r>
                        <a:rPr sz="850" b="0">
                          <a:solidFill>
                            <a:srgbClr val="4B4B4B"/>
                          </a:solidFill>
                          <a:latin typeface="Arial"/>
                        </a:rPr>
                        <a:t>One row per exception: Exception No. (opens the exception record), Requested Rate (%), Scheme Rate (%), Difference (%) in percentage points with its sign, Valid Until, Requested By and on, Decided By and on, Status (Pending Authorization, Approved or Rejected)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Item rate %</a:t>
                      </a:r>
                    </a:p>
                  </a:txBody>
                  <a:tcPr marL="54864" marR="54864" marT="27432" marB="27432">
                    <a:solidFill>
                      <a:srgbClr val="FFFFFF"/>
                    </a:solidFill>
                  </a:tcPr>
                </a:tc>
                <a:tc>
                  <a:txBody>
                    <a:bodyPr/>
                    <a:lstStyle/>
                    <a:p>
                      <a:r>
                        <a:rPr sz="850" b="0">
                          <a:solidFill>
                            <a:srgbClr val="4B4B4B"/>
                          </a:solidFill>
                          <a:latin typeface="Arial"/>
                        </a:rPr>
                        <a:t>Number</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0 to 100</a:t>
                      </a:r>
                    </a:p>
                  </a:txBody>
                  <a:tcPr marL="54864" marR="54864" marT="27432" marB="27432">
                    <a:solidFill>
                      <a:srgbClr val="FFFFFF"/>
                    </a:solidFill>
                  </a:tcPr>
                </a:tc>
                <a:tc>
                  <a:txBody>
                    <a:bodyPr/>
                    <a:lstStyle/>
                    <a:p>
                      <a:r>
                        <a:rPr sz="850" b="0">
                          <a:solidFill>
                            <a:srgbClr val="4B4B4B"/>
                          </a:solidFill>
                          <a:latin typeface="Arial"/>
                        </a:rPr>
                        <a:t>Enter the item rate between 0 and 100</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Request Rate Exception</a:t>
                      </a:r>
                    </a:p>
                  </a:txBody>
                  <a:tcPr marL="54864" marR="54864" marT="27432" marB="27432">
                    <a:solidFill>
                      <a:srgbClr val="E5F5FF"/>
                    </a:solidFill>
                  </a:tcPr>
                </a:tc>
                <a:tc>
                  <a:txBody>
                    <a:bodyPr/>
                    <a:lstStyle/>
                    <a:p>
                      <a:r>
                        <a:rPr sz="850" b="0">
                          <a:solidFill>
                            <a:srgbClr val="4B4B4B"/>
                          </a:solidFill>
                          <a:latin typeface="Arial"/>
                        </a:rPr>
                        <a:t>Valid until</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Not in the past</a:t>
                      </a:r>
                    </a:p>
                  </a:txBody>
                  <a:tcPr marL="54864" marR="54864" marT="27432" marB="27432">
                    <a:solidFill>
                      <a:srgbClr val="E5F5FF"/>
                    </a:solidFill>
                  </a:tcPr>
                </a:tc>
                <a:tc>
                  <a:txBody>
                    <a:bodyPr/>
                    <a:lstStyle/>
                    <a:p>
                      <a:r>
                        <a:rPr sz="850" b="0">
                          <a:solidFill>
                            <a:srgbClr val="4B4B4B"/>
                          </a:solidFill>
                          <a:latin typeface="Arial"/>
                        </a:rPr>
                        <a:t>The validity date cannot be in the past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Explain why the scheme rate cannot be used</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Package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Risk code – package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Requested rate</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Rate n.nn% (or the version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Scheme in force</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Version n, rate n.nn% (or rate per insurer)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Quotation</a:t>
                      </a:r>
                    </a:p>
                  </a:txBody>
                  <a:tcPr marL="54864" marR="54864" marT="27432" marB="27432">
                    <a:solidFill>
                      <a:srgbClr val="FFFFFF"/>
                    </a:solidFill>
                  </a:tcPr>
                </a:tc>
                <a:tc>
                  <a:txBody>
                    <a:bodyPr/>
                    <a:lstStyle/>
                    <a:p>
                      <a:r>
                        <a:rPr sz="850" b="0">
                          <a:solidFill>
                            <a:srgbClr val="4B4B4B"/>
                          </a:solidFill>
                          <a:latin typeface="Arial"/>
                        </a:rPr>
                        <a:t>Fact</a:t>
                      </a:r>
                    </a:p>
                  </a:txBody>
                  <a:tcPr marL="54864" marR="54864" marT="27432" marB="27432">
                    <a:solidFill>
                      <a:srgbClr val="FFFFFF"/>
                    </a:solidFill>
                  </a:tcPr>
                </a:tc>
                <a:tc>
                  <a:txBody>
                    <a:bodyPr/>
                    <a:lstStyle/>
                    <a:p>
                      <a:r>
                        <a:rPr sz="850" b="0">
                          <a:solidFill>
                            <a:srgbClr val="4B4B4B"/>
                          </a:solidFill>
                          <a:latin typeface="Arial"/>
                        </a:rPr>
                        <a:t>Quotation number (opens the quotation), client and gross premium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Exception record</a:t>
                      </a:r>
                    </a:p>
                  </a:txBody>
                  <a:tcPr marL="54864" marR="54864" marT="27432" marB="27432">
                    <a:solidFill>
                      <a:srgbClr val="E5F5FF"/>
                    </a:solidFill>
                  </a:tcPr>
                </a:tc>
                <a:tc>
                  <a:txBody>
                    <a:bodyPr/>
                    <a:lstStyle/>
                    <a:p>
                      <a:r>
                        <a:rPr sz="850" b="0">
                          <a:solidFill>
                            <a:srgbClr val="4B4B4B"/>
                          </a:solidFill>
                          <a:latin typeface="Arial"/>
                        </a:rPr>
                        <a:t>Requested by</a:t>
                      </a:r>
                    </a:p>
                  </a:txBody>
                  <a:tcPr marL="54864" marR="54864" marT="27432" marB="27432">
                    <a:solidFill>
                      <a:srgbClr val="E5F5FF"/>
                    </a:solidFill>
                  </a:tcPr>
                </a:tc>
                <a:tc>
                  <a:txBody>
                    <a:bodyPr/>
                    <a:lstStyle/>
                    <a:p>
                      <a:r>
                        <a:rPr sz="850" b="0">
                          <a:solidFill>
                            <a:srgbClr val="4B4B4B"/>
                          </a:solidFill>
                          <a:latin typeface="Arial"/>
                        </a:rPr>
                        <a:t>Fact</a:t>
                      </a:r>
                    </a:p>
                  </a:txBody>
                  <a:tcPr marL="54864" marR="54864" marT="27432" marB="27432">
                    <a:solidFill>
                      <a:srgbClr val="E5F5FF"/>
                    </a:solidFill>
                  </a:tcPr>
                </a:tc>
                <a:tc>
                  <a:txBody>
                    <a:bodyPr/>
                    <a:lstStyle/>
                    <a:p>
                      <a:r>
                        <a:rPr sz="850" b="0">
                          <a:solidFill>
                            <a:srgbClr val="4B4B4B"/>
                          </a:solidFill>
                          <a:latin typeface="Arial"/>
                        </a:rPr>
                        <a:t>Display name and date and time of the request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Reason for the exception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As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364</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12</a:t>
                      </a:r>
                    </a:p>
                  </a:txBody>
                  <a:tcPr marL="54864" marR="54864" marT="27432" marB="27432">
                    <a:solidFill>
                      <a:srgbClr val="FFFFFF"/>
                    </a:solidFill>
                  </a:tcPr>
                </a:tc>
                <a:tc>
                  <a:txBody>
                    <a:bodyPr/>
                    <a:lstStyle/>
                    <a:p>
                      <a:r>
                        <a:rPr sz="850" b="0">
                          <a:solidFill>
                            <a:srgbClr val="4B4B4B"/>
                          </a:solidFill>
                          <a:latin typeface="Arial"/>
                        </a:rPr>
                        <a:t>Exception record</a:t>
                      </a:r>
                    </a:p>
                  </a:txBody>
                  <a:tcPr marL="54864" marR="54864" marT="27432" marB="27432">
                    <a:solidFill>
                      <a:srgbClr val="FFFFFF"/>
                    </a:solidFill>
                  </a:tcPr>
                </a:tc>
                <a:tc>
                  <a:txBody>
                    <a:bodyPr/>
                    <a:lstStyle/>
                    <a:p>
                      <a:r>
                        <a:rPr sz="850" b="0">
                          <a:solidFill>
                            <a:srgbClr val="4B4B4B"/>
                          </a:solidFill>
                          <a:latin typeface="Arial"/>
                        </a:rPr>
                        <a:t>Decision</a:t>
                      </a:r>
                    </a:p>
                  </a:txBody>
                  <a:tcPr marL="54864" marR="54864" marT="27432" marB="27432">
                    <a:solidFill>
                      <a:srgbClr val="FFFFFF"/>
                    </a:solidFill>
                  </a:tcPr>
                </a:tc>
                <a:tc>
                  <a:txBody>
                    <a:bodyPr/>
                    <a:lstStyle/>
                    <a:p>
                      <a:r>
                        <a:rPr sz="850" b="0">
                          <a:solidFill>
                            <a:srgbClr val="4B4B4B"/>
                          </a:solidFill>
                          <a:latin typeface="Arial"/>
                        </a:rPr>
                        <a:t>Detail</a:t>
                      </a:r>
                    </a:p>
                  </a:txBody>
                  <a:tcPr marL="54864" marR="54864" marT="27432" marB="27432">
                    <a:solidFill>
                      <a:srgbClr val="FFFFFF"/>
                    </a:solidFill>
                  </a:tcPr>
                </a:tc>
                <a:tc>
                  <a:txBody>
                    <a:bodyPr/>
                    <a:lstStyle/>
                    <a:p>
                      <a:r>
                        <a:rPr sz="850" b="0">
                          <a:solidFill>
                            <a:srgbClr val="4B4B4B"/>
                          </a:solidFill>
                          <a:latin typeface="Arial"/>
                        </a:rPr>
                        <a:t>Approved by or Rejected by (display name and role), On, Comment or Reason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13</a:t>
                      </a:r>
                    </a:p>
                  </a:txBody>
                  <a:tcPr marL="54864" marR="54864" marT="27432" marB="27432">
                    <a:solidFill>
                      <a:srgbClr val="E5F5FF"/>
                    </a:solidFill>
                  </a:tcPr>
                </a:tc>
                <a:tc>
                  <a:txBody>
                    <a:bodyPr/>
                    <a:lstStyle/>
                    <a:p>
                      <a:r>
                        <a:rPr sz="850" b="0">
                          <a:solidFill>
                            <a:srgbClr val="4B4B4B"/>
                          </a:solidFill>
                          <a:latin typeface="Arial"/>
                        </a:rPr>
                        <a:t>Approve Rate Exception</a:t>
                      </a:r>
                    </a:p>
                  </a:txBody>
                  <a:tcPr marL="54864" marR="54864" marT="27432" marB="27432">
                    <a:solidFill>
                      <a:srgbClr val="E5F5FF"/>
                    </a:solidFill>
                  </a:tcPr>
                </a:tc>
                <a:tc>
                  <a:txBody>
                    <a:bodyPr/>
                    <a:lstStyle/>
                    <a:p>
                      <a:r>
                        <a:rPr sz="850" b="0">
                          <a:solidFill>
                            <a:srgbClr val="4B4B4B"/>
                          </a:solidFill>
                          <a:latin typeface="Arial"/>
                        </a:rPr>
                        <a:t>Comment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Free text, up to 1,000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14</a:t>
                      </a:r>
                    </a:p>
                  </a:txBody>
                  <a:tcPr marL="54864" marR="54864" marT="27432" marB="27432">
                    <a:solidFill>
                      <a:srgbClr val="FFFFFF"/>
                    </a:solidFill>
                  </a:tcPr>
                </a:tc>
                <a:tc>
                  <a:txBody>
                    <a:bodyPr/>
                    <a:lstStyle/>
                    <a:p>
                      <a:r>
                        <a:rPr sz="850" b="0">
                          <a:solidFill>
                            <a:srgbClr val="4B4B4B"/>
                          </a:solidFill>
                          <a:latin typeface="Arial"/>
                        </a:rPr>
                        <a:t>Reject Rate Exception</a:t>
                      </a:r>
                    </a:p>
                  </a:txBody>
                  <a:tcPr marL="54864" marR="54864" marT="27432" marB="27432">
                    <a:solidFill>
                      <a:srgbClr val="FFFFFF"/>
                    </a:solidFill>
                  </a:tcPr>
                </a:tc>
                <a:tc>
                  <a:txBody>
                    <a:bodyPr/>
                    <a:lstStyle/>
                    <a:p>
                      <a:r>
                        <a:rPr sz="850" b="0">
                          <a:solidFill>
                            <a:srgbClr val="4B4B4B"/>
                          </a:solidFill>
                          <a:latin typeface="Arial"/>
                        </a:rPr>
                        <a:t>Reason for the rejection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Free text, up to 1,000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reason for the rejection</a:t>
                      </a:r>
                    </a:p>
                  </a:txBody>
                  <a:tcPr marL="54864" marR="54864" marT="27432" marB="27432">
                    <a:solidFill>
                      <a:srgbClr val="FFFFFF"/>
                    </a:solidFill>
                  </a:tcPr>
                </a:tc>
              </a:tr>
            </a:tbl>
          </a:graphicData>
        </a:graphic>
      </p:graphicFrame>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365</a:t>
            </a:r>
          </a:p>
        </p:txBody>
      </p:sp>
      <p:graphicFrame>
        <p:nvGraphicFramePr>
          <p:cNvPr id="9" name="Table 8"/>
          <p:cNvGraphicFramePr>
            <a:graphicFrameLocks noGrp="1"/>
          </p:cNvGraphicFramePr>
          <p:nvPr/>
        </p:nvGraphicFramePr>
        <p:xfrm>
          <a:off x="548640" y="1325880"/>
          <a:ext cx="11094412" cy="201166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Request Rate Exception</a:t>
                      </a:r>
                    </a:p>
                  </a:txBody>
                  <a:tcPr marL="54864" marR="54864" marT="27432" marB="27432">
                    <a:solidFill>
                      <a:srgbClr val="FFFFFF"/>
                    </a:solidFill>
                  </a:tcPr>
                </a:tc>
                <a:tc>
                  <a:txBody>
                    <a:bodyPr/>
                    <a:lstStyle/>
                    <a:p>
                      <a:r>
                        <a:rPr sz="850" b="0">
                          <a:solidFill>
                            <a:srgbClr val="4B4B4B"/>
                          </a:solidFill>
                          <a:latin typeface="Arial"/>
                        </a:rPr>
                        <a:t>Marketing (QUOTE_MAINTAIN)</a:t>
                      </a:r>
                    </a:p>
                  </a:txBody>
                  <a:tcPr marL="54864" marR="54864" marT="27432" marB="27432">
                    <a:solidFill>
                      <a:srgbClr val="FFFFFF"/>
                    </a:solidFill>
                  </a:tcPr>
                </a:tc>
                <a:tc>
                  <a:txBody>
                    <a:bodyPr/>
                    <a:lstStyle/>
                    <a:p>
                      <a:r>
                        <a:rPr sz="850" b="0">
                          <a:solidFill>
                            <a:srgbClr val="4B4B4B"/>
                          </a:solidFill>
                          <a:latin typeface="Arial"/>
                        </a:rPr>
                        <a:t>Draft quotation of a package with an item rate that differs</a:t>
                      </a:r>
                    </a:p>
                  </a:txBody>
                  <a:tcPr marL="54864" marR="54864" marT="27432" marB="27432">
                    <a:solidFill>
                      <a:srgbClr val="FFFFFF"/>
                    </a:solidFill>
                  </a:tcPr>
                </a:tc>
                <a:tc>
                  <a:txBody>
                    <a:bodyPr/>
                    <a:lstStyle/>
                    <a:p>
                      <a:r>
                        <a:rPr sz="850" b="0">
                          <a:solidFill>
                            <a:srgbClr val="4B4B4B"/>
                          </a:solidFill>
                          <a:latin typeface="Arial"/>
                        </a:rPr>
                        <a:t>Opens the dialog; Request Exception records the exception for this quotation, pending approval</a:t>
                      </a:r>
                    </a:p>
                  </a:txBody>
                  <a:tcPr marL="54864" marR="54864" marT="27432" marB="27432">
                    <a:solidFill>
                      <a:srgbClr val="FFFFFF"/>
                    </a:solidFill>
                  </a:tcPr>
                </a:tc>
                <a:tc>
                  <a:txBody>
                    <a:bodyPr/>
                    <a:lstStyle/>
                    <a:p>
                      <a:r>
                        <a:rPr sz="850" b="0">
                          <a:solidFill>
                            <a:srgbClr val="4B4B4B"/>
                          </a:solidFill>
                          <a:latin typeface="Arial"/>
                        </a:rPr>
                        <a:t>Pending Authorization</a:t>
                      </a:r>
                    </a:p>
                  </a:txBody>
                  <a:tcPr marL="54864" marR="54864" marT="27432" marB="27432">
                    <a:solidFill>
                      <a:srgbClr val="FFFFFF"/>
                    </a:solidFill>
                  </a:tcPr>
                </a:tc>
                <a:tc>
                  <a:txBody>
                    <a:bodyPr/>
                    <a:lstStyle/>
                    <a:p>
                      <a:r>
                        <a:rPr sz="850" b="0">
                          <a:solidFill>
                            <a:srgbClr val="4B4B4B"/>
                          </a:solidFill>
                          <a:latin typeface="Arial"/>
                        </a:rPr>
                        <a:t>My Approvals of the approvers</a:t>
                      </a:r>
                    </a:p>
                  </a:txBody>
                  <a:tcPr marL="54864" marR="54864" marT="27432" marB="27432">
                    <a:solidFill>
                      <a:srgbClr val="FFFFFF"/>
                    </a:solidFill>
                  </a:tcPr>
                </a:tc>
              </a:tr>
              <a:tr h="480057">
                <a:tc>
                  <a:txBody>
                    <a:bodyPr/>
                    <a:lstStyle/>
                    <a:p>
                      <a:r>
                        <a:rPr sz="850" b="0">
                          <a:solidFill>
                            <a:srgbClr val="4B4B4B"/>
                          </a:solidFill>
                          <a:latin typeface="Arial"/>
                        </a:rPr>
                        <a:t>Open from My Approvals</a:t>
                      </a:r>
                    </a:p>
                  </a:txBody>
                  <a:tcPr marL="54864" marR="54864" marT="27432" marB="27432">
                    <a:solidFill>
                      <a:srgbClr val="E5F5FF"/>
                    </a:solidFill>
                  </a:tcPr>
                </a:tc>
                <a:tc>
                  <a:txBody>
                    <a:bodyPr/>
                    <a:lstStyle/>
                    <a:p>
                      <a:r>
                        <a:rPr sz="850" b="0">
                          <a:solidFill>
                            <a:srgbClr val="4B4B4B"/>
                          </a:solidFill>
                          <a:latin typeface="Arial"/>
                        </a:rPr>
                        <a:t>Business Administrator, New Business Approver (PRODUCT_AUTHORIZE)</a:t>
                      </a:r>
                    </a:p>
                  </a:txBody>
                  <a:tcPr marL="54864" marR="54864" marT="27432" marB="27432">
                    <a:solidFill>
                      <a:srgbClr val="E5F5FF"/>
                    </a:solidFill>
                  </a:tcPr>
                </a:tc>
                <a:tc>
                  <a:txBody>
                    <a:bodyPr/>
                    <a:lstStyle/>
                    <a:p>
                      <a:r>
                        <a:rPr sz="850" b="0">
                          <a:solidFill>
                            <a:srgbClr val="4B4B4B"/>
                          </a:solidFill>
                          <a:latin typeface="Arial"/>
                        </a:rPr>
                        <a:t>Exception pending</a:t>
                      </a:r>
                    </a:p>
                  </a:txBody>
                  <a:tcPr marL="54864" marR="54864" marT="27432" marB="27432">
                    <a:solidFill>
                      <a:srgbClr val="E5F5FF"/>
                    </a:solidFill>
                  </a:tcPr>
                </a:tc>
                <a:tc>
                  <a:txBody>
                    <a:bodyPr/>
                    <a:lstStyle/>
                    <a:p>
                      <a:r>
                        <a:rPr sz="850" b="0">
                          <a:solidFill>
                            <a:srgbClr val="4B4B4B"/>
                          </a:solidFill>
                          <a:latin typeface="Arial"/>
                        </a:rPr>
                        <a:t>The rate exception row of My Approvals opens the exception record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Business Administrator, New Business Approver (PRODUCT_AUTHORIZE), not the requester</a:t>
                      </a:r>
                    </a:p>
                  </a:txBody>
                  <a:tcPr marL="54864" marR="54864" marT="27432" marB="27432">
                    <a:solidFill>
                      <a:srgbClr val="FFFFFF"/>
                    </a:solidFill>
                  </a:tcPr>
                </a:tc>
                <a:tc>
                  <a:txBody>
                    <a:bodyPr/>
                    <a:lstStyle/>
                    <a:p>
                      <a:r>
                        <a:rPr sz="850" b="0">
                          <a:solidFill>
                            <a:srgbClr val="4B4B4B"/>
                          </a:solidFill>
                          <a:latin typeface="Arial"/>
                        </a:rPr>
                        <a:t>Exception pending</a:t>
                      </a:r>
                    </a:p>
                  </a:txBody>
                  <a:tcPr marL="54864" marR="54864" marT="27432" marB="27432">
                    <a:solidFill>
                      <a:srgbClr val="FFFFFF"/>
                    </a:solidFill>
                  </a:tcPr>
                </a:tc>
                <a:tc>
                  <a:txBody>
                    <a:bodyPr/>
                    <a:lstStyle/>
                    <a:p>
                      <a:r>
                        <a:rPr sz="850" b="0">
                          <a:solidFill>
                            <a:srgbClr val="4B4B4B"/>
                          </a:solidFill>
                          <a:latin typeface="Arial"/>
                        </a:rPr>
                        <a:t>Opens the confirmation with an optional comment; Approve approves the exception, which prices the quotation from then on</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Notification to the requester</a:t>
                      </a:r>
                    </a:p>
                  </a:txBody>
                  <a:tcPr marL="54864" marR="54864" marT="27432" marB="27432">
                    <a:solidFill>
                      <a:srgbClr val="FFFFFF"/>
                    </a:solidFill>
                  </a:tcPr>
                </a:tc>
              </a:tr>
              <a:tr h="480057">
                <a:tc>
                  <a:txBody>
                    <a:bodyPr/>
                    <a:lstStyle/>
                    <a:p>
                      <a:r>
                        <a:rPr sz="850" b="0">
                          <a:solidFill>
                            <a:srgbClr val="4B4B4B"/>
                          </a:solidFill>
                          <a:latin typeface="Arial"/>
                        </a:rPr>
                        <a:t>Reject</a:t>
                      </a:r>
                    </a:p>
                  </a:txBody>
                  <a:tcPr marL="54864" marR="54864" marT="27432" marB="27432">
                    <a:solidFill>
                      <a:srgbClr val="E5F5FF"/>
                    </a:solidFill>
                  </a:tcPr>
                </a:tc>
                <a:tc>
                  <a:txBody>
                    <a:bodyPr/>
                    <a:lstStyle/>
                    <a:p>
                      <a:r>
                        <a:rPr sz="850" b="0">
                          <a:solidFill>
                            <a:srgbClr val="4B4B4B"/>
                          </a:solidFill>
                          <a:latin typeface="Arial"/>
                        </a:rPr>
                        <a:t>Business Administrator, New Business Approver (PRODUCT_AUTHORIZE), not the requester</a:t>
                      </a:r>
                    </a:p>
                  </a:txBody>
                  <a:tcPr marL="54864" marR="54864" marT="27432" marB="27432">
                    <a:solidFill>
                      <a:srgbClr val="E5F5FF"/>
                    </a:solidFill>
                  </a:tcPr>
                </a:tc>
                <a:tc>
                  <a:txBody>
                    <a:bodyPr/>
                    <a:lstStyle/>
                    <a:p>
                      <a:r>
                        <a:rPr sz="850" b="0">
                          <a:solidFill>
                            <a:srgbClr val="4B4B4B"/>
                          </a:solidFill>
                          <a:latin typeface="Arial"/>
                        </a:rPr>
                        <a:t>Exception pending</a:t>
                      </a:r>
                    </a:p>
                  </a:txBody>
                  <a:tcPr marL="54864" marR="54864" marT="27432" marB="27432">
                    <a:solidFill>
                      <a:srgbClr val="E5F5FF"/>
                    </a:solidFill>
                  </a:tcPr>
                </a:tc>
                <a:tc>
                  <a:txBody>
                    <a:bodyPr/>
                    <a:lstStyle/>
                    <a:p>
                      <a:r>
                        <a:rPr sz="850" b="0">
                          <a:solidFill>
                            <a:srgbClr val="4B4B4B"/>
                          </a:solidFill>
                          <a:latin typeface="Arial"/>
                        </a:rPr>
                        <a:t>Opens the confirmation; the reason is required; Reject rejects the exception, which can no longer be used</a:t>
                      </a:r>
                    </a:p>
                  </a:txBody>
                  <a:tcPr marL="54864" marR="54864" marT="27432" marB="27432">
                    <a:solidFill>
                      <a:srgbClr val="E5F5FF"/>
                    </a:solidFill>
                  </a:tcPr>
                </a:tc>
                <a:tc>
                  <a:txBody>
                    <a:bodyPr/>
                    <a:lstStyle/>
                    <a:p>
                      <a:r>
                        <a:rPr sz="850" b="0">
                          <a:solidFill>
                            <a:srgbClr val="4B4B4B"/>
                          </a:solidFill>
                          <a:latin typeface="Arial"/>
                        </a:rPr>
                        <a:t>Rejected</a:t>
                      </a:r>
                    </a:p>
                  </a:txBody>
                  <a:tcPr marL="54864" marR="54864" marT="27432" marB="27432">
                    <a:solidFill>
                      <a:srgbClr val="E5F5FF"/>
                    </a:solidFill>
                  </a:tcPr>
                </a:tc>
                <a:tc>
                  <a:txBody>
                    <a:bodyPr/>
                    <a:lstStyle/>
                    <a:p>
                      <a:r>
                        <a:rPr sz="850" b="0">
                          <a:solidFill>
                            <a:srgbClr val="4B4B4B"/>
                          </a:solidFill>
                          <a:latin typeface="Arial"/>
                        </a:rPr>
                        <a:t>Notification to the requester with the reason</a:t>
                      </a:r>
                    </a:p>
                  </a:txBody>
                  <a:tcPr marL="54864" marR="54864" marT="27432" marB="27432">
                    <a:solidFill>
                      <a:srgbClr val="E5F5FF"/>
                    </a:solidFill>
                  </a:tcPr>
                </a:tc>
              </a:tr>
            </a:tbl>
          </a:graphicData>
        </a:graphic>
      </p:graphicFrame>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366</a:t>
            </a:r>
          </a:p>
        </p:txBody>
      </p:sp>
      <p:graphicFrame>
        <p:nvGraphicFramePr>
          <p:cNvPr id="9" name="Table 8"/>
          <p:cNvGraphicFramePr>
            <a:graphicFrameLocks noGrp="1"/>
          </p:cNvGraphicFramePr>
          <p:nvPr/>
        </p:nvGraphicFramePr>
        <p:xfrm>
          <a:off x="548640" y="1325880"/>
          <a:ext cx="11094415" cy="16154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package rate schemes need an exception; an exception names the rate or the version it approves and the transaction (quotation number or ARN) (FR-PM-051).</a:t>
                      </a:r>
                    </a:p>
                  </a:txBody>
                  <a:tcPr marL="54864" marR="54864" marT="27432" marB="27432">
                    <a:solidFill>
                      <a:srgbClr val="FFFFFF"/>
                    </a:solidFill>
                  </a:tcPr>
                </a:tc>
              </a:tr>
              <a:tr h="396240">
                <a:tc>
                  <a:txBody>
                    <a:bodyPr/>
                    <a:lstStyle/>
                    <a:p>
                      <a:r>
                        <a:rPr sz="1000" b="0">
                          <a:solidFill>
                            <a:srgbClr val="4B4B4B"/>
                          </a:solidFill>
                          <a:latin typeface="Arial"/>
                        </a:rPr>
                        <a:t>An exception is approved or rejected by a holder of the product approval permission other than its requester; the requester sees the record without the Approve and Reject buttons (FR-PM-051).</a:t>
                      </a:r>
                    </a:p>
                  </a:txBody>
                  <a:tcPr marL="54864" marR="54864" marT="27432" marB="27432">
                    <a:solidFill>
                      <a:srgbClr val="E5F5FF"/>
                    </a:solidFill>
                  </a:tcPr>
                </a:tc>
              </a:tr>
              <a:tr h="243840">
                <a:tc>
                  <a:txBody>
                    <a:bodyPr/>
                    <a:lstStyle/>
                    <a:p>
                      <a:r>
                        <a:rPr sz="1000" b="0">
                          <a:solidFill>
                            <a:srgbClr val="4B4B4B"/>
                          </a:solidFill>
                          <a:latin typeface="Arial"/>
                        </a:rPr>
                        <a:t>A rejection needs its reason; the decision, its maker, date and comment or reason stay on the record and in the audit trail (FR-PM-051).</a:t>
                      </a:r>
                    </a:p>
                  </a:txBody>
                  <a:tcPr marL="54864" marR="54864" marT="27432" marB="27432">
                    <a:solidFill>
                      <a:srgbClr val="FFFFFF"/>
                    </a:solidFill>
                  </a:tcPr>
                </a:tc>
              </a:tr>
              <a:tr h="243840">
                <a:tc>
                  <a:txBody>
                    <a:bodyPr/>
                    <a:lstStyle/>
                    <a:p>
                      <a:r>
                        <a:rPr sz="1000" b="0">
                          <a:solidFill>
                            <a:srgbClr val="4B4B4B"/>
                          </a:solidFill>
                          <a:latin typeface="Arial"/>
                        </a:rPr>
                        <a:t>Submission of the quotation (and of the account) is refused until an approved exception covers the differing rate or version (FR-PM-051).</a:t>
                      </a:r>
                    </a:p>
                  </a:txBody>
                  <a:tcPr marL="54864" marR="54864" marT="27432" marB="27432">
                    <a:solidFill>
                      <a:srgbClr val="E5F5FF"/>
                    </a:solidFill>
                  </a:tcPr>
                </a:tc>
              </a:tr>
              <a:tr h="243840">
                <a:tc>
                  <a:txBody>
                    <a:bodyPr/>
                    <a:lstStyle/>
                    <a:p>
                      <a:r>
                        <a:rPr sz="1000" b="0">
                          <a:solidFill>
                            <a:srgbClr val="4B4B4B"/>
                          </a:solidFill>
                          <a:latin typeface="Arial"/>
                        </a:rPr>
                        <a:t>The approved exception is stored on the quotation and passed to the accounts created from it (FR-PM-051).</a:t>
                      </a:r>
                    </a:p>
                  </a:txBody>
                  <a:tcPr marL="54864" marR="54864" marT="27432" marB="27432">
                    <a:solidFill>
                      <a:srgbClr val="FFFFFF"/>
                    </a:solidFill>
                  </a:tcPr>
                </a:tc>
              </a:tr>
            </a:tbl>
          </a:graphicData>
        </a:graphic>
      </p:graphicFrame>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SCR-PM-22 states shown in the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367</a:t>
            </a:r>
          </a:p>
        </p:txBody>
      </p:sp>
      <p:graphicFrame>
        <p:nvGraphicFramePr>
          <p:cNvPr id="9" name="Table 8"/>
          <p:cNvGraphicFramePr>
            <a:graphicFrameLocks noGrp="1"/>
          </p:cNvGraphicFramePr>
          <p:nvPr/>
        </p:nvGraphicFramePr>
        <p:xfrm>
          <a:off x="548640" y="1325880"/>
          <a:ext cx="11094413" cy="1188720"/>
        </p:xfrm>
        <a:graphic>
          <a:graphicData uri="http://schemas.openxmlformats.org/drawingml/2006/table">
            <a:tbl>
              <a:tblPr firstRow="1" bandRow="1">
                <a:tableStyleId>{5C22544A-7EE6-4342-B048-85BDC9FD1C3A}</a:tableStyleId>
              </a:tblPr>
              <a:tblGrid>
                <a:gridCol w="1536149"/>
                <a:gridCol w="1365466"/>
                <a:gridCol w="5632549"/>
                <a:gridCol w="2560249"/>
              </a:tblGrid>
              <a:tr h="228600">
                <a:tc>
                  <a:txBody>
                    <a:bodyPr/>
                    <a:lstStyle/>
                    <a:p>
                      <a:r>
                        <a:rPr sz="900" b="1">
                          <a:solidFill>
                            <a:srgbClr val="FFFFFF"/>
                          </a:solidFill>
                          <a:latin typeface="Arial"/>
                        </a:rPr>
                        <a:t>State</a:t>
                      </a:r>
                    </a:p>
                  </a:txBody>
                  <a:tcPr marL="54864" marR="54864" marT="27432" marB="27432">
                    <a:solidFill>
                      <a:srgbClr val="004EA8"/>
                    </a:solidFill>
                  </a:tcPr>
                </a:tc>
                <a:tc>
                  <a:txBody>
                    <a:bodyPr/>
                    <a:lstStyle/>
                    <a:p>
                      <a:r>
                        <a:rPr sz="900" b="1">
                          <a:solidFill>
                            <a:srgbClr val="FFFFFF"/>
                          </a:solidFill>
                          <a:latin typeface="Arial"/>
                        </a:rPr>
                        <a:t>Flow and step</a:t>
                      </a:r>
                    </a:p>
                  </a:txBody>
                  <a:tcPr marL="54864" marR="54864" marT="27432" marB="27432">
                    <a:solidFill>
                      <a:srgbClr val="004EA8"/>
                    </a:solidFill>
                  </a:tcPr>
                </a:tc>
                <a:tc>
                  <a:txBody>
                    <a:bodyPr/>
                    <a:lstStyle/>
                    <a:p>
                      <a:r>
                        <a:rPr sz="900" b="1">
                          <a:solidFill>
                            <a:srgbClr val="FFFFFF"/>
                          </a:solidFill>
                          <a:latin typeface="Arial"/>
                        </a:rPr>
                        <a:t>What the image shows</a:t>
                      </a:r>
                    </a:p>
                  </a:txBody>
                  <a:tcPr marL="54864" marR="54864" marT="27432" marB="27432">
                    <a:solidFill>
                      <a:srgbClr val="004EA8"/>
                    </a:solidFill>
                  </a:tcPr>
                </a:tc>
                <a:tc>
                  <a:txBody>
                    <a:bodyPr/>
                    <a:lstStyle/>
                    <a:p>
                      <a:r>
                        <a:rPr sz="900" b="1">
                          <a:solidFill>
                            <a:srgbClr val="FFFFFF"/>
                          </a:solidFill>
                          <a:latin typeface="Arial"/>
                        </a:rPr>
                        <a:t>Image</a:t>
                      </a:r>
                    </a:p>
                  </a:txBody>
                  <a:tcPr marL="54864" marR="54864" marT="27432" marB="27432">
                    <a:solidFill>
                      <a:srgbClr val="004EA8"/>
                    </a:solidFill>
                  </a:tcPr>
                </a:tc>
              </a:tr>
              <a:tr h="365760">
                <a:tc>
                  <a:txBody>
                    <a:bodyPr/>
                    <a:lstStyle/>
                    <a:p>
                      <a:r>
                        <a:rPr sz="900" b="0">
                          <a:solidFill>
                            <a:srgbClr val="4B4B4B"/>
                          </a:solidFill>
                          <a:latin typeface="Arial"/>
                        </a:rPr>
                        <a:t>Success message</a:t>
                      </a:r>
                    </a:p>
                  </a:txBody>
                  <a:tcPr marL="54864" marR="54864" marT="27432" marB="27432">
                    <a:solidFill>
                      <a:srgbClr val="FFFFFF"/>
                    </a:solidFill>
                  </a:tcPr>
                </a:tc>
                <a:tc>
                  <a:txBody>
                    <a:bodyPr/>
                    <a:lstStyle/>
                    <a:p>
                      <a:r>
                        <a:rPr sz="900" b="0">
                          <a:solidFill>
                            <a:srgbClr val="4B4B4B"/>
                          </a:solidFill>
                          <a:latin typeface="Arial"/>
                        </a:rPr>
                        <a:t>WT-A step 23</a:t>
                      </a:r>
                    </a:p>
                  </a:txBody>
                  <a:tcPr marL="54864" marR="54864" marT="27432" marB="27432">
                    <a:solidFill>
                      <a:srgbClr val="FFFFFF"/>
                    </a:solidFill>
                  </a:tcPr>
                </a:tc>
                <a:tc>
                  <a:txBody>
                    <a:bodyPr/>
                    <a:lstStyle/>
                    <a:p>
                      <a:r>
                        <a:rPr sz="900" b="0">
                          <a:solidFill>
                            <a:srgbClr val="4B4B4B"/>
                          </a:solidFill>
                          <a:latin typeface="Arial"/>
                        </a:rPr>
                        <a:t>Opens My Approvals, clicks the rate exception of the quotation, compares the requested rate with the scheme in force on the exception record, clicks Approve, writes the comment and confirms</a:t>
                      </a:r>
                    </a:p>
                  </a:txBody>
                  <a:tcPr marL="54864" marR="54864" marT="27432" marB="27432">
                    <a:solidFill>
                      <a:srgbClr val="FFFFFF"/>
                    </a:solidFill>
                  </a:tcPr>
                </a:tc>
                <a:tc>
                  <a:txBody>
                    <a:bodyPr/>
                    <a:lstStyle/>
                    <a:p>
                      <a:r>
                        <a:rPr sz="900" b="0">
                          <a:solidFill>
                            <a:srgbClr val="4B4B4B"/>
                          </a:solidFill>
                          <a:latin typeface="Arial"/>
                        </a:rPr>
                        <a:t>SCR-PM-22_wt-a-step-23.png</a:t>
                      </a:r>
                    </a:p>
                  </a:txBody>
                  <a:tcPr marL="54864" marR="54864" marT="27432" marB="27432">
                    <a:solidFill>
                      <a:srgbClr val="FFFFFF"/>
                    </a:solidFill>
                  </a:tcPr>
                </a:tc>
              </a:tr>
              <a:tr h="228600">
                <a:tc>
                  <a:txBody>
                    <a:bodyPr/>
                    <a:lstStyle/>
                    <a:p>
                      <a:r>
                        <a:rPr sz="900" b="0">
                          <a:solidFill>
                            <a:srgbClr val="4B4B4B"/>
                          </a:solidFill>
                          <a:latin typeface="Arial"/>
                        </a:rPr>
                        <a:t>Success message</a:t>
                      </a:r>
                    </a:p>
                  </a:txBody>
                  <a:tcPr marL="54864" marR="54864" marT="27432" marB="27432">
                    <a:solidFill>
                      <a:srgbClr val="E5F5FF"/>
                    </a:solidFill>
                  </a:tcPr>
                </a:tc>
                <a:tc>
                  <a:txBody>
                    <a:bodyPr/>
                    <a:lstStyle/>
                    <a:p>
                      <a:r>
                        <a:rPr sz="900" b="0">
                          <a:solidFill>
                            <a:srgbClr val="4B4B4B"/>
                          </a:solidFill>
                          <a:latin typeface="Arial"/>
                        </a:rPr>
                        <a:t>WT-A step 24</a:t>
                      </a:r>
                    </a:p>
                  </a:txBody>
                  <a:tcPr marL="54864" marR="54864" marT="27432" marB="27432">
                    <a:solidFill>
                      <a:srgbClr val="E5F5FF"/>
                    </a:solidFill>
                  </a:tcPr>
                </a:tc>
                <a:tc>
                  <a:txBody>
                    <a:bodyPr/>
                    <a:lstStyle/>
                    <a:p>
                      <a:r>
                        <a:rPr sz="900" b="0">
                          <a:solidFill>
                            <a:srgbClr val="4B4B4B"/>
                          </a:solidFill>
                          <a:latin typeface="Arial"/>
                        </a:rPr>
                        <a:t>Opens the quotation again after the approval</a:t>
                      </a:r>
                    </a:p>
                  </a:txBody>
                  <a:tcPr marL="54864" marR="54864" marT="27432" marB="27432">
                    <a:solidFill>
                      <a:srgbClr val="E5F5FF"/>
                    </a:solidFill>
                  </a:tcPr>
                </a:tc>
                <a:tc>
                  <a:txBody>
                    <a:bodyPr/>
                    <a:lstStyle/>
                    <a:p>
                      <a:r>
                        <a:rPr sz="900" b="0">
                          <a:solidFill>
                            <a:srgbClr val="4B4B4B"/>
                          </a:solidFill>
                          <a:latin typeface="Arial"/>
                        </a:rPr>
                        <a:t>SCR-PM-22_wt-a-step-24.png</a:t>
                      </a:r>
                    </a:p>
                  </a:txBody>
                  <a:tcPr marL="54864" marR="54864" marT="27432" marB="27432">
                    <a:solidFill>
                      <a:srgbClr val="E5F5FF"/>
                    </a:solidFill>
                  </a:tcPr>
                </a:tc>
              </a:tr>
              <a:tr h="365760">
                <a:tc>
                  <a:txBody>
                    <a:bodyPr/>
                    <a:lstStyle/>
                    <a:p>
                      <a:r>
                        <a:rPr sz="900" b="0">
                          <a:solidFill>
                            <a:srgbClr val="4B4B4B"/>
                          </a:solidFill>
                          <a:latin typeface="Arial"/>
                        </a:rPr>
                        <a:t>Pending approval</a:t>
                      </a:r>
                    </a:p>
                  </a:txBody>
                  <a:tcPr marL="54864" marR="54864" marT="27432" marB="27432">
                    <a:solidFill>
                      <a:srgbClr val="FFFFFF"/>
                    </a:solidFill>
                  </a:tcPr>
                </a:tc>
                <a:tc>
                  <a:txBody>
                    <a:bodyPr/>
                    <a:lstStyle/>
                    <a:p>
                      <a:r>
                        <a:rPr sz="900" b="0">
                          <a:solidFill>
                            <a:srgbClr val="4B4B4B"/>
                          </a:solidFill>
                          <a:latin typeface="Arial"/>
                        </a:rPr>
                        <a:t>WT-A step 22</a:t>
                      </a:r>
                    </a:p>
                  </a:txBody>
                  <a:tcPr marL="54864" marR="54864" marT="27432" marB="27432">
                    <a:solidFill>
                      <a:srgbClr val="FFFFFF"/>
                    </a:solidFill>
                  </a:tcPr>
                </a:tc>
                <a:tc>
                  <a:txBody>
                    <a:bodyPr/>
                    <a:lstStyle/>
                    <a:p>
                      <a:r>
                        <a:rPr sz="900" b="0">
                          <a:solidFill>
                            <a:srgbClr val="4B4B4B"/>
                          </a:solidFill>
                          <a:latin typeface="Arial"/>
                        </a:rPr>
                        <a:t>Creates a New Business quotation of MTR30 for the seed client with an item rate of 1.10%, opens it and clicks Request Rate Exception with the reason</a:t>
                      </a:r>
                    </a:p>
                  </a:txBody>
                  <a:tcPr marL="54864" marR="54864" marT="27432" marB="27432">
                    <a:solidFill>
                      <a:srgbClr val="FFFFFF"/>
                    </a:solidFill>
                  </a:tcPr>
                </a:tc>
                <a:tc>
                  <a:txBody>
                    <a:bodyPr/>
                    <a:lstStyle/>
                    <a:p>
                      <a:r>
                        <a:rPr sz="900" b="0">
                          <a:solidFill>
                            <a:srgbClr val="4B4B4B"/>
                          </a:solidFill>
                          <a:latin typeface="Arial"/>
                        </a:rPr>
                        <a:t>SCR-PM-22_wt-a-step-22.png</a:t>
                      </a:r>
                    </a:p>
                  </a:txBody>
                  <a:tcPr marL="54864" marR="54864" marT="27432" marB="27432">
                    <a:solidFill>
                      <a:srgbClr val="FFFFFF"/>
                    </a:solidFill>
                  </a:tcPr>
                </a:tc>
              </a:tr>
            </a:tbl>
          </a:graphicData>
        </a:graphic>
      </p:graphicFrame>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pm-22-01-exception.png"/>
          <p:cNvPicPr>
            <a:picLocks noChangeAspect="1"/>
          </p:cNvPicPr>
          <p:nvPr/>
        </p:nvPicPr>
        <p:blipFill>
          <a:blip r:embed="rId3"/>
          <a:stretch>
            <a:fillRect/>
          </a:stretch>
        </p:blipFill>
        <p:spPr>
          <a:xfrm>
            <a:off x="731855" y="1261872"/>
            <a:ext cx="10727985"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Request Rate Exception dialog</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369</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pm-22-04-reject.png"/>
          <p:cNvPicPr>
            <a:picLocks noChangeAspect="1"/>
          </p:cNvPicPr>
          <p:nvPr/>
        </p:nvPicPr>
        <p:blipFill>
          <a:blip r:embed="rId3"/>
          <a:stretch>
            <a:fillRect/>
          </a:stretch>
        </p:blipFill>
        <p:spPr>
          <a:xfrm>
            <a:off x="693172" y="1261872"/>
            <a:ext cx="1080535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Reject Rate Exception: the reason is required</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22-02-deviation.png"/>
          <p:cNvPicPr>
            <a:picLocks noChangeAspect="1"/>
          </p:cNvPicPr>
          <p:nvPr/>
        </p:nvPicPr>
        <p:blipFill>
          <a:blip r:embed="rId3"/>
          <a:stretch>
            <a:fillRect/>
          </a:stretch>
        </p:blipFill>
        <p:spPr>
          <a:xfrm>
            <a:off x="548640" y="1261872"/>
            <a:ext cx="11094415" cy="429810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 Exceptions card: an item rate differs from the scheme rate; each exception is a row of the table</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SCR-PM-22 Quotation: package rate scheme and rate exception: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pm-22-03-record.png"/>
          <p:cNvPicPr>
            <a:picLocks noChangeAspect="1"/>
          </p:cNvPicPr>
          <p:nvPr/>
        </p:nvPicPr>
        <p:blipFill>
          <a:blip r:embed="rId3"/>
          <a:stretch>
            <a:fillRect/>
          </a:stretch>
        </p:blipFill>
        <p:spPr>
          <a:xfrm>
            <a:off x="1748975" y="1261872"/>
            <a:ext cx="8693744"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Rate exception record opened from My Approvals: the requested rate against the scheme in force, with Approve and Reject</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DO-01 Package Request 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373</a:t>
            </a:r>
          </a:p>
        </p:txBody>
      </p:sp>
      <p:pic>
        <p:nvPicPr>
          <p:cNvPr id="9" name="Picture 8" descr="doc-request-form.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PKG_REQUEST_FORM</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Package Request record › Request Form</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13258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request number and type, package or programme name, scope, client, line and cover type, product – from the package request</a:t>
                      </a:r>
                    </a:p>
                    <a:p>
                      <a:r>
                        <a:rPr sz="900" b="0">
                          <a:solidFill>
                            <a:srgbClr val="4B4B4B"/>
                          </a:solidFill>
                          <a:latin typeface="Arial"/>
                        </a:rPr>
                        <a:t>Requested terms: sections; coverages with Included, Limit, Sub-limit, Deductible; rate %, minimum premium, commission %, TSI limit, computation basis, effective from, package term, anniversary; insurers with role, share, rate and minimum premium – from the requested terms</a:t>
                      </a:r>
                    </a:p>
                    <a:p>
                      <a:r>
                        <a:rPr sz="900" b="0">
                          <a:solidFill>
                            <a:srgbClr val="4B4B4B"/>
                          </a:solidFill>
                          <a:latin typeface="Arial"/>
                        </a:rPr>
                        <a:t>Opening text – merged from the template PKG_REQUEST_FORM; signature lines Prepared by and Approved by</a:t>
                      </a:r>
                    </a:p>
                  </a:txBody>
                  <a:tcPr marL="54864" marR="54864" marT="27432" marB="27432">
                    <a:solidFill>
                      <a:srgbClr val="FFFFFF"/>
                    </a:solidFill>
                  </a:tcPr>
                </a:tc>
              </a:tr>
            </a:tbl>
          </a:graphicData>
        </a:graphic>
      </p:graphicFrame>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DO-02 Package quotation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374</a:t>
            </a:r>
          </a:p>
        </p:txBody>
      </p:sp>
      <p:pic>
        <p:nvPicPr>
          <p:cNvPr id="9" name="Picture 8" descr="doc-quotation-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PKG_QUOTATION_SLIP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one per round (the same slip to every insurer of the round)</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Negotiation tab › Quotation Slip; e-mailed at Approve and Send and at Resend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105156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Slip number PQS-yyyy-nnnnnn, round, request, package, line, client or programme, reply date – from the round and the request</a:t>
                      </a:r>
                    </a:p>
                    <a:p>
                      <a:r>
                        <a:rPr sz="900" b="0">
                          <a:solidFill>
                            <a:srgbClr val="4B4B4B"/>
                          </a:solidFill>
                          <a:latin typeface="Arial"/>
                        </a:rPr>
                        <a:t>Round notes – the notes of the round (What changes in this round)</a:t>
                      </a:r>
                    </a:p>
                    <a:p>
                      <a:r>
                        <a:rPr sz="900" b="0">
                          <a:solidFill>
                            <a:srgbClr val="4B4B4B"/>
                          </a:solidFill>
                          <a:latin typeface="Arial"/>
                        </a:rPr>
                        <a:t>Requested terms as in DO-01</a:t>
                      </a:r>
                    </a:p>
                    <a:p>
                      <a:r>
                        <a:rPr sz="900" b="0">
                          <a:solidFill>
                            <a:srgbClr val="4B4B4B"/>
                          </a:solidFill>
                          <a:latin typeface="Arial"/>
                        </a:rPr>
                        <a:t>Opening text with the slip number, round and reply date – merged from the template PKG_QUOTATION_SLIP</a:t>
                      </a:r>
                    </a:p>
                    <a:p>
                      <a:r>
                        <a:rPr sz="900" b="0">
                          <a:solidFill>
                            <a:srgbClr val="4B4B4B"/>
                          </a:solidFill>
                          <a:latin typeface="Arial"/>
                        </a:rPr>
                        <a:t>Signature lines Prepared by and Approved by</a:t>
                      </a:r>
                    </a:p>
                  </a:txBody>
                  <a:tcPr marL="54864" marR="54864" marT="27432" marB="27432">
                    <a:solidFill>
                      <a:srgbClr val="FFFFFF"/>
                    </a:solidFill>
                  </a:tcPr>
                </a:tc>
              </a:tr>
            </a:tbl>
          </a:graphicData>
        </a:graphic>
      </p:graphicFrame>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DO-03 Comparative table (audit master and client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375</a:t>
            </a:r>
          </a:p>
        </p:txBody>
      </p:sp>
      <p:pic>
        <p:nvPicPr>
          <p:cNvPr id="9" name="Picture 8" descr="doc-comparative.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2402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PKG_COMPARATIVE</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and Excel, one pair per stored output</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Comparative tab › PDF / Excel of each stored output</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a:t>
                      </a:r>
                    </a:p>
                  </a:txBody>
                  <a:tcPr marL="54864" marR="54864" marT="27432" marB="27432">
                    <a:solidFill>
                      <a:srgbClr val="FFFFFF"/>
                    </a:solidFill>
                  </a:tcPr>
                </a:tc>
              </a:tr>
              <a:tr h="13258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Title (Audit master or the client view title), request, round – from the output</a:t>
                      </a:r>
                    </a:p>
                    <a:p>
                      <a:r>
                        <a:rPr sz="900" b="0">
                          <a:solidFill>
                            <a:srgbClr val="4B4B4B"/>
                          </a:solidFill>
                          <a:latin typeface="Arial"/>
                        </a:rPr>
                        <a:t>Insurer terms: one row per insurer with the fields of the output (Outcome, Rate %, Minimum Premium, Coverages, Deductibles, Conditions / Warranties, Valid Until, Remarks) – from the insurer responses stored in the output</a:t>
                      </a:r>
                    </a:p>
                    <a:p>
                      <a:r>
                        <a:rPr sz="900" b="0">
                          <a:solidFill>
                            <a:srgbClr val="4B4B4B"/>
                          </a:solidFill>
                          <a:latin typeface="Arial"/>
                        </a:rPr>
                        <a:t>Opening text with the request, round and variant – merged from the template PKG_COMPARATIVE (PDF only); the Excel file holds the table only</a:t>
                      </a:r>
                    </a:p>
                  </a:txBody>
                  <a:tcPr marL="54864" marR="54864" marT="27432" marB="27432">
                    <a:solidFill>
                      <a:srgbClr val="FFFFFF"/>
                    </a:solidFill>
                  </a:tcPr>
                </a:tc>
              </a:tr>
            </a:tbl>
          </a:graphicData>
        </a:graphic>
      </p:graphicFrame>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DO-04 Package slip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376</a:t>
            </a:r>
          </a:p>
        </p:txBody>
      </p:sp>
      <p:pic>
        <p:nvPicPr>
          <p:cNvPr id="9" name="Picture 8" descr="doc-package-slip.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82880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PKG_SLIP</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a:t>
                      </a:r>
                    </a:p>
                  </a:txBody>
                  <a:tcPr marL="54864" marR="54864" marT="27432" marB="27432">
                    <a:solidFill>
                      <a:srgbClr val="FFFFFF"/>
                    </a:solidFill>
                  </a:tcPr>
                </a:tc>
              </a:tr>
              <a:tr h="36576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Requirements &amp; Sign-off tab › Package Slip; printed, signed and uploaded as Package slip (signed)</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77724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Request, package, line, client or programme – from the request</a:t>
                      </a:r>
                    </a:p>
                    <a:p>
                      <a:r>
                        <a:rPr sz="900" b="0">
                          <a:solidFill>
                            <a:srgbClr val="4B4B4B"/>
                          </a:solidFill>
                          <a:latin typeface="Arial"/>
                        </a:rPr>
                        <a:t>Proposed terms: coverages, rate scheme, computation basis, dates and chosen insurers with role and share – from the proposed terms</a:t>
                      </a:r>
                    </a:p>
                    <a:p>
                      <a:r>
                        <a:rPr sz="900" b="0">
                          <a:solidFill>
                            <a:srgbClr val="4B4B4B"/>
                          </a:solidFill>
                          <a:latin typeface="Arial"/>
                        </a:rPr>
                        <a:t>Opening text – merged from the template PKG_SLIP; signature lines Prepared by and Approved by, signed on the printed slip</a:t>
                      </a:r>
                    </a:p>
                  </a:txBody>
                  <a:tcPr marL="54864" marR="54864" marT="27432" marB="27432">
                    <a:solidFill>
                      <a:srgbClr val="FFFFFF"/>
                    </a:solidFill>
                  </a:tcPr>
                </a:tc>
              </a:tr>
            </a:tbl>
          </a:graphicData>
        </a:graphic>
      </p:graphicFrame>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DO-05 ManCom sign-off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377</a:t>
            </a:r>
          </a:p>
        </p:txBody>
      </p:sp>
      <p:pic>
        <p:nvPicPr>
          <p:cNvPr id="9" name="Picture 8" descr="doc-mancom-signoff.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1554480"/>
        </p:xfrm>
        <a:graphic>
          <a:graphicData uri="http://schemas.openxmlformats.org/drawingml/2006/table">
            <a:tbl>
              <a:tblPr bandRow="1">
                <a:tableStyleId>{5C22544A-7EE6-4342-B048-85BDC9FD1C3A}</a:tableStyleId>
              </a:tblPr>
              <a:tblGrid>
                <a:gridCol w="1371600"/>
                <a:gridCol w="3779215"/>
              </a:tblGrid>
              <a:tr h="22860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(built-in layout, ManCom Sign-off)</a:t>
                      </a:r>
                    </a:p>
                  </a:txBody>
                  <a:tcPr marL="54864" marR="54864" marT="27432" marB="27432">
                    <a:solidFill>
                      <a:srgbClr val="FFFFFF"/>
                    </a:solidFill>
                  </a:tcPr>
                </a:tc>
              </a:tr>
              <a:tr h="22860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attached as ManCom sign-off when no signed sheet was uploaded</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Automatically at Sign off and send to MBS</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No (kept in BIBS)</a:t>
                      </a:r>
                    </a:p>
                  </a:txBody>
                  <a:tcPr marL="54864" marR="54864" marT="27432" marB="27432">
                    <a:solidFill>
                      <a:srgbClr val="FFFFFF"/>
                    </a:solidFill>
                  </a:tcPr>
                </a:tc>
              </a:tr>
              <a:tr h="64008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Package: request, package, line, client or programme – from the request</a:t>
                      </a:r>
                    </a:p>
                    <a:p>
                      <a:r>
                        <a:rPr sz="900" b="0">
                          <a:solidFill>
                            <a:srgbClr val="4B4B4B"/>
                          </a:solidFill>
                          <a:latin typeface="Arial"/>
                        </a:rPr>
                        <a:t>Reference MC-PKR-yyyy-nnnnnn, Decision, Signed by, Signed at, Comment – from the ManCom decision; footer Signed in BIBS by &lt;user&gt;</a:t>
                      </a:r>
                    </a:p>
                  </a:txBody>
                  <a:tcPr marL="54864" marR="54864" marT="27432" marB="27432">
                    <a:solidFill>
                      <a:srgbClr val="FFFFFF"/>
                    </a:solidFill>
                  </a:tcPr>
                </a:tc>
              </a:tr>
            </a:tbl>
          </a:graphicData>
        </a:graphic>
      </p:graphicFrame>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DO-06 Package advisory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378</a:t>
            </a:r>
          </a:p>
        </p:txBody>
      </p:sp>
      <p:pic>
        <p:nvPicPr>
          <p:cNvPr id="9" name="Picture 8" descr="doc-advisory.png"/>
          <p:cNvPicPr>
            <a:picLocks noChangeAspect="1"/>
          </p:cNvPicPr>
          <p:nvPr/>
        </p:nvPicPr>
        <p:blipFill>
          <a:blip r:embed="rId3"/>
          <a:stretch>
            <a:fillRect/>
          </a:stretch>
        </p:blipFill>
        <p:spPr>
          <a:xfrm>
            <a:off x="1606181" y="1261872"/>
            <a:ext cx="3554197" cy="5029200"/>
          </a:xfrm>
          <a:prstGeom prst="rect">
            <a:avLst/>
          </a:prstGeom>
          <a:ln w="9525">
            <a:solidFill>
              <a:srgbClr val="C2C2C1"/>
            </a:solidFill>
          </a:ln>
        </p:spPr>
      </p:pic>
      <p:graphicFrame>
        <p:nvGraphicFramePr>
          <p:cNvPr id="10" name="Table 9"/>
          <p:cNvGraphicFramePr>
            <a:graphicFrameLocks noGrp="1"/>
          </p:cNvGraphicFramePr>
          <p:nvPr/>
        </p:nvGraphicFramePr>
        <p:xfrm>
          <a:off x="6492240" y="1307592"/>
          <a:ext cx="5150815" cy="2103120"/>
        </p:xfrm>
        <a:graphic>
          <a:graphicData uri="http://schemas.openxmlformats.org/drawingml/2006/table">
            <a:tbl>
              <a:tblPr bandRow="1">
                <a:tableStyleId>{5C22544A-7EE6-4342-B048-85BDC9FD1C3A}</a:tableStyleId>
              </a:tblPr>
              <a:tblGrid>
                <a:gridCol w="1371600"/>
                <a:gridCol w="3779215"/>
              </a:tblGrid>
              <a:tr h="365760">
                <a:tc>
                  <a:txBody>
                    <a:bodyPr/>
                    <a:lstStyle/>
                    <a:p>
                      <a:r>
                        <a:rPr sz="900" b="1">
                          <a:solidFill>
                            <a:srgbClr val="004EA8"/>
                          </a:solidFill>
                          <a:latin typeface="Arial"/>
                        </a:rPr>
                        <a:t>Template</a:t>
                      </a:r>
                    </a:p>
                  </a:txBody>
                  <a:tcPr marL="54864" marR="54864" marT="27432" marB="27432">
                    <a:solidFill>
                      <a:srgbClr val="E5F5FF"/>
                    </a:solidFill>
                  </a:tcPr>
                </a:tc>
                <a:tc>
                  <a:txBody>
                    <a:bodyPr/>
                    <a:lstStyle/>
                    <a:p>
                      <a:r>
                        <a:rPr sz="900" b="0">
                          <a:solidFill>
                            <a:srgbClr val="4B4B4B"/>
                          </a:solidFill>
                          <a:latin typeface="Arial"/>
                        </a:rPr>
                        <a:t>PKG_ADVISORY (new, reactivated or updated package), PKG_RENEWAL_ADVISORY (renewed package); built-in text for a retirement</a:t>
                      </a:r>
                    </a:p>
                  </a:txBody>
                  <a:tcPr marL="54864" marR="54864" marT="27432" marB="27432">
                    <a:solidFill>
                      <a:srgbClr val="FFFFFF"/>
                    </a:solidFill>
                  </a:tcPr>
                </a:tc>
              </a:tr>
              <a:tr h="365760">
                <a:tc>
                  <a:txBody>
                    <a:bodyPr/>
                    <a:lstStyle/>
                    <a:p>
                      <a:r>
                        <a:rPr sz="900" b="1">
                          <a:solidFill>
                            <a:srgbClr val="004EA8"/>
                          </a:solidFill>
                          <a:latin typeface="Arial"/>
                        </a:rPr>
                        <a:t>Format</a:t>
                      </a:r>
                    </a:p>
                  </a:txBody>
                  <a:tcPr marL="54864" marR="54864" marT="27432" marB="27432">
                    <a:solidFill>
                      <a:srgbClr val="E5F5FF"/>
                    </a:solidFill>
                  </a:tcPr>
                </a:tc>
                <a:tc>
                  <a:txBody>
                    <a:bodyPr/>
                    <a:lstStyle/>
                    <a:p>
                      <a:r>
                        <a:rPr sz="900" b="0">
                          <a:solidFill>
                            <a:srgbClr val="4B4B4B"/>
                          </a:solidFill>
                          <a:latin typeface="Arial"/>
                        </a:rPr>
                        <a:t>PDF, stored on the request as Package advisory and e-mailed when addresses are given</a:t>
                      </a:r>
                    </a:p>
                  </a:txBody>
                  <a:tcPr marL="54864" marR="54864" marT="27432" marB="27432">
                    <a:solidFill>
                      <a:srgbClr val="FFFFFF"/>
                    </a:solidFill>
                  </a:tcPr>
                </a:tc>
              </a:tr>
              <a:tr h="228600">
                <a:tc>
                  <a:txBody>
                    <a:bodyPr/>
                    <a:lstStyle/>
                    <a:p>
                      <a:r>
                        <a:rPr sz="900" b="1">
                          <a:solidFill>
                            <a:srgbClr val="004EA8"/>
                          </a:solidFill>
                          <a:latin typeface="Arial"/>
                        </a:rPr>
                        <a:t>Produced by</a:t>
                      </a:r>
                    </a:p>
                  </a:txBody>
                  <a:tcPr marL="54864" marR="54864" marT="27432" marB="27432">
                    <a:solidFill>
                      <a:srgbClr val="E5F5FF"/>
                    </a:solidFill>
                  </a:tcPr>
                </a:tc>
                <a:tc>
                  <a:txBody>
                    <a:bodyPr/>
                    <a:lstStyle/>
                    <a:p>
                      <a:r>
                        <a:rPr sz="900" b="0">
                          <a:solidFill>
                            <a:srgbClr val="4B4B4B"/>
                          </a:solidFill>
                          <a:latin typeface="Arial"/>
                        </a:rPr>
                        <a:t>Advisories tab › Send Advisory</a:t>
                      </a:r>
                    </a:p>
                  </a:txBody>
                  <a:tcPr marL="54864" marR="54864" marT="27432" marB="27432">
                    <a:solidFill>
                      <a:srgbClr val="FFFFFF"/>
                    </a:solidFill>
                  </a:tcPr>
                </a:tc>
              </a:tr>
              <a:tr h="228600">
                <a:tc>
                  <a:txBody>
                    <a:bodyPr/>
                    <a:lstStyle/>
                    <a:p>
                      <a:r>
                        <a:rPr sz="900" b="1">
                          <a:solidFill>
                            <a:srgbClr val="004EA8"/>
                          </a:solidFill>
                          <a:latin typeface="Arial"/>
                        </a:rPr>
                        <a:t>Password protected</a:t>
                      </a:r>
                    </a:p>
                  </a:txBody>
                  <a:tcPr marL="54864" marR="54864" marT="27432" marB="27432">
                    <a:solidFill>
                      <a:srgbClr val="E5F5FF"/>
                    </a:solidFill>
                  </a:tcPr>
                </a:tc>
                <a:tc>
                  <a:txBody>
                    <a:bodyPr/>
                    <a:lstStyle/>
                    <a:p>
                      <a:r>
                        <a:rPr sz="900" b="0">
                          <a:solidFill>
                            <a:srgbClr val="4B4B4B"/>
                          </a:solidFill>
                          <a:latin typeface="Arial"/>
                        </a:rPr>
                        <a:t>Yes when e-mailed (password in a separate e-mail)</a:t>
                      </a:r>
                    </a:p>
                  </a:txBody>
                  <a:tcPr marL="54864" marR="54864" marT="27432" marB="27432">
                    <a:solidFill>
                      <a:srgbClr val="FFFFFF"/>
                    </a:solidFill>
                  </a:tcPr>
                </a:tc>
              </a:tr>
              <a:tr h="914400">
                <a:tc>
                  <a:txBody>
                    <a:bodyPr/>
                    <a:lstStyle/>
                    <a:p>
                      <a:r>
                        <a:rPr sz="900" b="1">
                          <a:solidFill>
                            <a:srgbClr val="004EA8"/>
                          </a:solidFill>
                          <a:latin typeface="Arial"/>
                        </a:rPr>
                        <a:t>Fields</a:t>
                      </a:r>
                    </a:p>
                  </a:txBody>
                  <a:tcPr marL="54864" marR="54864" marT="27432" marB="27432">
                    <a:solidFill>
                      <a:srgbClr val="E5F5FF"/>
                    </a:solidFill>
                  </a:tcPr>
                </a:tc>
                <a:tc>
                  <a:txBody>
                    <a:bodyPr/>
                    <a:lstStyle/>
                    <a:p>
                      <a:r>
                        <a:rPr sz="900" b="0">
                          <a:solidFill>
                            <a:srgbClr val="4B4B4B"/>
                          </a:solidFill>
                          <a:latin typeface="Arial"/>
                        </a:rPr>
                        <a:t>Subject and recipient groups – from the advisory as edited</a:t>
                      </a:r>
                    </a:p>
                    <a:p>
                      <a:r>
                        <a:rPr sz="900" b="0">
                          <a:solidFill>
                            <a:srgbClr val="4B4B4B"/>
                          </a:solidFill>
                          <a:latin typeface="Arial"/>
                        </a:rPr>
                        <a:t>Advisory text – merged from the template with the risk code, package name, version, effective date and request number, then edited by TSU</a:t>
                      </a:r>
                    </a:p>
                    <a:p>
                      <a:r>
                        <a:rPr sz="900" b="0">
                          <a:solidFill>
                            <a:srgbClr val="4B4B4B"/>
                          </a:solidFill>
                          <a:latin typeface="Arial"/>
                        </a:rPr>
                        <a:t>Supporting documents (kept in BIBS): the signed package slip and the ManCom sign-off with their file names</a:t>
                      </a:r>
                    </a:p>
                  </a:txBody>
                  <a:tcPr marL="54864" marR="54864" marT="27432" marB="27432">
                    <a:solidFill>
                      <a:srgbClr val="FFFFFF"/>
                    </a:solidFill>
                  </a:tcPr>
                </a:tc>
              </a:tr>
            </a:tbl>
          </a:graphicData>
        </a:graphic>
      </p:graphicFrame>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379</a:t>
            </a:r>
          </a:p>
        </p:txBody>
      </p:sp>
      <p:graphicFrame>
        <p:nvGraphicFramePr>
          <p:cNvPr id="9" name="Table 8"/>
          <p:cNvGraphicFramePr>
            <a:graphicFrameLocks noGrp="1"/>
          </p:cNvGraphicFramePr>
          <p:nvPr/>
        </p:nvGraphicFramePr>
        <p:xfrm>
          <a:off x="548640" y="1325880"/>
          <a:ext cx="11094413" cy="4579591"/>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A package request moves to another stage (any workflow action, including return, void, not proceeded and the automatic release or return of its version)</a:t>
                      </a:r>
                    </a:p>
                  </a:txBody>
                  <a:tcPr marL="54864" marR="54864" marT="27432" marB="27432">
                    <a:solidFill>
                      <a:srgbClr val="FFFFFF"/>
                    </a:solidFill>
                  </a:tcPr>
                </a:tc>
                <a:tc>
                  <a:txBody>
                    <a:bodyPr/>
                    <a:lstStyle/>
                    <a:p>
                      <a:r>
                        <a:rPr sz="850" b="0">
                          <a:solidFill>
                            <a:srgbClr val="4B4B4B"/>
                          </a:solidFill>
                          <a:latin typeface="Arial"/>
                        </a:rPr>
                        <a:t>The creator of the request and its current assignee, unless they made the move themselves</a:t>
                      </a:r>
                    </a:p>
                  </a:txBody>
                  <a:tcPr marL="54864" marR="54864" marT="27432" marB="27432">
                    <a:solidFill>
                      <a:srgbClr val="FFFFFF"/>
                    </a:solidFill>
                  </a:tcPr>
                </a:tc>
                <a:tc>
                  <a:txBody>
                    <a:bodyPr/>
                    <a:lstStyle/>
                    <a:p>
                      <a:r>
                        <a:rPr sz="850" b="0">
                          <a:solidFill>
                            <a:srgbClr val="4B4B4B"/>
                          </a:solidFill>
                          <a:latin typeface="Arial"/>
                        </a:rPr>
                        <a:t>Title: &lt;request no.&gt;: &lt;new stage name&gt;. Text: &lt;request description&gt; - &lt;comment&gt;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package version set up from a request is validated and released</a:t>
                      </a:r>
                    </a:p>
                  </a:txBody>
                  <a:tcPr marL="54864" marR="54864" marT="27432" marB="27432">
                    <a:solidFill>
                      <a:srgbClr val="E5F5FF"/>
                    </a:solidFill>
                  </a:tcPr>
                </a:tc>
                <a:tc>
                  <a:txBody>
                    <a:bodyPr/>
                    <a:lstStyle/>
                    <a:p>
                      <a:r>
                        <a:rPr sz="850" b="0">
                          <a:solidFill>
                            <a:srgbClr val="4B4B4B"/>
                          </a:solidFill>
                          <a:latin typeface="Arial"/>
                        </a:rPr>
                        <a:t>Every user who creates quotations (QUOTE_MAINTAIN, Marketing)</a:t>
                      </a:r>
                    </a:p>
                  </a:txBody>
                  <a:tcPr marL="54864" marR="54864" marT="27432" marB="27432">
                    <a:solidFill>
                      <a:srgbClr val="E5F5FF"/>
                    </a:solidFill>
                  </a:tcPr>
                </a:tc>
                <a:tc>
                  <a:txBody>
                    <a:bodyPr/>
                    <a:lstStyle/>
                    <a:p>
                      <a:r>
                        <a:rPr sz="850" b="0">
                          <a:solidFill>
                            <a:srgbClr val="4B4B4B"/>
                          </a:solidFill>
                          <a:latin typeface="Arial"/>
                        </a:rPr>
                        <a:t>Title: Package available: &lt;risk code&gt;. Text: &lt;package name&gt; (version &lt;n&gt;) sells from &lt;effective date&gt;.</a:t>
                      </a:r>
                    </a:p>
                  </a:txBody>
                  <a:tcPr marL="54864" marR="54864" marT="27432" marB="27432">
                    <a:solidFill>
                      <a:srgbClr val="E5F5FF"/>
                    </a:solidFill>
                  </a:tcPr>
                </a:tc>
              </a:tr>
              <a:tr h="609596">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In-app</a:t>
                      </a:r>
                    </a:p>
                  </a:txBody>
                  <a:tcPr marL="54864" marR="54864" marT="27432" marB="27432">
                    <a:solidFill>
                      <a:srgbClr val="FFFFFF"/>
                    </a:solidFill>
                  </a:tcPr>
                </a:tc>
                <a:tc>
                  <a:txBody>
                    <a:bodyPr/>
                    <a:lstStyle/>
                    <a:p>
                      <a:r>
                        <a:rPr sz="850" b="0">
                          <a:solidFill>
                            <a:srgbClr val="4B4B4B"/>
                          </a:solidFill>
                          <a:latin typeface="Arial"/>
                        </a:rPr>
                        <a:t>TSU sends an advisory (Send Advisory)</a:t>
                      </a:r>
                    </a:p>
                  </a:txBody>
                  <a:tcPr marL="54864" marR="54864" marT="27432" marB="27432">
                    <a:solidFill>
                      <a:srgbClr val="FFFFFF"/>
                    </a:solidFill>
                  </a:tcPr>
                </a:tc>
                <a:tc>
                  <a:txBody>
                    <a:bodyPr/>
                    <a:lstStyle/>
                    <a:p>
                      <a:r>
                        <a:rPr sz="850" b="0">
                          <a:solidFill>
                            <a:srgbClr val="4B4B4B"/>
                          </a:solidFill>
                          <a:latin typeface="Arial"/>
                        </a:rPr>
                        <a:t>The users of each recipient group: Marketing (QUOTE_MAINTAIN), TSU (PKG_NEGOTIATE), MBS (PRODUCT_MAINTAIN), Processing (ACCOUNT_PROCESS), Operations (OPS_VIEW)</a:t>
                      </a:r>
                    </a:p>
                  </a:txBody>
                  <a:tcPr marL="54864" marR="54864" marT="27432" marB="27432">
                    <a:solidFill>
                      <a:srgbClr val="FFFFFF"/>
                    </a:solidFill>
                  </a:tcPr>
                </a:tc>
                <a:tc>
                  <a:txBody>
                    <a:bodyPr/>
                    <a:lstStyle/>
                    <a:p>
                      <a:r>
                        <a:rPr sz="850" b="0">
                          <a:solidFill>
                            <a:srgbClr val="4B4B4B"/>
                          </a:solidFill>
                          <a:latin typeface="Arial"/>
                        </a:rPr>
                        <a:t>Title: &lt;advisory subject&gt;. Text: &lt;advisory text&gt;</a:t>
                      </a:r>
                    </a:p>
                  </a:txBody>
                  <a:tcPr marL="54864" marR="54864" marT="27432" marB="27432">
                    <a:solidFill>
                      <a:srgbClr val="FFFFFF"/>
                    </a:solidFill>
                  </a:tcPr>
                </a:tc>
              </a:tr>
              <a:tr h="480057">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The daily package version step finds a package whose package end date has passed without a released renewal; the product becomes Expired</a:t>
                      </a:r>
                    </a:p>
                  </a:txBody>
                  <a:tcPr marL="54864" marR="54864" marT="27432" marB="27432">
                    <a:solidFill>
                      <a:srgbClr val="E5F5FF"/>
                    </a:solidFill>
                  </a:tcPr>
                </a:tc>
                <a:tc>
                  <a:txBody>
                    <a:bodyPr/>
                    <a:lstStyle/>
                    <a:p>
                      <a:r>
                        <a:rPr sz="850" b="0">
                          <a:solidFill>
                            <a:srgbClr val="4B4B4B"/>
                          </a:solidFill>
                          <a:latin typeface="Arial"/>
                        </a:rPr>
                        <a:t>Every user with PKG_NEGOTIATE (TSU) and every user with PRODUCT_MAINTAIN (MBS)</a:t>
                      </a:r>
                    </a:p>
                  </a:txBody>
                  <a:tcPr marL="54864" marR="54864" marT="27432" marB="27432">
                    <a:solidFill>
                      <a:srgbClr val="E5F5FF"/>
                    </a:solidFill>
                  </a:tcPr>
                </a:tc>
                <a:tc>
                  <a:txBody>
                    <a:bodyPr/>
                    <a:lstStyle/>
                    <a:p>
                      <a:r>
                        <a:rPr sz="850" b="0">
                          <a:solidFill>
                            <a:srgbClr val="4B4B4B"/>
                          </a:solidFill>
                          <a:latin typeface="Arial"/>
                        </a:rPr>
                        <a:t>Title: Package expired: &lt;risk code&gt;. Text: Version &lt;n&gt; ended on &lt;package end date&gt; without a renewal; the package is no longer sold for new business.</a:t>
                      </a:r>
                    </a:p>
                  </a:txBody>
                  <a:tcPr marL="54864" marR="54864" marT="27432" marB="27432">
                    <a:solidFill>
                      <a:srgbClr val="E5F5FF"/>
                    </a:solidFill>
                  </a:tcPr>
                </a:tc>
              </a:tr>
              <a:tr h="739135">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A quotation slip is approved and sent (Approve and Send), or resent to one insurer (Resend)</a:t>
                      </a:r>
                    </a:p>
                  </a:txBody>
                  <a:tcPr marL="54864" marR="54864" marT="27432" marB="27432">
                    <a:solidFill>
                      <a:srgbClr val="FFFFFF"/>
                    </a:solidFill>
                  </a:tcPr>
                </a:tc>
                <a:tc>
                  <a:txBody>
                    <a:bodyPr/>
                    <a:lstStyle/>
                    <a:p>
                      <a:r>
                        <a:rPr sz="850" b="0">
                          <a:solidFill>
                            <a:srgbClr val="4B4B4B"/>
                          </a:solidFill>
                          <a:latin typeface="Arial"/>
                        </a:rPr>
                        <a:t>The placement e-mail addresses of each insurer of the round</a:t>
                      </a:r>
                    </a:p>
                  </a:txBody>
                  <a:tcPr marL="54864" marR="54864" marT="27432" marB="27432">
                    <a:solidFill>
                      <a:srgbClr val="FFFFFF"/>
                    </a:solidFill>
                  </a:tcPr>
                </a:tc>
                <a:tc>
                  <a:txBody>
                    <a:bodyPr/>
                    <a:lstStyle/>
                    <a:p>
                      <a:r>
                        <a:rPr sz="850" b="0">
                          <a:solidFill>
                            <a:srgbClr val="4B4B4B"/>
                          </a:solidFill>
                          <a:latin typeface="Arial"/>
                        </a:rPr>
                        <a:t>Subject: Package quotation slip &lt;PQS no.&gt; - &lt;package name&gt;. Body: Dear &lt;insurer&gt;, Please find attached our package quotation slip &lt;PQS no.&gt; (round &lt;n&gt;) for &lt;package name&gt;. Kindly send your best terms on or before &lt;reply date&gt;. The document is password protected; the password follows separately. BDO Insurance and Reinsurance Brokers, Inc.</a:t>
                      </a:r>
                    </a:p>
                  </a:txBody>
                  <a:tcPr marL="54864" marR="54864" marT="27432" marB="27432">
                    <a:solidFill>
                      <a:srgbClr val="FFFFFF"/>
                    </a:solidFill>
                  </a:tcPr>
                </a:tc>
              </a:tr>
              <a:tr h="480057">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E-mail</a:t>
                      </a:r>
                    </a:p>
                  </a:txBody>
                  <a:tcPr marL="54864" marR="54864" marT="27432" marB="27432">
                    <a:solidFill>
                      <a:srgbClr val="E5F5FF"/>
                    </a:solidFill>
                  </a:tcPr>
                </a:tc>
                <a:tc>
                  <a:txBody>
                    <a:bodyPr/>
                    <a:lstStyle/>
                    <a:p>
                      <a:r>
                        <a:rPr sz="850" b="0">
                          <a:solidFill>
                            <a:srgbClr val="4B4B4B"/>
                          </a:solidFill>
                          <a:latin typeface="Arial"/>
                        </a:rPr>
                        <a:t>An advisory is sent with e-mail addresses in E-mail to (optional)</a:t>
                      </a:r>
                    </a:p>
                  </a:txBody>
                  <a:tcPr marL="54864" marR="54864" marT="27432" marB="27432">
                    <a:solidFill>
                      <a:srgbClr val="E5F5FF"/>
                    </a:solidFill>
                  </a:tcPr>
                </a:tc>
                <a:tc>
                  <a:txBody>
                    <a:bodyPr/>
                    <a:lstStyle/>
                    <a:p>
                      <a:r>
                        <a:rPr sz="850" b="0">
                          <a:solidFill>
                            <a:srgbClr val="4B4B4B"/>
                          </a:solidFill>
                          <a:latin typeface="Arial"/>
                        </a:rPr>
                        <a:t>The addresses entered on the advisory</a:t>
                      </a:r>
                    </a:p>
                  </a:txBody>
                  <a:tcPr marL="54864" marR="54864" marT="27432" marB="27432">
                    <a:solidFill>
                      <a:srgbClr val="E5F5FF"/>
                    </a:solidFill>
                  </a:tcPr>
                </a:tc>
                <a:tc>
                  <a:txBody>
                    <a:bodyPr/>
                    <a:lstStyle/>
                    <a:p>
                      <a:r>
                        <a:rPr sz="850" b="0">
                          <a:solidFill>
                            <a:srgbClr val="4B4B4B"/>
                          </a:solidFill>
                          <a:latin typeface="Arial"/>
                        </a:rPr>
                        <a:t>Subject: &lt;advisory subject&gt;. Body: &lt;advisory text&gt; The advisory is attached (password protected; the password follows separately). BDO Insurance and Reinsurance Brokers, Inc.</a:t>
                      </a:r>
                    </a:p>
                  </a:txBody>
                  <a:tcPr marL="54864" marR="54864" marT="27432" marB="27432">
                    <a:solidFill>
                      <a:srgbClr val="E5F5FF"/>
                    </a:solidFill>
                  </a:tcPr>
                </a:tc>
              </a:tr>
              <a:tr h="480057">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Every e-mail sent with a password-protected attachment (NT-05, NT-06)</a:t>
                      </a:r>
                    </a:p>
                  </a:txBody>
                  <a:tcPr marL="54864" marR="54864" marT="27432" marB="27432">
                    <a:solidFill>
                      <a:srgbClr val="FFFFFF"/>
                    </a:solidFill>
                  </a:tcPr>
                </a:tc>
                <a:tc>
                  <a:txBody>
                    <a:bodyPr/>
                    <a:lstStyle/>
                    <a:p>
                      <a:r>
                        <a:rPr sz="850" b="0">
                          <a:solidFill>
                            <a:srgbClr val="4B4B4B"/>
                          </a:solidFill>
                          <a:latin typeface="Arial"/>
                        </a:rPr>
                        <a:t>The same recipients as the document e-mail</a:t>
                      </a:r>
                    </a:p>
                  </a:txBody>
                  <a:tcPr marL="54864" marR="54864" marT="27432" marB="27432">
                    <a:solidFill>
                      <a:srgbClr val="FFFFFF"/>
                    </a:solidFill>
                  </a:tcPr>
                </a:tc>
                <a:tc>
                  <a:txBody>
                    <a:bodyPr/>
                    <a:lstStyle/>
                    <a:p>
                      <a:r>
                        <a:rPr sz="850" b="0">
                          <a:solidFill>
                            <a:srgbClr val="4B4B4B"/>
                          </a:solidFill>
                          <a:latin typeface="Arial"/>
                        </a:rPr>
                        <a:t>Subject: Password for: &lt;subject of the document e-mail&gt;. Body: The documents sent to you in the e-mail "&lt;subject&gt;" are password protected. Password: &lt;password&gt;. This e-mail was sent separately for your security. Please do not forward it.</a:t>
                      </a:r>
                    </a:p>
                  </a:txBody>
                  <a:tcPr marL="54864" marR="54864" marT="27432" marB="27432">
                    <a:solidFill>
                      <a:srgbClr val="FFFFFF"/>
                    </a:solidFill>
                  </a:tcPr>
                </a:tc>
              </a:tr>
              <a:tr h="609596">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 inbox</a:t>
                      </a:r>
                    </a:p>
                  </a:txBody>
                  <a:tcPr marL="54864" marR="54864" marT="27432" marB="27432">
                    <a:solidFill>
                      <a:srgbClr val="E5F5FF"/>
                    </a:solidFill>
                  </a:tcPr>
                </a:tc>
                <a:tc>
                  <a:txBody>
                    <a:bodyPr/>
                    <a:lstStyle/>
                    <a:p>
                      <a:r>
                        <a:rPr sz="850" b="0">
                          <a:solidFill>
                            <a:srgbClr val="4B4B4B"/>
                          </a:solidFill>
                          <a:latin typeface="Arial"/>
                        </a:rPr>
                        <a:t>The daily PACKAGE_EXPIRY_MONITOR job (01:00 PHT) finds a released package ending within 60 days (PACKAGE_EXPIRY_NOTICE_DAYS), then within 30 and 7 days (PACKAGE_EXPIRY_REMINDER_DAYS); once per threshold</a:t>
                      </a:r>
                    </a:p>
                  </a:txBody>
                  <a:tcPr marL="54864" marR="54864" marT="27432" marB="27432">
                    <a:solidFill>
                      <a:srgbClr val="E5F5FF"/>
                    </a:solidFill>
                  </a:tcPr>
                </a:tc>
                <a:tc>
                  <a:txBody>
                    <a:bodyPr/>
                    <a:lstStyle/>
                    <a:p>
                      <a:r>
                        <a:rPr sz="850" b="0">
                          <a:solidFill>
                            <a:srgbClr val="4B4B4B"/>
                          </a:solidFill>
                          <a:latin typeface="Arial"/>
                        </a:rPr>
                        <a:t>Users of the Alerts screen (System Administrator, Auditor); in the app, every user with PKG_NEGOTIATE (TSU) and every user with PRODUCT_MAINTAIN (MBS)</a:t>
                      </a:r>
                    </a:p>
                  </a:txBody>
                  <a:tcPr marL="54864" marR="54864" marT="27432" marB="27432">
                    <a:solidFill>
                      <a:srgbClr val="E5F5FF"/>
                    </a:solidFill>
                  </a:tcPr>
                </a:tc>
                <a:tc>
                  <a:txBody>
                    <a:bodyPr/>
                    <a:lstStyle/>
                    <a:p>
                      <a:r>
                        <a:rPr sz="850" b="0">
                          <a:solidFill>
                            <a:srgbClr val="4B4B4B"/>
                          </a:solidFill>
                          <a:latin typeface="Arial"/>
                        </a:rPr>
                        <a:t>Exception PACKAGE_EXPIRING (Package expiring): Package &lt;risk code&gt; version &lt;n&gt; ends on &lt;dd-MMM-yyyy&gt; (&lt;n&gt; days); no renewal request yet (or: renewal &lt;request no.&gt;). In-app notice: Title: Package ending: &lt;risk code&gt;, with the same text</a:t>
                      </a:r>
                    </a:p>
                  </a:txBody>
                  <a:tcPr marL="54864" marR="54864" marT="27432" marB="27432">
                    <a:solidFill>
                      <a:srgbClr val="E5F5FF"/>
                    </a:solidFill>
                  </a:tcPr>
                </a:tc>
              </a:tr>
            </a:tbl>
          </a:graphicData>
        </a:graphic>
      </p:graphicFrame>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380</a:t>
            </a:r>
          </a:p>
        </p:txBody>
      </p:sp>
      <p:graphicFrame>
        <p:nvGraphicFramePr>
          <p:cNvPr id="9" name="Table 8"/>
          <p:cNvGraphicFramePr>
            <a:graphicFrameLocks noGrp="1"/>
          </p:cNvGraphicFramePr>
          <p:nvPr/>
        </p:nvGraphicFramePr>
        <p:xfrm>
          <a:off x="548640" y="1325880"/>
          <a:ext cx="11094413" cy="1920228"/>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609596">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A package that an active incentive criterion names expires or is retired</a:t>
                      </a:r>
                    </a:p>
                  </a:txBody>
                  <a:tcPr marL="54864" marR="54864" marT="27432" marB="27432">
                    <a:solidFill>
                      <a:srgbClr val="FFFFFF"/>
                    </a:solidFill>
                  </a:tcPr>
                </a:tc>
                <a:tc>
                  <a:txBody>
                    <a:bodyPr/>
                    <a:lstStyle/>
                    <a:p>
                      <a:r>
                        <a:rPr sz="850" b="0">
                          <a:solidFill>
                            <a:srgbClr val="4B4B4B"/>
                          </a:solidFill>
                          <a:latin typeface="Arial"/>
                        </a:rPr>
                        <a:t>Users of the Alerts screen (System Administrator, Auditor); in the app, every user with PKG_NEGOTIATE (TSU) and every user with PRODUCT_MAINTAIN (MBS)</a:t>
                      </a:r>
                    </a:p>
                  </a:txBody>
                  <a:tcPr marL="54864" marR="54864" marT="27432" marB="27432">
                    <a:solidFill>
                      <a:srgbClr val="FFFFFF"/>
                    </a:solidFill>
                  </a:tcPr>
                </a:tc>
                <a:tc>
                  <a:txBody>
                    <a:bodyPr/>
                    <a:lstStyle/>
                    <a:p>
                      <a:r>
                        <a:rPr sz="850" b="0">
                          <a:solidFill>
                            <a:srgbClr val="4B4B4B"/>
                          </a:solidFill>
                          <a:latin typeface="Arial"/>
                        </a:rPr>
                        <a:t>Exception INCENTIVE_PRODUCT_INACTIVE (Incentive criterion on an inactive product): Incentive criterion &lt;code&gt; applies to package &lt;risk code&gt;, which &lt;expired or retired&gt;: review or deactivate it. In-app notice: Title: Incentive criterion to review: &lt;code&gt;, with the same text</a:t>
                      </a:r>
                    </a:p>
                  </a:txBody>
                  <a:tcPr marL="54864" marR="54864" marT="27432" marB="27432">
                    <a:solidFill>
                      <a:srgbClr val="FFFFFF"/>
                    </a:solidFill>
                  </a:tcPr>
                </a:tc>
              </a:tr>
              <a:tr h="350518">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In-app</a:t>
                      </a:r>
                    </a:p>
                  </a:txBody>
                  <a:tcPr marL="54864" marR="54864" marT="27432" marB="27432">
                    <a:solidFill>
                      <a:srgbClr val="E5F5FF"/>
                    </a:solidFill>
                  </a:tcPr>
                </a:tc>
                <a:tc>
                  <a:txBody>
                    <a:bodyPr/>
                    <a:lstStyle/>
                    <a:p>
                      <a:r>
                        <a:rPr sz="850" b="0">
                          <a:solidFill>
                            <a:srgbClr val="4B4B4B"/>
                          </a:solidFill>
                          <a:latin typeface="Arial"/>
                        </a:rPr>
                        <a:t>A team leader assigns package requests (Package Requests › Assign, TSU Workbench › Assign)</a:t>
                      </a:r>
                    </a:p>
                  </a:txBody>
                  <a:tcPr marL="54864" marR="54864" marT="27432" marB="27432">
                    <a:solidFill>
                      <a:srgbClr val="E5F5FF"/>
                    </a:solidFill>
                  </a:tcPr>
                </a:tc>
                <a:tc>
                  <a:txBody>
                    <a:bodyPr/>
                    <a:lstStyle/>
                    <a:p>
                      <a:r>
                        <a:rPr sz="850" b="0">
                          <a:solidFill>
                            <a:srgbClr val="4B4B4B"/>
                          </a:solidFill>
                          <a:latin typeface="Arial"/>
                        </a:rPr>
                        <a:t>The new assignee, unless the team leader assigns them to himself</a:t>
                      </a:r>
                    </a:p>
                  </a:txBody>
                  <a:tcPr marL="54864" marR="54864" marT="27432" marB="27432">
                    <a:solidFill>
                      <a:srgbClr val="E5F5FF"/>
                    </a:solidFill>
                  </a:tcPr>
                </a:tc>
                <a:tc>
                  <a:txBody>
                    <a:bodyPr/>
                    <a:lstStyle/>
                    <a:p>
                      <a:r>
                        <a:rPr sz="850" b="0">
                          <a:solidFill>
                            <a:srgbClr val="4B4B4B"/>
                          </a:solidFill>
                          <a:latin typeface="Arial"/>
                        </a:rPr>
                        <a:t>Title: &lt;request no.&gt; assigned to you. Text: &lt;request description&gt;</a:t>
                      </a:r>
                    </a:p>
                  </a:txBody>
                  <a:tcPr marL="54864" marR="54864" marT="27432" marB="27432">
                    <a:solidFill>
                      <a:srgbClr val="E5F5FF"/>
                    </a:solidFill>
                  </a:tcPr>
                </a:tc>
              </a:tr>
              <a:tr h="739135">
                <a:tc>
                  <a:txBody>
                    <a:bodyPr/>
                    <a:lstStyle/>
                    <a:p>
                      <a:r>
                        <a:rPr sz="850" b="0">
                          <a:solidFill>
                            <a:srgbClr val="4B4B4B"/>
                          </a:solidFill>
                          <a:latin typeface="Arial"/>
                        </a:rPr>
                        <a:t>NT-11</a:t>
                      </a:r>
                    </a:p>
                  </a:txBody>
                  <a:tcPr marL="54864" marR="54864" marT="27432" marB="27432">
                    <a:solidFill>
                      <a:srgbClr val="FFFFFF"/>
                    </a:solidFill>
                  </a:tcPr>
                </a:tc>
                <a:tc>
                  <a:txBody>
                    <a:bodyPr/>
                    <a:lstStyle/>
                    <a:p>
                      <a:r>
                        <a:rPr sz="850" b="0">
                          <a:solidFill>
                            <a:srgbClr val="4B4B4B"/>
                          </a:solidFill>
                          <a:latin typeface="Arial"/>
                        </a:rPr>
                        <a:t>Alert inbox</a:t>
                      </a:r>
                    </a:p>
                  </a:txBody>
                  <a:tcPr marL="54864" marR="54864" marT="27432" marB="27432">
                    <a:solidFill>
                      <a:srgbClr val="FFFFFF"/>
                    </a:solidFill>
                  </a:tcPr>
                </a:tc>
                <a:tc>
                  <a:txBody>
                    <a:bodyPr/>
                    <a:lstStyle/>
                    <a:p>
                      <a:r>
                        <a:rPr sz="850" b="0">
                          <a:solidFill>
                            <a:srgbClr val="4B4B4B"/>
                          </a:solidFill>
                          <a:latin typeface="Arial"/>
                        </a:rPr>
                        <a:t>The daily alert check (09:30 PHT) finds package requests past their stage service level</a:t>
                      </a:r>
                    </a:p>
                  </a:txBody>
                  <a:tcPr marL="54864" marR="54864" marT="27432" marB="27432">
                    <a:solidFill>
                      <a:srgbClr val="FFFFFF"/>
                    </a:solidFill>
                  </a:tcPr>
                </a:tc>
                <a:tc>
                  <a:txBody>
                    <a:bodyPr/>
                    <a:lstStyle/>
                    <a:p>
                      <a:r>
                        <a:rPr sz="850" b="0">
                          <a:solidFill>
                            <a:srgbClr val="4B4B4B"/>
                          </a:solidFill>
                          <a:latin typeface="Arial"/>
                        </a:rPr>
                        <a:t>Users of the Alerts screen (System Administrator, Auditor); the Product Maintenance roles see the same requests as overdue on the home tiles, Package Requests and TSU Workbench</a:t>
                      </a:r>
                    </a:p>
                  </a:txBody>
                  <a:tcPr marL="54864" marR="54864" marT="27432" marB="27432">
                    <a:solidFill>
                      <a:srgbClr val="FFFFFF"/>
                    </a:solidFill>
                  </a:tcPr>
                </a:tc>
                <a:tc>
                  <a:txBody>
                    <a:bodyPr/>
                    <a:lstStyle/>
                    <a:p>
                      <a:r>
                        <a:rPr sz="850" b="0">
                          <a:solidFill>
                            <a:srgbClr val="4B4B4B"/>
                          </a:solidFill>
                          <a:latin typeface="Arial"/>
                        </a:rPr>
                        <a:t>Exception WORK_SLA_BREACH: Work item overdue</a:t>
                      </a:r>
                    </a:p>
                  </a:txBody>
                  <a:tcPr marL="54864" marR="54864" marT="27432" marB="27432">
                    <a:solidFill>
                      <a:srgbClr val="FFFFFF"/>
                    </a:solidFill>
                  </a:tcPr>
                </a:tc>
              </a:tr>
            </a:tbl>
          </a:graphicData>
        </a:graphic>
      </p:graphicFrame>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381</a:t>
            </a:r>
          </a:p>
        </p:txBody>
      </p:sp>
      <p:graphicFrame>
        <p:nvGraphicFramePr>
          <p:cNvPr id="9" name="Table 8"/>
          <p:cNvGraphicFramePr>
            <a:graphicFrameLocks noGrp="1"/>
          </p:cNvGraphicFramePr>
          <p:nvPr/>
        </p:nvGraphicFramePr>
        <p:xfrm>
          <a:off x="548640" y="1325880"/>
          <a:ext cx="11094413" cy="150876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228600">
                <a:tc>
                  <a:txBody>
                    <a:bodyPr/>
                    <a:lstStyle/>
                    <a:p>
                      <a:r>
                        <a:rPr sz="900" b="0">
                          <a:solidFill>
                            <a:srgbClr val="4B4B4B"/>
                          </a:solidFill>
                          <a:latin typeface="Arial"/>
                        </a:rPr>
                        <a:t>SCR-PM-04</a:t>
                      </a:r>
                    </a:p>
                  </a:txBody>
                  <a:tcPr marL="54864" marR="54864" marT="27432" marB="27432">
                    <a:solidFill>
                      <a:srgbClr val="FFFFFF"/>
                    </a:solidFill>
                  </a:tcPr>
                </a:tc>
                <a:tc>
                  <a:txBody>
                    <a:bodyPr/>
                    <a:lstStyle/>
                    <a:p>
                      <a:r>
                        <a:rPr sz="900" b="0">
                          <a:solidFill>
                            <a:srgbClr val="4B4B4B"/>
                          </a:solidFill>
                          <a:latin typeface="Arial"/>
                        </a:rPr>
                        <a:t>Request Form</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Package Request Form (PDF) with the requested terms</a:t>
                      </a:r>
                    </a:p>
                  </a:txBody>
                  <a:tcPr marL="54864" marR="54864" marT="27432" marB="27432">
                    <a:solidFill>
                      <a:srgbClr val="FFFFFF"/>
                    </a:solidFill>
                  </a:tcPr>
                </a:tc>
              </a:tr>
              <a:tr h="228600">
                <a:tc>
                  <a:txBody>
                    <a:bodyPr/>
                    <a:lstStyle/>
                    <a:p>
                      <a:r>
                        <a:rPr sz="900" b="0">
                          <a:solidFill>
                            <a:srgbClr val="4B4B4B"/>
                          </a:solidFill>
                          <a:latin typeface="Arial"/>
                        </a:rPr>
                        <a:t>SCR-PM-05</a:t>
                      </a:r>
                    </a:p>
                  </a:txBody>
                  <a:tcPr marL="54864" marR="54864" marT="27432" marB="27432">
                    <a:solidFill>
                      <a:srgbClr val="E5F5FF"/>
                    </a:solidFill>
                  </a:tcPr>
                </a:tc>
                <a:tc>
                  <a:txBody>
                    <a:bodyPr/>
                    <a:lstStyle/>
                    <a:p>
                      <a:r>
                        <a:rPr sz="900" b="0">
                          <a:solidFill>
                            <a:srgbClr val="4B4B4B"/>
                          </a:solidFill>
                          <a:latin typeface="Arial"/>
                        </a:rPr>
                        <a:t>Quotation Slip</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quotation slip PDF of the round</a:t>
                      </a:r>
                    </a:p>
                  </a:txBody>
                  <a:tcPr marL="54864" marR="54864" marT="27432" marB="27432">
                    <a:solidFill>
                      <a:srgbClr val="E5F5FF"/>
                    </a:solidFill>
                  </a:tcPr>
                </a:tc>
              </a:tr>
              <a:tr h="228600">
                <a:tc>
                  <a:txBody>
                    <a:bodyPr/>
                    <a:lstStyle/>
                    <a:p>
                      <a:r>
                        <a:rPr sz="900" b="0">
                          <a:solidFill>
                            <a:srgbClr val="4B4B4B"/>
                          </a:solidFill>
                          <a:latin typeface="Arial"/>
                        </a:rPr>
                        <a:t>SCR-PM-06</a:t>
                      </a:r>
                    </a:p>
                  </a:txBody>
                  <a:tcPr marL="54864" marR="54864" marT="27432" marB="27432">
                    <a:solidFill>
                      <a:srgbClr val="FFFFFF"/>
                    </a:solidFill>
                  </a:tcPr>
                </a:tc>
                <a:tc>
                  <a:txBody>
                    <a:bodyPr/>
                    <a:lstStyle/>
                    <a:p>
                      <a:r>
                        <a:rPr sz="900" b="0">
                          <a:solidFill>
                            <a:srgbClr val="4B4B4B"/>
                          </a:solidFill>
                          <a:latin typeface="Arial"/>
                        </a:rPr>
                        <a:t>PDF /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stored output</a:t>
                      </a:r>
                    </a:p>
                  </a:txBody>
                  <a:tcPr marL="54864" marR="54864" marT="27432" marB="27432">
                    <a:solidFill>
                      <a:srgbClr val="FFFFFF"/>
                    </a:solidFill>
                  </a:tcPr>
                </a:tc>
              </a:tr>
              <a:tr h="228600">
                <a:tc>
                  <a:txBody>
                    <a:bodyPr/>
                    <a:lstStyle/>
                    <a:p>
                      <a:r>
                        <a:rPr sz="900" b="0">
                          <a:solidFill>
                            <a:srgbClr val="4B4B4B"/>
                          </a:solidFill>
                          <a:latin typeface="Arial"/>
                        </a:rPr>
                        <a:t>SCR-PM-07</a:t>
                      </a:r>
                    </a:p>
                  </a:txBody>
                  <a:tcPr marL="54864" marR="54864" marT="27432" marB="27432">
                    <a:solidFill>
                      <a:srgbClr val="E5F5FF"/>
                    </a:solidFill>
                  </a:tcPr>
                </a:tc>
                <a:tc>
                  <a:txBody>
                    <a:bodyPr/>
                    <a:lstStyle/>
                    <a:p>
                      <a:r>
                        <a:rPr sz="900" b="0">
                          <a:solidFill>
                            <a:srgbClr val="4B4B4B"/>
                          </a:solidFill>
                          <a:latin typeface="Arial"/>
                        </a:rPr>
                        <a:t>Package Slip</a:t>
                      </a:r>
                    </a:p>
                  </a:txBody>
                  <a:tcPr marL="54864" marR="54864" marT="27432" marB="27432">
                    <a:solidFill>
                      <a:srgbClr val="E5F5FF"/>
                    </a:solidFill>
                  </a:tcPr>
                </a:tc>
                <a:tc>
                  <a:txBody>
                    <a:bodyPr/>
                    <a:lstStyle/>
                    <a:p>
                      <a:r>
                        <a:rPr sz="900" b="0">
                          <a:solidFill>
                            <a:srgbClr val="4B4B4B"/>
                          </a:solidFill>
                          <a:latin typeface="Arial"/>
                        </a:rPr>
                        <a:t>Every user of the screen</a:t>
                      </a:r>
                    </a:p>
                  </a:txBody>
                  <a:tcPr marL="54864" marR="54864" marT="27432" marB="27432">
                    <a:solidFill>
                      <a:srgbClr val="E5F5FF"/>
                    </a:solidFill>
                  </a:tcPr>
                </a:tc>
                <a:tc>
                  <a:txBody>
                    <a:bodyPr/>
                    <a:lstStyle/>
                    <a:p>
                      <a:r>
                        <a:rPr sz="900" b="0">
                          <a:solidFill>
                            <a:srgbClr val="4B4B4B"/>
                          </a:solidFill>
                          <a:latin typeface="Arial"/>
                        </a:rPr>
                        <a:t>Downloads the package slip (PDF) with the proposed terms, to be printed and signed</a:t>
                      </a:r>
                    </a:p>
                  </a:txBody>
                  <a:tcPr marL="54864" marR="54864" marT="27432" marB="27432">
                    <a:solidFill>
                      <a:srgbClr val="E5F5FF"/>
                    </a:solidFill>
                  </a:tcPr>
                </a:tc>
              </a:tr>
              <a:tr h="365760">
                <a:tc>
                  <a:txBody>
                    <a:bodyPr/>
                    <a:lstStyle/>
                    <a:p>
                      <a:r>
                        <a:rPr sz="900" b="0">
                          <a:solidFill>
                            <a:srgbClr val="4B4B4B"/>
                          </a:solidFill>
                          <a:latin typeface="Arial"/>
                        </a:rPr>
                        <a:t>SCR-PM-20</a:t>
                      </a:r>
                    </a:p>
                  </a:txBody>
                  <a:tcPr marL="54864" marR="54864" marT="27432" marB="27432">
                    <a:solidFill>
                      <a:srgbClr val="FFFFFF"/>
                    </a:solidFill>
                  </a:tcPr>
                </a:tc>
                <a:tc>
                  <a:txBody>
                    <a:bodyPr/>
                    <a:lstStyle/>
                    <a:p>
                      <a:r>
                        <a:rPr sz="900" b="0">
                          <a:solidFill>
                            <a:srgbClr val="4B4B4B"/>
                          </a:solidFill>
                          <a:latin typeface="Arial"/>
                        </a:rPr>
                        <a:t>Export to Excel</a:t>
                      </a:r>
                    </a:p>
                  </a:txBody>
                  <a:tcPr marL="54864" marR="54864" marT="27432" marB="27432">
                    <a:solidFill>
                      <a:srgbClr val="FFFFFF"/>
                    </a:solidFill>
                  </a:tcPr>
                </a:tc>
                <a:tc>
                  <a:txBody>
                    <a:bodyPr/>
                    <a:lstStyle/>
                    <a:p>
                      <a:r>
                        <a:rPr sz="900" b="0">
                          <a:solidFill>
                            <a:srgbClr val="4B4B4B"/>
                          </a:solidFill>
                          <a:latin typeface="Arial"/>
                        </a:rPr>
                        <a:t>Every user of the screen</a:t>
                      </a:r>
                    </a:p>
                  </a:txBody>
                  <a:tcPr marL="54864" marR="54864" marT="27432" marB="27432">
                    <a:solidFill>
                      <a:srgbClr val="FFFFFF"/>
                    </a:solidFill>
                  </a:tcPr>
                </a:tc>
                <a:tc>
                  <a:txBody>
                    <a:bodyPr/>
                    <a:lstStyle/>
                    <a:p>
                      <a:r>
                        <a:rPr sz="900" b="0">
                          <a:solidFill>
                            <a:srgbClr val="4B4B4B"/>
                          </a:solidFill>
                          <a:latin typeface="Arial"/>
                        </a:rPr>
                        <a:t>Downloads the tree in tree order with the effective cost centres and the officers by name and role</a:t>
                      </a:r>
                    </a:p>
                  </a:txBody>
                  <a:tcPr marL="54864" marR="54864" marT="27432" marB="27432">
                    <a:solidFill>
                      <a:srgbClr val="FFFFFF"/>
                    </a:solidFill>
                  </a:tcPr>
                </a:tc>
              </a:tr>
            </a:tbl>
          </a:graphicData>
        </a:graphic>
      </p:graphicFrame>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383</a:t>
            </a:r>
          </a:p>
        </p:txBody>
      </p:sp>
      <p:graphicFrame>
        <p:nvGraphicFramePr>
          <p:cNvPr id="9" name="Table 8"/>
          <p:cNvGraphicFramePr>
            <a:graphicFrameLocks noGrp="1"/>
          </p:cNvGraphicFramePr>
          <p:nvPr/>
        </p:nvGraphicFramePr>
        <p:xfrm>
          <a:off x="548640" y="1325880"/>
          <a:ext cx="11094413" cy="26974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365760">
                <a:tc>
                  <a:txBody>
                    <a:bodyPr/>
                    <a:lstStyle/>
                    <a:p>
                      <a:r>
                        <a:rPr sz="900" b="0">
                          <a:solidFill>
                            <a:srgbClr val="4B4B4B"/>
                          </a:solidFill>
                          <a:latin typeface="Arial"/>
                        </a:rPr>
                        <a:t>CLR-PM-11</a:t>
                      </a:r>
                    </a:p>
                  </a:txBody>
                  <a:tcPr marL="54864" marR="54864" marT="27432" marB="27432">
                    <a:solidFill>
                      <a:srgbClr val="FFFFFF"/>
                    </a:solidFill>
                  </a:tcPr>
                </a:tc>
                <a:tc>
                  <a:txBody>
                    <a:bodyPr/>
                    <a:lstStyle/>
                    <a:p>
                      <a:r>
                        <a:rPr sz="900" b="0">
                          <a:solidFill>
                            <a:srgbClr val="4B4B4B"/>
                          </a:solidFill>
                          <a:latin typeface="Arial"/>
                        </a:rPr>
                        <a:t>Client-tailored comparative (PMADD03; FR-PM-035)</a:t>
                      </a:r>
                    </a:p>
                  </a:txBody>
                  <a:tcPr marL="54864" marR="54864" marT="27432" marB="27432">
                    <a:solidFill>
                      <a:srgbClr val="FFFFFF"/>
                    </a:solidFill>
                  </a:tcPr>
                </a:tc>
                <a:tc>
                  <a:txBody>
                    <a:bodyPr/>
                    <a:lstStyle/>
                    <a:p>
                      <a:r>
                        <a:rPr sz="900" b="0">
                          <a:solidFill>
                            <a:srgbClr val="4B4B4B"/>
                          </a:solidFill>
                          <a:latin typeface="Arial"/>
                        </a:rPr>
                        <a:t>TSU chooses from a fixed catalogue of eight fields: Outcome, Rate %, Minimum Premium, Coverages, Deductibles, Conditions / Warranties, Valid Until and Remarks.</a:t>
                      </a:r>
                    </a:p>
                  </a:txBody>
                  <a:tcPr marL="54864" marR="54864" marT="27432" marB="27432">
                    <a:solidFill>
                      <a:srgbClr val="FFFFFF"/>
                    </a:solidFill>
                  </a:tcPr>
                </a:tc>
                <a:tc>
                  <a:txBody>
                    <a:bodyPr/>
                    <a:lstStyle/>
                    <a:p>
                      <a:r>
                        <a:rPr sz="900" b="0">
                          <a:solidFill>
                            <a:srgbClr val="4B4B4B"/>
                          </a:solidFill>
                          <a:latin typeface="Arial"/>
                        </a:rPr>
                        <a:t>Confirm the eight fields or give the fields (PQ06).</a:t>
                      </a:r>
                    </a:p>
                  </a:txBody>
                  <a:tcPr marL="54864" marR="54864" marT="27432" marB="27432">
                    <a:solidFill>
                      <a:srgbClr val="FFFFFF"/>
                    </a:solidFill>
                  </a:tcPr>
                </a:tc>
              </a:tr>
              <a:tr h="365760">
                <a:tc>
                  <a:txBody>
                    <a:bodyPr/>
                    <a:lstStyle/>
                    <a:p>
                      <a:r>
                        <a:rPr sz="900" b="0">
                          <a:solidFill>
                            <a:srgbClr val="4B4B4B"/>
                          </a:solidFill>
                          <a:latin typeface="Arial"/>
                        </a:rPr>
                        <a:t>CLR-PM-12</a:t>
                      </a:r>
                    </a:p>
                  </a:txBody>
                  <a:tcPr marL="54864" marR="54864" marT="27432" marB="27432">
                    <a:solidFill>
                      <a:srgbClr val="E5F5FF"/>
                    </a:solidFill>
                  </a:tcPr>
                </a:tc>
                <a:tc>
                  <a:txBody>
                    <a:bodyPr/>
                    <a:lstStyle/>
                    <a:p>
                      <a:r>
                        <a:rPr sz="900" b="0">
                          <a:solidFill>
                            <a:srgbClr val="4B4B4B"/>
                          </a:solidFill>
                          <a:latin typeface="Arial"/>
                        </a:rPr>
                        <a:t>Client view without a field selected (FR-PM-035)</a:t>
                      </a:r>
                    </a:p>
                  </a:txBody>
                  <a:tcPr marL="54864" marR="54864" marT="27432" marB="27432">
                    <a:solidFill>
                      <a:srgbClr val="E5F5FF"/>
                    </a:solidFill>
                  </a:tcPr>
                </a:tc>
                <a:tc>
                  <a:txBody>
                    <a:bodyPr/>
                    <a:lstStyle/>
                    <a:p>
                      <a:r>
                        <a:rPr sz="900" b="0">
                          <a:solidFill>
                            <a:srgbClr val="4B4B4B"/>
                          </a:solidFill>
                          <a:latin typeface="Arial"/>
                        </a:rPr>
                        <a:t>BIBS requires a title and at least one insurer for a client view; the field selection is not checked, so a view can show the insurers without comparison fields.</a:t>
                      </a:r>
                    </a:p>
                  </a:txBody>
                  <a:tcPr marL="54864" marR="54864" marT="27432" marB="27432">
                    <a:solidFill>
                      <a:srgbClr val="E5F5FF"/>
                    </a:solidFill>
                  </a:tcPr>
                </a:tc>
                <a:tc>
                  <a:txBody>
                    <a:bodyPr/>
                    <a:lstStyle/>
                    <a:p>
                      <a:r>
                        <a:rPr sz="900" b="0">
                          <a:solidFill>
                            <a:srgbClr val="4B4B4B"/>
                          </a:solidFill>
                          <a:latin typeface="Arial"/>
                        </a:rPr>
                        <a:t>Confirm whether a client view must have at least one field.</a:t>
                      </a:r>
                    </a:p>
                  </a:txBody>
                  <a:tcPr marL="54864" marR="54864" marT="27432" marB="27432">
                    <a:solidFill>
                      <a:srgbClr val="E5F5FF"/>
                    </a:solidFill>
                  </a:tcPr>
                </a:tc>
              </a:tr>
              <a:tr h="502920">
                <a:tc>
                  <a:txBody>
                    <a:bodyPr/>
                    <a:lstStyle/>
                    <a:p>
                      <a:r>
                        <a:rPr sz="900" b="0">
                          <a:solidFill>
                            <a:srgbClr val="4B4B4B"/>
                          </a:solidFill>
                          <a:latin typeface="Arial"/>
                        </a:rPr>
                        <a:t>CLR-PM-17</a:t>
                      </a:r>
                    </a:p>
                  </a:txBody>
                  <a:tcPr marL="54864" marR="54864" marT="27432" marB="27432">
                    <a:solidFill>
                      <a:srgbClr val="FFFFFF"/>
                    </a:solidFill>
                  </a:tcPr>
                </a:tc>
                <a:tc>
                  <a:txBody>
                    <a:bodyPr/>
                    <a:lstStyle/>
                    <a:p>
                      <a:r>
                        <a:rPr sz="900" b="0">
                          <a:solidFill>
                            <a:srgbClr val="4B4B4B"/>
                          </a:solidFill>
                          <a:latin typeface="Arial"/>
                        </a:rPr>
                        <a:t>Main path of the package request stepper</a:t>
                      </a:r>
                    </a:p>
                  </a:txBody>
                  <a:tcPr marL="54864" marR="54864" marT="27432" marB="27432">
                    <a:solidFill>
                      <a:srgbClr val="FFFFFF"/>
                    </a:solidFill>
                  </a:tcPr>
                </a:tc>
                <a:tc>
                  <a:txBody>
                    <a:bodyPr/>
                    <a:lstStyle/>
                    <a:p>
                      <a:r>
                        <a:rPr sz="900" b="0">
                          <a:solidFill>
                            <a:srgbClr val="4B4B4B"/>
                          </a:solidFill>
                          <a:latin typeface="Arial"/>
                        </a:rPr>
                        <a:t>The stepper shows the main path from Draft Request to Released, through the stages of the request in their order; a returned request shows the stage it went back to in amber, and a voided or not proceeded request ends in red.</a:t>
                      </a:r>
                    </a:p>
                  </a:txBody>
                  <a:tcPr marL="54864" marR="54864" marT="27432" marB="27432">
                    <a:solidFill>
                      <a:srgbClr val="FFFFFF"/>
                    </a:solidFill>
                  </a:tcPr>
                </a:tc>
                <a:tc>
                  <a:txBody>
                    <a:bodyPr/>
                    <a:lstStyle/>
                    <a:p>
                      <a:r>
                        <a:rPr sz="900" b="0">
                          <a:solidFill>
                            <a:srgbClr val="4B4B4B"/>
                          </a:solidFill>
                          <a:latin typeface="Arial"/>
                        </a:rPr>
                        <a:t>Confirm the stage list of the package request.</a:t>
                      </a:r>
                    </a:p>
                  </a:txBody>
                  <a:tcPr marL="54864" marR="54864" marT="27432" marB="27432">
                    <a:solidFill>
                      <a:srgbClr val="FFFFFF"/>
                    </a:solidFill>
                  </a:tcPr>
                </a:tc>
              </a:tr>
              <a:tr h="365760">
                <a:tc>
                  <a:txBody>
                    <a:bodyPr/>
                    <a:lstStyle/>
                    <a:p>
                      <a:r>
                        <a:rPr sz="900" b="0">
                          <a:solidFill>
                            <a:srgbClr val="4B4B4B"/>
                          </a:solidFill>
                          <a:latin typeface="Arial"/>
                        </a:rPr>
                        <a:t>CLR-PM-18</a:t>
                      </a:r>
                    </a:p>
                  </a:txBody>
                  <a:tcPr marL="54864" marR="54864" marT="27432" marB="27432">
                    <a:solidFill>
                      <a:srgbClr val="E5F5FF"/>
                    </a:solidFill>
                  </a:tcPr>
                </a:tc>
                <a:tc>
                  <a:txBody>
                    <a:bodyPr/>
                    <a:lstStyle/>
                    <a:p>
                      <a:r>
                        <a:rPr sz="900" b="0">
                          <a:solidFill>
                            <a:srgbClr val="4B4B4B"/>
                          </a:solidFill>
                          <a:latin typeface="Arial"/>
                        </a:rPr>
                        <a:t>Scheme rate compared in a rate exception (FR-PM-051)</a:t>
                      </a:r>
                    </a:p>
                  </a:txBody>
                  <a:tcPr marL="54864" marR="54864" marT="27432" marB="27432">
                    <a:solidFill>
                      <a:srgbClr val="E5F5FF"/>
                    </a:solidFill>
                  </a:tcPr>
                </a:tc>
                <a:tc>
                  <a:txBody>
                    <a:bodyPr/>
                    <a:lstStyle/>
                    <a:p>
                      <a:r>
                        <a:rPr sz="900" b="0">
                          <a:solidFill>
                            <a:srgbClr val="4B4B4B"/>
                          </a:solidFill>
                          <a:latin typeface="Arial"/>
                        </a:rPr>
                        <a:t>The Scheme Rate of the Rate Exceptions table and of the exception record is the package rate of the version in force that priced the quotation, not the panel insurer's rate.</a:t>
                      </a:r>
                    </a:p>
                  </a:txBody>
                  <a:tcPr marL="54864" marR="54864" marT="27432" marB="27432">
                    <a:solidFill>
                      <a:srgbClr val="E5F5FF"/>
                    </a:solidFill>
                  </a:tcPr>
                </a:tc>
                <a:tc>
                  <a:txBody>
                    <a:bodyPr/>
                    <a:lstStyle/>
                    <a:p>
                      <a:r>
                        <a:rPr sz="900" b="0">
                          <a:solidFill>
                            <a:srgbClr val="4B4B4B"/>
                          </a:solidFill>
                          <a:latin typeface="Arial"/>
                        </a:rPr>
                        <a:t>Confirm the rate the requested rate is compared with.</a:t>
                      </a:r>
                    </a:p>
                  </a:txBody>
                  <a:tcPr marL="54864" marR="54864" marT="27432" marB="27432">
                    <a:solidFill>
                      <a:srgbClr val="E5F5FF"/>
                    </a:solidFill>
                  </a:tcPr>
                </a:tc>
              </a:tr>
              <a:tr h="365760">
                <a:tc>
                  <a:txBody>
                    <a:bodyPr/>
                    <a:lstStyle/>
                    <a:p>
                      <a:r>
                        <a:rPr sz="900" b="0">
                          <a:solidFill>
                            <a:srgbClr val="4B4B4B"/>
                          </a:solidFill>
                          <a:latin typeface="Arial"/>
                        </a:rPr>
                        <a:t>CLR-PM-19</a:t>
                      </a:r>
                    </a:p>
                  </a:txBody>
                  <a:tcPr marL="54864" marR="54864" marT="27432" marB="27432">
                    <a:solidFill>
                      <a:srgbClr val="FFFFFF"/>
                    </a:solidFill>
                  </a:tcPr>
                </a:tc>
                <a:tc>
                  <a:txBody>
                    <a:bodyPr/>
                    <a:lstStyle/>
                    <a:p>
                      <a:r>
                        <a:rPr sz="900" b="0">
                          <a:solidFill>
                            <a:srgbClr val="4B4B4B"/>
                          </a:solidFill>
                          <a:latin typeface="Arial"/>
                        </a:rPr>
                        <a:t>Difference column format (FR-PM-051)</a:t>
                      </a:r>
                    </a:p>
                  </a:txBody>
                  <a:tcPr marL="54864" marR="54864" marT="27432" marB="27432">
                    <a:solidFill>
                      <a:srgbClr val="FFFFFF"/>
                    </a:solidFill>
                  </a:tcPr>
                </a:tc>
                <a:tc>
                  <a:txBody>
                    <a:bodyPr/>
                    <a:lstStyle/>
                    <a:p>
                      <a:r>
                        <a:rPr sz="900" b="0">
                          <a:solidFill>
                            <a:srgbClr val="4B4B4B"/>
                          </a:solidFill>
                          <a:latin typeface="Arial"/>
                        </a:rPr>
                        <a:t>The difference is shown in percentage points with its sign and two decimals (for example -0.10).</a:t>
                      </a:r>
                    </a:p>
                  </a:txBody>
                  <a:tcPr marL="54864" marR="54864" marT="27432" marB="27432">
                    <a:solidFill>
                      <a:srgbClr val="FFFFFF"/>
                    </a:solidFill>
                  </a:tcPr>
                </a:tc>
                <a:tc>
                  <a:txBody>
                    <a:bodyPr/>
                    <a:lstStyle/>
                    <a:p>
                      <a:r>
                        <a:rPr sz="900" b="0">
                          <a:solidFill>
                            <a:srgbClr val="4B4B4B"/>
                          </a:solidFill>
                          <a:latin typeface="Arial"/>
                        </a:rPr>
                        <a:t>Confirm percentage points with the sign.</a:t>
                      </a:r>
                    </a:p>
                  </a:txBody>
                  <a:tcPr marL="54864" marR="54864" marT="27432" marB="27432">
                    <a:solidFill>
                      <a:srgbClr val="FFFFFF"/>
                    </a:solidFill>
                  </a:tcPr>
                </a:tc>
              </a:tr>
              <a:tr h="502920">
                <a:tc>
                  <a:txBody>
                    <a:bodyPr/>
                    <a:lstStyle/>
                    <a:p>
                      <a:r>
                        <a:rPr sz="900" b="0">
                          <a:solidFill>
                            <a:srgbClr val="4B4B4B"/>
                          </a:solidFill>
                          <a:latin typeface="Arial"/>
                        </a:rPr>
                        <a:t>CLR-PM-20</a:t>
                      </a:r>
                    </a:p>
                  </a:txBody>
                  <a:tcPr marL="54864" marR="54864" marT="27432" marB="27432">
                    <a:solidFill>
                      <a:srgbClr val="E5F5FF"/>
                    </a:solidFill>
                  </a:tcPr>
                </a:tc>
                <a:tc>
                  <a:txBody>
                    <a:bodyPr/>
                    <a:lstStyle/>
                    <a:p>
                      <a:r>
                        <a:rPr sz="900" b="0">
                          <a:solidFill>
                            <a:srgbClr val="4B4B4B"/>
                          </a:solidFill>
                          <a:latin typeface="Arial"/>
                        </a:rPr>
                        <a:t>Full status labels</a:t>
                      </a:r>
                    </a:p>
                  </a:txBody>
                  <a:tcPr marL="54864" marR="54864" marT="27432" marB="27432">
                    <a:solidFill>
                      <a:srgbClr val="E5F5FF"/>
                    </a:solidFill>
                  </a:tcPr>
                </a:tc>
                <a:tc>
                  <a:txBody>
                    <a:bodyPr/>
                    <a:lstStyle/>
                    <a:p>
                      <a:r>
                        <a:rPr sz="900" b="0">
                          <a:solidFill>
                            <a:srgbClr val="4B4B4B"/>
                          </a:solidFill>
                          <a:latin typeface="Arial"/>
                        </a:rPr>
                        <a:t>Stages and statuses show their full label (for example Requirements Preparation, Pending Authorization); a short form with the full label in the tooltip is used only above 21 characters.</a:t>
                      </a:r>
                    </a:p>
                  </a:txBody>
                  <a:tcPr marL="54864" marR="54864" marT="27432" marB="27432">
                    <a:solidFill>
                      <a:srgbClr val="E5F5FF"/>
                    </a:solidFill>
                  </a:tcPr>
                </a:tc>
                <a:tc>
                  <a:txBody>
                    <a:bodyPr/>
                    <a:lstStyle/>
                    <a:p>
                      <a:r>
                        <a:rPr sz="900" b="0">
                          <a:solidFill>
                            <a:srgbClr val="4B4B4B"/>
                          </a:solidFill>
                          <a:latin typeface="Arial"/>
                        </a:rPr>
                        <a:t>Confirm full labels and the short forms of the longer ones.</a:t>
                      </a:r>
                    </a:p>
                  </a:txBody>
                  <a:tcPr marL="54864" marR="54864" marT="27432" marB="27432">
                    <a:solidFill>
                      <a:srgbClr val="E5F5FF"/>
                    </a:solidFill>
                  </a:tcPr>
                </a:tc>
              </a:tr>
            </a:tbl>
          </a:graphicData>
        </a:graphic>
      </p:graphicFrame>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observations: proposals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384</a:t>
            </a:r>
          </a:p>
        </p:txBody>
      </p:sp>
      <p:graphicFrame>
        <p:nvGraphicFramePr>
          <p:cNvPr id="9" name="Table 8"/>
          <p:cNvGraphicFramePr>
            <a:graphicFrameLocks noGrp="1"/>
          </p:cNvGraphicFramePr>
          <p:nvPr/>
        </p:nvGraphicFramePr>
        <p:xfrm>
          <a:off x="548640" y="1325880"/>
          <a:ext cx="11094413" cy="2971800"/>
        </p:xfrm>
        <a:graphic>
          <a:graphicData uri="http://schemas.openxmlformats.org/drawingml/2006/table">
            <a:tbl>
              <a:tblPr firstRow="1" bandRow="1">
                <a:tableStyleId>{5C22544A-7EE6-4342-B048-85BDC9FD1C3A}</a:tableStyleId>
              </a:tblPr>
              <a:tblGrid>
                <a:gridCol w="938758"/>
                <a:gridCol w="1536149"/>
                <a:gridCol w="4267082"/>
                <a:gridCol w="4352424"/>
              </a:tblGrid>
              <a:tr h="228600">
                <a:tc>
                  <a:txBody>
                    <a:bodyPr/>
                    <a:lstStyle/>
                    <a:p>
                      <a:r>
                        <a:rPr sz="900" b="1">
                          <a:solidFill>
                            <a:srgbClr val="FFFFFF"/>
                          </a:solidFill>
                          <a:latin typeface="Arial"/>
                        </a:rPr>
                        <a:t>No.</a:t>
                      </a:r>
                    </a:p>
                  </a:txBody>
                  <a:tcPr marL="54864" marR="54864" marT="27432" marB="27432">
                    <a:solidFill>
                      <a:srgbClr val="004EA8"/>
                    </a:solidFill>
                  </a:tcPr>
                </a:tc>
                <a:tc>
                  <a:txBody>
                    <a:bodyPr/>
                    <a:lstStyle/>
                    <a:p>
                      <a:r>
                        <a:rPr sz="900" b="1">
                          <a:solidFill>
                            <a:srgbClr val="FFFFFF"/>
                          </a:solidFill>
                          <a:latin typeface="Arial"/>
                        </a:rPr>
                        <a:t>Screens</a:t>
                      </a:r>
                    </a:p>
                  </a:txBody>
                  <a:tcPr marL="54864" marR="54864" marT="27432" marB="27432">
                    <a:solidFill>
                      <a:srgbClr val="004EA8"/>
                    </a:solidFill>
                  </a:tcPr>
                </a:tc>
                <a:tc>
                  <a:txBody>
                    <a:bodyPr/>
                    <a:lstStyle/>
                    <a:p>
                      <a:r>
                        <a:rPr sz="900" b="1">
                          <a:solidFill>
                            <a:srgbClr val="FFFFFF"/>
                          </a:solidFill>
                          <a:latin typeface="Arial"/>
                        </a:rPr>
                        <a:t>Observation</a:t>
                      </a:r>
                    </a:p>
                  </a:txBody>
                  <a:tcPr marL="54864" marR="54864" marT="27432" marB="27432">
                    <a:solidFill>
                      <a:srgbClr val="004EA8"/>
                    </a:solidFill>
                  </a:tcPr>
                </a:tc>
                <a:tc>
                  <a:txBody>
                    <a:bodyPr/>
                    <a:lstStyle/>
                    <a:p>
                      <a:r>
                        <a:rPr sz="900" b="1">
                          <a:solidFill>
                            <a:srgbClr val="FFFFFF"/>
                          </a:solidFill>
                          <a:latin typeface="Arial"/>
                        </a:rPr>
                        <a:t>Proposal</a:t>
                      </a:r>
                    </a:p>
                  </a:txBody>
                  <a:tcPr marL="54864" marR="54864" marT="27432" marB="27432">
                    <a:solidFill>
                      <a:srgbClr val="004EA8"/>
                    </a:solidFill>
                  </a:tcPr>
                </a:tc>
              </a:tr>
              <a:tr h="365760">
                <a:tc>
                  <a:txBody>
                    <a:bodyPr/>
                    <a:lstStyle/>
                    <a:p>
                      <a:r>
                        <a:rPr sz="900" b="0">
                          <a:solidFill>
                            <a:srgbClr val="4B4B4B"/>
                          </a:solidFill>
                          <a:latin typeface="Arial"/>
                        </a:rPr>
                        <a:t>UX-PM-01</a:t>
                      </a:r>
                    </a:p>
                  </a:txBody>
                  <a:tcPr marL="54864" marR="54864" marT="27432" marB="27432">
                    <a:solidFill>
                      <a:srgbClr val="FFFFFF"/>
                    </a:solidFill>
                  </a:tcPr>
                </a:tc>
                <a:tc>
                  <a:txBody>
                    <a:bodyPr/>
                    <a:lstStyle/>
                    <a:p>
                      <a:r>
                        <a:rPr sz="900" b="0">
                          <a:solidFill>
                            <a:srgbClr val="4B4B4B"/>
                          </a:solidFill>
                          <a:latin typeface="Arial"/>
                        </a:rPr>
                        <a:t>SCR-PM-13</a:t>
                      </a:r>
                    </a:p>
                  </a:txBody>
                  <a:tcPr marL="54864" marR="54864" marT="27432" marB="27432">
                    <a:solidFill>
                      <a:srgbClr val="FFFFFF"/>
                    </a:solidFill>
                  </a:tcPr>
                </a:tc>
                <a:tc>
                  <a:txBody>
                    <a:bodyPr/>
                    <a:lstStyle/>
                    <a:p>
                      <a:r>
                        <a:rPr sz="900" b="0">
                          <a:solidFill>
                            <a:srgbClr val="4B4B4B"/>
                          </a:solidFill>
                          <a:latin typeface="Arial"/>
                        </a:rPr>
                        <a:t>The Details column of the validation checks shows list codes (COMPREHENSIVE, OD_THEFT) next to the counts.</a:t>
                      </a:r>
                    </a:p>
                  </a:txBody>
                  <a:tcPr marL="54864" marR="54864" marT="27432" marB="27432">
                    <a:solidFill>
                      <a:srgbClr val="FFFFFF"/>
                    </a:solidFill>
                  </a:tcPr>
                </a:tc>
                <a:tc>
                  <a:txBody>
                    <a:bodyPr/>
                    <a:lstStyle/>
                    <a:p>
                      <a:r>
                        <a:rPr sz="900" b="0">
                          <a:solidFill>
                            <a:srgbClr val="4B4B4B"/>
                          </a:solidFill>
                          <a:latin typeface="Arial"/>
                        </a:rPr>
                        <a:t>Show the cover type and the coverages by their names, as the other columns of the screens do.</a:t>
                      </a:r>
                    </a:p>
                  </a:txBody>
                  <a:tcPr marL="54864" marR="54864" marT="27432" marB="27432">
                    <a:solidFill>
                      <a:srgbClr val="FFFFFF"/>
                    </a:solidFill>
                  </a:tcPr>
                </a:tc>
              </a:tr>
              <a:tr h="502920">
                <a:tc>
                  <a:txBody>
                    <a:bodyPr/>
                    <a:lstStyle/>
                    <a:p>
                      <a:r>
                        <a:rPr sz="900" b="0">
                          <a:solidFill>
                            <a:srgbClr val="4B4B4B"/>
                          </a:solidFill>
                          <a:latin typeface="Arial"/>
                        </a:rPr>
                        <a:t>UX-PM-02</a:t>
                      </a:r>
                    </a:p>
                  </a:txBody>
                  <a:tcPr marL="54864" marR="54864" marT="27432" marB="27432">
                    <a:solidFill>
                      <a:srgbClr val="E5F5FF"/>
                    </a:solidFill>
                  </a:tcPr>
                </a:tc>
                <a:tc>
                  <a:txBody>
                    <a:bodyPr/>
                    <a:lstStyle/>
                    <a:p>
                      <a:r>
                        <a:rPr sz="900" b="0">
                          <a:solidFill>
                            <a:srgbClr val="4B4B4B"/>
                          </a:solidFill>
                          <a:latin typeface="Arial"/>
                        </a:rPr>
                        <a:t>SCR-PM-13</a:t>
                      </a:r>
                    </a:p>
                  </a:txBody>
                  <a:tcPr marL="54864" marR="54864" marT="27432" marB="27432">
                    <a:solidFill>
                      <a:srgbClr val="E5F5FF"/>
                    </a:solidFill>
                  </a:tcPr>
                </a:tc>
                <a:tc>
                  <a:txBody>
                    <a:bodyPr/>
                    <a:lstStyle/>
                    <a:p>
                      <a:r>
                        <a:rPr sz="900" b="0">
                          <a:solidFill>
                            <a:srgbClr val="4B4B4B"/>
                          </a:solidFill>
                          <a:latin typeface="Arial"/>
                        </a:rPr>
                        <a:t>A released version shows its rate scheme and dates in read-only input boxes; the amounts read 5000 and 5000000 and the rate 1.2, without the separators and decimals of the screen standard.</a:t>
                      </a:r>
                    </a:p>
                  </a:txBody>
                  <a:tcPr marL="54864" marR="54864" marT="27432" marB="27432">
                    <a:solidFill>
                      <a:srgbClr val="E5F5FF"/>
                    </a:solidFill>
                  </a:tcPr>
                </a:tc>
                <a:tc>
                  <a:txBody>
                    <a:bodyPr/>
                    <a:lstStyle/>
                    <a:p>
                      <a:r>
                        <a:rPr sz="900" b="0">
                          <a:solidFill>
                            <a:srgbClr val="4B4B4B"/>
                          </a:solidFill>
                          <a:latin typeface="Arial"/>
                        </a:rPr>
                        <a:t>Show a released (read-only) version as a label and value grid with the amounts formatted (5,000.00; 5,000,000.00) and the rate as keyed with the percent sign.</a:t>
                      </a:r>
                    </a:p>
                  </a:txBody>
                  <a:tcPr marL="54864" marR="54864" marT="27432" marB="27432">
                    <a:solidFill>
                      <a:srgbClr val="E5F5FF"/>
                    </a:solidFill>
                  </a:tcPr>
                </a:tc>
              </a:tr>
              <a:tr h="365760">
                <a:tc>
                  <a:txBody>
                    <a:bodyPr/>
                    <a:lstStyle/>
                    <a:p>
                      <a:r>
                        <a:rPr sz="900" b="0">
                          <a:solidFill>
                            <a:srgbClr val="4B4B4B"/>
                          </a:solidFill>
                          <a:latin typeface="Arial"/>
                        </a:rPr>
                        <a:t>UX-PM-03</a:t>
                      </a:r>
                    </a:p>
                  </a:txBody>
                  <a:tcPr marL="54864" marR="54864" marT="27432" marB="27432">
                    <a:solidFill>
                      <a:srgbClr val="FFFFFF"/>
                    </a:solidFill>
                  </a:tcPr>
                </a:tc>
                <a:tc>
                  <a:txBody>
                    <a:bodyPr/>
                    <a:lstStyle/>
                    <a:p>
                      <a:r>
                        <a:rPr sz="900" b="0">
                          <a:solidFill>
                            <a:srgbClr val="4B4B4B"/>
                          </a:solidFill>
                          <a:latin typeface="Arial"/>
                        </a:rPr>
                        <a:t>SCR-PM-13</a:t>
                      </a:r>
                    </a:p>
                  </a:txBody>
                  <a:tcPr marL="54864" marR="54864" marT="27432" marB="27432">
                    <a:solidFill>
                      <a:srgbClr val="FFFFFF"/>
                    </a:solidFill>
                  </a:tcPr>
                </a:tc>
                <a:tc>
                  <a:txBody>
                    <a:bodyPr/>
                    <a:lstStyle/>
                    <a:p>
                      <a:r>
                        <a:rPr sz="900" b="0">
                          <a:solidFill>
                            <a:srgbClr val="4B4B4B"/>
                          </a:solidFill>
                          <a:latin typeface="Arial"/>
                        </a:rPr>
                        <a:t>On a released version an empty date (Anniversary) shows the format hint dd-MMM-yyyy, and a long text (Computation Basis) is cut at the edge of its box.</a:t>
                      </a:r>
                    </a:p>
                  </a:txBody>
                  <a:tcPr marL="54864" marR="54864" marT="27432" marB="27432">
                    <a:solidFill>
                      <a:srgbClr val="FFFFFF"/>
                    </a:solidFill>
                  </a:tcPr>
                </a:tc>
                <a:tc>
                  <a:txBody>
                    <a:bodyPr/>
                    <a:lstStyle/>
                    <a:p>
                      <a:r>
                        <a:rPr sz="900" b="0">
                          <a:solidFill>
                            <a:srgbClr val="4B4B4B"/>
                          </a:solidFill>
                          <a:latin typeface="Arial"/>
                        </a:rPr>
                        <a:t>Show a dash for an empty value and the whole text of a read-only field (wrapped).</a:t>
                      </a:r>
                    </a:p>
                  </a:txBody>
                  <a:tcPr marL="54864" marR="54864" marT="27432" marB="27432">
                    <a:solidFill>
                      <a:srgbClr val="FFFFFF"/>
                    </a:solidFill>
                  </a:tcPr>
                </a:tc>
              </a:tr>
              <a:tr h="640080">
                <a:tc>
                  <a:txBody>
                    <a:bodyPr/>
                    <a:lstStyle/>
                    <a:p>
                      <a:r>
                        <a:rPr sz="900" b="0">
                          <a:solidFill>
                            <a:srgbClr val="4B4B4B"/>
                          </a:solidFill>
                          <a:latin typeface="Arial"/>
                        </a:rPr>
                        <a:t>UX-PM-04</a:t>
                      </a:r>
                    </a:p>
                  </a:txBody>
                  <a:tcPr marL="54864" marR="54864" marT="27432" marB="27432">
                    <a:solidFill>
                      <a:srgbClr val="E5F5FF"/>
                    </a:solidFill>
                  </a:tcPr>
                </a:tc>
                <a:tc>
                  <a:txBody>
                    <a:bodyPr/>
                    <a:lstStyle/>
                    <a:p>
                      <a:r>
                        <a:rPr sz="900" b="0">
                          <a:solidFill>
                            <a:srgbClr val="4B4B4B"/>
                          </a:solidFill>
                          <a:latin typeface="Arial"/>
                        </a:rPr>
                        <a:t>SCR-PM-03</a:t>
                      </a:r>
                    </a:p>
                  </a:txBody>
                  <a:tcPr marL="54864" marR="54864" marT="27432" marB="27432">
                    <a:solidFill>
                      <a:srgbClr val="E5F5FF"/>
                    </a:solidFill>
                  </a:tcPr>
                </a:tc>
                <a:tc>
                  <a:txBody>
                    <a:bodyPr/>
                    <a:lstStyle/>
                    <a:p>
                      <a:r>
                        <a:rPr sz="900" b="0">
                          <a:solidFill>
                            <a:srgbClr val="4B4B4B"/>
                          </a:solidFill>
                          <a:latin typeface="Arial"/>
                        </a:rPr>
                        <a:t>On the request form the coverage is keyed as a code (Coverage code) and the amounts show without separators while typed (2000000, 5000000); the hint "Before submitting, complete the package end date." is plain text above the form.</a:t>
                      </a:r>
                    </a:p>
                  </a:txBody>
                  <a:tcPr marL="54864" marR="54864" marT="27432" marB="27432">
                    <a:solidFill>
                      <a:srgbClr val="E5F5FF"/>
                    </a:solidFill>
                  </a:tcPr>
                </a:tc>
                <a:tc>
                  <a:txBody>
                    <a:bodyPr/>
                    <a:lstStyle/>
                    <a:p>
                      <a:r>
                        <a:rPr sz="900" b="0">
                          <a:solidFill>
                            <a:srgbClr val="4B4B4B"/>
                          </a:solidFill>
                          <a:latin typeface="Arial"/>
                        </a:rPr>
                        <a:t>Pick the coverage by its name from the coverage list, format the amounts when the field is left, and show the hint as the one-line information notice of the notice standard.</a:t>
                      </a:r>
                    </a:p>
                  </a:txBody>
                  <a:tcPr marL="54864" marR="54864" marT="27432" marB="27432">
                    <a:solidFill>
                      <a:srgbClr val="E5F5FF"/>
                    </a:solidFill>
                  </a:tcPr>
                </a:tc>
              </a:tr>
              <a:tr h="502920">
                <a:tc>
                  <a:txBody>
                    <a:bodyPr/>
                    <a:lstStyle/>
                    <a:p>
                      <a:r>
                        <a:rPr sz="900" b="0">
                          <a:solidFill>
                            <a:srgbClr val="4B4B4B"/>
                          </a:solidFill>
                          <a:latin typeface="Arial"/>
                        </a:rPr>
                        <a:t>UX-PM-05</a:t>
                      </a:r>
                    </a:p>
                  </a:txBody>
                  <a:tcPr marL="54864" marR="54864" marT="27432" marB="27432">
                    <a:solidFill>
                      <a:srgbClr val="FFFFFF"/>
                    </a:solidFill>
                  </a:tcPr>
                </a:tc>
                <a:tc>
                  <a:txBody>
                    <a:bodyPr/>
                    <a:lstStyle/>
                    <a:p>
                      <a:r>
                        <a:rPr sz="900" b="0">
                          <a:solidFill>
                            <a:srgbClr val="4B4B4B"/>
                          </a:solidFill>
                          <a:latin typeface="Arial"/>
                        </a:rPr>
                        <a:t>SCR-PM-04, SCR-PM-05</a:t>
                      </a:r>
                    </a:p>
                  </a:txBody>
                  <a:tcPr marL="54864" marR="54864" marT="27432" marB="27432">
                    <a:solidFill>
                      <a:srgbClr val="FFFFFF"/>
                    </a:solidFill>
                  </a:tcPr>
                </a:tc>
                <a:tc>
                  <a:txBody>
                    <a:bodyPr/>
                    <a:lstStyle/>
                    <a:p>
                      <a:r>
                        <a:rPr sz="900" b="0">
                          <a:solidFill>
                            <a:srgbClr val="4B4B4B"/>
                          </a:solidFill>
                          <a:latin typeface="Arial"/>
                        </a:rPr>
                        <a:t>In the workflow step bar of a request in negotiation the stage actions wrap to a second line under the meta row, and Not Proceeded (which ends the request) has the look of the other secondary actions.</a:t>
                      </a:r>
                    </a:p>
                  </a:txBody>
                  <a:tcPr marL="54864" marR="54864" marT="27432" marB="27432">
                    <a:solidFill>
                      <a:srgbClr val="FFFFFF"/>
                    </a:solidFill>
                  </a:tcPr>
                </a:tc>
                <a:tc>
                  <a:txBody>
                    <a:bodyPr/>
                    <a:lstStyle/>
                    <a:p>
                      <a:r>
                        <a:rPr sz="900" b="0">
                          <a:solidFill>
                            <a:srgbClr val="4B4B4B"/>
                          </a:solidFill>
                          <a:latin typeface="Arial"/>
                        </a:rPr>
                        <a:t>Keep the actions on the meta row, or give them their own right-aligned row by design; show Not Proceeded as the destructive action, last and in red, as the page action order asks.</a:t>
                      </a:r>
                    </a:p>
                  </a:txBody>
                  <a:tcPr marL="54864" marR="54864" marT="27432" marB="27432">
                    <a:solidFill>
                      <a:srgbClr val="FFFFFF"/>
                    </a:solidFill>
                  </a:tcPr>
                </a:tc>
              </a:tr>
              <a:tr h="365760">
                <a:tc>
                  <a:txBody>
                    <a:bodyPr/>
                    <a:lstStyle/>
                    <a:p>
                      <a:r>
                        <a:rPr sz="900" b="0">
                          <a:solidFill>
                            <a:srgbClr val="4B4B4B"/>
                          </a:solidFill>
                          <a:latin typeface="Arial"/>
                        </a:rPr>
                        <a:t>UX-PM-06</a:t>
                      </a:r>
                    </a:p>
                  </a:txBody>
                  <a:tcPr marL="54864" marR="54864" marT="27432" marB="27432">
                    <a:solidFill>
                      <a:srgbClr val="E5F5FF"/>
                    </a:solidFill>
                  </a:tcPr>
                </a:tc>
                <a:tc>
                  <a:txBody>
                    <a:bodyPr/>
                    <a:lstStyle/>
                    <a:p>
                      <a:r>
                        <a:rPr sz="900" b="0">
                          <a:solidFill>
                            <a:srgbClr val="4B4B4B"/>
                          </a:solidFill>
                          <a:latin typeface="Arial"/>
                        </a:rPr>
                        <a:t>SCR-PM-16</a:t>
                      </a:r>
                    </a:p>
                  </a:txBody>
                  <a:tcPr marL="54864" marR="54864" marT="27432" marB="27432">
                    <a:solidFill>
                      <a:srgbClr val="E5F5FF"/>
                    </a:solidFill>
                  </a:tcPr>
                </a:tc>
                <a:tc>
                  <a:txBody>
                    <a:bodyPr/>
                    <a:lstStyle/>
                    <a:p>
                      <a:r>
                        <a:rPr sz="900" b="0">
                          <a:solidFill>
                            <a:srgbClr val="4B4B4B"/>
                          </a:solidFill>
                          <a:latin typeface="Arial"/>
                        </a:rPr>
                        <a:t>The Actions column of Incentive Criteria shows Deactivate as a link in the row.</a:t>
                      </a:r>
                    </a:p>
                  </a:txBody>
                  <a:tcPr marL="54864" marR="54864" marT="27432" marB="27432">
                    <a:solidFill>
                      <a:srgbClr val="E5F5FF"/>
                    </a:solidFill>
                  </a:tcPr>
                </a:tc>
                <a:tc>
                  <a:txBody>
                    <a:bodyPr/>
                    <a:lstStyle/>
                    <a:p>
                      <a:r>
                        <a:rPr sz="900" b="0">
                          <a:solidFill>
                            <a:srgbClr val="4B4B4B"/>
                          </a:solidFill>
                          <a:latin typeface="Arial"/>
                        </a:rPr>
                        <a:t>Offer the row actions through the row action menu of the table standard (Deactivate last, in red).</a:t>
                      </a:r>
                    </a:p>
                  </a:txBody>
                  <a:tcPr marL="54864" marR="54864" marT="27432" marB="27432">
                    <a:solidFill>
                      <a:srgbClr val="E5F5FF"/>
                    </a:solidFill>
                  </a:tcPr>
                </a:tc>
              </a:tr>
            </a:tbl>
          </a:graphicData>
        </a:graphic>
      </p:graphicFrame>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385</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386</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BRD-3 Product Maintenance</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388</a:t>
            </a:r>
          </a:p>
        </p:txBody>
      </p:sp>
      <p:graphicFrame>
        <p:nvGraphicFramePr>
          <p:cNvPr id="9" name="Table 8"/>
          <p:cNvGraphicFramePr>
            <a:graphicFrameLocks noGrp="1"/>
          </p:cNvGraphicFramePr>
          <p:nvPr/>
        </p:nvGraphicFramePr>
        <p:xfrm>
          <a:off x="548640" y="1325880"/>
          <a:ext cx="11094412" cy="4884395"/>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SCR-PM-01</a:t>
                      </a:r>
                    </a:p>
                  </a:txBody>
                  <a:tcPr marL="54864" marR="54864" marT="27432" marB="27432">
                    <a:solidFill>
                      <a:srgbClr val="FFFFFF"/>
                    </a:solidFill>
                  </a:tcPr>
                </a:tc>
                <a:tc>
                  <a:txBody>
                    <a:bodyPr/>
                    <a:lstStyle/>
                    <a:p>
                      <a:r>
                        <a:rPr sz="850" b="0">
                          <a:solidFill>
                            <a:srgbClr val="4B4B4B"/>
                          </a:solidFill>
                          <a:latin typeface="Arial"/>
                        </a:rPr>
                        <a:t>Product Maintenance Home</a:t>
                      </a:r>
                    </a:p>
                  </a:txBody>
                  <a:tcPr marL="54864" marR="54864" marT="27432" marB="27432">
                    <a:solidFill>
                      <a:srgbClr val="FFFFFF"/>
                    </a:solidFill>
                  </a:tcPr>
                </a:tc>
                <a:tc>
                  <a:txBody>
                    <a:bodyPr/>
                    <a:lstStyle/>
                    <a:p>
                      <a:r>
                        <a:rPr sz="850" b="0">
                          <a:solidFill>
                            <a:srgbClr val="4B4B4B"/>
                          </a:solidFill>
                          <a:latin typeface="Arial"/>
                        </a:rPr>
                        <a:t>13.1.1</a:t>
                      </a:r>
                    </a:p>
                  </a:txBody>
                  <a:tcPr marL="54864" marR="54864" marT="27432" marB="27432">
                    <a:solidFill>
                      <a:srgbClr val="FFFFFF"/>
                    </a:solidFill>
                  </a:tcPr>
                </a:tc>
                <a:tc>
                  <a:txBody>
                    <a:bodyPr/>
                    <a:lstStyle/>
                    <a:p>
                      <a:r>
                        <a:rPr sz="850" b="0">
                          <a:solidFill>
                            <a:srgbClr val="4B4B4B"/>
                          </a:solidFill>
                          <a:latin typeface="Arial"/>
                        </a:rPr>
                        <a:t>FR-PM-070, FR-PM-073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SCR-PM-02</a:t>
                      </a:r>
                    </a:p>
                  </a:txBody>
                  <a:tcPr marL="54864" marR="54864" marT="27432" marB="27432">
                    <a:solidFill>
                      <a:srgbClr val="E5F5FF"/>
                    </a:solidFill>
                  </a:tcPr>
                </a:tc>
                <a:tc>
                  <a:txBody>
                    <a:bodyPr/>
                    <a:lstStyle/>
                    <a:p>
                      <a:r>
                        <a:rPr sz="850" b="0">
                          <a:solidFill>
                            <a:srgbClr val="4B4B4B"/>
                          </a:solidFill>
                          <a:latin typeface="Arial"/>
                        </a:rPr>
                        <a:t>Package Requests</a:t>
                      </a:r>
                    </a:p>
                  </a:txBody>
                  <a:tcPr marL="54864" marR="54864" marT="27432" marB="27432">
                    <a:solidFill>
                      <a:srgbClr val="E5F5FF"/>
                    </a:solidFill>
                  </a:tcPr>
                </a:tc>
                <a:tc>
                  <a:txBody>
                    <a:bodyPr/>
                    <a:lstStyle/>
                    <a:p>
                      <a:r>
                        <a:rPr sz="850" b="0">
                          <a:solidFill>
                            <a:srgbClr val="4B4B4B"/>
                          </a:solidFill>
                          <a:latin typeface="Arial"/>
                        </a:rPr>
                        <a:t>13.1.2</a:t>
                      </a:r>
                    </a:p>
                  </a:txBody>
                  <a:tcPr marL="54864" marR="54864" marT="27432" marB="27432">
                    <a:solidFill>
                      <a:srgbClr val="E5F5FF"/>
                    </a:solidFill>
                  </a:tcPr>
                </a:tc>
                <a:tc>
                  <a:txBody>
                    <a:bodyPr/>
                    <a:lstStyle/>
                    <a:p>
                      <a:r>
                        <a:rPr sz="850" b="0">
                          <a:solidFill>
                            <a:srgbClr val="4B4B4B"/>
                          </a:solidFill>
                          <a:latin typeface="Arial"/>
                        </a:rPr>
                        <a:t>FR-PM-024, FR-PM-073</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Empty list</a:t>
                      </a:r>
                    </a:p>
                  </a:txBody>
                  <a:tcPr marL="54864" marR="54864" marT="27432" marB="27432">
                    <a:solidFill>
                      <a:srgbClr val="E5F5FF"/>
                    </a:solidFill>
                  </a:tcPr>
                </a:tc>
              </a:tr>
              <a:tr h="220979">
                <a:tc>
                  <a:txBody>
                    <a:bodyPr/>
                    <a:lstStyle/>
                    <a:p>
                      <a:r>
                        <a:rPr sz="850" b="0">
                          <a:solidFill>
                            <a:srgbClr val="4B4B4B"/>
                          </a:solidFill>
                          <a:latin typeface="Arial"/>
                        </a:rPr>
                        <a:t>SCR-PM-03</a:t>
                      </a:r>
                    </a:p>
                  </a:txBody>
                  <a:tcPr marL="54864" marR="54864" marT="27432" marB="27432">
                    <a:solidFill>
                      <a:srgbClr val="FFFFFF"/>
                    </a:solidFill>
                  </a:tcPr>
                </a:tc>
                <a:tc>
                  <a:txBody>
                    <a:bodyPr/>
                    <a:lstStyle/>
                    <a:p>
                      <a:r>
                        <a:rPr sz="850" b="0">
                          <a:solidFill>
                            <a:srgbClr val="4B4B4B"/>
                          </a:solidFill>
                          <a:latin typeface="Arial"/>
                        </a:rPr>
                        <a:t>New Package Request and Edit Package Request</a:t>
                      </a:r>
                    </a:p>
                  </a:txBody>
                  <a:tcPr marL="54864" marR="54864" marT="27432" marB="27432">
                    <a:solidFill>
                      <a:srgbClr val="FFFFFF"/>
                    </a:solidFill>
                  </a:tcPr>
                </a:tc>
                <a:tc>
                  <a:txBody>
                    <a:bodyPr/>
                    <a:lstStyle/>
                    <a:p>
                      <a:r>
                        <a:rPr sz="850" b="0">
                          <a:solidFill>
                            <a:srgbClr val="4B4B4B"/>
                          </a:solidFill>
                          <a:latin typeface="Arial"/>
                        </a:rPr>
                        <a:t>13.1.3</a:t>
                      </a:r>
                    </a:p>
                  </a:txBody>
                  <a:tcPr marL="54864" marR="54864" marT="27432" marB="27432">
                    <a:solidFill>
                      <a:srgbClr val="FFFFFF"/>
                    </a:solidFill>
                  </a:tcPr>
                </a:tc>
                <a:tc>
                  <a:txBody>
                    <a:bodyPr/>
                    <a:lstStyle/>
                    <a:p>
                      <a:r>
                        <a:rPr sz="850" b="0">
                          <a:solidFill>
                            <a:srgbClr val="4B4B4B"/>
                          </a:solidFill>
                          <a:latin typeface="Arial"/>
                        </a:rPr>
                        <a:t>FR-PM-020, FR-PM-010, FR-PM-045</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Default, Filled, Validation error, Success message</a:t>
                      </a:r>
                    </a:p>
                  </a:txBody>
                  <a:tcPr marL="54864" marR="54864" marT="27432" marB="27432">
                    <a:solidFill>
                      <a:srgbClr val="FFFFFF"/>
                    </a:solidFill>
                  </a:tcPr>
                </a:tc>
              </a:tr>
              <a:tr h="480057">
                <a:tc>
                  <a:txBody>
                    <a:bodyPr/>
                    <a:lstStyle/>
                    <a:p>
                      <a:r>
                        <a:rPr sz="850" b="0">
                          <a:solidFill>
                            <a:srgbClr val="4B4B4B"/>
                          </a:solidFill>
                          <a:latin typeface="Arial"/>
                        </a:rPr>
                        <a:t>SCR-PM-04</a:t>
                      </a:r>
                    </a:p>
                  </a:txBody>
                  <a:tcPr marL="54864" marR="54864" marT="27432" marB="27432">
                    <a:solidFill>
                      <a:srgbClr val="E5F5FF"/>
                    </a:solidFill>
                  </a:tcPr>
                </a:tc>
                <a:tc>
                  <a:txBody>
                    <a:bodyPr/>
                    <a:lstStyle/>
                    <a:p>
                      <a:r>
                        <a:rPr sz="850" b="0">
                          <a:solidFill>
                            <a:srgbClr val="4B4B4B"/>
                          </a:solidFill>
                          <a:latin typeface="Arial"/>
                        </a:rPr>
                        <a:t>Package Request record</a:t>
                      </a:r>
                    </a:p>
                  </a:txBody>
                  <a:tcPr marL="54864" marR="54864" marT="27432" marB="27432">
                    <a:solidFill>
                      <a:srgbClr val="E5F5FF"/>
                    </a:solidFill>
                  </a:tcPr>
                </a:tc>
                <a:tc>
                  <a:txBody>
                    <a:bodyPr/>
                    <a:lstStyle/>
                    <a:p>
                      <a:r>
                        <a:rPr sz="850" b="0">
                          <a:solidFill>
                            <a:srgbClr val="4B4B4B"/>
                          </a:solidFill>
                          <a:latin typeface="Arial"/>
                        </a:rPr>
                        <a:t>13.1.4</a:t>
                      </a:r>
                    </a:p>
                  </a:txBody>
                  <a:tcPr marL="54864" marR="54864" marT="27432" marB="27432">
                    <a:solidFill>
                      <a:srgbClr val="E5F5FF"/>
                    </a:solidFill>
                  </a:tcPr>
                </a:tc>
                <a:tc>
                  <a:txBody>
                    <a:bodyPr/>
                    <a:lstStyle/>
                    <a:p>
                      <a:r>
                        <a:rPr sz="850" b="0">
                          <a:solidFill>
                            <a:srgbClr val="4B4B4B"/>
                          </a:solidFill>
                          <a:latin typeface="Arial"/>
                        </a:rPr>
                        <a:t>FR-PM-021, FR-PM-022, FR-PM-023, FR-PM-024, FR-PM-005, FR-PM-073</a:t>
                      </a:r>
                    </a:p>
                  </a:txBody>
                  <a:tcPr marL="54864" marR="54864" marT="27432" marB="27432">
                    <a:solidFill>
                      <a:srgbClr val="E5F5FF"/>
                    </a:solidFill>
                  </a:tcPr>
                </a:tc>
                <a:tc>
                  <a:txBody>
                    <a:bodyPr/>
                    <a:lstStyle/>
                    <a:p>
                      <a:r>
                        <a:rPr sz="850" b="0">
                          <a:solidFill>
                            <a:srgbClr val="4B4B4B"/>
                          </a:solidFill>
                          <a:latin typeface="Arial"/>
                        </a:rPr>
                        <a:t>11</a:t>
                      </a:r>
                    </a:p>
                  </a:txBody>
                  <a:tcPr marL="54864" marR="54864" marT="27432" marB="27432">
                    <a:solidFill>
                      <a:srgbClr val="E5F5FF"/>
                    </a:solidFill>
                  </a:tcPr>
                </a:tc>
                <a:tc>
                  <a:txBody>
                    <a:bodyPr/>
                    <a:lstStyle/>
                    <a:p>
                      <a:r>
                        <a:rPr sz="850" b="0">
                          <a:solidFill>
                            <a:srgbClr val="4B4B4B"/>
                          </a:solidFill>
                          <a:latin typeface="Arial"/>
                        </a:rPr>
                        <a:t>Default, Validation error, Confirmation with reason, Success message, Read-only or locked, Pending approval, Rejected or returned</a:t>
                      </a:r>
                    </a:p>
                  </a:txBody>
                  <a:tcPr marL="54864" marR="54864" marT="27432" marB="27432">
                    <a:solidFill>
                      <a:srgbClr val="E5F5FF"/>
                    </a:solidFill>
                  </a:tcPr>
                </a:tc>
              </a:tr>
              <a:tr h="350518">
                <a:tc>
                  <a:txBody>
                    <a:bodyPr/>
                    <a:lstStyle/>
                    <a:p>
                      <a:r>
                        <a:rPr sz="850" b="0">
                          <a:solidFill>
                            <a:srgbClr val="4B4B4B"/>
                          </a:solidFill>
                          <a:latin typeface="Arial"/>
                        </a:rPr>
                        <a:t>SCR-PM-05</a:t>
                      </a:r>
                    </a:p>
                  </a:txBody>
                  <a:tcPr marL="54864" marR="54864" marT="27432" marB="27432">
                    <a:solidFill>
                      <a:srgbClr val="FFFFFF"/>
                    </a:solidFill>
                  </a:tcPr>
                </a:tc>
                <a:tc>
                  <a:txBody>
                    <a:bodyPr/>
                    <a:lstStyle/>
                    <a:p>
                      <a:r>
                        <a:rPr sz="850" b="0">
                          <a:solidFill>
                            <a:srgbClr val="4B4B4B"/>
                          </a:solidFill>
                          <a:latin typeface="Arial"/>
                        </a:rPr>
                        <a:t>Package Request record: Negotiation tab</a:t>
                      </a:r>
                    </a:p>
                  </a:txBody>
                  <a:tcPr marL="54864" marR="54864" marT="27432" marB="27432">
                    <a:solidFill>
                      <a:srgbClr val="FFFFFF"/>
                    </a:solidFill>
                  </a:tcPr>
                </a:tc>
                <a:tc>
                  <a:txBody>
                    <a:bodyPr/>
                    <a:lstStyle/>
                    <a:p>
                      <a:r>
                        <a:rPr sz="850" b="0">
                          <a:solidFill>
                            <a:srgbClr val="4B4B4B"/>
                          </a:solidFill>
                          <a:latin typeface="Arial"/>
                        </a:rPr>
                        <a:t>13.1.5</a:t>
                      </a:r>
                    </a:p>
                  </a:txBody>
                  <a:tcPr marL="54864" marR="54864" marT="27432" marB="27432">
                    <a:solidFill>
                      <a:srgbClr val="FFFFFF"/>
                    </a:solidFill>
                  </a:tcPr>
                </a:tc>
                <a:tc>
                  <a:txBody>
                    <a:bodyPr/>
                    <a:lstStyle/>
                    <a:p>
                      <a:r>
                        <a:rPr sz="850" b="0">
                          <a:solidFill>
                            <a:srgbClr val="4B4B4B"/>
                          </a:solidFill>
                          <a:latin typeface="Arial"/>
                        </a:rPr>
                        <a:t>FR-PM-030, FR-PM-031, FR-PM-032, FR-PM-033, FR-PM-004</a:t>
                      </a:r>
                    </a:p>
                  </a:txBody>
                  <a:tcPr marL="54864" marR="54864" marT="27432" marB="27432">
                    <a:solidFill>
                      <a:srgbClr val="FFFFFF"/>
                    </a:solidFill>
                  </a:tcPr>
                </a:tc>
                <a:tc>
                  <a:txBody>
                    <a:bodyPr/>
                    <a:lstStyle/>
                    <a:p>
                      <a:r>
                        <a:rPr sz="850" b="0">
                          <a:solidFill>
                            <a:srgbClr val="4B4B4B"/>
                          </a:solidFill>
                          <a:latin typeface="Arial"/>
                        </a:rPr>
                        <a:t>10</a:t>
                      </a:r>
                    </a:p>
                  </a:txBody>
                  <a:tcPr marL="54864" marR="54864" marT="27432" marB="27432">
                    <a:solidFill>
                      <a:srgbClr val="FFFFFF"/>
                    </a:solidFill>
                  </a:tcPr>
                </a:tc>
                <a:tc>
                  <a:txBody>
                    <a:bodyPr/>
                    <a:lstStyle/>
                    <a:p>
                      <a:r>
                        <a:rPr sz="850" b="0">
                          <a:solidFill>
                            <a:srgbClr val="4B4B4B"/>
                          </a:solidFill>
                          <a:latin typeface="Arial"/>
                        </a:rPr>
                        <a:t>Default, Filled, Validation error, Confirmation with reason, Success message</a:t>
                      </a:r>
                    </a:p>
                  </a:txBody>
                  <a:tcPr marL="54864" marR="54864" marT="27432" marB="27432">
                    <a:solidFill>
                      <a:srgbClr val="FFFFFF"/>
                    </a:solidFill>
                  </a:tcPr>
                </a:tc>
              </a:tr>
              <a:tr h="220979">
                <a:tc>
                  <a:txBody>
                    <a:bodyPr/>
                    <a:lstStyle/>
                    <a:p>
                      <a:r>
                        <a:rPr sz="850" b="0">
                          <a:solidFill>
                            <a:srgbClr val="4B4B4B"/>
                          </a:solidFill>
                          <a:latin typeface="Arial"/>
                        </a:rPr>
                        <a:t>SCR-PM-06</a:t>
                      </a:r>
                    </a:p>
                  </a:txBody>
                  <a:tcPr marL="54864" marR="54864" marT="27432" marB="27432">
                    <a:solidFill>
                      <a:srgbClr val="E5F5FF"/>
                    </a:solidFill>
                  </a:tcPr>
                </a:tc>
                <a:tc>
                  <a:txBody>
                    <a:bodyPr/>
                    <a:lstStyle/>
                    <a:p>
                      <a:r>
                        <a:rPr sz="850" b="0">
                          <a:solidFill>
                            <a:srgbClr val="4B4B4B"/>
                          </a:solidFill>
                          <a:latin typeface="Arial"/>
                        </a:rPr>
                        <a:t>Package Request record: Comparative tab</a:t>
                      </a:r>
                    </a:p>
                  </a:txBody>
                  <a:tcPr marL="54864" marR="54864" marT="27432" marB="27432">
                    <a:solidFill>
                      <a:srgbClr val="E5F5FF"/>
                    </a:solidFill>
                  </a:tcPr>
                </a:tc>
                <a:tc>
                  <a:txBody>
                    <a:bodyPr/>
                    <a:lstStyle/>
                    <a:p>
                      <a:r>
                        <a:rPr sz="850" b="0">
                          <a:solidFill>
                            <a:srgbClr val="4B4B4B"/>
                          </a:solidFill>
                          <a:latin typeface="Arial"/>
                        </a:rPr>
                        <a:t>13.1.6</a:t>
                      </a:r>
                    </a:p>
                  </a:txBody>
                  <a:tcPr marL="54864" marR="54864" marT="27432" marB="27432">
                    <a:solidFill>
                      <a:srgbClr val="E5F5FF"/>
                    </a:solidFill>
                  </a:tcPr>
                </a:tc>
                <a:tc>
                  <a:txBody>
                    <a:bodyPr/>
                    <a:lstStyle/>
                    <a:p>
                      <a:r>
                        <a:rPr sz="850" b="0">
                          <a:solidFill>
                            <a:srgbClr val="4B4B4B"/>
                          </a:solidFill>
                          <a:latin typeface="Arial"/>
                        </a:rPr>
                        <a:t>FR-PM-034, FR-PM-035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350518">
                <a:tc>
                  <a:txBody>
                    <a:bodyPr/>
                    <a:lstStyle/>
                    <a:p>
                      <a:r>
                        <a:rPr sz="850" b="0">
                          <a:solidFill>
                            <a:srgbClr val="4B4B4B"/>
                          </a:solidFill>
                          <a:latin typeface="Arial"/>
                        </a:rPr>
                        <a:t>SCR-PM-07</a:t>
                      </a:r>
                    </a:p>
                  </a:txBody>
                  <a:tcPr marL="54864" marR="54864" marT="27432" marB="27432">
                    <a:solidFill>
                      <a:srgbClr val="FFFFFF"/>
                    </a:solidFill>
                  </a:tcPr>
                </a:tc>
                <a:tc>
                  <a:txBody>
                    <a:bodyPr/>
                    <a:lstStyle/>
                    <a:p>
                      <a:r>
                        <a:rPr sz="850" b="0">
                          <a:solidFill>
                            <a:srgbClr val="4B4B4B"/>
                          </a:solidFill>
                          <a:latin typeface="Arial"/>
                        </a:rPr>
                        <a:t>Package Request record: Requirements &amp; Sign-off tab</a:t>
                      </a:r>
                    </a:p>
                  </a:txBody>
                  <a:tcPr marL="54864" marR="54864" marT="27432" marB="27432">
                    <a:solidFill>
                      <a:srgbClr val="FFFFFF"/>
                    </a:solidFill>
                  </a:tcPr>
                </a:tc>
                <a:tc>
                  <a:txBody>
                    <a:bodyPr/>
                    <a:lstStyle/>
                    <a:p>
                      <a:r>
                        <a:rPr sz="850" b="0">
                          <a:solidFill>
                            <a:srgbClr val="4B4B4B"/>
                          </a:solidFill>
                          <a:latin typeface="Arial"/>
                        </a:rPr>
                        <a:t>13.1.7</a:t>
                      </a:r>
                    </a:p>
                  </a:txBody>
                  <a:tcPr marL="54864" marR="54864" marT="27432" marB="27432">
                    <a:solidFill>
                      <a:srgbClr val="FFFFFF"/>
                    </a:solidFill>
                  </a:tcPr>
                </a:tc>
                <a:tc>
                  <a:txBody>
                    <a:bodyPr/>
                    <a:lstStyle/>
                    <a:p>
                      <a:r>
                        <a:rPr sz="850" b="0">
                          <a:solidFill>
                            <a:srgbClr val="4B4B4B"/>
                          </a:solidFill>
                          <a:latin typeface="Arial"/>
                        </a:rPr>
                        <a:t>FR-PM-040, FR-PM-041, FR-PM-036</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Validation error, Success message, Pending approval</a:t>
                      </a:r>
                    </a:p>
                  </a:txBody>
                  <a:tcPr marL="54864" marR="54864" marT="27432" marB="27432">
                    <a:solidFill>
                      <a:srgbClr val="FFFFFF"/>
                    </a:solidFill>
                  </a:tcPr>
                </a:tc>
              </a:tr>
              <a:tr h="350518">
                <a:tc>
                  <a:txBody>
                    <a:bodyPr/>
                    <a:lstStyle/>
                    <a:p>
                      <a:r>
                        <a:rPr sz="850" b="0">
                          <a:solidFill>
                            <a:srgbClr val="4B4B4B"/>
                          </a:solidFill>
                          <a:latin typeface="Arial"/>
                        </a:rPr>
                        <a:t>SCR-PM-08</a:t>
                      </a:r>
                    </a:p>
                  </a:txBody>
                  <a:tcPr marL="54864" marR="54864" marT="27432" marB="27432">
                    <a:solidFill>
                      <a:srgbClr val="E5F5FF"/>
                    </a:solidFill>
                  </a:tcPr>
                </a:tc>
                <a:tc>
                  <a:txBody>
                    <a:bodyPr/>
                    <a:lstStyle/>
                    <a:p>
                      <a:r>
                        <a:rPr sz="850" b="0">
                          <a:solidFill>
                            <a:srgbClr val="4B4B4B"/>
                          </a:solidFill>
                          <a:latin typeface="Arial"/>
                        </a:rPr>
                        <a:t>Package Request record: Set-up and Advisories tabs</a:t>
                      </a:r>
                    </a:p>
                  </a:txBody>
                  <a:tcPr marL="54864" marR="54864" marT="27432" marB="27432">
                    <a:solidFill>
                      <a:srgbClr val="E5F5FF"/>
                    </a:solidFill>
                  </a:tcPr>
                </a:tc>
                <a:tc>
                  <a:txBody>
                    <a:bodyPr/>
                    <a:lstStyle/>
                    <a:p>
                      <a:r>
                        <a:rPr sz="850" b="0">
                          <a:solidFill>
                            <a:srgbClr val="4B4B4B"/>
                          </a:solidFill>
                          <a:latin typeface="Arial"/>
                        </a:rPr>
                        <a:t>13.1.8</a:t>
                      </a:r>
                    </a:p>
                  </a:txBody>
                  <a:tcPr marL="54864" marR="54864" marT="27432" marB="27432">
                    <a:solidFill>
                      <a:srgbClr val="E5F5FF"/>
                    </a:solidFill>
                  </a:tcPr>
                </a:tc>
                <a:tc>
                  <a:txBody>
                    <a:bodyPr/>
                    <a:lstStyle/>
                    <a:p>
                      <a:r>
                        <a:rPr sz="850" b="0">
                          <a:solidFill>
                            <a:srgbClr val="4B4B4B"/>
                          </a:solidFill>
                          <a:latin typeface="Arial"/>
                        </a:rPr>
                        <a:t>FR-PM-042, FR-PM-043, FR-PM-044, FR-PM-045</a:t>
                      </a:r>
                    </a:p>
                  </a:txBody>
                  <a:tcPr marL="54864" marR="54864" marT="27432" marB="27432">
                    <a:solidFill>
                      <a:srgbClr val="E5F5FF"/>
                    </a:solidFill>
                  </a:tcPr>
                </a:tc>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Default, Filled, Success message, Read-only or locked, Rejected or returned</a:t>
                      </a:r>
                    </a:p>
                  </a:txBody>
                  <a:tcPr marL="54864" marR="54864" marT="27432" marB="27432">
                    <a:solidFill>
                      <a:srgbClr val="E5F5FF"/>
                    </a:solidFill>
                  </a:tcPr>
                </a:tc>
              </a:tr>
              <a:tr h="220979">
                <a:tc>
                  <a:txBody>
                    <a:bodyPr/>
                    <a:lstStyle/>
                    <a:p>
                      <a:r>
                        <a:rPr sz="850" b="0">
                          <a:solidFill>
                            <a:srgbClr val="4B4B4B"/>
                          </a:solidFill>
                          <a:latin typeface="Arial"/>
                        </a:rPr>
                        <a:t>SCR-PM-09</a:t>
                      </a:r>
                    </a:p>
                  </a:txBody>
                  <a:tcPr marL="54864" marR="54864" marT="27432" marB="27432">
                    <a:solidFill>
                      <a:srgbClr val="FFFFFF"/>
                    </a:solidFill>
                  </a:tcPr>
                </a:tc>
                <a:tc>
                  <a:txBody>
                    <a:bodyPr/>
                    <a:lstStyle/>
                    <a:p>
                      <a:r>
                        <a:rPr sz="850" b="0">
                          <a:solidFill>
                            <a:srgbClr val="4B4B4B"/>
                          </a:solidFill>
                          <a:latin typeface="Arial"/>
                        </a:rPr>
                        <a:t>TSU Workbench</a:t>
                      </a:r>
                    </a:p>
                  </a:txBody>
                  <a:tcPr marL="54864" marR="54864" marT="27432" marB="27432">
                    <a:solidFill>
                      <a:srgbClr val="FFFFFF"/>
                    </a:solidFill>
                  </a:tcPr>
                </a:tc>
                <a:tc>
                  <a:txBody>
                    <a:bodyPr/>
                    <a:lstStyle/>
                    <a:p>
                      <a:r>
                        <a:rPr sz="850" b="0">
                          <a:solidFill>
                            <a:srgbClr val="4B4B4B"/>
                          </a:solidFill>
                          <a:latin typeface="Arial"/>
                        </a:rPr>
                        <a:t>13.1.9</a:t>
                      </a:r>
                    </a:p>
                  </a:txBody>
                  <a:tcPr marL="54864" marR="54864" marT="27432" marB="27432">
                    <a:solidFill>
                      <a:srgbClr val="FFFFFF"/>
                    </a:solidFill>
                  </a:tcPr>
                </a:tc>
                <a:tc>
                  <a:txBody>
                    <a:bodyPr/>
                    <a:lstStyle/>
                    <a:p>
                      <a:r>
                        <a:rPr sz="850" b="0">
                          <a:solidFill>
                            <a:srgbClr val="4B4B4B"/>
                          </a:solidFill>
                          <a:latin typeface="Arial"/>
                        </a:rPr>
                        <a:t>FR-PM-024, FR-PM-022, FR-PM-023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SCR-PM-10</a:t>
                      </a:r>
                    </a:p>
                  </a:txBody>
                  <a:tcPr marL="54864" marR="54864" marT="27432" marB="27432">
                    <a:solidFill>
                      <a:srgbClr val="E5F5FF"/>
                    </a:solidFill>
                  </a:tcPr>
                </a:tc>
                <a:tc>
                  <a:txBody>
                    <a:bodyPr/>
                    <a:lstStyle/>
                    <a:p>
                      <a:r>
                        <a:rPr sz="850" b="0">
                          <a:solidFill>
                            <a:srgbClr val="4B4B4B"/>
                          </a:solidFill>
                          <a:latin typeface="Arial"/>
                        </a:rPr>
                        <a:t>Package Expiry</a:t>
                      </a:r>
                    </a:p>
                  </a:txBody>
                  <a:tcPr marL="54864" marR="54864" marT="27432" marB="27432">
                    <a:solidFill>
                      <a:srgbClr val="E5F5FF"/>
                    </a:solidFill>
                  </a:tcPr>
                </a:tc>
                <a:tc>
                  <a:txBody>
                    <a:bodyPr/>
                    <a:lstStyle/>
                    <a:p>
                      <a:r>
                        <a:rPr sz="850" b="0">
                          <a:solidFill>
                            <a:srgbClr val="4B4B4B"/>
                          </a:solidFill>
                          <a:latin typeface="Arial"/>
                        </a:rPr>
                        <a:t>13.1.10</a:t>
                      </a:r>
                    </a:p>
                  </a:txBody>
                  <a:tcPr marL="54864" marR="54864" marT="27432" marB="27432">
                    <a:solidFill>
                      <a:srgbClr val="E5F5FF"/>
                    </a:solidFill>
                  </a:tcPr>
                </a:tc>
                <a:tc>
                  <a:txBody>
                    <a:bodyPr/>
                    <a:lstStyle/>
                    <a:p>
                      <a:r>
                        <a:rPr sz="850" b="0">
                          <a:solidFill>
                            <a:srgbClr val="4B4B4B"/>
                          </a:solidFill>
                          <a:latin typeface="Arial"/>
                        </a:rPr>
                        <a:t>FR-PM-060, FR-PM-061, FR-PM-052</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350518">
                <a:tc>
                  <a:txBody>
                    <a:bodyPr/>
                    <a:lstStyle/>
                    <a:p>
                      <a:r>
                        <a:rPr sz="850" b="0">
                          <a:solidFill>
                            <a:srgbClr val="4B4B4B"/>
                          </a:solidFill>
                          <a:latin typeface="Arial"/>
                        </a:rPr>
                        <a:t>SCR-PM-11</a:t>
                      </a:r>
                    </a:p>
                  </a:txBody>
                  <a:tcPr marL="54864" marR="54864" marT="27432" marB="27432">
                    <a:solidFill>
                      <a:srgbClr val="FFFFFF"/>
                    </a:solidFill>
                  </a:tcPr>
                </a:tc>
                <a:tc>
                  <a:txBody>
                    <a:bodyPr/>
                    <a:lstStyle/>
                    <a:p>
                      <a:r>
                        <a:rPr sz="850" b="0">
                          <a:solidFill>
                            <a:srgbClr val="4B4B4B"/>
                          </a:solidFill>
                          <a:latin typeface="Arial"/>
                        </a:rPr>
                        <a:t>Products</a:t>
                      </a:r>
                    </a:p>
                  </a:txBody>
                  <a:tcPr marL="54864" marR="54864" marT="27432" marB="27432">
                    <a:solidFill>
                      <a:srgbClr val="FFFFFF"/>
                    </a:solidFill>
                  </a:tcPr>
                </a:tc>
                <a:tc>
                  <a:txBody>
                    <a:bodyPr/>
                    <a:lstStyle/>
                    <a:p>
                      <a:r>
                        <a:rPr sz="850" b="0">
                          <a:solidFill>
                            <a:srgbClr val="4B4B4B"/>
                          </a:solidFill>
                          <a:latin typeface="Arial"/>
                        </a:rPr>
                        <a:t>13.2.1</a:t>
                      </a:r>
                    </a:p>
                  </a:txBody>
                  <a:tcPr marL="54864" marR="54864" marT="27432" marB="27432">
                    <a:solidFill>
                      <a:srgbClr val="FFFFFF"/>
                    </a:solidFill>
                  </a:tcPr>
                </a:tc>
                <a:tc>
                  <a:txBody>
                    <a:bodyPr/>
                    <a:lstStyle/>
                    <a:p>
                      <a:r>
                        <a:rPr sz="850" b="0">
                          <a:solidFill>
                            <a:srgbClr val="4B4B4B"/>
                          </a:solidFill>
                          <a:latin typeface="Arial"/>
                        </a:rPr>
                        <a:t>FR-PM-010, FR-PM-012, FR-PM-013, FR-PM-050, FR-PM-052</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Read-only or locked, Pending approval</a:t>
                      </a:r>
                    </a:p>
                  </a:txBody>
                  <a:tcPr marL="54864" marR="54864" marT="27432" marB="27432">
                    <a:solidFill>
                      <a:srgbClr val="FFFFFF"/>
                    </a:solidFill>
                  </a:tcPr>
                </a:tc>
              </a:tr>
              <a:tr h="220979">
                <a:tc>
                  <a:txBody>
                    <a:bodyPr/>
                    <a:lstStyle/>
                    <a:p>
                      <a:r>
                        <a:rPr sz="850" b="0">
                          <a:solidFill>
                            <a:srgbClr val="4B4B4B"/>
                          </a:solidFill>
                          <a:latin typeface="Arial"/>
                        </a:rPr>
                        <a:t>SCR-PM-12</a:t>
                      </a:r>
                    </a:p>
                  </a:txBody>
                  <a:tcPr marL="54864" marR="54864" marT="27432" marB="27432">
                    <a:solidFill>
                      <a:srgbClr val="E5F5FF"/>
                    </a:solidFill>
                  </a:tcPr>
                </a:tc>
                <a:tc>
                  <a:txBody>
                    <a:bodyPr/>
                    <a:lstStyle/>
                    <a:p>
                      <a:r>
                        <a:rPr sz="850" b="0">
                          <a:solidFill>
                            <a:srgbClr val="4B4B4B"/>
                          </a:solidFill>
                          <a:latin typeface="Arial"/>
                        </a:rPr>
                        <a:t>Product record</a:t>
                      </a:r>
                    </a:p>
                  </a:txBody>
                  <a:tcPr marL="54864" marR="54864" marT="27432" marB="27432">
                    <a:solidFill>
                      <a:srgbClr val="E5F5FF"/>
                    </a:solidFill>
                  </a:tcPr>
                </a:tc>
                <a:tc>
                  <a:txBody>
                    <a:bodyPr/>
                    <a:lstStyle/>
                    <a:p>
                      <a:r>
                        <a:rPr sz="850" b="0">
                          <a:solidFill>
                            <a:srgbClr val="4B4B4B"/>
                          </a:solidFill>
                          <a:latin typeface="Arial"/>
                        </a:rPr>
                        <a:t>13.2.2</a:t>
                      </a:r>
                    </a:p>
                  </a:txBody>
                  <a:tcPr marL="54864" marR="54864" marT="27432" marB="27432">
                    <a:solidFill>
                      <a:srgbClr val="E5F5FF"/>
                    </a:solidFill>
                  </a:tcPr>
                </a:tc>
                <a:tc>
                  <a:txBody>
                    <a:bodyPr/>
                    <a:lstStyle/>
                    <a:p>
                      <a:r>
                        <a:rPr sz="850" b="0">
                          <a:solidFill>
                            <a:srgbClr val="4B4B4B"/>
                          </a:solidFill>
                          <a:latin typeface="Arial"/>
                        </a:rPr>
                        <a:t>FR-PM-050, FR-PM-012, FR-PM-013, FR-PM-042</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350518">
                <a:tc>
                  <a:txBody>
                    <a:bodyPr/>
                    <a:lstStyle/>
                    <a:p>
                      <a:r>
                        <a:rPr sz="850" b="0">
                          <a:solidFill>
                            <a:srgbClr val="4B4B4B"/>
                          </a:solidFill>
                          <a:latin typeface="Arial"/>
                        </a:rPr>
                        <a:t>SCR-PM-13</a:t>
                      </a:r>
                    </a:p>
                  </a:txBody>
                  <a:tcPr marL="54864" marR="54864" marT="27432" marB="27432">
                    <a:solidFill>
                      <a:srgbClr val="FFFFFF"/>
                    </a:solidFill>
                  </a:tcPr>
                </a:tc>
                <a:tc>
                  <a:txBody>
                    <a:bodyPr/>
                    <a:lstStyle/>
                    <a:p>
                      <a:r>
                        <a:rPr sz="850" b="0">
                          <a:solidFill>
                            <a:srgbClr val="4B4B4B"/>
                          </a:solidFill>
                          <a:latin typeface="Arial"/>
                        </a:rPr>
                        <a:t>Package Version</a:t>
                      </a:r>
                    </a:p>
                  </a:txBody>
                  <a:tcPr marL="54864" marR="54864" marT="27432" marB="27432">
                    <a:solidFill>
                      <a:srgbClr val="FFFFFF"/>
                    </a:solidFill>
                  </a:tcPr>
                </a:tc>
                <a:tc>
                  <a:txBody>
                    <a:bodyPr/>
                    <a:lstStyle/>
                    <a:p>
                      <a:r>
                        <a:rPr sz="850" b="0">
                          <a:solidFill>
                            <a:srgbClr val="4B4B4B"/>
                          </a:solidFill>
                          <a:latin typeface="Arial"/>
                        </a:rPr>
                        <a:t>13.2.3</a:t>
                      </a:r>
                    </a:p>
                  </a:txBody>
                  <a:tcPr marL="54864" marR="54864" marT="27432" marB="27432">
                    <a:solidFill>
                      <a:srgbClr val="FFFFFF"/>
                    </a:solidFill>
                  </a:tcPr>
                </a:tc>
                <a:tc>
                  <a:txBody>
                    <a:bodyPr/>
                    <a:lstStyle/>
                    <a:p>
                      <a:r>
                        <a:rPr sz="850" b="0">
                          <a:solidFill>
                            <a:srgbClr val="4B4B4B"/>
                          </a:solidFill>
                          <a:latin typeface="Arial"/>
                        </a:rPr>
                        <a:t>FR-PM-043, FR-PM-050, FR-PM-014, FR-PM-011, FR-PM-042</a:t>
                      </a:r>
                    </a:p>
                  </a:txBody>
                  <a:tcPr marL="54864" marR="54864" marT="27432" marB="27432">
                    <a:solidFill>
                      <a:srgbClr val="FFFFFF"/>
                    </a:solidFill>
                  </a:tcPr>
                </a:tc>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Default, Validation error, Success message, Read-only or locked, Pending approval, Rejected or returned</a:t>
                      </a:r>
                    </a:p>
                  </a:txBody>
                  <a:tcPr marL="54864" marR="54864" marT="27432" marB="27432">
                    <a:solidFill>
                      <a:srgbClr val="FFFFFF"/>
                    </a:solidFill>
                  </a:tcPr>
                </a:tc>
              </a:tr>
              <a:tr h="220979">
                <a:tc>
                  <a:txBody>
                    <a:bodyPr/>
                    <a:lstStyle/>
                    <a:p>
                      <a:r>
                        <a:rPr sz="850" b="0">
                          <a:solidFill>
                            <a:srgbClr val="4B4B4B"/>
                          </a:solidFill>
                          <a:latin typeface="Arial"/>
                        </a:rPr>
                        <a:t>SCR-PM-14</a:t>
                      </a:r>
                    </a:p>
                  </a:txBody>
                  <a:tcPr marL="54864" marR="54864" marT="27432" marB="27432">
                    <a:solidFill>
                      <a:srgbClr val="E5F5FF"/>
                    </a:solidFill>
                  </a:tcPr>
                </a:tc>
                <a:tc>
                  <a:txBody>
                    <a:bodyPr/>
                    <a:lstStyle/>
                    <a:p>
                      <a:r>
                        <a:rPr sz="850" b="0">
                          <a:solidFill>
                            <a:srgbClr val="4B4B4B"/>
                          </a:solidFill>
                          <a:latin typeface="Arial"/>
                        </a:rPr>
                        <a:t>Validation Queue</a:t>
                      </a:r>
                    </a:p>
                  </a:txBody>
                  <a:tcPr marL="54864" marR="54864" marT="27432" marB="27432">
                    <a:solidFill>
                      <a:srgbClr val="E5F5FF"/>
                    </a:solidFill>
                  </a:tcPr>
                </a:tc>
                <a:tc>
                  <a:txBody>
                    <a:bodyPr/>
                    <a:lstStyle/>
                    <a:p>
                      <a:r>
                        <a:rPr sz="850" b="0">
                          <a:solidFill>
                            <a:srgbClr val="4B4B4B"/>
                          </a:solidFill>
                          <a:latin typeface="Arial"/>
                        </a:rPr>
                        <a:t>13.2.4</a:t>
                      </a:r>
                    </a:p>
                  </a:txBody>
                  <a:tcPr marL="54864" marR="54864" marT="27432" marB="27432">
                    <a:solidFill>
                      <a:srgbClr val="E5F5FF"/>
                    </a:solidFill>
                  </a:tcPr>
                </a:tc>
                <a:tc>
                  <a:txBody>
                    <a:bodyPr/>
                    <a:lstStyle/>
                    <a:p>
                      <a:r>
                        <a:rPr sz="850" b="0">
                          <a:solidFill>
                            <a:srgbClr val="4B4B4B"/>
                          </a:solidFill>
                          <a:latin typeface="Arial"/>
                        </a:rPr>
                        <a:t>FR-PM-043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Pending approval</a:t>
                      </a:r>
                    </a:p>
                  </a:txBody>
                  <a:tcPr marL="54864" marR="54864" marT="27432" marB="27432">
                    <a:solidFill>
                      <a:srgbClr val="E5F5FF"/>
                    </a:solidFill>
                  </a:tcPr>
                </a:tc>
              </a:tr>
              <a:tr h="220979">
                <a:tc>
                  <a:txBody>
                    <a:bodyPr/>
                    <a:lstStyle/>
                    <a:p>
                      <a:r>
                        <a:rPr sz="850" b="0">
                          <a:solidFill>
                            <a:srgbClr val="4B4B4B"/>
                          </a:solidFill>
                          <a:latin typeface="Arial"/>
                        </a:rPr>
                        <a:t>SCR-PM-15</a:t>
                      </a:r>
                    </a:p>
                  </a:txBody>
                  <a:tcPr marL="54864" marR="54864" marT="27432" marB="27432">
                    <a:solidFill>
                      <a:srgbClr val="FFFFFF"/>
                    </a:solidFill>
                  </a:tcPr>
                </a:tc>
                <a:tc>
                  <a:txBody>
                    <a:bodyPr/>
                    <a:lstStyle/>
                    <a:p>
                      <a:r>
                        <a:rPr sz="850" b="0">
                          <a:solidFill>
                            <a:srgbClr val="4B4B4B"/>
                          </a:solidFill>
                          <a:latin typeface="Arial"/>
                        </a:rPr>
                        <a:t>Coverages &amp; Clauses</a:t>
                      </a:r>
                    </a:p>
                  </a:txBody>
                  <a:tcPr marL="54864" marR="54864" marT="27432" marB="27432">
                    <a:solidFill>
                      <a:srgbClr val="FFFFFF"/>
                    </a:solidFill>
                  </a:tcPr>
                </a:tc>
                <a:tc>
                  <a:txBody>
                    <a:bodyPr/>
                    <a:lstStyle/>
                    <a:p>
                      <a:r>
                        <a:rPr sz="850" b="0">
                          <a:solidFill>
                            <a:srgbClr val="4B4B4B"/>
                          </a:solidFill>
                          <a:latin typeface="Arial"/>
                        </a:rPr>
                        <a:t>13.2.5</a:t>
                      </a:r>
                    </a:p>
                  </a:txBody>
                  <a:tcPr marL="54864" marR="54864" marT="27432" marB="27432">
                    <a:solidFill>
                      <a:srgbClr val="FFFFFF"/>
                    </a:solidFill>
                  </a:tcPr>
                </a:tc>
                <a:tc>
                  <a:txBody>
                    <a:bodyPr/>
                    <a:lstStyle/>
                    <a:p>
                      <a:r>
                        <a:rPr sz="850" b="0">
                          <a:solidFill>
                            <a:srgbClr val="4B4B4B"/>
                          </a:solidFill>
                          <a:latin typeface="Arial"/>
                        </a:rPr>
                        <a:t>FR-PM-010, FR-PM-011</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SCR-PM-16</a:t>
                      </a:r>
                    </a:p>
                  </a:txBody>
                  <a:tcPr marL="54864" marR="54864" marT="27432" marB="27432">
                    <a:solidFill>
                      <a:srgbClr val="E5F5FF"/>
                    </a:solidFill>
                  </a:tcPr>
                </a:tc>
                <a:tc>
                  <a:txBody>
                    <a:bodyPr/>
                    <a:lstStyle/>
                    <a:p>
                      <a:r>
                        <a:rPr sz="850" b="0">
                          <a:solidFill>
                            <a:srgbClr val="4B4B4B"/>
                          </a:solidFill>
                          <a:latin typeface="Arial"/>
                        </a:rPr>
                        <a:t>Incentive Criteria</a:t>
                      </a:r>
                    </a:p>
                  </a:txBody>
                  <a:tcPr marL="54864" marR="54864" marT="27432" marB="27432">
                    <a:solidFill>
                      <a:srgbClr val="E5F5FF"/>
                    </a:solidFill>
                  </a:tcPr>
                </a:tc>
                <a:tc>
                  <a:txBody>
                    <a:bodyPr/>
                    <a:lstStyle/>
                    <a:p>
                      <a:r>
                        <a:rPr sz="850" b="0">
                          <a:solidFill>
                            <a:srgbClr val="4B4B4B"/>
                          </a:solidFill>
                          <a:latin typeface="Arial"/>
                        </a:rPr>
                        <a:t>13.2.6</a:t>
                      </a:r>
                    </a:p>
                  </a:txBody>
                  <a:tcPr marL="54864" marR="54864" marT="27432" marB="27432">
                    <a:solidFill>
                      <a:srgbClr val="E5F5FF"/>
                    </a:solidFill>
                  </a:tcPr>
                </a:tc>
                <a:tc>
                  <a:txBody>
                    <a:bodyPr/>
                    <a:lstStyle/>
                    <a:p>
                      <a:r>
                        <a:rPr sz="850" b="0">
                          <a:solidFill>
                            <a:srgbClr val="4B4B4B"/>
                          </a:solidFill>
                          <a:latin typeface="Arial"/>
                        </a:rPr>
                        <a:t>FR-PM-080, FR-PM-081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Filled</a:t>
                      </a:r>
                    </a:p>
                  </a:txBody>
                  <a:tcPr marL="54864" marR="54864" marT="27432" marB="27432">
                    <a:solidFill>
                      <a:srgbClr val="E5F5FF"/>
                    </a:solidFill>
                  </a:tcPr>
                </a:tc>
              </a:tr>
              <a:tr h="220979">
                <a:tc>
                  <a:txBody>
                    <a:bodyPr/>
                    <a:lstStyle/>
                    <a:p>
                      <a:r>
                        <a:rPr sz="850" b="0">
                          <a:solidFill>
                            <a:srgbClr val="4B4B4B"/>
                          </a:solidFill>
                          <a:latin typeface="Arial"/>
                        </a:rPr>
                        <a:t>SCR-PM-17</a:t>
                      </a:r>
                    </a:p>
                  </a:txBody>
                  <a:tcPr marL="54864" marR="54864" marT="27432" marB="27432">
                    <a:solidFill>
                      <a:srgbClr val="FFFFFF"/>
                    </a:solidFill>
                  </a:tcPr>
                </a:tc>
                <a:tc>
                  <a:txBody>
                    <a:bodyPr/>
                    <a:lstStyle/>
                    <a:p>
                      <a:r>
                        <a:rPr sz="850" b="0">
                          <a:solidFill>
                            <a:srgbClr val="4B4B4B"/>
                          </a:solidFill>
                          <a:latin typeface="Arial"/>
                        </a:rPr>
                        <a:t>Insurers</a:t>
                      </a:r>
                    </a:p>
                  </a:txBody>
                  <a:tcPr marL="54864" marR="54864" marT="27432" marB="27432">
                    <a:solidFill>
                      <a:srgbClr val="FFFFFF"/>
                    </a:solidFill>
                  </a:tcPr>
                </a:tc>
                <a:tc>
                  <a:txBody>
                    <a:bodyPr/>
                    <a:lstStyle/>
                    <a:p>
                      <a:r>
                        <a:rPr sz="850" b="0">
                          <a:solidFill>
                            <a:srgbClr val="4B4B4B"/>
                          </a:solidFill>
                          <a:latin typeface="Arial"/>
                        </a:rPr>
                        <a:t>13.3.1</a:t>
                      </a:r>
                    </a:p>
                  </a:txBody>
                  <a:tcPr marL="54864" marR="54864" marT="27432" marB="27432">
                    <a:solidFill>
                      <a:srgbClr val="FFFFFF"/>
                    </a:solidFill>
                  </a:tcPr>
                </a:tc>
                <a:tc>
                  <a:txBody>
                    <a:bodyPr/>
                    <a:lstStyle/>
                    <a:p>
                      <a:r>
                        <a:rPr sz="850" b="0">
                          <a:solidFill>
                            <a:srgbClr val="4B4B4B"/>
                          </a:solidFill>
                          <a:latin typeface="Arial"/>
                        </a:rPr>
                        <a:t>FR-PM-014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Read-only or locked</a:t>
                      </a:r>
                    </a:p>
                  </a:txBody>
                  <a:tcPr marL="54864" marR="54864" marT="27432" marB="27432">
                    <a:solidFill>
                      <a:srgbClr val="FFFFFF"/>
                    </a:solidFill>
                  </a:tcPr>
                </a:tc>
              </a:tr>
            </a:tbl>
          </a:graphicData>
        </a:graphic>
      </p:graphicFrame>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389</a:t>
            </a:r>
          </a:p>
        </p:txBody>
      </p:sp>
      <p:graphicFrame>
        <p:nvGraphicFramePr>
          <p:cNvPr id="9" name="Table 8"/>
          <p:cNvGraphicFramePr>
            <a:graphicFrameLocks noGrp="1"/>
          </p:cNvGraphicFramePr>
          <p:nvPr/>
        </p:nvGraphicFramePr>
        <p:xfrm>
          <a:off x="548640" y="1325880"/>
          <a:ext cx="11094412" cy="477009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SCR-PM-18</a:t>
                      </a:r>
                    </a:p>
                  </a:txBody>
                  <a:tcPr marL="54864" marR="54864" marT="27432" marB="27432">
                    <a:solidFill>
                      <a:srgbClr val="FFFFFF"/>
                    </a:solidFill>
                  </a:tcPr>
                </a:tc>
                <a:tc>
                  <a:txBody>
                    <a:bodyPr/>
                    <a:lstStyle/>
                    <a:p>
                      <a:r>
                        <a:rPr sz="850" b="0">
                          <a:solidFill>
                            <a:srgbClr val="4B4B4B"/>
                          </a:solidFill>
                          <a:latin typeface="Arial"/>
                        </a:rPr>
                        <a:t>Insurer record</a:t>
                      </a:r>
                    </a:p>
                  </a:txBody>
                  <a:tcPr marL="54864" marR="54864" marT="27432" marB="27432">
                    <a:solidFill>
                      <a:srgbClr val="FFFFFF"/>
                    </a:solidFill>
                  </a:tcPr>
                </a:tc>
                <a:tc>
                  <a:txBody>
                    <a:bodyPr/>
                    <a:lstStyle/>
                    <a:p>
                      <a:r>
                        <a:rPr sz="850" b="0">
                          <a:solidFill>
                            <a:srgbClr val="4B4B4B"/>
                          </a:solidFill>
                          <a:latin typeface="Arial"/>
                        </a:rPr>
                        <a:t>13.3.2</a:t>
                      </a:r>
                    </a:p>
                  </a:txBody>
                  <a:tcPr marL="54864" marR="54864" marT="27432" marB="27432">
                    <a:solidFill>
                      <a:srgbClr val="FFFFFF"/>
                    </a:solidFill>
                  </a:tcPr>
                </a:tc>
                <a:tc>
                  <a:txBody>
                    <a:bodyPr/>
                    <a:lstStyle/>
                    <a:p>
                      <a:r>
                        <a:rPr sz="850" b="0">
                          <a:solidFill>
                            <a:srgbClr val="4B4B4B"/>
                          </a:solidFill>
                          <a:latin typeface="Arial"/>
                        </a:rPr>
                        <a:t>FR-PM-014</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Success message</a:t>
                      </a:r>
                    </a:p>
                  </a:txBody>
                  <a:tcPr marL="54864" marR="54864" marT="27432" marB="27432">
                    <a:solidFill>
                      <a:srgbClr val="FFFFFF"/>
                    </a:solidFill>
                  </a:tcPr>
                </a:tc>
              </a:tr>
              <a:tr h="220979">
                <a:tc>
                  <a:txBody>
                    <a:bodyPr/>
                    <a:lstStyle/>
                    <a:p>
                      <a:r>
                        <a:rPr sz="850" b="0">
                          <a:solidFill>
                            <a:srgbClr val="4B4B4B"/>
                          </a:solidFill>
                          <a:latin typeface="Arial"/>
                        </a:rPr>
                        <a:t>SCR-PM-19</a:t>
                      </a:r>
                    </a:p>
                  </a:txBody>
                  <a:tcPr marL="54864" marR="54864" marT="27432" marB="27432">
                    <a:solidFill>
                      <a:srgbClr val="E5F5FF"/>
                    </a:solidFill>
                  </a:tcPr>
                </a:tc>
                <a:tc>
                  <a:txBody>
                    <a:bodyPr/>
                    <a:lstStyle/>
                    <a:p>
                      <a:r>
                        <a:rPr sz="850" b="0">
                          <a:solidFill>
                            <a:srgbClr val="4B4B4B"/>
                          </a:solidFill>
                          <a:latin typeface="Arial"/>
                        </a:rPr>
                        <a:t>Rates &amp; Taxes</a:t>
                      </a:r>
                    </a:p>
                  </a:txBody>
                  <a:tcPr marL="54864" marR="54864" marT="27432" marB="27432">
                    <a:solidFill>
                      <a:srgbClr val="E5F5FF"/>
                    </a:solidFill>
                  </a:tcPr>
                </a:tc>
                <a:tc>
                  <a:txBody>
                    <a:bodyPr/>
                    <a:lstStyle/>
                    <a:p>
                      <a:r>
                        <a:rPr sz="850" b="0">
                          <a:solidFill>
                            <a:srgbClr val="4B4B4B"/>
                          </a:solidFill>
                          <a:latin typeface="Arial"/>
                        </a:rPr>
                        <a:t>13.3.3</a:t>
                      </a:r>
                    </a:p>
                  </a:txBody>
                  <a:tcPr marL="54864" marR="54864" marT="27432" marB="27432">
                    <a:solidFill>
                      <a:srgbClr val="E5F5FF"/>
                    </a:solidFill>
                  </a:tcPr>
                </a:tc>
                <a:tc>
                  <a:txBody>
                    <a:bodyPr/>
                    <a:lstStyle/>
                    <a:p>
                      <a:r>
                        <a:rPr sz="850" b="0">
                          <a:solidFill>
                            <a:srgbClr val="4B4B4B"/>
                          </a:solidFill>
                          <a:latin typeface="Arial"/>
                        </a:rPr>
                        <a:t>FR-PM-051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SCR-PM-20</a:t>
                      </a:r>
                    </a:p>
                  </a:txBody>
                  <a:tcPr marL="54864" marR="54864" marT="27432" marB="27432">
                    <a:solidFill>
                      <a:srgbClr val="FFFFFF"/>
                    </a:solidFill>
                  </a:tcPr>
                </a:tc>
                <a:tc>
                  <a:txBody>
                    <a:bodyPr/>
                    <a:lstStyle/>
                    <a:p>
                      <a:r>
                        <a:rPr sz="850" b="0">
                          <a:solidFill>
                            <a:srgbClr val="4B4B4B"/>
                          </a:solidFill>
                          <a:latin typeface="Arial"/>
                        </a:rPr>
                        <a:t>Sales Organisation</a:t>
                      </a:r>
                    </a:p>
                  </a:txBody>
                  <a:tcPr marL="54864" marR="54864" marT="27432" marB="27432">
                    <a:solidFill>
                      <a:srgbClr val="FFFFFF"/>
                    </a:solidFill>
                  </a:tcPr>
                </a:tc>
                <a:tc>
                  <a:txBody>
                    <a:bodyPr/>
                    <a:lstStyle/>
                    <a:p>
                      <a:r>
                        <a:rPr sz="850" b="0">
                          <a:solidFill>
                            <a:srgbClr val="4B4B4B"/>
                          </a:solidFill>
                          <a:latin typeface="Arial"/>
                        </a:rPr>
                        <a:t>13.3.4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Default, Validation error</a:t>
                      </a:r>
                    </a:p>
                  </a:txBody>
                  <a:tcPr marL="54864" marR="54864" marT="27432" marB="27432">
                    <a:solidFill>
                      <a:srgbClr val="FFFFFF"/>
                    </a:solidFill>
                  </a:tcPr>
                </a:tc>
              </a:tr>
              <a:tr h="220979">
                <a:tc>
                  <a:txBody>
                    <a:bodyPr/>
                    <a:lstStyle/>
                    <a:p>
                      <a:r>
                        <a:rPr sz="850" b="0">
                          <a:solidFill>
                            <a:srgbClr val="4B4B4B"/>
                          </a:solidFill>
                          <a:latin typeface="Arial"/>
                        </a:rPr>
                        <a:t>SCR-PM-21</a:t>
                      </a:r>
                    </a:p>
                  </a:txBody>
                  <a:tcPr marL="54864" marR="54864" marT="27432" marB="27432">
                    <a:solidFill>
                      <a:srgbClr val="E5F5FF"/>
                    </a:solidFill>
                  </a:tcPr>
                </a:tc>
                <a:tc>
                  <a:txBody>
                    <a:bodyPr/>
                    <a:lstStyle/>
                    <a:p>
                      <a:r>
                        <a:rPr sz="850" b="0">
                          <a:solidFill>
                            <a:srgbClr val="4B4B4B"/>
                          </a:solidFill>
                          <a:latin typeface="Arial"/>
                        </a:rPr>
                        <a:t>Premium Calculator</a:t>
                      </a:r>
                    </a:p>
                  </a:txBody>
                  <a:tcPr marL="54864" marR="54864" marT="27432" marB="27432">
                    <a:solidFill>
                      <a:srgbClr val="E5F5FF"/>
                    </a:solidFill>
                  </a:tcPr>
                </a:tc>
                <a:tc>
                  <a:txBody>
                    <a:bodyPr/>
                    <a:lstStyle/>
                    <a:p>
                      <a:r>
                        <a:rPr sz="850" b="0">
                          <a:solidFill>
                            <a:srgbClr val="4B4B4B"/>
                          </a:solidFill>
                          <a:latin typeface="Arial"/>
                        </a:rPr>
                        <a:t>13.3.5</a:t>
                      </a:r>
                    </a:p>
                  </a:txBody>
                  <a:tcPr marL="54864" marR="54864" marT="27432" marB="27432">
                    <a:solidFill>
                      <a:srgbClr val="E5F5FF"/>
                    </a:solidFill>
                  </a:tcPr>
                </a:tc>
                <a:tc>
                  <a:txBody>
                    <a:bodyPr/>
                    <a:lstStyle/>
                    <a:p>
                      <a:r>
                        <a:rPr sz="850" b="0">
                          <a:solidFill>
                            <a:srgbClr val="4B4B4B"/>
                          </a:solidFill>
                          <a:latin typeface="Arial"/>
                        </a:rPr>
                        <a:t>FR-PM-051, FR-PM-052</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Filled, Success message</a:t>
                      </a:r>
                    </a:p>
                  </a:txBody>
                  <a:tcPr marL="54864" marR="54864" marT="27432" marB="27432">
                    <a:solidFill>
                      <a:srgbClr val="E5F5FF"/>
                    </a:solidFill>
                  </a:tcPr>
                </a:tc>
              </a:tr>
              <a:tr h="350518">
                <a:tc>
                  <a:txBody>
                    <a:bodyPr/>
                    <a:lstStyle/>
                    <a:p>
                      <a:r>
                        <a:rPr sz="850" b="0">
                          <a:solidFill>
                            <a:srgbClr val="4B4B4B"/>
                          </a:solidFill>
                          <a:latin typeface="Arial"/>
                        </a:rPr>
                        <a:t>SCR-PM-22</a:t>
                      </a:r>
                    </a:p>
                  </a:txBody>
                  <a:tcPr marL="54864" marR="54864" marT="27432" marB="27432">
                    <a:solidFill>
                      <a:srgbClr val="FFFFFF"/>
                    </a:solidFill>
                  </a:tcPr>
                </a:tc>
                <a:tc>
                  <a:txBody>
                    <a:bodyPr/>
                    <a:lstStyle/>
                    <a:p>
                      <a:r>
                        <a:rPr sz="850" b="0">
                          <a:solidFill>
                            <a:srgbClr val="4B4B4B"/>
                          </a:solidFill>
                          <a:latin typeface="Arial"/>
                        </a:rPr>
                        <a:t>Quotation: package rate scheme and rate exception</a:t>
                      </a:r>
                    </a:p>
                  </a:txBody>
                  <a:tcPr marL="54864" marR="54864" marT="27432" marB="27432">
                    <a:solidFill>
                      <a:srgbClr val="FFFFFF"/>
                    </a:solidFill>
                  </a:tcPr>
                </a:tc>
                <a:tc>
                  <a:txBody>
                    <a:bodyPr/>
                    <a:lstStyle/>
                    <a:p>
                      <a:r>
                        <a:rPr sz="850" b="0">
                          <a:solidFill>
                            <a:srgbClr val="4B4B4B"/>
                          </a:solidFill>
                          <a:latin typeface="Arial"/>
                        </a:rPr>
                        <a:t>13.3.6</a:t>
                      </a:r>
                    </a:p>
                  </a:txBody>
                  <a:tcPr marL="54864" marR="54864" marT="27432" marB="27432">
                    <a:solidFill>
                      <a:srgbClr val="FFFFFF"/>
                    </a:solidFill>
                  </a:tcPr>
                </a:tc>
                <a:tc>
                  <a:txBody>
                    <a:bodyPr/>
                    <a:lstStyle/>
                    <a:p>
                      <a:r>
                        <a:rPr sz="850" b="0">
                          <a:solidFill>
                            <a:srgbClr val="4B4B4B"/>
                          </a:solidFill>
                          <a:latin typeface="Arial"/>
                        </a:rPr>
                        <a:t>FR-PM-051</a:t>
                      </a:r>
                    </a:p>
                  </a:txBody>
                  <a:tcPr marL="54864" marR="54864" marT="27432" marB="27432">
                    <a:solidFill>
                      <a:srgbClr val="FFFFFF"/>
                    </a:solidFill>
                  </a:tcPr>
                </a:tc>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Filled, Confirmation with reason, Success message, Pending approval</a:t>
                      </a:r>
                    </a:p>
                  </a:txBody>
                  <a:tcPr marL="54864" marR="54864" marT="27432" marB="27432">
                    <a:solidFill>
                      <a:srgbClr val="FFFFFF"/>
                    </a:solidFill>
                  </a:tcPr>
                </a:tc>
              </a:tr>
              <a:tr h="220979">
                <a:tc>
                  <a:txBody>
                    <a:bodyPr/>
                    <a:lstStyle/>
                    <a:p>
                      <a:r>
                        <a:rPr sz="850" b="0">
                          <a:solidFill>
                            <a:srgbClr val="4B4B4B"/>
                          </a:solidFill>
                          <a:latin typeface="Arial"/>
                        </a:rPr>
                        <a:t>NAV-PM-01</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NAV-PM-02</a:t>
                      </a:r>
                    </a:p>
                  </a:txBody>
                  <a:tcPr marL="54864" marR="54864" marT="27432" marB="27432">
                    <a:solidFill>
                      <a:srgbClr val="FFFFFF"/>
                    </a:solidFill>
                  </a:tcPr>
                </a:tc>
                <a:tc>
                  <a:txBody>
                    <a:bodyPr/>
                    <a:lstStyle/>
                    <a:p>
                      <a:r>
                        <a:rPr sz="850" b="0">
                          <a:solidFill>
                            <a:srgbClr val="4B4B4B"/>
                          </a:solidFill>
                          <a:latin typeface="Arial"/>
                        </a:rPr>
                        <a:t>Landing page and menu: Marketing TL / TH / UH</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NAV-PM-03</a:t>
                      </a:r>
                    </a:p>
                  </a:txBody>
                  <a:tcPr marL="54864" marR="54864" marT="27432" marB="27432">
                    <a:solidFill>
                      <a:srgbClr val="E5F5FF"/>
                    </a:solidFill>
                  </a:tcPr>
                </a:tc>
                <a:tc>
                  <a:txBody>
                    <a:bodyPr/>
                    <a:lstStyle/>
                    <a:p>
                      <a:r>
                        <a:rPr sz="850" b="0">
                          <a:solidFill>
                            <a:srgbClr val="4B4B4B"/>
                          </a:solidFill>
                          <a:latin typeface="Arial"/>
                        </a:rPr>
                        <a:t>Landing page and menu: TSU Officer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NAV-PM-04</a:t>
                      </a:r>
                    </a:p>
                  </a:txBody>
                  <a:tcPr marL="54864" marR="54864" marT="27432" marB="27432">
                    <a:solidFill>
                      <a:srgbClr val="FFFFFF"/>
                    </a:solidFill>
                  </a:tcPr>
                </a:tc>
                <a:tc>
                  <a:txBody>
                    <a:bodyPr/>
                    <a:lstStyle/>
                    <a:p>
                      <a:r>
                        <a:rPr sz="850" b="0">
                          <a:solidFill>
                            <a:srgbClr val="4B4B4B"/>
                          </a:solidFill>
                          <a:latin typeface="Arial"/>
                        </a:rPr>
                        <a:t>Landing page and menu: TSU Team Lead</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NAV-PM-05</a:t>
                      </a:r>
                    </a:p>
                  </a:txBody>
                  <a:tcPr marL="54864" marR="54864" marT="27432" marB="27432">
                    <a:solidFill>
                      <a:srgbClr val="E5F5FF"/>
                    </a:solidFill>
                  </a:tcPr>
                </a:tc>
                <a:tc>
                  <a:txBody>
                    <a:bodyPr/>
                    <a:lstStyle/>
                    <a:p>
                      <a:r>
                        <a:rPr sz="850" b="0">
                          <a:solidFill>
                            <a:srgbClr val="4B4B4B"/>
                          </a:solidFill>
                          <a:latin typeface="Arial"/>
                        </a:rPr>
                        <a:t>Landing page and menu: TSU Head</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NAV-PM-06</a:t>
                      </a:r>
                    </a:p>
                  </a:txBody>
                  <a:tcPr marL="54864" marR="54864" marT="27432" marB="27432">
                    <a:solidFill>
                      <a:srgbClr val="FFFFFF"/>
                    </a:solidFill>
                  </a:tcPr>
                </a:tc>
                <a:tc>
                  <a:txBody>
                    <a:bodyPr/>
                    <a:lstStyle/>
                    <a:p>
                      <a:r>
                        <a:rPr sz="850" b="0">
                          <a:solidFill>
                            <a:srgbClr val="4B4B4B"/>
                          </a:solidFill>
                          <a:latin typeface="Arial"/>
                        </a:rPr>
                        <a:t>Landing page and menu: Marketing Business Services</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NAV-PM-07</a:t>
                      </a:r>
                    </a:p>
                  </a:txBody>
                  <a:tcPr marL="54864" marR="54864" marT="27432" marB="27432">
                    <a:solidFill>
                      <a:srgbClr val="E5F5FF"/>
                    </a:solidFill>
                  </a:tcPr>
                </a:tc>
                <a:tc>
                  <a:txBody>
                    <a:bodyPr/>
                    <a:lstStyle/>
                    <a:p>
                      <a:r>
                        <a:rPr sz="850" b="0">
                          <a:solidFill>
                            <a:srgbClr val="4B4B4B"/>
                          </a:solidFill>
                          <a:latin typeface="Arial"/>
                        </a:rPr>
                        <a:t>Landing page and menu: ManCom member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NAV-PM-08</a:t>
                      </a:r>
                    </a:p>
                  </a:txBody>
                  <a:tcPr marL="54864" marR="54864" marT="27432" marB="27432">
                    <a:solidFill>
                      <a:srgbClr val="FFFFFF"/>
                    </a:solidFill>
                  </a:tcPr>
                </a:tc>
                <a:tc>
                  <a:txBody>
                    <a:bodyPr/>
                    <a:lstStyle/>
                    <a:p>
                      <a:r>
                        <a:rPr sz="850" b="0">
                          <a:solidFill>
                            <a:srgbClr val="4B4B4B"/>
                          </a:solidFill>
                          <a:latin typeface="Arial"/>
                        </a:rPr>
                        <a:t>Landing page and menu: Business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NAV-PM-09</a:t>
                      </a:r>
                    </a:p>
                  </a:txBody>
                  <a:tcPr marL="54864" marR="54864" marT="27432" marB="27432">
                    <a:solidFill>
                      <a:srgbClr val="E5F5FF"/>
                    </a:solidFill>
                  </a:tcPr>
                </a:tc>
                <a:tc>
                  <a:txBody>
                    <a:bodyPr/>
                    <a:lstStyle/>
                    <a:p>
                      <a:r>
                        <a:rPr sz="850" b="0">
                          <a:solidFill>
                            <a:srgbClr val="4B4B4B"/>
                          </a:solidFill>
                          <a:latin typeface="Arial"/>
                        </a:rPr>
                        <a:t>Landing page and menu: New Business Approver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NAV-PM-10</a:t>
                      </a:r>
                    </a:p>
                  </a:txBody>
                  <a:tcPr marL="54864" marR="54864" marT="27432" marB="27432">
                    <a:solidFill>
                      <a:srgbClr val="FFFFFF"/>
                    </a:solidFill>
                  </a:tcPr>
                </a:tc>
                <a:tc>
                  <a:txBody>
                    <a:bodyPr/>
                    <a:lstStyle/>
                    <a:p>
                      <a:r>
                        <a:rPr sz="850" b="0">
                          <a:solidFill>
                            <a:srgbClr val="4B4B4B"/>
                          </a:solidFill>
                          <a:latin typeface="Arial"/>
                        </a:rPr>
                        <a:t>Landing page and menu: System Administrator</a:t>
                      </a:r>
                    </a:p>
                  </a:txBody>
                  <a:tcPr marL="54864" marR="54864" marT="27432" marB="27432">
                    <a:solidFill>
                      <a:srgbClr val="FFFFFF"/>
                    </a:solidFill>
                  </a:tcPr>
                </a:tc>
                <a:tc>
                  <a:txBody>
                    <a:bodyPr/>
                    <a:lstStyle/>
                    <a:p>
                      <a:r>
                        <a:rPr sz="850" b="0">
                          <a:solidFill>
                            <a:srgbClr val="4B4B4B"/>
                          </a:solidFill>
                          <a:latin typeface="Arial"/>
                        </a:rPr>
                        <a:t>12.3</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NAV-PM-11</a:t>
                      </a:r>
                    </a:p>
                  </a:txBody>
                  <a:tcPr marL="54864" marR="54864" marT="27432" marB="27432">
                    <a:solidFill>
                      <a:srgbClr val="E5F5FF"/>
                    </a:solidFill>
                  </a:tcPr>
                </a:tc>
                <a:tc>
                  <a:txBody>
                    <a:bodyPr/>
                    <a:lstStyle/>
                    <a:p>
                      <a:r>
                        <a:rPr sz="850" b="0">
                          <a:solidFill>
                            <a:srgbClr val="4B4B4B"/>
                          </a:solidFill>
                          <a:latin typeface="Arial"/>
                        </a:rPr>
                        <a:t>Landing page and menu: Auditor</a:t>
                      </a:r>
                    </a:p>
                  </a:txBody>
                  <a:tcPr marL="54864" marR="54864" marT="27432" marB="27432">
                    <a:solidFill>
                      <a:srgbClr val="E5F5FF"/>
                    </a:solidFill>
                  </a:tcPr>
                </a:tc>
                <a:tc>
                  <a:txBody>
                    <a:bodyPr/>
                    <a:lstStyle/>
                    <a:p>
                      <a:r>
                        <a:rPr sz="850" b="0">
                          <a:solidFill>
                            <a:srgbClr val="4B4B4B"/>
                          </a:solidFill>
                          <a:latin typeface="Arial"/>
                        </a:rPr>
                        <a:t>12.3</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DO-01</a:t>
                      </a:r>
                    </a:p>
                  </a:txBody>
                  <a:tcPr marL="54864" marR="54864" marT="27432" marB="27432">
                    <a:solidFill>
                      <a:srgbClr val="FFFFFF"/>
                    </a:solidFill>
                  </a:tcPr>
                </a:tc>
                <a:tc>
                  <a:txBody>
                    <a:bodyPr/>
                    <a:lstStyle/>
                    <a:p>
                      <a:r>
                        <a:rPr sz="850" b="0">
                          <a:solidFill>
                            <a:srgbClr val="4B4B4B"/>
                          </a:solidFill>
                          <a:latin typeface="Arial"/>
                        </a:rPr>
                        <a:t>Package Request Form</a:t>
                      </a:r>
                    </a:p>
                  </a:txBody>
                  <a:tcPr marL="54864" marR="54864" marT="27432" marB="27432">
                    <a:solidFill>
                      <a:srgbClr val="FFFFFF"/>
                    </a:solidFill>
                  </a:tcPr>
                </a:tc>
                <a:tc>
                  <a:txBody>
                    <a:bodyPr/>
                    <a:lstStyle/>
                    <a:p>
                      <a:r>
                        <a:rPr sz="850" b="0">
                          <a:solidFill>
                            <a:srgbClr val="4B4B4B"/>
                          </a:solidFill>
                          <a:latin typeface="Arial"/>
                        </a:rPr>
                        <a:t>17.1</a:t>
                      </a:r>
                    </a:p>
                  </a:txBody>
                  <a:tcPr marL="54864" marR="54864" marT="27432" marB="27432">
                    <a:solidFill>
                      <a:srgbClr val="FFFFFF"/>
                    </a:solidFill>
                  </a:tcPr>
                </a:tc>
                <a:tc>
                  <a:txBody>
                    <a:bodyPr/>
                    <a:lstStyle/>
                    <a:p>
                      <a:r>
                        <a:rPr sz="850" b="0">
                          <a:solidFill>
                            <a:srgbClr val="4B4B4B"/>
                          </a:solidFill>
                          <a:latin typeface="Arial"/>
                        </a:rPr>
                        <a:t>FR-PM-020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DO-02</a:t>
                      </a:r>
                    </a:p>
                  </a:txBody>
                  <a:tcPr marL="54864" marR="54864" marT="27432" marB="27432">
                    <a:solidFill>
                      <a:srgbClr val="E5F5FF"/>
                    </a:solidFill>
                  </a:tcPr>
                </a:tc>
                <a:tc>
                  <a:txBody>
                    <a:bodyPr/>
                    <a:lstStyle/>
                    <a:p>
                      <a:r>
                        <a:rPr sz="850" b="0">
                          <a:solidFill>
                            <a:srgbClr val="4B4B4B"/>
                          </a:solidFill>
                          <a:latin typeface="Arial"/>
                        </a:rPr>
                        <a:t>Package quotation slip</a:t>
                      </a:r>
                    </a:p>
                  </a:txBody>
                  <a:tcPr marL="54864" marR="54864" marT="27432" marB="27432">
                    <a:solidFill>
                      <a:srgbClr val="E5F5FF"/>
                    </a:solidFill>
                  </a:tcPr>
                </a:tc>
                <a:tc>
                  <a:txBody>
                    <a:bodyPr/>
                    <a:lstStyle/>
                    <a:p>
                      <a:r>
                        <a:rPr sz="850" b="0">
                          <a:solidFill>
                            <a:srgbClr val="4B4B4B"/>
                          </a:solidFill>
                          <a:latin typeface="Arial"/>
                        </a:rPr>
                        <a:t>17.2</a:t>
                      </a:r>
                    </a:p>
                  </a:txBody>
                  <a:tcPr marL="54864" marR="54864" marT="27432" marB="27432">
                    <a:solidFill>
                      <a:srgbClr val="E5F5FF"/>
                    </a:solidFill>
                  </a:tcPr>
                </a:tc>
                <a:tc>
                  <a:txBody>
                    <a:bodyPr/>
                    <a:lstStyle/>
                    <a:p>
                      <a:r>
                        <a:rPr sz="850" b="0">
                          <a:solidFill>
                            <a:srgbClr val="4B4B4B"/>
                          </a:solidFill>
                          <a:latin typeface="Arial"/>
                        </a:rPr>
                        <a:t>FR-PM-030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r h="220979">
                <a:tc>
                  <a:txBody>
                    <a:bodyPr/>
                    <a:lstStyle/>
                    <a:p>
                      <a:r>
                        <a:rPr sz="850" b="0">
                          <a:solidFill>
                            <a:srgbClr val="4B4B4B"/>
                          </a:solidFill>
                          <a:latin typeface="Arial"/>
                        </a:rPr>
                        <a:t>DO-03</a:t>
                      </a:r>
                    </a:p>
                  </a:txBody>
                  <a:tcPr marL="54864" marR="54864" marT="27432" marB="27432">
                    <a:solidFill>
                      <a:srgbClr val="FFFFFF"/>
                    </a:solidFill>
                  </a:tcPr>
                </a:tc>
                <a:tc>
                  <a:txBody>
                    <a:bodyPr/>
                    <a:lstStyle/>
                    <a:p>
                      <a:r>
                        <a:rPr sz="850" b="0">
                          <a:solidFill>
                            <a:srgbClr val="4B4B4B"/>
                          </a:solidFill>
                          <a:latin typeface="Arial"/>
                        </a:rPr>
                        <a:t>Comparative table (audit master and client view)</a:t>
                      </a:r>
                    </a:p>
                  </a:txBody>
                  <a:tcPr marL="54864" marR="54864" marT="27432" marB="27432">
                    <a:solidFill>
                      <a:srgbClr val="FFFFFF"/>
                    </a:solidFill>
                  </a:tcPr>
                </a:tc>
                <a:tc>
                  <a:txBody>
                    <a:bodyPr/>
                    <a:lstStyle/>
                    <a:p>
                      <a:r>
                        <a:rPr sz="850" b="0">
                          <a:solidFill>
                            <a:srgbClr val="4B4B4B"/>
                          </a:solidFill>
                          <a:latin typeface="Arial"/>
                        </a:rPr>
                        <a:t>17.3</a:t>
                      </a:r>
                    </a:p>
                  </a:txBody>
                  <a:tcPr marL="54864" marR="54864" marT="27432" marB="27432">
                    <a:solidFill>
                      <a:srgbClr val="FFFFFF"/>
                    </a:solidFill>
                  </a:tcPr>
                </a:tc>
                <a:tc>
                  <a:txBody>
                    <a:bodyPr/>
                    <a:lstStyle/>
                    <a:p>
                      <a:r>
                        <a:rPr sz="850" b="0">
                          <a:solidFill>
                            <a:srgbClr val="4B4B4B"/>
                          </a:solidFill>
                          <a:latin typeface="Arial"/>
                        </a:rPr>
                        <a:t>FR-PM-034, FR-PM-035</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DO-04</a:t>
                      </a:r>
                    </a:p>
                  </a:txBody>
                  <a:tcPr marL="54864" marR="54864" marT="27432" marB="27432">
                    <a:solidFill>
                      <a:srgbClr val="E5F5FF"/>
                    </a:solidFill>
                  </a:tcPr>
                </a:tc>
                <a:tc>
                  <a:txBody>
                    <a:bodyPr/>
                    <a:lstStyle/>
                    <a:p>
                      <a:r>
                        <a:rPr sz="850" b="0">
                          <a:solidFill>
                            <a:srgbClr val="4B4B4B"/>
                          </a:solidFill>
                          <a:latin typeface="Arial"/>
                        </a:rPr>
                        <a:t>Package slip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FR-PM-040</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BRD-3 Product Maintenance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390</a:t>
            </a:r>
          </a:p>
        </p:txBody>
      </p:sp>
      <p:graphicFrame>
        <p:nvGraphicFramePr>
          <p:cNvPr id="9" name="Table 8"/>
          <p:cNvGraphicFramePr>
            <a:graphicFrameLocks noGrp="1"/>
          </p:cNvGraphicFramePr>
          <p:nvPr/>
        </p:nvGraphicFramePr>
        <p:xfrm>
          <a:off x="548640" y="1325880"/>
          <a:ext cx="11094412" cy="66293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220979">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FRS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DO-05</a:t>
                      </a:r>
                    </a:p>
                  </a:txBody>
                  <a:tcPr marL="54864" marR="54864" marT="27432" marB="27432">
                    <a:solidFill>
                      <a:srgbClr val="FFFFFF"/>
                    </a:solidFill>
                  </a:tcPr>
                </a:tc>
                <a:tc>
                  <a:txBody>
                    <a:bodyPr/>
                    <a:lstStyle/>
                    <a:p>
                      <a:r>
                        <a:rPr sz="850" b="0">
                          <a:solidFill>
                            <a:srgbClr val="4B4B4B"/>
                          </a:solidFill>
                          <a:latin typeface="Arial"/>
                        </a:rPr>
                        <a:t>ManCom sign-off record</a:t>
                      </a:r>
                    </a:p>
                  </a:txBody>
                  <a:tcPr marL="54864" marR="54864" marT="27432" marB="27432">
                    <a:solidFill>
                      <a:srgbClr val="FFFFFF"/>
                    </a:solidFill>
                  </a:tcPr>
                </a:tc>
                <a:tc>
                  <a:txBody>
                    <a:bodyPr/>
                    <a:lstStyle/>
                    <a:p>
                      <a:r>
                        <a:rPr sz="850" b="0">
                          <a:solidFill>
                            <a:srgbClr val="4B4B4B"/>
                          </a:solidFill>
                          <a:latin typeface="Arial"/>
                        </a:rPr>
                        <a:t>17.5</a:t>
                      </a:r>
                    </a:p>
                  </a:txBody>
                  <a:tcPr marL="54864" marR="54864" marT="27432" marB="27432">
                    <a:solidFill>
                      <a:srgbClr val="FFFFFF"/>
                    </a:solidFill>
                  </a:tcPr>
                </a:tc>
                <a:tc>
                  <a:txBody>
                    <a:bodyPr/>
                    <a:lstStyle/>
                    <a:p>
                      <a:r>
                        <a:rPr sz="850" b="0">
                          <a:solidFill>
                            <a:srgbClr val="4B4B4B"/>
                          </a:solidFill>
                          <a:latin typeface="Arial"/>
                        </a:rPr>
                        <a:t>FR-PM-041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Document as received</a:t>
                      </a:r>
                    </a:p>
                  </a:txBody>
                  <a:tcPr marL="54864" marR="54864" marT="27432" marB="27432">
                    <a:solidFill>
                      <a:srgbClr val="FFFFFF"/>
                    </a:solidFill>
                  </a:tcPr>
                </a:tc>
              </a:tr>
              <a:tr h="220979">
                <a:tc>
                  <a:txBody>
                    <a:bodyPr/>
                    <a:lstStyle/>
                    <a:p>
                      <a:r>
                        <a:rPr sz="850" b="0">
                          <a:solidFill>
                            <a:srgbClr val="4B4B4B"/>
                          </a:solidFill>
                          <a:latin typeface="Arial"/>
                        </a:rPr>
                        <a:t>DO-06</a:t>
                      </a:r>
                    </a:p>
                  </a:txBody>
                  <a:tcPr marL="54864" marR="54864" marT="27432" marB="27432">
                    <a:solidFill>
                      <a:srgbClr val="E5F5FF"/>
                    </a:solidFill>
                  </a:tcPr>
                </a:tc>
                <a:tc>
                  <a:txBody>
                    <a:bodyPr/>
                    <a:lstStyle/>
                    <a:p>
                      <a:r>
                        <a:rPr sz="850" b="0">
                          <a:solidFill>
                            <a:srgbClr val="4B4B4B"/>
                          </a:solidFill>
                          <a:latin typeface="Arial"/>
                        </a:rPr>
                        <a:t>Package advisory</a:t>
                      </a:r>
                    </a:p>
                  </a:txBody>
                  <a:tcPr marL="54864" marR="54864" marT="27432" marB="27432">
                    <a:solidFill>
                      <a:srgbClr val="E5F5FF"/>
                    </a:solidFill>
                  </a:tcPr>
                </a:tc>
                <a:tc>
                  <a:txBody>
                    <a:bodyPr/>
                    <a:lstStyle/>
                    <a:p>
                      <a:r>
                        <a:rPr sz="850" b="0">
                          <a:solidFill>
                            <a:srgbClr val="4B4B4B"/>
                          </a:solidFill>
                          <a:latin typeface="Arial"/>
                        </a:rPr>
                        <a:t>17.6</a:t>
                      </a:r>
                    </a:p>
                  </a:txBody>
                  <a:tcPr marL="54864" marR="54864" marT="27432" marB="27432">
                    <a:solidFill>
                      <a:srgbClr val="E5F5FF"/>
                    </a:solidFill>
                  </a:tcPr>
                </a:tc>
                <a:tc>
                  <a:txBody>
                    <a:bodyPr/>
                    <a:lstStyle/>
                    <a:p>
                      <a:r>
                        <a:rPr sz="850" b="0">
                          <a:solidFill>
                            <a:srgbClr val="4B4B4B"/>
                          </a:solidFill>
                          <a:latin typeface="Arial"/>
                        </a:rPr>
                        <a:t>FR-PM-044</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Document as received</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BRD-3 Product Maintenance</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