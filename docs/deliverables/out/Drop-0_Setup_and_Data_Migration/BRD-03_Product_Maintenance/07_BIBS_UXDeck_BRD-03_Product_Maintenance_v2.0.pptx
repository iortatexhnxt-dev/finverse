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File 07 of the BRD-3 Product Maintenance sign-off set, release set v2.0, for the BDOI UX Design team. The screens are those of the proposed system on SIT with seed data; the names and numbers on them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does not replace the FRS: the FRS is signed by the business; the deck is the working material of the UX Design team and follows each issue of the FRS.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register when a new issue arrives: filter Changed in this issue = 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never waits for the whole set: the delta issue carries the new images and the register with the changed rows flagged; the unchanged rows keep their UXD status and comments.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images carry the Changed badge in this deck and Changed in this issue = Y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Roles as on the BRD approval sheet (BRD-3 approval sheets: main BRD p.34-35; Workshop Addendum p.8-9); the names are in the sign-off certificate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colour tokens of the screens (BDO Style Guide names in the comments). Blue is the dominant colour; yellow is an accent only, never a fill behind text; never pure black.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Nunito everywhere; Arial is the approved fallback. Display sizes (72 to 24) only for dashboards and landing panels.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 px baseline grid; desktop web uses a 12-column grid; cards have radius 12 on the Dirty White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 outline icon master files replace the equivalents when BDO Marketing Communications supplies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stages of the record in their order, with one row of Current Stage, Since, Due and Assigned To and the actions of the stage on the right. Image: components/ux-scr-pm-04-cmp-stepper.png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standard for errors, warnings, information and success messages, and for the toasts. Image: components/ux-scr-ua-07-cmp-notice.png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list of records is a table in a titled card, with the status tabs and the toolbar above it. Image: components/ux-scr-pm-02-cmp-table.png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Hierarchies (regions, branches, teams and their members) in the table style. Image: components/ux-scr-pm-20-cmp-tree.png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actions of a row of a table, never as links inside the row. Image: components/scr-pm-20-02-actions.png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approve, authorise, post, release, cancel, void and deactivate is confirmed in a dialog. Image: components/scr-pm-04-03-return.png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pill per record status, in its own column. Image: components/scr-ua-06-01-list.png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period (period of cover, package term, statement period) in a list. Image: components/scr-pm-10-01-list.png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above the fields, the error under each field and the summary at the top of a long form. Image: components/scr-ua-07-03-error.png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upload checks all rows before anything is saved. Image: components/scr-ua-09-02-validated.png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icon, label and value grid of the record header and of an outcome card. Image: components/scr-pm-13-06-released.png of the image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screen standards appendix of every FRS, in the same words: BDOI agrees the look of the screens once and checks every screenshot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NAV-PM-01_menu.png.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 menu entries in all; entries of the other BRDs: -: 7; BRD-1: 20; BRD-2: 4; BRD-4: 10; BRD-5: 4; BRD-6: 5;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NAV-PM-02_menu.png.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 menu entries in all; entries of the other BRDs: -: 7; BRD-1: 21; BRD-2: 12; BRD-4: 12; BRD-5: 2; BRD-6: 6; BRD-7: 1;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NAV-PM-03_landing.png.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NAV-PM-03_menu.png.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NAV-PM-03_menu.png.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menu entries in all; entries of the other BRDs: -: 1; BRD-1: 16;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NAV-PM-04_menu.png.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NAV-PM-04_menu.png.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NAV-PM-05_landing.png.</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NAV-PM-05_menu.png.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menu entries in all; entries of the other BRDs: BRD-1: 6;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NAV-PM-06_menu.png.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menu entries in all; entries of the other BRDs: BRD-1: 9;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NAV-PM-07_menu.png.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menu entries in all; entries of the other BRDs: BRD-1: 5; Platform: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NAV-PM-08_landing.png.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NAV-PM-08_menu.png.</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 menu entries in all; entries of the other BRDs: BRD-1: 10; BRD-11: 6; BRD-2: 5; BRD-4: 11; BRD-5: 14; BRD-6: 3; BRD-8: 5; Platform: 12; Platform / BRD-11: 4.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NAV-PM-09_landing.png.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NAV-PM-09_menu.png.</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 menu entries in all; entries of the other BRDs: BRD-1: 19; BRD-11: 4; BRD-2: 1; BRD-4: 1; BRD-5: 13; Platform: 12.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NAV-PM-10_menu.png.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menu entries in all; entries of the other BRDs: -: 10; BRD-1: 10; BRD-10: 6; BRD-11: 5; BRD-2: 7; BRD-4: 12; BRD-5: 28; BRD-7: 4; BRD-8: 4; Platform: 14; Platform / BRD-11: 8.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NAV-PM-11_landing.png.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NAV-PM-11_menu.png.</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menu entries in all; entries of the other BRDs: -: 10; BRD-1: 19; BRD-10: 7; BRD-11: 4; BRD-2: 6; BRD-4: 10; BRD-5: 55; BRD-6: 2; BRD-7: 4; BRD-8: 4; Platform: 14; Platform / BRD-11: 5. The full menu is in FRS section 12.3.</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Account Officer. Menu and landing page: NAV-PM-01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TL / TH / UH. Menu and landing page: NAV-PM-02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Officer. Menu and landing page: NAV-PM-03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Team Lead. Menu and landing page: NAV-PM-04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TSU Head. Menu and landing page: NAV-PM-05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Business Services. Menu and landing page: NAV-PM-06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ManCom member. Menu and landing page: NAV-PM-07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Administrator. Menu and landing page: NAV-PM-08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Approver. Menu and landing page: NAV-PM-09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Administrator. Menu and landing page: NAV-PM-10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Auditor. Menu and landing page: NAV-PM-11 in the navigation section.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New Business (BRD-1): New Quotation and New Account offer MTR30 to the segments of the package; the quotation, the account and the booked invoice keep version 1 and the approved exception.; Booking and Operations: the booked invoice stores version 1 and the incentive criteria it matches; endorsements re-rate on version 1.; Renewal (BRD-6): renewal candidates of MTR30 accounts are priced on version 1 while it is released or superseded; the package map of the data migration may name MTR30 version 1 as the target of a legacy package.; Package Expiry: MTR30 appears on the Expiring tab 90 days before its package end date; the monitor alerts at 60, 30 and 7 days.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Business Services: Opens Coverages &amp; Clauses › Clause Library, clicks New Clause, enters the code FLEET_REPAIR, kind, line Motor, title, effective date and wording, and clicks Save for Authorization</a:t>
            </a:r>
          </a:p>
          <a:p>
            <a:r>
              <a:t>2. Business Administrator: Opens the Clause Library and clicks Authorize on FLEET_REPAIR</a:t>
            </a:r>
          </a:p>
          <a:p>
            <a:r>
              <a:t>3. 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4. Marketing TL / TH / UH: Opens the request from the For Approval tab and clicks Approve and send to TSU</a:t>
            </a:r>
          </a:p>
          <a:p>
            <a:r>
              <a:t>5. TSU Team Lead: Clicks Recommend for approval, writes the recommendation and clicks Recommend</a:t>
            </a:r>
          </a:p>
          <a:p>
            <a:r>
              <a:t>6. TSU Head: Reads the recommendation and clicks Approve for negotiation</a:t>
            </a:r>
          </a:p>
          <a:p>
            <a:r>
              <a:t>7. TSU Officer: Opens the Negotiation tab, adds a note to the insurers and clicks Submit for Approval</a:t>
            </a:r>
          </a:p>
          <a:p>
            <a:r>
              <a:t>8. TSU Team Lead: Clicks Approve and Send on round 1</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TSU Officer: Clicks Key In for each insurer, enters the outcome, rate, minimum premium and deductibles, attaches the insurer's reply and clicks Save Terms</a:t>
            </a:r>
          </a:p>
          <a:p>
            <a:r>
              <a:t>10. TSU Officer: Clicks Terms final, ticks the offer of Mabuhay General Insurance Corp. and clicks Make Terms Final</a:t>
            </a:r>
          </a:p>
          <a:p>
            <a:r>
              <a:t>11. TSU Officer: Opens the Comparative tab</a:t>
            </a:r>
          </a:p>
          <a:p>
            <a:r>
              <a:t>12. TSU Head: Clicks Proceed to requirements (generic package)</a:t>
            </a:r>
          </a:p>
          <a:p>
            <a:r>
              <a:t>13. TSU Officer: Enters the computation basis, clicks Save Requirements, downloads the Package Slip, uploads the signed slip on the Documents tab as Package slip (signed), and clicks Submit requirements for ManCom sign-off</a:t>
            </a:r>
          </a:p>
          <a:p>
            <a:r>
              <a:t>14. ManCom member: Reviews the proposed terms and clicks Sign off and send to MBS</a:t>
            </a:r>
          </a:p>
          <a:p>
            <a:r>
              <a:t>15. Marketing Business Services: Clicks Set up package version, enters the risk code MTR30 and the product name, and clicks Set Up Version</a:t>
            </a:r>
          </a:p>
          <a:p>
            <a:r>
              <a:t>16. Marketing Business Services: Clicks Open Version Editor, adds the clause FLEET_REPAIR on the insurer terms, saves and clicks Submit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TSU Head: Opens the version from the Validation Queue, ticks the five checklist items and clicks Validate and Release</a:t>
            </a:r>
          </a:p>
          <a:p>
            <a:r>
              <a:t>18. Business Administrator: Opens Insurers › Mabuhay General Insurance Corp., clicks Add rate, chooses MTR30, 15% from today and clicks Save for Authorization</a:t>
            </a:r>
          </a:p>
          <a:p>
            <a:r>
              <a:t>19. New Business Approver: Opens the insurer and clicks Authorize on the new commission rate</a:t>
            </a:r>
          </a:p>
          <a:p>
            <a:r>
              <a:t>20. TSU Officer: Opens the Advisories tab of the released request, checks that both supporting documents are Attached and clicks Send Advisory</a:t>
            </a:r>
          </a:p>
          <a:p>
            <a:r>
              <a:t>21. Marketing Account Officer: Opens Premium Calculator, chooses MTR30 and Mabuhay General Insurance Corp., enters a vehicle value and clicks Calculate</a:t>
            </a:r>
          </a:p>
          <a:p>
            <a:r>
              <a:t>22. Marketing Account Officer: Creates a New Business quotation of MTR30 for the seed client with an item rate of 1.10%, opens it and clicks Request Rate Exception with the reason</a:t>
            </a:r>
          </a:p>
          <a:p>
            <a:r>
              <a:t>23. New Business Approver: Opens My Approvals, clicks the rate exception of the quotation, compares the requested rate with the scheme in force on the exception record, clicks Approve, writes the comment and confirms</a:t>
            </a:r>
          </a:p>
          <a:p>
            <a:r>
              <a:t>24. Marketing Account Officer: Opens the quotation again after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SCR-PM-15_wt-a-step-01.png.</a:t>
            </a:r>
          </a:p>
          <a:p>
            <a:r>
              <a:t>Persona does: Opens Coverages &amp; Clauses › Clause Library, clicks New Clause, enters the code FLEET_REPAIR, kind, line Motor, title, effective date and wording, and clicks Save for Authorization</a:t>
            </a:r>
          </a:p>
          <a:p>
            <a:r>
              <a:t>System does: Clause pending authorisation</a:t>
            </a:r>
          </a:p>
          <a:p>
            <a:r>
              <a:t>Shown: Toast: Clause FLEET_REPAIR saved – pending authorization; the row shows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SCR-PM-15_wt-a-step-02.png.</a:t>
            </a:r>
          </a:p>
          <a:p>
            <a:r>
              <a:t>Persona does: Opens the Clause Library and clicks Authorize on FLEET_REPAIR</a:t>
            </a:r>
          </a:p>
          <a:p>
            <a:r>
              <a:t>System does: Clause active</a:t>
            </a:r>
          </a:p>
          <a:p>
            <a:r>
              <a:t>Shown: Toast: FLEET_REPAIR authorized; the status is Active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SCR-PM-03_wt-a-step-03.png.</a:t>
            </a:r>
          </a:p>
          <a:p>
            <a:r>
              <a:t>Persona does: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p>
            <a:r>
              <a:t>System does: For Marketing approval</a:t>
            </a:r>
          </a:p>
          <a:p>
            <a:r>
              <a:t>Shown: Toast: PKR-yyyy-nnnnnn submitted for Marketing approval; the request opens in For Marketing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SCR-PM-04_wt-a-step-04.png.</a:t>
            </a:r>
          </a:p>
          <a:p>
            <a:r>
              <a:t>Persona does: Opens the request from the For Approval tab and clicks Approve and send to TSU</a:t>
            </a:r>
          </a:p>
          <a:p>
            <a:r>
              <a:t>System does: For TSU review</a:t>
            </a:r>
          </a:p>
          <a:p>
            <a:r>
              <a:t>Shown: The stage becomes For TSU review; the history lists the approval</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SCR-PM-04_wt-a-step-05.png.</a:t>
            </a:r>
          </a:p>
          <a:p>
            <a:r>
              <a:t>Persona does: Clicks Recommend for approval, writes the recommendation and clicks Recommend</a:t>
            </a:r>
          </a:p>
          <a:p>
            <a:r>
              <a:t>System does: For TSU Head approval</a:t>
            </a:r>
          </a:p>
          <a:p>
            <a:r>
              <a:t>Shown: The TSU recommendation shows on the Details tab; the stage becomes For TSU Head approval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SCR-PM-04_wt-a-step-06.png.</a:t>
            </a:r>
          </a:p>
          <a:p>
            <a:r>
              <a:t>Persona does: Reads the recommendation and clicks Approve for negotiation</a:t>
            </a:r>
          </a:p>
          <a:p>
            <a:r>
              <a:t>System does: Insurer negotiation</a:t>
            </a:r>
          </a:p>
          <a:p>
            <a:r>
              <a:t>Shown: The stage becomes Insurer negotiation; round 1 is opened with the two target insurers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SCR-PM-05_wt-a-step-07.png.</a:t>
            </a:r>
          </a:p>
          <a:p>
            <a:r>
              <a:t>Persona does: Opens the Negotiation tab, adds a note to the insurers and clicks Submit for Approval</a:t>
            </a:r>
          </a:p>
          <a:p>
            <a:r>
              <a:t>System does: Slip for approval</a:t>
            </a:r>
          </a:p>
          <a:p>
            <a:r>
              <a:t>Shown: Toast: PQS-yyyy-nnnnnn submitted for approval; round 1 shows For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SCR-PM-05_wt-a-step-08.png.</a:t>
            </a:r>
          </a:p>
          <a:p>
            <a:r>
              <a:t>Persona does: Clicks Approve and Send on round 1</a:t>
            </a:r>
          </a:p>
          <a:p>
            <a:r>
              <a:t>System does: Slip sent</a:t>
            </a:r>
          </a:p>
          <a:p>
            <a:r>
              <a:t>Shown: Toast: PQS-yyyy-nnnnnn sent to 2 insurer(s); both responses show Pending; the E-mails tab lists the slip and password e-mails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SCR-PM-05_wt-a-step-09.png.</a:t>
            </a:r>
          </a:p>
          <a:p>
            <a:r>
              <a:t>Persona does: Clicks Key In for each insurer, enters the outcome, rate, minimum premium and deductibles, attaches the insurer's reply and clicks Save Terms</a:t>
            </a:r>
          </a:p>
          <a:p>
            <a:r>
              <a:t>System does: Responses recorded</a:t>
            </a:r>
          </a:p>
          <a:p>
            <a:r>
              <a:t>Shown: Toast: Terms of &lt;insurer&gt; saved; the responses show Approved with changes and Counter-proposal with their rates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SCR-PM-05_wt-a-step-10.png.</a:t>
            </a:r>
          </a:p>
          <a:p>
            <a:r>
              <a:t>Persona does: Clicks Terms final, ticks the offer of Mabuhay General Insurance Corp. and clicks Make Terms Final</a:t>
            </a:r>
          </a:p>
          <a:p>
            <a:r>
              <a:t>System does: Terms final</a:t>
            </a:r>
          </a:p>
          <a:p>
            <a:r>
              <a:t>Shown: The stage becomes Negotiated terms review; the chosen insurer shows in the header</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SCR-PM-06_wt-a-step-11.png.</a:t>
            </a:r>
          </a:p>
          <a:p>
            <a:r>
              <a:t>Persona does: Opens the Comparative tab</a:t>
            </a:r>
          </a:p>
          <a:p>
            <a:r>
              <a:t>System does: Comparative master stored</a:t>
            </a:r>
          </a:p>
          <a:p>
            <a:r>
              <a:t>Shown: The round 1 comparison with the Lowest rate tag and the current audit master in Stored outputs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SCR-PM-04_wt-a-step-12.png.</a:t>
            </a:r>
          </a:p>
          <a:p>
            <a:r>
              <a:t>Persona does: Clicks Proceed to requirements (generic package)</a:t>
            </a:r>
          </a:p>
          <a:p>
            <a:r>
              <a:t>System does: Requirements preparation</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SCR-PM-07_wt-a-step-13.png.</a:t>
            </a:r>
          </a:p>
          <a:p>
            <a:r>
              <a:t>Persona does: Enters the computation basis, clicks Save Requirements, downloads the Package Slip, uploads the signed slip on the Documents tab as Package slip (signed), and clicks Submit requirements for ManCom sign-off</a:t>
            </a:r>
          </a:p>
          <a:p>
            <a:r>
              <a:t>System does: For ManCom sign-off</a:t>
            </a:r>
          </a:p>
          <a:p>
            <a:r>
              <a:t>Shown: The checklist reads The requirements pack is complete.; the stage becomes For ManCom sign-off</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SCR-PM-07_wt-a-step-14.png.</a:t>
            </a:r>
          </a:p>
          <a:p>
            <a:r>
              <a:t>Persona does: Reviews the proposed terms and clicks Sign off and send to MBS</a:t>
            </a:r>
          </a:p>
          <a:p>
            <a:r>
              <a:t>System does: Signed off</a:t>
            </a:r>
          </a:p>
          <a:p>
            <a:r>
              <a:t>Shown: ManCom decisions lists MC-PKR-yyyy-nnnnnn Signed; the slips show Locked; the stage becomes With MBS for set-up</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SCR-PM-08_wt-a-step-15.png.</a:t>
            </a:r>
          </a:p>
          <a:p>
            <a:r>
              <a:t>Persona does: Clicks Set up package version, enters the risk code MTR30 and the product name, and clicks Set Up Version</a:t>
            </a:r>
          </a:p>
          <a:p>
            <a:r>
              <a:t>System does: Draft version 1</a:t>
            </a:r>
          </a:p>
          <a:p>
            <a:r>
              <a:t>Shown: Toast: Version 1 set up; the Set-up tab shows MTR30 version 1; the stage becomes Package version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SCR-PM-13_wt-a-step-16.png.</a:t>
            </a:r>
          </a:p>
          <a:p>
            <a:r>
              <a:t>Persona does: Clicks Open Version Editor, adds the clause FLEET_REPAIR on the insurer terms, saves and clicks Submit for Validation</a:t>
            </a:r>
          </a:p>
          <a:p>
            <a:r>
              <a:t>System does: For validation</a:t>
            </a:r>
          </a:p>
          <a:p>
            <a:r>
              <a:t>Shown: Toast: Version 1 submitted for validation; the version shows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SCR-PM-13_wt-a-step-17.png.</a:t>
            </a:r>
          </a:p>
          <a:p>
            <a:r>
              <a:t>Persona does: Opens the version from the Validation Queue, ticks the five checklist items and clicks Validate and Release</a:t>
            </a:r>
          </a:p>
          <a:p>
            <a:r>
              <a:t>System does: Released</a:t>
            </a:r>
          </a:p>
          <a:p>
            <a:r>
              <a:t>Shown: Toast: Version 1 released; the Validation card shows the result Passed, the validator, the date, the test premium and the checks with their figures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SCR-PM-18_wt-a-step-18.png.</a:t>
            </a:r>
          </a:p>
          <a:p>
            <a:r>
              <a:t>Persona does: Opens Insurers › Mabuhay General Insurance Corp., clicks Add rate, chooses MTR30, 15% from today and clicks Save for Authorization</a:t>
            </a:r>
          </a:p>
          <a:p>
            <a:r>
              <a:t>System does: Commission rate pending</a:t>
            </a:r>
          </a:p>
          <a:p>
            <a:r>
              <a:t>Shown: Toast: Commission rate saved – pending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SCR-PM-18_wt-a-step-19.png.</a:t>
            </a:r>
          </a:p>
          <a:p>
            <a:r>
              <a:t>Persona does: Opens the insurer and clicks Authorize on the new commission rate</a:t>
            </a:r>
          </a:p>
          <a:p>
            <a:r>
              <a:t>System does: Commission rate active</a:t>
            </a:r>
          </a:p>
          <a:p>
            <a:r>
              <a:t>Shown: The rate for MTR30 shows Active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SCR-PM-08_wt-a-step-20.png.</a:t>
            </a:r>
          </a:p>
          <a:p>
            <a:r>
              <a:t>Persona does: Opens the Advisories tab of the released request, checks that both supporting documents are Attached and clicks Send Advisory</a:t>
            </a:r>
          </a:p>
          <a:p>
            <a:r>
              <a:t>System does: Advisory sent</a:t>
            </a:r>
          </a:p>
          <a:p>
            <a:r>
              <a:t>Shown: Toast: Advisory sent; the advisory shows Sent with the date; Marketing users receive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SCR-PM-21_wt-a-step-21.png.</a:t>
            </a:r>
          </a:p>
          <a:p>
            <a:r>
              <a:t>Persona does: Opens Premium Calculator, chooses MTR30 and Mabuhay General Insurance Corp., enters a vehicle value and clicks Calculate</a:t>
            </a:r>
          </a:p>
          <a:p>
            <a:r>
              <a:t>System does: Priced on version 1</a:t>
            </a:r>
          </a:p>
          <a:p>
            <a:r>
              <a:t>Shown: Priced on package version 1 (effective &lt;date&gt;, scheme rate 1.2%) with every charge and the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SCR-PM-22_wt-a-step-22.png.</a:t>
            </a:r>
          </a:p>
          <a:p>
            <a:r>
              <a:t>Persona does: Creates a New Business quotation of MTR30 for the seed client with an item rate of 1.10%, opens it and clicks Request Rate Exception with the reason</a:t>
            </a:r>
          </a:p>
          <a:p>
            <a:r>
              <a:t>System does: Exception requested</a:t>
            </a:r>
          </a:p>
          <a:p>
            <a:r>
              <a:t>Shown: The rate scheme panel shows the exception pending approval</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SCR-PM-22_wt-a-step-23.png.</a:t>
            </a:r>
          </a:p>
          <a:p>
            <a:r>
              <a:t>Persona does: Opens My Approvals, clicks the rate exception of the quotation, compares the requested rate with the scheme in force on the exception record, clicks Approve, writes the comment and confirms</a:t>
            </a:r>
          </a:p>
          <a:p>
            <a:r>
              <a:t>System does: Exception approved</a:t>
            </a:r>
          </a:p>
          <a:p>
            <a:r>
              <a:t>Shown: Toast: Rate exception RSE-yyyy-nnnnnn approved; the record shows Approved with the approver, the date and the comment; the Account Officer receives the notice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SCR-PM-22_wt-a-step-24.png.</a:t>
            </a:r>
          </a:p>
          <a:p>
            <a:r>
              <a:t>Persona does: Opens the quotation again after the approval</a:t>
            </a:r>
          </a:p>
          <a:p>
            <a:r>
              <a:t>System does: Quotation ready for review</a:t>
            </a:r>
          </a:p>
          <a:p>
            <a:r>
              <a:t>Shown: The Rate Exceptions table lists the exception Approved; the quotation can be submitted for review</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Downstream: Every return keeps its reason and comment in the history of the request, and the notice reaches the user who must act.; A refused action changes nothing; the message names what to correct, and a server refusal shows its reference for support.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Marketing Account Officer: Opens New Package Request and clicks Save Draft without the name, line and reason</a:t>
            </a:r>
          </a:p>
          <a:p>
            <a:r>
              <a:t>2. Marketing Account Officer: Completes the header only and clicks Submit for Approval</a:t>
            </a:r>
          </a:p>
          <a:p>
            <a:r>
              <a:t>3. Marketing TL / TH / UH: Creates and submits a request himself, then clicks Approve and send to TSU on it</a:t>
            </a:r>
          </a:p>
          <a:p>
            <a:r>
              <a:t>4. TSU Team Lead: Opens PKR-2026-900002 and clicks Return to requester, chooses the reason and writes what is missing</a:t>
            </a:r>
          </a:p>
          <a:p>
            <a:r>
              <a:t>5. TSU Team Lead: Prepares and submits a slip himself, then clicks Approve and Send on it</a:t>
            </a:r>
          </a:p>
          <a:p>
            <a:r>
              <a:t>6. TSU Officer: Opens PKR-2026-900003 and clicks Terms final while Luzon Assurance is still pending in round 2</a:t>
            </a:r>
          </a:p>
          <a:p>
            <a:r>
              <a:t>7. ManCom member: Opens PKR-2026-900004 and clicks Return to TSU with the reason</a:t>
            </a:r>
          </a:p>
          <a:p>
            <a:r>
              <a:t>8. TSU Officer: Clicks Submit requirements for ManCom sign-off before uploading the signed package slip</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Marketing Business Services: Opens PKR-2026-900005 and clicks Return incomplete requirements to TSU with the reason</a:t>
            </a:r>
          </a:p>
          <a:p>
            <a:r>
              <a:t>10. Marketing Business Services: Opens MTR12 version 2, clears the minimum premium and sets an effective date before today, then clicks Submit for Validation</a:t>
            </a:r>
          </a:p>
          <a:p>
            <a:r>
              <a:t>11. TSU Head: Opens the submitted MTR12 version 2 and clicks Return to MBS with the reason</a:t>
            </a:r>
          </a:p>
          <a:p>
            <a:r>
              <a:t>12. Marketing Business Services: Opens MTR12 version 2</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SCR-PM-03_wt-b-step-01.png.</a:t>
            </a:r>
          </a:p>
          <a:p>
            <a:r>
              <a:t>Persona does: Opens New Package Request and clicks Save Draft without the name, line and reason</a:t>
            </a:r>
          </a:p>
          <a:p>
            <a:r>
              <a:t>System does: Form corrected</a:t>
            </a:r>
          </a:p>
          <a:p>
            <a:r>
              <a:t>Shown: Under the fields: Enter the package or programme name; Select the product line; Select the reason. Nothing is saved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SCR-PM-03_wt-b-step-02.png.</a:t>
            </a:r>
          </a:p>
          <a:p>
            <a:r>
              <a:t>Persona does: Completes the header only and clicks Submit for Approval</a:t>
            </a:r>
          </a:p>
          <a:p>
            <a:r>
              <a:t>System does: Request stays a draft</a:t>
            </a:r>
          </a:p>
          <a:p>
            <a:r>
              <a:t>Shown: The hint Before submitting, complete the requested terms (coverages or sections); at least one target insurer; the package end date, and the refusal Complete the request: ... with its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SCR-PM-04_wt-b-step-03.png.</a:t>
            </a:r>
          </a:p>
          <a:p>
            <a:r>
              <a:t>Persona does: Creates and submits a request himself, then clicks Approve and send to TSU on it</a:t>
            </a:r>
          </a:p>
          <a:p>
            <a:r>
              <a:t>System does: Another Marketing approver is needed</a:t>
            </a:r>
          </a:p>
          <a:p>
            <a:r>
              <a:t>Shown: A package request is approved by someone other than its maker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SCR-PM-04_wt-b-step-04.png.</a:t>
            </a:r>
          </a:p>
          <a:p>
            <a:r>
              <a:t>Persona does: Opens PKR-2026-900002 and clicks Return to requester, chooses the reason and writes what is missing</a:t>
            </a:r>
          </a:p>
          <a:p>
            <a:r>
              <a:t>System does: Returned to the requester</a:t>
            </a:r>
          </a:p>
          <a:p>
            <a:r>
              <a:t>Shown: The stage becomes Draft request; the requester receives the workflow notice with the comment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SCR-PM-05_wt-b-step-05.png.</a:t>
            </a:r>
          </a:p>
          <a:p>
            <a:r>
              <a:t>Persona does: Prepares and submits a slip himself, then clicks Approve and Send on it</a:t>
            </a:r>
          </a:p>
          <a:p>
            <a:r>
              <a:t>System does: Another approver is needed</a:t>
            </a:r>
          </a:p>
          <a:p>
            <a:r>
              <a:t>Shown: The quotation slip is approved by a TL or a co-officer</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SCR-PM-05_wt-b-step-06.png.</a:t>
            </a:r>
          </a:p>
          <a:p>
            <a:r>
              <a:t>Persona does: Opens PKR-2026-900003 and clicks Terms final while Luzon Assurance is still pending in round 2</a:t>
            </a:r>
          </a:p>
          <a:p>
            <a:r>
              <a:t>System does: Outcome to be keyed in first</a:t>
            </a:r>
          </a:p>
          <a:p>
            <a:r>
              <a:t>Shown: Every insurer of round 2 needs an outcome before the terms are final (1 pending)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SCR-PM-04_wt-b-step-07.png.</a:t>
            </a:r>
          </a:p>
          <a:p>
            <a:r>
              <a:t>Persona does: Opens PKR-2026-900004 and clicks Return to TSU with the reason</a:t>
            </a:r>
          </a:p>
          <a:p>
            <a:r>
              <a:t>System does: Returned to TSU</a:t>
            </a:r>
          </a:p>
          <a:p>
            <a:r>
              <a:t>Shown: The stage becomes Requirements preparation; ManCom decisions lists the return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SCR-PM-07_wt-b-step-08.png.</a:t>
            </a:r>
          </a:p>
          <a:p>
            <a:r>
              <a:t>Persona does: Clicks Submit requirements for ManCom sign-off before uploading the signed package slip</a:t>
            </a:r>
          </a:p>
          <a:p>
            <a:r>
              <a:t>System does: Signed slip to be uploaded</a:t>
            </a:r>
          </a:p>
          <a:p>
            <a:r>
              <a:t>Shown: The checklist lists the missing signed package slip; the refusal Complete the requirements: ...</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SCR-PM-08_wt-b-step-09.png.</a:t>
            </a:r>
          </a:p>
          <a:p>
            <a:r>
              <a:t>Persona does: Opens PKR-2026-900005 and clicks Return incomplete requirements to TSU with the reason</a:t>
            </a:r>
          </a:p>
          <a:p>
            <a:r>
              <a:t>System does: Returned to TSU</a:t>
            </a:r>
          </a:p>
          <a:p>
            <a:r>
              <a:t>Shown: The stage becomes Requirements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SCR-PM-13_wt-b-step-10.png.</a:t>
            </a:r>
          </a:p>
          <a:p>
            <a:r>
              <a:t>Persona does: Opens MTR12 version 2, clears the minimum premium and sets an effective date before today, then clicks Submit for Validation</a:t>
            </a:r>
          </a:p>
          <a:p>
            <a:r>
              <a:t>System does: Version stays a draft</a:t>
            </a:r>
          </a:p>
          <a:p>
            <a:r>
              <a:t>Shown: Toast Correct the highlighted fields; under the fields Enter the minimum premium and The effective date cannot be before today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SCR-PM-13_wt-b-step-11.png.</a:t>
            </a:r>
          </a:p>
          <a:p>
            <a:r>
              <a:t>Persona does: Opens the submitted MTR12 version 2 and clicks Return to MBS with the reason</a:t>
            </a:r>
          </a:p>
          <a:p>
            <a:r>
              <a:t>System does: Returned to MBS</a:t>
            </a:r>
          </a:p>
          <a:p>
            <a:r>
              <a:t>Shown: Toast: Version 2 returned to MBS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SCR-PM-13_wt-b-step-12.png.</a:t>
            </a:r>
          </a:p>
          <a:p>
            <a:r>
              <a:t>Persona does: Opens MTR12 version 2</a:t>
            </a:r>
          </a:p>
          <a:p>
            <a:r>
              <a:t>System does: Draft to correct</a:t>
            </a:r>
          </a:p>
          <a:p>
            <a:r>
              <a:t>Shown: The banner Returned by the validator: &lt;reason&gt; above the tabs; the draft can be corrected and submitted again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SCR-PM-01: SCR-PM-01_view.png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SCR-PM-01_view.png; FRS section 13.1.1.</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SCR-PM-01_view.png; FRS section 13.1.1.</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SCR-PM-02: SCR-PM-02_list.png, SCR-PM-02_filters.png, SCR-PM-02_empty.png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SCR-PM-02_list.png;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SCR-PM-02_filters.png; FRS section 13.1.2.</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SCR-PM-02_empty.png; FRS section 13.1.2.</a:t>
            </a:r>
          </a:p>
          <a:p>
            <a:r>
              <a:t>Personas: TSU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SCR-PM-03: SCR-PM-03_empty.png, SCR-PM-03_filled.png, SCR-PM-03_error.png, SCR-PM-03_wt-a-step-03.png, SCR-PM-03_wt-b-step-01.png, SCR-PM-03_wt-b-step-02.png, SCR-PM-03_saved.png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SCR-PM-03_empty.png;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SCR-PM-03_filled.png;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SCR-PM-03_error.png; FRS section 13.1.3.</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SCR-PM-03_saved.png; FRS section 13.1.3.</a:t>
            </a:r>
          </a:p>
          <a:p>
            <a:r>
              <a:t>Personas: Marketing Account Officer.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SCR-PM-04: SCR-PM-04_record.png, SCR-PM-04_approval.png, SCR-PM-04_return.png, SCR-PM-04_history.png, SCR-PM-04_wt-a-step-04.png, SCR-PM-04_wt-a-step-05.png, SCR-PM-04_wt-a-step-06.png, SCR-PM-04_wt-a-step-12.png, SCR-PM-04_wt-b-step-03.png, SCR-PM-04_wt-b-step-04.png, SCR-PM-04_wt-b-step-07.png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SCR-PM-04_return.png;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SCR-PM-04_history.png; FRS section 13.1.4.</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SCR-PM-04_record.png; FRS section 13.1.4.</a:t>
            </a:r>
          </a:p>
          <a:p>
            <a:r>
              <a:t>Personas: Marketing TL / TH / UH.</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SCR-PM-04_approval.png; FRS section 13.1.4.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SCR-PM-05: SCR-PM-05_tab.png, SCR-PM-05_response.png, SCR-PM-05_terms-final.png, SCR-PM-05_revise.png, SCR-PM-05_wt-a-step-07.png, SCR-PM-05_wt-a-step-08.png, SCR-PM-05_wt-a-step-09.png, SCR-PM-05_wt-a-step-10.png, SCR-PM-05_wt-b-step-05.png, SCR-PM-05_wt-b-step-06.png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SCR-PM-05_tab.png;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SCR-PM-05_response.png;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SCR-PM-05_revise.png;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SCR-PM-05_terms-final.png; FRS section 13.1.5.</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SCR-PM-06: SCR-PM-06_tab.png, SCR-PM-06_client-view.png, SCR-PM-06_wt-a-step-11.png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SCR-PM-06_tab.png;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SCR-PM-06_client-view.png; FRS section 13.1.6.</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SCR-PM-07: SCR-PM-07_tab.png, SCR-PM-07_signoff.png, SCR-PM-07_wt-a-step-13.png, SCR-PM-07_wt-a-step-14.png, SCR-PM-07_wt-b-step-08.png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SCR-PM-07_tab.png; FRS section 13.1.7.</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SCR-PM-07_signoff.png; FRS section 13.1.7.</a:t>
            </a:r>
          </a:p>
          <a:p>
            <a:r>
              <a:t>Personas: ManCom member.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SCR-PM-08: SCR-PM-08_setup.png, SCR-PM-08_setup-tab.png, SCR-PM-08_advisories.png, SCR-PM-08_wt-a-step-15.png, SCR-PM-08_wt-a-step-20.png, SCR-PM-08_wt-b-step-09.png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SCR-PM-08_setup-tab.png;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SCR-PM-08_setup.png; FRS section 13.1.8.</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SCR-PM-08_advisories.png; FRS section 13.1.8.</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SCR-PM-09: SCR-PM-09_list.png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SCR-PM-09_list.png; FRS section 13.1.9.</a:t>
            </a:r>
          </a:p>
          <a:p>
            <a:r>
              <a:t>Personas: TSU Team Lead.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SCR-PM-10: SCR-PM-10_list.png, SCR-PM-10_dialog.png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SCR-PM-10_list.png;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SCR-PM-10_dialog.png; FRS section 13.1.10.</a:t>
            </a:r>
          </a:p>
          <a:p>
            <a:r>
              <a:t>Personas: TSU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SCR-PM-11: SCR-PM-11_list.png, SCR-PM-11_new.png, SCR-PM-11_rules.png, SCR-PM-11_auditor.png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SCR-PM-11_list.png;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SCR-PM-11_new.png; FRS section 13.2.1.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SCR-PM-11_auditor.png; FRS section 13.2.1.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SCR-PM-11_rules.png; FRS section 13.2.1.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SCR-PM-12: SCR-PM-12_record.png, SCR-PM-12_new-version.png, SCR-PM-12_rules.png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SCR-PM-12_record.png;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SCR-PM-12_new-version.png;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SCR-PM-12_rules.png; FRS section 13.2.2.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SCR-PM-13: SCR-PM-13_draft.png, SCR-PM-13_insurers.png, SCR-PM-13_terms.png, SCR-PM-13_error.png, SCR-PM-13_validation.png, SCR-PM-13_released.png, SCR-PM-13_wt-a-step-16.png, SCR-PM-13_wt-a-step-17.png, SCR-PM-13_wt-b-step-10.png, SCR-PM-13_wt-b-step-11.png, SCR-PM-13_wt-b-step-12.png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SCR-PM-13_draft.png;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SCR-PM-13_insurers.png;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SCR-PM-13_terms.png;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SCR-PM-13_error.png;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SCR-PM-13_released.png; FRS section 13.2.3.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SCR-PM-13_validation.png; FRS section 13.2.3.</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SCR-PM-14: SCR-PM-14_list.png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SCR-PM-14_list.png; FRS section 13.2.4.</a:t>
            </a:r>
          </a:p>
          <a:p>
            <a:r>
              <a:t>Personas: TSU Head.</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SCR-PM-15: SCR-PM-15_list.png, SCR-PM-15_clauses.png, SCR-PM-15_new.png, SCR-PM-15_wt-a-step-01.png, SCR-PM-15_wt-a-step-02.png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SCR-PM-15_list.png;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SCR-PM-15_clauses.png;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SCR-PM-15_clauses.png;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SCR-PM-15_new.png; FRS section 13.2.5.</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SCR-PM-16: SCR-PM-16_list.png, SCR-PM-16_new.png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SCR-PM-16_list.png;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SCR-PM-16_new.png; FRS section 13.2.6.</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SCR-PM-17: SCR-PM-17_list.png, SCR-PM-17_new.png, SCR-PM-17_auditor.png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SCR-PM-17_list.png; FRS section 13.3.1.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SCR-PM-17_list.png; FRS section 13.3.1.</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SCR-PM-17_new.png; FRS section 13.3.1.</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SCR-PM-17_auditor.png; FRS section 13.3.1.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SCR-PM-17_auditor.png; FRS section 13.3.1.</a:t>
            </a:r>
          </a:p>
          <a:p>
            <a:r>
              <a:t>Personas: Auditor.</a:t>
            </a:r>
          </a:p>
          <a:p>
            <a:r>
              <a:t>Taken for this deck (not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SCR-PM-18: SCR-PM-18_record.png, SCR-PM-18_wt-a-step-18.png, SCR-PM-18_wt-a-step-19.png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SCR-PM-18_record.png; FRS section 13.3.2.</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SCR-PM-19: SCR-PM-19_list.png, SCR-PM-19_new.png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SCR-PM-19_list.png; FRS section 13.3.3.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SCR-PM-19_list.png; FRS section 13.3.3.</a:t>
            </a:r>
          </a:p>
          <a:p>
            <a:r>
              <a:t>Personas: Marketing Business Services.</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SCR-PM-19_new.png; FRS section 13.3.3.</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SCR-PM-20: SCR-PM-20_tree.png, SCR-PM-20_actions.png, SCR-PM-20_deactivate.png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SCR-PM-20_tree.png;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SCR-PM-20_actions.png;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SCR-PM-20_deactivate.png; FRS section 13.3.4.</a:t>
            </a:r>
          </a:p>
          <a:p>
            <a:r>
              <a:t>Personas: Business Administrator.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SCR-PM-21: SCR-PM-21_filled.png, SCR-PM-21_wt-a-step-21.png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SCR-PM-21_filled.png; FRS section 13.3.5.</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Images of SCR-PM-22: SCR-PM-22_exception.png, SCR-PM-22_deviation.png, SCR-PM-22_record.png, SCR-PM-22_reject.png, SCR-PM-22_wt-a-step-22.png, SCR-PM-22_wt-a-step-23.png, SCR-PM-22_wt-a-step-24.png</a:t>
            </a:r>
          </a:p>
          <a:p>
            <a:r>
              <a:t>A dash: the state does not apply to this screen or is shown on another screen of the flow.</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images has its slide in the end-to-end flows section.</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SCR-PM-22_exception.png;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SCR-PM-22_reject.png;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SCR-PM-22_deviation.png; FRS section 13.3.6.</a:t>
            </a:r>
          </a:p>
          <a:p>
            <a:r>
              <a:t>Personas: Marketing Account Officer.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SCR-PM-22_record.png; FRS section 13.3.6.</a:t>
            </a:r>
          </a:p>
          <a:p>
            <a:r>
              <a:t>Personas: New Business Approver.</a:t>
            </a:r>
          </a:p>
          <a:p>
            <a:r>
              <a:t>Shown in the FRS.</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DO-01_document.png.</a:t>
            </a:r>
          </a:p>
          <a:p>
            <a:r>
              <a:t>Fields: Request: request number and type, package or programme name, scope, client, line and cover type, product – from the package request; Requested terms: sections; coverages with Included, Limit, Sub-limit, Deductible; rate %, minimum premium, commission %, TSI limit, computation basis, effective from, package term, anniversary; insurers with role, share, rate and minimum premium – from the requested terms; Opening text – merged from the template PKG_REQUEST_FORM;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DO-02_document.png.</a:t>
            </a:r>
          </a:p>
          <a:p>
            <a:r>
              <a:t>Fields: Slip number PQS-yyyy-nnnnnn, round, request, package, line, client or programme, reply date – from the round and the request; Round notes – the notes of the round (What changes in this round); Requested terms as in DO-01; Opening text with the slip number, round and reply date – merged from the template PKG_QUOTATION_SLIP; Signature lines Prepared by and Approved by</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DO-03_document.png.</a:t>
            </a:r>
          </a:p>
          <a:p>
            <a:r>
              <a:t>Fields: Title (Audit master or the client view title), request, round – from the output; Insurer terms: one row per insurer with the fields of the output (Outcome, Rate %, Minimum Premium, Coverages, Deductibles, Conditions / Warranties, Valid Until, Remarks) – from the insurer responses stored in the output; Opening text with the request, round and variant – merged from the template PKG_COMPARATIVE (PDF only); the Excel file holds the table only</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DO-04_document.png.</a:t>
            </a:r>
          </a:p>
          <a:p>
            <a:r>
              <a:t>Fields: Request, package, line, client or programme – from the request; Proposed terms: coverages, rate scheme, computation basis, dates and chosen insurers with role and share – from the proposed terms; Opening text – merged from the template PKG_SLIP; signature lines Prepared by and Approved by, signed on the printed slip</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DO-05_document.png.</a:t>
            </a:r>
          </a:p>
          <a:p>
            <a:r>
              <a:t>Fields: Package: request, package, line, client or programme – from the request; Reference MC-PKR-yyyy-nnnnnn, Decision, Signed by, Signed at, Comment – from the ManCom decision; footer Signed in BIBS by &lt;user&gt;</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DO-06_document.png.</a:t>
            </a:r>
          </a:p>
          <a:p>
            <a:r>
              <a:t>Fields: Subject and recipient groups – from the advisory as edited; Advisory text – merged from the template with the risk code, package name, version, effective date and request number, then edited by TSU; Supporting documents (kept in BIBS): the signed package slip and the ManCom sign-off with their file names</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In-app notices appear under the bell and on the Notifications page; e-mails follow the protected e-mail rule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chapter Proposed business rules and clarifications for confirmation of the FRS (section 22).</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Neutral proposals for the design; the business decides them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confirm with BDOI with the review of the set.</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FRS section is the section of the screen specification in the issued FRS; a change reference that names a section names these screens.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notesSlide" Target="../notesSlides/notesSlide4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0.png"/><Relationship Id="rId4" Type="http://schemas.openxmlformats.org/officeDocument/2006/relationships/notesSlide" Target="../notesSlides/notesSlide4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4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4.png"/><Relationship Id="rId4"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5.png"/><Relationship Id="rId4" Type="http://schemas.openxmlformats.org/officeDocument/2006/relationships/notesSlide" Target="../notesSlides/notesSlide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2.png"/><Relationship Id="rId4" Type="http://schemas.openxmlformats.org/officeDocument/2006/relationships/notesSlide" Target="../notesSlides/notesSlide5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3.png"/><Relationship Id="rId4" Type="http://schemas.openxmlformats.org/officeDocument/2006/relationships/notesSlide" Target="../notesSlides/notesSlide5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7.png"/><Relationship Id="rId4"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0.png"/><Relationship Id="rId6"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image" Target="../media/image73.png"/><Relationship Id="rId6"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0.png"/><Relationship Id="rId4"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notesSlide" Target="../notesSlides/notesSlide6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notesSlide" Target="../notesSlides/notesSlide6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notesSlide" Target="../notesSlides/notesSlide6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0.png"/><Relationship Id="rId4"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1.png"/><Relationship Id="rId4"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7.png"/><Relationship Id="rId4" Type="http://schemas.openxmlformats.org/officeDocument/2006/relationships/image" Target="../media/image108.png"/><Relationship Id="rId5"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9.png"/><Relationship Id="rId4"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0.png"/><Relationship Id="rId4" Type="http://schemas.openxmlformats.org/officeDocument/2006/relationships/image" Target="../media/image111.png"/><Relationship Id="rId5" Type="http://schemas.openxmlformats.org/officeDocument/2006/relationships/image" Target="../media/image112.png"/><Relationship Id="rId6"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6.png"/><Relationship Id="rId4" Type="http://schemas.openxmlformats.org/officeDocument/2006/relationships/image" Target="../media/image117.png"/><Relationship Id="rId5" Type="http://schemas.openxmlformats.org/officeDocument/2006/relationships/image" Target="../media/image118.png"/><Relationship Id="rId6"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9.png"/><Relationship Id="rId4" Type="http://schemas.openxmlformats.org/officeDocument/2006/relationships/image" Target="../media/image120.png"/><Relationship Id="rId5" Type="http://schemas.openxmlformats.org/officeDocument/2006/relationships/image" Target="../media/image121.png"/><Relationship Id="rId6"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3.png"/><Relationship Id="rId4"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4.png"/><Relationship Id="rId4"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5.png"/><Relationship Id="rId4"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6.png"/><Relationship Id="rId4"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7.png"/><Relationship Id="rId4"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8.png"/><Relationship Id="rId4"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9.png"/><Relationship Id="rId4"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0.png"/><Relationship Id="rId4"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1.png"/><Relationship Id="rId4"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2.png"/><Relationship Id="rId4"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3.png"/><Relationship Id="rId4"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4.png"/><Relationship Id="rId4"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5.png"/><Relationship Id="rId4"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6.png"/><Relationship Id="rId4"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7.png"/><Relationship Id="rId4"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8.png"/><Relationship Id="rId4"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9.png"/><Relationship Id="rId4"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0.png"/><Relationship Id="rId4"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1.png"/><Relationship Id="rId4"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2.png"/><Relationship Id="rId4"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3.png"/><Relationship Id="rId4"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4.png"/><Relationship Id="rId4"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5.png"/><Relationship Id="rId4"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6.png"/><Relationship Id="rId4"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7.png"/><Relationship Id="rId4"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8.png"/><Relationship Id="rId4"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9.png"/><Relationship Id="rId4"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0.png"/><Relationship Id="rId4"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1.png"/><Relationship Id="rId4"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2.png"/><Relationship Id="rId4"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3.png"/><Relationship Id="rId4"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4.png"/><Relationship Id="rId4"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5.png"/><Relationship Id="rId4"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6.png"/><Relationship Id="rId4"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7.png"/><Relationship Id="rId4"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8.png"/><Relationship Id="rId4"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9.png"/><Relationship Id="rId4"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0.png"/><Relationship Id="rId4"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1.png"/><Relationship Id="rId4" Type="http://schemas.openxmlformats.org/officeDocument/2006/relationships/notesSlide" Target="../notesSlides/notesSlide14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2.png"/><Relationship Id="rId4" Type="http://schemas.openxmlformats.org/officeDocument/2006/relationships/notesSlide" Target="../notesSlides/notesSlide14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3.png"/><Relationship Id="rId4" Type="http://schemas.openxmlformats.org/officeDocument/2006/relationships/notesSlide" Target="../notesSlides/notesSlide14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9.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4.png"/><Relationship Id="rId4" Type="http://schemas.openxmlformats.org/officeDocument/2006/relationships/notesSlide" Target="../notesSlides/notesSlide150.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5.png"/><Relationship Id="rId4" Type="http://schemas.openxmlformats.org/officeDocument/2006/relationships/notesSlide" Target="../notesSlides/notesSlide15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6.png"/><Relationship Id="rId4" Type="http://schemas.openxmlformats.org/officeDocument/2006/relationships/notesSlide" Target="../notesSlides/notesSlide15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7.png"/><Relationship Id="rId4" Type="http://schemas.openxmlformats.org/officeDocument/2006/relationships/notesSlide" Target="../notesSlides/notesSlide15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8.png"/><Relationship Id="rId4" Type="http://schemas.openxmlformats.org/officeDocument/2006/relationships/notesSlide" Target="../notesSlides/notesSlide15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9.png"/><Relationship Id="rId4" Type="http://schemas.openxmlformats.org/officeDocument/2006/relationships/notesSlide" Target="../notesSlides/notesSlide15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0.png"/><Relationship Id="rId4" Type="http://schemas.openxmlformats.org/officeDocument/2006/relationships/notesSlide" Target="../notesSlides/notesSlide15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1.png"/><Relationship Id="rId4" Type="http://schemas.openxmlformats.org/officeDocument/2006/relationships/notesSlide" Target="../notesSlides/notesSlide15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2.png"/><Relationship Id="rId4" Type="http://schemas.openxmlformats.org/officeDocument/2006/relationships/notesSlide" Target="../notesSlides/notesSlide15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3.png"/><Relationship Id="rId4" Type="http://schemas.openxmlformats.org/officeDocument/2006/relationships/notesSlide" Target="../notesSlides/notesSlide15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4.png"/><Relationship Id="rId4" Type="http://schemas.openxmlformats.org/officeDocument/2006/relationships/notesSlide" Target="../notesSlides/notesSlide16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5.png"/><Relationship Id="rId4" Type="http://schemas.openxmlformats.org/officeDocument/2006/relationships/notesSlide" Target="../notesSlides/notesSlide16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6.png"/><Relationship Id="rId4" Type="http://schemas.openxmlformats.org/officeDocument/2006/relationships/notesSlide" Target="../notesSlides/notesSlide16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7.png"/><Relationship Id="rId4" Type="http://schemas.openxmlformats.org/officeDocument/2006/relationships/notesSlide" Target="../notesSlides/notesSlide16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8.png"/><Relationship Id="rId4" Type="http://schemas.openxmlformats.org/officeDocument/2006/relationships/notesSlide" Target="../notesSlides/notesSlide16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9.png"/><Relationship Id="rId4" Type="http://schemas.openxmlformats.org/officeDocument/2006/relationships/notesSlide" Target="../notesSlides/notesSlide165.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0.png"/><Relationship Id="rId4" Type="http://schemas.openxmlformats.org/officeDocument/2006/relationships/notesSlide" Target="../notesSlides/notesSlide16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8.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169.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1.png"/><Relationship Id="rId4" Type="http://schemas.openxmlformats.org/officeDocument/2006/relationships/notesSlide" Target="../notesSlides/notesSlide170.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2.png"/><Relationship Id="rId4" Type="http://schemas.openxmlformats.org/officeDocument/2006/relationships/notesSlide" Target="../notesSlides/notesSlide17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3.png"/><Relationship Id="rId4" Type="http://schemas.openxmlformats.org/officeDocument/2006/relationships/notesSlide" Target="../notesSlides/notesSlide17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4.png"/><Relationship Id="rId4" Type="http://schemas.openxmlformats.org/officeDocument/2006/relationships/notesSlide" Target="../notesSlides/notesSlide173.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5.png"/><Relationship Id="rId4" Type="http://schemas.openxmlformats.org/officeDocument/2006/relationships/notesSlide" Target="../notesSlides/notesSlide174.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6.png"/><Relationship Id="rId4" Type="http://schemas.openxmlformats.org/officeDocument/2006/relationships/notesSlide" Target="../notesSlides/notesSlide17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7.png"/><Relationship Id="rId4" Type="http://schemas.openxmlformats.org/officeDocument/2006/relationships/notesSlide" Target="../notesSlides/notesSlide17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8.png"/><Relationship Id="rId4" Type="http://schemas.openxmlformats.org/officeDocument/2006/relationships/notesSlide" Target="../notesSlides/notesSlide17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9.png"/><Relationship Id="rId4" Type="http://schemas.openxmlformats.org/officeDocument/2006/relationships/notesSlide" Target="../notesSlides/notesSlide178.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0.png"/><Relationship Id="rId4" Type="http://schemas.openxmlformats.org/officeDocument/2006/relationships/notesSlide" Target="../notesSlides/notesSlide179.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0.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1.png"/><Relationship Id="rId4" Type="http://schemas.openxmlformats.org/officeDocument/2006/relationships/notesSlide" Target="../notesSlides/notesSlide18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2.png"/><Relationship Id="rId4" Type="http://schemas.openxmlformats.org/officeDocument/2006/relationships/notesSlide" Target="../notesSlides/notesSlide18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3.png"/><Relationship Id="rId4" Type="http://schemas.openxmlformats.org/officeDocument/2006/relationships/notesSlide" Target="../notesSlides/notesSlide184.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4.png"/><Relationship Id="rId4" Type="http://schemas.openxmlformats.org/officeDocument/2006/relationships/notesSlide" Target="../notesSlides/notesSlide18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5.png"/><Relationship Id="rId4" Type="http://schemas.openxmlformats.org/officeDocument/2006/relationships/notesSlide" Target="../notesSlides/notesSlide18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6.png"/><Relationship Id="rId4" Type="http://schemas.openxmlformats.org/officeDocument/2006/relationships/notesSlide" Target="../notesSlides/notesSlide18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7.png"/><Relationship Id="rId4" Type="http://schemas.openxmlformats.org/officeDocument/2006/relationships/notesSlide" Target="../notesSlides/notesSlide188.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8.png"/><Relationship Id="rId4" Type="http://schemas.openxmlformats.org/officeDocument/2006/relationships/notesSlide" Target="../notesSlides/notesSlide189.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0.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9.png"/><Relationship Id="rId4" Type="http://schemas.openxmlformats.org/officeDocument/2006/relationships/notesSlide" Target="../notesSlides/notesSlide19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0.png"/><Relationship Id="rId4" Type="http://schemas.openxmlformats.org/officeDocument/2006/relationships/notesSlide" Target="../notesSlides/notesSlide193.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1.png"/><Relationship Id="rId4" Type="http://schemas.openxmlformats.org/officeDocument/2006/relationships/notesSlide" Target="../notesSlides/notesSlide194.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2.png"/><Relationship Id="rId4" Type="http://schemas.openxmlformats.org/officeDocument/2006/relationships/notesSlide" Target="../notesSlides/notesSlide19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6.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3.png"/><Relationship Id="rId4" Type="http://schemas.openxmlformats.org/officeDocument/2006/relationships/notesSlide" Target="../notesSlides/notesSlide198.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4.png"/><Relationship Id="rId4" Type="http://schemas.openxmlformats.org/officeDocument/2006/relationships/notesSlide" Target="../notesSlides/notesSlide199.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5.png"/><Relationship Id="rId4" Type="http://schemas.openxmlformats.org/officeDocument/2006/relationships/notesSlide" Target="../notesSlides/notesSlide200.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6.png"/><Relationship Id="rId4" Type="http://schemas.openxmlformats.org/officeDocument/2006/relationships/notesSlide" Target="../notesSlides/notesSlide20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7.png"/><Relationship Id="rId4" Type="http://schemas.openxmlformats.org/officeDocument/2006/relationships/notesSlide" Target="../notesSlides/notesSlide20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8.png"/><Relationship Id="rId4" Type="http://schemas.openxmlformats.org/officeDocument/2006/relationships/notesSlide" Target="../notesSlides/notesSlide203.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9.png"/><Relationship Id="rId4" Type="http://schemas.openxmlformats.org/officeDocument/2006/relationships/notesSlide" Target="../notesSlides/notesSlide204.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0.png"/><Relationship Id="rId4" Type="http://schemas.openxmlformats.org/officeDocument/2006/relationships/notesSlide" Target="../notesSlides/notesSlide20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1.png"/><Relationship Id="rId4" Type="http://schemas.openxmlformats.org/officeDocument/2006/relationships/notesSlide" Target="../notesSlides/notesSlide20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2.png"/><Relationship Id="rId4" Type="http://schemas.openxmlformats.org/officeDocument/2006/relationships/notesSlide" Target="../notesSlides/notesSlide20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3.png"/><Relationship Id="rId4" Type="http://schemas.openxmlformats.org/officeDocument/2006/relationships/notesSlide" Target="../notesSlides/notesSlide21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4.png"/><Relationship Id="rId4" Type="http://schemas.openxmlformats.org/officeDocument/2006/relationships/notesSlide" Target="../notesSlides/notesSlide21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5.png"/><Relationship Id="rId4" Type="http://schemas.openxmlformats.org/officeDocument/2006/relationships/notesSlide" Target="../notesSlides/notesSlide21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6.png"/><Relationship Id="rId4" Type="http://schemas.openxmlformats.org/officeDocument/2006/relationships/notesSlide" Target="../notesSlides/notesSlide21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7.png"/><Relationship Id="rId4" Type="http://schemas.openxmlformats.org/officeDocument/2006/relationships/notesSlide" Target="../notesSlides/notesSlide21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8.png"/><Relationship Id="rId4" Type="http://schemas.openxmlformats.org/officeDocument/2006/relationships/notesSlide" Target="../notesSlides/notesSlide21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9.png"/><Relationship Id="rId4" Type="http://schemas.openxmlformats.org/officeDocument/2006/relationships/notesSlide" Target="../notesSlides/notesSlide21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8.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219.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0.png"/><Relationship Id="rId4" Type="http://schemas.openxmlformats.org/officeDocument/2006/relationships/notesSlide" Target="../notesSlides/notesSlide220.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1.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1.png"/><Relationship Id="rId4" Type="http://schemas.openxmlformats.org/officeDocument/2006/relationships/notesSlide" Target="../notesSlides/notesSlide22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2.png"/><Relationship Id="rId4" Type="http://schemas.openxmlformats.org/officeDocument/2006/relationships/notesSlide" Target="../notesSlides/notesSlide22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3.png"/><Relationship Id="rId4" Type="http://schemas.openxmlformats.org/officeDocument/2006/relationships/notesSlide" Target="../notesSlides/notesSlide22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4.png"/><Relationship Id="rId4" Type="http://schemas.openxmlformats.org/officeDocument/2006/relationships/notesSlide" Target="../notesSlides/notesSlide22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5.png"/><Relationship Id="rId4" Type="http://schemas.openxmlformats.org/officeDocument/2006/relationships/notesSlide" Target="../notesSlides/notesSlide22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6.png"/><Relationship Id="rId4" Type="http://schemas.openxmlformats.org/officeDocument/2006/relationships/notesSlide" Target="../notesSlides/notesSlide22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7.png"/><Relationship Id="rId4" Type="http://schemas.openxmlformats.org/officeDocument/2006/relationships/notesSlide" Target="../notesSlides/notesSlide22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8.png"/><Relationship Id="rId4" Type="http://schemas.openxmlformats.org/officeDocument/2006/relationships/notesSlide" Target="../notesSlides/notesSlide229.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9.png"/><Relationship Id="rId4" Type="http://schemas.openxmlformats.org/officeDocument/2006/relationships/notesSlide" Target="../notesSlides/notesSlide230.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0.png"/><Relationship Id="rId4" Type="http://schemas.openxmlformats.org/officeDocument/2006/relationships/notesSlide" Target="../notesSlides/notesSlide23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1.png"/><Relationship Id="rId4" Type="http://schemas.openxmlformats.org/officeDocument/2006/relationships/notesSlide" Target="../notesSlides/notesSlide23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2.png"/><Relationship Id="rId4" Type="http://schemas.openxmlformats.org/officeDocument/2006/relationships/notesSlide" Target="../notesSlides/notesSlide23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3.png"/><Relationship Id="rId4" Type="http://schemas.openxmlformats.org/officeDocument/2006/relationships/notesSlide" Target="../notesSlides/notesSlide23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4.png"/><Relationship Id="rId4" Type="http://schemas.openxmlformats.org/officeDocument/2006/relationships/notesSlide" Target="../notesSlides/notesSlide23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5.png"/><Relationship Id="rId4" Type="http://schemas.openxmlformats.org/officeDocument/2006/relationships/notesSlide" Target="../notesSlides/notesSlide23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6.png"/><Relationship Id="rId4" Type="http://schemas.openxmlformats.org/officeDocument/2006/relationships/notesSlide" Target="../notesSlides/notesSlide23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7.png"/><Relationship Id="rId4"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8.png"/><Relationship Id="rId4"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9.png"/><Relationship Id="rId4"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0.png"/><Relationship Id="rId4"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1.png"/><Relationship Id="rId4"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2.png"/><Relationship Id="rId4"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3.png"/><Relationship Id="rId4"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4.png"/><Relationship Id="rId4"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5.png"/><Relationship Id="rId4"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6.png"/><Relationship Id="rId4"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7.png"/><Relationship Id="rId4"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8.png"/><Relationship Id="rId4"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9.png"/><Relationship Id="rId4"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0.png"/><Relationship Id="rId4"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1.png"/><Relationship Id="rId4"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2.png"/><Relationship Id="rId4"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3.png"/><Relationship Id="rId4"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4.png"/><Relationship Id="rId4"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5.png"/><Relationship Id="rId4" Type="http://schemas.openxmlformats.org/officeDocument/2006/relationships/notesSlide" Target="../notesSlides/notesSlide260.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6.png"/><Relationship Id="rId4" Type="http://schemas.openxmlformats.org/officeDocument/2006/relationships/notesSlide" Target="../notesSlides/notesSlide263.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7.png"/><Relationship Id="rId4" Type="http://schemas.openxmlformats.org/officeDocument/2006/relationships/notesSlide" Target="../notesSlides/notesSlide264.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8.png"/><Relationship Id="rId4" Type="http://schemas.openxmlformats.org/officeDocument/2006/relationships/notesSlide" Target="../notesSlides/notesSlide265.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9.png"/><Relationship Id="rId4" Type="http://schemas.openxmlformats.org/officeDocument/2006/relationships/notesSlide" Target="../notesSlides/notesSlide26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0.png"/><Relationship Id="rId4" Type="http://schemas.openxmlformats.org/officeDocument/2006/relationships/notesSlide" Target="../notesSlides/notesSlide26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1.png"/><Relationship Id="rId4" Type="http://schemas.openxmlformats.org/officeDocument/2006/relationships/notesSlide" Target="../notesSlides/notesSlide268.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9.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2.png"/><Relationship Id="rId4" Type="http://schemas.openxmlformats.org/officeDocument/2006/relationships/notesSlide" Target="../notesSlides/notesSlide270.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3.png"/><Relationship Id="rId4" Type="http://schemas.openxmlformats.org/officeDocument/2006/relationships/notesSlide" Target="../notesSlides/notesSlide271.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4.png"/><Relationship Id="rId4" Type="http://schemas.openxmlformats.org/officeDocument/2006/relationships/notesSlide" Target="../notesSlides/notesSlide272.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5.png"/><Relationship Id="rId4" Type="http://schemas.openxmlformats.org/officeDocument/2006/relationships/notesSlide" Target="../notesSlides/notesSlide273.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4.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6.png"/><Relationship Id="rId4" Type="http://schemas.openxmlformats.org/officeDocument/2006/relationships/notesSlide" Target="../notesSlides/notesSlide275.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7.png"/><Relationship Id="rId4" Type="http://schemas.openxmlformats.org/officeDocument/2006/relationships/notesSlide" Target="../notesSlides/notesSlide276.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8.png"/><Relationship Id="rId4" Type="http://schemas.openxmlformats.org/officeDocument/2006/relationships/notesSlide" Target="../notesSlides/notesSlide27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9.png"/><Relationship Id="rId4" Type="http://schemas.openxmlformats.org/officeDocument/2006/relationships/notesSlide" Target="../notesSlides/notesSlide278.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0.png"/><Relationship Id="rId4" Type="http://schemas.openxmlformats.org/officeDocument/2006/relationships/notesSlide" Target="../notesSlides/notesSlide279.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0.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1.png"/><Relationship Id="rId4" Type="http://schemas.openxmlformats.org/officeDocument/2006/relationships/notesSlide" Target="../notesSlides/notesSlide28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2.png"/><Relationship Id="rId4" Type="http://schemas.openxmlformats.org/officeDocument/2006/relationships/notesSlide" Target="../notesSlides/notesSlide28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3.png"/><Relationship Id="rId4" Type="http://schemas.openxmlformats.org/officeDocument/2006/relationships/notesSlide" Target="../notesSlides/notesSlide28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4.png"/><Relationship Id="rId4" Type="http://schemas.openxmlformats.org/officeDocument/2006/relationships/notesSlide" Target="../notesSlides/notesSlide28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5.png"/><Relationship Id="rId4" Type="http://schemas.openxmlformats.org/officeDocument/2006/relationships/notesSlide" Target="../notesSlides/notesSlide28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6.png"/><Relationship Id="rId4" Type="http://schemas.openxmlformats.org/officeDocument/2006/relationships/notesSlide" Target="../notesSlides/notesSlide28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7.png"/><Relationship Id="rId4" Type="http://schemas.openxmlformats.org/officeDocument/2006/relationships/notesSlide" Target="../notesSlides/notesSlide29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8.png"/><Relationship Id="rId4" Type="http://schemas.openxmlformats.org/officeDocument/2006/relationships/notesSlide" Target="../notesSlides/notesSlide29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9.png"/><Relationship Id="rId4" Type="http://schemas.openxmlformats.org/officeDocument/2006/relationships/notesSlide" Target="../notesSlides/notesSlide29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0.png"/><Relationship Id="rId4" Type="http://schemas.openxmlformats.org/officeDocument/2006/relationships/notesSlide" Target="../notesSlides/notesSlide29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1.png"/><Relationship Id="rId4" Type="http://schemas.openxmlformats.org/officeDocument/2006/relationships/notesSlide" Target="../notesSlides/notesSlide29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2.png"/><Relationship Id="rId4" Type="http://schemas.openxmlformats.org/officeDocument/2006/relationships/notesSlide" Target="../notesSlides/notesSlide29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3.png"/><Relationship Id="rId4" Type="http://schemas.openxmlformats.org/officeDocument/2006/relationships/notesSlide" Target="../notesSlides/notesSlide298.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4.png"/><Relationship Id="rId4" Type="http://schemas.openxmlformats.org/officeDocument/2006/relationships/notesSlide" Target="../notesSlides/notesSlide29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5.png"/><Relationship Id="rId4" Type="http://schemas.openxmlformats.org/officeDocument/2006/relationships/notesSlide" Target="../notesSlides/notesSlide300.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1.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2.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6.png"/><Relationship Id="rId4" Type="http://schemas.openxmlformats.org/officeDocument/2006/relationships/notesSlide" Target="../notesSlides/notesSlide30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7.png"/><Relationship Id="rId4" Type="http://schemas.openxmlformats.org/officeDocument/2006/relationships/notesSlide" Target="../notesSlides/notesSlide304.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8.png"/><Relationship Id="rId4" Type="http://schemas.openxmlformats.org/officeDocument/2006/relationships/notesSlide" Target="../notesSlides/notesSlide305.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9.png"/><Relationship Id="rId4" Type="http://schemas.openxmlformats.org/officeDocument/2006/relationships/notesSlide" Target="../notesSlides/notesSlide306.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0.png"/><Relationship Id="rId4" Type="http://schemas.openxmlformats.org/officeDocument/2006/relationships/notesSlide" Target="../notesSlides/notesSlide30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1.png"/><Relationship Id="rId4" Type="http://schemas.openxmlformats.org/officeDocument/2006/relationships/notesSlide" Target="../notesSlides/notesSlide30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2.png"/><Relationship Id="rId4" Type="http://schemas.openxmlformats.org/officeDocument/2006/relationships/notesSlide" Target="../notesSlides/notesSlide30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3.png"/><Relationship Id="rId4" Type="http://schemas.openxmlformats.org/officeDocument/2006/relationships/notesSlide" Target="../notesSlides/notesSlide31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4.png"/><Relationship Id="rId4" Type="http://schemas.openxmlformats.org/officeDocument/2006/relationships/notesSlide" Target="../notesSlides/notesSlide31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05.png"/><Relationship Id="rId4" Type="http://schemas.openxmlformats.org/officeDocument/2006/relationships/notesSlide" Target="../notesSlides/notesSlide31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5.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6.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UX Screen Deck: BRD-3 Product Maintenance</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BRD-3 Product Maintenance: every screen, persona by persona and flow by flow, for the BDOI UX Design team</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27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this deck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Every screen of BRD-3 Product Maintenance as the FRS v2.0 specifies it, so that the UX Design team designs in parallel with the business review</a:t>
            </a:r>
          </a:p>
          <a:p>
            <a:pPr lvl="1">
              <a:spcAft>
                <a:spcPts val="600"/>
              </a:spcAft>
            </a:pPr>
            <a:r>
              <a:rPr sz="1400">
                <a:solidFill>
                  <a:srgbClr val="656565"/>
                </a:solidFill>
                <a:latin typeface="Arial"/>
              </a:rPr>
              <a:t>–  </a:t>
            </a:r>
            <a:r>
              <a:rPr sz="1400">
                <a:solidFill>
                  <a:srgbClr val="4B4B4B"/>
                </a:solidFill>
                <a:latin typeface="Arial"/>
              </a:rPr>
              <a:t>22 screens, 123 screen images, 61 screen states, 11 personas, 2 end-to-end flows</a:t>
            </a:r>
          </a:p>
          <a:p>
            <a:pPr>
              <a:spcAft>
                <a:spcPts val="600"/>
              </a:spcAft>
            </a:pPr>
            <a:r>
              <a:rPr sz="1600">
                <a:solidFill>
                  <a:srgbClr val="004EA8"/>
                </a:solidFill>
                <a:latin typeface="Arial"/>
              </a:rPr>
              <a:t>•  </a:t>
            </a:r>
            <a:r>
              <a:rPr sz="1600">
                <a:solidFill>
                  <a:srgbClr val="4B4B4B"/>
                </a:solidFill>
                <a:latin typeface="Arial"/>
              </a:rPr>
              <a:t>Persona by persona: who they are, their landing page and menu, the screens they open, the flows they take part in</a:t>
            </a:r>
          </a:p>
          <a:p>
            <a:pPr>
              <a:spcAft>
                <a:spcPts val="600"/>
              </a:spcAft>
            </a:pPr>
            <a:r>
              <a:rPr sz="1600">
                <a:solidFill>
                  <a:srgbClr val="004EA8"/>
                </a:solidFill>
                <a:latin typeface="Arial"/>
              </a:rPr>
              <a:t>•  </a:t>
            </a:r>
            <a:r>
              <a:rPr sz="1600">
                <a:solidFill>
                  <a:srgbClr val="4B4B4B"/>
                </a:solidFill>
                <a:latin typeface="Arial"/>
              </a:rPr>
              <a:t>Flow by flow: every end-to-end flow as a swimlane of the personas, then one slide per step with the screen, what the user does, what the system does, the next step and the messages shown</a:t>
            </a:r>
          </a:p>
          <a:p>
            <a:pPr>
              <a:spcAft>
                <a:spcPts val="600"/>
              </a:spcAft>
            </a:pPr>
            <a:r>
              <a:rPr sz="1600">
                <a:solidFill>
                  <a:srgbClr val="004EA8"/>
                </a:solidFill>
                <a:latin typeface="Arial"/>
              </a:rPr>
              <a:t>•  </a:t>
            </a:r>
            <a:r>
              <a:rPr sz="1600">
                <a:solidFill>
                  <a:srgbClr val="4B4B4B"/>
                </a:solidFill>
                <a:latin typeface="Arial"/>
              </a:rPr>
              <a:t>Screen by screen: the numbered callouts, fields, actions and every state of each screen</a:t>
            </a:r>
          </a:p>
          <a:p>
            <a:pPr>
              <a:spcAft>
                <a:spcPts val="600"/>
              </a:spcAft>
            </a:pPr>
            <a:r>
              <a:rPr sz="1600">
                <a:solidFill>
                  <a:srgbClr val="004EA8"/>
                </a:solidFill>
                <a:latin typeface="Arial"/>
              </a:rPr>
              <a:t>•  </a:t>
            </a:r>
            <a:r>
              <a:rPr sz="1600">
                <a:solidFill>
                  <a:srgbClr val="4B4B4B"/>
                </a:solidFill>
                <a:latin typeface="Arial"/>
              </a:rPr>
              <a:t>Business and design content only: the screens, the words on them, the rules the user meets and the points to confirm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use the deck, the register and the image package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07 UX Screen Deck</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Read the design foundation and the navigation first</a:t>
            </a:r>
          </a:p>
          <a:p>
            <a:pPr>
              <a:spcAft>
                <a:spcPts val="600"/>
              </a:spcAft>
            </a:pPr>
            <a:r>
              <a:rPr sz="1200">
                <a:solidFill>
                  <a:srgbClr val="004EA8"/>
                </a:solidFill>
                <a:latin typeface="Arial"/>
              </a:rPr>
              <a:t>•  </a:t>
            </a:r>
            <a:r>
              <a:rPr sz="1200">
                <a:solidFill>
                  <a:srgbClr val="4B4B4B"/>
                </a:solidFill>
                <a:latin typeface="Arial"/>
              </a:rPr>
              <a:t>Then a persona, a flow or a screen: the screen ID (SCR-...) links the three parts</a:t>
            </a:r>
          </a:p>
          <a:p>
            <a:pPr>
              <a:spcAft>
                <a:spcPts val="600"/>
              </a:spcAft>
            </a:pPr>
            <a:r>
              <a:rPr sz="1200">
                <a:solidFill>
                  <a:srgbClr val="004EA8"/>
                </a:solidFill>
                <a:latin typeface="Arial"/>
              </a:rPr>
              <a:t>•  </a:t>
            </a:r>
            <a:r>
              <a:rPr sz="1200">
                <a:solidFill>
                  <a:srgbClr val="4B4B4B"/>
                </a:solidFill>
                <a:latin typeface="Arial"/>
              </a:rPr>
              <a:t>Each image slide names its state; tall screens continue on the next slide</a:t>
            </a:r>
          </a:p>
          <a:p>
            <a:pPr>
              <a:spcAft>
                <a:spcPts val="600"/>
              </a:spcAft>
            </a:pPr>
            <a:r>
              <a:rPr sz="1200">
                <a:solidFill>
                  <a:srgbClr val="004EA8"/>
                </a:solidFill>
                <a:latin typeface="Arial"/>
              </a:rPr>
              <a:t>•  </a:t>
            </a:r>
            <a:r>
              <a:rPr sz="1200">
                <a:solidFill>
                  <a:srgbClr val="4B4B4B"/>
                </a:solidFill>
                <a:latin typeface="Arial"/>
              </a:rPr>
              <a:t>Speaker notes give the image file and the FRS section</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08 UX screen register</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One row per screen image, with the screen ID, personas, flow and step, state, FRS section and requirements</a:t>
            </a:r>
          </a:p>
          <a:p>
            <a:pPr>
              <a:spcAft>
                <a:spcPts val="600"/>
              </a:spcAft>
            </a:pPr>
            <a:r>
              <a:rPr sz="1200">
                <a:solidFill>
                  <a:srgbClr val="004EA8"/>
                </a:solidFill>
                <a:latin typeface="Arial"/>
              </a:rPr>
              <a:t>•  </a:t>
            </a:r>
            <a:r>
              <a:rPr sz="1200">
                <a:solidFill>
                  <a:srgbClr val="4B4B4B"/>
                </a:solidFill>
                <a:latin typeface="Arial"/>
              </a:rPr>
              <a:t>The UX Design team sets UXD status and UXD comments on each row</a:t>
            </a:r>
          </a:p>
          <a:p>
            <a:pPr>
              <a:spcAft>
                <a:spcPts val="600"/>
              </a:spcAft>
            </a:pPr>
            <a:r>
              <a:rPr sz="1200">
                <a:solidFill>
                  <a:srgbClr val="004EA8"/>
                </a:solidFill>
                <a:latin typeface="Arial"/>
              </a:rPr>
              <a:t>•  </a:t>
            </a:r>
            <a:r>
              <a:rPr sz="1200">
                <a:solidFill>
                  <a:srgbClr val="4B4B4B"/>
                </a:solidFill>
                <a:latin typeface="Arial"/>
              </a:rPr>
              <a:t>Changed in this issue marks the rows to revisit, with the change reference</a:t>
            </a:r>
          </a:p>
          <a:p>
            <a:pPr>
              <a:spcAft>
                <a:spcPts val="600"/>
              </a:spcAft>
            </a:pPr>
            <a:r>
              <a:rPr sz="1200">
                <a:solidFill>
                  <a:srgbClr val="004EA8"/>
                </a:solidFill>
                <a:latin typeface="Arial"/>
              </a:rPr>
              <a:t>•  </a:t>
            </a:r>
            <a:r>
              <a:rPr sz="1200">
                <a:solidFill>
                  <a:srgbClr val="4B4B4B"/>
                </a:solidFill>
                <a:latin typeface="Arial"/>
              </a:rPr>
              <a:t>Questions go to the Questions and comments sheet</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09 Image package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screen image at twice the screen resolution (PNG), named &lt;Screen ID&gt;_&lt;state&gt;.png as in the register</a:t>
            </a:r>
          </a:p>
          <a:p>
            <a:pPr>
              <a:spcAft>
                <a:spcPts val="600"/>
              </a:spcAft>
            </a:pPr>
            <a:r>
              <a:rPr sz="1200">
                <a:solidFill>
                  <a:srgbClr val="004EA8"/>
                </a:solidFill>
                <a:latin typeface="Arial"/>
              </a:rPr>
              <a:t>•  </a:t>
            </a:r>
            <a:r>
              <a:rPr sz="1200">
                <a:solidFill>
                  <a:srgbClr val="4B4B4B"/>
                </a:solidFill>
                <a:latin typeface="Arial"/>
              </a:rPr>
              <a:t>The crops of the shared components in the folder components</a:t>
            </a:r>
          </a:p>
          <a:p>
            <a:pPr>
              <a:spcAft>
                <a:spcPts val="600"/>
              </a:spcAft>
            </a:pPr>
            <a:r>
              <a:rPr sz="1200">
                <a:solidFill>
                  <a:srgbClr val="004EA8"/>
                </a:solidFill>
                <a:latin typeface="Arial"/>
              </a:rPr>
              <a:t>•  </a:t>
            </a:r>
            <a:r>
              <a:rPr sz="1200">
                <a:solidFill>
                  <a:srgbClr val="4B4B4B"/>
                </a:solidFill>
                <a:latin typeface="Arial"/>
              </a:rPr>
              <a:t>The register as CSV, to import into the design tool</a:t>
            </a:r>
          </a:p>
          <a:p>
            <a:pPr>
              <a:spcAft>
                <a:spcPts val="600"/>
              </a:spcAft>
            </a:pPr>
            <a:r>
              <a:rPr sz="1200">
                <a:solidFill>
                  <a:srgbClr val="004EA8"/>
                </a:solidFill>
                <a:latin typeface="Arial"/>
              </a:rPr>
              <a:t>•  </a:t>
            </a:r>
            <a:r>
              <a:rPr sz="1200">
                <a:solidFill>
                  <a:srgbClr val="4B4B4B"/>
                </a:solidFill>
                <a:latin typeface="Arial"/>
              </a:rPr>
              <a:t>Replaced as a whole with each issue of the set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an FRS change reaches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Change raised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A comment of the sign-off workbook or a change request of the Change Management Register gets its change reference</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Business and project team</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Screens named</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The change names the FRS section; the map at the end of this deck turns the section into the screen IDs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Project team</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Delta re-issue</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The affected screens are captured again; the register rows get Changed in this issue = Y with the change reference; the slides carry the Changed badge</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Next version of the set</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UXD revises</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The UX Design team revises only the changed screens and sets their UXD status; the other rows keep theirs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UX Design team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Changes in this issue (v2.0, 28 September 2026)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25880"/>
          <a:ext cx="11094413" cy="1371600"/>
        </p:xfrm>
        <a:graphic>
          <a:graphicData uri="http://schemas.openxmlformats.org/drawingml/2006/table">
            <a:tbl>
              <a:tblPr firstRow="1" bandRow="1">
                <a:tableStyleId>{5C22544A-7EE6-4342-B048-85BDC9FD1C3A}</a:tableStyleId>
              </a:tblPr>
              <a:tblGrid>
                <a:gridCol w="1849069"/>
                <a:gridCol w="6219596"/>
                <a:gridCol w="2185263"/>
                <a:gridCol w="840485"/>
              </a:tblGrid>
              <a:tr h="259080">
                <a:tc>
                  <a:txBody>
                    <a:bodyPr/>
                    <a:lstStyle/>
                    <a:p>
                      <a:r>
                        <a:rPr sz="1100" b="1">
                          <a:solidFill>
                            <a:srgbClr val="FFFFFF"/>
                          </a:solidFill>
                          <a:latin typeface="Arial"/>
                        </a:rPr>
                        <a:t>Change reference</a:t>
                      </a:r>
                    </a:p>
                  </a:txBody>
                  <a:tcPr marL="54864" marR="54864" marT="27432" marB="27432">
                    <a:solidFill>
                      <a:srgbClr val="004EA8"/>
                    </a:solidFill>
                  </a:tcPr>
                </a:tc>
                <a:tc>
                  <a:txBody>
                    <a:bodyPr/>
                    <a:lstStyle/>
                    <a:p>
                      <a:r>
                        <a:rPr sz="1100" b="1">
                          <a:solidFill>
                            <a:srgbClr val="FFFFFF"/>
                          </a:solidFill>
                          <a:latin typeface="Arial"/>
                        </a:rPr>
                        <a:t>What changed</a:t>
                      </a:r>
                    </a:p>
                  </a:txBody>
                  <a:tcPr marL="54864" marR="54864" marT="27432" marB="27432">
                    <a:solidFill>
                      <a:srgbClr val="004EA8"/>
                    </a:solidFill>
                  </a:tcPr>
                </a:tc>
                <a:tc>
                  <a:txBody>
                    <a:bodyPr/>
                    <a:lstStyle/>
                    <a:p>
                      <a:r>
                        <a:rPr sz="1100" b="1">
                          <a:solidFill>
                            <a:srgbClr val="FFFFFF"/>
                          </a:solidFill>
                          <a:latin typeface="Arial"/>
                        </a:rPr>
                        <a:t>Screens</a:t>
                      </a:r>
                    </a:p>
                  </a:txBody>
                  <a:tcPr marL="54864" marR="54864" marT="27432" marB="27432">
                    <a:solidFill>
                      <a:srgbClr val="004EA8"/>
                    </a:solidFill>
                  </a:tcPr>
                </a:tc>
                <a:tc>
                  <a:txBody>
                    <a:bodyPr/>
                    <a:lstStyle/>
                    <a:p>
                      <a:r>
                        <a:rPr sz="1100" b="1">
                          <a:solidFill>
                            <a:srgbClr val="FFFFFF"/>
                          </a:solidFill>
                          <a:latin typeface="Arial"/>
                        </a:rPr>
                        <a:t>Images</a:t>
                      </a:r>
                    </a:p>
                  </a:txBody>
                  <a:tcPr marL="54864" marR="54864" marT="27432" marB="27432">
                    <a:solidFill>
                      <a:srgbClr val="004EA8"/>
                    </a:solidFill>
                  </a:tcPr>
                </a:tc>
              </a:tr>
              <a:tr h="426720">
                <a:tc>
                  <a:txBody>
                    <a:bodyPr/>
                    <a:lstStyle/>
                    <a:p>
                      <a:r>
                        <a:rPr sz="1100" b="0">
                          <a:solidFill>
                            <a:srgbClr val="4B4B4B"/>
                          </a:solidFill>
                          <a:latin typeface="Arial"/>
                        </a:rPr>
                        <a:t>CHG-PM-2.0-01</a:t>
                      </a:r>
                    </a:p>
                  </a:txBody>
                  <a:tcPr marL="54864" marR="54864" marT="27432" marB="27432">
                    <a:solidFill>
                      <a:srgbClr val="FFFFFF"/>
                    </a:solidFill>
                  </a:tcPr>
                </a:tc>
                <a:tc>
                  <a:txBody>
                    <a:bodyPr/>
                    <a:lstStyle/>
                    <a:p>
                      <a:r>
                        <a:rPr sz="1100" b="0">
                          <a:solidFill>
                            <a:srgbClr val="4B4B4B"/>
                          </a:solidFill>
                          <a:latin typeface="Arial"/>
                        </a:rPr>
                        <a:t>Sales Organisation shown as a tree table, with the actions menu of each row and the refused deactivation</a:t>
                      </a:r>
                    </a:p>
                  </a:txBody>
                  <a:tcPr marL="54864" marR="54864" marT="27432" marB="27432">
                    <a:solidFill>
                      <a:srgbClr val="FFFFFF"/>
                    </a:solidFill>
                  </a:tcPr>
                </a:tc>
                <a:tc>
                  <a:txBody>
                    <a:bodyPr/>
                    <a:lstStyle/>
                    <a:p>
                      <a:r>
                        <a:rPr sz="1100" b="0">
                          <a:solidFill>
                            <a:srgbClr val="4B4B4B"/>
                          </a:solidFill>
                          <a:latin typeface="Arial"/>
                        </a:rPr>
                        <a:t>SCR-PM-20</a:t>
                      </a:r>
                    </a:p>
                  </a:txBody>
                  <a:tcPr marL="54864" marR="54864" marT="27432" marB="27432">
                    <a:solidFill>
                      <a:srgbClr val="FFFFFF"/>
                    </a:solidFill>
                  </a:tcPr>
                </a:tc>
                <a:tc>
                  <a:txBody>
                    <a:bodyPr/>
                    <a:lstStyle/>
                    <a:p>
                      <a:r>
                        <a:rPr sz="1100" b="0">
                          <a:solidFill>
                            <a:srgbClr val="4B4B4B"/>
                          </a:solidFill>
                          <a:latin typeface="Arial"/>
                        </a:rPr>
                        <a:t>3</a:t>
                      </a:r>
                    </a:p>
                  </a:txBody>
                  <a:tcPr marL="54864" marR="54864" marT="27432" marB="27432">
                    <a:solidFill>
                      <a:srgbClr val="FFFFFF"/>
                    </a:solidFill>
                  </a:tcPr>
                </a:tc>
              </a:tr>
              <a:tr h="426720">
                <a:tc>
                  <a:txBody>
                    <a:bodyPr/>
                    <a:lstStyle/>
                    <a:p>
                      <a:r>
                        <a:rPr sz="1100" b="0">
                          <a:solidFill>
                            <a:srgbClr val="4B4B4B"/>
                          </a:solidFill>
                          <a:latin typeface="Arial"/>
                        </a:rPr>
                        <a:t>CHG-PM-2.0-02</a:t>
                      </a:r>
                    </a:p>
                  </a:txBody>
                  <a:tcPr marL="54864" marR="54864" marT="27432" marB="27432">
                    <a:solidFill>
                      <a:srgbClr val="E5F5FF"/>
                    </a:solidFill>
                  </a:tcPr>
                </a:tc>
                <a:tc>
                  <a:txBody>
                    <a:bodyPr/>
                    <a:lstStyle/>
                    <a:p>
                      <a:r>
                        <a:rPr sz="1100" b="0">
                          <a:solidFill>
                            <a:srgbClr val="4B4B4B"/>
                          </a:solidFill>
                          <a:latin typeface="Arial"/>
                        </a:rPr>
                        <a:t>Package Version: the header with its package request, the Validation Checklist of the validator and the Validation card of a released version with the checks and the figures compared</a:t>
                      </a:r>
                    </a:p>
                  </a:txBody>
                  <a:tcPr marL="54864" marR="54864" marT="27432" marB="27432">
                    <a:solidFill>
                      <a:srgbClr val="E5F5FF"/>
                    </a:solidFill>
                  </a:tcPr>
                </a:tc>
                <a:tc>
                  <a:txBody>
                    <a:bodyPr/>
                    <a:lstStyle/>
                    <a:p>
                      <a:r>
                        <a:rPr sz="1100" b="0">
                          <a:solidFill>
                            <a:srgbClr val="4B4B4B"/>
                          </a:solidFill>
                          <a:latin typeface="Arial"/>
                        </a:rPr>
                        <a:t>SCR-PM-13</a:t>
                      </a:r>
                    </a:p>
                  </a:txBody>
                  <a:tcPr marL="54864" marR="54864" marT="27432" marB="27432">
                    <a:solidFill>
                      <a:srgbClr val="E5F5FF"/>
                    </a:solidFill>
                  </a:tcPr>
                </a:tc>
                <a:tc>
                  <a:txBody>
                    <a:bodyPr/>
                    <a:lstStyle/>
                    <a:p>
                      <a:r>
                        <a:rPr sz="1100" b="0">
                          <a:solidFill>
                            <a:srgbClr val="4B4B4B"/>
                          </a:solidFill>
                          <a:latin typeface="Arial"/>
                        </a:rPr>
                        <a:t>5</a:t>
                      </a:r>
                    </a:p>
                  </a:txBody>
                  <a:tcPr marL="54864" marR="54864" marT="27432" marB="27432">
                    <a:solidFill>
                      <a:srgbClr val="E5F5FF"/>
                    </a:solidFill>
                  </a:tcPr>
                </a:tc>
              </a:tr>
              <a:tr h="259080">
                <a:tc>
                  <a:txBody>
                    <a:bodyPr/>
                    <a:lstStyle/>
                    <a:p>
                      <a:r>
                        <a:rPr sz="1100" b="0">
                          <a:solidFill>
                            <a:srgbClr val="4B4B4B"/>
                          </a:solidFill>
                          <a:latin typeface="Arial"/>
                        </a:rPr>
                        <a:t>CHG-PM-2.0-03</a:t>
                      </a:r>
                    </a:p>
                  </a:txBody>
                  <a:tcPr marL="54864" marR="54864" marT="27432" marB="27432">
                    <a:solidFill>
                      <a:srgbClr val="FFFFFF"/>
                    </a:solidFill>
                  </a:tcPr>
                </a:tc>
                <a:tc>
                  <a:txBody>
                    <a:bodyPr/>
                    <a:lstStyle/>
                    <a:p>
                      <a:r>
                        <a:rPr sz="1100" b="0">
                          <a:solidFill>
                            <a:srgbClr val="4B4B4B"/>
                          </a:solidFill>
                          <a:latin typeface="Arial"/>
                        </a:rPr>
                        <a:t>The rule parameters of an incentive criterion as a table of parameters and values</a:t>
                      </a:r>
                    </a:p>
                  </a:txBody>
                  <a:tcPr marL="54864" marR="54864" marT="27432" marB="27432">
                    <a:solidFill>
                      <a:srgbClr val="FFFFFF"/>
                    </a:solidFill>
                  </a:tcPr>
                </a:tc>
                <a:tc>
                  <a:txBody>
                    <a:bodyPr/>
                    <a:lstStyle/>
                    <a:p>
                      <a:r>
                        <a:rPr sz="1100" b="0">
                          <a:solidFill>
                            <a:srgbClr val="4B4B4B"/>
                          </a:solidFill>
                          <a:latin typeface="Arial"/>
                        </a:rPr>
                        <a:t>SCR-PM-16</a:t>
                      </a:r>
                    </a:p>
                  </a:txBody>
                  <a:tcPr marL="54864" marR="54864" marT="27432" marB="27432">
                    <a:solidFill>
                      <a:srgbClr val="FFFFFF"/>
                    </a:solidFill>
                  </a:tcPr>
                </a:tc>
                <a:tc>
                  <a:txBody>
                    <a:bodyPr/>
                    <a:lstStyle/>
                    <a:p>
                      <a:r>
                        <a:rPr sz="1100" b="0">
                          <a:solidFill>
                            <a:srgbClr val="4B4B4B"/>
                          </a:solidFill>
                          <a:latin typeface="Arial"/>
                        </a:rPr>
                        <a:t>1</a:t>
                      </a:r>
                    </a:p>
                  </a:txBody>
                  <a:tcPr marL="54864" marR="54864" marT="27432" marB="2743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Contacts and roles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graphicFrame>
        <p:nvGraphicFramePr>
          <p:cNvPr id="9" name="Table 8"/>
          <p:cNvGraphicFramePr>
            <a:graphicFrameLocks noGrp="1"/>
          </p:cNvGraphicFramePr>
          <p:nvPr/>
        </p:nvGraphicFramePr>
        <p:xfrm>
          <a:off x="548640" y="1325880"/>
          <a:ext cx="11094414" cy="4297680"/>
        </p:xfrm>
        <a:graphic>
          <a:graphicData uri="http://schemas.openxmlformats.org/drawingml/2006/table">
            <a:tbl>
              <a:tblPr firstRow="1" bandRow="1">
                <a:tableStyleId>{5C22544A-7EE6-4342-B048-85BDC9FD1C3A}</a:tableStyleId>
              </a:tblPr>
              <a:tblGrid>
                <a:gridCol w="1450808"/>
                <a:gridCol w="3669691"/>
                <a:gridCol w="1365466"/>
                <a:gridCol w="4608449"/>
              </a:tblGrid>
              <a:tr h="228600">
                <a:tc>
                  <a:txBody>
                    <a:bodyPr/>
                    <a:lstStyle/>
                    <a:p>
                      <a:r>
                        <a:rPr sz="900" b="1">
                          <a:solidFill>
                            <a:srgbClr val="FFFFFF"/>
                          </a:solidFill>
                          <a:latin typeface="Arial"/>
                        </a:rPr>
                        <a:t>Capacity</a:t>
                      </a:r>
                    </a:p>
                  </a:txBody>
                  <a:tcPr marL="54864" marR="54864" marT="27432" marB="27432">
                    <a:solidFill>
                      <a:srgbClr val="004EA8"/>
                    </a:solidFill>
                  </a:tcPr>
                </a:tc>
                <a:tc>
                  <a:txBody>
                    <a:bodyPr/>
                    <a:lstStyle/>
                    <a:p>
                      <a:r>
                        <a:rPr sz="900" b="1">
                          <a:solidFill>
                            <a:srgbClr val="FFFFFF"/>
                          </a:solidFill>
                          <a:latin typeface="Arial"/>
                        </a:rPr>
                        <a:t>Role</a:t>
                      </a:r>
                    </a:p>
                  </a:txBody>
                  <a:tcPr marL="54864" marR="54864" marT="27432" marB="27432">
                    <a:solidFill>
                      <a:srgbClr val="004EA8"/>
                    </a:solidFill>
                  </a:tcPr>
                </a:tc>
                <a:tc>
                  <a:txBody>
                    <a:bodyPr/>
                    <a:lstStyle/>
                    <a:p>
                      <a:r>
                        <a:rPr sz="900" b="1">
                          <a:solidFill>
                            <a:srgbClr val="FFFFFF"/>
                          </a:solidFill>
                          <a:latin typeface="Arial"/>
                        </a:rPr>
                        <a:t>Organisation</a:t>
                      </a:r>
                    </a:p>
                  </a:txBody>
                  <a:tcPr marL="54864" marR="54864" marT="27432" marB="27432">
                    <a:solidFill>
                      <a:srgbClr val="004EA8"/>
                    </a:solidFill>
                  </a:tcPr>
                </a:tc>
                <a:tc>
                  <a:txBody>
                    <a:bodyPr/>
                    <a:lstStyle/>
                    <a:p>
                      <a:r>
                        <a:rPr sz="900" b="1">
                          <a:solidFill>
                            <a:srgbClr val="FFFFFF"/>
                          </a:solidFill>
                          <a:latin typeface="Arial"/>
                        </a:rPr>
                        <a:t>Part in the set</a:t>
                      </a:r>
                    </a:p>
                  </a:txBody>
                  <a:tcPr marL="54864" marR="54864" marT="27432" marB="27432">
                    <a:solidFill>
                      <a:srgbClr val="004EA8"/>
                    </a:solidFill>
                  </a:tcPr>
                </a:tc>
              </a:tr>
              <a:tr h="365760">
                <a:tc>
                  <a:txBody>
                    <a:bodyPr/>
                    <a:lstStyle/>
                    <a:p>
                      <a:r>
                        <a:rPr sz="900" b="0">
                          <a:solidFill>
                            <a:srgbClr val="4B4B4B"/>
                          </a:solidFill>
                          <a:latin typeface="Arial"/>
                        </a:rPr>
                        <a:t>Prepared by</a:t>
                      </a:r>
                    </a:p>
                  </a:txBody>
                  <a:tcPr marL="54864" marR="54864" marT="27432" marB="27432">
                    <a:solidFill>
                      <a:srgbClr val="FFFFFF"/>
                    </a:solidFill>
                  </a:tcPr>
                </a:tc>
                <a:tc>
                  <a:txBody>
                    <a:bodyPr/>
                    <a:lstStyle/>
                    <a:p>
                      <a:r>
                        <a:rPr sz="900" b="0">
                          <a:solidFill>
                            <a:srgbClr val="4B4B4B"/>
                          </a:solidFill>
                          <a:latin typeface="Arial"/>
                        </a:rPr>
                        <a:t>iorta TechNXT project team: Project Manager, Business Analysis, test lead</a:t>
                      </a:r>
                    </a:p>
                  </a:txBody>
                  <a:tcPr marL="54864" marR="54864" marT="27432" marB="27432">
                    <a:solidFill>
                      <a:srgbClr val="FFFFFF"/>
                    </a:solidFill>
                  </a:tcPr>
                </a:tc>
                <a:tc>
                  <a:txBody>
                    <a:bodyPr/>
                    <a:lstStyle/>
                    <a:p>
                      <a:r>
                        <a:rPr sz="900" b="0">
                          <a:solidFill>
                            <a:srgbClr val="4B4B4B"/>
                          </a:solidFill>
                          <a:latin typeface="Arial"/>
                        </a:rPr>
                        <a:t>iorta TechNXT</a:t>
                      </a:r>
                    </a:p>
                  </a:txBody>
                  <a:tcPr marL="54864" marR="54864" marT="27432" marB="27432">
                    <a:solidFill>
                      <a:srgbClr val="FFFFFF"/>
                    </a:solidFill>
                  </a:tcPr>
                </a:tc>
                <a:tc>
                  <a:txBody>
                    <a:bodyPr/>
                    <a:lstStyle/>
                    <a:p>
                      <a:r>
                        <a:rPr sz="900" b="0">
                          <a:solidFill>
                            <a:srgbClr val="4B4B4B"/>
                          </a:solidFill>
                          <a:latin typeface="Arial"/>
                        </a:rPr>
                        <a:t>The set is complete and consistent as issued, traced to the BRD and to the screens; every comment is answered in the comments log</a:t>
                      </a:r>
                    </a:p>
                  </a:txBody>
                  <a:tcPr marL="54864" marR="54864" marT="27432" marB="27432">
                    <a:solidFill>
                      <a:srgbClr val="FFFFFF"/>
                    </a:solidFill>
                  </a:tcPr>
                </a:tc>
              </a:tr>
              <a:tr h="365760">
                <a:tc>
                  <a:txBody>
                    <a:bodyPr/>
                    <a:lstStyle/>
                    <a:p>
                      <a:r>
                        <a:rPr sz="900" b="0">
                          <a:solidFill>
                            <a:srgbClr val="4B4B4B"/>
                          </a:solidFill>
                          <a:latin typeface="Arial"/>
                        </a:rPr>
                        <a:t>Prepared by</a:t>
                      </a:r>
                    </a:p>
                  </a:txBody>
                  <a:tcPr marL="54864" marR="54864" marT="27432" marB="27432">
                    <a:solidFill>
                      <a:srgbClr val="E5F5FF"/>
                    </a:solidFill>
                  </a:tcPr>
                </a:tc>
                <a:tc>
                  <a:txBody>
                    <a:bodyPr/>
                    <a:lstStyle/>
                    <a:p>
                      <a:r>
                        <a:rPr sz="900" b="0">
                          <a:solidFill>
                            <a:srgbClr val="4B4B4B"/>
                          </a:solidFill>
                          <a:latin typeface="Arial"/>
                        </a:rPr>
                        <a:t>Business Analyst, Enterprise Services Group - Business Project Services (BPS)</a:t>
                      </a:r>
                    </a:p>
                  </a:txBody>
                  <a:tcPr marL="54864" marR="54864" marT="27432" marB="27432">
                    <a:solidFill>
                      <a:srgbClr val="E5F5FF"/>
                    </a:solidFill>
                  </a:tcPr>
                </a:tc>
                <a:tc>
                  <a:txBody>
                    <a:bodyPr/>
                    <a:lstStyle/>
                    <a:p>
                      <a:r>
                        <a:rPr sz="900" b="0">
                          <a:solidFill>
                            <a:srgbClr val="4B4B4B"/>
                          </a:solidFill>
                          <a:latin typeface="Arial"/>
                        </a:rPr>
                        <a:t>BDO Unibank ESG</a:t>
                      </a:r>
                    </a:p>
                  </a:txBody>
                  <a:tcPr marL="54864" marR="54864" marT="27432" marB="27432">
                    <a:solidFill>
                      <a:srgbClr val="E5F5FF"/>
                    </a:solidFill>
                  </a:tcPr>
                </a:tc>
                <a:tc>
                  <a:txBody>
                    <a:bodyPr/>
                    <a:lstStyle/>
                    <a:p>
                      <a:r>
                        <a:rPr sz="900" b="0">
                          <a:solidFill>
                            <a:srgbClr val="4B4B4B"/>
                          </a:solidFill>
                          <a:latin typeface="Arial"/>
                        </a:rPr>
                        <a:t>The set states the BRD requirements as written; every departure is listed in the proposed rules and clarifications</a:t>
                      </a:r>
                    </a:p>
                  </a:txBody>
                  <a:tcPr marL="54864" marR="54864" marT="27432" marB="27432">
                    <a:solidFill>
                      <a:srgbClr val="E5F5FF"/>
                    </a:solidFill>
                  </a:tcPr>
                </a:tc>
              </a:tr>
              <a:tr h="365760">
                <a:tc>
                  <a:txBody>
                    <a:bodyPr/>
                    <a:lstStyle/>
                    <a:p>
                      <a:r>
                        <a:rPr sz="900" b="0">
                          <a:solidFill>
                            <a:srgbClr val="4B4B4B"/>
                          </a:solidFill>
                          <a:latin typeface="Arial"/>
                        </a:rPr>
                        <a:t>Input provided by</a:t>
                      </a:r>
                    </a:p>
                  </a:txBody>
                  <a:tcPr marL="54864" marR="54864" marT="27432" marB="27432">
                    <a:solidFill>
                      <a:srgbClr val="FFFFFF"/>
                    </a:solidFill>
                  </a:tcPr>
                </a:tc>
                <a:tc>
                  <a:txBody>
                    <a:bodyPr/>
                    <a:lstStyle/>
                    <a:p>
                      <a:r>
                        <a:rPr sz="900" b="0">
                          <a:solidFill>
                            <a:srgbClr val="4B4B4B"/>
                          </a:solidFill>
                          <a:latin typeface="Arial"/>
                        </a:rPr>
                        <a:t>Technical Support Unit (TSU), BU representatives</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The package request, negotiation, requirements, advisory and expiry screens match the business input</a:t>
                      </a:r>
                    </a:p>
                  </a:txBody>
                  <a:tcPr marL="54864" marR="54864" marT="27432" marB="27432">
                    <a:solidFill>
                      <a:srgbClr val="FFFFFF"/>
                    </a:solidFill>
                  </a:tcPr>
                </a:tc>
              </a:tr>
              <a:tr h="365760">
                <a:tc>
                  <a:txBody>
                    <a:bodyPr/>
                    <a:lstStyle/>
                    <a:p>
                      <a:r>
                        <a:rPr sz="900" b="0">
                          <a:solidFill>
                            <a:srgbClr val="4B4B4B"/>
                          </a:solidFill>
                          <a:latin typeface="Arial"/>
                        </a:rPr>
                        <a:t>Input provided by</a:t>
                      </a:r>
                    </a:p>
                  </a:txBody>
                  <a:tcPr marL="54864" marR="54864" marT="27432" marB="27432">
                    <a:solidFill>
                      <a:srgbClr val="E5F5FF"/>
                    </a:solidFill>
                  </a:tcPr>
                </a:tc>
                <a:tc>
                  <a:txBody>
                    <a:bodyPr/>
                    <a:lstStyle/>
                    <a:p>
                      <a:r>
                        <a:rPr sz="900" b="0">
                          <a:solidFill>
                            <a:srgbClr val="4B4B4B"/>
                          </a:solidFill>
                          <a:latin typeface="Arial"/>
                        </a:rPr>
                        <a:t>Marketing Business System (MBS), BU representatives</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set-up, version, master and incentive screens and the configuration inputs match the business input</a:t>
                      </a:r>
                    </a:p>
                  </a:txBody>
                  <a:tcPr marL="54864" marR="54864" marT="27432" marB="27432">
                    <a:solidFill>
                      <a:srgbClr val="E5F5FF"/>
                    </a:solidFill>
                  </a:tcPr>
                </a:tc>
              </a:tr>
              <a:tr h="365760">
                <a:tc>
                  <a:txBody>
                    <a:bodyPr/>
                    <a:lstStyle/>
                    <a:p>
                      <a:r>
                        <a:rPr sz="900" b="0">
                          <a:solidFill>
                            <a:srgbClr val="4B4B4B"/>
                          </a:solidFill>
                          <a:latin typeface="Arial"/>
                        </a:rPr>
                        <a:t>Reviewed by</a:t>
                      </a:r>
                    </a:p>
                  </a:txBody>
                  <a:tcPr marL="54864" marR="54864" marT="27432" marB="27432">
                    <a:solidFill>
                      <a:srgbClr val="FFFFFF"/>
                    </a:solidFill>
                  </a:tcPr>
                </a:tc>
                <a:tc>
                  <a:txBody>
                    <a:bodyPr/>
                    <a:lstStyle/>
                    <a:p>
                      <a:r>
                        <a:rPr sz="900" b="0">
                          <a:solidFill>
                            <a:srgbClr val="4B4B4B"/>
                          </a:solidFill>
                          <a:latin typeface="Arial"/>
                        </a:rPr>
                        <a:t>Program Manager, Enterprise Services Group - Business Project Services (BPS)</a:t>
                      </a:r>
                    </a:p>
                  </a:txBody>
                  <a:tcPr marL="54864" marR="54864" marT="27432" marB="27432">
                    <a:solidFill>
                      <a:srgbClr val="FFFFFF"/>
                    </a:solidFill>
                  </a:tcPr>
                </a:tc>
                <a:tc>
                  <a:txBody>
                    <a:bodyPr/>
                    <a:lstStyle/>
                    <a:p>
                      <a:r>
                        <a:rPr sz="900" b="0">
                          <a:solidFill>
                            <a:srgbClr val="4B4B4B"/>
                          </a:solidFill>
                          <a:latin typeface="Arial"/>
                        </a:rPr>
                        <a:t>BDO Unibank ESG</a:t>
                      </a:r>
                    </a:p>
                  </a:txBody>
                  <a:tcPr marL="54864" marR="54864" marT="27432" marB="27432">
                    <a:solidFill>
                      <a:srgbClr val="FFFFFF"/>
                    </a:solidFill>
                  </a:tcPr>
                </a:tc>
                <a:tc>
                  <a:txBody>
                    <a:bodyPr/>
                    <a:lstStyle/>
                    <a:p>
                      <a:r>
                        <a:rPr sz="900" b="0">
                          <a:solidFill>
                            <a:srgbClr val="4B4B4B"/>
                          </a:solidFill>
                          <a:latin typeface="Arial"/>
                        </a:rPr>
                        <a:t>Traceability of every BRD requirement to the set and completeness of the set</a:t>
                      </a:r>
                    </a:p>
                  </a:txBody>
                  <a:tcPr marL="54864" marR="54864" marT="27432" marB="27432">
                    <a:solidFill>
                      <a:srgbClr val="FFFFFF"/>
                    </a:solidFill>
                  </a:tcPr>
                </a:tc>
              </a:tr>
              <a:tr h="365760">
                <a:tc>
                  <a:txBody>
                    <a:bodyPr/>
                    <a:lstStyle/>
                    <a:p>
                      <a:r>
                        <a:rPr sz="900" b="0">
                          <a:solidFill>
                            <a:srgbClr val="4B4B4B"/>
                          </a:solidFill>
                          <a:latin typeface="Arial"/>
                        </a:rPr>
                        <a:t>Reviewed by</a:t>
                      </a:r>
                    </a:p>
                  </a:txBody>
                  <a:tcPr marL="54864" marR="54864" marT="27432" marB="27432">
                    <a:solidFill>
                      <a:srgbClr val="E5F5FF"/>
                    </a:solidFill>
                  </a:tcPr>
                </a:tc>
                <a:tc>
                  <a:txBody>
                    <a:bodyPr/>
                    <a:lstStyle/>
                    <a:p>
                      <a:r>
                        <a:rPr sz="900" b="0">
                          <a:solidFill>
                            <a:srgbClr val="4B4B4B"/>
                          </a:solidFill>
                          <a:latin typeface="Arial"/>
                        </a:rPr>
                        <a:t>BDOI Information Technology Group (BDOI IT)</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Interfaces, user access and menus, and the Technical Specification (a separate document); not the business screens</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Product Owner, Marketing Business System</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Owns the set and approves all of its contents</a:t>
                      </a:r>
                    </a:p>
                  </a:txBody>
                  <a:tcPr marL="54864" marR="54864" marT="27432" marB="27432">
                    <a:solidFill>
                      <a:srgbClr val="FFFFFF"/>
                    </a:solidFill>
                  </a:tcPr>
                </a:tc>
              </a:tr>
              <a:tr h="36576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Unit Head - Claims, Analytics, Risk Management, Reinsurance and Technical Underwriting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The TSU part: package requests, negotiation, requirements, advisories and expiry</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Unit Head - Combank and Corbank</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Combank and Corbank</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Retail Marketing</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Package requests, approvals and pricing for Retail Marketing</a:t>
                      </a:r>
                    </a:p>
                  </a:txBody>
                  <a:tcPr marL="54864" marR="54864" marT="27432" marB="27432">
                    <a:solidFill>
                      <a:srgbClr val="E5F5FF"/>
                    </a:solidFill>
                  </a:tcPr>
                </a:tc>
              </a:tr>
              <a:tr h="228600">
                <a:tc>
                  <a:txBody>
                    <a:bodyPr/>
                    <a:lstStyle/>
                    <a:p>
                      <a:r>
                        <a:rPr sz="900" b="0">
                          <a:solidFill>
                            <a:srgbClr val="4B4B4B"/>
                          </a:solidFill>
                          <a:latin typeface="Arial"/>
                        </a:rPr>
                        <a:t>Approved by</a:t>
                      </a:r>
                    </a:p>
                  </a:txBody>
                  <a:tcPr marL="54864" marR="54864" marT="27432" marB="27432">
                    <a:solidFill>
                      <a:srgbClr val="FFFFFF"/>
                    </a:solidFill>
                  </a:tcPr>
                </a:tc>
                <a:tc>
                  <a:txBody>
                    <a:bodyPr/>
                    <a:lstStyle/>
                    <a:p>
                      <a:r>
                        <a:rPr sz="900" b="0">
                          <a:solidFill>
                            <a:srgbClr val="4B4B4B"/>
                          </a:solidFill>
                          <a:latin typeface="Arial"/>
                        </a:rPr>
                        <a:t>Head - Corporate and Retail Marketing</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Package requests, approvals and pricing for Corporate Marketing</a:t>
                      </a:r>
                    </a:p>
                  </a:txBody>
                  <a:tcPr marL="54864" marR="54864" marT="27432" marB="27432">
                    <a:solidFill>
                      <a:srgbClr val="FFFFFF"/>
                    </a:solidFill>
                  </a:tcPr>
                </a:tc>
              </a:tr>
              <a:tr h="228600">
                <a:tc>
                  <a:txBody>
                    <a:bodyPr/>
                    <a:lstStyle/>
                    <a:p>
                      <a:r>
                        <a:rPr sz="900" b="0">
                          <a:solidFill>
                            <a:srgbClr val="4B4B4B"/>
                          </a:solidFill>
                          <a:latin typeface="Arial"/>
                        </a:rPr>
                        <a:t>Approved by</a:t>
                      </a:r>
                    </a:p>
                  </a:txBody>
                  <a:tcPr marL="54864" marR="54864" marT="27432" marB="27432">
                    <a:solidFill>
                      <a:srgbClr val="E5F5FF"/>
                    </a:solidFill>
                  </a:tcPr>
                </a:tc>
                <a:tc>
                  <a:txBody>
                    <a:bodyPr/>
                    <a:lstStyle/>
                    <a:p>
                      <a:r>
                        <a:rPr sz="900" b="0">
                          <a:solidFill>
                            <a:srgbClr val="4B4B4B"/>
                          </a:solidFill>
                          <a:latin typeface="Arial"/>
                        </a:rPr>
                        <a:t>Head - Comptrollership</a:t>
                      </a:r>
                    </a:p>
                  </a:txBody>
                  <a:tcPr marL="54864" marR="54864" marT="27432" marB="27432">
                    <a:solidFill>
                      <a:srgbClr val="E5F5FF"/>
                    </a:solidFill>
                  </a:tcPr>
                </a:tc>
                <a:tc>
                  <a:txBody>
                    <a:bodyPr/>
                    <a:lstStyle/>
                    <a:p>
                      <a:r>
                        <a:rPr sz="900" b="0">
                          <a:solidFill>
                            <a:srgbClr val="4B4B4B"/>
                          </a:solidFill>
                          <a:latin typeface="Arial"/>
                        </a:rPr>
                        <a:t>BDOI</a:t>
                      </a:r>
                    </a:p>
                  </a:txBody>
                  <a:tcPr marL="54864" marR="54864" marT="27432" marB="27432">
                    <a:solidFill>
                      <a:srgbClr val="E5F5FF"/>
                    </a:solidFill>
                  </a:tcPr>
                </a:tc>
                <a:tc>
                  <a:txBody>
                    <a:bodyPr/>
                    <a:lstStyle/>
                    <a:p>
                      <a:r>
                        <a:rPr sz="900" b="0">
                          <a:solidFill>
                            <a:srgbClr val="4B4B4B"/>
                          </a:solidFill>
                          <a:latin typeface="Arial"/>
                        </a:rPr>
                        <a:t>Rates and taxes, commission rates and incentive criteria</a:t>
                      </a:r>
                    </a:p>
                  </a:txBody>
                  <a:tcPr marL="54864" marR="54864" marT="27432" marB="27432">
                    <a:solidFill>
                      <a:srgbClr val="E5F5FF"/>
                    </a:solidFill>
                  </a:tcPr>
                </a:tc>
              </a:tr>
              <a:tr h="365760">
                <a:tc>
                  <a:txBody>
                    <a:bodyPr/>
                    <a:lstStyle/>
                    <a:p>
                      <a:r>
                        <a:rPr sz="900" b="0">
                          <a:solidFill>
                            <a:srgbClr val="4B4B4B"/>
                          </a:solidFill>
                          <a:latin typeface="Arial"/>
                        </a:rPr>
                        <a:t>Receives 07 to 09</a:t>
                      </a:r>
                    </a:p>
                  </a:txBody>
                  <a:tcPr marL="54864" marR="54864" marT="27432" marB="27432">
                    <a:solidFill>
                      <a:srgbClr val="FFFFFF"/>
                    </a:solidFill>
                  </a:tcPr>
                </a:tc>
                <a:tc>
                  <a:txBody>
                    <a:bodyPr/>
                    <a:lstStyle/>
                    <a:p>
                      <a:r>
                        <a:rPr sz="900" b="0">
                          <a:solidFill>
                            <a:srgbClr val="4B4B4B"/>
                          </a:solidFill>
                          <a:latin typeface="Arial"/>
                        </a:rPr>
                        <a:t>BDOI UX Design team (UXD)</a:t>
                      </a:r>
                    </a:p>
                  </a:txBody>
                  <a:tcPr marL="54864" marR="54864" marT="27432" marB="27432">
                    <a:solidFill>
                      <a:srgbClr val="FFFFFF"/>
                    </a:solidFill>
                  </a:tcPr>
                </a:tc>
                <a:tc>
                  <a:txBody>
                    <a:bodyPr/>
                    <a:lstStyle/>
                    <a:p>
                      <a:r>
                        <a:rPr sz="900" b="0">
                          <a:solidFill>
                            <a:srgbClr val="4B4B4B"/>
                          </a:solidFill>
                          <a:latin typeface="Arial"/>
                        </a:rPr>
                        <a:t>BDOI</a:t>
                      </a:r>
                    </a:p>
                  </a:txBody>
                  <a:tcPr marL="54864" marR="54864" marT="27432" marB="27432">
                    <a:solidFill>
                      <a:srgbClr val="FFFFFF"/>
                    </a:solidFill>
                  </a:tcPr>
                </a:tc>
                <a:tc>
                  <a:txBody>
                    <a:bodyPr/>
                    <a:lstStyle/>
                    <a:p>
                      <a:r>
                        <a:rPr sz="900" b="0">
                          <a:solidFill>
                            <a:srgbClr val="4B4B4B"/>
                          </a:solidFill>
                          <a:latin typeface="Arial"/>
                        </a:rPr>
                        <a:t>Designs the screens from this deck; keeps the UXD status and comments of the register; raises questions on the Questions and comments sheet</a:t>
                      </a:r>
                    </a:p>
                  </a:txBody>
                  <a:tcPr marL="54864" marR="54864"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Design foundation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Colours, type, spacing, icons, the shared components and the screen standards as the screens use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Colour tokens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548640" y="1261872"/>
            <a:ext cx="1428162" cy="384048"/>
          </a:xfrm>
          <a:prstGeom prst="rect">
            <a:avLst/>
          </a:prstGeom>
          <a:solidFill>
            <a:srgbClr val="004EA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55064"/>
            <a:ext cx="1428162" cy="201168"/>
          </a:xfrm>
          <a:prstGeom prst="rect">
            <a:avLst/>
          </a:prstGeom>
          <a:noFill/>
        </p:spPr>
        <p:txBody>
          <a:bodyPr wrap="square" anchor="t" lIns="45720" rIns="45720">
            <a:spAutoFit/>
          </a:bodyPr>
          <a:lstStyle/>
          <a:p>
            <a:r>
              <a:rPr sz="800" b="1" i="0">
                <a:solidFill>
                  <a:srgbClr val="2E2E2E"/>
                </a:solidFill>
                <a:latin typeface="Arial"/>
              </a:rPr>
              <a:t>brand-navy</a:t>
            </a:r>
          </a:p>
        </p:txBody>
      </p:sp>
      <p:sp>
        <p:nvSpPr>
          <p:cNvPr id="11" name="TextBox 10"/>
          <p:cNvSpPr txBox="1"/>
          <p:nvPr/>
        </p:nvSpPr>
        <p:spPr>
          <a:xfrm>
            <a:off x="548640" y="1828800"/>
            <a:ext cx="1428162" cy="365760"/>
          </a:xfrm>
          <a:prstGeom prst="rect">
            <a:avLst/>
          </a:prstGeom>
          <a:noFill/>
        </p:spPr>
        <p:txBody>
          <a:bodyPr wrap="square" anchor="t" lIns="45720" rIns="45720">
            <a:spAutoFit/>
          </a:bodyPr>
          <a:lstStyle/>
          <a:p>
            <a:r>
              <a:rPr sz="700" b="0" i="0">
                <a:solidFill>
                  <a:srgbClr val="656565"/>
                </a:solidFill>
                <a:latin typeface="Arial"/>
              </a:rPr>
              <a:t>#004EA8 Header Blue</a:t>
            </a:r>
          </a:p>
        </p:txBody>
      </p:sp>
      <p:sp>
        <p:nvSpPr>
          <p:cNvPr id="12" name="Rectangle 11"/>
          <p:cNvSpPr/>
          <p:nvPr/>
        </p:nvSpPr>
        <p:spPr>
          <a:xfrm>
            <a:off x="2159682" y="1261872"/>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59682" y="1655064"/>
            <a:ext cx="1428162" cy="201168"/>
          </a:xfrm>
          <a:prstGeom prst="rect">
            <a:avLst/>
          </a:prstGeom>
          <a:noFill/>
        </p:spPr>
        <p:txBody>
          <a:bodyPr wrap="square" anchor="t" lIns="45720" rIns="45720">
            <a:spAutoFit/>
          </a:bodyPr>
          <a:lstStyle/>
          <a:p>
            <a:r>
              <a:rPr sz="800" b="1" i="0">
                <a:solidFill>
                  <a:srgbClr val="2E2E2E"/>
                </a:solidFill>
                <a:latin typeface="Arial"/>
              </a:rPr>
              <a:t>brand-blue</a:t>
            </a:r>
          </a:p>
        </p:txBody>
      </p:sp>
      <p:sp>
        <p:nvSpPr>
          <p:cNvPr id="14" name="TextBox 13"/>
          <p:cNvSpPr txBox="1"/>
          <p:nvPr/>
        </p:nvSpPr>
        <p:spPr>
          <a:xfrm>
            <a:off x="2159682" y="1828800"/>
            <a:ext cx="1428162" cy="365760"/>
          </a:xfrm>
          <a:prstGeom prst="rect">
            <a:avLst/>
          </a:prstGeom>
          <a:noFill/>
        </p:spPr>
        <p:txBody>
          <a:bodyPr wrap="square" anchor="t" lIns="45720" rIns="45720">
            <a:spAutoFit/>
          </a:bodyPr>
          <a:lstStyle/>
          <a:p>
            <a:r>
              <a:rPr sz="700" b="0" i="0">
                <a:solidFill>
                  <a:srgbClr val="656565"/>
                </a:solidFill>
                <a:latin typeface="Arial"/>
              </a:rPr>
              <a:t>#0072D8 CTA Blue</a:t>
            </a:r>
          </a:p>
        </p:txBody>
      </p:sp>
      <p:sp>
        <p:nvSpPr>
          <p:cNvPr id="15" name="Rectangle 14"/>
          <p:cNvSpPr/>
          <p:nvPr/>
        </p:nvSpPr>
        <p:spPr>
          <a:xfrm>
            <a:off x="3770724" y="1261872"/>
            <a:ext cx="1428162" cy="384048"/>
          </a:xfrm>
          <a:prstGeom prst="rect">
            <a:avLst/>
          </a:prstGeom>
          <a:solidFill>
            <a:srgbClr val="005FB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70724" y="1655064"/>
            <a:ext cx="1428162" cy="201168"/>
          </a:xfrm>
          <a:prstGeom prst="rect">
            <a:avLst/>
          </a:prstGeom>
          <a:noFill/>
        </p:spPr>
        <p:txBody>
          <a:bodyPr wrap="square" anchor="t" lIns="45720" rIns="45720">
            <a:spAutoFit/>
          </a:bodyPr>
          <a:lstStyle/>
          <a:p>
            <a:r>
              <a:rPr sz="800" b="1" i="0">
                <a:solidFill>
                  <a:srgbClr val="2E2E2E"/>
                </a:solidFill>
                <a:latin typeface="Arial"/>
              </a:rPr>
              <a:t>brand-blue-600</a:t>
            </a:r>
          </a:p>
        </p:txBody>
      </p:sp>
      <p:sp>
        <p:nvSpPr>
          <p:cNvPr id="17" name="TextBox 16"/>
          <p:cNvSpPr txBox="1"/>
          <p:nvPr/>
        </p:nvSpPr>
        <p:spPr>
          <a:xfrm>
            <a:off x="3770724" y="1828800"/>
            <a:ext cx="1428162" cy="365760"/>
          </a:xfrm>
          <a:prstGeom prst="rect">
            <a:avLst/>
          </a:prstGeom>
          <a:noFill/>
        </p:spPr>
        <p:txBody>
          <a:bodyPr wrap="square" anchor="t" lIns="45720" rIns="45720">
            <a:spAutoFit/>
          </a:bodyPr>
          <a:lstStyle/>
          <a:p>
            <a:r>
              <a:rPr sz="700" b="0" i="0">
                <a:solidFill>
                  <a:srgbClr val="656565"/>
                </a:solidFill>
                <a:latin typeface="Arial"/>
              </a:rPr>
              <a:t>#005FB4 CTA hover / pressed</a:t>
            </a:r>
          </a:p>
        </p:txBody>
      </p:sp>
      <p:sp>
        <p:nvSpPr>
          <p:cNvPr id="18" name="Rectangle 17"/>
          <p:cNvSpPr/>
          <p:nvPr/>
        </p:nvSpPr>
        <p:spPr>
          <a:xfrm>
            <a:off x="5381766" y="1261872"/>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81766" y="1655064"/>
            <a:ext cx="1428162" cy="201168"/>
          </a:xfrm>
          <a:prstGeom prst="rect">
            <a:avLst/>
          </a:prstGeom>
          <a:noFill/>
        </p:spPr>
        <p:txBody>
          <a:bodyPr wrap="square" anchor="t" lIns="45720" rIns="45720">
            <a:spAutoFit/>
          </a:bodyPr>
          <a:lstStyle/>
          <a:p>
            <a:r>
              <a:rPr sz="800" b="1" i="0">
                <a:solidFill>
                  <a:srgbClr val="2E2E2E"/>
                </a:solidFill>
                <a:latin typeface="Arial"/>
              </a:rPr>
              <a:t>brand-blue-050</a:t>
            </a:r>
          </a:p>
        </p:txBody>
      </p:sp>
      <p:sp>
        <p:nvSpPr>
          <p:cNvPr id="20" name="TextBox 19"/>
          <p:cNvSpPr txBox="1"/>
          <p:nvPr/>
        </p:nvSpPr>
        <p:spPr>
          <a:xfrm>
            <a:off x="5381766" y="1828800"/>
            <a:ext cx="1428162" cy="365760"/>
          </a:xfrm>
          <a:prstGeom prst="rect">
            <a:avLst/>
          </a:prstGeom>
          <a:noFill/>
        </p:spPr>
        <p:txBody>
          <a:bodyPr wrap="square" anchor="t" lIns="45720" rIns="45720">
            <a:spAutoFit/>
          </a:bodyPr>
          <a:lstStyle/>
          <a:p>
            <a:r>
              <a:rPr sz="700" b="0" i="0">
                <a:solidFill>
                  <a:srgbClr val="656565"/>
                </a:solidFill>
                <a:latin typeface="Arial"/>
              </a:rPr>
              <a:t>#E5F5FF Background Blue</a:t>
            </a:r>
          </a:p>
        </p:txBody>
      </p:sp>
      <p:sp>
        <p:nvSpPr>
          <p:cNvPr id="21" name="Rectangle 20"/>
          <p:cNvSpPr/>
          <p:nvPr/>
        </p:nvSpPr>
        <p:spPr>
          <a:xfrm>
            <a:off x="6992808" y="1261872"/>
            <a:ext cx="1428162" cy="384048"/>
          </a:xfrm>
          <a:prstGeom prst="rect">
            <a:avLst/>
          </a:prstGeom>
          <a:solidFill>
            <a:srgbClr val="99C1E7"/>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2808" y="1655064"/>
            <a:ext cx="1428162" cy="201168"/>
          </a:xfrm>
          <a:prstGeom prst="rect">
            <a:avLst/>
          </a:prstGeom>
          <a:noFill/>
        </p:spPr>
        <p:txBody>
          <a:bodyPr wrap="square" anchor="t" lIns="45720" rIns="45720">
            <a:spAutoFit/>
          </a:bodyPr>
          <a:lstStyle/>
          <a:p>
            <a:r>
              <a:rPr sz="800" b="1" i="0">
                <a:solidFill>
                  <a:srgbClr val="2E2E2E"/>
                </a:solidFill>
                <a:latin typeface="Arial"/>
              </a:rPr>
              <a:t>brand-field-blue</a:t>
            </a:r>
          </a:p>
        </p:txBody>
      </p:sp>
      <p:sp>
        <p:nvSpPr>
          <p:cNvPr id="23" name="TextBox 22"/>
          <p:cNvSpPr txBox="1"/>
          <p:nvPr/>
        </p:nvSpPr>
        <p:spPr>
          <a:xfrm>
            <a:off x="6992808" y="1828800"/>
            <a:ext cx="1428162" cy="365760"/>
          </a:xfrm>
          <a:prstGeom prst="rect">
            <a:avLst/>
          </a:prstGeom>
          <a:noFill/>
        </p:spPr>
        <p:txBody>
          <a:bodyPr wrap="square" anchor="t" lIns="45720" rIns="45720">
            <a:spAutoFit/>
          </a:bodyPr>
          <a:lstStyle/>
          <a:p>
            <a:r>
              <a:rPr sz="700" b="0" i="0">
                <a:solidFill>
                  <a:srgbClr val="656565"/>
                </a:solidFill>
                <a:latin typeface="Arial"/>
              </a:rPr>
              <a:t>#99C1E7 Text Field Blue</a:t>
            </a:r>
          </a:p>
        </p:txBody>
      </p:sp>
      <p:sp>
        <p:nvSpPr>
          <p:cNvPr id="24" name="Rectangle 23"/>
          <p:cNvSpPr/>
          <p:nvPr/>
        </p:nvSpPr>
        <p:spPr>
          <a:xfrm>
            <a:off x="8603850" y="1261872"/>
            <a:ext cx="1428162" cy="384048"/>
          </a:xfrm>
          <a:prstGeom prst="rect">
            <a:avLst/>
          </a:prstGeom>
          <a:solidFill>
            <a:srgbClr val="FDB913"/>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03850" y="1655064"/>
            <a:ext cx="1428162" cy="201168"/>
          </a:xfrm>
          <a:prstGeom prst="rect">
            <a:avLst/>
          </a:prstGeom>
          <a:noFill/>
        </p:spPr>
        <p:txBody>
          <a:bodyPr wrap="square" anchor="t" lIns="45720" rIns="45720">
            <a:spAutoFit/>
          </a:bodyPr>
          <a:lstStyle/>
          <a:p>
            <a:r>
              <a:rPr sz="800" b="1" i="0">
                <a:solidFill>
                  <a:srgbClr val="2E2E2E"/>
                </a:solidFill>
                <a:latin typeface="Arial"/>
              </a:rPr>
              <a:t>brand-gold</a:t>
            </a:r>
          </a:p>
        </p:txBody>
      </p:sp>
      <p:sp>
        <p:nvSpPr>
          <p:cNvPr id="26" name="TextBox 25"/>
          <p:cNvSpPr txBox="1"/>
          <p:nvPr/>
        </p:nvSpPr>
        <p:spPr>
          <a:xfrm>
            <a:off x="8603850" y="1828800"/>
            <a:ext cx="1428162" cy="365760"/>
          </a:xfrm>
          <a:prstGeom prst="rect">
            <a:avLst/>
          </a:prstGeom>
          <a:noFill/>
        </p:spPr>
        <p:txBody>
          <a:bodyPr wrap="square" anchor="t" lIns="45720" rIns="45720">
            <a:spAutoFit/>
          </a:bodyPr>
          <a:lstStyle/>
          <a:p>
            <a:r>
              <a:rPr sz="700" b="0" i="0">
                <a:solidFill>
                  <a:srgbClr val="656565"/>
                </a:solidFill>
                <a:latin typeface="Arial"/>
              </a:rPr>
              <a:t>#FDB913 Yellow</a:t>
            </a:r>
          </a:p>
        </p:txBody>
      </p:sp>
      <p:sp>
        <p:nvSpPr>
          <p:cNvPr id="27" name="Rectangle 26"/>
          <p:cNvSpPr/>
          <p:nvPr/>
        </p:nvSpPr>
        <p:spPr>
          <a:xfrm>
            <a:off x="10214892" y="1261872"/>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14892" y="1655064"/>
            <a:ext cx="1428162" cy="201168"/>
          </a:xfrm>
          <a:prstGeom prst="rect">
            <a:avLst/>
          </a:prstGeom>
          <a:noFill/>
        </p:spPr>
        <p:txBody>
          <a:bodyPr wrap="square" anchor="t" lIns="45720" rIns="45720">
            <a:spAutoFit/>
          </a:bodyPr>
          <a:lstStyle/>
          <a:p>
            <a:r>
              <a:rPr sz="800" b="1" i="0">
                <a:solidFill>
                  <a:srgbClr val="2E2E2E"/>
                </a:solidFill>
                <a:latin typeface="Arial"/>
              </a:rPr>
              <a:t>brand-gold-600</a:t>
            </a:r>
          </a:p>
        </p:txBody>
      </p:sp>
      <p:sp>
        <p:nvSpPr>
          <p:cNvPr id="29" name="TextBox 28"/>
          <p:cNvSpPr txBox="1"/>
          <p:nvPr/>
        </p:nvSpPr>
        <p:spPr>
          <a:xfrm>
            <a:off x="10214892" y="1828800"/>
            <a:ext cx="1428162" cy="365760"/>
          </a:xfrm>
          <a:prstGeom prst="rect">
            <a:avLst/>
          </a:prstGeom>
          <a:noFill/>
        </p:spPr>
        <p:txBody>
          <a:bodyPr wrap="square" anchor="t" lIns="45720" rIns="45720">
            <a:spAutoFit/>
          </a:bodyPr>
          <a:lstStyle/>
          <a:p>
            <a:r>
              <a:rPr sz="700" b="0" i="0">
                <a:solidFill>
                  <a:srgbClr val="656565"/>
                </a:solidFill>
                <a:latin typeface="Arial"/>
              </a:rPr>
              <a:t>#E0A100 </a:t>
            </a:r>
          </a:p>
        </p:txBody>
      </p:sp>
      <p:sp>
        <p:nvSpPr>
          <p:cNvPr id="30" name="Rectangle 29"/>
          <p:cNvSpPr/>
          <p:nvPr/>
        </p:nvSpPr>
        <p:spPr>
          <a:xfrm>
            <a:off x="548640" y="2249424"/>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2642616"/>
            <a:ext cx="1428162" cy="201168"/>
          </a:xfrm>
          <a:prstGeom prst="rect">
            <a:avLst/>
          </a:prstGeom>
          <a:noFill/>
        </p:spPr>
        <p:txBody>
          <a:bodyPr wrap="square" anchor="t" lIns="45720" rIns="45720">
            <a:spAutoFit/>
          </a:bodyPr>
          <a:lstStyle/>
          <a:p>
            <a:r>
              <a:rPr sz="800" b="1" i="0">
                <a:solidFill>
                  <a:srgbClr val="2E2E2E"/>
                </a:solidFill>
                <a:latin typeface="Arial"/>
              </a:rPr>
              <a:t>brand-gold-050</a:t>
            </a:r>
          </a:p>
        </p:txBody>
      </p:sp>
      <p:sp>
        <p:nvSpPr>
          <p:cNvPr id="32" name="TextBox 31"/>
          <p:cNvSpPr txBox="1"/>
          <p:nvPr/>
        </p:nvSpPr>
        <p:spPr>
          <a:xfrm>
            <a:off x="548640" y="2816352"/>
            <a:ext cx="1428162" cy="365760"/>
          </a:xfrm>
          <a:prstGeom prst="rect">
            <a:avLst/>
          </a:prstGeom>
          <a:noFill/>
        </p:spPr>
        <p:txBody>
          <a:bodyPr wrap="square" anchor="t" lIns="45720" rIns="45720">
            <a:spAutoFit/>
          </a:bodyPr>
          <a:lstStyle/>
          <a:p>
            <a:r>
              <a:rPr sz="700" b="0" i="0">
                <a:solidFill>
                  <a:srgbClr val="656565"/>
                </a:solidFill>
                <a:latin typeface="Arial"/>
              </a:rPr>
              <a:t>#FFF4D6 Neutrals (never pure black)</a:t>
            </a:r>
          </a:p>
        </p:txBody>
      </p:sp>
      <p:sp>
        <p:nvSpPr>
          <p:cNvPr id="33" name="Rectangle 32"/>
          <p:cNvSpPr/>
          <p:nvPr/>
        </p:nvSpPr>
        <p:spPr>
          <a:xfrm>
            <a:off x="2159682"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159682" y="2642616"/>
            <a:ext cx="1428162" cy="201168"/>
          </a:xfrm>
          <a:prstGeom prst="rect">
            <a:avLst/>
          </a:prstGeom>
          <a:noFill/>
        </p:spPr>
        <p:txBody>
          <a:bodyPr wrap="square" anchor="t" lIns="45720" rIns="45720">
            <a:spAutoFit/>
          </a:bodyPr>
          <a:lstStyle/>
          <a:p>
            <a:r>
              <a:rPr sz="800" b="1" i="0">
                <a:solidFill>
                  <a:srgbClr val="2E2E2E"/>
                </a:solidFill>
                <a:latin typeface="Arial"/>
              </a:rPr>
              <a:t>color-bg</a:t>
            </a:r>
          </a:p>
        </p:txBody>
      </p:sp>
      <p:sp>
        <p:nvSpPr>
          <p:cNvPr id="35" name="TextBox 34"/>
          <p:cNvSpPr txBox="1"/>
          <p:nvPr/>
        </p:nvSpPr>
        <p:spPr>
          <a:xfrm>
            <a:off x="2159682" y="2816352"/>
            <a:ext cx="1428162" cy="365760"/>
          </a:xfrm>
          <a:prstGeom prst="rect">
            <a:avLst/>
          </a:prstGeom>
          <a:noFill/>
        </p:spPr>
        <p:txBody>
          <a:bodyPr wrap="square" anchor="t" lIns="45720" rIns="45720">
            <a:spAutoFit/>
          </a:bodyPr>
          <a:lstStyle/>
          <a:p>
            <a:r>
              <a:rPr sz="700" b="0" i="0">
                <a:solidFill>
                  <a:srgbClr val="656565"/>
                </a:solidFill>
                <a:latin typeface="Arial"/>
              </a:rPr>
              <a:t>#F6F6F6 Dirty White</a:t>
            </a:r>
          </a:p>
        </p:txBody>
      </p:sp>
      <p:sp>
        <p:nvSpPr>
          <p:cNvPr id="36" name="Rectangle 35"/>
          <p:cNvSpPr/>
          <p:nvPr/>
        </p:nvSpPr>
        <p:spPr>
          <a:xfrm>
            <a:off x="3770724" y="2249424"/>
            <a:ext cx="1428162" cy="384048"/>
          </a:xfrm>
          <a:prstGeom prst="rect">
            <a:avLst/>
          </a:prstGeom>
          <a:solidFill>
            <a:srgbClr val="FFFF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70724" y="2642616"/>
            <a:ext cx="1428162" cy="201168"/>
          </a:xfrm>
          <a:prstGeom prst="rect">
            <a:avLst/>
          </a:prstGeom>
          <a:noFill/>
        </p:spPr>
        <p:txBody>
          <a:bodyPr wrap="square" anchor="t" lIns="45720" rIns="45720">
            <a:spAutoFit/>
          </a:bodyPr>
          <a:lstStyle/>
          <a:p>
            <a:r>
              <a:rPr sz="800" b="1" i="0">
                <a:solidFill>
                  <a:srgbClr val="2E2E2E"/>
                </a:solidFill>
                <a:latin typeface="Arial"/>
              </a:rPr>
              <a:t>color-surface</a:t>
            </a:r>
          </a:p>
        </p:txBody>
      </p:sp>
      <p:sp>
        <p:nvSpPr>
          <p:cNvPr id="38" name="TextBox 37"/>
          <p:cNvSpPr txBox="1"/>
          <p:nvPr/>
        </p:nvSpPr>
        <p:spPr>
          <a:xfrm>
            <a:off x="3770724" y="2816352"/>
            <a:ext cx="1428162" cy="365760"/>
          </a:xfrm>
          <a:prstGeom prst="rect">
            <a:avLst/>
          </a:prstGeom>
          <a:noFill/>
        </p:spPr>
        <p:txBody>
          <a:bodyPr wrap="square" anchor="t" lIns="45720" rIns="45720">
            <a:spAutoFit/>
          </a:bodyPr>
          <a:lstStyle/>
          <a:p>
            <a:r>
              <a:rPr sz="700" b="0" i="0">
                <a:solidFill>
                  <a:srgbClr val="656565"/>
                </a:solidFill>
                <a:latin typeface="Arial"/>
              </a:rPr>
              <a:t>#FFFFFF </a:t>
            </a:r>
          </a:p>
        </p:txBody>
      </p:sp>
      <p:sp>
        <p:nvSpPr>
          <p:cNvPr id="39" name="Rectangle 38"/>
          <p:cNvSpPr/>
          <p:nvPr/>
        </p:nvSpPr>
        <p:spPr>
          <a:xfrm>
            <a:off x="5381766" y="2249424"/>
            <a:ext cx="1428162" cy="384048"/>
          </a:xfrm>
          <a:prstGeom prst="rect">
            <a:avLst/>
          </a:prstGeom>
          <a:solidFill>
            <a:srgbClr val="F6F6F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81766" y="2642616"/>
            <a:ext cx="1428162" cy="201168"/>
          </a:xfrm>
          <a:prstGeom prst="rect">
            <a:avLst/>
          </a:prstGeom>
          <a:noFill/>
        </p:spPr>
        <p:txBody>
          <a:bodyPr wrap="square" anchor="t" lIns="45720" rIns="45720">
            <a:spAutoFit/>
          </a:bodyPr>
          <a:lstStyle/>
          <a:p>
            <a:r>
              <a:rPr sz="800" b="1" i="0">
                <a:solidFill>
                  <a:srgbClr val="2E2E2E"/>
                </a:solidFill>
                <a:latin typeface="Arial"/>
              </a:rPr>
              <a:t>color-surface-alt</a:t>
            </a:r>
          </a:p>
        </p:txBody>
      </p:sp>
      <p:sp>
        <p:nvSpPr>
          <p:cNvPr id="41" name="TextBox 40"/>
          <p:cNvSpPr txBox="1"/>
          <p:nvPr/>
        </p:nvSpPr>
        <p:spPr>
          <a:xfrm>
            <a:off x="5381766" y="2816352"/>
            <a:ext cx="1428162" cy="365760"/>
          </a:xfrm>
          <a:prstGeom prst="rect">
            <a:avLst/>
          </a:prstGeom>
          <a:noFill/>
        </p:spPr>
        <p:txBody>
          <a:bodyPr wrap="square" anchor="t" lIns="45720" rIns="45720">
            <a:spAutoFit/>
          </a:bodyPr>
          <a:lstStyle/>
          <a:p>
            <a:r>
              <a:rPr sz="700" b="0" i="0">
                <a:solidFill>
                  <a:srgbClr val="656565"/>
                </a:solidFill>
                <a:latin typeface="Arial"/>
              </a:rPr>
              <a:t>#F6F6F6 </a:t>
            </a:r>
          </a:p>
        </p:txBody>
      </p:sp>
      <p:sp>
        <p:nvSpPr>
          <p:cNvPr id="42" name="Rectangle 41"/>
          <p:cNvSpPr/>
          <p:nvPr/>
        </p:nvSpPr>
        <p:spPr>
          <a:xfrm>
            <a:off x="6992808" y="2249424"/>
            <a:ext cx="1428162" cy="384048"/>
          </a:xfrm>
          <a:prstGeom prst="rect">
            <a:avLst/>
          </a:prstGeom>
          <a:solidFill>
            <a:srgbClr val="2E2E2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992808" y="2642616"/>
            <a:ext cx="1428162" cy="201168"/>
          </a:xfrm>
          <a:prstGeom prst="rect">
            <a:avLst/>
          </a:prstGeom>
          <a:noFill/>
        </p:spPr>
        <p:txBody>
          <a:bodyPr wrap="square" anchor="t" lIns="45720" rIns="45720">
            <a:spAutoFit/>
          </a:bodyPr>
          <a:lstStyle/>
          <a:p>
            <a:r>
              <a:rPr sz="800" b="1" i="0">
                <a:solidFill>
                  <a:srgbClr val="2E2E2E"/>
                </a:solidFill>
                <a:latin typeface="Arial"/>
              </a:rPr>
              <a:t>color-heading</a:t>
            </a:r>
          </a:p>
        </p:txBody>
      </p:sp>
      <p:sp>
        <p:nvSpPr>
          <p:cNvPr id="44" name="TextBox 43"/>
          <p:cNvSpPr txBox="1"/>
          <p:nvPr/>
        </p:nvSpPr>
        <p:spPr>
          <a:xfrm>
            <a:off x="6992808" y="2816352"/>
            <a:ext cx="1428162" cy="365760"/>
          </a:xfrm>
          <a:prstGeom prst="rect">
            <a:avLst/>
          </a:prstGeom>
          <a:noFill/>
        </p:spPr>
        <p:txBody>
          <a:bodyPr wrap="square" anchor="t" lIns="45720" rIns="45720">
            <a:spAutoFit/>
          </a:bodyPr>
          <a:lstStyle/>
          <a:p>
            <a:r>
              <a:rPr sz="700" b="0" i="0">
                <a:solidFill>
                  <a:srgbClr val="656565"/>
                </a:solidFill>
                <a:latin typeface="Arial"/>
              </a:rPr>
              <a:t>#2E2E2E Near Black</a:t>
            </a:r>
          </a:p>
        </p:txBody>
      </p:sp>
      <p:sp>
        <p:nvSpPr>
          <p:cNvPr id="45" name="Rectangle 44"/>
          <p:cNvSpPr/>
          <p:nvPr/>
        </p:nvSpPr>
        <p:spPr>
          <a:xfrm>
            <a:off x="8603850" y="2249424"/>
            <a:ext cx="1428162" cy="384048"/>
          </a:xfrm>
          <a:prstGeom prst="rect">
            <a:avLst/>
          </a:prstGeom>
          <a:solidFill>
            <a:srgbClr val="4B4B4B"/>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03850" y="2642616"/>
            <a:ext cx="1428162" cy="201168"/>
          </a:xfrm>
          <a:prstGeom prst="rect">
            <a:avLst/>
          </a:prstGeom>
          <a:noFill/>
        </p:spPr>
        <p:txBody>
          <a:bodyPr wrap="square" anchor="t" lIns="45720" rIns="45720">
            <a:spAutoFit/>
          </a:bodyPr>
          <a:lstStyle/>
          <a:p>
            <a:r>
              <a:rPr sz="800" b="1" i="0">
                <a:solidFill>
                  <a:srgbClr val="2E2E2E"/>
                </a:solidFill>
                <a:latin typeface="Arial"/>
              </a:rPr>
              <a:t>color-text</a:t>
            </a:r>
          </a:p>
        </p:txBody>
      </p:sp>
      <p:sp>
        <p:nvSpPr>
          <p:cNvPr id="47" name="TextBox 46"/>
          <p:cNvSpPr txBox="1"/>
          <p:nvPr/>
        </p:nvSpPr>
        <p:spPr>
          <a:xfrm>
            <a:off x="8603850" y="2816352"/>
            <a:ext cx="1428162" cy="365760"/>
          </a:xfrm>
          <a:prstGeom prst="rect">
            <a:avLst/>
          </a:prstGeom>
          <a:noFill/>
        </p:spPr>
        <p:txBody>
          <a:bodyPr wrap="square" anchor="t" lIns="45720" rIns="45720">
            <a:spAutoFit/>
          </a:bodyPr>
          <a:lstStyle/>
          <a:p>
            <a:r>
              <a:rPr sz="700" b="0" i="0">
                <a:solidFill>
                  <a:srgbClr val="656565"/>
                </a:solidFill>
                <a:latin typeface="Arial"/>
              </a:rPr>
              <a:t>#4B4B4B Dark Grey</a:t>
            </a:r>
          </a:p>
        </p:txBody>
      </p:sp>
      <p:sp>
        <p:nvSpPr>
          <p:cNvPr id="48" name="Rectangle 47"/>
          <p:cNvSpPr/>
          <p:nvPr/>
        </p:nvSpPr>
        <p:spPr>
          <a:xfrm>
            <a:off x="10214892" y="2249424"/>
            <a:ext cx="1428162" cy="384048"/>
          </a:xfrm>
          <a:prstGeom prst="rect">
            <a:avLst/>
          </a:prstGeom>
          <a:solidFill>
            <a:srgbClr val="656565"/>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214892" y="2642616"/>
            <a:ext cx="1428162" cy="201168"/>
          </a:xfrm>
          <a:prstGeom prst="rect">
            <a:avLst/>
          </a:prstGeom>
          <a:noFill/>
        </p:spPr>
        <p:txBody>
          <a:bodyPr wrap="square" anchor="t" lIns="45720" rIns="45720">
            <a:spAutoFit/>
          </a:bodyPr>
          <a:lstStyle/>
          <a:p>
            <a:r>
              <a:rPr sz="800" b="1" i="0">
                <a:solidFill>
                  <a:srgbClr val="2E2E2E"/>
                </a:solidFill>
                <a:latin typeface="Arial"/>
              </a:rPr>
              <a:t>color-text-muted</a:t>
            </a:r>
          </a:p>
        </p:txBody>
      </p:sp>
      <p:sp>
        <p:nvSpPr>
          <p:cNvPr id="50" name="TextBox 49"/>
          <p:cNvSpPr txBox="1"/>
          <p:nvPr/>
        </p:nvSpPr>
        <p:spPr>
          <a:xfrm>
            <a:off x="10214892" y="2816352"/>
            <a:ext cx="1428162" cy="365760"/>
          </a:xfrm>
          <a:prstGeom prst="rect">
            <a:avLst/>
          </a:prstGeom>
          <a:noFill/>
        </p:spPr>
        <p:txBody>
          <a:bodyPr wrap="square" anchor="t" lIns="45720" rIns="45720">
            <a:spAutoFit/>
          </a:bodyPr>
          <a:lstStyle/>
          <a:p>
            <a:r>
              <a:rPr sz="700" b="0" i="0">
                <a:solidFill>
                  <a:srgbClr val="656565"/>
                </a:solidFill>
                <a:latin typeface="Arial"/>
              </a:rPr>
              <a:t>#656565 Base Grey</a:t>
            </a:r>
          </a:p>
        </p:txBody>
      </p:sp>
      <p:sp>
        <p:nvSpPr>
          <p:cNvPr id="51" name="Rectangle 50"/>
          <p:cNvSpPr/>
          <p:nvPr/>
        </p:nvSpPr>
        <p:spPr>
          <a:xfrm>
            <a:off x="548640" y="3236976"/>
            <a:ext cx="1428162" cy="384048"/>
          </a:xfrm>
          <a:prstGeom prst="rect">
            <a:avLst/>
          </a:prstGeom>
          <a:solidFill>
            <a:srgbClr val="91919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3630168"/>
            <a:ext cx="1428162" cy="201168"/>
          </a:xfrm>
          <a:prstGeom prst="rect">
            <a:avLst/>
          </a:prstGeom>
          <a:noFill/>
        </p:spPr>
        <p:txBody>
          <a:bodyPr wrap="square" anchor="t" lIns="45720" rIns="45720">
            <a:spAutoFit/>
          </a:bodyPr>
          <a:lstStyle/>
          <a:p>
            <a:r>
              <a:rPr sz="800" b="1" i="0">
                <a:solidFill>
                  <a:srgbClr val="2E2E2E"/>
                </a:solidFill>
                <a:latin typeface="Arial"/>
              </a:rPr>
              <a:t>color-placeholder</a:t>
            </a:r>
          </a:p>
        </p:txBody>
      </p:sp>
      <p:sp>
        <p:nvSpPr>
          <p:cNvPr id="53" name="TextBox 52"/>
          <p:cNvSpPr txBox="1"/>
          <p:nvPr/>
        </p:nvSpPr>
        <p:spPr>
          <a:xfrm>
            <a:off x="548640" y="3803904"/>
            <a:ext cx="1428162" cy="365760"/>
          </a:xfrm>
          <a:prstGeom prst="rect">
            <a:avLst/>
          </a:prstGeom>
          <a:noFill/>
        </p:spPr>
        <p:txBody>
          <a:bodyPr wrap="square" anchor="t" lIns="45720" rIns="45720">
            <a:spAutoFit/>
          </a:bodyPr>
          <a:lstStyle/>
          <a:p>
            <a:r>
              <a:rPr sz="700" b="0" i="0">
                <a:solidFill>
                  <a:srgbClr val="656565"/>
                </a:solidFill>
                <a:latin typeface="Arial"/>
              </a:rPr>
              <a:t>#919191 Medium Grey</a:t>
            </a:r>
          </a:p>
        </p:txBody>
      </p:sp>
      <p:sp>
        <p:nvSpPr>
          <p:cNvPr id="54" name="Rectangle 53"/>
          <p:cNvSpPr/>
          <p:nvPr/>
        </p:nvSpPr>
        <p:spPr>
          <a:xfrm>
            <a:off x="2159682" y="3236976"/>
            <a:ext cx="1428162" cy="384048"/>
          </a:xfrm>
          <a:prstGeom prst="rect">
            <a:avLst/>
          </a:prstGeom>
          <a:solidFill>
            <a:srgbClr val="E4E4E4"/>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159682" y="3630168"/>
            <a:ext cx="1428162" cy="201168"/>
          </a:xfrm>
          <a:prstGeom prst="rect">
            <a:avLst/>
          </a:prstGeom>
          <a:noFill/>
        </p:spPr>
        <p:txBody>
          <a:bodyPr wrap="square" anchor="t" lIns="45720" rIns="45720">
            <a:spAutoFit/>
          </a:bodyPr>
          <a:lstStyle/>
          <a:p>
            <a:r>
              <a:rPr sz="800" b="1" i="0">
                <a:solidFill>
                  <a:srgbClr val="2E2E2E"/>
                </a:solidFill>
                <a:latin typeface="Arial"/>
              </a:rPr>
              <a:t>color-border</a:t>
            </a:r>
          </a:p>
        </p:txBody>
      </p:sp>
      <p:sp>
        <p:nvSpPr>
          <p:cNvPr id="56" name="TextBox 55"/>
          <p:cNvSpPr txBox="1"/>
          <p:nvPr/>
        </p:nvSpPr>
        <p:spPr>
          <a:xfrm>
            <a:off x="2159682" y="3803904"/>
            <a:ext cx="1428162" cy="365760"/>
          </a:xfrm>
          <a:prstGeom prst="rect">
            <a:avLst/>
          </a:prstGeom>
          <a:noFill/>
        </p:spPr>
        <p:txBody>
          <a:bodyPr wrap="square" anchor="t" lIns="45720" rIns="45720">
            <a:spAutoFit/>
          </a:bodyPr>
          <a:lstStyle/>
          <a:p>
            <a:r>
              <a:rPr sz="700" b="0" i="0">
                <a:solidFill>
                  <a:srgbClr val="656565"/>
                </a:solidFill>
                <a:latin typeface="Arial"/>
              </a:rPr>
              <a:t>#E4E4E4 Dark Grey (elements)</a:t>
            </a:r>
          </a:p>
        </p:txBody>
      </p:sp>
      <p:sp>
        <p:nvSpPr>
          <p:cNvPr id="57" name="Rectangle 56"/>
          <p:cNvSpPr/>
          <p:nvPr/>
        </p:nvSpPr>
        <p:spPr>
          <a:xfrm>
            <a:off x="3770724" y="3236976"/>
            <a:ext cx="1428162" cy="384048"/>
          </a:xfrm>
          <a:prstGeom prst="rect">
            <a:avLst/>
          </a:prstGeom>
          <a:solidFill>
            <a:srgbClr val="C2C2C1"/>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770724" y="3630168"/>
            <a:ext cx="1428162" cy="201168"/>
          </a:xfrm>
          <a:prstGeom prst="rect">
            <a:avLst/>
          </a:prstGeom>
          <a:noFill/>
        </p:spPr>
        <p:txBody>
          <a:bodyPr wrap="square" anchor="t" lIns="45720" rIns="45720">
            <a:spAutoFit/>
          </a:bodyPr>
          <a:lstStyle/>
          <a:p>
            <a:r>
              <a:rPr sz="800" b="1" i="0">
                <a:solidFill>
                  <a:srgbClr val="2E2E2E"/>
                </a:solidFill>
                <a:latin typeface="Arial"/>
              </a:rPr>
              <a:t>color-border-strong</a:t>
            </a:r>
          </a:p>
        </p:txBody>
      </p:sp>
      <p:sp>
        <p:nvSpPr>
          <p:cNvPr id="59" name="TextBox 58"/>
          <p:cNvSpPr txBox="1"/>
          <p:nvPr/>
        </p:nvSpPr>
        <p:spPr>
          <a:xfrm>
            <a:off x="3770724" y="3803904"/>
            <a:ext cx="1428162" cy="365760"/>
          </a:xfrm>
          <a:prstGeom prst="rect">
            <a:avLst/>
          </a:prstGeom>
          <a:noFill/>
        </p:spPr>
        <p:txBody>
          <a:bodyPr wrap="square" anchor="t" lIns="45720" rIns="45720">
            <a:spAutoFit/>
          </a:bodyPr>
          <a:lstStyle/>
          <a:p>
            <a:r>
              <a:rPr sz="700" b="0" i="0">
                <a:solidFill>
                  <a:srgbClr val="656565"/>
                </a:solidFill>
                <a:latin typeface="Arial"/>
              </a:rPr>
              <a:t>#C2C2C1 Light Grey</a:t>
            </a:r>
          </a:p>
        </p:txBody>
      </p:sp>
      <p:sp>
        <p:nvSpPr>
          <p:cNvPr id="60" name="Rectangle 59"/>
          <p:cNvSpPr/>
          <p:nvPr/>
        </p:nvSpPr>
        <p:spPr>
          <a:xfrm>
            <a:off x="5381766" y="3236976"/>
            <a:ext cx="1428162" cy="384048"/>
          </a:xfrm>
          <a:prstGeom prst="rect">
            <a:avLst/>
          </a:prstGeom>
          <a:solidFill>
            <a:srgbClr val="1D7F4E"/>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381766" y="3630168"/>
            <a:ext cx="1428162" cy="201168"/>
          </a:xfrm>
          <a:prstGeom prst="rect">
            <a:avLst/>
          </a:prstGeom>
          <a:noFill/>
        </p:spPr>
        <p:txBody>
          <a:bodyPr wrap="square" anchor="t" lIns="45720" rIns="45720">
            <a:spAutoFit/>
          </a:bodyPr>
          <a:lstStyle/>
          <a:p>
            <a:r>
              <a:rPr sz="800" b="1" i="0">
                <a:solidFill>
                  <a:srgbClr val="2E2E2E"/>
                </a:solidFill>
                <a:latin typeface="Arial"/>
              </a:rPr>
              <a:t>color-success</a:t>
            </a:r>
          </a:p>
        </p:txBody>
      </p:sp>
      <p:sp>
        <p:nvSpPr>
          <p:cNvPr id="62" name="TextBox 61"/>
          <p:cNvSpPr txBox="1"/>
          <p:nvPr/>
        </p:nvSpPr>
        <p:spPr>
          <a:xfrm>
            <a:off x="5381766" y="3803904"/>
            <a:ext cx="1428162" cy="365760"/>
          </a:xfrm>
          <a:prstGeom prst="rect">
            <a:avLst/>
          </a:prstGeom>
          <a:noFill/>
        </p:spPr>
        <p:txBody>
          <a:bodyPr wrap="square" anchor="t" lIns="45720" rIns="45720">
            <a:spAutoFit/>
          </a:bodyPr>
          <a:lstStyle/>
          <a:p>
            <a:r>
              <a:rPr sz="700" b="0" i="0">
                <a:solidFill>
                  <a:srgbClr val="656565"/>
                </a:solidFill>
                <a:latin typeface="Arial"/>
              </a:rPr>
              <a:t>#1D7F4E </a:t>
            </a:r>
          </a:p>
        </p:txBody>
      </p:sp>
      <p:sp>
        <p:nvSpPr>
          <p:cNvPr id="63" name="Rectangle 62"/>
          <p:cNvSpPr/>
          <p:nvPr/>
        </p:nvSpPr>
        <p:spPr>
          <a:xfrm>
            <a:off x="6992808" y="3236976"/>
            <a:ext cx="1428162" cy="384048"/>
          </a:xfrm>
          <a:prstGeom prst="rect">
            <a:avLst/>
          </a:prstGeom>
          <a:solidFill>
            <a:srgbClr val="E6F5EC"/>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2808" y="3630168"/>
            <a:ext cx="1428162" cy="201168"/>
          </a:xfrm>
          <a:prstGeom prst="rect">
            <a:avLst/>
          </a:prstGeom>
          <a:noFill/>
        </p:spPr>
        <p:txBody>
          <a:bodyPr wrap="square" anchor="t" lIns="45720" rIns="45720">
            <a:spAutoFit/>
          </a:bodyPr>
          <a:lstStyle/>
          <a:p>
            <a:r>
              <a:rPr sz="800" b="1" i="0">
                <a:solidFill>
                  <a:srgbClr val="2E2E2E"/>
                </a:solidFill>
                <a:latin typeface="Arial"/>
              </a:rPr>
              <a:t>color-success-bg</a:t>
            </a:r>
          </a:p>
        </p:txBody>
      </p:sp>
      <p:sp>
        <p:nvSpPr>
          <p:cNvPr id="65" name="TextBox 64"/>
          <p:cNvSpPr txBox="1"/>
          <p:nvPr/>
        </p:nvSpPr>
        <p:spPr>
          <a:xfrm>
            <a:off x="6992808" y="3803904"/>
            <a:ext cx="1428162" cy="365760"/>
          </a:xfrm>
          <a:prstGeom prst="rect">
            <a:avLst/>
          </a:prstGeom>
          <a:noFill/>
        </p:spPr>
        <p:txBody>
          <a:bodyPr wrap="square" anchor="t" lIns="45720" rIns="45720">
            <a:spAutoFit/>
          </a:bodyPr>
          <a:lstStyle/>
          <a:p>
            <a:r>
              <a:rPr sz="700" b="0" i="0">
                <a:solidFill>
                  <a:srgbClr val="656565"/>
                </a:solidFill>
                <a:latin typeface="Arial"/>
              </a:rPr>
              <a:t>#E6F5EC </a:t>
            </a:r>
          </a:p>
        </p:txBody>
      </p:sp>
      <p:sp>
        <p:nvSpPr>
          <p:cNvPr id="66" name="Rectangle 65"/>
          <p:cNvSpPr/>
          <p:nvPr/>
        </p:nvSpPr>
        <p:spPr>
          <a:xfrm>
            <a:off x="8603850" y="3236976"/>
            <a:ext cx="1428162" cy="384048"/>
          </a:xfrm>
          <a:prstGeom prst="rect">
            <a:avLst/>
          </a:prstGeom>
          <a:solidFill>
            <a:srgbClr val="D32F2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03850" y="3630168"/>
            <a:ext cx="1428162" cy="201168"/>
          </a:xfrm>
          <a:prstGeom prst="rect">
            <a:avLst/>
          </a:prstGeom>
          <a:noFill/>
        </p:spPr>
        <p:txBody>
          <a:bodyPr wrap="square" anchor="t" lIns="45720" rIns="45720">
            <a:spAutoFit/>
          </a:bodyPr>
          <a:lstStyle/>
          <a:p>
            <a:r>
              <a:rPr sz="800" b="1" i="0">
                <a:solidFill>
                  <a:srgbClr val="2E2E2E"/>
                </a:solidFill>
                <a:latin typeface="Arial"/>
              </a:rPr>
              <a:t>color-danger</a:t>
            </a:r>
          </a:p>
        </p:txBody>
      </p:sp>
      <p:sp>
        <p:nvSpPr>
          <p:cNvPr id="68" name="TextBox 67"/>
          <p:cNvSpPr txBox="1"/>
          <p:nvPr/>
        </p:nvSpPr>
        <p:spPr>
          <a:xfrm>
            <a:off x="8603850" y="3803904"/>
            <a:ext cx="1428162" cy="365760"/>
          </a:xfrm>
          <a:prstGeom prst="rect">
            <a:avLst/>
          </a:prstGeom>
          <a:noFill/>
        </p:spPr>
        <p:txBody>
          <a:bodyPr wrap="square" anchor="t" lIns="45720" rIns="45720">
            <a:spAutoFit/>
          </a:bodyPr>
          <a:lstStyle/>
          <a:p>
            <a:r>
              <a:rPr sz="700" b="0" i="0">
                <a:solidFill>
                  <a:srgbClr val="656565"/>
                </a:solidFill>
                <a:latin typeface="Arial"/>
              </a:rPr>
              <a:t>#D32F2F </a:t>
            </a:r>
          </a:p>
        </p:txBody>
      </p:sp>
      <p:sp>
        <p:nvSpPr>
          <p:cNvPr id="69" name="Rectangle 68"/>
          <p:cNvSpPr/>
          <p:nvPr/>
        </p:nvSpPr>
        <p:spPr>
          <a:xfrm>
            <a:off x="10214892" y="3236976"/>
            <a:ext cx="1428162" cy="384048"/>
          </a:xfrm>
          <a:prstGeom prst="rect">
            <a:avLst/>
          </a:prstGeom>
          <a:solidFill>
            <a:srgbClr val="FDECEA"/>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14892" y="3630168"/>
            <a:ext cx="1428162" cy="201168"/>
          </a:xfrm>
          <a:prstGeom prst="rect">
            <a:avLst/>
          </a:prstGeom>
          <a:noFill/>
        </p:spPr>
        <p:txBody>
          <a:bodyPr wrap="square" anchor="t" lIns="45720" rIns="45720">
            <a:spAutoFit/>
          </a:bodyPr>
          <a:lstStyle/>
          <a:p>
            <a:r>
              <a:rPr sz="800" b="1" i="0">
                <a:solidFill>
                  <a:srgbClr val="2E2E2E"/>
                </a:solidFill>
                <a:latin typeface="Arial"/>
              </a:rPr>
              <a:t>color-danger-bg</a:t>
            </a:r>
          </a:p>
        </p:txBody>
      </p:sp>
      <p:sp>
        <p:nvSpPr>
          <p:cNvPr id="71" name="TextBox 70"/>
          <p:cNvSpPr txBox="1"/>
          <p:nvPr/>
        </p:nvSpPr>
        <p:spPr>
          <a:xfrm>
            <a:off x="10214892" y="3803904"/>
            <a:ext cx="1428162" cy="365760"/>
          </a:xfrm>
          <a:prstGeom prst="rect">
            <a:avLst/>
          </a:prstGeom>
          <a:noFill/>
        </p:spPr>
        <p:txBody>
          <a:bodyPr wrap="square" anchor="t" lIns="45720" rIns="45720">
            <a:spAutoFit/>
          </a:bodyPr>
          <a:lstStyle/>
          <a:p>
            <a:r>
              <a:rPr sz="700" b="0" i="0">
                <a:solidFill>
                  <a:srgbClr val="656565"/>
                </a:solidFill>
                <a:latin typeface="Arial"/>
              </a:rPr>
              <a:t>#FDECEA </a:t>
            </a:r>
          </a:p>
        </p:txBody>
      </p:sp>
      <p:sp>
        <p:nvSpPr>
          <p:cNvPr id="72" name="Rectangle 71"/>
          <p:cNvSpPr/>
          <p:nvPr/>
        </p:nvSpPr>
        <p:spPr>
          <a:xfrm>
            <a:off x="548640" y="4224528"/>
            <a:ext cx="1428162" cy="384048"/>
          </a:xfrm>
          <a:prstGeom prst="rect">
            <a:avLst/>
          </a:prstGeom>
          <a:solidFill>
            <a:srgbClr val="8A5A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48640" y="4617720"/>
            <a:ext cx="1428162" cy="201168"/>
          </a:xfrm>
          <a:prstGeom prst="rect">
            <a:avLst/>
          </a:prstGeom>
          <a:noFill/>
        </p:spPr>
        <p:txBody>
          <a:bodyPr wrap="square" anchor="t" lIns="45720" rIns="45720">
            <a:spAutoFit/>
          </a:bodyPr>
          <a:lstStyle/>
          <a:p>
            <a:r>
              <a:rPr sz="800" b="1" i="0">
                <a:solidFill>
                  <a:srgbClr val="2E2E2E"/>
                </a:solidFill>
                <a:latin typeface="Arial"/>
              </a:rPr>
              <a:t>color-warning</a:t>
            </a:r>
          </a:p>
        </p:txBody>
      </p:sp>
      <p:sp>
        <p:nvSpPr>
          <p:cNvPr id="74" name="TextBox 73"/>
          <p:cNvSpPr txBox="1"/>
          <p:nvPr/>
        </p:nvSpPr>
        <p:spPr>
          <a:xfrm>
            <a:off x="548640" y="4791456"/>
            <a:ext cx="1428162" cy="365760"/>
          </a:xfrm>
          <a:prstGeom prst="rect">
            <a:avLst/>
          </a:prstGeom>
          <a:noFill/>
        </p:spPr>
        <p:txBody>
          <a:bodyPr wrap="square" anchor="t" lIns="45720" rIns="45720">
            <a:spAutoFit/>
          </a:bodyPr>
          <a:lstStyle/>
          <a:p>
            <a:r>
              <a:rPr sz="700" b="0" i="0">
                <a:solidFill>
                  <a:srgbClr val="656565"/>
                </a:solidFill>
                <a:latin typeface="Arial"/>
              </a:rPr>
              <a:t>#8A5A00 </a:t>
            </a:r>
          </a:p>
        </p:txBody>
      </p:sp>
      <p:sp>
        <p:nvSpPr>
          <p:cNvPr id="75" name="Rectangle 74"/>
          <p:cNvSpPr/>
          <p:nvPr/>
        </p:nvSpPr>
        <p:spPr>
          <a:xfrm>
            <a:off x="2159682" y="4224528"/>
            <a:ext cx="1428162" cy="384048"/>
          </a:xfrm>
          <a:prstGeom prst="rect">
            <a:avLst/>
          </a:prstGeom>
          <a:solidFill>
            <a:srgbClr val="FFF4D6"/>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159682" y="4617720"/>
            <a:ext cx="1428162" cy="201168"/>
          </a:xfrm>
          <a:prstGeom prst="rect">
            <a:avLst/>
          </a:prstGeom>
          <a:noFill/>
        </p:spPr>
        <p:txBody>
          <a:bodyPr wrap="square" anchor="t" lIns="45720" rIns="45720">
            <a:spAutoFit/>
          </a:bodyPr>
          <a:lstStyle/>
          <a:p>
            <a:r>
              <a:rPr sz="800" b="1" i="0">
                <a:solidFill>
                  <a:srgbClr val="2E2E2E"/>
                </a:solidFill>
                <a:latin typeface="Arial"/>
              </a:rPr>
              <a:t>color-warning-bg</a:t>
            </a:r>
          </a:p>
        </p:txBody>
      </p:sp>
      <p:sp>
        <p:nvSpPr>
          <p:cNvPr id="77" name="TextBox 76"/>
          <p:cNvSpPr txBox="1"/>
          <p:nvPr/>
        </p:nvSpPr>
        <p:spPr>
          <a:xfrm>
            <a:off x="2159682" y="4791456"/>
            <a:ext cx="1428162" cy="365760"/>
          </a:xfrm>
          <a:prstGeom prst="rect">
            <a:avLst/>
          </a:prstGeom>
          <a:noFill/>
        </p:spPr>
        <p:txBody>
          <a:bodyPr wrap="square" anchor="t" lIns="45720" rIns="45720">
            <a:spAutoFit/>
          </a:bodyPr>
          <a:lstStyle/>
          <a:p>
            <a:r>
              <a:rPr sz="700" b="0" i="0">
                <a:solidFill>
                  <a:srgbClr val="656565"/>
                </a:solidFill>
                <a:latin typeface="Arial"/>
              </a:rPr>
              <a:t>#FFF4D6 </a:t>
            </a:r>
          </a:p>
        </p:txBody>
      </p:sp>
      <p:sp>
        <p:nvSpPr>
          <p:cNvPr id="78" name="Rectangle 77"/>
          <p:cNvSpPr/>
          <p:nvPr/>
        </p:nvSpPr>
        <p:spPr>
          <a:xfrm>
            <a:off x="3770724" y="4224528"/>
            <a:ext cx="1428162" cy="384048"/>
          </a:xfrm>
          <a:prstGeom prst="rect">
            <a:avLst/>
          </a:prstGeom>
          <a:solidFill>
            <a:srgbClr val="E0A100"/>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770724" y="4617720"/>
            <a:ext cx="1428162" cy="201168"/>
          </a:xfrm>
          <a:prstGeom prst="rect">
            <a:avLst/>
          </a:prstGeom>
          <a:noFill/>
        </p:spPr>
        <p:txBody>
          <a:bodyPr wrap="square" anchor="t" lIns="45720" rIns="45720">
            <a:spAutoFit/>
          </a:bodyPr>
          <a:lstStyle/>
          <a:p>
            <a:r>
              <a:rPr sz="800" b="1" i="0">
                <a:solidFill>
                  <a:srgbClr val="2E2E2E"/>
                </a:solidFill>
                <a:latin typeface="Arial"/>
              </a:rPr>
              <a:t>color-warning-accent</a:t>
            </a:r>
          </a:p>
        </p:txBody>
      </p:sp>
      <p:sp>
        <p:nvSpPr>
          <p:cNvPr id="80" name="TextBox 79"/>
          <p:cNvSpPr txBox="1"/>
          <p:nvPr/>
        </p:nvSpPr>
        <p:spPr>
          <a:xfrm>
            <a:off x="3770724" y="4791456"/>
            <a:ext cx="1428162" cy="365760"/>
          </a:xfrm>
          <a:prstGeom prst="rect">
            <a:avLst/>
          </a:prstGeom>
          <a:noFill/>
        </p:spPr>
        <p:txBody>
          <a:bodyPr wrap="square" anchor="t" lIns="45720" rIns="45720">
            <a:spAutoFit/>
          </a:bodyPr>
          <a:lstStyle/>
          <a:p>
            <a:r>
              <a:rPr sz="700" b="0" i="0">
                <a:solidFill>
                  <a:srgbClr val="656565"/>
                </a:solidFill>
                <a:latin typeface="Arial"/>
              </a:rPr>
              <a:t>#E0A100 amber accent bar and icon of warnings</a:t>
            </a:r>
          </a:p>
        </p:txBody>
      </p:sp>
      <p:sp>
        <p:nvSpPr>
          <p:cNvPr id="81" name="Rectangle 80"/>
          <p:cNvSpPr/>
          <p:nvPr/>
        </p:nvSpPr>
        <p:spPr>
          <a:xfrm>
            <a:off x="5381766" y="4224528"/>
            <a:ext cx="1428162" cy="384048"/>
          </a:xfrm>
          <a:prstGeom prst="rect">
            <a:avLst/>
          </a:prstGeom>
          <a:solidFill>
            <a:srgbClr val="0072D8"/>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381766" y="4617720"/>
            <a:ext cx="1428162" cy="201168"/>
          </a:xfrm>
          <a:prstGeom prst="rect">
            <a:avLst/>
          </a:prstGeom>
          <a:noFill/>
        </p:spPr>
        <p:txBody>
          <a:bodyPr wrap="square" anchor="t" lIns="45720" rIns="45720">
            <a:spAutoFit/>
          </a:bodyPr>
          <a:lstStyle/>
          <a:p>
            <a:r>
              <a:rPr sz="800" b="1" i="0">
                <a:solidFill>
                  <a:srgbClr val="2E2E2E"/>
                </a:solidFill>
                <a:latin typeface="Arial"/>
              </a:rPr>
              <a:t>color-info</a:t>
            </a:r>
          </a:p>
        </p:txBody>
      </p:sp>
      <p:sp>
        <p:nvSpPr>
          <p:cNvPr id="83" name="TextBox 82"/>
          <p:cNvSpPr txBox="1"/>
          <p:nvPr/>
        </p:nvSpPr>
        <p:spPr>
          <a:xfrm>
            <a:off x="5381766" y="4791456"/>
            <a:ext cx="1428162" cy="365760"/>
          </a:xfrm>
          <a:prstGeom prst="rect">
            <a:avLst/>
          </a:prstGeom>
          <a:noFill/>
        </p:spPr>
        <p:txBody>
          <a:bodyPr wrap="square" anchor="t" lIns="45720" rIns="45720">
            <a:spAutoFit/>
          </a:bodyPr>
          <a:lstStyle/>
          <a:p>
            <a:r>
              <a:rPr sz="700" b="0" i="0">
                <a:solidFill>
                  <a:srgbClr val="656565"/>
                </a:solidFill>
                <a:latin typeface="Arial"/>
              </a:rPr>
              <a:t>#0072D8 </a:t>
            </a:r>
          </a:p>
        </p:txBody>
      </p:sp>
      <p:sp>
        <p:nvSpPr>
          <p:cNvPr id="84" name="Rectangle 83"/>
          <p:cNvSpPr/>
          <p:nvPr/>
        </p:nvSpPr>
        <p:spPr>
          <a:xfrm>
            <a:off x="6992808" y="4224528"/>
            <a:ext cx="1428162" cy="384048"/>
          </a:xfrm>
          <a:prstGeom prst="rect">
            <a:avLst/>
          </a:prstGeom>
          <a:solidFill>
            <a:srgbClr val="E5F5FF"/>
          </a:solidFill>
          <a:ln w="9525">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92808" y="4617720"/>
            <a:ext cx="1428162" cy="201168"/>
          </a:xfrm>
          <a:prstGeom prst="rect">
            <a:avLst/>
          </a:prstGeom>
          <a:noFill/>
        </p:spPr>
        <p:txBody>
          <a:bodyPr wrap="square" anchor="t" lIns="45720" rIns="45720">
            <a:spAutoFit/>
          </a:bodyPr>
          <a:lstStyle/>
          <a:p>
            <a:r>
              <a:rPr sz="800" b="1" i="0">
                <a:solidFill>
                  <a:srgbClr val="2E2E2E"/>
                </a:solidFill>
                <a:latin typeface="Arial"/>
              </a:rPr>
              <a:t>color-info-bg</a:t>
            </a:r>
          </a:p>
        </p:txBody>
      </p:sp>
      <p:sp>
        <p:nvSpPr>
          <p:cNvPr id="86" name="TextBox 85"/>
          <p:cNvSpPr txBox="1"/>
          <p:nvPr/>
        </p:nvSpPr>
        <p:spPr>
          <a:xfrm>
            <a:off x="6992808" y="4791456"/>
            <a:ext cx="1428162" cy="365760"/>
          </a:xfrm>
          <a:prstGeom prst="rect">
            <a:avLst/>
          </a:prstGeom>
          <a:noFill/>
        </p:spPr>
        <p:txBody>
          <a:bodyPr wrap="square" anchor="t" lIns="45720" rIns="45720">
            <a:spAutoFit/>
          </a:bodyPr>
          <a:lstStyle/>
          <a:p>
            <a:r>
              <a:rPr sz="700" b="0" i="0">
                <a:solidFill>
                  <a:srgbClr val="656565"/>
                </a:solidFill>
                <a:latin typeface="Arial"/>
              </a:rPr>
              <a:t>#E5F5FF Typography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Type scale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25880"/>
          <a:ext cx="11094413" cy="2743190"/>
        </p:xfrm>
        <a:graphic>
          <a:graphicData uri="http://schemas.openxmlformats.org/drawingml/2006/table">
            <a:tbl>
              <a:tblPr firstRow="1" bandRow="1">
                <a:tableStyleId>{5C22544A-7EE6-4342-B048-85BDC9FD1C3A}</a:tableStyleId>
              </a:tblPr>
              <a:tblGrid>
                <a:gridCol w="3584349"/>
                <a:gridCol w="2560249"/>
                <a:gridCol w="4949815"/>
              </a:tblGrid>
              <a:tr h="274319">
                <a:tc>
                  <a:txBody>
                    <a:bodyPr/>
                    <a:lstStyle/>
                    <a:p>
                      <a:r>
                        <a:rPr sz="1200" b="1">
                          <a:solidFill>
                            <a:srgbClr val="FFFFFF"/>
                          </a:solidFill>
                          <a:latin typeface="Arial"/>
                        </a:rPr>
                        <a:t>Use</a:t>
                      </a:r>
                    </a:p>
                  </a:txBody>
                  <a:tcPr marL="54864" marR="54864" marT="27432" marB="27432">
                    <a:solidFill>
                      <a:srgbClr val="004EA8"/>
                    </a:solidFill>
                  </a:tcPr>
                </a:tc>
                <a:tc>
                  <a:txBody>
                    <a:bodyPr/>
                    <a:lstStyle/>
                    <a:p>
                      <a:r>
                        <a:rPr sz="1200" b="1">
                          <a:solidFill>
                            <a:srgbClr val="FFFFFF"/>
                          </a:solidFill>
                          <a:latin typeface="Arial"/>
                        </a:rPr>
                        <a:t>Size / line height</a:t>
                      </a:r>
                    </a:p>
                  </a:txBody>
                  <a:tcPr marL="54864" marR="54864" marT="27432" marB="27432">
                    <a:solidFill>
                      <a:srgbClr val="004EA8"/>
                    </a:solidFill>
                  </a:tcPr>
                </a:tc>
                <a:tc>
                  <a:txBody>
                    <a:bodyPr/>
                    <a:lstStyle/>
                    <a:p>
                      <a:r>
                        <a:rPr sz="1200" b="1">
                          <a:solidFill>
                            <a:srgbClr val="FFFFFF"/>
                          </a:solidFill>
                          <a:latin typeface="Arial"/>
                        </a:rPr>
                        <a:t>Weight and colour</a:t>
                      </a:r>
                    </a:p>
                  </a:txBody>
                  <a:tcPr marL="54864" marR="54864" marT="27432" marB="27432">
                    <a:solidFill>
                      <a:srgbClr val="004EA8"/>
                    </a:solidFill>
                  </a:tcPr>
                </a:tc>
              </a:tr>
              <a:tr h="274319">
                <a:tc>
                  <a:txBody>
                    <a:bodyPr/>
                    <a:lstStyle/>
                    <a:p>
                      <a:r>
                        <a:rPr sz="1200" b="0">
                          <a:solidFill>
                            <a:srgbClr val="4B4B4B"/>
                          </a:solidFill>
                          <a:latin typeface="Arial"/>
                        </a:rPr>
                        <a:t>Page title (h1)</a:t>
                      </a:r>
                    </a:p>
                  </a:txBody>
                  <a:tcPr marL="54864" marR="54864" marT="27432" marB="27432">
                    <a:solidFill>
                      <a:srgbClr val="FFFFFF"/>
                    </a:solidFill>
                  </a:tcPr>
                </a:tc>
                <a:tc>
                  <a:txBody>
                    <a:bodyPr/>
                    <a:lstStyle/>
                    <a:p>
                      <a:r>
                        <a:rPr sz="1200" b="0">
                          <a:solidFill>
                            <a:srgbClr val="4B4B4B"/>
                          </a:solidFill>
                          <a:latin typeface="Arial"/>
                        </a:rPr>
                        <a:t>28 / 36</a:t>
                      </a:r>
                    </a:p>
                  </a:txBody>
                  <a:tcPr marL="54864" marR="54864" marT="27432" marB="27432">
                    <a:solidFill>
                      <a:srgbClr val="FFFFFF"/>
                    </a:solidFill>
                  </a:tcPr>
                </a:tc>
                <a:tc>
                  <a:txBody>
                    <a:bodyPr/>
                    <a:lstStyle/>
                    <a:p>
                      <a:r>
                        <a:rPr sz="1200" b="0">
                          <a:solidFill>
                            <a:srgbClr val="4B4B4B"/>
                          </a:solidFill>
                          <a:latin typeface="Arial"/>
                        </a:rPr>
                        <a:t>Bold, Near Black #2E2E2E</a:t>
                      </a:r>
                    </a:p>
                  </a:txBody>
                  <a:tcPr marL="54864" marR="54864" marT="27432" marB="27432">
                    <a:solidFill>
                      <a:srgbClr val="FFFFFF"/>
                    </a:solidFill>
                  </a:tcPr>
                </a:tc>
              </a:tr>
              <a:tr h="274319">
                <a:tc>
                  <a:txBody>
                    <a:bodyPr/>
                    <a:lstStyle/>
                    <a:p>
                      <a:r>
                        <a:rPr sz="1200" b="0">
                          <a:solidFill>
                            <a:srgbClr val="4B4B4B"/>
                          </a:solidFill>
                          <a:latin typeface="Arial"/>
                        </a:rPr>
                        <a:t>Section title</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Bold, Near Black</a:t>
                      </a:r>
                    </a:p>
                  </a:txBody>
                  <a:tcPr marL="54864" marR="54864" marT="27432" marB="27432">
                    <a:solidFill>
                      <a:srgbClr val="E5F5FF"/>
                    </a:solidFill>
                  </a:tcPr>
                </a:tc>
              </a:tr>
              <a:tr h="274319">
                <a:tc>
                  <a:txBody>
                    <a:bodyPr/>
                    <a:lstStyle/>
                    <a:p>
                      <a:r>
                        <a:rPr sz="1200" b="0">
                          <a:solidFill>
                            <a:srgbClr val="4B4B4B"/>
                          </a:solidFill>
                          <a:latin typeface="Arial"/>
                        </a:rPr>
                        <a:t>Group title</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Bold, Near Black</a:t>
                      </a:r>
                    </a:p>
                  </a:txBody>
                  <a:tcPr marL="54864" marR="54864" marT="27432" marB="27432">
                    <a:solidFill>
                      <a:srgbClr val="FFFFFF"/>
                    </a:solidFill>
                  </a:tcPr>
                </a:tc>
              </a:tr>
              <a:tr h="274319">
                <a:tc>
                  <a:txBody>
                    <a:bodyPr/>
                    <a:lstStyle/>
                    <a:p>
                      <a:r>
                        <a:rPr sz="1200" b="0">
                          <a:solidFill>
                            <a:srgbClr val="4B4B4B"/>
                          </a:solidFill>
                          <a:latin typeface="Arial"/>
                        </a:rPr>
                        <a:t>Lead paragraph</a:t>
                      </a:r>
                    </a:p>
                  </a:txBody>
                  <a:tcPr marL="54864" marR="54864" marT="27432" marB="27432">
                    <a:solidFill>
                      <a:srgbClr val="E5F5FF"/>
                    </a:solidFill>
                  </a:tcPr>
                </a:tc>
                <a:tc>
                  <a:txBody>
                    <a:bodyPr/>
                    <a:lstStyle/>
                    <a:p>
                      <a:r>
                        <a:rPr sz="1200" b="0">
                          <a:solidFill>
                            <a:srgbClr val="4B4B4B"/>
                          </a:solidFill>
                          <a:latin typeface="Arial"/>
                        </a:rPr>
                        <a:t>18 / 28</a:t>
                      </a:r>
                    </a:p>
                  </a:txBody>
                  <a:tcPr marL="54864" marR="54864" marT="27432" marB="27432">
                    <a:solidFill>
                      <a:srgbClr val="E5F5FF"/>
                    </a:solidFill>
                  </a:tcPr>
                </a:tc>
                <a:tc>
                  <a:txBody>
                    <a:bodyPr/>
                    <a:lstStyle/>
                    <a:p>
                      <a:r>
                        <a:rPr sz="1200" b="0">
                          <a:solidFill>
                            <a:srgbClr val="4B4B4B"/>
                          </a:solidFill>
                          <a:latin typeface="Arial"/>
                        </a:rPr>
                        <a:t>Regular, Dark Grey #4B4B4B</a:t>
                      </a:r>
                    </a:p>
                  </a:txBody>
                  <a:tcPr marL="54864" marR="54864" marT="27432" marB="27432">
                    <a:solidFill>
                      <a:srgbClr val="E5F5FF"/>
                    </a:solidFill>
                  </a:tcPr>
                </a:tc>
              </a:tr>
              <a:tr h="274319">
                <a:tc>
                  <a:txBody>
                    <a:bodyPr/>
                    <a:lstStyle/>
                    <a:p>
                      <a:r>
                        <a:rPr sz="1200" b="0">
                          <a:solidFill>
                            <a:srgbClr val="4B4B4B"/>
                          </a:solidFill>
                          <a:latin typeface="Arial"/>
                        </a:rPr>
                        <a:t>Content</a:t>
                      </a:r>
                    </a:p>
                  </a:txBody>
                  <a:tcPr marL="54864" marR="54864" marT="27432" marB="27432">
                    <a:solidFill>
                      <a:srgbClr val="FFFFFF"/>
                    </a:solidFill>
                  </a:tcPr>
                </a:tc>
                <a:tc>
                  <a:txBody>
                    <a:bodyPr/>
                    <a:lstStyle/>
                    <a:p>
                      <a:r>
                        <a:rPr sz="1200" b="0">
                          <a:solidFill>
                            <a:srgbClr val="4B4B4B"/>
                          </a:solidFill>
                          <a:latin typeface="Arial"/>
                        </a:rPr>
                        <a:t>16 / 24</a:t>
                      </a:r>
                    </a:p>
                  </a:txBody>
                  <a:tcPr marL="54864" marR="54864" marT="27432" marB="27432">
                    <a:solidFill>
                      <a:srgbClr val="FFFFFF"/>
                    </a:solidFill>
                  </a:tcPr>
                </a:tc>
                <a:tc>
                  <a:txBody>
                    <a:bodyPr/>
                    <a:lstStyle/>
                    <a:p>
                      <a:r>
                        <a:rPr sz="1200" b="0">
                          <a:solidFill>
                            <a:srgbClr val="4B4B4B"/>
                          </a:solidFill>
                          <a:latin typeface="Arial"/>
                        </a:rPr>
                        <a:t>Regular, Dark Grey</a:t>
                      </a:r>
                    </a:p>
                  </a:txBody>
                  <a:tcPr marL="54864" marR="54864" marT="27432" marB="27432">
                    <a:solidFill>
                      <a:srgbClr val="FFFFFF"/>
                    </a:solidFill>
                  </a:tcPr>
                </a:tc>
              </a:tr>
              <a:tr h="274319">
                <a:tc>
                  <a:txBody>
                    <a:bodyPr/>
                    <a:lstStyle/>
                    <a:p>
                      <a:r>
                        <a:rPr sz="1200" b="0">
                          <a:solidFill>
                            <a:srgbClr val="4B4B4B"/>
                          </a:solidFill>
                          <a:latin typeface="Arial"/>
                        </a:rPr>
                        <a:t>Application default (tables, forms)</a:t>
                      </a:r>
                    </a:p>
                  </a:txBody>
                  <a:tcPr marL="54864" marR="54864" marT="27432" marB="27432">
                    <a:solidFill>
                      <a:srgbClr val="E5F5FF"/>
                    </a:solidFill>
                  </a:tcPr>
                </a:tc>
                <a:tc>
                  <a:txBody>
                    <a:bodyPr/>
                    <a:lstStyle/>
                    <a:p>
                      <a:r>
                        <a:rPr sz="1200" b="0">
                          <a:solidFill>
                            <a:srgbClr val="4B4B4B"/>
                          </a:solidFill>
                          <a:latin typeface="Arial"/>
                        </a:rPr>
                        <a:t>14 / 20</a:t>
                      </a:r>
                    </a:p>
                  </a:txBody>
                  <a:tcPr marL="54864" marR="54864" marT="27432" marB="27432">
                    <a:solidFill>
                      <a:srgbClr val="E5F5FF"/>
                    </a:solidFill>
                  </a:tcPr>
                </a:tc>
                <a:tc>
                  <a:txBody>
                    <a:bodyPr/>
                    <a:lstStyle/>
                    <a:p>
                      <a:r>
                        <a:rPr sz="1200" b="0">
                          <a:solidFill>
                            <a:srgbClr val="4B4B4B"/>
                          </a:solidFill>
                          <a:latin typeface="Arial"/>
                        </a:rPr>
                        <a:t>Regular, Dark Grey</a:t>
                      </a:r>
                    </a:p>
                  </a:txBody>
                  <a:tcPr marL="54864" marR="54864" marT="27432" marB="27432">
                    <a:solidFill>
                      <a:srgbClr val="E5F5FF"/>
                    </a:solidFill>
                  </a:tcPr>
                </a:tc>
              </a:tr>
              <a:tr h="274319">
                <a:tc>
                  <a:txBody>
                    <a:bodyPr/>
                    <a:lstStyle/>
                    <a:p>
                      <a:r>
                        <a:rPr sz="1200" b="0">
                          <a:solidFill>
                            <a:srgbClr val="4B4B4B"/>
                          </a:solidFill>
                          <a:latin typeface="Arial"/>
                        </a:rPr>
                        <a:t>Fine print, format hints</a:t>
                      </a:r>
                    </a:p>
                  </a:txBody>
                  <a:tcPr marL="54864" marR="54864" marT="27432" marB="27432">
                    <a:solidFill>
                      <a:srgbClr val="FFFFFF"/>
                    </a:solidFill>
                  </a:tcPr>
                </a:tc>
                <a:tc>
                  <a:txBody>
                    <a:bodyPr/>
                    <a:lstStyle/>
                    <a:p>
                      <a:r>
                        <a:rPr sz="1200" b="0">
                          <a:solidFill>
                            <a:srgbClr val="4B4B4B"/>
                          </a:solidFill>
                          <a:latin typeface="Arial"/>
                        </a:rPr>
                        <a:t>12 / 16</a:t>
                      </a:r>
                    </a:p>
                  </a:txBody>
                  <a:tcPr marL="54864" marR="54864" marT="27432" marB="27432">
                    <a:solidFill>
                      <a:srgbClr val="FFFFFF"/>
                    </a:solidFill>
                  </a:tcPr>
                </a:tc>
                <a:tc>
                  <a:txBody>
                    <a:bodyPr/>
                    <a:lstStyle/>
                    <a:p>
                      <a:r>
                        <a:rPr sz="1200" b="0">
                          <a:solidFill>
                            <a:srgbClr val="4B4B4B"/>
                          </a:solidFill>
                          <a:latin typeface="Arial"/>
                        </a:rPr>
                        <a:t>Regular, Base Grey #656565</a:t>
                      </a:r>
                    </a:p>
                  </a:txBody>
                  <a:tcPr marL="54864" marR="54864" marT="27432" marB="27432">
                    <a:solidFill>
                      <a:srgbClr val="FFFFFF"/>
                    </a:solidFill>
                  </a:tcPr>
                </a:tc>
              </a:tr>
              <a:tr h="274319">
                <a:tc>
                  <a:txBody>
                    <a:bodyPr/>
                    <a:lstStyle/>
                    <a:p>
                      <a:r>
                        <a:rPr sz="1200" b="0">
                          <a:solidFill>
                            <a:srgbClr val="4B4B4B"/>
                          </a:solidFill>
                          <a:latin typeface="Arial"/>
                        </a:rPr>
                        <a:t>Buttons</a:t>
                      </a:r>
                    </a:p>
                  </a:txBody>
                  <a:tcPr marL="54864" marR="54864" marT="27432" marB="27432">
                    <a:solidFill>
                      <a:srgbClr val="E5F5FF"/>
                    </a:solidFill>
                  </a:tcPr>
                </a:tc>
                <a:tc>
                  <a:txBody>
                    <a:bodyPr/>
                    <a:lstStyle/>
                    <a:p>
                      <a:r>
                        <a:rPr sz="1200" b="0">
                          <a:solidFill>
                            <a:srgbClr val="4B4B4B"/>
                          </a:solidFill>
                          <a:latin typeface="Arial"/>
                        </a:rPr>
                        <a:t>14, Title Case</a:t>
                      </a:r>
                    </a:p>
                  </a:txBody>
                  <a:tcPr marL="54864" marR="54864" marT="27432" marB="27432">
                    <a:solidFill>
                      <a:srgbClr val="E5F5FF"/>
                    </a:solidFill>
                  </a:tcPr>
                </a:tc>
                <a:tc>
                  <a:txBody>
                    <a:bodyPr/>
                    <a:lstStyle/>
                    <a:p>
                      <a:r>
                        <a:rPr sz="1200" b="0">
                          <a:solidFill>
                            <a:srgbClr val="4B4B4B"/>
                          </a:solidFill>
                          <a:latin typeface="Arial"/>
                        </a:rPr>
                        <a:t>Bold; white on CTA Blue (primary), CTA Blue on white (secondary)</a:t>
                      </a:r>
                    </a:p>
                  </a:txBody>
                  <a:tcPr marL="54864" marR="54864" marT="27432" marB="27432">
                    <a:solidFill>
                      <a:srgbClr val="E5F5FF"/>
                    </a:solidFill>
                  </a:tcPr>
                </a:tc>
              </a:tr>
              <a:tr h="274319">
                <a:tc>
                  <a:txBody>
                    <a:bodyPr/>
                    <a:lstStyle/>
                    <a:p>
                      <a:r>
                        <a:rPr sz="1200" b="0">
                          <a:solidFill>
                            <a:srgbClr val="4B4B4B"/>
                          </a:solidFill>
                          <a:latin typeface="Arial"/>
                        </a:rPr>
                        <a:t>Status pill</a:t>
                      </a:r>
                    </a:p>
                  </a:txBody>
                  <a:tcPr marL="54864" marR="54864" marT="27432" marB="27432">
                    <a:solidFill>
                      <a:srgbClr val="FFFFFF"/>
                    </a:solidFill>
                  </a:tcPr>
                </a:tc>
                <a:tc>
                  <a:txBody>
                    <a:bodyPr/>
                    <a:lstStyle/>
                    <a:p>
                      <a:r>
                        <a:rPr sz="1200" b="0">
                          <a:solidFill>
                            <a:srgbClr val="4B4B4B"/>
                          </a:solidFill>
                          <a:latin typeface="Arial"/>
                        </a:rPr>
                        <a:t>12, bold, centred</a:t>
                      </a:r>
                    </a:p>
                  </a:txBody>
                  <a:tcPr marL="54864" marR="54864" marT="27432" marB="27432">
                    <a:solidFill>
                      <a:srgbClr val="FFFFFF"/>
                    </a:solidFill>
                  </a:tcPr>
                </a:tc>
                <a:tc>
                  <a:txBody>
                    <a:bodyPr/>
                    <a:lstStyle/>
                    <a:p>
                      <a:r>
                        <a:rPr sz="1200" b="0">
                          <a:solidFill>
                            <a:srgbClr val="4B4B4B"/>
                          </a:solidFill>
                          <a:latin typeface="Arial"/>
                        </a:rPr>
                        <a:t>24 px high, 112 to 184 px wide, one colour per state group</a:t>
                      </a:r>
                    </a:p>
                  </a:txBody>
                  <a:tcPr marL="54864" marR="54864"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25880"/>
          <a:ext cx="11094414" cy="492252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radius-sm</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radius-md</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radius-lg</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space-1</a:t>
                      </a:r>
                    </a:p>
                  </a:txBody>
                  <a:tcPr marL="54864" marR="54864" marT="27432" marB="27432">
                    <a:solidFill>
                      <a:srgbClr val="E5F5FF"/>
                    </a:solidFill>
                  </a:tcPr>
                </a:tc>
                <a:tc>
                  <a:txBody>
                    <a:bodyPr/>
                    <a:lstStyle/>
                    <a:p>
                      <a:r>
                        <a:rPr sz="1100" b="0">
                          <a:solidFill>
                            <a:srgbClr val="4B4B4B"/>
                          </a:solidFill>
                          <a:latin typeface="Arial"/>
                        </a:rPr>
                        <a:t>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space-2</a:t>
                      </a:r>
                    </a:p>
                  </a:txBody>
                  <a:tcPr marL="54864" marR="54864" marT="27432" marB="27432">
                    <a:solidFill>
                      <a:srgbClr val="FFFFFF"/>
                    </a:solidFill>
                  </a:tcPr>
                </a:tc>
                <a:tc>
                  <a:txBody>
                    <a:bodyPr/>
                    <a:lstStyle/>
                    <a:p>
                      <a:r>
                        <a:rPr sz="1100" b="0">
                          <a:solidFill>
                            <a:srgbClr val="4B4B4B"/>
                          </a:solidFill>
                          <a:latin typeface="Arial"/>
                        </a:rPr>
                        <a:t>8px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space-3</a:t>
                      </a:r>
                    </a:p>
                  </a:txBody>
                  <a:tcPr marL="54864" marR="54864" marT="27432" marB="27432">
                    <a:solidFill>
                      <a:srgbClr val="E5F5FF"/>
                    </a:solidFill>
                  </a:tcPr>
                </a:tc>
                <a:tc>
                  <a:txBody>
                    <a:bodyPr/>
                    <a:lstStyle/>
                    <a:p>
                      <a:r>
                        <a:rPr sz="1100" b="0">
                          <a:solidFill>
                            <a:srgbClr val="4B4B4B"/>
                          </a:solidFill>
                          <a:latin typeface="Arial"/>
                        </a:rPr>
                        <a:t>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space-4</a:t>
                      </a:r>
                    </a:p>
                  </a:txBody>
                  <a:tcPr marL="54864" marR="54864" marT="27432" marB="27432">
                    <a:solidFill>
                      <a:srgbClr val="FFFFFF"/>
                    </a:solidFill>
                  </a:tcPr>
                </a:tc>
                <a:tc>
                  <a:txBody>
                    <a:bodyPr/>
                    <a:lstStyle/>
                    <a:p>
                      <a:r>
                        <a:rPr sz="1100" b="0">
                          <a:solidFill>
                            <a:srgbClr val="4B4B4B"/>
                          </a:solidFill>
                          <a:latin typeface="Arial"/>
                        </a:rPr>
                        <a:t>16px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space-5</a:t>
                      </a:r>
                    </a:p>
                  </a:txBody>
                  <a:tcPr marL="54864" marR="54864" marT="27432" marB="27432">
                    <a:solidFill>
                      <a:srgbClr val="E5F5FF"/>
                    </a:solidFill>
                  </a:tcPr>
                </a:tc>
                <a:tc>
                  <a:txBody>
                    <a:bodyPr/>
                    <a:lstStyle/>
                    <a:p>
                      <a:r>
                        <a:rPr sz="1100" b="0">
                          <a:solidFill>
                            <a:srgbClr val="4B4B4B"/>
                          </a:solidFill>
                          <a:latin typeface="Arial"/>
                        </a:rPr>
                        <a:t>24px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space-6</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control-height</a:t>
                      </a:r>
                    </a:p>
                  </a:txBody>
                  <a:tcPr marL="54864" marR="54864" marT="27432" marB="27432">
                    <a:solidFill>
                      <a:srgbClr val="E5F5FF"/>
                    </a:solidFill>
                  </a:tcPr>
                </a:tc>
                <a:tc>
                  <a:txBody>
                    <a:bodyPr/>
                    <a:lstStyle/>
                    <a:p>
                      <a:r>
                        <a:rPr sz="1100" b="0">
                          <a:solidFill>
                            <a:srgbClr val="4B4B4B"/>
                          </a:solidFill>
                          <a:latin typeface="Arial"/>
                        </a:rPr>
                        <a:t>44px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control-height-sm</a:t>
                      </a:r>
                    </a:p>
                  </a:txBody>
                  <a:tcPr marL="54864" marR="54864" marT="27432" marB="27432">
                    <a:solidFill>
                      <a:srgbClr val="FFFFFF"/>
                    </a:solidFill>
                  </a:tcPr>
                </a:tc>
                <a:tc>
                  <a:txBody>
                    <a:bodyPr/>
                    <a:lstStyle/>
                    <a:p>
                      <a:r>
                        <a:rPr sz="1100" b="0">
                          <a:solidFill>
                            <a:srgbClr val="4B4B4B"/>
                          </a:solidFill>
                          <a:latin typeface="Arial"/>
                        </a:rPr>
                        <a:t>32px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header-height</a:t>
                      </a:r>
                    </a:p>
                  </a:txBody>
                  <a:tcPr marL="54864" marR="54864" marT="27432" marB="27432">
                    <a:solidFill>
                      <a:srgbClr val="E5F5FF"/>
                    </a:solidFill>
                  </a:tcPr>
                </a:tc>
                <a:tc>
                  <a:txBody>
                    <a:bodyPr/>
                    <a:lstStyle/>
                    <a:p>
                      <a:r>
                        <a:rPr sz="1100" b="0">
                          <a:solidFill>
                            <a:srgbClr val="4B4B4B"/>
                          </a:solidFill>
                          <a:latin typeface="Arial"/>
                        </a:rPr>
                        <a:t>72px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sidebar-width</a:t>
                      </a:r>
                    </a:p>
                  </a:txBody>
                  <a:tcPr marL="54864" marR="54864" marT="27432" marB="27432">
                    <a:solidFill>
                      <a:srgbClr val="FFFFFF"/>
                    </a:solidFill>
                  </a:tcPr>
                </a:tc>
                <a:tc>
                  <a:txBody>
                    <a:bodyPr/>
                    <a:lstStyle/>
                    <a:p>
                      <a:r>
                        <a:rPr sz="1100" b="0">
                          <a:solidFill>
                            <a:srgbClr val="4B4B4B"/>
                          </a:solidFill>
                          <a:latin typeface="Arial"/>
                        </a:rPr>
                        <a:t>272px</a:t>
                      </a:r>
                    </a:p>
                  </a:txBody>
                  <a:tcPr marL="54864" marR="54864" marT="27432" marB="27432">
                    <a:solidFill>
                      <a:srgbClr val="FFFFFF"/>
                    </a:solidFill>
                  </a:tcPr>
                </a:tc>
                <a:tc>
                  <a:txBody>
                    <a:bodyPr/>
                    <a:lstStyle/>
                    <a:p>
                      <a:r>
                        <a:rPr sz="1100" b="0">
                          <a:solidFill>
                            <a:srgbClr val="4B4B4B"/>
                          </a:solidFill>
                          <a:latin typeface="Arial"/>
                        </a:rPr>
                        <a:t>Status pills and flag chips: one size everywhere</a:t>
                      </a:r>
                    </a:p>
                  </a:txBody>
                  <a:tcPr marL="54864" marR="54864" marT="27432" marB="27432">
                    <a:solidFill>
                      <a:srgbClr val="FFFFFF"/>
                    </a:solidFill>
                  </a:tcPr>
                </a:tc>
              </a:tr>
              <a:tr h="259080">
                <a:tc>
                  <a:txBody>
                    <a:bodyPr/>
                    <a:lstStyle/>
                    <a:p>
                      <a:r>
                        <a:rPr sz="1100" b="0">
                          <a:solidFill>
                            <a:srgbClr val="4B4B4B"/>
                          </a:solidFill>
                          <a:latin typeface="Arial"/>
                        </a:rPr>
                        <a:t>badge-min-width</a:t>
                      </a:r>
                    </a:p>
                  </a:txBody>
                  <a:tcPr marL="54864" marR="54864" marT="27432" marB="27432">
                    <a:solidFill>
                      <a:srgbClr val="E5F5FF"/>
                    </a:solidFill>
                  </a:tcPr>
                </a:tc>
                <a:tc>
                  <a:txBody>
                    <a:bodyPr/>
                    <a:lstStyle/>
                    <a:p>
                      <a:r>
                        <a:rPr sz="1100" b="0">
                          <a:solidFill>
                            <a:srgbClr val="4B4B4B"/>
                          </a:solidFill>
                          <a:latin typeface="Arial"/>
                        </a:rPr>
                        <a:t>112px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r h="259080">
                <a:tc>
                  <a:txBody>
                    <a:bodyPr/>
                    <a:lstStyle/>
                    <a:p>
                      <a:r>
                        <a:rPr sz="1100" b="0">
                          <a:solidFill>
                            <a:srgbClr val="4B4B4B"/>
                          </a:solidFill>
                          <a:latin typeface="Arial"/>
                        </a:rPr>
                        <a:t>badge-max-width</a:t>
                      </a:r>
                    </a:p>
                  </a:txBody>
                  <a:tcPr marL="54864" marR="54864" marT="27432" marB="27432">
                    <a:solidFill>
                      <a:srgbClr val="FFFFFF"/>
                    </a:solidFill>
                  </a:tcPr>
                </a:tc>
                <a:tc>
                  <a:txBody>
                    <a:bodyPr/>
                    <a:lstStyle/>
                    <a:p>
                      <a:r>
                        <a:rPr sz="1100" b="0">
                          <a:solidFill>
                            <a:srgbClr val="4B4B4B"/>
                          </a:solidFill>
                          <a:latin typeface="Arial"/>
                        </a:rPr>
                        <a:t>184px</a:t>
                      </a:r>
                    </a:p>
                  </a:txBody>
                  <a:tcPr marL="54864" marR="54864" marT="27432" marB="27432">
                    <a:solidFill>
                      <a:srgbClr val="FFFFFF"/>
                    </a:solidFill>
                  </a:tcPr>
                </a:tc>
                <a:tc>
                  <a:txBody>
                    <a:bodyPr/>
                    <a:lstStyle/>
                    <a:p>
                      <a:r>
                        <a:rPr sz="1100" b="0">
                          <a:solidFill>
                            <a:srgbClr val="4B4B4B"/>
                          </a:solidFill>
                          <a:latin typeface="Arial"/>
                        </a:rPr>
                        <a:t>-</a:t>
                      </a:r>
                    </a:p>
                  </a:txBody>
                  <a:tcPr marL="54864" marR="54864" marT="27432" marB="27432">
                    <a:solidFill>
                      <a:srgbClr val="FFFFFF"/>
                    </a:solidFill>
                  </a:tcPr>
                </a:tc>
              </a:tr>
              <a:tr h="259080">
                <a:tc>
                  <a:txBody>
                    <a:bodyPr/>
                    <a:lstStyle/>
                    <a:p>
                      <a:r>
                        <a:rPr sz="1100" b="0">
                          <a:solidFill>
                            <a:srgbClr val="4B4B4B"/>
                          </a:solidFill>
                          <a:latin typeface="Arial"/>
                        </a:rPr>
                        <a:t>tag-min-width</a:t>
                      </a:r>
                    </a:p>
                  </a:txBody>
                  <a:tcPr marL="54864" marR="54864" marT="27432" marB="27432">
                    <a:solidFill>
                      <a:srgbClr val="E5F5FF"/>
                    </a:solidFill>
                  </a:tcPr>
                </a:tc>
                <a:tc>
                  <a:txBody>
                    <a:bodyPr/>
                    <a:lstStyle/>
                    <a:p>
                      <a:r>
                        <a:rPr sz="1100" b="0">
                          <a:solidFill>
                            <a:srgbClr val="4B4B4B"/>
                          </a:solidFill>
                          <a:latin typeface="Arial"/>
                        </a:rPr>
                        <a:t>88px</a:t>
                      </a:r>
                    </a:p>
                  </a:txBody>
                  <a:tcPr marL="54864" marR="54864" marT="27432" marB="27432">
                    <a:solidFill>
                      <a:srgbClr val="E5F5FF"/>
                    </a:solidFill>
                  </a:tcPr>
                </a:tc>
                <a:tc>
                  <a:txBody>
                    <a:bodyPr/>
                    <a:lstStyle/>
                    <a:p>
                      <a:r>
                        <a:rPr sz="1100" b="0">
                          <a:solidFill>
                            <a:srgbClr val="4B4B4B"/>
                          </a:solidFill>
                          <a:latin typeface="Arial"/>
                        </a:rPr>
                        <a:t>Fixed width of code and reference columns (ARN, CL, PAY… numbers)</a:t>
                      </a:r>
                    </a:p>
                  </a:txBody>
                  <a:tcPr marL="54864" marR="54864" marT="27432" marB="27432">
                    <a:solidFill>
                      <a:srgbClr val="E5F5FF"/>
                    </a:solidFill>
                  </a:tcPr>
                </a:tc>
              </a:tr>
              <a:tr h="259080">
                <a:tc>
                  <a:txBody>
                    <a:bodyPr/>
                    <a:lstStyle/>
                    <a:p>
                      <a:r>
                        <a:rPr sz="1100" b="0">
                          <a:solidFill>
                            <a:srgbClr val="4B4B4B"/>
                          </a:solidFill>
                          <a:latin typeface="Arial"/>
                        </a:rPr>
                        <a:t>code-col-width</a:t>
                      </a:r>
                    </a:p>
                  </a:txBody>
                  <a:tcPr marL="54864" marR="54864" marT="27432" marB="27432">
                    <a:solidFill>
                      <a:srgbClr val="FFFFFF"/>
                    </a:solidFill>
                  </a:tcPr>
                </a:tc>
                <a:tc>
                  <a:txBody>
                    <a:bodyPr/>
                    <a:lstStyle/>
                    <a:p>
                      <a:r>
                        <a:rPr sz="1100" b="0">
                          <a:solidFill>
                            <a:srgbClr val="4B4B4B"/>
                          </a:solidFill>
                          <a:latin typeface="Arial"/>
                        </a:rPr>
                        <a:t>168px</a:t>
                      </a:r>
                    </a:p>
                  </a:txBody>
                  <a:tcPr marL="54864" marR="54864" marT="27432" marB="27432">
                    <a:solidFill>
                      <a:srgbClr val="FFFFFF"/>
                    </a:solidFill>
                  </a:tcPr>
                </a:tc>
                <a:tc>
                  <a:txBody>
                    <a:bodyPr/>
                    <a:lstStyle/>
                    <a:p>
                      <a:r>
                        <a:rPr sz="1100" b="0">
                          <a:solidFill>
                            <a:srgbClr val="4B4B4B"/>
                          </a:solidFill>
                          <a:latin typeface="Arial"/>
                        </a:rPr>
                        <a:t>Period column: "to 20-Oct-2027" on one line (PeriodCell)</a:t>
                      </a:r>
                    </a:p>
                  </a:txBody>
                  <a:tcPr marL="54864" marR="54864" marT="27432" marB="27432">
                    <a:solidFill>
                      <a:srgbClr val="FFFFFF"/>
                    </a:solidFill>
                  </a:tcPr>
                </a:tc>
              </a:tr>
              <a:tr h="259080">
                <a:tc>
                  <a:txBody>
                    <a:bodyPr/>
                    <a:lstStyle/>
                    <a:p>
                      <a:r>
                        <a:rPr sz="1100" b="0">
                          <a:solidFill>
                            <a:srgbClr val="4B4B4B"/>
                          </a:solidFill>
                          <a:latin typeface="Arial"/>
                        </a:rPr>
                        <a:t>period-col-width</a:t>
                      </a:r>
                    </a:p>
                  </a:txBody>
                  <a:tcPr marL="54864" marR="54864" marT="27432" marB="27432">
                    <a:solidFill>
                      <a:srgbClr val="E5F5FF"/>
                    </a:solidFill>
                  </a:tcPr>
                </a:tc>
                <a:tc>
                  <a:txBody>
                    <a:bodyPr/>
                    <a:lstStyle/>
                    <a:p>
                      <a:r>
                        <a:rPr sz="1100" b="0">
                          <a:solidFill>
                            <a:srgbClr val="4B4B4B"/>
                          </a:solidFill>
                          <a:latin typeface="Arial"/>
                        </a:rPr>
                        <a:t>132px</a:t>
                      </a:r>
                    </a:p>
                  </a:txBody>
                  <a:tcPr marL="54864" marR="54864" marT="27432" marB="27432">
                    <a:solidFill>
                      <a:srgbClr val="E5F5FF"/>
                    </a:solidFill>
                  </a:tcPr>
                </a:tc>
                <a:tc>
                  <a:txBody>
                    <a:bodyPr/>
                    <a:lstStyle/>
                    <a:p>
                      <a:r>
                        <a:rPr sz="1100" b="0">
                          <a:solidFill>
                            <a:srgbClr val="4B4B4B"/>
                          </a:solidFill>
                          <a:latin typeface="Arial"/>
                        </a:rPr>
                        <a:t>Tables scroll inside their card so the header row stays visible</a:t>
                      </a:r>
                    </a:p>
                  </a:txBody>
                  <a:tcPr marL="54864" marR="54864" marT="27432" marB="27432">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Spacing, sizes and radius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25880"/>
          <a:ext cx="11094414" cy="777240"/>
        </p:xfrm>
        <a:graphic>
          <a:graphicData uri="http://schemas.openxmlformats.org/drawingml/2006/table">
            <a:tbl>
              <a:tblPr firstRow="1" bandRow="1">
                <a:tableStyleId>{5C22544A-7EE6-4342-B048-85BDC9FD1C3A}</a:tableStyleId>
              </a:tblPr>
              <a:tblGrid>
                <a:gridCol w="2901616"/>
                <a:gridCol w="1365466"/>
                <a:gridCol w="6827332"/>
              </a:tblGrid>
              <a:tr h="259080">
                <a:tc>
                  <a:txBody>
                    <a:bodyPr/>
                    <a:lstStyle/>
                    <a:p>
                      <a:r>
                        <a:rPr sz="1100" b="1">
                          <a:solidFill>
                            <a:srgbClr val="FFFFFF"/>
                          </a:solidFill>
                          <a:latin typeface="Arial"/>
                        </a:rPr>
                        <a:t>Token</a:t>
                      </a:r>
                    </a:p>
                  </a:txBody>
                  <a:tcPr marL="54864" marR="54864" marT="27432" marB="27432">
                    <a:solidFill>
                      <a:srgbClr val="004EA8"/>
                    </a:solidFill>
                  </a:tcPr>
                </a:tc>
                <a:tc>
                  <a:txBody>
                    <a:bodyPr/>
                    <a:lstStyle/>
                    <a:p>
                      <a:r>
                        <a:rPr sz="1100" b="1">
                          <a:solidFill>
                            <a:srgbClr val="FFFFFF"/>
                          </a:solidFill>
                          <a:latin typeface="Arial"/>
                        </a:rPr>
                        <a:t>Value</a:t>
                      </a:r>
                    </a:p>
                  </a:txBody>
                  <a:tcPr marL="54864" marR="54864" marT="27432" marB="27432">
                    <a:solidFill>
                      <a:srgbClr val="004EA8"/>
                    </a:solidFill>
                  </a:tcPr>
                </a:tc>
                <a:tc>
                  <a:txBody>
                    <a:bodyPr/>
                    <a:lstStyle/>
                    <a:p>
                      <a:r>
                        <a:rPr sz="1100" b="1">
                          <a:solidFill>
                            <a:srgbClr val="FFFFFF"/>
                          </a:solidFill>
                          <a:latin typeface="Arial"/>
                        </a:rPr>
                        <a:t>Use</a:t>
                      </a:r>
                    </a:p>
                  </a:txBody>
                  <a:tcPr marL="54864" marR="54864" marT="27432" marB="27432">
                    <a:solidFill>
                      <a:srgbClr val="004EA8"/>
                    </a:solidFill>
                  </a:tcPr>
                </a:tc>
              </a:tr>
              <a:tr h="259080">
                <a:tc>
                  <a:txBody>
                    <a:bodyPr/>
                    <a:lstStyle/>
                    <a:p>
                      <a:r>
                        <a:rPr sz="1100" b="0">
                          <a:solidFill>
                            <a:srgbClr val="4B4B4B"/>
                          </a:solidFill>
                          <a:latin typeface="Arial"/>
                        </a:rPr>
                        <a:t>table-max-height</a:t>
                      </a:r>
                    </a:p>
                  </a:txBody>
                  <a:tcPr marL="54864" marR="54864" marT="27432" marB="27432">
                    <a:solidFill>
                      <a:srgbClr val="FFFFFF"/>
                    </a:solidFill>
                  </a:tcPr>
                </a:tc>
                <a:tc>
                  <a:txBody>
                    <a:bodyPr/>
                    <a:lstStyle/>
                    <a:p>
                      <a:r>
                        <a:rPr sz="1100" b="0">
                          <a:solidFill>
                            <a:srgbClr val="4B4B4B"/>
                          </a:solidFill>
                          <a:latin typeface="Arial"/>
                        </a:rPr>
                        <a:t>70vh</a:t>
                      </a:r>
                    </a:p>
                  </a:txBody>
                  <a:tcPr marL="54864" marR="54864" marT="27432" marB="27432">
                    <a:solidFill>
                      <a:srgbClr val="FFFFFF"/>
                    </a:solidFill>
                  </a:tcPr>
                </a:tc>
                <a:tc>
                  <a:txBody>
                    <a:bodyPr/>
                    <a:lstStyle/>
                    <a:p>
                      <a:r>
                        <a:rPr sz="1100" b="0">
                          <a:solidFill>
                            <a:srgbClr val="4B4B4B"/>
                          </a:solidFill>
                          <a:latin typeface="Arial"/>
                        </a:rPr>
                        <a:t>Label column of definition grids</a:t>
                      </a:r>
                    </a:p>
                  </a:txBody>
                  <a:tcPr marL="54864" marR="54864" marT="27432" marB="27432">
                    <a:solidFill>
                      <a:srgbClr val="FFFFFF"/>
                    </a:solidFill>
                  </a:tcPr>
                </a:tc>
              </a:tr>
              <a:tr h="259080">
                <a:tc>
                  <a:txBody>
                    <a:bodyPr/>
                    <a:lstStyle/>
                    <a:p>
                      <a:r>
                        <a:rPr sz="1100" b="0">
                          <a:solidFill>
                            <a:srgbClr val="4B4B4B"/>
                          </a:solidFill>
                          <a:latin typeface="Arial"/>
                        </a:rPr>
                        <a:t>def-label-width</a:t>
                      </a:r>
                    </a:p>
                  </a:txBody>
                  <a:tcPr marL="54864" marR="54864" marT="27432" marB="27432">
                    <a:solidFill>
                      <a:srgbClr val="E5F5FF"/>
                    </a:solidFill>
                  </a:tcPr>
                </a:tc>
                <a:tc>
                  <a:txBody>
                    <a:bodyPr/>
                    <a:lstStyle/>
                    <a:p>
                      <a:r>
                        <a:rPr sz="1100" b="0">
                          <a:solidFill>
                            <a:srgbClr val="4B4B4B"/>
                          </a:solidFill>
                          <a:latin typeface="Arial"/>
                        </a:rPr>
                        <a:t>168px</a:t>
                      </a:r>
                    </a:p>
                  </a:txBody>
                  <a:tcPr marL="54864" marR="54864" marT="27432" marB="27432">
                    <a:solidFill>
                      <a:srgbClr val="E5F5FF"/>
                    </a:solidFill>
                  </a:tcPr>
                </a:tc>
                <a:tc>
                  <a:txBody>
                    <a:bodyPr/>
                    <a:lstStyle/>
                    <a:p>
                      <a:r>
                        <a:rPr sz="110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Iconography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Outline icons in CTA Blue, one stroke weight, at 16, 24, 32 and 48 px (the Lucide outline set as the equivalent of the BDO icon set)</a:t>
            </a:r>
          </a:p>
          <a:p>
            <a:pPr>
              <a:spcAft>
                <a:spcPts val="600"/>
              </a:spcAft>
            </a:pPr>
            <a:r>
              <a:rPr sz="1600">
                <a:solidFill>
                  <a:srgbClr val="004EA8"/>
                </a:solidFill>
                <a:latin typeface="Arial"/>
              </a:rPr>
              <a:t>•  </a:t>
            </a:r>
            <a:r>
              <a:rPr sz="1600">
                <a:solidFill>
                  <a:srgbClr val="4B4B4B"/>
                </a:solidFill>
                <a:latin typeface="Arial"/>
              </a:rPr>
              <a:t>Menu entries: a 20 px icon before the label</a:t>
            </a:r>
          </a:p>
          <a:p>
            <a:pPr>
              <a:spcAft>
                <a:spcPts val="600"/>
              </a:spcAft>
            </a:pPr>
            <a:r>
              <a:rPr sz="1600">
                <a:solidFill>
                  <a:srgbClr val="004EA8"/>
                </a:solidFill>
                <a:latin typeface="Arial"/>
              </a:rPr>
              <a:t>•  </a:t>
            </a:r>
            <a:r>
              <a:rPr sz="1600">
                <a:solidFill>
                  <a:srgbClr val="4B4B4B"/>
                </a:solidFill>
                <a:latin typeface="Arial"/>
              </a:rPr>
              <a:t>Messages: the icon of the kind in its colour (error, warning, information, success)</a:t>
            </a:r>
          </a:p>
          <a:p>
            <a:pPr>
              <a:spcAft>
                <a:spcPts val="600"/>
              </a:spcAft>
            </a:pPr>
            <a:r>
              <a:rPr sz="1600">
                <a:solidFill>
                  <a:srgbClr val="004EA8"/>
                </a:solidFill>
                <a:latin typeface="Arial"/>
              </a:rPr>
              <a:t>•  </a:t>
            </a:r>
            <a:r>
              <a:rPr sz="1600">
                <a:solidFill>
                  <a:srgbClr val="4B4B4B"/>
                </a:solidFill>
                <a:latin typeface="Arial"/>
              </a:rPr>
              <a:t>Actions: an icon only with its label or its tooltip; destructive actions in red, last</a:t>
            </a:r>
          </a:p>
          <a:p>
            <a:pPr>
              <a:spcAft>
                <a:spcPts val="600"/>
              </a:spcAft>
            </a:pPr>
            <a:r>
              <a:rPr sz="1600">
                <a:solidFill>
                  <a:srgbClr val="004EA8"/>
                </a:solidFill>
                <a:latin typeface="Arial"/>
              </a:rPr>
              <a:t>•  </a:t>
            </a:r>
            <a:r>
              <a:rPr sz="1600">
                <a:solidFill>
                  <a:srgbClr val="4B4B4B"/>
                </a:solidFill>
                <a:latin typeface="Arial"/>
              </a:rPr>
              <a:t>Flags and statuses are text chips and pills, never an icon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Workflow step bar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ux-scr-pm-04-cmp-stepper.png"/>
          <p:cNvPicPr>
            <a:picLocks noChangeAspect="1"/>
          </p:cNvPicPr>
          <p:nvPr/>
        </p:nvPicPr>
        <p:blipFill>
          <a:blip r:embed="rId3"/>
          <a:stretch>
            <a:fillRect/>
          </a:stretch>
        </p:blipFill>
        <p:spPr>
          <a:xfrm>
            <a:off x="548640" y="1261872"/>
            <a:ext cx="7680960" cy="169553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workflow header of a package request in negotiation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Passed stages ticked on CTA Blue; the current stage highlighted; the stages ahead grey with their number</a:t>
            </a:r>
          </a:p>
          <a:p>
            <a:pPr>
              <a:spcAft>
                <a:spcPts val="600"/>
              </a:spcAft>
            </a:pPr>
            <a:r>
              <a:rPr sz="1100">
                <a:solidFill>
                  <a:srgbClr val="004EA8"/>
                </a:solidFill>
                <a:latin typeface="Arial"/>
              </a:rPr>
              <a:t>•  </a:t>
            </a:r>
            <a:r>
              <a:rPr sz="1100">
                <a:solidFill>
                  <a:srgbClr val="4B4B4B"/>
                </a:solidFill>
                <a:latin typeface="Arial"/>
              </a:rPr>
              <a:t>Returned or on hold in amber after the stage it came from; rejected, cancelled, voided or not proceeded in red, and the path ends there</a:t>
            </a:r>
          </a:p>
          <a:p>
            <a:pPr>
              <a:spcAft>
                <a:spcPts val="600"/>
              </a:spcAft>
            </a:pPr>
            <a:r>
              <a:rPr sz="1100">
                <a:solidFill>
                  <a:srgbClr val="004EA8"/>
                </a:solidFill>
                <a:latin typeface="Arial"/>
              </a:rPr>
              <a:t>•  </a:t>
            </a:r>
            <a:r>
              <a:rPr sz="1100">
                <a:solidFill>
                  <a:srgbClr val="4B4B4B"/>
                </a:solidFill>
                <a:latin typeface="Arial"/>
              </a:rPr>
              <a:t>The last stage turns green when it is reached</a:t>
            </a:r>
          </a:p>
          <a:p>
            <a:pPr>
              <a:spcAft>
                <a:spcPts val="600"/>
              </a:spcAft>
            </a:pPr>
            <a:r>
              <a:rPr sz="1100">
                <a:solidFill>
                  <a:srgbClr val="004EA8"/>
                </a:solidFill>
                <a:latin typeface="Arial"/>
              </a:rPr>
              <a:t>•  </a:t>
            </a:r>
            <a:r>
              <a:rPr sz="1100">
                <a:solidFill>
                  <a:srgbClr val="4B4B4B"/>
                </a:solidFill>
                <a:latin typeface="Arial"/>
              </a:rPr>
              <a:t>Under a thin rule: Current Stage, Since, Due with the Overdue pill, Assigned To; actions aligned right</a:t>
            </a:r>
          </a:p>
          <a:p>
            <a:pPr>
              <a:spcAft>
                <a:spcPts val="600"/>
              </a:spcAft>
            </a:pPr>
            <a:r>
              <a:rPr sz="1100">
                <a:solidFill>
                  <a:srgbClr val="004EA8"/>
                </a:solidFill>
                <a:latin typeface="Arial"/>
              </a:rPr>
              <a:t>•  </a:t>
            </a:r>
            <a:r>
              <a:rPr sz="1100">
                <a:solidFill>
                  <a:srgbClr val="4B4B4B"/>
                </a:solidFill>
                <a:latin typeface="Arial"/>
              </a:rPr>
              <a:t>Narrow widths keep the first, last and current stage and its neighbours</a:t>
            </a:r>
          </a:p>
          <a:p>
            <a:pPr>
              <a:spcAft>
                <a:spcPts val="600"/>
              </a:spcAft>
            </a:pPr>
            <a:r>
              <a:rPr sz="1100">
                <a:solidFill>
                  <a:srgbClr val="004EA8"/>
                </a:solidFill>
                <a:latin typeface="Arial"/>
              </a:rPr>
              <a:t>•  </a:t>
            </a:r>
            <a:r>
              <a:rPr sz="1100">
                <a:solidFill>
                  <a:srgbClr val="4B4B4B"/>
                </a:solidFill>
                <a:latin typeface="Arial"/>
              </a:rPr>
              <a:t>In this set: SCR-PM-04, SCR-PM-05, SCR-PM-06, SCR-PM-07, SCR-PM-08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Notice standard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ux-scr-ua-07-cmp-notice.png"/>
          <p:cNvPicPr>
            <a:picLocks noChangeAspect="1"/>
          </p:cNvPicPr>
          <p:nvPr/>
        </p:nvPicPr>
        <p:blipFill>
          <a:blip r:embed="rId3"/>
          <a:stretch>
            <a:fillRect/>
          </a:stretch>
        </p:blipFill>
        <p:spPr>
          <a:xfrm>
            <a:off x="548640" y="1261872"/>
            <a:ext cx="7680960" cy="125292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error notice at the top of a request form submitted with missing fields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White surface, thin border, 4 px bar and icon in the colour of the kind: red error, amber warning, blue information, green success</a:t>
            </a:r>
          </a:p>
          <a:p>
            <a:pPr>
              <a:spcAft>
                <a:spcPts val="600"/>
              </a:spcAft>
            </a:pPr>
            <a:r>
              <a:rPr sz="1100">
                <a:solidFill>
                  <a:srgbClr val="004EA8"/>
                </a:solidFill>
                <a:latin typeface="Arial"/>
              </a:rPr>
              <a:t>•  </a:t>
            </a:r>
            <a:r>
              <a:rPr sz="1100">
                <a:solidFill>
                  <a:srgbClr val="4B4B4B"/>
                </a:solidFill>
                <a:latin typeface="Arial"/>
              </a:rPr>
              <a:t>A bold short title, then the business message with one bullet per missing item</a:t>
            </a:r>
          </a:p>
          <a:p>
            <a:pPr>
              <a:spcAft>
                <a:spcPts val="600"/>
              </a:spcAft>
            </a:pPr>
            <a:r>
              <a:rPr sz="1100">
                <a:solidFill>
                  <a:srgbClr val="004EA8"/>
                </a:solidFill>
                <a:latin typeface="Arial"/>
              </a:rPr>
              <a:t>•  </a:t>
            </a:r>
            <a:r>
              <a:rPr sz="1100">
                <a:solidFill>
                  <a:srgbClr val="4B4B4B"/>
                </a:solidFill>
                <a:latin typeface="Arial"/>
              </a:rPr>
              <a:t>No codes, references or technical terms; only an unexpected system error offers Retry and a reference behind Details</a:t>
            </a:r>
          </a:p>
          <a:p>
            <a:pPr>
              <a:spcAft>
                <a:spcPts val="600"/>
              </a:spcAft>
            </a:pPr>
            <a:r>
              <a:rPr sz="1100">
                <a:solidFill>
                  <a:srgbClr val="004EA8"/>
                </a:solidFill>
                <a:latin typeface="Arial"/>
              </a:rPr>
              <a:t>•  </a:t>
            </a:r>
            <a:r>
              <a:rPr sz="1100">
                <a:solidFill>
                  <a:srgbClr val="4B4B4B"/>
                </a:solidFill>
                <a:latin typeface="Arial"/>
              </a:rPr>
              <a:t>Field errors stay under their fields; a long form lists them at the top with a link to each field</a:t>
            </a:r>
          </a:p>
          <a:p>
            <a:pPr>
              <a:spcAft>
                <a:spcPts val="600"/>
              </a:spcAft>
            </a:pPr>
            <a:r>
              <a:rPr sz="1100">
                <a:solidFill>
                  <a:srgbClr val="004EA8"/>
                </a:solidFill>
                <a:latin typeface="Arial"/>
              </a:rPr>
              <a:t>•  </a:t>
            </a:r>
            <a:r>
              <a:rPr sz="1100">
                <a:solidFill>
                  <a:srgbClr val="4B4B4B"/>
                </a:solidFill>
                <a:latin typeface="Arial"/>
              </a:rPr>
              <a:t>In this set: SCR-PM-03, SCR-PM-13, SCR-PM-20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Data table in a work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pic>
        <p:nvPicPr>
          <p:cNvPr id="9" name="Picture 8" descr="ux-scr-pm-02-cmp-table.png"/>
          <p:cNvPicPr>
            <a:picLocks noChangeAspect="1"/>
          </p:cNvPicPr>
          <p:nvPr/>
        </p:nvPicPr>
        <p:blipFill>
          <a:blip r:embed="rId3"/>
          <a:stretch>
            <a:fillRect/>
          </a:stretch>
        </p:blipFill>
        <p:spPr>
          <a:xfrm>
            <a:off x="548640" y="1261872"/>
            <a:ext cx="7680960" cy="4473750"/>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package requests of a stage, with the status tabs, the search and the pager</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Header row in Header Blue with white bold text that stays in view; rows alternate white and Background Blue</a:t>
            </a:r>
          </a:p>
          <a:p>
            <a:pPr>
              <a:spcAft>
                <a:spcPts val="600"/>
              </a:spcAft>
            </a:pPr>
            <a:r>
              <a:rPr sz="1100">
                <a:solidFill>
                  <a:srgbClr val="004EA8"/>
                </a:solidFill>
                <a:latin typeface="Arial"/>
              </a:rPr>
              <a:t>•  </a:t>
            </a:r>
            <a:r>
              <a:rPr sz="1100">
                <a:solidFill>
                  <a:srgbClr val="4B4B4B"/>
                </a:solidFill>
                <a:latin typeface="Arial"/>
              </a:rPr>
              <a:t>Text left, amounts right with two decimals, dates dd-MMM-yyyy; codes in a fixed column that never wraps</a:t>
            </a:r>
          </a:p>
          <a:p>
            <a:pPr>
              <a:spcAft>
                <a:spcPts val="600"/>
              </a:spcAft>
            </a:pPr>
            <a:r>
              <a:rPr sz="1100">
                <a:solidFill>
                  <a:srgbClr val="004EA8"/>
                </a:solidFill>
                <a:latin typeface="Arial"/>
              </a:rPr>
              <a:t>•  </a:t>
            </a:r>
            <a:r>
              <a:rPr sz="1100">
                <a:solidFill>
                  <a:srgbClr val="4B4B4B"/>
                </a:solidFill>
                <a:latin typeface="Arial"/>
              </a:rPr>
              <a:t>One value per cell with at most one muted line under it; a dash for an empty value</a:t>
            </a:r>
          </a:p>
          <a:p>
            <a:pPr>
              <a:spcAft>
                <a:spcPts val="600"/>
              </a:spcAft>
            </a:pPr>
            <a:r>
              <a:rPr sz="1100">
                <a:solidFill>
                  <a:srgbClr val="004EA8"/>
                </a:solidFill>
                <a:latin typeface="Arial"/>
              </a:rPr>
              <a:t>•  </a:t>
            </a:r>
            <a:r>
              <a:rPr sz="1100">
                <a:solidFill>
                  <a:srgbClr val="4B4B4B"/>
                </a:solidFill>
                <a:latin typeface="Arial"/>
              </a:rPr>
              <a:t>Showing x to y of n results with the page numbers; Enter on a row opens it</a:t>
            </a:r>
          </a:p>
          <a:p>
            <a:pPr>
              <a:spcAft>
                <a:spcPts val="600"/>
              </a:spcAft>
            </a:pPr>
            <a:r>
              <a:rPr sz="1100">
                <a:solidFill>
                  <a:srgbClr val="004EA8"/>
                </a:solidFill>
                <a:latin typeface="Arial"/>
              </a:rPr>
              <a:t>•  </a:t>
            </a:r>
            <a:r>
              <a:rPr sz="1100">
                <a:solidFill>
                  <a:srgbClr val="4B4B4B"/>
                </a:solidFill>
                <a:latin typeface="Arial"/>
              </a:rPr>
              <a:t>In this set: SCR-PM-02, SCR-PM-09, SCR-PM-10, SCR-PM-11, SCR-PM-14, SCR-PM-17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Tree table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ux-scr-pm-20-cmp-tree.png"/>
          <p:cNvPicPr>
            <a:picLocks noChangeAspect="1"/>
          </p:cNvPicPr>
          <p:nvPr/>
        </p:nvPicPr>
        <p:blipFill>
          <a:blip r:embed="rId3"/>
          <a:stretch>
            <a:fillRect/>
          </a:stretch>
        </p:blipFill>
        <p:spPr>
          <a:xfrm>
            <a:off x="548640" y="1261872"/>
            <a:ext cx="7680960" cy="4549911"/>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sales organisation with every branch open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A chevron and one indentation step per level; arrow keys, Home, End and Enter move through the tree</a:t>
            </a:r>
          </a:p>
          <a:p>
            <a:pPr>
              <a:spcAft>
                <a:spcPts val="600"/>
              </a:spcAft>
            </a:pPr>
            <a:r>
              <a:rPr sz="1100">
                <a:solidFill>
                  <a:srgbClr val="004EA8"/>
                </a:solidFill>
                <a:latin typeface="Arial"/>
              </a:rPr>
              <a:t>•  </a:t>
            </a:r>
            <a:r>
              <a:rPr sz="1100">
                <a:solidFill>
                  <a:srgbClr val="4B4B4B"/>
                </a:solidFill>
                <a:latin typeface="Arial"/>
              </a:rPr>
              <a:t>A search that opens the branches that match; Expand All, Collapse All and Show Inactive</a:t>
            </a:r>
          </a:p>
          <a:p>
            <a:pPr>
              <a:spcAft>
                <a:spcPts val="600"/>
              </a:spcAft>
            </a:pPr>
            <a:r>
              <a:rPr sz="1100">
                <a:solidFill>
                  <a:srgbClr val="004EA8"/>
                </a:solidFill>
                <a:latin typeface="Arial"/>
              </a:rPr>
              <a:t>•  </a:t>
            </a:r>
            <a:r>
              <a:rPr sz="1100">
                <a:solidFill>
                  <a:srgbClr val="4B4B4B"/>
                </a:solidFill>
                <a:latin typeface="Arial"/>
              </a:rPr>
              <a:t>A summary line of the units and members shown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Row action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pic>
        <p:nvPicPr>
          <p:cNvPr id="9" name="Picture 8" descr="scr-pm-20-02-actions.png"/>
          <p:cNvPicPr>
            <a:picLocks noChangeAspect="1"/>
          </p:cNvPicPr>
          <p:nvPr/>
        </p:nvPicPr>
        <p:blipFill>
          <a:blip r:embed="rId3"/>
          <a:stretch>
            <a:fillRect/>
          </a:stretch>
        </p:blipFill>
        <p:spPr>
          <a:xfrm>
            <a:off x="1460310" y="1261872"/>
            <a:ext cx="585761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actions of a team, opened from the more button of its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more button per row opens the menu</a:t>
            </a:r>
          </a:p>
          <a:p>
            <a:pPr>
              <a:spcAft>
                <a:spcPts val="600"/>
              </a:spcAft>
            </a:pPr>
            <a:r>
              <a:rPr sz="1100">
                <a:solidFill>
                  <a:srgbClr val="004EA8"/>
                </a:solidFill>
                <a:latin typeface="Arial"/>
              </a:rPr>
              <a:t>•  </a:t>
            </a:r>
            <a:r>
              <a:rPr sz="1100">
                <a:solidFill>
                  <a:srgbClr val="4B4B4B"/>
                </a:solidFill>
                <a:latin typeface="Arial"/>
              </a:rPr>
              <a:t>Destructive actions last, in red, after a separator</a:t>
            </a:r>
          </a:p>
          <a:p>
            <a:pPr>
              <a:spcAft>
                <a:spcPts val="600"/>
              </a:spcAft>
            </a:pPr>
            <a:r>
              <a:rPr sz="1100">
                <a:solidFill>
                  <a:srgbClr val="004EA8"/>
                </a:solidFill>
                <a:latin typeface="Arial"/>
              </a:rPr>
              <a:t>•  </a:t>
            </a:r>
            <a:r>
              <a:rPr sz="1100">
                <a:solidFill>
                  <a:srgbClr val="4B4B4B"/>
                </a:solidFill>
                <a:latin typeface="Arial"/>
              </a:rPr>
              <a:t>Each action that changes the record asks for confirmation</a:t>
            </a:r>
          </a:p>
          <a:p>
            <a:pPr>
              <a:spcAft>
                <a:spcPts val="600"/>
              </a:spcAft>
            </a:pPr>
            <a:r>
              <a:rPr sz="1100">
                <a:solidFill>
                  <a:srgbClr val="004EA8"/>
                </a:solidFill>
                <a:latin typeface="Arial"/>
              </a:rPr>
              <a:t>•  </a:t>
            </a:r>
            <a:r>
              <a:rPr sz="1100">
                <a:solidFill>
                  <a:srgbClr val="4B4B4B"/>
                </a:solidFill>
                <a:latin typeface="Arial"/>
              </a:rPr>
              <a:t>In this set: SCR-PM-20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Confirmation dialog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pic>
        <p:nvPicPr>
          <p:cNvPr id="9" name="Picture 8" descr="scr-pm-04-03-return.png"/>
          <p:cNvPicPr>
            <a:picLocks noChangeAspect="1"/>
          </p:cNvPicPr>
          <p:nvPr/>
        </p:nvPicPr>
        <p:blipFill>
          <a:blip r:embed="rId3"/>
          <a:stretch>
            <a:fillRect/>
          </a:stretch>
        </p:blipFill>
        <p:spPr>
          <a:xfrm>
            <a:off x="548640" y="1261872"/>
            <a:ext cx="7680960" cy="4054964"/>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Return to requester with the mandatory reason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dialog names the record and the effect of the action</a:t>
            </a:r>
          </a:p>
          <a:p>
            <a:pPr>
              <a:spcAft>
                <a:spcPts val="600"/>
              </a:spcAft>
            </a:pPr>
            <a:r>
              <a:rPr sz="1100">
                <a:solidFill>
                  <a:srgbClr val="004EA8"/>
                </a:solidFill>
                <a:latin typeface="Arial"/>
              </a:rPr>
              <a:t>•  </a:t>
            </a:r>
            <a:r>
              <a:rPr sz="1100">
                <a:solidFill>
                  <a:srgbClr val="4B4B4B"/>
                </a:solidFill>
                <a:latin typeface="Arial"/>
              </a:rPr>
              <a:t>Every reject, return, cancel and void needs a reason from its list before it can be confirmed; the comment is optional</a:t>
            </a:r>
          </a:p>
          <a:p>
            <a:pPr>
              <a:spcAft>
                <a:spcPts val="600"/>
              </a:spcAft>
            </a:pPr>
            <a:r>
              <a:rPr sz="1100">
                <a:solidFill>
                  <a:srgbClr val="004EA8"/>
                </a:solidFill>
                <a:latin typeface="Arial"/>
              </a:rPr>
              <a:t>•  </a:t>
            </a:r>
            <a:r>
              <a:rPr sz="1100">
                <a:solidFill>
                  <a:srgbClr val="4B4B4B"/>
                </a:solidFill>
                <a:latin typeface="Arial"/>
              </a:rPr>
              <a:t>Cancel on the left, the action on the right; a destructive action uses the red button</a:t>
            </a:r>
          </a:p>
          <a:p>
            <a:pPr>
              <a:spcAft>
                <a:spcPts val="600"/>
              </a:spcAft>
            </a:pPr>
            <a:r>
              <a:rPr sz="1100">
                <a:solidFill>
                  <a:srgbClr val="004EA8"/>
                </a:solidFill>
                <a:latin typeface="Arial"/>
              </a:rPr>
              <a:t>•  </a:t>
            </a:r>
            <a:r>
              <a:rPr sz="1100">
                <a:solidFill>
                  <a:srgbClr val="4B4B4B"/>
                </a:solidFill>
                <a:latin typeface="Arial"/>
              </a:rPr>
              <a:t>The reason is kept in the history and sent with the notification</a:t>
            </a:r>
          </a:p>
          <a:p>
            <a:pPr>
              <a:spcAft>
                <a:spcPts val="600"/>
              </a:spcAft>
            </a:pPr>
            <a:r>
              <a:rPr sz="1100">
                <a:solidFill>
                  <a:srgbClr val="004EA8"/>
                </a:solidFill>
                <a:latin typeface="Arial"/>
              </a:rPr>
              <a:t>•  </a:t>
            </a:r>
            <a:r>
              <a:rPr sz="1100">
                <a:solidFill>
                  <a:srgbClr val="4B4B4B"/>
                </a:solidFill>
                <a:latin typeface="Arial"/>
              </a:rPr>
              <a:t>In this set: SCR-PM-04, SCR-PM-13, SCR-PM-22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Status pills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pic>
        <p:nvPicPr>
          <p:cNvPr id="9" name="Picture 8" descr="scr-ua-06-01-list.png"/>
          <p:cNvPicPr>
            <a:picLocks noChangeAspect="1"/>
          </p:cNvPicPr>
          <p:nvPr/>
        </p:nvPicPr>
        <p:blipFill>
          <a:blip r:embed="rId3"/>
          <a:stretch>
            <a:fillRect/>
          </a:stretch>
        </p:blipFill>
        <p:spPr>
          <a:xfrm>
            <a:off x="548640" y="1261872"/>
            <a:ext cx="7680960" cy="4654926"/>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Status column of the access requests</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One size everywhere: 24 px high, 12 px bold, centred, 112 to 184 px wide; a pill never wraps</a:t>
            </a:r>
          </a:p>
          <a:p>
            <a:pPr>
              <a:spcAft>
                <a:spcPts val="600"/>
              </a:spcAft>
            </a:pPr>
            <a:r>
              <a:rPr sz="1100">
                <a:solidFill>
                  <a:srgbClr val="004EA8"/>
                </a:solidFill>
                <a:latin typeface="Arial"/>
              </a:rPr>
              <a:t>•  </a:t>
            </a:r>
            <a:r>
              <a:rPr sz="1100">
                <a:solidFill>
                  <a:srgbClr val="4B4B4B"/>
                </a:solidFill>
                <a:latin typeface="Arial"/>
              </a:rPr>
              <a:t>Green done or approved; yellow waiting for review or approval; blue in process; red exception or rejected; grey draft or inactive</a:t>
            </a:r>
          </a:p>
          <a:p>
            <a:pPr>
              <a:spcAft>
                <a:spcPts val="600"/>
              </a:spcAft>
            </a:pPr>
            <a:r>
              <a:rPr sz="1100">
                <a:solidFill>
                  <a:srgbClr val="004EA8"/>
                </a:solidFill>
                <a:latin typeface="Arial"/>
              </a:rPr>
              <a:t>•  </a:t>
            </a:r>
            <a:r>
              <a:rPr sz="1100">
                <a:solidFill>
                  <a:srgbClr val="4B4B4B"/>
                </a:solidFill>
                <a:latin typeface="Arial"/>
              </a:rPr>
              <a:t>The full label up to 21 characters; a longer label has its agreed short form with the full label in the tooltip</a:t>
            </a:r>
          </a:p>
          <a:p>
            <a:pPr>
              <a:spcAft>
                <a:spcPts val="600"/>
              </a:spcAft>
            </a:pPr>
            <a:r>
              <a:rPr sz="1100">
                <a:solidFill>
                  <a:srgbClr val="004EA8"/>
                </a:solidFill>
                <a:latin typeface="Arial"/>
              </a:rPr>
              <a:t>•  </a:t>
            </a:r>
            <a:r>
              <a:rPr sz="1100">
                <a:solidFill>
                  <a:srgbClr val="4B4B4B"/>
                </a:solidFill>
                <a:latin typeface="Arial"/>
              </a:rPr>
              <a:t>Flags (Generic, Client-specific, Locked, LEGACY) are tags in their own column, never pills</a:t>
            </a:r>
          </a:p>
          <a:p>
            <a:pPr>
              <a:spcAft>
                <a:spcPts val="600"/>
              </a:spcAft>
            </a:pPr>
            <a:r>
              <a:rPr sz="1100">
                <a:solidFill>
                  <a:srgbClr val="004EA8"/>
                </a:solidFill>
                <a:latin typeface="Arial"/>
              </a:rPr>
              <a:t>•  </a:t>
            </a:r>
            <a:r>
              <a:rPr sz="1100">
                <a:solidFill>
                  <a:srgbClr val="4B4B4B"/>
                </a:solidFill>
                <a:latin typeface="Arial"/>
              </a:rPr>
              <a:t>In this set: SCR-PM-02, SCR-PM-11, SCR-PM-16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Period cell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pic>
        <p:nvPicPr>
          <p:cNvPr id="9" name="Picture 8" descr="scr-pm-10-01-list.png"/>
          <p:cNvPicPr>
            <a:picLocks noChangeAspect="1"/>
          </p:cNvPicPr>
          <p:nvPr/>
        </p:nvPicPr>
        <p:blipFill>
          <a:blip r:embed="rId3"/>
          <a:stretch>
            <a:fillRect/>
          </a:stretch>
        </p:blipFill>
        <p:spPr>
          <a:xfrm>
            <a:off x="548640" y="1261872"/>
            <a:ext cx="7680960" cy="2827387"/>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Package terms in the expiry list</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The start date on the first line and "to" the end date on the second, each date kept whole</a:t>
            </a:r>
          </a:p>
          <a:p>
            <a:pPr>
              <a:spcAft>
                <a:spcPts val="600"/>
              </a:spcAft>
            </a:pPr>
            <a:r>
              <a:rPr sz="1100">
                <a:solidFill>
                  <a:srgbClr val="004EA8"/>
                </a:solidFill>
                <a:latin typeface="Arial"/>
              </a:rPr>
              <a:t>•  </a:t>
            </a:r>
            <a:r>
              <a:rPr sz="1100">
                <a:solidFill>
                  <a:srgbClr val="4B4B4B"/>
                </a:solidFill>
                <a:latin typeface="Arial"/>
              </a:rPr>
              <a:t>An open end reads "to open"; in a sentence or a label and value grid the period is one line</a:t>
            </a:r>
          </a:p>
          <a:p>
            <a:pPr>
              <a:spcAft>
                <a:spcPts val="600"/>
              </a:spcAft>
            </a:pPr>
            <a:r>
              <a:rPr sz="1100">
                <a:solidFill>
                  <a:srgbClr val="004EA8"/>
                </a:solidFill>
                <a:latin typeface="Arial"/>
              </a:rPr>
              <a:t>•  </a:t>
            </a:r>
            <a:r>
              <a:rPr sz="1100">
                <a:solidFill>
                  <a:srgbClr val="4B4B4B"/>
                </a:solidFill>
                <a:latin typeface="Arial"/>
              </a:rPr>
              <a:t>The column is at least 132 px wide</a:t>
            </a:r>
          </a:p>
          <a:p>
            <a:pPr>
              <a:spcAft>
                <a:spcPts val="600"/>
              </a:spcAft>
            </a:pPr>
            <a:r>
              <a:rPr sz="1100">
                <a:solidFill>
                  <a:srgbClr val="004EA8"/>
                </a:solidFill>
                <a:latin typeface="Arial"/>
              </a:rPr>
              <a:t>•  </a:t>
            </a:r>
            <a:r>
              <a:rPr sz="1100">
                <a:solidFill>
                  <a:srgbClr val="4B4B4B"/>
                </a:solidFill>
                <a:latin typeface="Arial"/>
              </a:rPr>
              <a:t>In this set: SCR-PM-10, SCR-PM-12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Form with its validation summary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pic>
        <p:nvPicPr>
          <p:cNvPr id="9" name="Picture 8" descr="scr-ua-07-03-error.png"/>
          <p:cNvPicPr>
            <a:picLocks noChangeAspect="1"/>
          </p:cNvPicPr>
          <p:nvPr/>
        </p:nvPicPr>
        <p:blipFill>
          <a:blip r:embed="rId3"/>
          <a:stretch>
            <a:fillRect/>
          </a:stretch>
        </p:blipFill>
        <p:spPr>
          <a:xfrm>
            <a:off x="2973025" y="1261872"/>
            <a:ext cx="2832189"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request form after Submit with a short user ID and no justification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Labels above the fields on one baseline, fields of one height, required fields marked</a:t>
            </a:r>
          </a:p>
          <a:p>
            <a:pPr>
              <a:spcAft>
                <a:spcPts val="600"/>
              </a:spcAft>
            </a:pPr>
            <a:r>
              <a:rPr sz="1100">
                <a:solidFill>
                  <a:srgbClr val="004EA8"/>
                </a:solidFill>
                <a:latin typeface="Arial"/>
              </a:rPr>
              <a:t>•  </a:t>
            </a:r>
            <a:r>
              <a:rPr sz="1100">
                <a:solidFill>
                  <a:srgbClr val="4B4B4B"/>
                </a:solidFill>
                <a:latin typeface="Arial"/>
              </a:rPr>
              <a:t>The error in red under the field with the field outlined; the summary lists every error with a link</a:t>
            </a:r>
          </a:p>
          <a:p>
            <a:pPr>
              <a:spcAft>
                <a:spcPts val="600"/>
              </a:spcAft>
            </a:pPr>
            <a:r>
              <a:rPr sz="1100">
                <a:solidFill>
                  <a:srgbClr val="004EA8"/>
                </a:solidFill>
                <a:latin typeface="Arial"/>
              </a:rPr>
              <a:t>•  </a:t>
            </a:r>
            <a:r>
              <a:rPr sz="1100">
                <a:solidFill>
                  <a:srgbClr val="4B4B4B"/>
                </a:solidFill>
                <a:latin typeface="Arial"/>
              </a:rPr>
              <a:t>The actions at the bottom right: Cancel, then the main action</a:t>
            </a:r>
          </a:p>
          <a:p>
            <a:pPr>
              <a:spcAft>
                <a:spcPts val="600"/>
              </a:spcAft>
            </a:pPr>
            <a:r>
              <a:rPr sz="1100">
                <a:solidFill>
                  <a:srgbClr val="004EA8"/>
                </a:solidFill>
                <a:latin typeface="Arial"/>
              </a:rPr>
              <a:t>•  </a:t>
            </a:r>
            <a:r>
              <a:rPr sz="1100">
                <a:solidFill>
                  <a:srgbClr val="4B4B4B"/>
                </a:solidFill>
                <a:latin typeface="Arial"/>
              </a:rPr>
              <a:t>Only short format hints under a field; other guidance in the tooltip of the label</a:t>
            </a:r>
          </a:p>
          <a:p>
            <a:pPr>
              <a:spcAft>
                <a:spcPts val="600"/>
              </a:spcAft>
            </a:pPr>
            <a:r>
              <a:rPr sz="1100">
                <a:solidFill>
                  <a:srgbClr val="004EA8"/>
                </a:solidFill>
                <a:latin typeface="Arial"/>
              </a:rPr>
              <a:t>•  </a:t>
            </a:r>
            <a:r>
              <a:rPr sz="1100">
                <a:solidFill>
                  <a:srgbClr val="4B4B4B"/>
                </a:solidFill>
                <a:latin typeface="Arial"/>
              </a:rPr>
              <a:t>In this set: SCR-PM-03, SCR-PM-13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Upload with the error file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scr-ua-09-02-validated.png"/>
          <p:cNvPicPr>
            <a:picLocks noChangeAspect="1"/>
          </p:cNvPicPr>
          <p:nvPr/>
        </p:nvPicPr>
        <p:blipFill>
          <a:blip r:embed="rId3"/>
          <a:stretch>
            <a:fillRect/>
          </a:stretch>
        </p:blipFill>
        <p:spPr>
          <a:xfrm>
            <a:off x="1775206" y="1261872"/>
            <a:ext cx="5227827"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A bulk request after the upload, with the check of each row</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Download Template next to the upload; a drop zone with the accepted types and the maximum size</a:t>
            </a:r>
          </a:p>
          <a:p>
            <a:pPr>
              <a:spcAft>
                <a:spcPts val="600"/>
              </a:spcAft>
            </a:pPr>
            <a:r>
              <a:rPr sz="1100">
                <a:solidFill>
                  <a:srgbClr val="004EA8"/>
                </a:solidFill>
                <a:latin typeface="Arial"/>
              </a:rPr>
              <a:t>•  </a:t>
            </a:r>
            <a:r>
              <a:rPr sz="1100">
                <a:solidFill>
                  <a:srgbClr val="4B4B4B"/>
                </a:solidFill>
                <a:latin typeface="Arial"/>
              </a:rPr>
              <a:t>Rows Read, Valid and Rejected with the rows; the rejected rows come back in the error file (the template with an Error column)</a:t>
            </a:r>
          </a:p>
          <a:p>
            <a:pPr>
              <a:spcAft>
                <a:spcPts val="600"/>
              </a:spcAft>
            </a:pPr>
            <a:r>
              <a:rPr sz="1100">
                <a:solidFill>
                  <a:srgbClr val="004EA8"/>
                </a:solidFill>
                <a:latin typeface="Arial"/>
              </a:rPr>
              <a:t>•  </a:t>
            </a:r>
            <a:r>
              <a:rPr sz="1100">
                <a:solidFill>
                  <a:srgbClr val="4B4B4B"/>
                </a:solidFill>
                <a:latin typeface="Arial"/>
              </a:rPr>
              <a:t>Upload Corrected File keeps the link to the first upload; a file uploaded before is refused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Component: Key facts of a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pic>
        <p:nvPicPr>
          <p:cNvPr id="9" name="Picture 8" descr="scr-pm-13-06-released.png"/>
          <p:cNvPicPr>
            <a:picLocks noChangeAspect="1"/>
          </p:cNvPicPr>
          <p:nvPr/>
        </p:nvPicPr>
        <p:blipFill>
          <a:blip r:embed="rId3"/>
          <a:stretch>
            <a:fillRect/>
          </a:stretch>
        </p:blipFill>
        <p:spPr>
          <a:xfrm>
            <a:off x="2721103" y="1261872"/>
            <a:ext cx="3336033" cy="4736592"/>
          </a:xfrm>
          <a:prstGeom prst="rect">
            <a:avLst/>
          </a:prstGeom>
          <a:ln w="9525">
            <a:solidFill>
              <a:srgbClr val="C2C2C1"/>
            </a:solidFill>
          </a:ln>
        </p:spPr>
      </p:pic>
      <p:sp>
        <p:nvSpPr>
          <p:cNvPr id="10" name="TextBox 9"/>
          <p:cNvSpPr txBox="1"/>
          <p:nvPr/>
        </p:nvSpPr>
        <p:spPr>
          <a:xfrm>
            <a:off x="548640" y="5998464"/>
            <a:ext cx="7680960" cy="292608"/>
          </a:xfrm>
          <a:prstGeom prst="rect">
            <a:avLst/>
          </a:prstGeom>
          <a:noFill/>
        </p:spPr>
        <p:txBody>
          <a:bodyPr wrap="square" anchor="t" lIns="45720" rIns="45720">
            <a:spAutoFit/>
          </a:bodyPr>
          <a:lstStyle/>
          <a:p>
            <a:pPr algn="ctr"/>
            <a:r>
              <a:rPr sz="1000" b="0" i="1">
                <a:solidFill>
                  <a:srgbClr val="656565"/>
                </a:solidFill>
                <a:latin typeface="Arial"/>
              </a:rPr>
              <a:t>The released package version with the result of its validation</a:t>
            </a:r>
          </a:p>
        </p:txBody>
      </p:sp>
      <p:sp>
        <p:nvSpPr>
          <p:cNvPr id="11" name="Rectangle 10"/>
          <p:cNvSpPr/>
          <p:nvPr/>
        </p:nvSpPr>
        <p:spPr>
          <a:xfrm>
            <a:off x="8458200" y="1261872"/>
            <a:ext cx="3184855" cy="50292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1261872"/>
            <a:ext cx="50800" cy="5029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0" y="1353312"/>
            <a:ext cx="2956255" cy="484632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Four columns of key facts under the record name, reference chips and status</a:t>
            </a:r>
          </a:p>
          <a:p>
            <a:pPr>
              <a:spcAft>
                <a:spcPts val="600"/>
              </a:spcAft>
            </a:pPr>
            <a:r>
              <a:rPr sz="1100">
                <a:solidFill>
                  <a:srgbClr val="004EA8"/>
                </a:solidFill>
                <a:latin typeface="Arial"/>
              </a:rPr>
              <a:t>•  </a:t>
            </a:r>
            <a:r>
              <a:rPr sz="1100">
                <a:solidFill>
                  <a:srgbClr val="4B4B4B"/>
                </a:solidFill>
                <a:latin typeface="Arial"/>
              </a:rPr>
              <a:t>Outcome facts (result, by, on, figures compared) as facts, never as a sentence</a:t>
            </a:r>
          </a:p>
          <a:p>
            <a:pPr>
              <a:spcAft>
                <a:spcPts val="600"/>
              </a:spcAft>
            </a:pPr>
            <a:r>
              <a:rPr sz="1100">
                <a:solidFill>
                  <a:srgbClr val="004EA8"/>
                </a:solidFill>
                <a:latin typeface="Arial"/>
              </a:rPr>
              <a:t>•  </a:t>
            </a:r>
            <a:r>
              <a:rPr sz="1100">
                <a:solidFill>
                  <a:srgbClr val="4B4B4B"/>
                </a:solidFill>
                <a:latin typeface="Arial"/>
              </a:rPr>
              <a:t>A dash for an empty value</a:t>
            </a:r>
          </a:p>
          <a:p>
            <a:pPr>
              <a:spcAft>
                <a:spcPts val="600"/>
              </a:spcAft>
            </a:pPr>
            <a:r>
              <a:rPr sz="1100">
                <a:solidFill>
                  <a:srgbClr val="004EA8"/>
                </a:solidFill>
                <a:latin typeface="Arial"/>
              </a:rPr>
              <a:t>•  </a:t>
            </a:r>
            <a:r>
              <a:rPr sz="1100">
                <a:solidFill>
                  <a:srgbClr val="4B4B4B"/>
                </a:solidFill>
                <a:latin typeface="Arial"/>
              </a:rPr>
              <a:t>In this set: SCR-PM-13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graphicFrame>
        <p:nvGraphicFramePr>
          <p:cNvPr id="9" name="Table 8"/>
          <p:cNvGraphicFramePr>
            <a:graphicFrameLocks noGrp="1"/>
          </p:cNvGraphicFramePr>
          <p:nvPr/>
        </p:nvGraphicFramePr>
        <p:xfrm>
          <a:off x="548640" y="1325880"/>
          <a:ext cx="11094414" cy="472440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Record pages</a:t>
                      </a:r>
                    </a:p>
                  </a:txBody>
                  <a:tcPr marL="54864" marR="54864" marT="27432" marB="27432">
                    <a:solidFill>
                      <a:srgbClr val="FFFFFF"/>
                    </a:solidFill>
                  </a:tcPr>
                </a:tc>
                <a:tc>
                  <a:txBody>
                    <a:bodyPr/>
                    <a:lstStyle/>
                    <a:p>
                      <a:r>
                        <a:rPr sz="1000" b="0">
                          <a:solidFill>
                            <a:srgbClr val="4B4B4B"/>
                          </a:solidFill>
                          <a:latin typeface="Arial"/>
                        </a:rPr>
                        <a:t>Back arrow and breadcrumb, title, then the record header: name, reference chips, status pill, tags (for example a client tag such as BDO employee) and the key facts. Page actions on the right in one order: secondary, primary, and the destructive action last and apart.</a:t>
                      </a:r>
                    </a:p>
                  </a:txBody>
                  <a:tcPr marL="54864" marR="54864" marT="27432" marB="27432">
                    <a:solidFill>
                      <a:srgbClr val="FFFFFF"/>
                    </a:solidFill>
                  </a:tcPr>
                </a:tc>
              </a:tr>
              <a:tr h="853440">
                <a:tc>
                  <a:txBody>
                    <a:bodyPr/>
                    <a:lstStyle/>
                    <a:p>
                      <a:r>
                        <a:rPr sz="1000" b="1">
                          <a:solidFill>
                            <a:srgbClr val="4B4B4B"/>
                          </a:solidFill>
                          <a:latin typeface="Arial"/>
                        </a:rPr>
                        <a:t>Workflow header (step bar)</a:t>
                      </a:r>
                    </a:p>
                  </a:txBody>
                  <a:tcPr marL="54864" marR="54864" marT="27432" marB="27432">
                    <a:solidFill>
                      <a:srgbClr val="E5F5FF"/>
                    </a:solidFill>
                  </a:tcPr>
                </a:tc>
                <a:tc>
                  <a:txBody>
                    <a:bodyPr/>
                    <a:lstStyle/>
                    <a:p>
                      <a:r>
                        <a:rPr sz="1000" b="0">
                          <a:solidFill>
                            <a:srgbClr val="4B4B4B"/>
                          </a:solidFill>
                          <a:latin typeface="Arial"/>
                        </a:rPr>
                        <a:t>Every record with a workflow shows a stepper under the record header: the stages of the main path in their order, passed stages ticked in blue, the current stage highlighted, the stages ahead in grey with their number. A returned or on-hold stage shows in amber after the stage it came from; a rejected, cancelled or voided record shows that stage in red and the path ends there; the last stage turns green when it is reached. Under the stepper one row gives Current Stage, Since, Due (with the Overdue pill) and Assigned To, with the actions of the stage on the right. The history is a table (Stage, From Stage, Action, By, Date and Time, Remarks, Duration in Stage), newest first.</a:t>
                      </a:r>
                    </a:p>
                  </a:txBody>
                  <a:tcPr marL="54864" marR="54864" marT="27432" marB="27432">
                    <a:solidFill>
                      <a:srgbClr val="E5F5FF"/>
                    </a:solidFill>
                  </a:tcPr>
                </a:tc>
              </a:tr>
              <a:tr h="701040">
                <a:tc>
                  <a:txBody>
                    <a:bodyPr/>
                    <a:lstStyle/>
                    <a:p>
                      <a:r>
                        <a:rPr sz="1000" b="1">
                          <a:solidFill>
                            <a:srgbClr val="4B4B4B"/>
                          </a:solidFill>
                          <a:latin typeface="Arial"/>
                        </a:rPr>
                        <a:t>Messages (notice standard)</a:t>
                      </a:r>
                    </a:p>
                  </a:txBody>
                  <a:tcPr marL="54864" marR="54864" marT="27432" marB="27432">
                    <a:solidFill>
                      <a:srgbClr val="FFFFFF"/>
                    </a:solidFill>
                  </a:tcPr>
                </a:tc>
                <a:tc>
                  <a:txBody>
                    <a:bodyPr/>
                    <a:lstStyle/>
                    <a:p>
                      <a:r>
                        <a:rPr sz="1000" b="0">
                          <a:solidFill>
                            <a:srgbClr val="4B4B4B"/>
                          </a:solidFill>
                          <a:latin typeface="Arial"/>
                        </a:rPr>
                        <a:t>One standard for errors, warnings, information and success: a white notice with a thin bar and an icon in the colour of its kind (red, amber, blue, green), a bold short title, then the business message with one bullet per missing item. No codes, internal references or technical terms in what the user reads. Field errors appear under the field; a long form lists its errors at the top with a link to the first field. Only an unexpected system error offers Retry and a reference for support behind Details. Special instructions are one short information notice.</a:t>
                      </a:r>
                    </a:p>
                  </a:txBody>
                  <a:tcPr marL="54864" marR="54864" marT="27432" marB="27432">
                    <a:solidFill>
                      <a:srgbClr val="FFFFFF"/>
                    </a:solidFill>
                  </a:tcPr>
                </a:tc>
              </a:tr>
              <a:tr h="548640">
                <a:tc>
                  <a:txBody>
                    <a:bodyPr/>
                    <a:lstStyle/>
                    <a:p>
                      <a:r>
                        <a:rPr sz="1000" b="1">
                          <a:solidFill>
                            <a:srgbClr val="4B4B4B"/>
                          </a:solidFill>
                          <a:latin typeface="Arial"/>
                        </a:rPr>
                        <a:t>Tables, not highlight boxes</a:t>
                      </a:r>
                    </a:p>
                  </a:txBody>
                  <a:tcPr marL="54864" marR="54864" marT="27432" marB="27432">
                    <a:solidFill>
                      <a:srgbClr val="E5F5FF"/>
                    </a:solidFill>
                  </a:tcPr>
                </a:tc>
                <a:tc>
                  <a:txBody>
                    <a:bodyPr/>
                    <a:lstStyle/>
                    <a:p>
                      <a:r>
                        <a:rPr sz="1000" b="0">
                          <a:solidFill>
                            <a:srgbClr val="4B4B4B"/>
                          </a:solidFill>
                          <a:latin typeface="Arial"/>
                        </a:rPr>
                        <a:t>Records and lists of records are rows of a titled table (for example the Rate Exceptions of a quotation: Exception No., Requested Rate, Scheme Rate, Difference, Valid Until, Requested By, Decided By, Status); key data is a label and value grid. A coloured box carries a short message only, never a record.</a:t>
                      </a:r>
                    </a:p>
                  </a:txBody>
                  <a:tcPr marL="54864" marR="54864" marT="27432" marB="27432">
                    <a:solidFill>
                      <a:srgbClr val="E5F5FF"/>
                    </a:solidFill>
                  </a:tcPr>
                </a:tc>
              </a:tr>
              <a:tr h="396240">
                <a:tc>
                  <a:txBody>
                    <a:bodyPr/>
                    <a:lstStyle/>
                    <a:p>
                      <a:r>
                        <a:rPr sz="1000" b="1">
                          <a:solidFill>
                            <a:srgbClr val="4B4B4B"/>
                          </a:solidFill>
                          <a:latin typeface="Arial"/>
                        </a:rPr>
                        <a:t>Tables</a:t>
                      </a:r>
                    </a:p>
                  </a:txBody>
                  <a:tcPr marL="54864" marR="54864" marT="27432" marB="27432">
                    <a:solidFill>
                      <a:srgbClr val="FFFFFF"/>
                    </a:solidFill>
                  </a:tcPr>
                </a:tc>
                <a:tc>
                  <a:txBody>
                    <a:bodyPr/>
                    <a:lstStyle/>
                    <a:p>
                      <a:r>
                        <a:rPr sz="1000" b="0">
                          <a:solidFill>
                            <a:srgbClr val="4B4B4B"/>
                          </a:solidFill>
                          <a:latin typeface="Arial"/>
                        </a:rPr>
                        <a:t>Header row in BDO blue that stays in view; text left, amounts right, dates in one format; one value per cell with at most one muted line under it; a dash for an empty value; "Showing x to y of n results" with page numbers.</a:t>
                      </a:r>
                    </a:p>
                  </a:txBody>
                  <a:tcPr marL="54864" marR="54864" marT="27432" marB="27432">
                    <a:solidFill>
                      <a:srgbClr val="FFFFFF"/>
                    </a:solidFill>
                  </a:tcPr>
                </a:tc>
              </a:tr>
              <a:tr h="396240">
                <a:tc>
                  <a:txBody>
                    <a:bodyPr/>
                    <a:lstStyle/>
                    <a:p>
                      <a:r>
                        <a:rPr sz="1000" b="1">
                          <a:solidFill>
                            <a:srgbClr val="4B4B4B"/>
                          </a:solidFill>
                          <a:latin typeface="Arial"/>
                        </a:rPr>
                        <a:t>Status labels</a:t>
                      </a:r>
                    </a:p>
                  </a:txBody>
                  <a:tcPr marL="54864" marR="54864" marT="27432" marB="27432">
                    <a:solidFill>
                      <a:srgbClr val="E5F5FF"/>
                    </a:solidFill>
                  </a:tcPr>
                </a:tc>
                <a:tc>
                  <a:txBody>
                    <a:bodyPr/>
                    <a:lstStyle/>
                    <a:p>
                      <a:r>
                        <a:rPr sz="1000" b="0">
                          <a:solidFill>
                            <a:srgbClr val="4B4B4B"/>
                          </a:solidFill>
                          <a:latin typeface="Arial"/>
                        </a:rPr>
                        <a:t>Statuses are pills of one size and one colour per state group and never wrap. The full label is shown (for example Returned to Marketing, Pending Authorization); an agreed short form, with the full label in the tooltip, only for a label longer than 21 characters.</a:t>
                      </a:r>
                    </a:p>
                  </a:txBody>
                  <a:tcPr marL="54864" marR="54864" marT="27432" marB="27432">
                    <a:solidFill>
                      <a:srgbClr val="E5F5FF"/>
                    </a:solidFill>
                  </a:tcPr>
                </a:tc>
              </a:tr>
              <a:tr h="396240">
                <a:tc>
                  <a:txBody>
                    <a:bodyPr/>
                    <a:lstStyle/>
                    <a:p>
                      <a:r>
                        <a:rPr sz="1000" b="1">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List values are shown by their label, never by their code; products by name with the code as a second line; insurers by name; users by their names, never by their user ID.</a:t>
                      </a:r>
                    </a:p>
                  </a:txBody>
                  <a:tcPr marL="54864" marR="54864" marT="27432" marB="27432">
                    <a:solidFill>
                      <a:srgbClr val="FFFFFF"/>
                    </a:solidFill>
                  </a:tcPr>
                </a:tc>
              </a:tr>
              <a:tr h="396240">
                <a:tc>
                  <a:txBody>
                    <a:bodyPr/>
                    <a:lstStyle/>
                    <a:p>
                      <a:r>
                        <a:rPr sz="1000" b="1">
                          <a:solidFill>
                            <a:srgbClr val="4B4B4B"/>
                          </a:solidFill>
                          <a:latin typeface="Arial"/>
                        </a:rPr>
                        <a:t>Dates, amounts and rates</a:t>
                      </a:r>
                    </a:p>
                  </a:txBody>
                  <a:tcPr marL="54864" marR="54864" marT="27432" marB="27432">
                    <a:solidFill>
                      <a:srgbClr val="E5F5FF"/>
                    </a:solidFill>
                  </a:tcPr>
                </a:tc>
                <a:tc>
                  <a:txBody>
                    <a:bodyPr/>
                    <a:lstStyle/>
                    <a:p>
                      <a:r>
                        <a:rPr sz="1000" b="0">
                          <a:solidFill>
                            <a:srgbClr val="4B4B4B"/>
                          </a:solidFill>
                          <a:latin typeface="Arial"/>
                        </a:rPr>
                        <a:t>One date picker; dates entered and shown as dd-MMM-yyyy, times as dd-MMM-yyyy HH:mm (Philippine time). Amounts with two decimals and thousand separators, negatives in brackets, the currency in the column header or before the amount. Rates as percentages with two to four decimals, as keyed.</a:t>
                      </a:r>
                    </a:p>
                  </a:txBody>
                  <a:tcPr marL="54864" marR="54864" marT="27432" marB="27432">
                    <a:solidFill>
                      <a:srgbClr val="E5F5FF"/>
                    </a:solidFill>
                  </a:tcPr>
                </a:tc>
              </a:tr>
              <a:tr h="396240">
                <a:tc>
                  <a:txBody>
                    <a:bodyPr/>
                    <a:lstStyle/>
                    <a:p>
                      <a:r>
                        <a:rPr sz="1000" b="1">
                          <a:solidFill>
                            <a:srgbClr val="4B4B4B"/>
                          </a:solidFill>
                          <a:latin typeface="Arial"/>
                        </a:rPr>
                        <a:t>Period cell</a:t>
                      </a:r>
                    </a:p>
                  </a:txBody>
                  <a:tcPr marL="54864" marR="54864" marT="27432" marB="27432">
                    <a:solidFill>
                      <a:srgbClr val="FFFFFF"/>
                    </a:solidFill>
                  </a:tcPr>
                </a:tc>
                <a:tc>
                  <a:txBody>
                    <a:bodyPr/>
                    <a:lstStyle/>
                    <a:p>
                      <a:r>
                        <a:rPr sz="1000" b="0">
                          <a:solidFill>
                            <a:srgbClr val="4B4B4B"/>
                          </a:solidFill>
                          <a:latin typeface="Arial"/>
                        </a:rPr>
                        <a:t>A period (period of cover, package term, statement period) is shown in lists on two lines, the start date and "to" the end date, each date kept whole; an open end reads "to open". In a sentence or a label and value grid it is one line: "20-Oct-2026 to 20-Oct-2027".</a:t>
                      </a:r>
                    </a:p>
                  </a:txBody>
                  <a:tcPr marL="54864" marR="54864" marT="27432" marB="27432">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standards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graphicFrame>
        <p:nvGraphicFramePr>
          <p:cNvPr id="9" name="Table 8"/>
          <p:cNvGraphicFramePr>
            <a:graphicFrameLocks noGrp="1"/>
          </p:cNvGraphicFramePr>
          <p:nvPr/>
        </p:nvGraphicFramePr>
        <p:xfrm>
          <a:off x="548640" y="1325880"/>
          <a:ext cx="11094414" cy="2621280"/>
        </p:xfrm>
        <a:graphic>
          <a:graphicData uri="http://schemas.openxmlformats.org/drawingml/2006/table">
            <a:tbl>
              <a:tblPr firstRow="1" bandRow="1">
                <a:tableStyleId>{5C22544A-7EE6-4342-B048-85BDC9FD1C3A}</a:tableStyleId>
              </a:tblPr>
              <a:tblGrid>
                <a:gridCol w="2048199"/>
                <a:gridCol w="9046215"/>
              </a:tblGrid>
              <a:tr h="243840">
                <a:tc>
                  <a:txBody>
                    <a:bodyPr/>
                    <a:lstStyle/>
                    <a:p>
                      <a:r>
                        <a:rPr sz="1000" b="1">
                          <a:solidFill>
                            <a:srgbClr val="FFFFFF"/>
                          </a:solidFill>
                          <a:latin typeface="Arial"/>
                        </a:rPr>
                        <a:t>Area</a:t>
                      </a:r>
                    </a:p>
                  </a:txBody>
                  <a:tcPr marL="54864" marR="54864" marT="27432" marB="27432">
                    <a:solidFill>
                      <a:srgbClr val="004EA8"/>
                    </a:solidFill>
                  </a:tcPr>
                </a:tc>
                <a:tc>
                  <a:txBody>
                    <a:bodyPr/>
                    <a:lstStyle/>
                    <a:p>
                      <a:r>
                        <a:rPr sz="1000" b="1">
                          <a:solidFill>
                            <a:srgbClr val="FFFFFF"/>
                          </a:solidFill>
                          <a:latin typeface="Arial"/>
                        </a:rPr>
                        <a:t>Standard</a:t>
                      </a:r>
                    </a:p>
                  </a:txBody>
                  <a:tcPr marL="54864" marR="54864" marT="27432" marB="27432">
                    <a:solidFill>
                      <a:srgbClr val="004EA8"/>
                    </a:solidFill>
                  </a:tcPr>
                </a:tc>
              </a:tr>
              <a:tr h="396240">
                <a:tc>
                  <a:txBody>
                    <a:bodyPr/>
                    <a:lstStyle/>
                    <a:p>
                      <a:r>
                        <a:rPr sz="1000" b="1">
                          <a:solidFill>
                            <a:srgbClr val="4B4B4B"/>
                          </a:solidFill>
                          <a:latin typeface="Arial"/>
                        </a:rPr>
                        <a:t>Forms</a:t>
                      </a:r>
                    </a:p>
                  </a:txBody>
                  <a:tcPr marL="54864" marR="54864" marT="27432" marB="27432">
                    <a:solidFill>
                      <a:srgbClr val="FFFFFF"/>
                    </a:solidFill>
                  </a:tcPr>
                </a:tc>
                <a:tc>
                  <a:txBody>
                    <a:bodyPr/>
                    <a:lstStyle/>
                    <a:p>
                      <a:r>
                        <a:rPr sz="1000" b="0">
                          <a:solidFill>
                            <a:srgbClr val="4B4B4B"/>
                          </a:solidFill>
                          <a:latin typeface="Arial"/>
                        </a:rPr>
                        <a:t>Labels above the fields, fields of one height on one line, required fields marked, the error under the field, and the actions in one place (Cancel, then the main action). Format hints only; other guidance is in the tooltip of the label.</a:t>
                      </a:r>
                    </a:p>
                  </a:txBody>
                  <a:tcPr marL="54864" marR="54864" marT="27432" marB="27432">
                    <a:solidFill>
                      <a:srgbClr val="FFFFFF"/>
                    </a:solidFill>
                  </a:tcPr>
                </a:tc>
              </a:tr>
              <a:tr h="548640">
                <a:tc>
                  <a:txBody>
                    <a:bodyPr/>
                    <a:lstStyle/>
                    <a:p>
                      <a:r>
                        <a:rPr sz="1000" b="1">
                          <a:solidFill>
                            <a:srgbClr val="4B4B4B"/>
                          </a:solidFill>
                          <a:latin typeface="Arial"/>
                        </a:rPr>
                        <a:t>Uploads</a:t>
                      </a:r>
                    </a:p>
                  </a:txBody>
                  <a:tcPr marL="54864" marR="54864" marT="27432" marB="27432">
                    <a:solidFill>
                      <a:srgbClr val="E5F5FF"/>
                    </a:solidFill>
                  </a:tcPr>
                </a:tc>
                <a:tc>
                  <a:txBody>
                    <a:bodyPr/>
                    <a:lstStyle/>
                    <a:p>
                      <a:r>
                        <a:rPr sz="1000" b="0">
                          <a:solidFill>
                            <a:srgbClr val="4B4B4B"/>
                          </a:solidFill>
                          <a:latin typeface="Arial"/>
                        </a:rPr>
                        <a:t>Download Template next to the upload; a drop zone with the accepted types and maximum size; every row checked before anything is saved; Rows Read, Valid and Rejected with the rows; valid rows are processed and the rejected rows are returned in the error file (the template layout with an Error column and the wrong cells highlighted); Upload Corrected File keeps the link to the first upload; a file uploaded before is refused.</a:t>
                      </a:r>
                    </a:p>
                  </a:txBody>
                  <a:tcPr marL="54864" marR="54864" marT="27432" marB="27432">
                    <a:solidFill>
                      <a:srgbClr val="E5F5FF"/>
                    </a:solidFill>
                  </a:tcPr>
                </a:tc>
              </a:tr>
              <a:tr h="548640">
                <a:tc>
                  <a:txBody>
                    <a:bodyPr/>
                    <a:lstStyle/>
                    <a:p>
                      <a:r>
                        <a:rPr sz="1000" b="1">
                          <a:solidFill>
                            <a:srgbClr val="4B4B4B"/>
                          </a:solidFill>
                          <a:latin typeface="Arial"/>
                        </a:rPr>
                        <a:t>Confirmations and reasons</a:t>
                      </a:r>
                    </a:p>
                  </a:txBody>
                  <a:tcPr marL="54864" marR="54864" marT="27432" marB="27432">
                    <a:solidFill>
                      <a:srgbClr val="FFFFFF"/>
                    </a:solidFill>
                  </a:tcPr>
                </a:tc>
                <a:tc>
                  <a:txBody>
                    <a:bodyPr/>
                    <a:lstStyle/>
                    <a:p>
                      <a:r>
                        <a:rPr sz="1000" b="0">
                          <a:solidFill>
                            <a:srgbClr val="4B4B4B"/>
                          </a:solidFill>
                          <a:latin typeface="Arial"/>
                        </a:rPr>
                        <a:t>Every approve, authorise, post, release, cancel, void or deactivate asks for confirmation in a dialog that names the record and the effect. Every reject, return, cancel and void needs a reason (from its list where there is one) before it can be confirmed. Destructive actions are confirmed with the red button. The reason is kept in the history and sent with the notification.</a:t>
                      </a:r>
                    </a:p>
                  </a:txBody>
                  <a:tcPr marL="54864" marR="54864" marT="27432" marB="27432">
                    <a:solidFill>
                      <a:srgbClr val="FFFFFF"/>
                    </a:solidFill>
                  </a:tcPr>
                </a:tc>
              </a:tr>
              <a:tr h="396240">
                <a:tc>
                  <a:txBody>
                    <a:bodyPr/>
                    <a:lstStyle/>
                    <a:p>
                      <a:r>
                        <a:rPr sz="1000" b="1">
                          <a:solidFill>
                            <a:srgbClr val="4B4B4B"/>
                          </a:solidFill>
                          <a:latin typeface="Arial"/>
                        </a:rPr>
                        <a:t>Notifications</a:t>
                      </a:r>
                    </a:p>
                  </a:txBody>
                  <a:tcPr marL="54864" marR="54864" marT="27432" marB="27432">
                    <a:solidFill>
                      <a:srgbClr val="E5F5FF"/>
                    </a:solidFill>
                  </a:tcPr>
                </a:tc>
                <a:tc>
                  <a:txBody>
                    <a:bodyPr/>
                    <a:lstStyle/>
                    <a:p>
                      <a:r>
                        <a:rPr sz="1000" b="0">
                          <a:solidFill>
                            <a:srgbClr val="4B4B4B"/>
                          </a:solidFill>
                          <a:latin typeface="Arial"/>
                        </a:rPr>
                        <a:t>The bell shows the unread count and opens the panel grouped by day (Today, Yesterday, then the date), each notice with its title, one-line summary, record reference and time; Mark Read, Mark All Read and View All; the Notifications page lists every notice with filters.</a:t>
                      </a:r>
                    </a:p>
                  </a:txBody>
                  <a:tcPr marL="54864" marR="54864" marT="27432" marB="27432">
                    <a:solidFill>
                      <a:srgbClr val="E5F5FF"/>
                    </a:solidFill>
                  </a:tcPr>
                </a:tc>
              </a:tr>
              <a:tr h="243840">
                <a:tc>
                  <a:txBody>
                    <a:bodyPr/>
                    <a:lstStyle/>
                    <a:p>
                      <a:r>
                        <a:rPr sz="1000" b="1">
                          <a:solidFill>
                            <a:srgbClr val="4B4B4B"/>
                          </a:solidFill>
                          <a:latin typeface="Arial"/>
                        </a:rPr>
                        <a:t>Documents</a:t>
                      </a:r>
                    </a:p>
                  </a:txBody>
                  <a:tcPr marL="54864" marR="54864" marT="27432" marB="27432">
                    <a:solidFill>
                      <a:srgbClr val="FFFFFF"/>
                    </a:solidFill>
                  </a:tcPr>
                </a:tc>
                <a:tc>
                  <a:txBody>
                    <a:bodyPr/>
                    <a:lstStyle/>
                    <a:p>
                      <a:r>
                        <a:rPr sz="1000" b="0">
                          <a:solidFill>
                            <a:srgbClr val="4B4B4B"/>
                          </a:solidFill>
                          <a:latin typeface="Arial"/>
                        </a:rPr>
                        <a:t>Generated documents carry the BDO Insure letterhead, the document name and reference, and a business footer with "Confidential" and page x of y.</a:t>
                      </a:r>
                    </a:p>
                  </a:txBody>
                  <a:tcPr marL="54864" marR="54864" marT="27432" marB="27432">
                    <a:solidFill>
                      <a:srgbClr val="FFFFFF"/>
                    </a:solidFill>
                  </a:tcPr>
                </a:tc>
              </a:tr>
              <a:tr h="243840">
                <a:tc>
                  <a:txBody>
                    <a:bodyPr/>
                    <a:lstStyle/>
                    <a:p>
                      <a:r>
                        <a:rPr sz="1000" b="1">
                          <a:solidFill>
                            <a:srgbClr val="4B4B4B"/>
                          </a:solidFill>
                          <a:latin typeface="Arial"/>
                        </a:rPr>
                        <a:t>Maker-checker</a:t>
                      </a:r>
                    </a:p>
                  </a:txBody>
                  <a:tcPr marL="54864" marR="54864" marT="27432" marB="27432">
                    <a:solidFill>
                      <a:srgbClr val="E5F5FF"/>
                    </a:solidFill>
                  </a:tcPr>
                </a:tc>
                <a:tc>
                  <a:txBody>
                    <a:bodyPr/>
                    <a:lstStyle/>
                    <a:p>
                      <a:r>
                        <a:rPr sz="1000" b="0">
                          <a:solidFill>
                            <a:srgbClr val="4B4B4B"/>
                          </a:solidFill>
                          <a:latin typeface="Arial"/>
                        </a:rPr>
                        <a:t>Save for Authorization on every product master; Pending Authorization until a second user authorises it; Deactivate instead of delete.</a:t>
                      </a:r>
                    </a:p>
                  </a:txBody>
                  <a:tcPr marL="54864" marR="54864" marT="27432" marB="27432">
                    <a:solidFill>
                      <a:srgbClr val="E5F5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Navigation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landing page and the full menu of each persona</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The page Marketing Account Officer sees after sign-in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1.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0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3.png"/>
          <p:cNvPicPr>
            <a:picLocks noChangeAspect="1"/>
          </p:cNvPicPr>
          <p:nvPr/>
        </p:nvPicPr>
        <p:blipFill>
          <a:blip r:embed="rId5"/>
          <a:stretch>
            <a:fillRect/>
          </a:stretch>
        </p:blipFill>
        <p:spPr>
          <a:xfrm>
            <a:off x="8082762" y="1261872"/>
            <a:ext cx="3516630" cy="467439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1 of 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0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6.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2 of 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07.png"/>
          <p:cNvPicPr>
            <a:picLocks noChangeAspect="1"/>
          </p:cNvPicPr>
          <p:nvPr/>
        </p:nvPicPr>
        <p:blipFill>
          <a:blip r:embed="rId3"/>
          <a:stretch>
            <a:fillRect/>
          </a:stretch>
        </p:blipFill>
        <p:spPr>
          <a:xfrm>
            <a:off x="592302" y="1261872"/>
            <a:ext cx="3516630" cy="4562951"/>
          </a:xfrm>
          <a:prstGeom prst="rect">
            <a:avLst/>
          </a:prstGeom>
          <a:ln w="9525">
            <a:solidFill>
              <a:srgbClr val="C2C2C1"/>
            </a:solidFill>
          </a:ln>
        </p:spPr>
      </p:pic>
      <p:pic>
        <p:nvPicPr>
          <p:cNvPr id="11" name="Picture 10" descr="slice-0000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09.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3 of 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0.png"/>
          <p:cNvPicPr>
            <a:picLocks noChangeAspect="1"/>
          </p:cNvPicPr>
          <p:nvPr/>
        </p:nvPicPr>
        <p:blipFill>
          <a:blip r:embed="rId3"/>
          <a:stretch>
            <a:fillRect/>
          </a:stretch>
        </p:blipFill>
        <p:spPr>
          <a:xfrm>
            <a:off x="4337532" y="1261872"/>
            <a:ext cx="3516630" cy="7986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NAV-PM-01 Every group of the menu open (part 4 of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Account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graphicFrame>
        <p:nvGraphicFramePr>
          <p:cNvPr id="9" name="Table 8"/>
          <p:cNvGraphicFramePr>
            <a:graphicFrameLocks noGrp="1"/>
          </p:cNvGraphicFramePr>
          <p:nvPr/>
        </p:nvGraphicFramePr>
        <p:xfrm>
          <a:off x="548640" y="1325880"/>
          <a:ext cx="11094414" cy="181356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2-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The page Marketing TL / TH / UH sees after sign-in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1.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1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13.png"/>
          <p:cNvPicPr>
            <a:picLocks noChangeAspect="1"/>
          </p:cNvPicPr>
          <p:nvPr/>
        </p:nvPicPr>
        <p:blipFill>
          <a:blip r:embed="rId5"/>
          <a:stretch>
            <a:fillRect/>
          </a:stretch>
        </p:blipFill>
        <p:spPr>
          <a:xfrm>
            <a:off x="8082762" y="1261872"/>
            <a:ext cx="3516630" cy="467439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1 of 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1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16.png"/>
          <p:cNvPicPr>
            <a:picLocks noChangeAspect="1"/>
          </p:cNvPicPr>
          <p:nvPr/>
        </p:nvPicPr>
        <p:blipFill>
          <a:blip r:embed="rId5"/>
          <a:stretch>
            <a:fillRect/>
          </a:stretch>
        </p:blipFill>
        <p:spPr>
          <a:xfrm>
            <a:off x="8082762" y="1261872"/>
            <a:ext cx="3516630" cy="465582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2 of 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17.png"/>
          <p:cNvPicPr>
            <a:picLocks noChangeAspect="1"/>
          </p:cNvPicPr>
          <p:nvPr/>
        </p:nvPicPr>
        <p:blipFill>
          <a:blip r:embed="rId3"/>
          <a:stretch>
            <a:fillRect/>
          </a:stretch>
        </p:blipFill>
        <p:spPr>
          <a:xfrm>
            <a:off x="592302" y="1261872"/>
            <a:ext cx="3516630" cy="4643437"/>
          </a:xfrm>
          <a:prstGeom prst="rect">
            <a:avLst/>
          </a:prstGeom>
          <a:ln w="9525">
            <a:solidFill>
              <a:srgbClr val="C2C2C1"/>
            </a:solidFill>
          </a:ln>
        </p:spPr>
      </p:pic>
      <p:pic>
        <p:nvPicPr>
          <p:cNvPr id="11" name="Picture 10" descr="slice-0001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19.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3 of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0.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021.png"/>
          <p:cNvPicPr>
            <a:picLocks noChangeAspect="1"/>
          </p:cNvPicPr>
          <p:nvPr/>
        </p:nvPicPr>
        <p:blipFill>
          <a:blip r:embed="rId4"/>
          <a:stretch>
            <a:fillRect/>
          </a:stretch>
        </p:blipFill>
        <p:spPr>
          <a:xfrm>
            <a:off x="6210147" y="1261872"/>
            <a:ext cx="3516630" cy="299656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NAV-PM-02 Every group of the menu open (part 4 of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TL / TH / UH: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3-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The page TSU Officer sees after sign-in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2.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2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4.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Every group of the menu open (part 1 of 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5.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026.png"/>
          <p:cNvPicPr>
            <a:picLocks noChangeAspect="1"/>
          </p:cNvPicPr>
          <p:nvPr/>
        </p:nvPicPr>
        <p:blipFill>
          <a:blip r:embed="rId4"/>
          <a:stretch>
            <a:fillRect/>
          </a:stretch>
        </p:blipFill>
        <p:spPr>
          <a:xfrm>
            <a:off x="6210147" y="1261872"/>
            <a:ext cx="3516630" cy="43338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NAV-PM-03 Every group of the menu open (part 2 of 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Officer: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4-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The page TSU Team Lead sees after sign-in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27.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2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29.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Every group of the menu open (part 1 of 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0.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1.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32.png"/>
          <p:cNvPicPr>
            <a:picLocks noChangeAspect="1"/>
          </p:cNvPicPr>
          <p:nvPr/>
        </p:nvPicPr>
        <p:blipFill>
          <a:blip r:embed="rId5"/>
          <a:stretch>
            <a:fillRect/>
          </a:stretch>
        </p:blipFill>
        <p:spPr>
          <a:xfrm>
            <a:off x="8082762" y="1261872"/>
            <a:ext cx="3516630" cy="92868"/>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NAV-PM-04 Every group of the menu open (part 2 of 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Team Lead: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graphicFrame>
        <p:nvGraphicFramePr>
          <p:cNvPr id="9" name="Table 8"/>
          <p:cNvGraphicFramePr>
            <a:graphicFrameLocks noGrp="1"/>
          </p:cNvGraphicFramePr>
          <p:nvPr/>
        </p:nvGraphicFramePr>
        <p:xfrm>
          <a:off x="548640" y="1325880"/>
          <a:ext cx="11094414" cy="207264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5-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The page TSU Head sees after sign-in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3.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4.png"/>
          <p:cNvPicPr>
            <a:picLocks noChangeAspect="1"/>
          </p:cNvPicPr>
          <p:nvPr/>
        </p:nvPicPr>
        <p:blipFill>
          <a:blip r:embed="rId4"/>
          <a:stretch>
            <a:fillRect/>
          </a:stretch>
        </p:blipFill>
        <p:spPr>
          <a:xfrm>
            <a:off x="4337532" y="1261872"/>
            <a:ext cx="3516630" cy="4705350"/>
          </a:xfrm>
          <a:prstGeom prst="rect">
            <a:avLst/>
          </a:prstGeom>
          <a:ln w="9525">
            <a:solidFill>
              <a:srgbClr val="C2C2C1"/>
            </a:solidFill>
          </a:ln>
        </p:spPr>
      </p:pic>
      <p:pic>
        <p:nvPicPr>
          <p:cNvPr id="12" name="Picture 11" descr="slice-00035.png"/>
          <p:cNvPicPr>
            <a:picLocks noChangeAspect="1"/>
          </p:cNvPicPr>
          <p:nvPr/>
        </p:nvPicPr>
        <p:blipFill>
          <a:blip r:embed="rId5"/>
          <a:stretch>
            <a:fillRect/>
          </a:stretch>
        </p:blipFill>
        <p:spPr>
          <a:xfrm>
            <a:off x="8082762" y="1261872"/>
            <a:ext cx="3516630" cy="466820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Every group of the menu open (part 1 of 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6.png"/>
          <p:cNvPicPr>
            <a:picLocks noChangeAspect="1"/>
          </p:cNvPicPr>
          <p:nvPr/>
        </p:nvPicPr>
        <p:blipFill>
          <a:blip r:embed="rId3"/>
          <a:stretch>
            <a:fillRect/>
          </a:stretch>
        </p:blipFill>
        <p:spPr>
          <a:xfrm>
            <a:off x="4337532" y="1261872"/>
            <a:ext cx="3516630" cy="749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NAV-PM-05 Every group of the menu open (part 2 of 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TSU Head: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TSU Workbench</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Expiry</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Validation Queue</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6-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The page Marketing Business Services sees after sign-in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37.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38.png"/>
          <p:cNvPicPr>
            <a:picLocks noChangeAspect="1"/>
          </p:cNvPicPr>
          <p:nvPr/>
        </p:nvPicPr>
        <p:blipFill>
          <a:blip r:embed="rId4"/>
          <a:stretch>
            <a:fillRect/>
          </a:stretch>
        </p:blipFill>
        <p:spPr>
          <a:xfrm>
            <a:off x="4337532" y="1261872"/>
            <a:ext cx="3516630" cy="4705350"/>
          </a:xfrm>
          <a:prstGeom prst="rect">
            <a:avLst/>
          </a:prstGeom>
          <a:ln w="9525">
            <a:solidFill>
              <a:srgbClr val="C2C2C1"/>
            </a:solidFill>
          </a:ln>
        </p:spPr>
      </p:pic>
      <p:pic>
        <p:nvPicPr>
          <p:cNvPr id="12" name="Picture 11" descr="slice-00039.png"/>
          <p:cNvPicPr>
            <a:picLocks noChangeAspect="1"/>
          </p:cNvPicPr>
          <p:nvPr/>
        </p:nvPicPr>
        <p:blipFill>
          <a:blip r:embed="rId5"/>
          <a:stretch>
            <a:fillRect/>
          </a:stretch>
        </p:blipFill>
        <p:spPr>
          <a:xfrm>
            <a:off x="8082762" y="1261872"/>
            <a:ext cx="3516630" cy="471773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1 of 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0.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1.png"/>
          <p:cNvPicPr>
            <a:picLocks noChangeAspect="1"/>
          </p:cNvPicPr>
          <p:nvPr/>
        </p:nvPicPr>
        <p:blipFill>
          <a:blip r:embed="rId4"/>
          <a:stretch>
            <a:fillRect/>
          </a:stretch>
        </p:blipFill>
        <p:spPr>
          <a:xfrm>
            <a:off x="4337532" y="1261872"/>
            <a:ext cx="3516630" cy="4686776"/>
          </a:xfrm>
          <a:prstGeom prst="rect">
            <a:avLst/>
          </a:prstGeom>
          <a:ln w="9525">
            <a:solidFill>
              <a:srgbClr val="C2C2C1"/>
            </a:solidFill>
          </a:ln>
        </p:spPr>
      </p:pic>
      <p:pic>
        <p:nvPicPr>
          <p:cNvPr id="12" name="Picture 11" descr="slice-00042.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2 of 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3.png"/>
          <p:cNvPicPr>
            <a:picLocks noChangeAspect="1"/>
          </p:cNvPicPr>
          <p:nvPr/>
        </p:nvPicPr>
        <p:blipFill>
          <a:blip r:embed="rId3"/>
          <a:stretch>
            <a:fillRect/>
          </a:stretch>
        </p:blipFill>
        <p:spPr>
          <a:xfrm>
            <a:off x="4337532" y="1261872"/>
            <a:ext cx="3516630" cy="33308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NAV-PM-06 Every group of the menu open (part 3 of 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Marketing Business Services: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7-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The page ManCom member sees after sign-in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menu</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6.png"/>
          <p:cNvPicPr>
            <a:picLocks noChangeAspect="1"/>
          </p:cNvPicPr>
          <p:nvPr/>
        </p:nvPicPr>
        <p:blipFill>
          <a:blip r:embed="rId5"/>
          <a:stretch>
            <a:fillRect/>
          </a:stretch>
        </p:blipFill>
        <p:spPr>
          <a:xfrm>
            <a:off x="8082762" y="1261872"/>
            <a:ext cx="3516630" cy="340518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NAV-PM-07 Every group of the menu open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ManCom member: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325880"/>
          <a:ext cx="11094414" cy="15544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8-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The page Business Administrator sees after sign-in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47.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48.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49.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1 of 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0.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51.png"/>
          <p:cNvPicPr>
            <a:picLocks noChangeAspect="1"/>
          </p:cNvPicPr>
          <p:nvPr/>
        </p:nvPicPr>
        <p:blipFill>
          <a:blip r:embed="rId4"/>
          <a:stretch>
            <a:fillRect/>
          </a:stretch>
        </p:blipFill>
        <p:spPr>
          <a:xfrm>
            <a:off x="4337532" y="1261872"/>
            <a:ext cx="3516630" cy="4575333"/>
          </a:xfrm>
          <a:prstGeom prst="rect">
            <a:avLst/>
          </a:prstGeom>
          <a:ln w="9525">
            <a:solidFill>
              <a:srgbClr val="C2C2C1"/>
            </a:solidFill>
          </a:ln>
        </p:spPr>
      </p:pic>
      <p:pic>
        <p:nvPicPr>
          <p:cNvPr id="12" name="Picture 11" descr="slice-00052.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2 of 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3.png"/>
          <p:cNvPicPr>
            <a:picLocks noChangeAspect="1"/>
          </p:cNvPicPr>
          <p:nvPr/>
        </p:nvPicPr>
        <p:blipFill>
          <a:blip r:embed="rId3"/>
          <a:stretch>
            <a:fillRect/>
          </a:stretch>
        </p:blipFill>
        <p:spPr>
          <a:xfrm>
            <a:off x="592302" y="1261872"/>
            <a:ext cx="3516630" cy="4674393"/>
          </a:xfrm>
          <a:prstGeom prst="rect">
            <a:avLst/>
          </a:prstGeom>
          <a:ln w="9525">
            <a:solidFill>
              <a:srgbClr val="C2C2C1"/>
            </a:solidFill>
          </a:ln>
        </p:spPr>
      </p:pic>
      <p:pic>
        <p:nvPicPr>
          <p:cNvPr id="11" name="Picture 10" descr="slice-00054.png"/>
          <p:cNvPicPr>
            <a:picLocks noChangeAspect="1"/>
          </p:cNvPicPr>
          <p:nvPr/>
        </p:nvPicPr>
        <p:blipFill>
          <a:blip r:embed="rId4"/>
          <a:stretch>
            <a:fillRect/>
          </a:stretch>
        </p:blipFill>
        <p:spPr>
          <a:xfrm>
            <a:off x="4337532" y="1261872"/>
            <a:ext cx="3516630" cy="4631055"/>
          </a:xfrm>
          <a:prstGeom prst="rect">
            <a:avLst/>
          </a:prstGeom>
          <a:ln w="9525">
            <a:solidFill>
              <a:srgbClr val="C2C2C1"/>
            </a:solidFill>
          </a:ln>
        </p:spPr>
      </p:pic>
      <p:pic>
        <p:nvPicPr>
          <p:cNvPr id="12" name="Picture 11" descr="slice-00055.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3 of 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6.png"/>
          <p:cNvPicPr>
            <a:picLocks noChangeAspect="1"/>
          </p:cNvPicPr>
          <p:nvPr/>
        </p:nvPicPr>
        <p:blipFill>
          <a:blip r:embed="rId3"/>
          <a:stretch>
            <a:fillRect/>
          </a:stretch>
        </p:blipFill>
        <p:spPr>
          <a:xfrm>
            <a:off x="592302" y="1261872"/>
            <a:ext cx="3516630" cy="4587716"/>
          </a:xfrm>
          <a:prstGeom prst="rect">
            <a:avLst/>
          </a:prstGeom>
          <a:ln w="9525">
            <a:solidFill>
              <a:srgbClr val="C2C2C1"/>
            </a:solidFill>
          </a:ln>
        </p:spPr>
      </p:pic>
      <p:pic>
        <p:nvPicPr>
          <p:cNvPr id="11" name="Picture 10" descr="slice-00057.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58.png"/>
          <p:cNvPicPr>
            <a:picLocks noChangeAspect="1"/>
          </p:cNvPicPr>
          <p:nvPr/>
        </p:nvPicPr>
        <p:blipFill>
          <a:blip r:embed="rId5"/>
          <a:stretch>
            <a:fillRect/>
          </a:stretch>
        </p:blipFill>
        <p:spPr>
          <a:xfrm>
            <a:off x="8082762" y="1261872"/>
            <a:ext cx="3516630" cy="196881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NAV-PM-08 Every group of the menu open (part 4 of 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Business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Validation Queue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09-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The page New Business Approver sees after sign-in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59.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6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1.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1 of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2.png"/>
          <p:cNvPicPr>
            <a:picLocks noChangeAspect="1"/>
          </p:cNvPicPr>
          <p:nvPr/>
        </p:nvPicPr>
        <p:blipFill>
          <a:blip r:embed="rId3"/>
          <a:stretch>
            <a:fillRect/>
          </a:stretch>
        </p:blipFill>
        <p:spPr>
          <a:xfrm>
            <a:off x="592302" y="1261872"/>
            <a:ext cx="3516630" cy="4705350"/>
          </a:xfrm>
          <a:prstGeom prst="rect">
            <a:avLst/>
          </a:prstGeom>
          <a:ln w="9525">
            <a:solidFill>
              <a:srgbClr val="C2C2C1"/>
            </a:solidFill>
          </a:ln>
        </p:spPr>
      </p:pic>
      <p:pic>
        <p:nvPicPr>
          <p:cNvPr id="11" name="Picture 10" descr="slice-0006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4.png"/>
          <p:cNvPicPr>
            <a:picLocks noChangeAspect="1"/>
          </p:cNvPicPr>
          <p:nvPr/>
        </p:nvPicPr>
        <p:blipFill>
          <a:blip r:embed="rId5"/>
          <a:stretch>
            <a:fillRect/>
          </a:stretch>
        </p:blipFill>
        <p:spPr>
          <a:xfrm>
            <a:off x="8082762" y="1261872"/>
            <a:ext cx="3516630" cy="466201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2 of 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5.png"/>
          <p:cNvPicPr>
            <a:picLocks noChangeAspect="1"/>
          </p:cNvPicPr>
          <p:nvPr/>
        </p:nvPicPr>
        <p:blipFill>
          <a:blip r:embed="rId3"/>
          <a:stretch>
            <a:fillRect/>
          </a:stretch>
        </p:blipFill>
        <p:spPr>
          <a:xfrm>
            <a:off x="592302" y="1261872"/>
            <a:ext cx="3516630" cy="4587716"/>
          </a:xfrm>
          <a:prstGeom prst="rect">
            <a:avLst/>
          </a:prstGeom>
          <a:ln w="9525">
            <a:solidFill>
              <a:srgbClr val="C2C2C1"/>
            </a:solidFill>
          </a:ln>
        </p:spPr>
      </p:pic>
      <p:pic>
        <p:nvPicPr>
          <p:cNvPr id="11" name="Picture 10" descr="slice-00066.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67.png"/>
          <p:cNvPicPr>
            <a:picLocks noChangeAspect="1"/>
          </p:cNvPicPr>
          <p:nvPr/>
        </p:nvPicPr>
        <p:blipFill>
          <a:blip r:embed="rId5"/>
          <a:stretch>
            <a:fillRect/>
          </a:stretch>
        </p:blipFill>
        <p:spPr>
          <a:xfrm>
            <a:off x="8082762" y="1261872"/>
            <a:ext cx="3516630" cy="465582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3 of 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8.png"/>
          <p:cNvPicPr>
            <a:picLocks noChangeAspect="1"/>
          </p:cNvPicPr>
          <p:nvPr/>
        </p:nvPicPr>
        <p:blipFill>
          <a:blip r:embed="rId3"/>
          <a:stretch>
            <a:fillRect/>
          </a:stretch>
        </p:blipFill>
        <p:spPr>
          <a:xfrm>
            <a:off x="4337532" y="1261872"/>
            <a:ext cx="3516630" cy="7491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NAV-PM-09 Every group of the menu open (part 4 of 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New Business Approver: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graphicFrame>
        <p:nvGraphicFramePr>
          <p:cNvPr id="9" name="Table 8"/>
          <p:cNvGraphicFramePr>
            <a:graphicFrameLocks noGrp="1"/>
          </p:cNvGraphicFramePr>
          <p:nvPr/>
        </p:nvGraphicFramePr>
        <p:xfrm>
          <a:off x="548640" y="1325880"/>
          <a:ext cx="11094414" cy="259080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Premium Calculator</a:t>
                      </a:r>
                    </a:p>
                  </a:txBody>
                  <a:tcPr marL="54864" marR="54864" marT="27432" marB="27432">
                    <a:solidFill>
                      <a:srgbClr val="FFFFFF"/>
                    </a:solidFill>
                  </a:tcPr>
                </a:tc>
              </a:tr>
            </a:tbl>
          </a:graphicData>
        </a:graphic>
      </p:graphicFrame>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0-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The page System Administrator sees after sign-in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(1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69.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7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71.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1 of 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(2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2.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73.png"/>
          <p:cNvPicPr>
            <a:picLocks noChangeAspect="1"/>
          </p:cNvPicPr>
          <p:nvPr/>
        </p:nvPicPr>
        <p:blipFill>
          <a:blip r:embed="rId4"/>
          <a:stretch>
            <a:fillRect/>
          </a:stretch>
        </p:blipFill>
        <p:spPr>
          <a:xfrm>
            <a:off x="4337532" y="1261872"/>
            <a:ext cx="3516630" cy="4569142"/>
          </a:xfrm>
          <a:prstGeom prst="rect">
            <a:avLst/>
          </a:prstGeom>
          <a:ln w="9525">
            <a:solidFill>
              <a:srgbClr val="C2C2C1"/>
            </a:solidFill>
          </a:ln>
        </p:spPr>
      </p:pic>
      <p:pic>
        <p:nvPicPr>
          <p:cNvPr id="12" name="Picture 11" descr="slice-00074.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2 of 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(3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5.png"/>
          <p:cNvPicPr>
            <a:picLocks noChangeAspect="1"/>
          </p:cNvPicPr>
          <p:nvPr/>
        </p:nvPicPr>
        <p:blipFill>
          <a:blip r:embed="rId3"/>
          <a:stretch>
            <a:fillRect/>
          </a:stretch>
        </p:blipFill>
        <p:spPr>
          <a:xfrm>
            <a:off x="592302" y="1261872"/>
            <a:ext cx="3516630" cy="4668202"/>
          </a:xfrm>
          <a:prstGeom prst="rect">
            <a:avLst/>
          </a:prstGeom>
          <a:ln w="9525">
            <a:solidFill>
              <a:srgbClr val="C2C2C1"/>
            </a:solidFill>
          </a:ln>
        </p:spPr>
      </p:pic>
      <p:pic>
        <p:nvPicPr>
          <p:cNvPr id="11" name="Picture 10" descr="slice-00076.png"/>
          <p:cNvPicPr>
            <a:picLocks noChangeAspect="1"/>
          </p:cNvPicPr>
          <p:nvPr/>
        </p:nvPicPr>
        <p:blipFill>
          <a:blip r:embed="rId4"/>
          <a:stretch>
            <a:fillRect/>
          </a:stretch>
        </p:blipFill>
        <p:spPr>
          <a:xfrm>
            <a:off x="4337532" y="1261872"/>
            <a:ext cx="3516630" cy="4705350"/>
          </a:xfrm>
          <a:prstGeom prst="rect">
            <a:avLst/>
          </a:prstGeom>
          <a:ln w="9525">
            <a:solidFill>
              <a:srgbClr val="C2C2C1"/>
            </a:solidFill>
          </a:ln>
        </p:spPr>
      </p:pic>
      <p:pic>
        <p:nvPicPr>
          <p:cNvPr id="12" name="Picture 11" descr="slice-00077.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3 of 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(4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78.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79.png"/>
          <p:cNvPicPr>
            <a:picLocks noChangeAspect="1"/>
          </p:cNvPicPr>
          <p:nvPr/>
        </p:nvPicPr>
        <p:blipFill>
          <a:blip r:embed="rId4"/>
          <a:stretch>
            <a:fillRect/>
          </a:stretch>
        </p:blipFill>
        <p:spPr>
          <a:xfrm>
            <a:off x="4337532" y="1261872"/>
            <a:ext cx="3516630" cy="4692967"/>
          </a:xfrm>
          <a:prstGeom prst="rect">
            <a:avLst/>
          </a:prstGeom>
          <a:ln w="9525">
            <a:solidFill>
              <a:srgbClr val="C2C2C1"/>
            </a:solidFill>
          </a:ln>
        </p:spPr>
      </p:pic>
      <p:pic>
        <p:nvPicPr>
          <p:cNvPr id="12" name="Picture 11" descr="slice-00080.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4 of 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(5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1.png"/>
          <p:cNvPicPr>
            <a:picLocks noChangeAspect="1"/>
          </p:cNvPicPr>
          <p:nvPr/>
        </p:nvPicPr>
        <p:blipFill>
          <a:blip r:embed="rId3"/>
          <a:stretch>
            <a:fillRect/>
          </a:stretch>
        </p:blipFill>
        <p:spPr>
          <a:xfrm>
            <a:off x="592302" y="1261872"/>
            <a:ext cx="3516630" cy="4550568"/>
          </a:xfrm>
          <a:prstGeom prst="rect">
            <a:avLst/>
          </a:prstGeom>
          <a:ln w="9525">
            <a:solidFill>
              <a:srgbClr val="C2C2C1"/>
            </a:solidFill>
          </a:ln>
        </p:spPr>
      </p:pic>
      <p:pic>
        <p:nvPicPr>
          <p:cNvPr id="11" name="Picture 10" descr="slice-00082.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83.png"/>
          <p:cNvPicPr>
            <a:picLocks noChangeAspect="1"/>
          </p:cNvPicPr>
          <p:nvPr/>
        </p:nvPicPr>
        <p:blipFill>
          <a:blip r:embed="rId5"/>
          <a:stretch>
            <a:fillRect/>
          </a:stretch>
        </p:blipFill>
        <p:spPr>
          <a:xfrm>
            <a:off x="8082762" y="1261872"/>
            <a:ext cx="3516630" cy="4662011"/>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5 of 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(6 of 6)</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4.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085.png"/>
          <p:cNvPicPr>
            <a:picLocks noChangeAspect="1"/>
          </p:cNvPicPr>
          <p:nvPr/>
        </p:nvPicPr>
        <p:blipFill>
          <a:blip r:embed="rId4"/>
          <a:stretch>
            <a:fillRect/>
          </a:stretch>
        </p:blipFill>
        <p:spPr>
          <a:xfrm>
            <a:off x="6210147" y="1261872"/>
            <a:ext cx="3516630" cy="96583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NAV-PM-10 Every group of the menu open (part 6 of 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System Administrator: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graphicFrame>
        <p:nvGraphicFramePr>
          <p:cNvPr id="9" name="Table 8"/>
          <p:cNvGraphicFramePr>
            <a:graphicFrameLocks noGrp="1"/>
          </p:cNvGraphicFramePr>
          <p:nvPr/>
        </p:nvGraphicFramePr>
        <p:xfrm>
          <a:off x="548640" y="1325880"/>
          <a:ext cx="11094414" cy="233172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Coverages &amp; Clauses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Incentive Criteria</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Insurers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Rates &amp; Taxes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Sales Organisation</a:t>
                      </a:r>
                    </a:p>
                  </a:txBody>
                  <a:tcPr marL="54864" marR="54864" marT="27432" marB="27432">
                    <a:solidFill>
                      <a:srgbClr val="E5F5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landing page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Rounded Rectangle 8"/>
          <p:cNvSpPr/>
          <p:nvPr/>
        </p:nvSpPr>
        <p:spPr>
          <a:xfrm>
            <a:off x="10234879" y="896112"/>
            <a:ext cx="1408176"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Landing page</a:t>
            </a:r>
          </a:p>
        </p:txBody>
      </p:sp>
      <p:pic>
        <p:nvPicPr>
          <p:cNvPr id="10" name="Picture 9" descr="ux-nav-11-landing.png"/>
          <p:cNvPicPr>
            <a:picLocks noChangeAspect="1"/>
          </p:cNvPicPr>
          <p:nvPr/>
        </p:nvPicPr>
        <p:blipFill>
          <a:blip r:embed="rId3"/>
          <a:stretch>
            <a:fillRect/>
          </a:stretch>
        </p:blipFill>
        <p:spPr>
          <a:xfrm>
            <a:off x="2306574" y="1261872"/>
            <a:ext cx="757854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The page Auditor sees after sign-in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(1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6.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87.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88.png"/>
          <p:cNvPicPr>
            <a:picLocks noChangeAspect="1"/>
          </p:cNvPicPr>
          <p:nvPr/>
        </p:nvPicPr>
        <p:blipFill>
          <a:blip r:embed="rId5"/>
          <a:stretch>
            <a:fillRect/>
          </a:stretch>
        </p:blipFill>
        <p:spPr>
          <a:xfrm>
            <a:off x="8082762" y="1261872"/>
            <a:ext cx="3516630" cy="4674393"/>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1 of 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(2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89.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90.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91.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2 of 8)</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(3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2.png"/>
          <p:cNvPicPr>
            <a:picLocks noChangeAspect="1"/>
          </p:cNvPicPr>
          <p:nvPr/>
        </p:nvPicPr>
        <p:blipFill>
          <a:blip r:embed="rId3"/>
          <a:stretch>
            <a:fillRect/>
          </a:stretch>
        </p:blipFill>
        <p:spPr>
          <a:xfrm>
            <a:off x="592302" y="1261872"/>
            <a:ext cx="3516630" cy="4569142"/>
          </a:xfrm>
          <a:prstGeom prst="rect">
            <a:avLst/>
          </a:prstGeom>
          <a:ln w="9525">
            <a:solidFill>
              <a:srgbClr val="C2C2C1"/>
            </a:solidFill>
          </a:ln>
        </p:spPr>
      </p:pic>
      <p:pic>
        <p:nvPicPr>
          <p:cNvPr id="11" name="Picture 10" descr="slice-00093.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94.png"/>
          <p:cNvPicPr>
            <a:picLocks noChangeAspect="1"/>
          </p:cNvPicPr>
          <p:nvPr/>
        </p:nvPicPr>
        <p:blipFill>
          <a:blip r:embed="rId5"/>
          <a:stretch>
            <a:fillRect/>
          </a:stretch>
        </p:blipFill>
        <p:spPr>
          <a:xfrm>
            <a:off x="8082762" y="1261872"/>
            <a:ext cx="3516630" cy="4680585"/>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3 of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(4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5.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96.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097.png"/>
          <p:cNvPicPr>
            <a:picLocks noChangeAspect="1"/>
          </p:cNvPicPr>
          <p:nvPr/>
        </p:nvPicPr>
        <p:blipFill>
          <a:blip r:embed="rId5"/>
          <a:stretch>
            <a:fillRect/>
          </a:stretch>
        </p:blipFill>
        <p:spPr>
          <a:xfrm>
            <a:off x="8082762" y="1261872"/>
            <a:ext cx="3516630" cy="4643437"/>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4 of 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(5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098.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099.png"/>
          <p:cNvPicPr>
            <a:picLocks noChangeAspect="1"/>
          </p:cNvPicPr>
          <p:nvPr/>
        </p:nvPicPr>
        <p:blipFill>
          <a:blip r:embed="rId4"/>
          <a:stretch>
            <a:fillRect/>
          </a:stretch>
        </p:blipFill>
        <p:spPr>
          <a:xfrm>
            <a:off x="4337532" y="1261872"/>
            <a:ext cx="3516630" cy="4674393"/>
          </a:xfrm>
          <a:prstGeom prst="rect">
            <a:avLst/>
          </a:prstGeom>
          <a:ln w="9525">
            <a:solidFill>
              <a:srgbClr val="C2C2C1"/>
            </a:solidFill>
          </a:ln>
        </p:spPr>
      </p:pic>
      <p:pic>
        <p:nvPicPr>
          <p:cNvPr id="12" name="Picture 11" descr="slice-00100.png"/>
          <p:cNvPicPr>
            <a:picLocks noChangeAspect="1"/>
          </p:cNvPicPr>
          <p:nvPr/>
        </p:nvPicPr>
        <p:blipFill>
          <a:blip r:embed="rId5"/>
          <a:stretch>
            <a:fillRect/>
          </a:stretch>
        </p:blipFill>
        <p:spPr>
          <a:xfrm>
            <a:off x="8082762" y="1261872"/>
            <a:ext cx="3516630" cy="4618672"/>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5 of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(6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1.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102.png"/>
          <p:cNvPicPr>
            <a:picLocks noChangeAspect="1"/>
          </p:cNvPicPr>
          <p:nvPr/>
        </p:nvPicPr>
        <p:blipFill>
          <a:blip r:embed="rId4"/>
          <a:stretch>
            <a:fillRect/>
          </a:stretch>
        </p:blipFill>
        <p:spPr>
          <a:xfrm>
            <a:off x="4337532" y="1261872"/>
            <a:ext cx="3516630" cy="4550568"/>
          </a:xfrm>
          <a:prstGeom prst="rect">
            <a:avLst/>
          </a:prstGeom>
          <a:ln w="9525">
            <a:solidFill>
              <a:srgbClr val="C2C2C1"/>
            </a:solidFill>
          </a:ln>
        </p:spPr>
      </p:pic>
      <p:pic>
        <p:nvPicPr>
          <p:cNvPr id="12" name="Picture 11" descr="slice-00103.png"/>
          <p:cNvPicPr>
            <a:picLocks noChangeAspect="1"/>
          </p:cNvPicPr>
          <p:nvPr/>
        </p:nvPicPr>
        <p:blipFill>
          <a:blip r:embed="rId5"/>
          <a:stretch>
            <a:fillRect/>
          </a:stretch>
        </p:blipFill>
        <p:spPr>
          <a:xfrm>
            <a:off x="8082762" y="1261872"/>
            <a:ext cx="3516630" cy="4606290"/>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6 of 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(7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4.png"/>
          <p:cNvPicPr>
            <a:picLocks noChangeAspect="1"/>
          </p:cNvPicPr>
          <p:nvPr/>
        </p:nvPicPr>
        <p:blipFill>
          <a:blip r:embed="rId3"/>
          <a:stretch>
            <a:fillRect/>
          </a:stretch>
        </p:blipFill>
        <p:spPr>
          <a:xfrm>
            <a:off x="592302" y="1261872"/>
            <a:ext cx="3516630" cy="4736306"/>
          </a:xfrm>
          <a:prstGeom prst="rect">
            <a:avLst/>
          </a:prstGeom>
          <a:ln w="9525">
            <a:solidFill>
              <a:srgbClr val="C2C2C1"/>
            </a:solidFill>
          </a:ln>
        </p:spPr>
      </p:pic>
      <p:pic>
        <p:nvPicPr>
          <p:cNvPr id="11" name="Picture 10" descr="slice-00105.png"/>
          <p:cNvPicPr>
            <a:picLocks noChangeAspect="1"/>
          </p:cNvPicPr>
          <p:nvPr/>
        </p:nvPicPr>
        <p:blipFill>
          <a:blip r:embed="rId4"/>
          <a:stretch>
            <a:fillRect/>
          </a:stretch>
        </p:blipFill>
        <p:spPr>
          <a:xfrm>
            <a:off x="4337532" y="1261872"/>
            <a:ext cx="3516630" cy="4736306"/>
          </a:xfrm>
          <a:prstGeom prst="rect">
            <a:avLst/>
          </a:prstGeom>
          <a:ln w="9525">
            <a:solidFill>
              <a:srgbClr val="C2C2C1"/>
            </a:solidFill>
          </a:ln>
        </p:spPr>
      </p:pic>
      <p:pic>
        <p:nvPicPr>
          <p:cNvPr id="12" name="Picture 11" descr="slice-00106.png"/>
          <p:cNvPicPr>
            <a:picLocks noChangeAspect="1"/>
          </p:cNvPicPr>
          <p:nvPr/>
        </p:nvPicPr>
        <p:blipFill>
          <a:blip r:embed="rId5"/>
          <a:stretch>
            <a:fillRect/>
          </a:stretch>
        </p:blipFill>
        <p:spPr>
          <a:xfrm>
            <a:off x="8082762" y="1261872"/>
            <a:ext cx="3516630" cy="4736306"/>
          </a:xfrm>
          <a:prstGeom prst="rect">
            <a:avLst/>
          </a:prstGeom>
          <a:ln w="9525">
            <a:solidFill>
              <a:srgbClr val="C2C2C1"/>
            </a:solidFill>
          </a:ln>
        </p:spPr>
      </p:pic>
      <p:sp>
        <p:nvSpPr>
          <p:cNvPr id="13" name="TextBox 12"/>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7 of 8)</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(8 of 8)</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Menu</a:t>
            </a:r>
          </a:p>
        </p:txBody>
      </p:sp>
      <p:pic>
        <p:nvPicPr>
          <p:cNvPr id="10" name="Picture 9" descr="slice-00107.png"/>
          <p:cNvPicPr>
            <a:picLocks noChangeAspect="1"/>
          </p:cNvPicPr>
          <p:nvPr/>
        </p:nvPicPr>
        <p:blipFill>
          <a:blip r:embed="rId3"/>
          <a:stretch>
            <a:fillRect/>
          </a:stretch>
        </p:blipFill>
        <p:spPr>
          <a:xfrm>
            <a:off x="2464917" y="1261872"/>
            <a:ext cx="3516630" cy="4736306"/>
          </a:xfrm>
          <a:prstGeom prst="rect">
            <a:avLst/>
          </a:prstGeom>
          <a:ln w="9525">
            <a:solidFill>
              <a:srgbClr val="C2C2C1"/>
            </a:solidFill>
          </a:ln>
        </p:spPr>
      </p:pic>
      <p:pic>
        <p:nvPicPr>
          <p:cNvPr id="11" name="Picture 10" descr="slice-00108.png"/>
          <p:cNvPicPr>
            <a:picLocks noChangeAspect="1"/>
          </p:cNvPicPr>
          <p:nvPr/>
        </p:nvPicPr>
        <p:blipFill>
          <a:blip r:embed="rId4"/>
          <a:stretch>
            <a:fillRect/>
          </a:stretch>
        </p:blipFill>
        <p:spPr>
          <a:xfrm>
            <a:off x="6210147" y="1261872"/>
            <a:ext cx="3516630" cy="24703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NAV-PM-11 Every group of the menu open (part 8 of 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Auditor: menu entries of Product Maintenance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graphicFrame>
        <p:nvGraphicFramePr>
          <p:cNvPr id="9" name="Table 8"/>
          <p:cNvGraphicFramePr>
            <a:graphicFrameLocks noGrp="1"/>
          </p:cNvGraphicFramePr>
          <p:nvPr/>
        </p:nvGraphicFramePr>
        <p:xfrm>
          <a:off x="548640" y="1325880"/>
          <a:ext cx="11094414" cy="2849880"/>
        </p:xfrm>
        <a:graphic>
          <a:graphicData uri="http://schemas.openxmlformats.org/drawingml/2006/table">
            <a:tbl>
              <a:tblPr firstRow="1" bandRow="1">
                <a:tableStyleId>{5C22544A-7EE6-4342-B048-85BDC9FD1C3A}</a:tableStyleId>
              </a:tblPr>
              <a:tblGrid>
                <a:gridCol w="2560249"/>
                <a:gridCol w="3413666"/>
                <a:gridCol w="5120499"/>
              </a:tblGrid>
              <a:tr h="259080">
                <a:tc>
                  <a:txBody>
                    <a:bodyPr/>
                    <a:lstStyle/>
                    <a:p>
                      <a:r>
                        <a:rPr sz="1100" b="1">
                          <a:solidFill>
                            <a:srgbClr val="FFFFFF"/>
                          </a:solidFill>
                          <a:latin typeface="Arial"/>
                        </a:rPr>
                        <a:t>Group</a:t>
                      </a:r>
                    </a:p>
                  </a:txBody>
                  <a:tcPr marL="54864" marR="54864" marT="27432" marB="27432">
                    <a:solidFill>
                      <a:srgbClr val="004EA8"/>
                    </a:solidFill>
                  </a:tcPr>
                </a:tc>
                <a:tc>
                  <a:txBody>
                    <a:bodyPr/>
                    <a:lstStyle/>
                    <a:p>
                      <a:r>
                        <a:rPr sz="1100" b="1">
                          <a:solidFill>
                            <a:srgbClr val="FFFFFF"/>
                          </a:solidFill>
                          <a:latin typeface="Arial"/>
                        </a:rPr>
                        <a:t>Section</a:t>
                      </a:r>
                    </a:p>
                  </a:txBody>
                  <a:tcPr marL="54864" marR="54864" marT="27432" marB="27432">
                    <a:solidFill>
                      <a:srgbClr val="004EA8"/>
                    </a:solidFill>
                  </a:tcPr>
                </a:tc>
                <a:tc>
                  <a:txBody>
                    <a:bodyPr/>
                    <a:lstStyle/>
                    <a:p>
                      <a:r>
                        <a:rPr sz="1100" b="1">
                          <a:solidFill>
                            <a:srgbClr val="FFFFFF"/>
                          </a:solidFill>
                          <a:latin typeface="Arial"/>
                        </a:rPr>
                        <a:t>Screen</a:t>
                      </a:r>
                    </a:p>
                  </a:txBody>
                  <a:tcPr marL="54864" marR="54864" marT="27432" marB="27432">
                    <a:solidFill>
                      <a:srgbClr val="004EA8"/>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Product Maintenance Home</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Package Requests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Package Expiry</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Products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Coverages &amp; Clauses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Incentive Criteria</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Insurers</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Rates &amp; Taxes</a:t>
                      </a:r>
                    </a:p>
                  </a:txBody>
                  <a:tcPr marL="54864" marR="54864" marT="27432" marB="27432">
                    <a:solidFill>
                      <a:srgbClr val="E5F5FF"/>
                    </a:solidFill>
                  </a:tcPr>
                </a:tc>
              </a:tr>
              <a:tr h="259080">
                <a:tc>
                  <a:txBody>
                    <a:bodyPr/>
                    <a:lstStyle/>
                    <a:p>
                      <a:r>
                        <a:rPr sz="1100" b="0">
                          <a:solidFill>
                            <a:srgbClr val="4B4B4B"/>
                          </a:solidFill>
                          <a:latin typeface="Arial"/>
                        </a:rPr>
                        <a:t>Client &amp; Policy</a:t>
                      </a:r>
                    </a:p>
                  </a:txBody>
                  <a:tcPr marL="54864" marR="54864" marT="27432" marB="27432">
                    <a:solidFill>
                      <a:srgbClr val="FFFFFF"/>
                    </a:solidFill>
                  </a:tcPr>
                </a:tc>
                <a:tc>
                  <a:txBody>
                    <a:bodyPr/>
                    <a:lstStyle/>
                    <a:p>
                      <a:r>
                        <a:rPr sz="1100" b="0">
                          <a:solidFill>
                            <a:srgbClr val="4B4B4B"/>
                          </a:solidFill>
                          <a:latin typeface="Arial"/>
                        </a:rPr>
                        <a:t>Product Maintenance</a:t>
                      </a:r>
                    </a:p>
                  </a:txBody>
                  <a:tcPr marL="54864" marR="54864" marT="27432" marB="27432">
                    <a:solidFill>
                      <a:srgbClr val="FFFFFF"/>
                    </a:solidFill>
                  </a:tcPr>
                </a:tc>
                <a:tc>
                  <a:txBody>
                    <a:bodyPr/>
                    <a:lstStyle/>
                    <a:p>
                      <a:r>
                        <a:rPr sz="1100" b="0">
                          <a:solidFill>
                            <a:srgbClr val="4B4B4B"/>
                          </a:solidFill>
                          <a:latin typeface="Arial"/>
                        </a:rPr>
                        <a:t>Sales Organisation</a:t>
                      </a:r>
                    </a:p>
                  </a:txBody>
                  <a:tcPr marL="54864" marR="54864" marT="27432" marB="27432">
                    <a:solidFill>
                      <a:srgbClr val="FFFFFF"/>
                    </a:solidFill>
                  </a:tcPr>
                </a:tc>
              </a:tr>
              <a:tr h="259080">
                <a:tc>
                  <a:txBody>
                    <a:bodyPr/>
                    <a:lstStyle/>
                    <a:p>
                      <a:r>
                        <a:rPr sz="1100" b="0">
                          <a:solidFill>
                            <a:srgbClr val="4B4B4B"/>
                          </a:solidFill>
                          <a:latin typeface="Arial"/>
                        </a:rPr>
                        <a:t>Client &amp; Policy</a:t>
                      </a:r>
                    </a:p>
                  </a:txBody>
                  <a:tcPr marL="54864" marR="54864" marT="27432" marB="27432">
                    <a:solidFill>
                      <a:srgbClr val="E5F5FF"/>
                    </a:solidFill>
                  </a:tcPr>
                </a:tc>
                <a:tc>
                  <a:txBody>
                    <a:bodyPr/>
                    <a:lstStyle/>
                    <a:p>
                      <a:r>
                        <a:rPr sz="1100" b="0">
                          <a:solidFill>
                            <a:srgbClr val="4B4B4B"/>
                          </a:solidFill>
                          <a:latin typeface="Arial"/>
                        </a:rPr>
                        <a:t>Product Maintenance</a:t>
                      </a:r>
                    </a:p>
                  </a:txBody>
                  <a:tcPr marL="54864" marR="54864" marT="27432" marB="27432">
                    <a:solidFill>
                      <a:srgbClr val="E5F5FF"/>
                    </a:solidFill>
                  </a:tcPr>
                </a:tc>
                <a:tc>
                  <a:txBody>
                    <a:bodyPr/>
                    <a:lstStyle/>
                    <a:p>
                      <a:r>
                        <a:rPr sz="1100" b="0">
                          <a:solidFill>
                            <a:srgbClr val="4B4B4B"/>
                          </a:solidFill>
                          <a:latin typeface="Arial"/>
                        </a:rPr>
                        <a:t>Premium Calculator</a:t>
                      </a:r>
                    </a:p>
                  </a:txBody>
                  <a:tcPr marL="54864" marR="54864" marT="27432" marB="27432">
                    <a:solidFill>
                      <a:srgbClr val="E5F5FF"/>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Personas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Who they are, what they do in this BRD, their screens and flows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Account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account officer of Retail, Corporate or Combank / Corbank Marketing who serves the clients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and submits package requests; views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3, 21, 22, 24; WT-B steps 1, 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TL / TH / UH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team lead, team head or unit head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package requests; reviews terms of client-specific packages; views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NAV-PM-02</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4; WT-B steps 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Officer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92</a:t>
            </a:r>
          </a:p>
        </p:txBody>
      </p:sp>
      <p:graphicFrame>
        <p:nvGraphicFramePr>
          <p:cNvPr id="9" name="Table 8"/>
          <p:cNvGraphicFramePr>
            <a:graphicFrameLocks noGrp="1"/>
          </p:cNvGraphicFramePr>
          <p:nvPr/>
        </p:nvGraphicFramePr>
        <p:xfrm>
          <a:off x="548640" y="1307592"/>
          <a:ext cx="5410047" cy="153924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officer of the Technical Support Unit who negotiates with the insurers</a:t>
                      </a:r>
                    </a:p>
                  </a:txBody>
                  <a:tcPr marL="54864" marR="54864" marT="27432" marB="27432">
                    <a:solidFill>
                      <a:srgbClr val="FFFFFF"/>
                    </a:solidFill>
                  </a:tcPr>
                </a:tc>
              </a:tr>
              <a:tr h="59436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Creates requests; prepares quotation slips; keys in insurer responses; prepares requirements and advisories; monitors expiry</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NAV-PM-03</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7, 9, 10, 11, 13, 20; WT-B steps 6, 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SCR-PM-03 New Package Request and Edit Package Request</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Team Lead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lead of a TSU team</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Reviews and recommends requests; approves quotation slips (or a co-officer); negotiates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NAV-PM-04</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5, 8; WT-B steps 4, 5</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(14)</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SCR-PM-09 TSU Workbench</a:t>
            </a:r>
          </a:p>
          <a:p>
            <a:pPr>
              <a:spcAft>
                <a:spcPts val="600"/>
              </a:spcAft>
            </a:pPr>
            <a:r>
              <a:rPr sz="1100">
                <a:solidFill>
                  <a:srgbClr val="004EA8"/>
                </a:solidFill>
                <a:latin typeface="Arial"/>
              </a:rPr>
              <a:t>•  </a:t>
            </a:r>
            <a:r>
              <a:rPr sz="1100">
                <a:solidFill>
                  <a:srgbClr val="4B4B4B"/>
                </a:solidFill>
                <a:latin typeface="Arial"/>
              </a:rPr>
              <a:t>SCR-PM-10 Package Expiry</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TSU Head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team head or head of the Technical Support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requests; releases terms to Marketing; validates package versions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NAV-PM-05</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6, 12, 17; WT-B steps 11</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(15)</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SCR-PM-09 TSU Workbench</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Marketing Business Services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Marketing Business Services who keeps the product catalogue</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Sets up package versions; maintains incentive criteria and product masters; views archived packages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NAV-PM-06</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 15, 16; WT-B steps 9, 10, 12</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(17)</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ManCom member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member of the management committee</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Signs off package requirements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NAV-PM-07</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14; WT-B steps 7</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(12)</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1100">
                <a:solidFill>
                  <a:srgbClr val="004EA8"/>
                </a:solidFill>
                <a:latin typeface="Arial"/>
              </a:rPr>
              <a:t>•  </a:t>
            </a:r>
            <a:r>
              <a:rPr sz="1100">
                <a:solidFill>
                  <a:srgbClr val="4B4B4B"/>
                </a:solidFill>
                <a:latin typeface="Arial"/>
              </a:rPr>
              <a:t>SCR-PM-01 Product Maintenance Home</a:t>
            </a:r>
          </a:p>
          <a:p>
            <a:pPr>
              <a:spcAft>
                <a:spcPts val="600"/>
              </a:spcAft>
            </a:pPr>
            <a:r>
              <a:rPr sz="1100">
                <a:solidFill>
                  <a:srgbClr val="004EA8"/>
                </a:solidFill>
                <a:latin typeface="Arial"/>
              </a:rPr>
              <a:t>•  </a:t>
            </a:r>
            <a:r>
              <a:rPr sz="1100">
                <a:solidFill>
                  <a:srgbClr val="4B4B4B"/>
                </a:solidFill>
                <a:latin typeface="Arial"/>
              </a:rPr>
              <a:t>SCR-PM-02 Package Requests</a:t>
            </a:r>
          </a:p>
          <a:p>
            <a:pPr>
              <a:spcAft>
                <a:spcPts val="600"/>
              </a:spcAft>
            </a:pPr>
            <a:r>
              <a:rPr sz="1100">
                <a:solidFill>
                  <a:srgbClr val="004EA8"/>
                </a:solidFill>
                <a:latin typeface="Arial"/>
              </a:rPr>
              <a:t>•  </a:t>
            </a:r>
            <a:r>
              <a:rPr sz="1100">
                <a:solidFill>
                  <a:srgbClr val="4B4B4B"/>
                </a:solidFill>
                <a:latin typeface="Arial"/>
              </a:rPr>
              <a:t>SCR-PM-04 Package Request record</a:t>
            </a:r>
          </a:p>
          <a:p>
            <a:pPr>
              <a:spcAft>
                <a:spcPts val="600"/>
              </a:spcAft>
            </a:pPr>
            <a:r>
              <a:rPr sz="1100">
                <a:solidFill>
                  <a:srgbClr val="004EA8"/>
                </a:solidFill>
                <a:latin typeface="Arial"/>
              </a:rPr>
              <a:t>•  </a:t>
            </a:r>
            <a:r>
              <a:rPr sz="1100">
                <a:solidFill>
                  <a:srgbClr val="4B4B4B"/>
                </a:solidFill>
                <a:latin typeface="Arial"/>
              </a:rPr>
              <a:t>SCR-PM-05 Package Request record: Negotiation tab</a:t>
            </a:r>
          </a:p>
          <a:p>
            <a:pPr>
              <a:spcAft>
                <a:spcPts val="600"/>
              </a:spcAft>
            </a:pPr>
            <a:r>
              <a:rPr sz="1100">
                <a:solidFill>
                  <a:srgbClr val="004EA8"/>
                </a:solidFill>
                <a:latin typeface="Arial"/>
              </a:rPr>
              <a:t>•  </a:t>
            </a:r>
            <a:r>
              <a:rPr sz="1100">
                <a:solidFill>
                  <a:srgbClr val="4B4B4B"/>
                </a:solidFill>
                <a:latin typeface="Arial"/>
              </a:rPr>
              <a:t>SCR-PM-06 Package Request record: Comparative tab</a:t>
            </a:r>
          </a:p>
          <a:p>
            <a:pPr>
              <a:spcAft>
                <a:spcPts val="600"/>
              </a:spcAft>
            </a:pPr>
            <a:r>
              <a:rPr sz="1100">
                <a:solidFill>
                  <a:srgbClr val="004EA8"/>
                </a:solidFill>
                <a:latin typeface="Arial"/>
              </a:rPr>
              <a:t>•  </a:t>
            </a:r>
            <a:r>
              <a:rPr sz="1100">
                <a:solidFill>
                  <a:srgbClr val="4B4B4B"/>
                </a:solidFill>
                <a:latin typeface="Arial"/>
              </a:rPr>
              <a:t>SCR-PM-07 Package Request record: Requirements &amp; Sign-off tab</a:t>
            </a:r>
          </a:p>
          <a:p>
            <a:pPr>
              <a:spcAft>
                <a:spcPts val="600"/>
              </a:spcAft>
            </a:pPr>
            <a:r>
              <a:rPr sz="1100">
                <a:solidFill>
                  <a:srgbClr val="004EA8"/>
                </a:solidFill>
                <a:latin typeface="Arial"/>
              </a:rPr>
              <a:t>•  </a:t>
            </a:r>
            <a:r>
              <a:rPr sz="1100">
                <a:solidFill>
                  <a:srgbClr val="4B4B4B"/>
                </a:solidFill>
                <a:latin typeface="Arial"/>
              </a:rPr>
              <a:t>SCR-PM-08 Package Request record: Set-up and Advisories tabs</a:t>
            </a:r>
          </a:p>
          <a:p>
            <a:pPr>
              <a:spcAft>
                <a:spcPts val="600"/>
              </a:spcAft>
            </a:pPr>
            <a:r>
              <a:rPr sz="1100">
                <a:solidFill>
                  <a:srgbClr val="004EA8"/>
                </a:solidFill>
                <a:latin typeface="Arial"/>
              </a:rPr>
              <a:t>•  </a:t>
            </a:r>
            <a:r>
              <a:rPr sz="1100">
                <a:solidFill>
                  <a:srgbClr val="4B4B4B"/>
                </a:solidFill>
                <a:latin typeface="Arial"/>
              </a:rPr>
              <a:t>SCR-PM-11 Products</a:t>
            </a:r>
          </a:p>
          <a:p>
            <a:pPr>
              <a:spcAft>
                <a:spcPts val="600"/>
              </a:spcAft>
            </a:pPr>
            <a:r>
              <a:rPr sz="1100">
                <a:solidFill>
                  <a:srgbClr val="004EA8"/>
                </a:solidFill>
                <a:latin typeface="Arial"/>
              </a:rPr>
              <a:t>•  </a:t>
            </a:r>
            <a:r>
              <a:rPr sz="1100">
                <a:solidFill>
                  <a:srgbClr val="4B4B4B"/>
                </a:solidFill>
                <a:latin typeface="Arial"/>
              </a:rPr>
              <a:t>SCR-PM-12 Product record</a:t>
            </a:r>
          </a:p>
          <a:p>
            <a:pPr>
              <a:spcAft>
                <a:spcPts val="600"/>
              </a:spcAft>
            </a:pPr>
            <a:r>
              <a:rPr sz="1100">
                <a:solidFill>
                  <a:srgbClr val="004EA8"/>
                </a:solidFill>
                <a:latin typeface="Arial"/>
              </a:rPr>
              <a:t>•  </a:t>
            </a:r>
            <a:r>
              <a:rPr sz="1100">
                <a:solidFill>
                  <a:srgbClr val="4B4B4B"/>
                </a:solidFill>
                <a:latin typeface="Arial"/>
              </a:rPr>
              <a:t>SCR-PM-13 Package Version</a:t>
            </a:r>
          </a:p>
          <a:p>
            <a:pPr>
              <a:spcAft>
                <a:spcPts val="600"/>
              </a:spcAft>
            </a:pPr>
            <a:r>
              <a:rPr sz="1100">
                <a:solidFill>
                  <a:srgbClr val="004EA8"/>
                </a:solidFill>
                <a:latin typeface="Arial"/>
              </a:rPr>
              <a:t>•  </a:t>
            </a:r>
            <a:r>
              <a:rPr sz="1100">
                <a:solidFill>
                  <a:srgbClr val="4B4B4B"/>
                </a:solidFill>
                <a:latin typeface="Arial"/>
              </a:rPr>
              <a:t>SCR-PM-15 Coverages &amp; Clauses</a:t>
            </a:r>
          </a:p>
          <a:p>
            <a:pPr>
              <a:spcAft>
                <a:spcPts val="600"/>
              </a:spcAft>
            </a:pPr>
            <a:r>
              <a:rPr sz="1100">
                <a:solidFill>
                  <a:srgbClr val="004EA8"/>
                </a:solidFill>
                <a:latin typeface="Arial"/>
              </a:rPr>
              <a:t>•  </a:t>
            </a:r>
            <a:r>
              <a:rPr sz="1100">
                <a:solidFill>
                  <a:srgbClr val="4B4B4B"/>
                </a:solidFill>
                <a:latin typeface="Arial"/>
              </a:rPr>
              <a:t>SCR-PM-16 Incentive Criteria</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Business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graphicFrame>
        <p:nvGraphicFramePr>
          <p:cNvPr id="9" name="Table 8"/>
          <p:cNvGraphicFramePr>
            <a:graphicFrameLocks noGrp="1"/>
          </p:cNvGraphicFramePr>
          <p:nvPr/>
        </p:nvGraphicFramePr>
        <p:xfrm>
          <a:off x="548640" y="1307592"/>
          <a:ext cx="5410047" cy="1371600"/>
        </p:xfrm>
        <a:graphic>
          <a:graphicData uri="http://schemas.openxmlformats.org/drawingml/2006/table">
            <a:tbl>
              <a:tblPr bandRow="1">
                <a:tableStyleId>{5C22544A-7EE6-4342-B048-85BDC9FD1C3A}</a:tableStyleId>
              </a:tblPr>
              <a:tblGrid>
                <a:gridCol w="1737360"/>
                <a:gridCol w="3672687"/>
              </a:tblGrid>
              <a:tr h="42672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business administrator of the catalogue, outside the maker's unit</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Validates package versions; authorises product masters, incentive criteria and rate exceptions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NAV-PM-08</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2, 18</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SCR-PM-14 Validation Queue</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New Business Approver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 New Business approver of Marketing</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Approves or rejects the rate exceptions of the quotations; authorises commission rates as the second user</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NAV-PM-09</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WT-A steps 19, 23</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(18)</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System Administrator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graphicFrame>
        <p:nvGraphicFramePr>
          <p:cNvPr id="9" name="Table 8"/>
          <p:cNvGraphicFramePr>
            <a:graphicFrameLocks noGrp="1"/>
          </p:cNvGraphicFramePr>
          <p:nvPr/>
        </p:nvGraphicFramePr>
        <p:xfrm>
          <a:off x="548640" y="1307592"/>
          <a:ext cx="5410047" cy="120396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The system administrator of BIBS (BDOI IT operations)</a:t>
                      </a:r>
                    </a:p>
                  </a:txBody>
                  <a:tcPr marL="54864" marR="54864" marT="27432" marB="27432">
                    <a:solidFill>
                      <a:srgbClr val="FFFFFF"/>
                    </a:solidFill>
                  </a:tcPr>
                </a:tc>
              </a:tr>
              <a:tr h="42672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Maintains parameters, lists of values and roles (section 9); read access to Product Maintenance</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NAV-PM-10</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(16)</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Persona: Auditor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100</a:t>
            </a:r>
          </a:p>
        </p:txBody>
      </p:sp>
      <p:graphicFrame>
        <p:nvGraphicFramePr>
          <p:cNvPr id="9" name="Table 8"/>
          <p:cNvGraphicFramePr>
            <a:graphicFrameLocks noGrp="1"/>
          </p:cNvGraphicFramePr>
          <p:nvPr/>
        </p:nvGraphicFramePr>
        <p:xfrm>
          <a:off x="548640" y="1307592"/>
          <a:ext cx="5410047" cy="1036320"/>
        </p:xfrm>
        <a:graphic>
          <a:graphicData uri="http://schemas.openxmlformats.org/drawingml/2006/table">
            <a:tbl>
              <a:tblPr bandRow="1">
                <a:tableStyleId>{5C22544A-7EE6-4342-B048-85BDC9FD1C3A}</a:tableStyleId>
              </a:tblPr>
              <a:tblGrid>
                <a:gridCol w="1737360"/>
                <a:gridCol w="3672687"/>
              </a:tblGrid>
              <a:tr h="259080">
                <a:tc>
                  <a:txBody>
                    <a:bodyPr/>
                    <a:lstStyle/>
                    <a:p>
                      <a:r>
                        <a:rPr sz="1100" b="1">
                          <a:solidFill>
                            <a:srgbClr val="004EA8"/>
                          </a:solidFill>
                          <a:latin typeface="Arial"/>
                        </a:rPr>
                        <a:t>Who</a:t>
                      </a:r>
                    </a:p>
                  </a:txBody>
                  <a:tcPr marL="54864" marR="54864" marT="27432" marB="27432">
                    <a:solidFill>
                      <a:srgbClr val="E5F5FF"/>
                    </a:solidFill>
                  </a:tcPr>
                </a:tc>
                <a:tc>
                  <a:txBody>
                    <a:bodyPr/>
                    <a:lstStyle/>
                    <a:p>
                      <a:r>
                        <a:rPr sz="1100" b="0">
                          <a:solidFill>
                            <a:srgbClr val="4B4B4B"/>
                          </a:solidFill>
                          <a:latin typeface="Arial"/>
                        </a:rPr>
                        <a:t>An internal or external auditor with read access</a:t>
                      </a:r>
                    </a:p>
                  </a:txBody>
                  <a:tcPr marL="54864" marR="54864" marT="27432" marB="27432">
                    <a:solidFill>
                      <a:srgbClr val="FFFFFF"/>
                    </a:solidFill>
                  </a:tcPr>
                </a:tc>
              </a:tr>
              <a:tr h="259080">
                <a:tc>
                  <a:txBody>
                    <a:bodyPr/>
                    <a:lstStyle/>
                    <a:p>
                      <a:r>
                        <a:rPr sz="1100" b="1">
                          <a:solidFill>
                            <a:srgbClr val="004EA8"/>
                          </a:solidFill>
                          <a:latin typeface="Arial"/>
                        </a:rPr>
                        <a:t>What they do here</a:t>
                      </a:r>
                    </a:p>
                  </a:txBody>
                  <a:tcPr marL="54864" marR="54864" marT="27432" marB="27432">
                    <a:solidFill>
                      <a:srgbClr val="E5F5FF"/>
                    </a:solidFill>
                  </a:tcPr>
                </a:tc>
                <a:tc>
                  <a:txBody>
                    <a:bodyPr/>
                    <a:lstStyle/>
                    <a:p>
                      <a:r>
                        <a:rPr sz="1100" b="0">
                          <a:solidFill>
                            <a:srgbClr val="4B4B4B"/>
                          </a:solidFill>
                          <a:latin typeface="Arial"/>
                        </a:rPr>
                        <a:t>Read access to packages, archive and reports</a:t>
                      </a:r>
                    </a:p>
                  </a:txBody>
                  <a:tcPr marL="54864" marR="54864" marT="27432" marB="27432">
                    <a:solidFill>
                      <a:srgbClr val="FFFFFF"/>
                    </a:solidFill>
                  </a:tcPr>
                </a:tc>
              </a:tr>
              <a:tr h="259080">
                <a:tc>
                  <a:txBody>
                    <a:bodyPr/>
                    <a:lstStyle/>
                    <a:p>
                      <a:r>
                        <a:rPr sz="1100" b="1">
                          <a:solidFill>
                            <a:srgbClr val="004EA8"/>
                          </a:solidFill>
                          <a:latin typeface="Arial"/>
                        </a:rPr>
                        <a:t>Landing page and menu</a:t>
                      </a:r>
                    </a:p>
                  </a:txBody>
                  <a:tcPr marL="54864" marR="54864" marT="27432" marB="27432">
                    <a:solidFill>
                      <a:srgbClr val="E5F5FF"/>
                    </a:solidFill>
                  </a:tcPr>
                </a:tc>
                <a:tc>
                  <a:txBody>
                    <a:bodyPr/>
                    <a:lstStyle/>
                    <a:p>
                      <a:r>
                        <a:rPr sz="1100" b="0">
                          <a:solidFill>
                            <a:srgbClr val="4B4B4B"/>
                          </a:solidFill>
                          <a:latin typeface="Arial"/>
                        </a:rPr>
                        <a:t>NAV-PM-11</a:t>
                      </a:r>
                    </a:p>
                  </a:txBody>
                  <a:tcPr marL="54864" marR="54864" marT="27432" marB="27432">
                    <a:solidFill>
                      <a:srgbClr val="FFFFFF"/>
                    </a:solidFill>
                  </a:tcPr>
                </a:tc>
              </a:tr>
              <a:tr h="259080">
                <a:tc>
                  <a:txBody>
                    <a:bodyPr/>
                    <a:lstStyle/>
                    <a:p>
                      <a:r>
                        <a:rPr sz="1100" b="1">
                          <a:solidFill>
                            <a:srgbClr val="004EA8"/>
                          </a:solidFill>
                          <a:latin typeface="Arial"/>
                        </a:rPr>
                        <a:t>Flows</a:t>
                      </a:r>
                    </a:p>
                  </a:txBody>
                  <a:tcPr marL="54864" marR="54864" marT="27432" marB="27432">
                    <a:solidFill>
                      <a:srgbClr val="E5F5FF"/>
                    </a:solidFill>
                  </a:tcPr>
                </a:tc>
                <a:tc>
                  <a:txBody>
                    <a:bodyPr/>
                    <a:lstStyle/>
                    <a:p>
                      <a:r>
                        <a:rPr sz="1100" b="0">
                          <a:solidFill>
                            <a:srgbClr val="4B4B4B"/>
                          </a:solidFill>
                          <a:latin typeface="Arial"/>
                        </a:rPr>
                        <a:t>No step of the flows of this set</a:t>
                      </a:r>
                    </a:p>
                  </a:txBody>
                  <a:tcPr marL="54864" marR="54864" marT="27432" marB="27432">
                    <a:solidFill>
                      <a:srgbClr val="FFFFFF"/>
                    </a:solidFill>
                  </a:tcPr>
                </a:tc>
              </a:tr>
            </a:tbl>
          </a:graphicData>
        </a:graphic>
      </p:graphicFrame>
      <p:sp>
        <p:nvSpPr>
          <p:cNvPr id="10" name="TextBox 9"/>
          <p:cNvSpPr txBox="1"/>
          <p:nvPr/>
        </p:nvSpPr>
        <p:spPr>
          <a:xfrm>
            <a:off x="6233007" y="1261872"/>
            <a:ext cx="5410047" cy="320040"/>
          </a:xfrm>
          <a:prstGeom prst="rect">
            <a:avLst/>
          </a:prstGeom>
          <a:noFill/>
        </p:spPr>
        <p:txBody>
          <a:bodyPr wrap="square" anchor="t" lIns="45720" rIns="45720">
            <a:spAutoFit/>
          </a:bodyPr>
          <a:lstStyle/>
          <a:p>
            <a:r>
              <a:rPr sz="1300" b="1" i="0">
                <a:solidFill>
                  <a:srgbClr val="004EA8"/>
                </a:solidFill>
                <a:latin typeface="Arial"/>
              </a:rPr>
              <a:t>Screens this persona opens (19)</a:t>
            </a:r>
          </a:p>
        </p:txBody>
      </p:sp>
      <p:sp>
        <p:nvSpPr>
          <p:cNvPr id="11" name="TextBox 10"/>
          <p:cNvSpPr txBox="1"/>
          <p:nvPr/>
        </p:nvSpPr>
        <p:spPr>
          <a:xfrm>
            <a:off x="6233007" y="1627632"/>
            <a:ext cx="5410047" cy="4663440"/>
          </a:xfrm>
          <a:prstGeom prst="rect">
            <a:avLst/>
          </a:prstGeom>
          <a:noFill/>
        </p:spPr>
        <p:txBody>
          <a:bodyPr wrap="square">
            <a:spAutoFit/>
          </a:bodyPr>
          <a:lstStyle/>
          <a:p>
            <a:pPr>
              <a:spcAft>
                <a:spcPts val="600"/>
              </a:spcAft>
            </a:pPr>
            <a:r>
              <a:rPr sz="900">
                <a:solidFill>
                  <a:srgbClr val="004EA8"/>
                </a:solidFill>
                <a:latin typeface="Arial"/>
              </a:rPr>
              <a:t>•  </a:t>
            </a:r>
            <a:r>
              <a:rPr sz="900">
                <a:solidFill>
                  <a:srgbClr val="4B4B4B"/>
                </a:solidFill>
                <a:latin typeface="Arial"/>
              </a:rPr>
              <a:t>SCR-PM-01 Product Maintenance Home</a:t>
            </a:r>
          </a:p>
          <a:p>
            <a:pPr>
              <a:spcAft>
                <a:spcPts val="600"/>
              </a:spcAft>
            </a:pPr>
            <a:r>
              <a:rPr sz="900">
                <a:solidFill>
                  <a:srgbClr val="004EA8"/>
                </a:solidFill>
                <a:latin typeface="Arial"/>
              </a:rPr>
              <a:t>•  </a:t>
            </a:r>
            <a:r>
              <a:rPr sz="900">
                <a:solidFill>
                  <a:srgbClr val="4B4B4B"/>
                </a:solidFill>
                <a:latin typeface="Arial"/>
              </a:rPr>
              <a:t>SCR-PM-02 Package Requests</a:t>
            </a:r>
          </a:p>
          <a:p>
            <a:pPr>
              <a:spcAft>
                <a:spcPts val="600"/>
              </a:spcAft>
            </a:pPr>
            <a:r>
              <a:rPr sz="900">
                <a:solidFill>
                  <a:srgbClr val="004EA8"/>
                </a:solidFill>
                <a:latin typeface="Arial"/>
              </a:rPr>
              <a:t>•  </a:t>
            </a:r>
            <a:r>
              <a:rPr sz="900">
                <a:solidFill>
                  <a:srgbClr val="4B4B4B"/>
                </a:solidFill>
                <a:latin typeface="Arial"/>
              </a:rPr>
              <a:t>SCR-PM-04 Package Request record</a:t>
            </a:r>
          </a:p>
          <a:p>
            <a:pPr>
              <a:spcAft>
                <a:spcPts val="600"/>
              </a:spcAft>
            </a:pPr>
            <a:r>
              <a:rPr sz="900">
                <a:solidFill>
                  <a:srgbClr val="004EA8"/>
                </a:solidFill>
                <a:latin typeface="Arial"/>
              </a:rPr>
              <a:t>•  </a:t>
            </a:r>
            <a:r>
              <a:rPr sz="900">
                <a:solidFill>
                  <a:srgbClr val="4B4B4B"/>
                </a:solidFill>
                <a:latin typeface="Arial"/>
              </a:rPr>
              <a:t>SCR-PM-05 Package Request record: Negotiation tab</a:t>
            </a:r>
          </a:p>
          <a:p>
            <a:pPr>
              <a:spcAft>
                <a:spcPts val="600"/>
              </a:spcAft>
            </a:pPr>
            <a:r>
              <a:rPr sz="900">
                <a:solidFill>
                  <a:srgbClr val="004EA8"/>
                </a:solidFill>
                <a:latin typeface="Arial"/>
              </a:rPr>
              <a:t>•  </a:t>
            </a:r>
            <a:r>
              <a:rPr sz="900">
                <a:solidFill>
                  <a:srgbClr val="4B4B4B"/>
                </a:solidFill>
                <a:latin typeface="Arial"/>
              </a:rPr>
              <a:t>SCR-PM-06 Package Request record: Comparative tab</a:t>
            </a:r>
          </a:p>
          <a:p>
            <a:pPr>
              <a:spcAft>
                <a:spcPts val="600"/>
              </a:spcAft>
            </a:pPr>
            <a:r>
              <a:rPr sz="900">
                <a:solidFill>
                  <a:srgbClr val="004EA8"/>
                </a:solidFill>
                <a:latin typeface="Arial"/>
              </a:rPr>
              <a:t>•  </a:t>
            </a:r>
            <a:r>
              <a:rPr sz="900">
                <a:solidFill>
                  <a:srgbClr val="4B4B4B"/>
                </a:solidFill>
                <a:latin typeface="Arial"/>
              </a:rPr>
              <a:t>SCR-PM-07 Package Request record: Requirements &amp; Sign-off tab</a:t>
            </a:r>
          </a:p>
          <a:p>
            <a:pPr>
              <a:spcAft>
                <a:spcPts val="600"/>
              </a:spcAft>
            </a:pPr>
            <a:r>
              <a:rPr sz="900">
                <a:solidFill>
                  <a:srgbClr val="004EA8"/>
                </a:solidFill>
                <a:latin typeface="Arial"/>
              </a:rPr>
              <a:t>•  </a:t>
            </a:r>
            <a:r>
              <a:rPr sz="900">
                <a:solidFill>
                  <a:srgbClr val="4B4B4B"/>
                </a:solidFill>
                <a:latin typeface="Arial"/>
              </a:rPr>
              <a:t>SCR-PM-08 Package Request record: Set-up and Advisories tabs</a:t>
            </a:r>
          </a:p>
          <a:p>
            <a:pPr>
              <a:spcAft>
                <a:spcPts val="600"/>
              </a:spcAft>
            </a:pPr>
            <a:r>
              <a:rPr sz="900">
                <a:solidFill>
                  <a:srgbClr val="004EA8"/>
                </a:solidFill>
                <a:latin typeface="Arial"/>
              </a:rPr>
              <a:t>•  </a:t>
            </a:r>
            <a:r>
              <a:rPr sz="900">
                <a:solidFill>
                  <a:srgbClr val="4B4B4B"/>
                </a:solidFill>
                <a:latin typeface="Arial"/>
              </a:rPr>
              <a:t>SCR-PM-10 Package Expiry</a:t>
            </a:r>
          </a:p>
          <a:p>
            <a:pPr>
              <a:spcAft>
                <a:spcPts val="600"/>
              </a:spcAft>
            </a:pPr>
            <a:r>
              <a:rPr sz="900">
                <a:solidFill>
                  <a:srgbClr val="004EA8"/>
                </a:solidFill>
                <a:latin typeface="Arial"/>
              </a:rPr>
              <a:t>•  </a:t>
            </a:r>
            <a:r>
              <a:rPr sz="900">
                <a:solidFill>
                  <a:srgbClr val="4B4B4B"/>
                </a:solidFill>
                <a:latin typeface="Arial"/>
              </a:rPr>
              <a:t>SCR-PM-11 Products</a:t>
            </a:r>
          </a:p>
          <a:p>
            <a:pPr>
              <a:spcAft>
                <a:spcPts val="600"/>
              </a:spcAft>
            </a:pPr>
            <a:r>
              <a:rPr sz="900">
                <a:solidFill>
                  <a:srgbClr val="004EA8"/>
                </a:solidFill>
                <a:latin typeface="Arial"/>
              </a:rPr>
              <a:t>•  </a:t>
            </a:r>
            <a:r>
              <a:rPr sz="900">
                <a:solidFill>
                  <a:srgbClr val="4B4B4B"/>
                </a:solidFill>
                <a:latin typeface="Arial"/>
              </a:rPr>
              <a:t>SCR-PM-12 Product record</a:t>
            </a:r>
          </a:p>
          <a:p>
            <a:pPr>
              <a:spcAft>
                <a:spcPts val="600"/>
              </a:spcAft>
            </a:pPr>
            <a:r>
              <a:rPr sz="900">
                <a:solidFill>
                  <a:srgbClr val="004EA8"/>
                </a:solidFill>
                <a:latin typeface="Arial"/>
              </a:rPr>
              <a:t>•  </a:t>
            </a:r>
            <a:r>
              <a:rPr sz="900">
                <a:solidFill>
                  <a:srgbClr val="4B4B4B"/>
                </a:solidFill>
                <a:latin typeface="Arial"/>
              </a:rPr>
              <a:t>SCR-PM-13 Package Version</a:t>
            </a:r>
          </a:p>
          <a:p>
            <a:pPr>
              <a:spcAft>
                <a:spcPts val="600"/>
              </a:spcAft>
            </a:pPr>
            <a:r>
              <a:rPr sz="900">
                <a:solidFill>
                  <a:srgbClr val="004EA8"/>
                </a:solidFill>
                <a:latin typeface="Arial"/>
              </a:rPr>
              <a:t>•  </a:t>
            </a:r>
            <a:r>
              <a:rPr sz="900">
                <a:solidFill>
                  <a:srgbClr val="4B4B4B"/>
                </a:solidFill>
                <a:latin typeface="Arial"/>
              </a:rPr>
              <a:t>SCR-PM-15 Coverages &amp; Clauses</a:t>
            </a:r>
          </a:p>
          <a:p>
            <a:pPr>
              <a:spcAft>
                <a:spcPts val="600"/>
              </a:spcAft>
            </a:pPr>
            <a:r>
              <a:rPr sz="900">
                <a:solidFill>
                  <a:srgbClr val="004EA8"/>
                </a:solidFill>
                <a:latin typeface="Arial"/>
              </a:rPr>
              <a:t>•  </a:t>
            </a:r>
            <a:r>
              <a:rPr sz="900">
                <a:solidFill>
                  <a:srgbClr val="4B4B4B"/>
                </a:solidFill>
                <a:latin typeface="Arial"/>
              </a:rPr>
              <a:t>SCR-PM-16 Incentive Criteria</a:t>
            </a:r>
          </a:p>
          <a:p>
            <a:pPr>
              <a:spcAft>
                <a:spcPts val="600"/>
              </a:spcAft>
            </a:pPr>
            <a:r>
              <a:rPr sz="900">
                <a:solidFill>
                  <a:srgbClr val="004EA8"/>
                </a:solidFill>
                <a:latin typeface="Arial"/>
              </a:rPr>
              <a:t>•  </a:t>
            </a:r>
            <a:r>
              <a:rPr sz="900">
                <a:solidFill>
                  <a:srgbClr val="4B4B4B"/>
                </a:solidFill>
                <a:latin typeface="Arial"/>
              </a:rPr>
              <a:t>SCR-PM-17 Insurers</a:t>
            </a:r>
          </a:p>
          <a:p>
            <a:pPr>
              <a:spcAft>
                <a:spcPts val="600"/>
              </a:spcAft>
            </a:pPr>
            <a:r>
              <a:rPr sz="900">
                <a:solidFill>
                  <a:srgbClr val="004EA8"/>
                </a:solidFill>
                <a:latin typeface="Arial"/>
              </a:rPr>
              <a:t>•  </a:t>
            </a:r>
            <a:r>
              <a:rPr sz="900">
                <a:solidFill>
                  <a:srgbClr val="4B4B4B"/>
                </a:solidFill>
                <a:latin typeface="Arial"/>
              </a:rPr>
              <a:t>SCR-PM-18 Insurer record</a:t>
            </a:r>
          </a:p>
          <a:p>
            <a:pPr>
              <a:spcAft>
                <a:spcPts val="600"/>
              </a:spcAft>
            </a:pPr>
            <a:r>
              <a:rPr sz="900">
                <a:solidFill>
                  <a:srgbClr val="004EA8"/>
                </a:solidFill>
                <a:latin typeface="Arial"/>
              </a:rPr>
              <a:t>•  </a:t>
            </a:r>
            <a:r>
              <a:rPr sz="900">
                <a:solidFill>
                  <a:srgbClr val="4B4B4B"/>
                </a:solidFill>
                <a:latin typeface="Arial"/>
              </a:rPr>
              <a:t>SCR-PM-19 Rates &amp; Taxes</a:t>
            </a:r>
          </a:p>
          <a:p>
            <a:pPr>
              <a:spcAft>
                <a:spcPts val="600"/>
              </a:spcAft>
            </a:pPr>
            <a:r>
              <a:rPr sz="900">
                <a:solidFill>
                  <a:srgbClr val="004EA8"/>
                </a:solidFill>
                <a:latin typeface="Arial"/>
              </a:rPr>
              <a:t>•  </a:t>
            </a:r>
            <a:r>
              <a:rPr sz="900">
                <a:solidFill>
                  <a:srgbClr val="4B4B4B"/>
                </a:solidFill>
                <a:latin typeface="Arial"/>
              </a:rPr>
              <a:t>SCR-PM-20 Sales Organisation</a:t>
            </a:r>
          </a:p>
          <a:p>
            <a:pPr>
              <a:spcAft>
                <a:spcPts val="600"/>
              </a:spcAft>
            </a:pPr>
            <a:r>
              <a:rPr sz="900">
                <a:solidFill>
                  <a:srgbClr val="004EA8"/>
                </a:solidFill>
                <a:latin typeface="Arial"/>
              </a:rPr>
              <a:t>•  </a:t>
            </a:r>
            <a:r>
              <a:rPr sz="900">
                <a:solidFill>
                  <a:srgbClr val="4B4B4B"/>
                </a:solidFill>
                <a:latin typeface="Arial"/>
              </a:rPr>
              <a:t>SCR-PM-21 Premium Calculator</a:t>
            </a:r>
          </a:p>
          <a:p>
            <a:pPr>
              <a:spcAft>
                <a:spcPts val="600"/>
              </a:spcAft>
            </a:pPr>
            <a:r>
              <a:rPr sz="900">
                <a:solidFill>
                  <a:srgbClr val="004EA8"/>
                </a:solidFill>
                <a:latin typeface="Arial"/>
              </a:rPr>
              <a:t>•  </a:t>
            </a:r>
            <a:r>
              <a:rPr sz="900">
                <a:solidFill>
                  <a:srgbClr val="4B4B4B"/>
                </a:solidFill>
                <a:latin typeface="Arial"/>
              </a:rPr>
              <a:t>SCR-PM-22 Quotation: package rate scheme and rate exception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End-to-end flows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flow as a swimlane of the personas, then one slide per step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A new package from the request to its first New Business quotation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graphicFrame>
        <p:nvGraphicFramePr>
          <p:cNvPr id="9" name="Table 8"/>
          <p:cNvGraphicFramePr>
            <a:graphicFrameLocks noGrp="1"/>
          </p:cNvGraphicFramePr>
          <p:nvPr/>
        </p:nvGraphicFramePr>
        <p:xfrm>
          <a:off x="548640" y="1307592"/>
          <a:ext cx="11094415" cy="3291825"/>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WT-A A new package from the request to its first New Business quotation</a:t>
                      </a:r>
                    </a:p>
                  </a:txBody>
                  <a:tcPr marL="54864" marR="54864" marT="27432" marB="27432">
                    <a:solidFill>
                      <a:srgbClr val="FFFFFF"/>
                    </a:solidFill>
                  </a:tcPr>
                </a:tc>
              </a:tr>
              <a:tr h="1554472">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Marketing asks for a new generic motor package for SME fleets. MBS first adds a clause wording to the library, which the Business Administrator authorises. The request is approved by Marketing, recommended and approved by TSU, negotiated with two insurers and made final; the requirements pack with the signed package slip is signed off by ManCom. MBS sets up version 1 with its rate scheme, coverages, panel insurers and clauses; the TSU Head validates and releases it, the Business Administrator adds the insurer's commission rate for the new product and the New Business Approver authorises it. TSU sends the advisory. Marketing then prices the package and quotes it; a quotation with a different item rate needs a rate exception, which the New Business Approver opens from My Approvals and approves on its record, so the quotation can be submitted. The package documents use the templates of the Document Templates screen (New Business set, SCR-NB-44).</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new request Motor Fleet Plus (fictitious), line Motor, cover type Comprehensive, insurers Mabuhay General Insurance Corp. and Luzon Assurance Co., new risk code MTR30, client Garcia (seed client)</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Business Services, Business Administrator, Marketing Account Officer, Marketing TL / TH / UH, TSU Team Lead, TSU Head, TSU Officer, ManCom member, New Business Approver</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24 steps, 19 hand-offs, 14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14.1</a:t>
                      </a:r>
                    </a:p>
                  </a:txBody>
                  <a:tcPr marL="54864" marR="54864" marT="27432" marB="27432">
                    <a:solidFill>
                      <a:srgbClr val="FFFFFF"/>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Rectangle 8"/>
          <p:cNvSpPr/>
          <p:nvPr/>
        </p:nvSpPr>
        <p:spPr>
          <a:xfrm>
            <a:off x="548640" y="130759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629629"/>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197379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73797"/>
            <a:ext cx="1691640" cy="629629"/>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197379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264000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640002"/>
            <a:ext cx="1691640" cy="629629"/>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7" name="Rectangle 16"/>
          <p:cNvSpPr/>
          <p:nvPr/>
        </p:nvSpPr>
        <p:spPr>
          <a:xfrm>
            <a:off x="2331720" y="264000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30620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306207"/>
            <a:ext cx="1691640" cy="629629"/>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20" name="Rectangle 19"/>
          <p:cNvSpPr/>
          <p:nvPr/>
        </p:nvSpPr>
        <p:spPr>
          <a:xfrm>
            <a:off x="2331720" y="330620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97241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3972412"/>
            <a:ext cx="1691640" cy="629629"/>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23" name="Rectangle 22"/>
          <p:cNvSpPr/>
          <p:nvPr/>
        </p:nvSpPr>
        <p:spPr>
          <a:xfrm>
            <a:off x="2331720" y="397241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638617"/>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638617"/>
            <a:ext cx="1691640" cy="629629"/>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26" name="Rectangle 25"/>
          <p:cNvSpPr/>
          <p:nvPr/>
        </p:nvSpPr>
        <p:spPr>
          <a:xfrm>
            <a:off x="2331720" y="4638617"/>
            <a:ext cx="9311335" cy="62962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304822"/>
            <a:ext cx="1783080" cy="629629"/>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304822"/>
            <a:ext cx="1691640" cy="629629"/>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9" name="Rectangle 28"/>
          <p:cNvSpPr/>
          <p:nvPr/>
        </p:nvSpPr>
        <p:spPr>
          <a:xfrm>
            <a:off x="2331720" y="5304822"/>
            <a:ext cx="9311335" cy="629629"/>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432304" y="1362456"/>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Coverages &amp; Clauses</a:t>
            </a:r>
          </a:p>
        </p:txBody>
      </p:sp>
      <p:sp>
        <p:nvSpPr>
          <p:cNvPr id="31" name="Rounded Rectangle 30"/>
          <p:cNvSpPr/>
          <p:nvPr/>
        </p:nvSpPr>
        <p:spPr>
          <a:xfrm>
            <a:off x="2681820"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2" name="Rounded Rectangle 31"/>
          <p:cNvSpPr/>
          <p:nvPr/>
        </p:nvSpPr>
        <p:spPr>
          <a:xfrm>
            <a:off x="3596220" y="2028661"/>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Coverages &amp; Clauses</a:t>
            </a:r>
          </a:p>
        </p:txBody>
      </p:sp>
      <p:sp>
        <p:nvSpPr>
          <p:cNvPr id="33" name="Rounded Rectangle 32"/>
          <p:cNvSpPr/>
          <p:nvPr/>
        </p:nvSpPr>
        <p:spPr>
          <a:xfrm>
            <a:off x="3845736" y="1982941"/>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4" name="Rounded Rectangle 33"/>
          <p:cNvSpPr/>
          <p:nvPr/>
        </p:nvSpPr>
        <p:spPr>
          <a:xfrm>
            <a:off x="4760136" y="2694866"/>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New Package Request and Edit Package Request</a:t>
            </a:r>
          </a:p>
        </p:txBody>
      </p:sp>
      <p:sp>
        <p:nvSpPr>
          <p:cNvPr id="35" name="Rounded Rectangle 34"/>
          <p:cNvSpPr/>
          <p:nvPr/>
        </p:nvSpPr>
        <p:spPr>
          <a:xfrm>
            <a:off x="5009652" y="264914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6" name="Rounded Rectangle 35"/>
          <p:cNvSpPr/>
          <p:nvPr/>
        </p:nvSpPr>
        <p:spPr>
          <a:xfrm>
            <a:off x="5924052" y="3361071"/>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37" name="Rounded Rectangle 36"/>
          <p:cNvSpPr/>
          <p:nvPr/>
        </p:nvSpPr>
        <p:spPr>
          <a:xfrm>
            <a:off x="6173568" y="3315351"/>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8" name="Rounded Rectangle 37"/>
          <p:cNvSpPr/>
          <p:nvPr/>
        </p:nvSpPr>
        <p:spPr>
          <a:xfrm>
            <a:off x="7087968" y="4027276"/>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a:t>
            </a:r>
          </a:p>
        </p:txBody>
      </p:sp>
      <p:sp>
        <p:nvSpPr>
          <p:cNvPr id="39" name="Rounded Rectangle 38"/>
          <p:cNvSpPr/>
          <p:nvPr/>
        </p:nvSpPr>
        <p:spPr>
          <a:xfrm>
            <a:off x="7337484" y="398155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40" name="Rounded Rectangle 39"/>
          <p:cNvSpPr/>
          <p:nvPr/>
        </p:nvSpPr>
        <p:spPr>
          <a:xfrm>
            <a:off x="8251884" y="4693481"/>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a:t>
            </a:r>
          </a:p>
        </p:txBody>
      </p:sp>
      <p:sp>
        <p:nvSpPr>
          <p:cNvPr id="41" name="Rounded Rectangle 40"/>
          <p:cNvSpPr/>
          <p:nvPr/>
        </p:nvSpPr>
        <p:spPr>
          <a:xfrm>
            <a:off x="8501400" y="4647761"/>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42" name="Rounded Rectangle 41"/>
          <p:cNvSpPr/>
          <p:nvPr/>
        </p:nvSpPr>
        <p:spPr>
          <a:xfrm>
            <a:off x="9415800" y="5359686"/>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 Negotiation tab</a:t>
            </a:r>
          </a:p>
        </p:txBody>
      </p:sp>
      <p:sp>
        <p:nvSpPr>
          <p:cNvPr id="43" name="Rounded Rectangle 42"/>
          <p:cNvSpPr/>
          <p:nvPr/>
        </p:nvSpPr>
        <p:spPr>
          <a:xfrm>
            <a:off x="9665316" y="531396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44" name="Rounded Rectangle 43"/>
          <p:cNvSpPr/>
          <p:nvPr/>
        </p:nvSpPr>
        <p:spPr>
          <a:xfrm>
            <a:off x="10579716" y="4027276"/>
            <a:ext cx="962748" cy="519901"/>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Negotiation tab</a:t>
            </a:r>
          </a:p>
        </p:txBody>
      </p:sp>
      <p:sp>
        <p:nvSpPr>
          <p:cNvPr id="45" name="Rounded Rectangle 44"/>
          <p:cNvSpPr/>
          <p:nvPr/>
        </p:nvSpPr>
        <p:spPr>
          <a:xfrm>
            <a:off x="10829232" y="398155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cxnSp>
        <p:nvCxnSpPr>
          <p:cNvPr id="46" name="Connector 45"/>
          <p:cNvCxnSpPr/>
          <p:nvPr/>
        </p:nvCxnSpPr>
        <p:spPr>
          <a:xfrm>
            <a:off x="3395052" y="1622406"/>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558968" y="2288611"/>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722884" y="2954816"/>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886800" y="3621021"/>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050716" y="4287226"/>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9214632" y="4953431"/>
            <a:ext cx="201168" cy="666205"/>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0378548" y="4287226"/>
            <a:ext cx="201168" cy="133241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32304"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Negotiation tab</a:t>
            </a:r>
          </a:p>
        </p:txBody>
      </p:sp>
      <p:sp>
        <p:nvSpPr>
          <p:cNvPr id="22" name="Rounded Rectangle 21"/>
          <p:cNvSpPr/>
          <p:nvPr/>
        </p:nvSpPr>
        <p:spPr>
          <a:xfrm>
            <a:off x="3596220"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Request record: Negotiation tab</a:t>
            </a:r>
          </a:p>
        </p:txBody>
      </p:sp>
      <p:sp>
        <p:nvSpPr>
          <p:cNvPr id="23" name="Rounded Rectangle 22"/>
          <p:cNvSpPr/>
          <p:nvPr/>
        </p:nvSpPr>
        <p:spPr>
          <a:xfrm>
            <a:off x="4760136"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Request record: Comparative tab</a:t>
            </a:r>
          </a:p>
        </p:txBody>
      </p:sp>
      <p:sp>
        <p:nvSpPr>
          <p:cNvPr id="24" name="Rounded Rectangle 23"/>
          <p:cNvSpPr/>
          <p:nvPr/>
        </p:nvSpPr>
        <p:spPr>
          <a:xfrm>
            <a:off x="5924052" y="223113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Request record</a:t>
            </a:r>
          </a:p>
        </p:txBody>
      </p:sp>
      <p:sp>
        <p:nvSpPr>
          <p:cNvPr id="25" name="Rounded Rectangle 24"/>
          <p:cNvSpPr/>
          <p:nvPr/>
        </p:nvSpPr>
        <p:spPr>
          <a:xfrm>
            <a:off x="7087968"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13. </a:t>
            </a:r>
            <a:r>
              <a:rPr sz="800">
                <a:solidFill>
                  <a:srgbClr val="2E2E2E"/>
                </a:solidFill>
                <a:latin typeface="Arial"/>
              </a:rPr>
              <a:t>Package Request record: Requirements &amp; Sign-off tab</a:t>
            </a:r>
          </a:p>
        </p:txBody>
      </p:sp>
      <p:sp>
        <p:nvSpPr>
          <p:cNvPr id="26" name="Rounded Rectangle 25"/>
          <p:cNvSpPr/>
          <p:nvPr/>
        </p:nvSpPr>
        <p:spPr>
          <a:xfrm>
            <a:off x="8251884" y="309981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14. </a:t>
            </a:r>
            <a:r>
              <a:rPr sz="800">
                <a:solidFill>
                  <a:srgbClr val="2E2E2E"/>
                </a:solidFill>
                <a:latin typeface="Arial"/>
              </a:rPr>
              <a:t>Package Request record: Requirements &amp; Sign-off tab</a:t>
            </a:r>
          </a:p>
        </p:txBody>
      </p:sp>
      <p:sp>
        <p:nvSpPr>
          <p:cNvPr id="27" name="Rounded Rectangle 26"/>
          <p:cNvSpPr/>
          <p:nvPr/>
        </p:nvSpPr>
        <p:spPr>
          <a:xfrm>
            <a:off x="8501400" y="30540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8" name="Rounded Rectangle 27"/>
          <p:cNvSpPr/>
          <p:nvPr/>
        </p:nvSpPr>
        <p:spPr>
          <a:xfrm>
            <a:off x="9415800"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15. </a:t>
            </a:r>
            <a:r>
              <a:rPr sz="800">
                <a:solidFill>
                  <a:srgbClr val="2E2E2E"/>
                </a:solidFill>
                <a:latin typeface="Arial"/>
              </a:rPr>
              <a:t>Package Request record: Set-up and Advisories tabs</a:t>
            </a:r>
          </a:p>
        </p:txBody>
      </p:sp>
      <p:sp>
        <p:nvSpPr>
          <p:cNvPr id="29" name="Rounded Rectangle 28"/>
          <p:cNvSpPr/>
          <p:nvPr/>
        </p:nvSpPr>
        <p:spPr>
          <a:xfrm>
            <a:off x="10579716"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16. </a:t>
            </a:r>
            <a:r>
              <a:rPr sz="800">
                <a:solidFill>
                  <a:srgbClr val="2E2E2E"/>
                </a:solidFill>
                <a:latin typeface="Arial"/>
              </a:rPr>
              <a:t>Package Version</a:t>
            </a:r>
          </a:p>
        </p:txBody>
      </p:sp>
      <p:cxnSp>
        <p:nvCxnSpPr>
          <p:cNvPr id="30" name="Connector 29"/>
          <p:cNvCxnSpPr/>
          <p:nvPr/>
        </p:nvCxnSpPr>
        <p:spPr>
          <a:xfrm>
            <a:off x="3395052"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558968"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22884"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886800"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050716" y="1723644"/>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214632"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378548" y="432968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swimlane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Business Administrator</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New Business Approver</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6245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17. </a:t>
            </a:r>
            <a:r>
              <a:rPr sz="800">
                <a:solidFill>
                  <a:srgbClr val="2E2E2E"/>
                </a:solidFill>
                <a:latin typeface="Arial"/>
              </a:rPr>
              <a:t>Package Version</a:t>
            </a:r>
          </a:p>
        </p:txBody>
      </p:sp>
      <p:sp>
        <p:nvSpPr>
          <p:cNvPr id="25" name="Rounded Rectangle 24"/>
          <p:cNvSpPr/>
          <p:nvPr/>
        </p:nvSpPr>
        <p:spPr>
          <a:xfrm>
            <a:off x="2681820"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6" name="Rounded Rectangle 25"/>
          <p:cNvSpPr/>
          <p:nvPr/>
        </p:nvSpPr>
        <p:spPr>
          <a:xfrm>
            <a:off x="3596220"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18. </a:t>
            </a:r>
            <a:r>
              <a:rPr sz="800">
                <a:solidFill>
                  <a:srgbClr val="2E2E2E"/>
                </a:solidFill>
                <a:latin typeface="Arial"/>
              </a:rPr>
              <a:t>Insurer record</a:t>
            </a:r>
          </a:p>
        </p:txBody>
      </p:sp>
      <p:sp>
        <p:nvSpPr>
          <p:cNvPr id="27" name="Rounded Rectangle 26"/>
          <p:cNvSpPr/>
          <p:nvPr/>
        </p:nvSpPr>
        <p:spPr>
          <a:xfrm>
            <a:off x="3845736"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8" name="Rounded Rectangle 27"/>
          <p:cNvSpPr/>
          <p:nvPr/>
        </p:nvSpPr>
        <p:spPr>
          <a:xfrm>
            <a:off x="4760136" y="309981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19. </a:t>
            </a:r>
            <a:r>
              <a:rPr sz="800">
                <a:solidFill>
                  <a:srgbClr val="2E2E2E"/>
                </a:solidFill>
                <a:latin typeface="Arial"/>
              </a:rPr>
              <a:t>Insurer record</a:t>
            </a:r>
          </a:p>
        </p:txBody>
      </p:sp>
      <p:sp>
        <p:nvSpPr>
          <p:cNvPr id="29" name="Rounded Rectangle 28"/>
          <p:cNvSpPr/>
          <p:nvPr/>
        </p:nvSpPr>
        <p:spPr>
          <a:xfrm>
            <a:off x="5009652" y="30540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0" name="Rounded Rectangle 29"/>
          <p:cNvSpPr/>
          <p:nvPr/>
        </p:nvSpPr>
        <p:spPr>
          <a:xfrm>
            <a:off x="5924052"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20. </a:t>
            </a:r>
            <a:r>
              <a:rPr sz="800">
                <a:solidFill>
                  <a:srgbClr val="2E2E2E"/>
                </a:solidFill>
                <a:latin typeface="Arial"/>
              </a:rPr>
              <a:t>Package Request record: Set-up and Advisories tabs</a:t>
            </a:r>
          </a:p>
        </p:txBody>
      </p:sp>
      <p:sp>
        <p:nvSpPr>
          <p:cNvPr id="31" name="Rounded Rectangle 30"/>
          <p:cNvSpPr/>
          <p:nvPr/>
        </p:nvSpPr>
        <p:spPr>
          <a:xfrm>
            <a:off x="7087968" y="483717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21. </a:t>
            </a:r>
            <a:r>
              <a:rPr sz="800">
                <a:solidFill>
                  <a:srgbClr val="2E2E2E"/>
                </a:solidFill>
                <a:latin typeface="Arial"/>
              </a:rPr>
              <a:t>Premium Calculator</a:t>
            </a:r>
          </a:p>
        </p:txBody>
      </p:sp>
      <p:sp>
        <p:nvSpPr>
          <p:cNvPr id="32" name="Rounded Rectangle 31"/>
          <p:cNvSpPr/>
          <p:nvPr/>
        </p:nvSpPr>
        <p:spPr>
          <a:xfrm>
            <a:off x="8251884" y="483717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22. </a:t>
            </a:r>
            <a:r>
              <a:rPr sz="800">
                <a:solidFill>
                  <a:srgbClr val="2E2E2E"/>
                </a:solidFill>
                <a:latin typeface="Arial"/>
              </a:rPr>
              <a:t>Quotation: package rate scheme and rate exception</a:t>
            </a:r>
          </a:p>
        </p:txBody>
      </p:sp>
      <p:sp>
        <p:nvSpPr>
          <p:cNvPr id="33" name="Rounded Rectangle 32"/>
          <p:cNvSpPr/>
          <p:nvPr/>
        </p:nvSpPr>
        <p:spPr>
          <a:xfrm>
            <a:off x="9415800" y="309981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23. </a:t>
            </a:r>
            <a:r>
              <a:rPr sz="800">
                <a:solidFill>
                  <a:srgbClr val="2E2E2E"/>
                </a:solidFill>
                <a:latin typeface="Arial"/>
              </a:rPr>
              <a:t>Quotation: package rate scheme and rate exception</a:t>
            </a:r>
          </a:p>
        </p:txBody>
      </p:sp>
      <p:sp>
        <p:nvSpPr>
          <p:cNvPr id="34" name="Rounded Rectangle 33"/>
          <p:cNvSpPr/>
          <p:nvPr/>
        </p:nvSpPr>
        <p:spPr>
          <a:xfrm>
            <a:off x="9665316" y="30540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5" name="Rounded Rectangle 34"/>
          <p:cNvSpPr/>
          <p:nvPr/>
        </p:nvSpPr>
        <p:spPr>
          <a:xfrm>
            <a:off x="10579716" y="483717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24. </a:t>
            </a:r>
            <a:r>
              <a:rPr sz="800">
                <a:solidFill>
                  <a:srgbClr val="2E2E2E"/>
                </a:solidFill>
                <a:latin typeface="Arial"/>
              </a:rPr>
              <a:t>Quotation: package rate scheme and rate exception</a:t>
            </a:r>
          </a:p>
        </p:txBody>
      </p:sp>
      <p:sp>
        <p:nvSpPr>
          <p:cNvPr id="36" name="Rounded Rectangle 35"/>
          <p:cNvSpPr/>
          <p:nvPr/>
        </p:nvSpPr>
        <p:spPr>
          <a:xfrm>
            <a:off x="10829232" y="479145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cxnSp>
        <p:nvCxnSpPr>
          <p:cNvPr id="37" name="Connector 36"/>
          <p:cNvCxnSpPr/>
          <p:nvPr/>
        </p:nvCxnSpPr>
        <p:spPr>
          <a:xfrm>
            <a:off x="3395052"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4558968"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722884"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886800" y="432968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50716" y="519836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9214632" y="3461004"/>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378548" y="3461004"/>
            <a:ext cx="201168" cy="173736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01.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Business Services: Opens Coverages &amp; Clauses › Clause Library, clicks New Clause, enters the code FLEET_REPAIR, kind, line Motor, title, effective date and wording, and clicks Save for Authorization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pending authorisation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Clause FLEET_REPAIR saved – pending authorization; the row shows Pending Authorization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Business Administrator on Coverages &amp; Clauses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 of 24: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2.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the Clause Library and clicks Authorize on FLEET_REPAIR</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Clause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FLEET_REPAIR authorized; the status is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Account Officer on New Package Request and Edit Package Request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3 of 24: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800" b="0" i="0">
                <a:solidFill>
                  <a:srgbClr val="2E2E2E"/>
                </a:solidFill>
                <a:latin typeface="Arial"/>
              </a:rPr>
              <a:t>Marketing Account Officer: 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Marketing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PKR-yyyy-nnnnnn submitted for Marketing approval; the request opens in For Marketing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Marketing TL / TH / UH on Package Request record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4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Opens the request from the For Approval tab and clicks Approve and send to TSU</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For TSU review; the history lists the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5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Recommend for approval, writes the recommendation and clicks Recommend</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TSU Head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TSU recommendation shows on the Details tab; the stage becomes For TSU Head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Head on Package Request record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6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0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Reads the recommendation and clicks Approve for negotiation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Insurer negotiation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Insurer negotiation; round 1 is opened with the two target insurers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TSU Officer on Package Request record: Negotiation tab</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7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Negotiation tab, adds a note to the insurers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for approval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submitted for approval; round 1 shows For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Team Lead on Package Request record: Negotiation tab</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8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Clicks Approve and Send on round 1</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Slip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PQS-yyyy-nnnnnn sent to 2 insurer(s); both responses show Pending; the E-mails tab lists the slip and password e-mails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TSU Officer on Package Request record: Negotiation tab</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9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114</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Key In for each insurer, enters the outcome, rate, minimum premium and deductibles, attaches the insurer's reply and clicks Save Terms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Responses recorded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Terms of &lt;insurer&gt; saved; the responses show Approved with changes and Counter-proposal with their rates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TSU Officer on Package Request record: Negotiation tab</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10 of 24: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Terms final, ticks the offer of Mabuhay General Insurance Corp. and clicks Make Terms Final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Terms final</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Negotiated terms review; the chosen insurer shows in the header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Officer on Package Request record: Comparative tab</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11 of 24: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SCR-PM-06</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Comparative tab</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Comparative master stored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round 1 comparison with the Lowest rate tag and the current audit master in Stored outputs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TSU Head on Package Request record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12 of 24: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2.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Clicks Proceed to requirements (generic package)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Requirements preparation</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13: TSU Officer on Package Request record: Requirements &amp; Sign-off tab</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13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3.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TSU Officer: Enters the computation basis, clicks Save Requirements, downloads the Package Slip, uploads the signed slip on the Documents tab as Package slip (signed), and clicks Submit requirements for ManCom sign-off</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ManCom sign-off</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reads The requirements pack is complete.; the stage becomes For ManCom sign-off</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14: ManCom member on Package Request record: Requirements &amp; Sign-off tab</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14 of 24: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Reviews the proposed terms and clicks Sign off and send to MBS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off</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ManCom decisions lists MC-PKR-yyyy-nnnnnn Signed; the slips show Locked; the stage becomes With MBS for set-up</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15: Marketing Business Services on Package Request record: Set-up and Advisories tabs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15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5.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Set up package version, enters the risk code MTR30 and the product name, and clicks Set Up Version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version 1</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set up; the Set-up tab shows MTR30 version 1; the stage becomes Package version for validation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16: Marketing Business Services on Package Version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16 of 24: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6.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Clicks Open Version Editor, adds the clause FLEET_REPAIR on the insurer terms, saves and clicks Submit for Validation</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 validation</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submitted for validation; the version shows For validation</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17: TSU Head on Package Version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17 of 24: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719011"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1" name="Picture 10" descr="wt-a-1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2" name="TextBox 11"/>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3" name="Rectangle 12"/>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6" name="TextBox 15"/>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version from the Validation Queue, ticks the five checklist items and clicks Validate and Release</a:t>
            </a:r>
          </a:p>
        </p:txBody>
      </p:sp>
      <p:sp>
        <p:nvSpPr>
          <p:cNvPr id="17" name="Rectangle 16"/>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20" name="TextBox 19"/>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Released</a:t>
            </a:r>
          </a:p>
        </p:txBody>
      </p:sp>
      <p:sp>
        <p:nvSpPr>
          <p:cNvPr id="21" name="Rectangle 20"/>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4" name="TextBox 23"/>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1 released; the Validation card shows the result Passed, the validator, the date, the test premium and the checks with their figures</a:t>
            </a:r>
          </a:p>
        </p:txBody>
      </p:sp>
      <p:sp>
        <p:nvSpPr>
          <p:cNvPr id="25" name="Rectangle 24"/>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8" name="TextBox 27"/>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18: Business Administrator on Insurer record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18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123</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18.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Business Administrator: Opens Insurers › Mabuhay General Insurance Corp., clicks Add rate, chooses MTR30, 15% from today and clicks Save for Authorization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pending</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Commission rate saved – pending authorization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19: New Business Approver on Insurer record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19 of 24: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wt-a-19.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New Business Approver: Opens the insurer and clicks Authorize on the new commission rate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Commission rate active</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for MTR30 shows Active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20: TSU Officer on Package Request record: Set-up and Advisories tabs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20 of 24: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the Advisories tab of the released request, checks that both supporting documents are Attached and clicks Send Advisory</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Advisory sent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Advisory sent; the advisory shows Sent with the date; Marketing users receive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21: Marketing Account Officer on Premium Calculator</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21 of 24: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126</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SCR-PM-21</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Premium Calculator, chooses MTR30 and Mabuhay General Insurance Corp., enters a vehicle value and clicks Calculate</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Priced on version 1</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Priced on package version 1 (effective &lt;date&gt;, scheme rate 1.2%) with every charge and the commission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22: Marketing Account Officer on Quotation: package rate scheme and rate exception</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22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wt-a-22.png"/>
          <p:cNvPicPr>
            <a:picLocks noChangeAspect="1"/>
          </p:cNvPicPr>
          <p:nvPr/>
        </p:nvPicPr>
        <p:blipFill>
          <a:blip r:embed="rId3"/>
          <a:stretch>
            <a:fillRect/>
          </a:stretch>
        </p:blipFill>
        <p:spPr>
          <a:xfrm>
            <a:off x="548640" y="1261872"/>
            <a:ext cx="7665415" cy="296966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Marketing Account Officer: Creates a New Business quotation of MTR30 for the seed client with an item rate of 1.10%, opens it and clicks Request Rate Exception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requested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scheme panel shows the exception pending approval</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23: New Business Approver on Quotation: package rate scheme and rate exception</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23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128</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3.png"/>
          <p:cNvPicPr>
            <a:picLocks noChangeAspect="1"/>
          </p:cNvPicPr>
          <p:nvPr/>
        </p:nvPicPr>
        <p:blipFill>
          <a:blip r:embed="rId3"/>
          <a:stretch>
            <a:fillRect/>
          </a:stretch>
        </p:blipFill>
        <p:spPr>
          <a:xfrm>
            <a:off x="1040563" y="1261872"/>
            <a:ext cx="6681569"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900" b="0" i="0">
                <a:solidFill>
                  <a:srgbClr val="2E2E2E"/>
                </a:solidFill>
                <a:latin typeface="Arial"/>
              </a:rPr>
              <a:t>New Business Approver: Opens My Approvals, clicks the rate exception of the quotation, compares the requested rate with the scheme in force on the exception record, clicks Approve, writes the comment and confirms</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Exception approved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Rate exception RSE-yyyy-nnnnnn approved; the record shows Approved with the approver, the date and the comment; the Account Officer receives the notice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24: Marketing Account Officer on Quotation: package rate scheme and rate exception</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WT-A step 24 of 24: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a-24.png"/>
          <p:cNvPicPr>
            <a:picLocks noChangeAspect="1"/>
          </p:cNvPicPr>
          <p:nvPr/>
        </p:nvPicPr>
        <p:blipFill>
          <a:blip r:embed="rId3"/>
          <a:stretch>
            <a:fillRect/>
          </a:stretch>
        </p:blipFill>
        <p:spPr>
          <a:xfrm>
            <a:off x="548640" y="1261872"/>
            <a:ext cx="7665415" cy="296966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SCR-PM-22</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the quotation again after the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Quotation ready for review</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Rate Exceptions table lists the exception Approved; the quotation can be submitted for review</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Returns and refusals, and the messages the user sees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130</a:t>
            </a:r>
          </a:p>
        </p:txBody>
      </p:sp>
      <p:graphicFrame>
        <p:nvGraphicFramePr>
          <p:cNvPr id="9" name="Table 8"/>
          <p:cNvGraphicFramePr>
            <a:graphicFrameLocks noGrp="1"/>
          </p:cNvGraphicFramePr>
          <p:nvPr/>
        </p:nvGraphicFramePr>
        <p:xfrm>
          <a:off x="548640" y="1307592"/>
          <a:ext cx="11094415" cy="2560309"/>
        </p:xfrm>
        <a:graphic>
          <a:graphicData uri="http://schemas.openxmlformats.org/drawingml/2006/table">
            <a:tbl>
              <a:tblPr bandRow="1">
                <a:tableStyleId>{5C22544A-7EE6-4342-B048-85BDC9FD1C3A}</a:tableStyleId>
              </a:tblPr>
              <a:tblGrid>
                <a:gridCol w="2011680"/>
                <a:gridCol w="9082735"/>
              </a:tblGrid>
              <a:tr h="274319">
                <a:tc>
                  <a:txBody>
                    <a:bodyPr/>
                    <a:lstStyle/>
                    <a:p>
                      <a:r>
                        <a:rPr sz="1200" b="1">
                          <a:solidFill>
                            <a:srgbClr val="004EA8"/>
                          </a:solidFill>
                          <a:latin typeface="Arial"/>
                        </a:rPr>
                        <a:t>Flow</a:t>
                      </a:r>
                    </a:p>
                  </a:txBody>
                  <a:tcPr marL="54864" marR="54864" marT="27432" marB="27432">
                    <a:solidFill>
                      <a:srgbClr val="E5F5FF"/>
                    </a:solidFill>
                  </a:tcPr>
                </a:tc>
                <a:tc>
                  <a:txBody>
                    <a:bodyPr/>
                    <a:lstStyle/>
                    <a:p>
                      <a:r>
                        <a:rPr sz="1200" b="0">
                          <a:solidFill>
                            <a:srgbClr val="4B4B4B"/>
                          </a:solidFill>
                          <a:latin typeface="Arial"/>
                        </a:rPr>
                        <a:t>WT-B Returns and refusals, and the messages the user sees</a:t>
                      </a:r>
                    </a:p>
                  </a:txBody>
                  <a:tcPr marL="54864" marR="54864" marT="27432" marB="27432">
                    <a:solidFill>
                      <a:srgbClr val="FFFFFF"/>
                    </a:solidFill>
                  </a:tcPr>
                </a:tc>
              </a:tr>
              <a:tr h="822956">
                <a:tc>
                  <a:txBody>
                    <a:bodyPr/>
                    <a:lstStyle/>
                    <a:p>
                      <a:r>
                        <a:rPr sz="1200" b="1">
                          <a:solidFill>
                            <a:srgbClr val="004EA8"/>
                          </a:solidFill>
                          <a:latin typeface="Arial"/>
                        </a:rPr>
                        <a:t>Summary</a:t>
                      </a:r>
                    </a:p>
                  </a:txBody>
                  <a:tcPr marL="54864" marR="54864" marT="27432" marB="27432">
                    <a:solidFill>
                      <a:srgbClr val="E5F5FF"/>
                    </a:solidFill>
                  </a:tcPr>
                </a:tc>
                <a:tc>
                  <a:txBody>
                    <a:bodyPr/>
                    <a:lstStyle/>
                    <a:p>
                      <a:r>
                        <a:rPr sz="1200" b="0">
                          <a:solidFill>
                            <a:srgbClr val="4B4B4B"/>
                          </a:solidFill>
                          <a:latin typeface="Arial"/>
                        </a:rPr>
                        <a:t>The same process when something is missing or not allowed: an incomplete form, an approval by the maker, a return by TSU, a slip approved by its preparer, terms made final before every insurer answered, a ManCom return, a requirements pack without the signed slip, and a version returned by the validator. Each step shows the message on the screen and what the user does next.</a:t>
                      </a:r>
                    </a:p>
                  </a:txBody>
                  <a:tcPr marL="54864" marR="54864" marT="27432" marB="27432">
                    <a:solidFill>
                      <a:srgbClr val="FFFFFF"/>
                    </a:solidFill>
                  </a:tcPr>
                </a:tc>
              </a:tr>
              <a:tr h="457198">
                <a:tc>
                  <a:txBody>
                    <a:bodyPr/>
                    <a:lstStyle/>
                    <a:p>
                      <a:r>
                        <a:rPr sz="1200" b="1">
                          <a:solidFill>
                            <a:srgbClr val="004EA8"/>
                          </a:solidFill>
                          <a:latin typeface="Arial"/>
                        </a:rPr>
                        <a:t>Seed data</a:t>
                      </a:r>
                    </a:p>
                  </a:txBody>
                  <a:tcPr marL="54864" marR="54864" marT="27432" marB="27432">
                    <a:solidFill>
                      <a:srgbClr val="E5F5FF"/>
                    </a:solidFill>
                  </a:tcPr>
                </a:tc>
                <a:tc>
                  <a:txBody>
                    <a:bodyPr/>
                    <a:lstStyle/>
                    <a:p>
                      <a:r>
                        <a:rPr sz="1200" b="0">
                          <a:solidFill>
                            <a:srgbClr val="4B4B4B"/>
                          </a:solidFill>
                          <a:latin typeface="Arial"/>
                        </a:rPr>
                        <a:t>Seed data: package requests PKR-2026-900002 (For TSU review), PKR-2026-900003 (round 2 with one insurer pending), PKR-2026-900004 (For ManCom sign-off), PKR-2026-900005 (With MBS) and the draft version 2 of MTR12</a:t>
                      </a:r>
                    </a:p>
                  </a:txBody>
                  <a:tcPr marL="54864" marR="54864" marT="27432" marB="27432">
                    <a:solidFill>
                      <a:srgbClr val="FFFFFF"/>
                    </a:solidFill>
                  </a:tcPr>
                </a:tc>
              </a:tr>
              <a:tr h="457198">
                <a:tc>
                  <a:txBody>
                    <a:bodyPr/>
                    <a:lstStyle/>
                    <a:p>
                      <a:r>
                        <a:rPr sz="1200" b="1">
                          <a:solidFill>
                            <a:srgbClr val="004EA8"/>
                          </a:solidFill>
                          <a:latin typeface="Arial"/>
                        </a:rPr>
                        <a:t>Personas</a:t>
                      </a:r>
                    </a:p>
                  </a:txBody>
                  <a:tcPr marL="54864" marR="54864" marT="27432" marB="27432">
                    <a:solidFill>
                      <a:srgbClr val="E5F5FF"/>
                    </a:solidFill>
                  </a:tcPr>
                </a:tc>
                <a:tc>
                  <a:txBody>
                    <a:bodyPr/>
                    <a:lstStyle/>
                    <a:p>
                      <a:r>
                        <a:rPr sz="1200" b="0">
                          <a:solidFill>
                            <a:srgbClr val="4B4B4B"/>
                          </a:solidFill>
                          <a:latin typeface="Arial"/>
                        </a:rPr>
                        <a:t>Marketing Account Officer, Marketing TL / TH / UH, TSU Team Lead, TSU Officer, ManCom member, Marketing Business Services, TSU Head</a:t>
                      </a:r>
                    </a:p>
                  </a:txBody>
                  <a:tcPr marL="54864" marR="54864" marT="27432" marB="27432">
                    <a:solidFill>
                      <a:srgbClr val="FFFFFF"/>
                    </a:solidFill>
                  </a:tcPr>
                </a:tc>
              </a:tr>
              <a:tr h="274319">
                <a:tc>
                  <a:txBody>
                    <a:bodyPr/>
                    <a:lstStyle/>
                    <a:p>
                      <a:r>
                        <a:rPr sz="1200" b="1">
                          <a:solidFill>
                            <a:srgbClr val="004EA8"/>
                          </a:solidFill>
                          <a:latin typeface="Arial"/>
                        </a:rPr>
                        <a:t>Steps</a:t>
                      </a:r>
                    </a:p>
                  </a:txBody>
                  <a:tcPr marL="54864" marR="54864" marT="27432" marB="27432">
                    <a:solidFill>
                      <a:srgbClr val="E5F5FF"/>
                    </a:solidFill>
                  </a:tcPr>
                </a:tc>
                <a:tc>
                  <a:txBody>
                    <a:bodyPr/>
                    <a:lstStyle/>
                    <a:p>
                      <a:r>
                        <a:rPr sz="1200" b="0">
                          <a:solidFill>
                            <a:srgbClr val="4B4B4B"/>
                          </a:solidFill>
                          <a:latin typeface="Arial"/>
                        </a:rPr>
                        <a:t>12 steps, 8 hand-offs, 3 approval steps</a:t>
                      </a:r>
                    </a:p>
                  </a:txBody>
                  <a:tcPr marL="54864" marR="54864" marT="27432" marB="27432">
                    <a:solidFill>
                      <a:srgbClr val="FFFFFF"/>
                    </a:solidFill>
                  </a:tcPr>
                </a:tc>
              </a:tr>
              <a:tr h="274319">
                <a:tc>
                  <a:txBody>
                    <a:bodyPr/>
                    <a:lstStyle/>
                    <a:p>
                      <a:r>
                        <a:rPr sz="1200" b="1">
                          <a:solidFill>
                            <a:srgbClr val="004EA8"/>
                          </a:solidFill>
                          <a:latin typeface="Arial"/>
                        </a:rPr>
                        <a:t>FRS section</a:t>
                      </a:r>
                    </a:p>
                  </a:txBody>
                  <a:tcPr marL="54864" marR="54864" marT="27432" marB="27432">
                    <a:solidFill>
                      <a:srgbClr val="E5F5FF"/>
                    </a:solidFill>
                  </a:tcPr>
                </a:tc>
                <a:tc>
                  <a:txBody>
                    <a:bodyPr/>
                    <a:lstStyle/>
                    <a:p>
                      <a:r>
                        <a:rPr sz="1200" b="0">
                          <a:solidFill>
                            <a:srgbClr val="4B4B4B"/>
                          </a:solidFill>
                          <a:latin typeface="Arial"/>
                        </a:rPr>
                        <a:t>14.2</a:t>
                      </a:r>
                    </a:p>
                  </a:txBody>
                  <a:tcPr marL="54864" marR="54864" marT="27432" marB="27432">
                    <a:solidFill>
                      <a:srgbClr val="FFFFFF"/>
                    </a:solidFill>
                  </a:tcPr>
                </a:tc>
              </a:tr>
            </a:tbl>
          </a:graphicData>
        </a:graphic>
      </p:graphicFrame>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131</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Account Officer</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Marketing TL / TH / UH</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04495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044952"/>
            <a:ext cx="1691640" cy="832104"/>
          </a:xfrm>
          <a:prstGeom prst="rect">
            <a:avLst/>
          </a:prstGeom>
          <a:noFill/>
        </p:spPr>
        <p:txBody>
          <a:bodyPr wrap="square" anchor="ctr" lIns="45720" rIns="45720">
            <a:spAutoFit/>
          </a:bodyPr>
          <a:lstStyle/>
          <a:p>
            <a:r>
              <a:rPr sz="1000" b="1" i="0">
                <a:solidFill>
                  <a:srgbClr val="FFFFFF"/>
                </a:solidFill>
                <a:latin typeface="Arial"/>
              </a:rPr>
              <a:t>TSU Team Lead</a:t>
            </a:r>
          </a:p>
        </p:txBody>
      </p:sp>
      <p:sp>
        <p:nvSpPr>
          <p:cNvPr id="17" name="Rectangle 16"/>
          <p:cNvSpPr/>
          <p:nvPr/>
        </p:nvSpPr>
        <p:spPr>
          <a:xfrm>
            <a:off x="2331720" y="304495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91363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913632"/>
            <a:ext cx="1691640" cy="832104"/>
          </a:xfrm>
          <a:prstGeom prst="rect">
            <a:avLst/>
          </a:prstGeom>
          <a:noFill/>
        </p:spPr>
        <p:txBody>
          <a:bodyPr wrap="square" anchor="ctr" lIns="45720" rIns="45720">
            <a:spAutoFit/>
          </a:bodyPr>
          <a:lstStyle/>
          <a:p>
            <a:r>
              <a:rPr sz="1000" b="1" i="0">
                <a:solidFill>
                  <a:srgbClr val="FFFFFF"/>
                </a:solidFill>
                <a:latin typeface="Arial"/>
              </a:rPr>
              <a:t>TSU Officer</a:t>
            </a:r>
          </a:p>
        </p:txBody>
      </p:sp>
      <p:sp>
        <p:nvSpPr>
          <p:cNvPr id="20" name="Rectangle 19"/>
          <p:cNvSpPr/>
          <p:nvPr/>
        </p:nvSpPr>
        <p:spPr>
          <a:xfrm>
            <a:off x="2331720" y="391363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78231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782312"/>
            <a:ext cx="1691640" cy="832104"/>
          </a:xfrm>
          <a:prstGeom prst="rect">
            <a:avLst/>
          </a:prstGeom>
          <a:noFill/>
        </p:spPr>
        <p:txBody>
          <a:bodyPr wrap="square" anchor="ctr" lIns="45720" rIns="45720">
            <a:spAutoFit/>
          </a:bodyPr>
          <a:lstStyle/>
          <a:p>
            <a:r>
              <a:rPr sz="1000" b="1" i="0">
                <a:solidFill>
                  <a:srgbClr val="FFFFFF"/>
                </a:solidFill>
                <a:latin typeface="Arial"/>
              </a:rPr>
              <a:t>ManCom member</a:t>
            </a:r>
          </a:p>
        </p:txBody>
      </p:sp>
      <p:sp>
        <p:nvSpPr>
          <p:cNvPr id="23" name="Rectangle 22"/>
          <p:cNvSpPr/>
          <p:nvPr/>
        </p:nvSpPr>
        <p:spPr>
          <a:xfrm>
            <a:off x="2331720" y="478231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32304" y="136245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 </a:t>
            </a:r>
            <a:r>
              <a:rPr sz="800">
                <a:solidFill>
                  <a:srgbClr val="2E2E2E"/>
                </a:solidFill>
                <a:latin typeface="Arial"/>
              </a:rPr>
              <a:t>New Package Request and Edit Package Request</a:t>
            </a:r>
          </a:p>
        </p:txBody>
      </p:sp>
      <p:sp>
        <p:nvSpPr>
          <p:cNvPr id="25" name="Rounded Rectangle 24"/>
          <p:cNvSpPr/>
          <p:nvPr/>
        </p:nvSpPr>
        <p:spPr>
          <a:xfrm>
            <a:off x="3596220" y="136245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2. </a:t>
            </a:r>
            <a:r>
              <a:rPr sz="800">
                <a:solidFill>
                  <a:srgbClr val="2E2E2E"/>
                </a:solidFill>
                <a:latin typeface="Arial"/>
              </a:rPr>
              <a:t>New Package Request and Edit Package Request</a:t>
            </a:r>
          </a:p>
        </p:txBody>
      </p:sp>
      <p:sp>
        <p:nvSpPr>
          <p:cNvPr id="26" name="Rounded Rectangle 25"/>
          <p:cNvSpPr/>
          <p:nvPr/>
        </p:nvSpPr>
        <p:spPr>
          <a:xfrm>
            <a:off x="3845736" y="131673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7" name="Rounded Rectangle 26"/>
          <p:cNvSpPr/>
          <p:nvPr/>
        </p:nvSpPr>
        <p:spPr>
          <a:xfrm>
            <a:off x="4760136" y="223113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3. </a:t>
            </a:r>
            <a:r>
              <a:rPr sz="800">
                <a:solidFill>
                  <a:srgbClr val="2E2E2E"/>
                </a:solidFill>
                <a:latin typeface="Arial"/>
              </a:rPr>
              <a:t>Package Request record</a:t>
            </a:r>
          </a:p>
        </p:txBody>
      </p:sp>
      <p:sp>
        <p:nvSpPr>
          <p:cNvPr id="28" name="Rounded Rectangle 27"/>
          <p:cNvSpPr/>
          <p:nvPr/>
        </p:nvSpPr>
        <p:spPr>
          <a:xfrm>
            <a:off x="5009652" y="218541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29" name="Rounded Rectangle 28"/>
          <p:cNvSpPr/>
          <p:nvPr/>
        </p:nvSpPr>
        <p:spPr>
          <a:xfrm>
            <a:off x="5924052" y="309981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4. </a:t>
            </a:r>
            <a:r>
              <a:rPr sz="800">
                <a:solidFill>
                  <a:srgbClr val="2E2E2E"/>
                </a:solidFill>
                <a:latin typeface="Arial"/>
              </a:rPr>
              <a:t>Package Request record</a:t>
            </a:r>
          </a:p>
        </p:txBody>
      </p:sp>
      <p:sp>
        <p:nvSpPr>
          <p:cNvPr id="30" name="Rounded Rectangle 29"/>
          <p:cNvSpPr/>
          <p:nvPr/>
        </p:nvSpPr>
        <p:spPr>
          <a:xfrm>
            <a:off x="7087968" y="3099816"/>
            <a:ext cx="962748" cy="722376"/>
          </a:xfrm>
          <a:prstGeom prst="roundRect">
            <a:avLst/>
          </a:prstGeom>
          <a:solidFill>
            <a:srgbClr val="FFFFFF"/>
          </a:solidFill>
          <a:ln w="28575">
            <a:solidFill>
              <a:srgbClr val="FDB91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5. </a:t>
            </a:r>
            <a:r>
              <a:rPr sz="800">
                <a:solidFill>
                  <a:srgbClr val="2E2E2E"/>
                </a:solidFill>
                <a:latin typeface="Arial"/>
              </a:rPr>
              <a:t>Package Request record: Negotiation tab</a:t>
            </a:r>
          </a:p>
        </p:txBody>
      </p:sp>
      <p:sp>
        <p:nvSpPr>
          <p:cNvPr id="31" name="Rounded Rectangle 30"/>
          <p:cNvSpPr/>
          <p:nvPr/>
        </p:nvSpPr>
        <p:spPr>
          <a:xfrm>
            <a:off x="7337484" y="3054096"/>
            <a:ext cx="731520" cy="18288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700" b="1">
                <a:solidFill>
                  <a:srgbClr val="8A5A00"/>
                </a:solidFill>
                <a:latin typeface="Arial"/>
              </a:rPr>
              <a:t>Approval</a:t>
            </a:r>
          </a:p>
        </p:txBody>
      </p:sp>
      <p:sp>
        <p:nvSpPr>
          <p:cNvPr id="32" name="Rounded Rectangle 31"/>
          <p:cNvSpPr/>
          <p:nvPr/>
        </p:nvSpPr>
        <p:spPr>
          <a:xfrm>
            <a:off x="8251884"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6. </a:t>
            </a:r>
            <a:r>
              <a:rPr sz="800">
                <a:solidFill>
                  <a:srgbClr val="2E2E2E"/>
                </a:solidFill>
                <a:latin typeface="Arial"/>
              </a:rPr>
              <a:t>Package Request record: Negotiation tab</a:t>
            </a:r>
          </a:p>
        </p:txBody>
      </p:sp>
      <p:sp>
        <p:nvSpPr>
          <p:cNvPr id="33" name="Rounded Rectangle 32"/>
          <p:cNvSpPr/>
          <p:nvPr/>
        </p:nvSpPr>
        <p:spPr>
          <a:xfrm>
            <a:off x="9415800" y="483717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7. </a:t>
            </a:r>
            <a:r>
              <a:rPr sz="800">
                <a:solidFill>
                  <a:srgbClr val="2E2E2E"/>
                </a:solidFill>
                <a:latin typeface="Arial"/>
              </a:rPr>
              <a:t>Package Request record</a:t>
            </a:r>
          </a:p>
        </p:txBody>
      </p:sp>
      <p:sp>
        <p:nvSpPr>
          <p:cNvPr id="34" name="Rounded Rectangle 33"/>
          <p:cNvSpPr/>
          <p:nvPr/>
        </p:nvSpPr>
        <p:spPr>
          <a:xfrm>
            <a:off x="10579716" y="3968496"/>
            <a:ext cx="962748"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8. </a:t>
            </a:r>
            <a:r>
              <a:rPr sz="800">
                <a:solidFill>
                  <a:srgbClr val="2E2E2E"/>
                </a:solidFill>
                <a:latin typeface="Arial"/>
              </a:rPr>
              <a:t>Package Request record: Requirements &amp; Sign-off tab</a:t>
            </a:r>
          </a:p>
        </p:txBody>
      </p:sp>
      <p:cxnSp>
        <p:nvCxnSpPr>
          <p:cNvPr id="35" name="Connector 34"/>
          <p:cNvCxnSpPr/>
          <p:nvPr/>
        </p:nvCxnSpPr>
        <p:spPr>
          <a:xfrm>
            <a:off x="3395052"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558968"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22884" y="259232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86800" y="346100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050716" y="346100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214632" y="432968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378548" y="432968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swimlane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132</a:t>
            </a:r>
          </a:p>
        </p:txBody>
      </p:sp>
      <p:sp>
        <p:nvSpPr>
          <p:cNvPr id="9" name="Rectangle 8"/>
          <p:cNvSpPr/>
          <p:nvPr/>
        </p:nvSpPr>
        <p:spPr>
          <a:xfrm>
            <a:off x="548640" y="130759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307592"/>
            <a:ext cx="1691640" cy="832104"/>
          </a:xfrm>
          <a:prstGeom prst="rect">
            <a:avLst/>
          </a:prstGeom>
          <a:noFill/>
        </p:spPr>
        <p:txBody>
          <a:bodyPr wrap="square" anchor="ctr" lIns="45720" rIns="45720">
            <a:spAutoFit/>
          </a:bodyPr>
          <a:lstStyle/>
          <a:p>
            <a:r>
              <a:rPr sz="1000" b="1" i="0">
                <a:solidFill>
                  <a:srgbClr val="FFFFFF"/>
                </a:solidFill>
                <a:latin typeface="Arial"/>
              </a:rPr>
              <a:t>Marketing Business Services</a:t>
            </a:r>
          </a:p>
        </p:txBody>
      </p:sp>
      <p:sp>
        <p:nvSpPr>
          <p:cNvPr id="11" name="Rectangle 10"/>
          <p:cNvSpPr/>
          <p:nvPr/>
        </p:nvSpPr>
        <p:spPr>
          <a:xfrm>
            <a:off x="2331720" y="1307592"/>
            <a:ext cx="9311335" cy="832104"/>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176272"/>
            <a:ext cx="1783080" cy="832104"/>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76272"/>
            <a:ext cx="1691640" cy="832104"/>
          </a:xfrm>
          <a:prstGeom prst="rect">
            <a:avLst/>
          </a:prstGeom>
          <a:noFill/>
        </p:spPr>
        <p:txBody>
          <a:bodyPr wrap="square" anchor="ctr" lIns="45720" rIns="45720">
            <a:spAutoFit/>
          </a:bodyPr>
          <a:lstStyle/>
          <a:p>
            <a:r>
              <a:rPr sz="1000" b="1" i="0">
                <a:solidFill>
                  <a:srgbClr val="FFFFFF"/>
                </a:solidFill>
                <a:latin typeface="Arial"/>
              </a:rPr>
              <a:t>TSU Head</a:t>
            </a:r>
          </a:p>
        </p:txBody>
      </p:sp>
      <p:sp>
        <p:nvSpPr>
          <p:cNvPr id="14" name="Rectangle 13"/>
          <p:cNvSpPr/>
          <p:nvPr/>
        </p:nvSpPr>
        <p:spPr>
          <a:xfrm>
            <a:off x="2331720" y="2176272"/>
            <a:ext cx="9311335" cy="83210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32304"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9. </a:t>
            </a:r>
            <a:r>
              <a:rPr sz="800">
                <a:solidFill>
                  <a:srgbClr val="2E2E2E"/>
                </a:solidFill>
                <a:latin typeface="Arial"/>
              </a:rPr>
              <a:t>Package Request record: Set-up and Advisories tabs</a:t>
            </a:r>
          </a:p>
        </p:txBody>
      </p:sp>
      <p:sp>
        <p:nvSpPr>
          <p:cNvPr id="16" name="Rounded Rectangle 15"/>
          <p:cNvSpPr/>
          <p:nvPr/>
        </p:nvSpPr>
        <p:spPr>
          <a:xfrm>
            <a:off x="4760137"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10. </a:t>
            </a:r>
            <a:r>
              <a:rPr sz="800">
                <a:solidFill>
                  <a:srgbClr val="2E2E2E"/>
                </a:solidFill>
                <a:latin typeface="Arial"/>
              </a:rPr>
              <a:t>Package Version</a:t>
            </a:r>
          </a:p>
        </p:txBody>
      </p:sp>
      <p:sp>
        <p:nvSpPr>
          <p:cNvPr id="17" name="Rounded Rectangle 16"/>
          <p:cNvSpPr/>
          <p:nvPr/>
        </p:nvSpPr>
        <p:spPr>
          <a:xfrm>
            <a:off x="7087970" y="223113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11. </a:t>
            </a:r>
            <a:r>
              <a:rPr sz="800">
                <a:solidFill>
                  <a:srgbClr val="2E2E2E"/>
                </a:solidFill>
                <a:latin typeface="Arial"/>
              </a:rPr>
              <a:t>Package Version</a:t>
            </a:r>
          </a:p>
        </p:txBody>
      </p:sp>
      <p:sp>
        <p:nvSpPr>
          <p:cNvPr id="18" name="Rounded Rectangle 17"/>
          <p:cNvSpPr/>
          <p:nvPr/>
        </p:nvSpPr>
        <p:spPr>
          <a:xfrm>
            <a:off x="9415803" y="1362456"/>
            <a:ext cx="2126665" cy="722376"/>
          </a:xfrm>
          <a:prstGeom prst="roundRect">
            <a:avLst/>
          </a:prstGeom>
          <a:solidFill>
            <a:srgbClr val="FFFFFF"/>
          </a:solidFill>
          <a:ln w="12700">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b="1" sz="900">
                <a:solidFill>
                  <a:srgbClr val="004EA8"/>
                </a:solidFill>
                <a:latin typeface="Arial"/>
              </a:rPr>
              <a:t>12. </a:t>
            </a:r>
            <a:r>
              <a:rPr sz="800">
                <a:solidFill>
                  <a:srgbClr val="2E2E2E"/>
                </a:solidFill>
                <a:latin typeface="Arial"/>
              </a:rPr>
              <a:t>Package Version</a:t>
            </a:r>
          </a:p>
        </p:txBody>
      </p:sp>
      <p:cxnSp>
        <p:nvCxnSpPr>
          <p:cNvPr id="19" name="Connector 18"/>
          <p:cNvCxnSpPr/>
          <p:nvPr/>
        </p:nvCxnSpPr>
        <p:spPr>
          <a:xfrm>
            <a:off x="4558969" y="1723644"/>
            <a:ext cx="201168" cy="0"/>
          </a:xfrm>
          <a:prstGeom prst="line">
            <a:avLst/>
          </a:prstGeom>
          <a:ln w="12700">
            <a:solidFill>
              <a:srgbClr val="65656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86802"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9214635" y="1723644"/>
            <a:ext cx="201168" cy="868680"/>
          </a:xfrm>
          <a:prstGeom prst="bentConnector3">
            <a:avLst/>
          </a:prstGeom>
          <a:ln w="19050">
            <a:solidFill>
              <a:srgbClr val="0072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48640" y="6016752"/>
            <a:ext cx="11094415" cy="274320"/>
          </a:xfrm>
          <a:prstGeom prst="rect">
            <a:avLst/>
          </a:prstGeom>
          <a:noFill/>
        </p:spPr>
        <p:txBody>
          <a:bodyPr wrap="square" anchor="t" lIns="45720" rIns="45720">
            <a:spAutoFit/>
          </a:bodyPr>
          <a:lstStyle/>
          <a:p>
            <a:r>
              <a:rPr sz="900" b="0" i="1">
                <a:solidFill>
                  <a:srgbClr val="656565"/>
                </a:solidFill>
                <a:latin typeface="Arial"/>
              </a:rPr>
              <a:t>Boxes: step number and screen. Blue arrow: hand-off to another persona. Yellow outline: an approval, authorisation, sign-off or validation step.</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133</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1.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Opens New Package Request and clicks Save Draft without the name, line and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Form corrected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Under the fields: Enter the package or programme name; Select the product line; Select the reason. Nothing is saved</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2: Marketing Account Officer on New Package Request and Edit Package Request</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2 of 12: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Account Officer: Completes the header only and clicks Submit for Approval</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Request stays a draft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900" b="0" i="0">
                <a:solidFill>
                  <a:srgbClr val="2E2E2E"/>
                </a:solidFill>
                <a:latin typeface="Arial"/>
              </a:rPr>
              <a:t>The hint Before submitting, complete the requested terms (coverages or sections); at least one target insurer; the package end date, and the refusal Complete the request: ... with its reference</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3: Marketing TL / TH / UH on Package Request record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3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135</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3.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TL / TH / UH: Creates and submits a request himself, then clicks Approve and send to TSU on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Marketing approver is needed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A package request is approved by someone other than its maker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4: TSU Team Lead on Package Request record</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4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136</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4.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Opens PKR-2026-900002 and clicks Return to requester, chooses the reason and writes what is missing</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the requester</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Draft request; the requester receives the workflow notice with the comment</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5: TSU Team Lead on Package Request record: Negotiation tab</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5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137</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wt-b-05.png"/>
          <p:cNvPicPr>
            <a:picLocks noChangeAspect="1"/>
          </p:cNvPicPr>
          <p:nvPr/>
        </p:nvPicPr>
        <p:blipFill>
          <a:blip r:embed="rId3"/>
          <a:stretch>
            <a:fillRect/>
          </a:stretch>
        </p:blipFill>
        <p:spPr>
          <a:xfrm>
            <a:off x="548640" y="1261872"/>
            <a:ext cx="7665415" cy="1900113"/>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Team Lead: Prepares and submits a slip himself, then clicks Approve and Send on it</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Another approver is needed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quotation slip is approved by a TL or a co-officer</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6: TSU Officer on Package Request record: Negotiation tab</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6 of 12: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6.png"/>
          <p:cNvPicPr>
            <a:picLocks noChangeAspect="1"/>
          </p:cNvPicPr>
          <p:nvPr/>
        </p:nvPicPr>
        <p:blipFill>
          <a:blip r:embed="rId3"/>
          <a:stretch>
            <a:fillRect/>
          </a:stretch>
        </p:blipFill>
        <p:spPr>
          <a:xfrm>
            <a:off x="548640" y="1261872"/>
            <a:ext cx="7665415" cy="4433598"/>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SCR-PM-05</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Opens PKR-2026-900003 and clicks Terms final while Luzon Assurance is still pending in round 2</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Outcome to be keyed in first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Every insurer of round 2 needs an outcome before the terms are final (1 pending)</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7: ManCom member on Package Request record</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7 of 12: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139</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7.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SCR-PM-04</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ManCom member: Opens PKR-2026-900004 and clicks Return to TSU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 ManCom decisions lists the return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8: TSU Officer on Package Request record: Requirements &amp; Sign-off tab</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8 of 12: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140</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08.png"/>
          <p:cNvPicPr>
            <a:picLocks noChangeAspect="1"/>
          </p:cNvPicPr>
          <p:nvPr/>
        </p:nvPicPr>
        <p:blipFill>
          <a:blip r:embed="rId3"/>
          <a:stretch>
            <a:fillRect/>
          </a:stretch>
        </p:blipFill>
        <p:spPr>
          <a:xfrm>
            <a:off x="548640" y="1261872"/>
            <a:ext cx="7665415" cy="3248057"/>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SCR-PM-07</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Officer: Clicks Submit requirements for ManCom sign-off before uploading the signed package slip</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Signed slip to be uploaded</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checklist lists the missing signed package slip; the refusal Complete the requirements: ...</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9: Marketing Business Services on Package Request record: Set-up and Advisories tabs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9 of 12: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141</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09.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SCR-PM-08</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PKR-2026-900005 and clicks Return incomplete requirements to TSU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TSU</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stage becomes Requirements preparation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10: Marketing Business Services on Package Version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10 of 12: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142</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wt-b-10.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 clears the minimum premium and sets an effective date before today, then clicks Submit for Validation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Version stays a draft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Correct the highlighted fields; under the fields Enter the minimum premium and The effective date cannot be before today</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11: TSU Head on Package Version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11 of 12: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143</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11.png"/>
          <p:cNvPicPr>
            <a:picLocks noChangeAspect="1"/>
          </p:cNvPicPr>
          <p:nvPr/>
        </p:nvPicPr>
        <p:blipFill>
          <a:blip r:embed="rId3"/>
          <a:stretch>
            <a:fillRect/>
          </a:stretch>
        </p:blipFill>
        <p:spPr>
          <a:xfrm>
            <a:off x="1088288" y="1261872"/>
            <a:ext cx="658611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TSU Head: Opens the submitted MTR12 version 2 and clicks Return to MBS with the reason</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Returned to MBS</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Toast: Version 2 returned to MBS</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Step 12: Marketing Business Services on Package Version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WT-B step 12 of 12: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144</a:t>
            </a:r>
          </a:p>
        </p:txBody>
      </p:sp>
      <p:sp>
        <p:nvSpPr>
          <p:cNvPr id="9" name="Rounded Rectangle 8"/>
          <p:cNvSpPr/>
          <p:nvPr/>
        </p:nvSpPr>
        <p:spPr>
          <a:xfrm>
            <a:off x="9539935" y="896112"/>
            <a:ext cx="2103120"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Rejected or returned</a:t>
            </a:r>
          </a:p>
        </p:txBody>
      </p:sp>
      <p:pic>
        <p:nvPicPr>
          <p:cNvPr id="10" name="Picture 9" descr="wt-b-12.png"/>
          <p:cNvPicPr>
            <a:picLocks noChangeAspect="1"/>
          </p:cNvPicPr>
          <p:nvPr/>
        </p:nvPicPr>
        <p:blipFill>
          <a:blip r:embed="rId3"/>
          <a:stretch>
            <a:fillRect/>
          </a:stretch>
        </p:blipFill>
        <p:spPr>
          <a:xfrm>
            <a:off x="1110843" y="1261872"/>
            <a:ext cx="6541008" cy="4736592"/>
          </a:xfrm>
          <a:prstGeom prst="rect">
            <a:avLst/>
          </a:prstGeom>
          <a:ln w="9525">
            <a:solidFill>
              <a:srgbClr val="C2C2C1"/>
            </a:solidFill>
          </a:ln>
        </p:spPr>
      </p:pic>
      <p:sp>
        <p:nvSpPr>
          <p:cNvPr id="11" name="TextBox 10"/>
          <p:cNvSpPr txBox="1"/>
          <p:nvPr/>
        </p:nvSpPr>
        <p:spPr>
          <a:xfrm>
            <a:off x="548640" y="5998464"/>
            <a:ext cx="7665415" cy="292608"/>
          </a:xfrm>
          <a:prstGeom prst="rect">
            <a:avLst/>
          </a:prstGeom>
          <a:noFill/>
        </p:spPr>
        <p:txBody>
          <a:bodyPr wrap="square" anchor="t" lIns="45720" rIns="45720">
            <a:spAutoFit/>
          </a:bodyPr>
          <a:lstStyle/>
          <a:p>
            <a:pPr algn="ctr"/>
            <a:r>
              <a:rPr sz="1100" b="0" i="1">
                <a:solidFill>
                  <a:srgbClr val="656565"/>
                </a:solidFill>
                <a:latin typeface="Arial"/>
              </a:rPr>
              <a:t>SCR-PM-13</a:t>
            </a:r>
          </a:p>
        </p:txBody>
      </p:sp>
      <p:sp>
        <p:nvSpPr>
          <p:cNvPr id="12" name="Rectangle 11"/>
          <p:cNvSpPr/>
          <p:nvPr/>
        </p:nvSpPr>
        <p:spPr>
          <a:xfrm>
            <a:off x="8396935" y="126187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96935" y="126187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6663" y="1298448"/>
            <a:ext cx="3063240" cy="228600"/>
          </a:xfrm>
          <a:prstGeom prst="rect">
            <a:avLst/>
          </a:prstGeom>
          <a:noFill/>
        </p:spPr>
        <p:txBody>
          <a:bodyPr wrap="square" anchor="t" lIns="45720" rIns="45720">
            <a:spAutoFit/>
          </a:bodyPr>
          <a:lstStyle/>
          <a:p>
            <a:r>
              <a:rPr sz="900" b="1" i="0">
                <a:solidFill>
                  <a:srgbClr val="004EA8"/>
                </a:solidFill>
                <a:latin typeface="Arial"/>
              </a:rPr>
              <a:t>PERSONA DOES</a:t>
            </a:r>
          </a:p>
        </p:txBody>
      </p:sp>
      <p:sp>
        <p:nvSpPr>
          <p:cNvPr id="15" name="TextBox 14"/>
          <p:cNvSpPr txBox="1"/>
          <p:nvPr/>
        </p:nvSpPr>
        <p:spPr>
          <a:xfrm>
            <a:off x="8506663" y="1517904"/>
            <a:ext cx="3063240" cy="914400"/>
          </a:xfrm>
          <a:prstGeom prst="rect">
            <a:avLst/>
          </a:prstGeom>
          <a:noFill/>
        </p:spPr>
        <p:txBody>
          <a:bodyPr wrap="square" anchor="t" lIns="45720" rIns="45720">
            <a:spAutoFit/>
          </a:bodyPr>
          <a:lstStyle/>
          <a:p>
            <a:r>
              <a:rPr sz="1000" b="0" i="0">
                <a:solidFill>
                  <a:srgbClr val="2E2E2E"/>
                </a:solidFill>
                <a:latin typeface="Arial"/>
              </a:rPr>
              <a:t>Marketing Business Services: Opens MTR12 version 2</a:t>
            </a:r>
          </a:p>
        </p:txBody>
      </p:sp>
      <p:sp>
        <p:nvSpPr>
          <p:cNvPr id="16" name="Rectangle 15"/>
          <p:cNvSpPr/>
          <p:nvPr/>
        </p:nvSpPr>
        <p:spPr>
          <a:xfrm>
            <a:off x="8396935" y="254203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96935" y="254203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6663" y="2578608"/>
            <a:ext cx="3063240" cy="228600"/>
          </a:xfrm>
          <a:prstGeom prst="rect">
            <a:avLst/>
          </a:prstGeom>
          <a:noFill/>
        </p:spPr>
        <p:txBody>
          <a:bodyPr wrap="square" anchor="t" lIns="45720" rIns="45720">
            <a:spAutoFit/>
          </a:bodyPr>
          <a:lstStyle/>
          <a:p>
            <a:r>
              <a:rPr sz="900" b="1" i="0">
                <a:solidFill>
                  <a:srgbClr val="004EA8"/>
                </a:solidFill>
                <a:latin typeface="Arial"/>
              </a:rPr>
              <a:t>SYSTEM DOES</a:t>
            </a:r>
          </a:p>
        </p:txBody>
      </p:sp>
      <p:sp>
        <p:nvSpPr>
          <p:cNvPr id="19" name="TextBox 18"/>
          <p:cNvSpPr txBox="1"/>
          <p:nvPr/>
        </p:nvSpPr>
        <p:spPr>
          <a:xfrm>
            <a:off x="8506663" y="2798064"/>
            <a:ext cx="3063240" cy="914400"/>
          </a:xfrm>
          <a:prstGeom prst="rect">
            <a:avLst/>
          </a:prstGeom>
          <a:noFill/>
        </p:spPr>
        <p:txBody>
          <a:bodyPr wrap="square" anchor="t" lIns="45720" rIns="45720">
            <a:spAutoFit/>
          </a:bodyPr>
          <a:lstStyle/>
          <a:p>
            <a:r>
              <a:rPr sz="1000" b="0" i="0">
                <a:solidFill>
                  <a:srgbClr val="2E2E2E"/>
                </a:solidFill>
                <a:latin typeface="Arial"/>
              </a:rPr>
              <a:t>Draft to correct</a:t>
            </a:r>
          </a:p>
        </p:txBody>
      </p:sp>
      <p:sp>
        <p:nvSpPr>
          <p:cNvPr id="20" name="Rectangle 19"/>
          <p:cNvSpPr/>
          <p:nvPr/>
        </p:nvSpPr>
        <p:spPr>
          <a:xfrm>
            <a:off x="8396935" y="382219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96935" y="382219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6663" y="3858768"/>
            <a:ext cx="3063240" cy="228600"/>
          </a:xfrm>
          <a:prstGeom prst="rect">
            <a:avLst/>
          </a:prstGeom>
          <a:noFill/>
        </p:spPr>
        <p:txBody>
          <a:bodyPr wrap="square" anchor="t" lIns="45720" rIns="45720">
            <a:spAutoFit/>
          </a:bodyPr>
          <a:lstStyle/>
          <a:p>
            <a:r>
              <a:rPr sz="900" b="1" i="0">
                <a:solidFill>
                  <a:srgbClr val="004EA8"/>
                </a:solidFill>
                <a:latin typeface="Arial"/>
              </a:rPr>
              <a:t>NOTICES AND MESSAGES SHOWN</a:t>
            </a:r>
          </a:p>
        </p:txBody>
      </p:sp>
      <p:sp>
        <p:nvSpPr>
          <p:cNvPr id="23" name="TextBox 22"/>
          <p:cNvSpPr txBox="1"/>
          <p:nvPr/>
        </p:nvSpPr>
        <p:spPr>
          <a:xfrm>
            <a:off x="8506663" y="4078224"/>
            <a:ext cx="3063240" cy="914400"/>
          </a:xfrm>
          <a:prstGeom prst="rect">
            <a:avLst/>
          </a:prstGeom>
          <a:noFill/>
        </p:spPr>
        <p:txBody>
          <a:bodyPr wrap="square" anchor="t" lIns="45720" rIns="45720">
            <a:spAutoFit/>
          </a:bodyPr>
          <a:lstStyle/>
          <a:p>
            <a:r>
              <a:rPr sz="1000" b="0" i="0">
                <a:solidFill>
                  <a:srgbClr val="2E2E2E"/>
                </a:solidFill>
                <a:latin typeface="Arial"/>
              </a:rPr>
              <a:t>The banner Returned by the validator: &lt;reason&gt; above the tabs; the draft can be corrected and submitted again</a:t>
            </a:r>
          </a:p>
        </p:txBody>
      </p:sp>
      <p:sp>
        <p:nvSpPr>
          <p:cNvPr id="24" name="Rectangle 23"/>
          <p:cNvSpPr/>
          <p:nvPr/>
        </p:nvSpPr>
        <p:spPr>
          <a:xfrm>
            <a:off x="8396935" y="5102352"/>
            <a:ext cx="3246120" cy="11887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6935" y="5102352"/>
            <a:ext cx="50800" cy="11887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6663" y="5138928"/>
            <a:ext cx="3063240" cy="228600"/>
          </a:xfrm>
          <a:prstGeom prst="rect">
            <a:avLst/>
          </a:prstGeom>
          <a:noFill/>
        </p:spPr>
        <p:txBody>
          <a:bodyPr wrap="square" anchor="t" lIns="45720" rIns="45720">
            <a:spAutoFit/>
          </a:bodyPr>
          <a:lstStyle/>
          <a:p>
            <a:r>
              <a:rPr sz="900" b="1" i="0">
                <a:solidFill>
                  <a:srgbClr val="004EA8"/>
                </a:solidFill>
                <a:latin typeface="Arial"/>
              </a:rPr>
              <a:t>NEXT</a:t>
            </a:r>
          </a:p>
        </p:txBody>
      </p:sp>
      <p:sp>
        <p:nvSpPr>
          <p:cNvPr id="27" name="TextBox 26"/>
          <p:cNvSpPr txBox="1"/>
          <p:nvPr/>
        </p:nvSpPr>
        <p:spPr>
          <a:xfrm>
            <a:off x="8506663" y="5358384"/>
            <a:ext cx="3063240" cy="914400"/>
          </a:xfrm>
          <a:prstGeom prst="rect">
            <a:avLst/>
          </a:prstGeom>
          <a:noFill/>
        </p:spPr>
        <p:txBody>
          <a:bodyPr wrap="square" anchor="t" lIns="45720" rIns="45720">
            <a:spAutoFit/>
          </a:bodyPr>
          <a:lstStyle/>
          <a:p>
            <a:r>
              <a:rPr sz="1000" b="0" i="0">
                <a:solidFill>
                  <a:srgbClr val="2E2E2E"/>
                </a:solidFill>
                <a:latin typeface="Arial"/>
              </a:rPr>
              <a:t>End of the flow</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Screen catalogue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Every screen with its numbered callouts, fields, actions and every state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146</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starting point of Product Maintenance: where every package request stands, by stage, with the requests past their service level; the packages ending within 30, 60 and 90 days; the package versions waiting for validation, the advisories not yet sent and the comparative outputs of the week. Every tile opens its list.</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Maintenance Home</a:t>
                      </a:r>
                    </a:p>
                    <a:p>
                      <a:r>
                        <a:rPr sz="950" b="0">
                          <a:solidFill>
                            <a:srgbClr val="4B4B4B"/>
                          </a:solidFill>
                          <a:latin typeface="Arial"/>
                        </a:rPr>
                        <a:t>Sign in, then the sidebar entry Product Maintenance Home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FR-PM-070,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Each user sees at once the package work waiting in each stage and the packages that end soon, and opens the list in one click.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147</a:t>
            </a:r>
          </a:p>
        </p:txBody>
      </p:sp>
      <p:graphicFrame>
        <p:nvGraphicFramePr>
          <p:cNvPr id="9" name="Table 8"/>
          <p:cNvGraphicFramePr>
            <a:graphicFrameLocks noGrp="1"/>
          </p:cNvGraphicFramePr>
          <p:nvPr/>
        </p:nvGraphicFramePr>
        <p:xfrm>
          <a:off x="548640" y="1325880"/>
          <a:ext cx="11094411" cy="219454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 by stage</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Count of requests; '· n overdue' added when a request of the tile is past its due time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Red marker when a request is overdue or due within eight hours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Packages ending soon</a:t>
                      </a:r>
                    </a:p>
                  </a:txBody>
                  <a:tcPr marL="54864" marR="54864" marT="27432" marB="27432">
                    <a:solidFill>
                      <a:srgbClr val="E5F5FF"/>
                    </a:solidFill>
                  </a:tcPr>
                </a:tc>
                <a:tc>
                  <a:txBody>
                    <a:bodyPr/>
                    <a:lstStyle/>
                    <a:p>
                      <a:r>
                        <a:rPr sz="850" b="0">
                          <a:solidFill>
                            <a:srgbClr val="4B4B4B"/>
                          </a:solidFill>
                          <a:latin typeface="Arial"/>
                        </a:rPr>
                        <a:t>Within 30 days / Within 60 days / Within 90 days</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Count of released packages whose package end date falls in the window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30-day tile is always marked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Versions for validation</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set up by MBS, waiting for the checkpoint'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Advisories pending</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'n drafted, not sent yet'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Shortcuts</a:t>
                      </a:r>
                    </a:p>
                  </a:txBody>
                  <a:tcPr marL="54864" marR="54864" marT="27432" marB="27432">
                    <a:solidFill>
                      <a:srgbClr val="FFFFFF"/>
                    </a:solidFill>
                  </a:tcPr>
                </a:tc>
                <a:tc>
                  <a:txBody>
                    <a:bodyPr/>
                    <a:lstStyle/>
                    <a:p>
                      <a:r>
                        <a:rPr sz="850" b="0">
                          <a:solidFill>
                            <a:srgbClr val="4B4B4B"/>
                          </a:solidFill>
                          <a:latin typeface="Arial"/>
                        </a:rPr>
                        <a:t>Comparative outputs this week</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'n master and client outputs generated'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Shortcuts</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Tile</a:t>
                      </a:r>
                    </a:p>
                  </a:txBody>
                  <a:tcPr marL="54864" marR="54864" marT="27432" marB="27432">
                    <a:solidFill>
                      <a:srgbClr val="E5F5FF"/>
                    </a:solidFill>
                  </a:tcPr>
                </a:tc>
                <a:tc>
                  <a:txBody>
                    <a:bodyPr/>
                    <a:lstStyle/>
                    <a:p>
                      <a:r>
                        <a:rPr sz="850" b="0">
                          <a:solidFill>
                            <a:srgbClr val="4B4B4B"/>
                          </a:solidFill>
                          <a:latin typeface="Arial"/>
                        </a:rPr>
                        <a:t>Link</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New Package Request</a:t>
                      </a:r>
                    </a:p>
                  </a:txBody>
                  <a:tcPr marL="54864" marR="54864" marT="27432" marB="27432">
                    <a:solidFill>
                      <a:srgbClr val="FFFFFF"/>
                    </a:solidFill>
                  </a:tcPr>
                </a:tc>
                <a:tc>
                  <a:txBody>
                    <a:bodyPr/>
                    <a:lstStyle/>
                    <a:p>
                      <a:r>
                        <a:rPr sz="850" b="0">
                          <a:solidFill>
                            <a:srgbClr val="4B4B4B"/>
                          </a:solidFill>
                          <a:latin typeface="Arial"/>
                        </a:rPr>
                        <a:t>Marketing AO, Marketing TL, TSU Officer (permission PKG_REQUEST)</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New Package Request form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 stage tile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Package Requests on the tab of the tile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An expiry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 with the window of the tile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149</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counts are those of the company selected in the page header (FR-PM-070).</a:t>
                      </a:r>
                    </a:p>
                  </a:txBody>
                  <a:tcPr marL="54864" marR="54864" marT="27432" marB="27432">
                    <a:solidFill>
                      <a:srgbClr val="FFFFFF"/>
                    </a:solidFill>
                  </a:tcPr>
                </a:tc>
              </a:tr>
              <a:tr h="243840">
                <a:tc>
                  <a:txBody>
                    <a:bodyPr/>
                    <a:lstStyle/>
                    <a:p>
                      <a:r>
                        <a:rPr sz="1000" b="0">
                          <a:solidFill>
                            <a:srgbClr val="4B4B4B"/>
                          </a:solidFill>
                          <a:latin typeface="Arial"/>
                        </a:rPr>
                        <a:t>A request is marked overdue when its stage due time has passed and due soon within eight hours of it; the due time comes from the service level hours of the stage (FR-PM-073).</a:t>
                      </a:r>
                    </a:p>
                  </a:txBody>
                  <a:tcPr marL="54864" marR="54864" marT="27432" marB="27432">
                    <a:solidFill>
                      <a:srgbClr val="E5F5FF"/>
                    </a:solidFill>
                  </a:tcPr>
                </a:tc>
              </a:tr>
            </a:tbl>
          </a:graphicData>
        </a:graphic>
      </p:graphicFrame>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09.png"/>
          <p:cNvPicPr>
            <a:picLocks noChangeAspect="1"/>
          </p:cNvPicPr>
          <p:nvPr/>
        </p:nvPicPr>
        <p:blipFill>
          <a:blip r:embed="rId3"/>
          <a:stretch>
            <a:fillRect/>
          </a:stretch>
        </p:blipFill>
        <p:spPr>
          <a:xfrm>
            <a:off x="548640" y="1261872"/>
            <a:ext cx="11094415" cy="464193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Maintenance Home of the TSU Head (part 1 of 2)</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SCR-PM-01 Product Maintenance Home: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0.png"/>
          <p:cNvPicPr>
            <a:picLocks noChangeAspect="1"/>
          </p:cNvPicPr>
          <p:nvPr/>
        </p:nvPicPr>
        <p:blipFill>
          <a:blip r:embed="rId3"/>
          <a:stretch>
            <a:fillRect/>
          </a:stretch>
        </p:blipFill>
        <p:spPr>
          <a:xfrm>
            <a:off x="548640" y="1261872"/>
            <a:ext cx="11094415" cy="229207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Maintenance Home of the TSU Head (part 2 of 2)</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152</a:t>
            </a:r>
          </a:p>
        </p:txBody>
      </p:sp>
      <p:graphicFrame>
        <p:nvGraphicFramePr>
          <p:cNvPr id="9" name="Table 8"/>
          <p:cNvGraphicFramePr>
            <a:graphicFrameLocks noGrp="1"/>
          </p:cNvGraphicFramePr>
          <p:nvPr/>
        </p:nvGraphicFramePr>
        <p:xfrm>
          <a:off x="548640" y="1307592"/>
          <a:ext cx="6434760" cy="26670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work list of package requests of the company, by stage, from the draft to the released or closed request. Team leaders assign the selected requests of one stage to a user of the team.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a:t>
                      </a:r>
                    </a:p>
                    <a:p>
                      <a:r>
                        <a:rPr sz="950" b="0">
                          <a:solidFill>
                            <a:srgbClr val="4B4B4B"/>
                          </a:solidFill>
                          <a:latin typeface="Arial"/>
                        </a:rPr>
                        <a:t>Product Maintenance Home › a stage tile (opens the tab of the stage)</a:t>
                      </a:r>
                    </a:p>
                    <a:p>
                      <a:r>
                        <a:rPr sz="950" b="0">
                          <a:solidFill>
                            <a:srgbClr val="4B4B4B"/>
                          </a:solidFill>
                          <a:latin typeface="Arial"/>
                        </a:rPr>
                        <a:t>Package Request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user finds any package request by stage or number and opens it; team leaders spread the work.</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153</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Drafts / For Approval / TSU Review / Negotiation / ManCom / With MBS / For Validation / Released / Closed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Each tab lists its stages: TSU Review = TSU review and TSU Head approval; Negotiation = negotiation, terms review, Marketing review and requirements; Closed = retired, not proceeded and voided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Request No.</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PKR-yyyy-nnnnnn, part of a number allowed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 on the request number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Only My Requests</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Requests created by the user or assigned to the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types, New package, Amend package terms, Update package details, Renew package, Retire package, Reactivate expired package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Request No.</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PKR-yyyy-nnnnnn with the creation date under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Type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Scope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Generic or Client-specific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Client / Programme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Package or programme name, with the client name or Programme under 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Line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and resulting version (v2),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Status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 days, with overdue or due soon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Red when past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Assignee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or a dash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154</a:t>
            </a:r>
          </a:p>
        </p:txBody>
      </p:sp>
      <p:graphicFrame>
        <p:nvGraphicFramePr>
          <p:cNvPr id="9" name="Table 8"/>
          <p:cNvGraphicFramePr>
            <a:graphicFrameLocks noGrp="1"/>
          </p:cNvGraphicFramePr>
          <p:nvPr/>
        </p:nvGraphicFramePr>
        <p:xfrm>
          <a:off x="548640" y="1325880"/>
          <a:ext cx="11094412" cy="158495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Package Expiry</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Package Expiry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New Package Request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New Package Request form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Rows of one stage are selected</a:t>
                      </a:r>
                    </a:p>
                  </a:txBody>
                  <a:tcPr marL="54864" marR="54864" marT="27432" marB="27432">
                    <a:solidFill>
                      <a:srgbClr val="FFFFFF"/>
                    </a:solidFill>
                  </a:tcPr>
                </a:tc>
                <a:tc>
                  <a:txBody>
                    <a:bodyPr/>
                    <a:lstStyle/>
                    <a:p>
                      <a:r>
                        <a:rPr sz="850" b="0">
                          <a:solidFill>
                            <a:srgbClr val="4B4B4B"/>
                          </a:solidFill>
                          <a:latin typeface="Arial"/>
                        </a:rPr>
                        <a:t>Opens Assign Package Requests: choose a user of the team of the stage, or Team queue (unassigned), and click Assign</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 to the new assignee</a:t>
                      </a:r>
                    </a:p>
                  </a:txBody>
                  <a:tcPr marL="54864" marR="54864" marT="27432" marB="27432">
                    <a:solidFill>
                      <a:srgbClr val="FFFFFF"/>
                    </a:solidFill>
                  </a:tcPr>
                </a:tc>
              </a:tr>
              <a:tr h="220979">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Shows or hides the request type filter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155</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list shows the requests of the company selected in the page header (FR-PM-024).</a:t>
                      </a:r>
                    </a:p>
                  </a:txBody>
                  <a:tcPr marL="54864" marR="54864" marT="27432" marB="27432">
                    <a:solidFill>
                      <a:srgbClr val="FFFFFF"/>
                    </a:solidFill>
                  </a:tcPr>
                </a:tc>
              </a:tr>
              <a:tr h="243840">
                <a:tc>
                  <a:txBody>
                    <a:bodyPr/>
                    <a:lstStyle/>
                    <a:p>
                      <a:r>
                        <a:rPr sz="1000" b="0">
                          <a:solidFill>
                            <a:srgbClr val="4B4B4B"/>
                          </a:solidFill>
                          <a:latin typeface="Arial"/>
                        </a:rPr>
                        <a:t>Assign is offered only for requests of one stage; the assignee is chosen among the users who work that stage (FR-PM-024).</a:t>
                      </a:r>
                    </a:p>
                  </a:txBody>
                  <a:tcPr marL="54864" marR="54864" marT="27432" marB="27432">
                    <a:solidFill>
                      <a:srgbClr val="E5F5FF"/>
                    </a:solidFill>
                  </a:tcPr>
                </a:tc>
              </a:tr>
              <a:tr h="243840">
                <a:tc>
                  <a:txBody>
                    <a:bodyPr/>
                    <a:lstStyle/>
                    <a:p>
                      <a:r>
                        <a:rPr sz="1000" b="0">
                          <a:solidFill>
                            <a:srgbClr val="4B4B4B"/>
                          </a:solidFill>
                          <a:latin typeface="Arial"/>
                        </a:rPr>
                        <a:t>The time in stage turns red when the stage due time has passed (FR-PM-073).</a:t>
                      </a:r>
                    </a:p>
                  </a:txBody>
                  <a:tcPr marL="54864" marR="54864" marT="27432" marB="27432">
                    <a:solidFill>
                      <a:srgbClr val="FFFFFF"/>
                    </a:solidFill>
                  </a:tcPr>
                </a:tc>
              </a:tr>
            </a:tbl>
          </a:graphicData>
        </a:graphic>
      </p:graphicFrame>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2-01-list.png"/>
          <p:cNvPicPr>
            <a:picLocks noChangeAspect="1"/>
          </p:cNvPicPr>
          <p:nvPr/>
        </p:nvPicPr>
        <p:blipFill>
          <a:blip r:embed="rId3"/>
          <a:stretch>
            <a:fillRect/>
          </a:stretch>
        </p:blipFill>
        <p:spPr>
          <a:xfrm>
            <a:off x="626984" y="1261872"/>
            <a:ext cx="1093772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Negotiation tab</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02-02-filters.png"/>
          <p:cNvPicPr>
            <a:picLocks noChangeAspect="1"/>
          </p:cNvPicPr>
          <p:nvPr/>
        </p:nvPicPr>
        <p:blipFill>
          <a:blip r:embed="rId3"/>
          <a:stretch>
            <a:fillRect/>
          </a:stretch>
        </p:blipFill>
        <p:spPr>
          <a:xfrm>
            <a:off x="1606920" y="1261872"/>
            <a:ext cx="897785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Requests with the request type filter</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SCR-PM-02 Package Requests: Empty 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158</a:t>
            </a:r>
          </a:p>
        </p:txBody>
      </p:sp>
      <p:sp>
        <p:nvSpPr>
          <p:cNvPr id="9" name="Rounded Rectangle 8"/>
          <p:cNvSpPr/>
          <p:nvPr/>
        </p:nvSpPr>
        <p:spPr>
          <a:xfrm>
            <a:off x="10408615" y="896112"/>
            <a:ext cx="123444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Empty list</a:t>
            </a:r>
          </a:p>
        </p:txBody>
      </p:sp>
      <p:pic>
        <p:nvPicPr>
          <p:cNvPr id="10" name="Picture 9" descr="ux-scr-pm-02-empty.png"/>
          <p:cNvPicPr>
            <a:picLocks noChangeAspect="1"/>
          </p:cNvPicPr>
          <p:nvPr/>
        </p:nvPicPr>
        <p:blipFill>
          <a:blip r:embed="rId3"/>
          <a:stretch>
            <a:fillRect/>
          </a:stretch>
        </p:blipFill>
        <p:spPr>
          <a:xfrm>
            <a:off x="1592203" y="1261872"/>
            <a:ext cx="9007289"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 search that finds no package request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159</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Form. Marketing or TSU describe the package: the request type and scope, the package or programme name, the client of a client-specific package, the product line, cover type and product, the reason, the requested terms by section and coverage, the requested rate scheme and package term, and the insurers to approach. The draft is saved at any time; submission checks that the request is complete. The TSU Team Lead can complete the form during the TSU review.</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New Package Request</a:t>
                      </a:r>
                    </a:p>
                    <a:p>
                      <a:r>
                        <a:rPr sz="950" b="0">
                          <a:solidFill>
                            <a:srgbClr val="4B4B4B"/>
                          </a:solidFill>
                          <a:latin typeface="Arial"/>
                        </a:rPr>
                        <a:t>Package Requests › New Package Request</a:t>
                      </a:r>
                    </a:p>
                    <a:p>
                      <a:r>
                        <a:rPr sz="950" b="0">
                          <a:solidFill>
                            <a:srgbClr val="4B4B4B"/>
                          </a:solidFill>
                          <a:latin typeface="Arial"/>
                        </a:rPr>
                        <a:t>Product Maintenance Home › New Package Request</a:t>
                      </a:r>
                    </a:p>
                    <a:p>
                      <a:r>
                        <a:rPr sz="950" b="0">
                          <a:solidFill>
                            <a:srgbClr val="4B4B4B"/>
                          </a:solidFill>
                          <a:latin typeface="Arial"/>
                        </a:rPr>
                        <a:t>Package Request record › Edit (draft, or TSU review for the TSU Team Lead)</a:t>
                      </a:r>
                    </a:p>
                    <a:p>
                      <a:r>
                        <a:rPr sz="950" b="0">
                          <a:solidFill>
                            <a:srgbClr val="4B4B4B"/>
                          </a:solidFill>
                          <a:latin typeface="Arial"/>
                        </a:rPr>
                        <a:t>Package Expiry › Generate Renewal Request (opens the drafted renewal request)</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FR-PM-020, FR-PM-010,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package request is numbered, complete and waiting for the Marketing approval, with its supporting documents attached.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160</a:t>
            </a:r>
          </a:p>
        </p:txBody>
      </p:sp>
      <p:graphicFrame>
        <p:nvGraphicFramePr>
          <p:cNvPr id="9" name="Table 8"/>
          <p:cNvGraphicFramePr>
            <a:graphicFrameLocks noGrp="1"/>
          </p:cNvGraphicFramePr>
          <p:nvPr/>
        </p:nvGraphicFramePr>
        <p:xfrm>
          <a:off x="548640" y="1325880"/>
          <a:ext cx="11094411" cy="4892010"/>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Request type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New package, Amend package terms, Update package details, Renew package, Retire package, Reactivate expired package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The type of a saved request cannot change</a:t>
                      </a:r>
                    </a:p>
                  </a:txBody>
                  <a:tcPr marL="54864" marR="54864" marT="27432" marB="27432">
                    <a:solidFill>
                      <a:srgbClr val="FFFFFF"/>
                    </a:solidFill>
                  </a:tcPr>
                </a:tc>
                <a:tc>
                  <a:txBody>
                    <a:bodyPr/>
                    <a:lstStyle/>
                    <a:p>
                      <a:r>
                        <a:rPr sz="850" b="0">
                          <a:solidFill>
                            <a:srgbClr val="4B4B4B"/>
                          </a:solidFill>
                          <a:latin typeface="Arial"/>
                        </a:rPr>
                        <a:t>The type of a request cannot change</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Scope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Generic programme or Client-specific package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Select the request type and the package scope</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 programme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package or programme name</a:t>
                      </a:r>
                    </a:p>
                  </a:txBody>
                  <a:tcPr marL="54864" marR="54864" marT="27432" marB="27432">
                    <a:solidFill>
                      <a:srgbClr val="FFFFFF"/>
                    </a:solidFill>
                  </a:tcPr>
                </a:tc>
              </a:tr>
              <a:tr h="609596">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Client or prospect</a:t>
                      </a:r>
                    </a:p>
                  </a:txBody>
                  <a:tcPr marL="54864" marR="54864" marT="27432" marB="27432">
                    <a:solidFill>
                      <a:srgbClr val="E5F5FF"/>
                    </a:solidFill>
                  </a:tcPr>
                </a:tc>
                <a:tc>
                  <a:txBody>
                    <a:bodyPr/>
                    <a:lstStyle/>
                    <a:p>
                      <a:r>
                        <a:rPr sz="850" b="0">
                          <a:solidFill>
                            <a:srgbClr val="4B4B4B"/>
                          </a:solidFill>
                          <a:latin typeface="Arial"/>
                        </a:rPr>
                        <a:t>Look-up</a:t>
                      </a:r>
                    </a:p>
                  </a:txBody>
                  <a:tcPr marL="54864" marR="54864" marT="27432" marB="27432">
                    <a:solidFill>
                      <a:srgbClr val="E5F5FF"/>
                    </a:solidFill>
                  </a:tcPr>
                </a:tc>
                <a:tc>
                  <a:txBody>
                    <a:bodyPr/>
                    <a:lstStyle/>
                    <a:p>
                      <a:r>
                        <a:rPr sz="850" b="0">
                          <a:solidFill>
                            <a:srgbClr val="4B4B4B"/>
                          </a:solidFill>
                          <a:latin typeface="Arial"/>
                        </a:rPr>
                        <a:t>Client code or name</a:t>
                      </a:r>
                    </a:p>
                  </a:txBody>
                  <a:tcPr marL="54864" marR="54864" marT="27432" marB="27432">
                    <a:solidFill>
                      <a:srgbClr val="E5F5FF"/>
                    </a:solidFill>
                  </a:tcPr>
                </a:tc>
                <a:tc>
                  <a:txBody>
                    <a:bodyPr/>
                    <a:lstStyle/>
                    <a:p>
                      <a:r>
                        <a:rPr sz="850" b="0">
                          <a:solidFill>
                            <a:srgbClr val="4B4B4B"/>
                          </a:solidFill>
                          <a:latin typeface="Arial"/>
                        </a:rPr>
                        <a:t>Cond.: client-specific package</a:t>
                      </a:r>
                    </a:p>
                  </a:txBody>
                  <a:tcPr marL="54864" marR="54864" marT="27432" marB="27432">
                    <a:solidFill>
                      <a:srgbClr val="E5F5FF"/>
                    </a:solidFill>
                  </a:tcPr>
                </a:tc>
                <a:tc>
                  <a:txBody>
                    <a:bodyPr/>
                    <a:lstStyle/>
                    <a:p>
                      <a:r>
                        <a:rPr sz="850" b="0">
                          <a:solidFill>
                            <a:srgbClr val="4B4B4B"/>
                          </a:solidFill>
                          <a:latin typeface="Arial"/>
                        </a:rPr>
                        <a:t>An active client</a:t>
                      </a:r>
                    </a:p>
                  </a:txBody>
                  <a:tcPr marL="54864" marR="54864" marT="27432" marB="27432">
                    <a:solidFill>
                      <a:srgbClr val="E5F5FF"/>
                    </a:solidFill>
                  </a:tcPr>
                </a:tc>
                <a:tc>
                  <a:txBody>
                    <a:bodyPr/>
                    <a:lstStyle/>
                    <a:p>
                      <a:r>
                        <a:rPr sz="850" b="0">
                          <a:solidFill>
                            <a:srgbClr val="4B4B4B"/>
                          </a:solidFill>
                          <a:latin typeface="Arial"/>
                        </a:rPr>
                        <a:t>Select the client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line</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480057">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Cover type / subtype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New package</a:t>
                      </a:r>
                    </a:p>
                  </a:txBody>
                  <a:tcPr marL="54864" marR="54864" marT="27432" marB="27432">
                    <a:solidFill>
                      <a:srgbClr val="E5F5FF"/>
                    </a:solidFill>
                  </a:tcPr>
                </a:tc>
                <a:tc>
                  <a:txBody>
                    <a:bodyPr/>
                    <a:lstStyle/>
                    <a:p>
                      <a:r>
                        <a:rPr sz="850" b="0">
                          <a:solidFill>
                            <a:srgbClr val="4B4B4B"/>
                          </a:solidFill>
                          <a:latin typeface="Arial"/>
                        </a:rPr>
                        <a:t>A cover type of the chosen line</a:t>
                      </a:r>
                    </a:p>
                  </a:txBody>
                  <a:tcPr marL="54864" marR="54864" marT="27432" marB="27432">
                    <a:solidFill>
                      <a:srgbClr val="E5F5FF"/>
                    </a:solidFill>
                  </a:tcPr>
                </a:tc>
                <a:tc>
                  <a:txBody>
                    <a:bodyPr/>
                    <a:lstStyle/>
                    <a:p>
                      <a:r>
                        <a:rPr sz="850" b="0">
                          <a:solidFill>
                            <a:srgbClr val="4B4B4B"/>
                          </a:solidFill>
                          <a:latin typeface="Arial"/>
                        </a:rPr>
                        <a:t>Select the cover type</a:t>
                      </a:r>
                    </a:p>
                  </a:txBody>
                  <a:tcPr marL="54864" marR="54864" marT="27432" marB="27432">
                    <a:solidFill>
                      <a:srgbClr val="E5F5FF"/>
                    </a:solidFill>
                  </a:tcPr>
                </a:tc>
              </a:tr>
              <a:tr h="739135">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Package 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packaged products of the line</a:t>
                      </a:r>
                    </a:p>
                  </a:txBody>
                  <a:tcPr marL="54864" marR="54864" marT="27432" marB="27432">
                    <a:solidFill>
                      <a:srgbClr val="FFFFFF"/>
                    </a:solidFill>
                  </a:tcPr>
                </a:tc>
                <a:tc>
                  <a:txBody>
                    <a:bodyPr/>
                    <a:lstStyle/>
                    <a:p>
                      <a:r>
                        <a:rPr sz="850" b="0">
                          <a:solidFill>
                            <a:srgbClr val="4B4B4B"/>
                          </a:solidFill>
                          <a:latin typeface="Arial"/>
                        </a:rPr>
                        <a:t>Cond.: every type except New package</a:t>
                      </a:r>
                    </a:p>
                  </a:txBody>
                  <a:tcPr marL="54864" marR="54864" marT="27432" marB="27432">
                    <a:solidFill>
                      <a:srgbClr val="FFFFFF"/>
                    </a:solidFill>
                  </a:tcPr>
                </a:tc>
                <a:tc>
                  <a:txBody>
                    <a:bodyPr/>
                    <a:lstStyle/>
                    <a:p>
                      <a:r>
                        <a:rPr sz="850" b="0">
                          <a:solidFill>
                            <a:srgbClr val="4B4B4B"/>
                          </a:solidFill>
                          <a:latin typeface="Arial"/>
                        </a:rPr>
                        <a:t>A packaged product of the chosen line</a:t>
                      </a:r>
                    </a:p>
                  </a:txBody>
                  <a:tcPr marL="54864" marR="54864" marT="27432" marB="27432">
                    <a:solidFill>
                      <a:srgbClr val="FFFFFF"/>
                    </a:solidFill>
                  </a:tcPr>
                </a:tc>
                <a:tc>
                  <a:txBody>
                    <a:bodyPr/>
                    <a:lstStyle/>
                    <a:p>
                      <a:r>
                        <a:rPr sz="850" b="0">
                          <a:solidFill>
                            <a:srgbClr val="4B4B4B"/>
                          </a:solidFill>
                          <a:latin typeface="Arial"/>
                        </a:rPr>
                        <a:t>Select the package product</a:t>
                      </a:r>
                    </a:p>
                  </a:txBody>
                  <a:tcPr marL="54864" marR="54864" marT="27432" marB="27432">
                    <a:solidFill>
                      <a:srgbClr val="FFFFFF"/>
                    </a:solidFill>
                  </a:tcPr>
                </a:tc>
              </a:tr>
              <a:tr h="868674">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Client requirement, New programme for a market segment, Market competitiveness, Change in insurer terms or rates, Loss experience, Regulatory change, Package expiry or anniversary, Others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Select the reason</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Comment on the 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Negotiate with the insurers</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Shown for Renew, Update and Reactivate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New and Amend always negotiate; Retire never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161</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Market segments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One or more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 of the 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Requested terms</a:t>
                      </a:r>
                    </a:p>
                  </a:txBody>
                  <a:tcPr marL="54864" marR="54864" marT="27432" marB="27432">
                    <a:solidFill>
                      <a:srgbClr val="E5F5FF"/>
                    </a:solidFill>
                  </a:tcPr>
                </a:tc>
                <a:tc>
                  <a:txBody>
                    <a:bodyPr/>
                    <a:lstStyle/>
                    <a:p>
                      <a:r>
                        <a:rPr sz="850" b="0">
                          <a:solidFill>
                            <a:srgbClr val="4B4B4B"/>
                          </a:solidFill>
                          <a:latin typeface="Arial"/>
                        </a:rPr>
                        <a:t>Heading / Details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Heading and up to 4,000 characters per section; suggested sections Target market / client and Requested cover and features</a:t>
                      </a:r>
                    </a:p>
                  </a:txBody>
                  <a:tcPr marL="54864" marR="54864" marT="27432" marB="27432">
                    <a:solidFill>
                      <a:srgbClr val="E5F5FF"/>
                    </a:solidFill>
                  </a:tcPr>
                </a:tc>
                <a:tc>
                  <a:txBody>
                    <a:bodyPr/>
                    <a:lstStyle/>
                    <a:p>
                      <a:r>
                        <a:rPr sz="850" b="0">
                          <a:solidFill>
                            <a:srgbClr val="4B4B4B"/>
                          </a:solidFill>
                          <a:latin typeface="Arial"/>
                        </a:rPr>
                        <a:t>Cond.: sections or coverages before submission</a:t>
                      </a:r>
                    </a:p>
                  </a:txBody>
                  <a:tcPr marL="54864" marR="54864" marT="27432" marB="27432">
                    <a:solidFill>
                      <a:srgbClr val="E5F5FF"/>
                    </a:solidFill>
                  </a:tcPr>
                </a:tc>
                <a:tc>
                  <a:txBody>
                    <a:bodyPr/>
                    <a:lstStyle/>
                    <a:p>
                      <a:r>
                        <a:rPr sz="850" b="0">
                          <a:solidFill>
                            <a:srgbClr val="4B4B4B"/>
                          </a:solidFill>
                          <a:latin typeface="Arial"/>
                        </a:rPr>
                        <a:t>Empty sections are dropped</a:t>
                      </a:r>
                    </a:p>
                  </a:txBody>
                  <a:tcPr marL="54864" marR="54864" marT="27432" marB="27432">
                    <a:solidFill>
                      <a:srgbClr val="E5F5FF"/>
                    </a:solidFill>
                  </a:tcPr>
                </a:tc>
                <a:tc>
                  <a:txBody>
                    <a:bodyPr/>
                    <a:lstStyle/>
                    <a:p>
                      <a:r>
                        <a:rPr sz="850" b="0">
                          <a:solidFill>
                            <a:srgbClr val="4B4B4B"/>
                          </a:solidFill>
                          <a:latin typeface="Arial"/>
                        </a:rPr>
                        <a:t>Complete the request: the requested terms (coverages or sections)</a:t>
                      </a:r>
                    </a:p>
                  </a:txBody>
                  <a:tcPr marL="54864" marR="54864" marT="27432" marB="27432">
                    <a:solidFill>
                      <a:srgbClr val="E5F5FF"/>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Coverage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Coverage code of the line, in capitals</a:t>
                      </a:r>
                    </a:p>
                  </a:txBody>
                  <a:tcPr marL="54864" marR="54864" marT="27432" marB="27432">
                    <a:solidFill>
                      <a:srgbClr val="FFFFFF"/>
                    </a:solidFill>
                  </a:tcPr>
                </a:tc>
                <a:tc>
                  <a:txBody>
                    <a:bodyPr/>
                    <a:lstStyle/>
                    <a:p>
                      <a:r>
                        <a:rPr sz="850" b="0">
                          <a:solidFill>
                            <a:srgbClr val="4B4B4B"/>
                          </a:solidFill>
                          <a:latin typeface="Arial"/>
                        </a:rPr>
                        <a:t>Cond.: sections or coverages before submission</a:t>
                      </a:r>
                    </a:p>
                  </a:txBody>
                  <a:tcPr marL="54864" marR="54864" marT="27432" marB="27432">
                    <a:solidFill>
                      <a:srgbClr val="FFFFFF"/>
                    </a:solidFill>
                  </a:tcPr>
                </a:tc>
                <a:tc>
                  <a:txBody>
                    <a:bodyPr/>
                    <a:lstStyle/>
                    <a:p>
                      <a:r>
                        <a:rPr sz="850" b="0">
                          <a:solidFill>
                            <a:srgbClr val="4B4B4B"/>
                          </a:solidFill>
                          <a:latin typeface="Arial"/>
                        </a:rPr>
                        <a:t>Every line has a code</a:t>
                      </a:r>
                    </a:p>
                  </a:txBody>
                  <a:tcPr marL="54864" marR="54864" marT="27432" marB="27432">
                    <a:solidFill>
                      <a:srgbClr val="FFFFFF"/>
                    </a:solidFill>
                  </a:tcPr>
                </a:tc>
                <a:tc>
                  <a:txBody>
                    <a:bodyPr/>
                    <a:lstStyle/>
                    <a:p>
                      <a:r>
                        <a:rPr sz="850" b="0">
                          <a:solidFill>
                            <a:srgbClr val="4B4B4B"/>
                          </a:solidFill>
                          <a:latin typeface="Arial"/>
                        </a:rPr>
                        <a:t>Enter a code for every coverage or remove the line</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Included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Coverages and perils</a:t>
                      </a:r>
                    </a:p>
                  </a:txBody>
                  <a:tcPr marL="54864" marR="54864" marT="27432" marB="27432">
                    <a:solidFill>
                      <a:srgbClr val="FFFFFF"/>
                    </a:solidFill>
                  </a:tcPr>
                </a:tc>
                <a:tc>
                  <a:txBody>
                    <a:bodyPr/>
                    <a:lstStyle/>
                    <a:p>
                      <a:r>
                        <a:rPr sz="850" b="0">
                          <a:solidFill>
                            <a:srgbClr val="4B4B4B"/>
                          </a:solidFill>
                          <a:latin typeface="Arial"/>
                        </a:rPr>
                        <a:t>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Coverages and perils</a:t>
                      </a:r>
                    </a:p>
                  </a:txBody>
                  <a:tcPr marL="54864" marR="54864" marT="27432" marB="27432">
                    <a:solidFill>
                      <a:srgbClr val="E5F5FF"/>
                    </a:solidFill>
                  </a:tcPr>
                </a:tc>
                <a:tc>
                  <a:txBody>
                    <a:bodyPr/>
                    <a:lstStyle/>
                    <a:p>
                      <a:r>
                        <a:rPr sz="850" b="0">
                          <a:solidFill>
                            <a:srgbClr val="4B4B4B"/>
                          </a:solidFill>
                          <a:latin typeface="Arial"/>
                        </a:rPr>
                        <a:t>Deductible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Wording, for example 1% of loss, minimum PHP 20,000</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Requested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162</a:t>
            </a:r>
          </a:p>
        </p:txBody>
      </p:sp>
      <p:graphicFrame>
        <p:nvGraphicFramePr>
          <p:cNvPr id="9" name="Table 8"/>
          <p:cNvGraphicFramePr>
            <a:graphicFrameLocks noGrp="1"/>
          </p:cNvGraphicFramePr>
          <p:nvPr/>
        </p:nvGraphicFramePr>
        <p:xfrm>
          <a:off x="548640" y="1325880"/>
          <a:ext cx="11094411" cy="300988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Package start</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Rate scheme and package term</a:t>
                      </a:r>
                    </a:p>
                  </a:txBody>
                  <a:tcPr marL="54864" marR="54864" marT="27432" marB="27432">
                    <a:solidFill>
                      <a:srgbClr val="E5F5FF"/>
                    </a:solidFill>
                  </a:tcPr>
                </a:tc>
                <a:tc>
                  <a:txBody>
                    <a:bodyPr/>
                    <a:lstStyle/>
                    <a:p>
                      <a:r>
                        <a:rPr sz="850" b="0">
                          <a:solidFill>
                            <a:srgbClr val="4B4B4B"/>
                          </a:solidFill>
                          <a:latin typeface="Arial"/>
                        </a:rPr>
                        <a:t>Package end</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 monitored for expiry and renewal</a:t>
                      </a:r>
                    </a:p>
                  </a:txBody>
                  <a:tcPr marL="54864" marR="54864" marT="27432" marB="27432">
                    <a:solidFill>
                      <a:srgbClr val="E5F5FF"/>
                    </a:solidFill>
                  </a:tcPr>
                </a:tc>
                <a:tc>
                  <a:txBody>
                    <a:bodyPr/>
                    <a:lstStyle/>
                    <a:p>
                      <a:r>
                        <a:rPr sz="850" b="0">
                          <a:solidFill>
                            <a:srgbClr val="4B4B4B"/>
                          </a:solidFill>
                          <a:latin typeface="Arial"/>
                        </a:rPr>
                        <a:t>Cond.: before submission (not for Retire)</a:t>
                      </a:r>
                    </a:p>
                  </a:txBody>
                  <a:tcPr marL="54864" marR="54864" marT="27432" marB="27432">
                    <a:solidFill>
                      <a:srgbClr val="E5F5FF"/>
                    </a:solidFill>
                  </a:tcPr>
                </a:tc>
                <a:tc>
                  <a:txBody>
                    <a:bodyPr/>
                    <a:lstStyle/>
                    <a:p>
                      <a:r>
                        <a:rPr sz="850" b="0">
                          <a:solidFill>
                            <a:srgbClr val="4B4B4B"/>
                          </a:solidFill>
                          <a:latin typeface="Arial"/>
                        </a:rPr>
                        <a:t>After the package start</a:t>
                      </a:r>
                    </a:p>
                  </a:txBody>
                  <a:tcPr marL="54864" marR="54864" marT="27432" marB="27432">
                    <a:solidFill>
                      <a:srgbClr val="E5F5FF"/>
                    </a:solidFill>
                  </a:tcPr>
                </a:tc>
                <a:tc>
                  <a:txBody>
                    <a:bodyPr/>
                    <a:lstStyle/>
                    <a:p>
                      <a:r>
                        <a:rPr sz="850" b="0">
                          <a:solidFill>
                            <a:srgbClr val="4B4B4B"/>
                          </a:solidFill>
                          <a:latin typeface="Arial"/>
                        </a:rPr>
                        <a:t>The package end date must be after its start date</a:t>
                      </a:r>
                    </a:p>
                  </a:txBody>
                  <a:tcPr marL="54864" marR="54864" marT="27432" marB="27432">
                    <a:solidFill>
                      <a:srgbClr val="E5F5FF"/>
                    </a:solidFill>
                  </a:tcPr>
                </a:tc>
              </a:tr>
              <a:tr h="350518">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Rate scheme and package term</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Target insurers</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Name of each insurer of the panel</a:t>
                      </a:r>
                    </a:p>
                  </a:txBody>
                  <a:tcPr marL="54864" marR="54864" marT="27432" marB="27432">
                    <a:solidFill>
                      <a:srgbClr val="E5F5FF"/>
                    </a:solidFill>
                  </a:tcPr>
                </a:tc>
                <a:tc>
                  <a:txBody>
                    <a:bodyPr/>
                    <a:lstStyle/>
                    <a:p>
                      <a:r>
                        <a:rPr sz="850" b="0">
                          <a:solidFill>
                            <a:srgbClr val="4B4B4B"/>
                          </a:solidFill>
                          <a:latin typeface="Arial"/>
                        </a:rPr>
                        <a:t>Cond.: at least one when the insurers are approached</a:t>
                      </a:r>
                    </a:p>
                  </a:txBody>
                  <a:tcPr marL="54864" marR="54864" marT="27432" marB="27432">
                    <a:solidFill>
                      <a:srgbClr val="E5F5FF"/>
                    </a:solidFill>
                  </a:tcPr>
                </a:tc>
                <a:tc>
                  <a:txBody>
                    <a:bodyPr/>
                    <a:lstStyle/>
                    <a:p>
                      <a:r>
                        <a:rPr sz="850" b="0">
                          <a:solidFill>
                            <a:srgbClr val="4B4B4B"/>
                          </a:solidFill>
                          <a:latin typeface="Arial"/>
                        </a:rPr>
                        <a:t>Authorised and active insurers</a:t>
                      </a:r>
                    </a:p>
                  </a:txBody>
                  <a:tcPr marL="54864" marR="54864" marT="27432" marB="27432">
                    <a:solidFill>
                      <a:srgbClr val="E5F5FF"/>
                    </a:solidFill>
                  </a:tcPr>
                </a:tc>
                <a:tc>
                  <a:txBody>
                    <a:bodyPr/>
                    <a:lstStyle/>
                    <a:p>
                      <a:r>
                        <a:rPr sz="850" b="0">
                          <a:solidFill>
                            <a:srgbClr val="4B4B4B"/>
                          </a:solidFill>
                          <a:latin typeface="Arial"/>
                        </a:rPr>
                        <a:t>Complete the request: at least one target insurer</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Documents</a:t>
                      </a:r>
                    </a:p>
                  </a:txBody>
                  <a:tcPr marL="54864" marR="54864" marT="27432" marB="27432">
                    <a:solidFill>
                      <a:srgbClr val="FFFFFF"/>
                    </a:solidFill>
                  </a:tcPr>
                </a:tc>
                <a:tc>
                  <a:txBody>
                    <a:bodyPr/>
                    <a:lstStyle/>
                    <a:p>
                      <a:r>
                        <a:rPr sz="850" b="0">
                          <a:solidFill>
                            <a:srgbClr val="4B4B4B"/>
                          </a:solidFill>
                          <a:latin typeface="Arial"/>
                        </a:rPr>
                        <a:t>Documents panel</a:t>
                      </a:r>
                    </a:p>
                  </a:txBody>
                  <a:tcPr marL="54864" marR="54864" marT="27432" marB="27432">
                    <a:solidFill>
                      <a:srgbClr val="FFFFFF"/>
                    </a:solidFill>
                  </a:tcPr>
                </a:tc>
                <a:tc>
                  <a:txBody>
                    <a:bodyPr/>
                    <a:lstStyle/>
                    <a:p>
                      <a:r>
                        <a:rPr sz="850" b="0">
                          <a:solidFill>
                            <a:srgbClr val="4B4B4B"/>
                          </a:solidFill>
                          <a:latin typeface="Arial"/>
                        </a:rPr>
                        <a:t>Upload</a:t>
                      </a:r>
                    </a:p>
                  </a:txBody>
                  <a:tcPr marL="54864" marR="54864" marT="27432" marB="27432">
                    <a:solidFill>
                      <a:srgbClr val="FFFFFF"/>
                    </a:solidFill>
                  </a:tcPr>
                </a:tc>
                <a:tc>
                  <a:txBody>
                    <a:bodyPr/>
                    <a:lstStyle/>
                    <a:p>
                      <a:r>
                        <a:rPr sz="850" b="0">
                          <a:solidFill>
                            <a:srgbClr val="4B4B4B"/>
                          </a:solidFill>
                          <a:latin typeface="Arial"/>
                        </a:rPr>
                        <a:t>See Common screen elements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Save the draft to attach the supporting documents.</a:t>
                      </a:r>
                    </a:p>
                  </a:txBody>
                  <a:tcPr marL="54864" marR="54864" marT="27432" marB="27432">
                    <a:solidFill>
                      <a:srgbClr val="FFFFFF"/>
                    </a:solidFill>
                  </a:tcPr>
                </a:tc>
              </a:tr>
            </a:tbl>
          </a:graphicData>
        </a:graphic>
      </p:graphicFrame>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163</a:t>
            </a:r>
          </a:p>
        </p:txBody>
      </p:sp>
      <p:graphicFrame>
        <p:nvGraphicFramePr>
          <p:cNvPr id="9" name="Table 8"/>
          <p:cNvGraphicFramePr>
            <a:graphicFrameLocks noGrp="1"/>
          </p:cNvGraphicFramePr>
          <p:nvPr/>
        </p:nvGraphicFramePr>
        <p:xfrm>
          <a:off x="548640" y="1325880"/>
          <a:ext cx="11094412" cy="1790689"/>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Load Current Terms</a:t>
                      </a:r>
                    </a:p>
                  </a:txBody>
                  <a:tcPr marL="54864" marR="54864" marT="27432" marB="27432">
                    <a:solidFill>
                      <a:srgbClr val="FFFFFF"/>
                    </a:solidFill>
                  </a:tcPr>
                </a:tc>
                <a:tc>
                  <a:txBody>
                    <a:bodyPr/>
                    <a:lstStyle/>
                    <a:p>
                      <a:r>
                        <a:rPr sz="850" b="0">
                          <a:solidFill>
                            <a:srgbClr val="4B4B4B"/>
                          </a:solidFill>
                          <a:latin typeface="Arial"/>
                        </a:rPr>
                        <a:t>Users of the form</a:t>
                      </a:r>
                    </a:p>
                  </a:txBody>
                  <a:tcPr marL="54864" marR="54864" marT="27432" marB="27432">
                    <a:solidFill>
                      <a:srgbClr val="FFFFFF"/>
                    </a:solidFill>
                  </a:tcPr>
                </a:tc>
                <a:tc>
                  <a:txBody>
                    <a:bodyPr/>
                    <a:lstStyle/>
                    <a:p>
                      <a:r>
                        <a:rPr sz="850" b="0">
                          <a:solidFill>
                            <a:srgbClr val="4B4B4B"/>
                          </a:solidFill>
                          <a:latin typeface="Arial"/>
                        </a:rPr>
                        <a:t>Type other than New package and a package product chosen</a:t>
                      </a:r>
                    </a:p>
                  </a:txBody>
                  <a:tcPr marL="54864" marR="54864" marT="27432" marB="27432">
                    <a:solidFill>
                      <a:srgbClr val="FFFFFF"/>
                    </a:solidFill>
                  </a:tcPr>
                </a:tc>
                <a:tc>
                  <a:txBody>
                    <a:bodyPr/>
                    <a:lstStyle/>
                    <a:p>
                      <a:r>
                        <a:rPr sz="850" b="0">
                          <a:solidFill>
                            <a:srgbClr val="4B4B4B"/>
                          </a:solidFill>
                          <a:latin typeface="Arial"/>
                        </a:rPr>
                        <a:t>Copies the terms of the version in force (coverages, rate scheme, dates, insurers) into the requested terms; the sections typed stay</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Save Draft</a:t>
                      </a:r>
                    </a:p>
                  </a:txBody>
                  <a:tcPr marL="54864" marR="54864" marT="27432" marB="27432">
                    <a:solidFill>
                      <a:srgbClr val="E5F5FF"/>
                    </a:solidFill>
                  </a:tcPr>
                </a:tc>
                <a:tc>
                  <a:txBody>
                    <a:bodyPr/>
                    <a:lstStyle/>
                    <a:p>
                      <a:r>
                        <a:rPr sz="850" b="0">
                          <a:solidFill>
                            <a:srgbClr val="4B4B4B"/>
                          </a:solidFill>
                          <a:latin typeface="Arial"/>
                        </a:rPr>
                        <a:t>Marketing AO, Marketing TL, TSU Officer (PKG_REQUEST); TSU Team Lead during the TSU review</a:t>
                      </a:r>
                    </a:p>
                  </a:txBody>
                  <a:tcPr marL="54864" marR="54864" marT="27432" marB="27432">
                    <a:solidFill>
                      <a:srgbClr val="E5F5FF"/>
                    </a:solidFill>
                  </a:tcPr>
                </a:tc>
                <a:tc>
                  <a:txBody>
                    <a:bodyPr/>
                    <a:lstStyle/>
                    <a:p>
                      <a:r>
                        <a:rPr sz="850" b="0">
                          <a:solidFill>
                            <a:srgbClr val="4B4B4B"/>
                          </a:solidFill>
                          <a:latin typeface="Arial"/>
                        </a:rPr>
                        <a:t>No field message on the form</a:t>
                      </a:r>
                    </a:p>
                  </a:txBody>
                  <a:tcPr marL="54864" marR="54864" marT="27432" marB="27432">
                    <a:solidFill>
                      <a:srgbClr val="E5F5FF"/>
                    </a:solidFill>
                  </a:tcPr>
                </a:tc>
                <a:tc>
                  <a:txBody>
                    <a:bodyPr/>
                    <a:lstStyle/>
                    <a:p>
                      <a:r>
                        <a:rPr sz="850" b="0">
                          <a:solidFill>
                            <a:srgbClr val="4B4B4B"/>
                          </a:solidFill>
                          <a:latin typeface="Arial"/>
                        </a:rPr>
                        <a:t>Checks the fields and saves the draft; a new request is numbered PKR-yyyy-nnnnnn</a:t>
                      </a:r>
                    </a:p>
                  </a:txBody>
                  <a:tcPr marL="54864" marR="54864" marT="27432" marB="27432">
                    <a:solidFill>
                      <a:srgbClr val="E5F5FF"/>
                    </a:solidFill>
                  </a:tcPr>
                </a:tc>
                <a:tc>
                  <a:txBody>
                    <a:bodyPr/>
                    <a:lstStyle/>
                    <a:p>
                      <a:r>
                        <a:rPr sz="850" b="0">
                          <a:solidFill>
                            <a:srgbClr val="4B4B4B"/>
                          </a:solidFill>
                          <a:latin typeface="Arial"/>
                        </a:rPr>
                        <a:t>Draft request (new); unchanged (edit)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As Save Draft</a:t>
                      </a:r>
                    </a:p>
                  </a:txBody>
                  <a:tcPr marL="54864" marR="54864" marT="27432" marB="27432">
                    <a:solidFill>
                      <a:srgbClr val="FFFFFF"/>
                    </a:solidFill>
                  </a:tcPr>
                </a:tc>
                <a:tc>
                  <a:txBody>
                    <a:bodyPr/>
                    <a:lstStyle/>
                    <a:p>
                      <a:r>
                        <a:rPr sz="850" b="0">
                          <a:solidFill>
                            <a:srgbClr val="4B4B4B"/>
                          </a:solidFill>
                          <a:latin typeface="Arial"/>
                        </a:rPr>
                        <a:t>No field message on the form</a:t>
                      </a:r>
                    </a:p>
                  </a:txBody>
                  <a:tcPr marL="54864" marR="54864" marT="27432" marB="27432">
                    <a:solidFill>
                      <a:srgbClr val="FFFFFF"/>
                    </a:solidFill>
                  </a:tcPr>
                </a:tc>
                <a:tc>
                  <a:txBody>
                    <a:bodyPr/>
                    <a:lstStyle/>
                    <a:p>
                      <a:r>
                        <a:rPr sz="850" b="0">
                          <a:solidFill>
                            <a:srgbClr val="4B4B4B"/>
                          </a:solidFill>
                          <a:latin typeface="Arial"/>
                        </a:rPr>
                        <a:t>Saves the request, checks that it is complete (requested terms, target insurers when negotiated, package end date, cover type of a new package) and sends it to Marketing approval</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 to the Marketing approvers</a:t>
                      </a:r>
                    </a:p>
                  </a:txBody>
                  <a:tcPr marL="54864" marR="54864" marT="27432" marB="27432">
                    <a:solidFill>
                      <a:srgbClr val="FFFFFF"/>
                    </a:solidFill>
                  </a:tcPr>
                </a:tc>
              </a:tr>
            </a:tbl>
          </a:graphicData>
        </a:graphic>
      </p:graphicFrame>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164</a:t>
            </a:r>
          </a:p>
        </p:txBody>
      </p:sp>
      <p:graphicFrame>
        <p:nvGraphicFramePr>
          <p:cNvPr id="9" name="Table 8"/>
          <p:cNvGraphicFramePr>
            <a:graphicFrameLocks noGrp="1"/>
          </p:cNvGraphicFramePr>
          <p:nvPr/>
        </p:nvGraphicFramePr>
        <p:xfrm>
          <a:off x="548640" y="1325880"/>
          <a:ext cx="11094415" cy="21031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request number PKR-yyyy-nnnnnn is given at the first save (parameter PKG_REQUEST_PREFIX) (FR-PM-020).</a:t>
                      </a:r>
                    </a:p>
                  </a:txBody>
                  <a:tcPr marL="54864" marR="54864" marT="27432" marB="27432">
                    <a:solidFill>
                      <a:srgbClr val="FFFFFF"/>
                    </a:solidFill>
                  </a:tcPr>
                </a:tc>
              </a:tr>
              <a:tr h="243840">
                <a:tc>
                  <a:txBody>
                    <a:bodyPr/>
                    <a:lstStyle/>
                    <a:p>
                      <a:r>
                        <a:rPr sz="1000" b="0">
                          <a:solidFill>
                            <a:srgbClr val="4B4B4B"/>
                          </a:solidFill>
                          <a:latin typeface="Arial"/>
                        </a:rPr>
                        <a:t>A new package needs its cover type; every other type needs the packaged product it changes, of the chosen line (FR-PM-010, FR-PM-020).</a:t>
                      </a:r>
                    </a:p>
                  </a:txBody>
                  <a:tcPr marL="54864" marR="54864" marT="27432" marB="27432">
                    <a:solidFill>
                      <a:srgbClr val="E5F5FF"/>
                    </a:solidFill>
                  </a:tcPr>
                </a:tc>
              </a:tr>
              <a:tr h="243840">
                <a:tc>
                  <a:txBody>
                    <a:bodyPr/>
                    <a:lstStyle/>
                    <a:p>
                      <a:r>
                        <a:rPr sz="1000" b="0">
                          <a:solidFill>
                            <a:srgbClr val="4B4B4B"/>
                          </a:solidFill>
                          <a:latin typeface="Arial"/>
                        </a:rPr>
                        <a:t>A client-specific package needs an active client of the client master (FR-PM-020).</a:t>
                      </a:r>
                    </a:p>
                  </a:txBody>
                  <a:tcPr marL="54864" marR="54864" marT="27432" marB="27432">
                    <a:solidFill>
                      <a:srgbClr val="FFFFFF"/>
                    </a:solidFill>
                  </a:tcPr>
                </a:tc>
              </a:tr>
              <a:tr h="243840">
                <a:tc>
                  <a:txBody>
                    <a:bodyPr/>
                    <a:lstStyle/>
                    <a:p>
                      <a:r>
                        <a:rPr sz="1000" b="0">
                          <a:solidFill>
                            <a:srgbClr val="4B4B4B"/>
                          </a:solidFill>
                          <a:latin typeface="Arial"/>
                        </a:rPr>
                        <a:t>New and Amend always go to the insurers; Retire never; Renew, Update and Reactivate go to the insurers only when Negotiate with the insurers is ticked (FR-PM-020, FR-PM-045).</a:t>
                      </a:r>
                    </a:p>
                  </a:txBody>
                  <a:tcPr marL="54864" marR="54864" marT="27432" marB="27432">
                    <a:solidFill>
                      <a:srgbClr val="E5F5FF"/>
                    </a:solidFill>
                  </a:tcPr>
                </a:tc>
              </a:tr>
              <a:tr h="396240">
                <a:tc>
                  <a:txBody>
                    <a:bodyPr/>
                    <a:lstStyle/>
                    <a:p>
                      <a:r>
                        <a:rPr sz="1000" b="0">
                          <a:solidFill>
                            <a:srgbClr val="4B4B4B"/>
                          </a:solidFill>
                          <a:latin typeface="Arial"/>
                        </a:rPr>
                        <a:t>Before submission the request needs its requested terms (coverages or sections), at least one target insurer when negotiated, and the package end date; a retirement needs none of these (FR-PM-020).</a:t>
                      </a:r>
                    </a:p>
                  </a:txBody>
                  <a:tcPr marL="54864" marR="54864" marT="27432" marB="27432">
                    <a:solidFill>
                      <a:srgbClr val="FFFFFF"/>
                    </a:solidFill>
                  </a:tcPr>
                </a:tc>
              </a:tr>
              <a:tr h="243840">
                <a:tc>
                  <a:txBody>
                    <a:bodyPr/>
                    <a:lstStyle/>
                    <a:p>
                      <a:r>
                        <a:rPr sz="1000" b="0">
                          <a:solidFill>
                            <a:srgbClr val="4B4B4B"/>
                          </a:solidFill>
                          <a:latin typeface="Arial"/>
                        </a:rPr>
                        <a:t>The type and the product of a saved request cannot change (FR-PM-020).</a:t>
                      </a:r>
                    </a:p>
                  </a:txBody>
                  <a:tcPr marL="54864" marR="54864" marT="27432" marB="27432">
                    <a:solidFill>
                      <a:srgbClr val="E5F5FF"/>
                    </a:solidFill>
                  </a:tcPr>
                </a:tc>
              </a:tr>
              <a:tr h="243840">
                <a:tc>
                  <a:txBody>
                    <a:bodyPr/>
                    <a:lstStyle/>
                    <a:p>
                      <a:r>
                        <a:rPr sz="1000" b="0">
                          <a:solidFill>
                            <a:srgbClr val="4B4B4B"/>
                          </a:solidFill>
                          <a:latin typeface="Arial"/>
                        </a:rPr>
                        <a:t>A draft is edited by the Marketing or TSU users who create requests; during the TSU review, by the TSU Team Lead (FR-PM-020, FR-PM-022).</a:t>
                      </a:r>
                    </a:p>
                  </a:txBody>
                  <a:tcPr marL="54864" marR="54864" marT="27432" marB="27432">
                    <a:solidFill>
                      <a:srgbClr val="FFFFFF"/>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165</a:t>
            </a:r>
          </a:p>
        </p:txBody>
      </p:sp>
      <p:graphicFrame>
        <p:nvGraphicFramePr>
          <p:cNvPr id="9" name="Table 8"/>
          <p:cNvGraphicFramePr>
            <a:graphicFrameLocks noGrp="1"/>
          </p:cNvGraphicFramePr>
          <p:nvPr/>
        </p:nvGraphicFramePr>
        <p:xfrm>
          <a:off x="548640" y="1325880"/>
          <a:ext cx="11094413" cy="13258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a:t>
                      </a:r>
                    </a:p>
                  </a:txBody>
                  <a:tcPr marL="54864" marR="54864" marT="27432" marB="27432">
                    <a:solidFill>
                      <a:srgbClr val="FFFFFF"/>
                    </a:solidFill>
                  </a:tcPr>
                </a:tc>
                <a:tc>
                  <a:txBody>
                    <a:bodyPr/>
                    <a:lstStyle/>
                    <a:p>
                      <a:r>
                        <a:rPr sz="900" b="0">
                          <a:solidFill>
                            <a:srgbClr val="4B4B4B"/>
                          </a:solidFill>
                          <a:latin typeface="Arial"/>
                        </a:rPr>
                        <a:t>Opens New Package Request and clicks Save Draft without the name, line and reason</a:t>
                      </a:r>
                    </a:p>
                  </a:txBody>
                  <a:tcPr marL="54864" marR="54864" marT="27432" marB="27432">
                    <a:solidFill>
                      <a:srgbClr val="FFFFFF"/>
                    </a:solidFill>
                  </a:tcPr>
                </a:tc>
                <a:tc>
                  <a:txBody>
                    <a:bodyPr/>
                    <a:lstStyle/>
                    <a:p>
                      <a:r>
                        <a:rPr sz="900" b="0">
                          <a:solidFill>
                            <a:srgbClr val="4B4B4B"/>
                          </a:solidFill>
                          <a:latin typeface="Arial"/>
                        </a:rPr>
                        <a:t>SCR-PM-03_wt-b-step-01.png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2</a:t>
                      </a:r>
                    </a:p>
                  </a:txBody>
                  <a:tcPr marL="54864" marR="54864" marT="27432" marB="27432">
                    <a:solidFill>
                      <a:srgbClr val="E5F5FF"/>
                    </a:solidFill>
                  </a:tcPr>
                </a:tc>
                <a:tc>
                  <a:txBody>
                    <a:bodyPr/>
                    <a:lstStyle/>
                    <a:p>
                      <a:r>
                        <a:rPr sz="900" b="0">
                          <a:solidFill>
                            <a:srgbClr val="4B4B4B"/>
                          </a:solidFill>
                          <a:latin typeface="Arial"/>
                        </a:rPr>
                        <a:t>Completes the header only and clicks Submit for Approval</a:t>
                      </a:r>
                    </a:p>
                  </a:txBody>
                  <a:tcPr marL="54864" marR="54864" marT="27432" marB="27432">
                    <a:solidFill>
                      <a:srgbClr val="E5F5FF"/>
                    </a:solidFill>
                  </a:tcPr>
                </a:tc>
                <a:tc>
                  <a:txBody>
                    <a:bodyPr/>
                    <a:lstStyle/>
                    <a:p>
                      <a:r>
                        <a:rPr sz="900" b="0">
                          <a:solidFill>
                            <a:srgbClr val="4B4B4B"/>
                          </a:solidFill>
                          <a:latin typeface="Arial"/>
                        </a:rPr>
                        <a:t>SCR-PM-03_wt-b-step-02.png</a:t>
                      </a:r>
                    </a:p>
                  </a:txBody>
                  <a:tcPr marL="54864" marR="54864" marT="27432" marB="27432">
                    <a:solidFill>
                      <a:srgbClr val="E5F5FF"/>
                    </a:solidFill>
                  </a:tcPr>
                </a:tc>
              </a:tr>
              <a:tr h="64008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3</a:t>
                      </a:r>
                    </a:p>
                  </a:txBody>
                  <a:tcPr marL="54864" marR="54864" marT="27432" marB="27432">
                    <a:solidFill>
                      <a:srgbClr val="FFFFFF"/>
                    </a:solidFill>
                  </a:tcPr>
                </a:tc>
                <a:tc>
                  <a:txBody>
                    <a:bodyPr/>
                    <a:lstStyle/>
                    <a:p>
                      <a:r>
                        <a:rPr sz="900" b="0">
                          <a:solidFill>
                            <a:srgbClr val="4B4B4B"/>
                          </a:solidFill>
                          <a:latin typeface="Arial"/>
                        </a:rPr>
                        <a:t>Opens Package Requests › New Package Request, chooses New package and Generic programme, enters Motor Fleet Plus, line Motor, cover type Comprehensive, reason New programme for a market segment, the segments, the requested coverages, rate 1.20%, minimum premium and package dates, ticks Mabuhay General Insurance Corp. and Luzon Assurance Co., and clicks Submit for Approval</a:t>
                      </a:r>
                    </a:p>
                  </a:txBody>
                  <a:tcPr marL="54864" marR="54864" marT="27432" marB="27432">
                    <a:solidFill>
                      <a:srgbClr val="FFFFFF"/>
                    </a:solidFill>
                  </a:tcPr>
                </a:tc>
                <a:tc>
                  <a:txBody>
                    <a:bodyPr/>
                    <a:lstStyle/>
                    <a:p>
                      <a:r>
                        <a:rPr sz="900" b="0">
                          <a:solidFill>
                            <a:srgbClr val="4B4B4B"/>
                          </a:solidFill>
                          <a:latin typeface="Arial"/>
                        </a:rPr>
                        <a:t>SCR-PM-03_wt-a-step-03.png</a:t>
                      </a:r>
                    </a:p>
                  </a:txBody>
                  <a:tcPr marL="54864" marR="54864" marT="27432" marB="27432">
                    <a:solidFill>
                      <a:srgbClr val="FFFFFF"/>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1.png"/>
          <p:cNvPicPr>
            <a:picLocks noChangeAspect="1"/>
          </p:cNvPicPr>
          <p:nvPr/>
        </p:nvPicPr>
        <p:blipFill>
          <a:blip r:embed="rId3"/>
          <a:stretch>
            <a:fillRect/>
          </a:stretch>
        </p:blipFill>
        <p:spPr>
          <a:xfrm>
            <a:off x="548640" y="1261872"/>
            <a:ext cx="11094415" cy="37395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1 of 4)</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2 of 4)</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3 of 4)</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14.png"/>
          <p:cNvPicPr>
            <a:picLocks noChangeAspect="1"/>
          </p:cNvPicPr>
          <p:nvPr/>
        </p:nvPicPr>
        <p:blipFill>
          <a:blip r:embed="rId3"/>
          <a:stretch>
            <a:fillRect/>
          </a:stretch>
        </p:blipFill>
        <p:spPr>
          <a:xfrm>
            <a:off x="548640" y="1261872"/>
            <a:ext cx="11094415" cy="43421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form (part 4 of 4)</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Filled (1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5.png"/>
          <p:cNvPicPr>
            <a:picLocks noChangeAspect="1"/>
          </p:cNvPicPr>
          <p:nvPr/>
        </p:nvPicPr>
        <p:blipFill>
          <a:blip r:embed="rId3"/>
          <a:stretch>
            <a:fillRect/>
          </a:stretch>
        </p:blipFill>
        <p:spPr>
          <a:xfrm>
            <a:off x="548640" y="1261872"/>
            <a:ext cx="11094415" cy="373958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1 of 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Filled (2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2 of 5)</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Filled (3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3 of 5)</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Filled (4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4 of 5)</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Filled (5 of 5)</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19.png"/>
          <p:cNvPicPr>
            <a:picLocks noChangeAspect="1"/>
          </p:cNvPicPr>
          <p:nvPr/>
        </p:nvPicPr>
        <p:blipFill>
          <a:blip r:embed="rId3"/>
          <a:stretch>
            <a:fillRect/>
          </a:stretch>
        </p:blipFill>
        <p:spPr>
          <a:xfrm>
            <a:off x="548640" y="1261872"/>
            <a:ext cx="11094415" cy="25823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Package Request with the requested terms and target insurers entered (part 5 of 5)</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Validation error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1 of 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Validation error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2 of 4)</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Validation error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177</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2.png"/>
          <p:cNvPicPr>
            <a:picLocks noChangeAspect="1"/>
          </p:cNvPicPr>
          <p:nvPr/>
        </p:nvPicPr>
        <p:blipFill>
          <a:blip r:embed="rId3"/>
          <a:stretch>
            <a:fillRect/>
          </a:stretch>
        </p:blipFill>
        <p:spPr>
          <a:xfrm>
            <a:off x="548640" y="1261872"/>
            <a:ext cx="11094415" cy="441863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3 of 4)</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Validation error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178</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23.png"/>
          <p:cNvPicPr>
            <a:picLocks noChangeAspect="1"/>
          </p:cNvPicPr>
          <p:nvPr/>
        </p:nvPicPr>
        <p:blipFill>
          <a:blip r:embed="rId3"/>
          <a:stretch>
            <a:fillRect/>
          </a:stretch>
        </p:blipFill>
        <p:spPr>
          <a:xfrm>
            <a:off x="548640" y="1261872"/>
            <a:ext cx="11094415" cy="412214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after Save Draft without the name, line and reason (part 4 of 4)</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Success message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179</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4.png"/>
          <p:cNvPicPr>
            <a:picLocks noChangeAspect="1"/>
          </p:cNvPicPr>
          <p:nvPr/>
        </p:nvPicPr>
        <p:blipFill>
          <a:blip r:embed="rId3"/>
          <a:stretch>
            <a:fillRect/>
          </a:stretch>
        </p:blipFill>
        <p:spPr>
          <a:xfrm>
            <a:off x="548640" y="1261872"/>
            <a:ext cx="11094415" cy="44311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1 of 4)</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Success message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180</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5.png"/>
          <p:cNvPicPr>
            <a:picLocks noChangeAspect="1"/>
          </p:cNvPicPr>
          <p:nvPr/>
        </p:nvPicPr>
        <p:blipFill>
          <a:blip r:embed="rId3"/>
          <a:stretch>
            <a:fillRect/>
          </a:stretch>
        </p:blipFill>
        <p:spPr>
          <a:xfrm>
            <a:off x="548640" y="1261872"/>
            <a:ext cx="11094415" cy="45261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2 of 4)</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Success message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181</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6.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3 of 4)</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SCR-PM-03 New Package Request and Edit Package Request: Success message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182</a:t>
            </a:r>
          </a:p>
        </p:txBody>
      </p:sp>
      <p:sp>
        <p:nvSpPr>
          <p:cNvPr id="9" name="Rounded Rectangle 8"/>
          <p:cNvSpPr/>
          <p:nvPr/>
        </p:nvSpPr>
        <p:spPr>
          <a:xfrm>
            <a:off x="9974275" y="896112"/>
            <a:ext cx="1668780" cy="274320"/>
          </a:xfrm>
          <a:prstGeom prst="round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2E7D32"/>
                </a:solidFill>
                <a:latin typeface="Arial"/>
              </a:rPr>
              <a:t>Success message</a:t>
            </a:r>
          </a:p>
        </p:txBody>
      </p:sp>
      <p:pic>
        <p:nvPicPr>
          <p:cNvPr id="10" name="Picture 9" descr="slice-00127.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The request saved as a draft, with the confirmation (part 4 of 4)</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183</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11049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package request: its number, stage and flags, the key facts (type, client or programme, line and product, scheme rate, package term, insurers), the workflow header (stage stepper, then Current Stage, Since, Due and Assigned To) with the actions of the stage, and the tabs Details, Requested Terms, Negotiation, Comparative, Requirements &amp; Sign-off, Set-up, Advisories, Documents, E-mails and History. This section specifies the header, the stage actions and the tabs Details, Requested Terms, Documents, E-mails and History; the other tabs have their own sections (SCR-PM-05 to SCR-PM-08).</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Requests › a row</a:t>
                      </a:r>
                    </a:p>
                    <a:p>
                      <a:r>
                        <a:rPr sz="950" b="0">
                          <a:solidFill>
                            <a:srgbClr val="4B4B4B"/>
                          </a:solidFill>
                          <a:latin typeface="Arial"/>
                        </a:rPr>
                        <a:t>TSU Workbench › a row</a:t>
                      </a:r>
                    </a:p>
                    <a:p>
                      <a:r>
                        <a:rPr sz="950" b="0">
                          <a:solidFill>
                            <a:srgbClr val="4B4B4B"/>
                          </a:solidFill>
                          <a:latin typeface="Arial"/>
                        </a:rPr>
                        <a:t>A workflow notice or an assignment notice (bell)</a:t>
                      </a:r>
                    </a:p>
                    <a:p>
                      <a:r>
                        <a:rPr sz="950" b="0">
                          <a:solidFill>
                            <a:srgbClr val="4B4B4B"/>
                          </a:solidFill>
                          <a:latin typeface="Arial"/>
                        </a:rPr>
                        <a:t>Package Expiry › the renewal request number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FR-PM-021, FR-PM-022, FR-PM-023, FR-PM-024, FR-PM-005, FR-PM-073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request moves stage by stage with every decision, reason and document recorded, and each user sees only the actions of his stage.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184</a:t>
            </a:r>
          </a:p>
        </p:txBody>
      </p:sp>
      <p:graphicFrame>
        <p:nvGraphicFramePr>
          <p:cNvPr id="9" name="Table 8"/>
          <p:cNvGraphicFramePr>
            <a:graphicFrameLocks noGrp="1"/>
          </p:cNvGraphicFramePr>
          <p:nvPr/>
        </p:nvGraphicFramePr>
        <p:xfrm>
          <a:off x="548640" y="1325880"/>
          <a:ext cx="11094411" cy="455673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Request</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PKR-yyyy-nnnnnn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Stage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Scope and negotiation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Generic or Client-specific;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Request type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Client / programme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Client name or Generic programme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product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Line · risk code and resulting version, or new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Scheme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of the proposed terms, else of the requested terms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term</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Package start – package end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Target insurers / Chosen insurers</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Insurer codes; the chosen insurers once the terms are final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Workflow</a:t>
                      </a:r>
                    </a:p>
                  </a:txBody>
                  <a:tcPr marL="54864" marR="54864" marT="27432" marB="27432">
                    <a:solidFill>
                      <a:srgbClr val="E5F5FF"/>
                    </a:solidFill>
                  </a:tcPr>
                </a:tc>
                <a:tc>
                  <a:txBody>
                    <a:bodyPr/>
                    <a:lstStyle/>
                    <a:p>
                      <a:r>
                        <a:rPr sz="850" b="0">
                          <a:solidFill>
                            <a:srgbClr val="4B4B4B"/>
                          </a:solidFill>
                          <a:latin typeface="Arial"/>
                        </a:rPr>
                        <a:t>Stage stepper and meta row</a:t>
                      </a:r>
                    </a:p>
                  </a:txBody>
                  <a:tcPr marL="54864" marR="54864" marT="27432" marB="27432">
                    <a:solidFill>
                      <a:srgbClr val="E5F5FF"/>
                    </a:solidFill>
                  </a:tcPr>
                </a:tc>
                <a:tc>
                  <a:txBody>
                    <a:bodyPr/>
                    <a:lstStyle/>
                    <a:p>
                      <a:r>
                        <a:rPr sz="850" b="0">
                          <a:solidFill>
                            <a:srgbClr val="4B4B4B"/>
                          </a:solidFill>
                          <a:latin typeface="Arial"/>
                        </a:rPr>
                        <a:t>Panel</a:t>
                      </a:r>
                    </a:p>
                  </a:txBody>
                  <a:tcPr marL="54864" marR="54864" marT="27432" marB="27432">
                    <a:solidFill>
                      <a:srgbClr val="E5F5FF"/>
                    </a:solidFill>
                  </a:tcPr>
                </a:tc>
                <a:tc>
                  <a:txBody>
                    <a:bodyPr/>
                    <a:lstStyle/>
                    <a:p>
                      <a:r>
                        <a:rPr sz="850" b="0">
                          <a:solidFill>
                            <a:srgbClr val="4B4B4B"/>
                          </a:solidFill>
                          <a:latin typeface="Arial"/>
                        </a:rPr>
                        <a:t>The stages of the request in order, the current one highlighted; Current Stage, Since, Due, Assigned To</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Overdue pill after the due time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Details › Request</a:t>
                      </a:r>
                    </a:p>
                  </a:txBody>
                  <a:tcPr marL="54864" marR="54864" marT="27432" marB="27432">
                    <a:solidFill>
                      <a:srgbClr val="FFFFFF"/>
                    </a:solidFill>
                  </a:tcPr>
                </a:tc>
                <a:tc>
                  <a:txBody>
                    <a:bodyPr/>
                    <a:lstStyle/>
                    <a:p>
                      <a:r>
                        <a:rPr sz="850" b="0">
                          <a:solidFill>
                            <a:srgbClr val="4B4B4B"/>
                          </a:solidFill>
                          <a:latin typeface="Arial"/>
                        </a:rPr>
                        <a:t>Type / Scope / Client / Line / cover type / Market segments / Reason / Negotiation / TSU recommendation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 on the form; Negotiation: Insurers approached or No negotiation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Details › Approvals and steps</a:t>
                      </a:r>
                    </a:p>
                  </a:txBody>
                  <a:tcPr marL="54864" marR="54864" marT="27432" marB="27432">
                    <a:solidFill>
                      <a:srgbClr val="E5F5FF"/>
                    </a:solidFill>
                  </a:tcPr>
                </a:tc>
                <a:tc>
                  <a:txBody>
                    <a:bodyPr/>
                    <a:lstStyle/>
                    <a:p>
                      <a:r>
                        <a:rPr sz="850" b="0">
                          <a:solidFill>
                            <a:srgbClr val="4B4B4B"/>
                          </a:solidFill>
                          <a:latin typeface="Arial"/>
                        </a:rPr>
                        <a:t>Submitted / Marketing approval / TSU recommendation / TSU Head approval / Terms final / Requirements to ManCom / MBS set-up / Released</a:t>
                      </a:r>
                    </a:p>
                  </a:txBody>
                  <a:tcPr marL="54864" marR="54864" marT="27432" marB="27432">
                    <a:solidFill>
                      <a:srgbClr val="E5F5FF"/>
                    </a:solidFill>
                  </a:tcPr>
                </a:tc>
                <a:tc>
                  <a:txBody>
                    <a:bodyPr/>
                    <a:lstStyle/>
                    <a:p>
                      <a:r>
                        <a:rPr sz="850" b="0">
                          <a:solidFill>
                            <a:srgbClr val="4B4B4B"/>
                          </a:solidFill>
                          <a:latin typeface="Arial"/>
                        </a:rPr>
                        <a:t>Detail</a:t>
                      </a:r>
                    </a:p>
                  </a:txBody>
                  <a:tcPr marL="54864" marR="54864" marT="27432" marB="27432">
                    <a:solidFill>
                      <a:srgbClr val="E5F5FF"/>
                    </a:solidFill>
                  </a:tcPr>
                </a:tc>
                <a:tc>
                  <a:txBody>
                    <a:bodyPr/>
                    <a:lstStyle/>
                    <a:p>
                      <a:r>
                        <a:rPr sz="850" b="0">
                          <a:solidFill>
                            <a:srgbClr val="4B4B4B"/>
                          </a:solidFill>
                          <a:latin typeface="Arial"/>
                        </a:rPr>
                        <a:t>User · dd-MMM-yyyy HH:mm, or a dash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185</a:t>
            </a:r>
          </a:p>
        </p:txBody>
      </p:sp>
      <p:graphicFrame>
        <p:nvGraphicFramePr>
          <p:cNvPr id="9" name="Table 8"/>
          <p:cNvGraphicFramePr>
            <a:graphicFrameLocks noGrp="1"/>
          </p:cNvGraphicFramePr>
          <p:nvPr/>
        </p:nvGraphicFramePr>
        <p:xfrm>
          <a:off x="548640" y="1325880"/>
          <a:ext cx="11094411" cy="249172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868674">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Requested Terms</a:t>
                      </a:r>
                    </a:p>
                  </a:txBody>
                  <a:tcPr marL="54864" marR="54864" marT="27432" marB="27432">
                    <a:solidFill>
                      <a:srgbClr val="FFFFFF"/>
                    </a:solidFill>
                  </a:tcPr>
                </a:tc>
                <a:tc>
                  <a:txBody>
                    <a:bodyPr/>
                    <a:lstStyle/>
                    <a:p>
                      <a:r>
                        <a:rPr sz="850" b="0">
                          <a:solidFill>
                            <a:srgbClr val="4B4B4B"/>
                          </a:solidFill>
                          <a:latin typeface="Arial"/>
                        </a:rPr>
                        <a:t>Sections, coverages, rate scheme, dates and insurers</a:t>
                      </a:r>
                    </a:p>
                  </a:txBody>
                  <a:tcPr marL="54864" marR="54864" marT="27432" marB="27432">
                    <a:solidFill>
                      <a:srgbClr val="FFFFFF"/>
                    </a:solidFill>
                  </a:tcPr>
                </a:tc>
                <a:tc>
                  <a:txBody>
                    <a:bodyPr/>
                    <a:lstStyle/>
                    <a:p>
                      <a:r>
                        <a:rPr sz="850" b="0">
                          <a:solidFill>
                            <a:srgbClr val="4B4B4B"/>
                          </a:solidFill>
                          <a:latin typeface="Arial"/>
                        </a:rPr>
                        <a:t>Read-only view</a:t>
                      </a:r>
                    </a:p>
                  </a:txBody>
                  <a:tcPr marL="54864" marR="54864" marT="27432" marB="27432">
                    <a:solidFill>
                      <a:srgbClr val="FFFFFF"/>
                    </a:solidFill>
                  </a:tcPr>
                </a:tc>
                <a:tc>
                  <a:txBody>
                    <a:bodyPr/>
                    <a:lstStyle/>
                    <a:p>
                      <a:r>
                        <a:rPr sz="850" b="0">
                          <a:solidFill>
                            <a:srgbClr val="4B4B4B"/>
                          </a:solidFill>
                          <a:latin typeface="Arial"/>
                        </a:rPr>
                        <a:t>Sections; Coverage, Included, Limit, Deductible; Rate / minimum premium; Commission / TSI limit; Computation basis; Effective from; Package term; Insurer, Role, Share %, Rate %, Minimum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History › Status history</a:t>
                      </a:r>
                    </a:p>
                  </a:txBody>
                  <a:tcPr marL="54864" marR="54864" marT="27432" marB="27432">
                    <a:solidFill>
                      <a:srgbClr val="E5F5FF"/>
                    </a:solidFill>
                  </a:tcPr>
                </a:tc>
                <a:tc>
                  <a:txBody>
                    <a:bodyPr/>
                    <a:lstStyle/>
                    <a:p>
                      <a:r>
                        <a:rPr sz="850" b="0">
                          <a:solidFill>
                            <a:srgbClr val="4B4B4B"/>
                          </a:solidFill>
                          <a:latin typeface="Arial"/>
                        </a:rPr>
                        <a:t>Stage / From Stage / Action / By / Date and Time / Remarks / Duration in Stage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Newest first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History › Insurer response revisions</a:t>
                      </a:r>
                    </a:p>
                  </a:txBody>
                  <a:tcPr marL="54864" marR="54864" marT="27432" marB="27432">
                    <a:solidFill>
                      <a:srgbClr val="FFFFFF"/>
                    </a:solidFill>
                  </a:tcPr>
                </a:tc>
                <a:tc>
                  <a:txBody>
                    <a:bodyPr/>
                    <a:lstStyle/>
                    <a:p>
                      <a:r>
                        <a:rPr sz="850" b="0">
                          <a:solidFill>
                            <a:srgbClr val="4B4B4B"/>
                          </a:solidFill>
                          <a:latin typeface="Arial"/>
                        </a:rPr>
                        <a:t>Changed / By / Rev. / Outcome / Rate % / Remarks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Every saved revision of every insurer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response keyed in yet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Documents</a:t>
                      </a:r>
                    </a:p>
                  </a:txBody>
                  <a:tcPr marL="54864" marR="54864" marT="27432" marB="27432">
                    <a:solidFill>
                      <a:srgbClr val="E5F5FF"/>
                    </a:solidFill>
                  </a:tcPr>
                </a:tc>
                <a:tc>
                  <a:txBody>
                    <a:bodyPr/>
                    <a:lstStyle/>
                    <a:p>
                      <a:r>
                        <a:rPr sz="850" b="0">
                          <a:solidFill>
                            <a:srgbClr val="4B4B4B"/>
                          </a:solidFill>
                          <a:latin typeface="Arial"/>
                        </a:rPr>
                        <a:t>Documents panel</a:t>
                      </a:r>
                    </a:p>
                  </a:txBody>
                  <a:tcPr marL="54864" marR="54864" marT="27432" marB="27432">
                    <a:solidFill>
                      <a:srgbClr val="E5F5FF"/>
                    </a:solidFill>
                  </a:tcPr>
                </a:tc>
                <a:tc>
                  <a:txBody>
                    <a:bodyPr/>
                    <a:lstStyle/>
                    <a:p>
                      <a:r>
                        <a:rPr sz="850" b="0">
                          <a:solidFill>
                            <a:srgbClr val="4B4B4B"/>
                          </a:solidFill>
                          <a:latin typeface="Arial"/>
                        </a:rPr>
                        <a:t>Table and upload</a:t>
                      </a:r>
                    </a:p>
                  </a:txBody>
                  <a:tcPr marL="54864" marR="54864" marT="27432" marB="27432">
                    <a:solidFill>
                      <a:srgbClr val="E5F5FF"/>
                    </a:solidFill>
                  </a:tcPr>
                </a:tc>
                <a:tc>
                  <a:txBody>
                    <a:bodyPr/>
                    <a:lstStyle/>
                    <a:p>
                      <a:r>
                        <a:rPr sz="850" b="0">
                          <a:solidFill>
                            <a:srgbClr val="4B4B4B"/>
                          </a:solidFill>
                          <a:latin typeface="Arial"/>
                        </a:rPr>
                        <a:t>See Common screen elements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File checks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E-mails</a:t>
                      </a:r>
                    </a:p>
                  </a:txBody>
                  <a:tcPr marL="54864" marR="54864" marT="27432" marB="27432">
                    <a:solidFill>
                      <a:srgbClr val="FFFFFF"/>
                    </a:solidFill>
                  </a:tcPr>
                </a:tc>
                <a:tc>
                  <a:txBody>
                    <a:bodyPr/>
                    <a:lstStyle/>
                    <a:p>
                      <a:r>
                        <a:rPr sz="850" b="0">
                          <a:solidFill>
                            <a:srgbClr val="4B4B4B"/>
                          </a:solidFill>
                          <a:latin typeface="Arial"/>
                        </a:rPr>
                        <a:t>Sent e-mails</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Recipient, subject, attachments, status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186</a:t>
            </a:r>
          </a:p>
        </p:txBody>
      </p:sp>
      <p:graphicFrame>
        <p:nvGraphicFramePr>
          <p:cNvPr id="9" name="Table 8"/>
          <p:cNvGraphicFramePr>
            <a:graphicFrameLocks noGrp="1"/>
          </p:cNvGraphicFramePr>
          <p:nvPr/>
        </p:nvGraphicFramePr>
        <p:xfrm>
          <a:off x="548640" y="1325880"/>
          <a:ext cx="11094412" cy="454149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Request Form</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Request Form (PDF) with the requested terms</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Edit</a:t>
                      </a:r>
                    </a:p>
                  </a:txBody>
                  <a:tcPr marL="54864" marR="54864" marT="27432" marB="27432">
                    <a:solidFill>
                      <a:srgbClr val="E5F5FF"/>
                    </a:solidFill>
                  </a:tcPr>
                </a:tc>
                <a:tc>
                  <a:txBody>
                    <a:bodyPr/>
                    <a:lstStyle/>
                    <a:p>
                      <a:r>
                        <a:rPr sz="850" b="0">
                          <a:solidFill>
                            <a:srgbClr val="4B4B4B"/>
                          </a:solidFill>
                          <a:latin typeface="Arial"/>
                        </a:rPr>
                        <a:t>PKG_REQUEST in Draft; PKG_TSU_RECOMMEND (TSU Team Lead) in For TSU review</a:t>
                      </a:r>
                    </a:p>
                  </a:txBody>
                  <a:tcPr marL="54864" marR="54864" marT="27432" marB="27432">
                    <a:solidFill>
                      <a:srgbClr val="E5F5FF"/>
                    </a:solidFill>
                  </a:tcPr>
                </a:tc>
                <a:tc>
                  <a:txBody>
                    <a:bodyPr/>
                    <a:lstStyle/>
                    <a:p>
                      <a:r>
                        <a:rPr sz="850" b="0">
                          <a:solidFill>
                            <a:srgbClr val="4B4B4B"/>
                          </a:solidFill>
                          <a:latin typeface="Arial"/>
                        </a:rPr>
                        <a:t>Draft or For TSU review</a:t>
                      </a:r>
                    </a:p>
                  </a:txBody>
                  <a:tcPr marL="54864" marR="54864" marT="27432" marB="27432">
                    <a:solidFill>
                      <a:srgbClr val="E5F5FF"/>
                    </a:solidFill>
                  </a:tcPr>
                </a:tc>
                <a:tc>
                  <a:txBody>
                    <a:bodyPr/>
                    <a:lstStyle/>
                    <a:p>
                      <a:r>
                        <a:rPr sz="850" b="0">
                          <a:solidFill>
                            <a:srgbClr val="4B4B4B"/>
                          </a:solidFill>
                          <a:latin typeface="Arial"/>
                        </a:rPr>
                        <a:t>Opens Edit Package Request</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for approval</a:t>
                      </a:r>
                    </a:p>
                  </a:txBody>
                  <a:tcPr marL="54864" marR="54864" marT="27432" marB="27432">
                    <a:solidFill>
                      <a:srgbClr val="FFFFFF"/>
                    </a:solidFill>
                  </a:tcPr>
                </a:tc>
                <a:tc>
                  <a:txBody>
                    <a:bodyPr/>
                    <a:lstStyle/>
                    <a:p>
                      <a:r>
                        <a:rPr sz="850" b="0">
                          <a:solidFill>
                            <a:srgbClr val="4B4B4B"/>
                          </a:solidFill>
                          <a:latin typeface="Arial"/>
                        </a:rPr>
                        <a:t>PKG_REQUEST</a:t>
                      </a:r>
                    </a:p>
                  </a:txBody>
                  <a:tcPr marL="54864" marR="54864" marT="27432" marB="27432">
                    <a:solidFill>
                      <a:srgbClr val="FFFFFF"/>
                    </a:solidFill>
                  </a:tcPr>
                </a:tc>
                <a:tc>
                  <a:txBody>
                    <a:bodyPr/>
                    <a:lstStyle/>
                    <a:p>
                      <a:r>
                        <a:rPr sz="850" b="0">
                          <a:solidFill>
                            <a:srgbClr val="4B4B4B"/>
                          </a:solidFill>
                          <a:latin typeface="Arial"/>
                        </a:rPr>
                        <a:t>Draft; the request is complete</a:t>
                      </a:r>
                    </a:p>
                  </a:txBody>
                  <a:tcPr marL="54864" marR="54864" marT="27432" marB="27432">
                    <a:solidFill>
                      <a:srgbClr val="FFFFFF"/>
                    </a:solidFill>
                  </a:tcPr>
                </a:tc>
                <a:tc>
                  <a:txBody>
                    <a:bodyPr/>
                    <a:lstStyle/>
                    <a:p>
                      <a:r>
                        <a:rPr sz="850" b="0">
                          <a:solidFill>
                            <a:srgbClr val="4B4B4B"/>
                          </a:solidFill>
                          <a:latin typeface="Arial"/>
                        </a:rPr>
                        <a:t>Checks completeness and submits</a:t>
                      </a:r>
                    </a:p>
                  </a:txBody>
                  <a:tcPr marL="54864" marR="54864" marT="27432" marB="27432">
                    <a:solidFill>
                      <a:srgbClr val="FFFFFF"/>
                    </a:solidFill>
                  </a:tcPr>
                </a:tc>
                <a:tc>
                  <a:txBody>
                    <a:bodyPr/>
                    <a:lstStyle/>
                    <a:p>
                      <a:r>
                        <a:rPr sz="850" b="0">
                          <a:solidFill>
                            <a:srgbClr val="4B4B4B"/>
                          </a:solidFill>
                          <a:latin typeface="Arial"/>
                        </a:rPr>
                        <a:t>For Marketing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and send to TSU</a:t>
                      </a:r>
                    </a:p>
                  </a:txBody>
                  <a:tcPr marL="54864" marR="54864" marT="27432" marB="27432">
                    <a:solidFill>
                      <a:srgbClr val="E5F5FF"/>
                    </a:solidFill>
                  </a:tcPr>
                </a:tc>
                <a:tc>
                  <a:txBody>
                    <a:bodyPr/>
                    <a:lstStyle/>
                    <a:p>
                      <a:r>
                        <a:rPr sz="850" b="0">
                          <a:solidFill>
                            <a:srgbClr val="4B4B4B"/>
                          </a:solidFill>
                          <a:latin typeface="Arial"/>
                        </a:rPr>
                        <a:t>Marketing TL / TH / UH (PKG_REQUEST_APPROVE)</a:t>
                      </a:r>
                    </a:p>
                  </a:txBody>
                  <a:tcPr marL="54864" marR="54864" marT="27432" marB="27432">
                    <a:solidFill>
                      <a:srgbClr val="E5F5FF"/>
                    </a:solidFill>
                  </a:tcPr>
                </a:tc>
                <a:tc>
                  <a:txBody>
                    <a:bodyPr/>
                    <a:lstStyle/>
                    <a:p>
                      <a:r>
                        <a:rPr sz="850" b="0">
                          <a:solidFill>
                            <a:srgbClr val="4B4B4B"/>
                          </a:solidFill>
                          <a:latin typeface="Arial"/>
                        </a:rPr>
                        <a:t>For Marketing approval; the user is not the maker or the submitter</a:t>
                      </a:r>
                    </a:p>
                  </a:txBody>
                  <a:tcPr marL="54864" marR="54864" marT="27432" marB="27432">
                    <a:solidFill>
                      <a:srgbClr val="E5F5FF"/>
                    </a:solidFill>
                  </a:tcPr>
                </a:tc>
                <a:tc>
                  <a:txBody>
                    <a:bodyPr/>
                    <a:lstStyle/>
                    <a:p>
                      <a:r>
                        <a:rPr sz="850" b="0">
                          <a:solidFill>
                            <a:srgbClr val="4B4B4B"/>
                          </a:solidFill>
                          <a:latin typeface="Arial"/>
                        </a:rPr>
                        <a:t>Records the Marketing approval</a:t>
                      </a:r>
                    </a:p>
                  </a:txBody>
                  <a:tcPr marL="54864" marR="54864" marT="27432" marB="27432">
                    <a:solidFill>
                      <a:srgbClr val="E5F5FF"/>
                    </a:solidFill>
                  </a:tcPr>
                </a:tc>
                <a:tc>
                  <a:txBody>
                    <a:bodyPr/>
                    <a:lstStyle/>
                    <a:p>
                      <a:r>
                        <a:rPr sz="850" b="0">
                          <a:solidFill>
                            <a:srgbClr val="4B4B4B"/>
                          </a:solidFill>
                          <a:latin typeface="Arial"/>
                        </a:rPr>
                        <a:t>For TSU review</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Return to requester</a:t>
                      </a:r>
                    </a:p>
                  </a:txBody>
                  <a:tcPr marL="54864" marR="54864" marT="27432" marB="27432">
                    <a:solidFill>
                      <a:srgbClr val="FFFFFF"/>
                    </a:solidFill>
                  </a:tcPr>
                </a:tc>
                <a:tc>
                  <a:txBody>
                    <a:bodyPr/>
                    <a:lstStyle/>
                    <a:p>
                      <a:r>
                        <a:rPr sz="850" b="0">
                          <a:solidFill>
                            <a:srgbClr val="4B4B4B"/>
                          </a:solidFill>
                          <a:latin typeface="Arial"/>
                        </a:rPr>
                        <a:t>Marketing TL (For Marketing approval); TSU Team Lead (For TSU review); TSU Head (For TSU Head approval)</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(Return reason, mandatory; Comment) and returns the request</a:t>
                      </a:r>
                    </a:p>
                  </a:txBody>
                  <a:tcPr marL="54864" marR="54864" marT="27432" marB="27432">
                    <a:solidFill>
                      <a:srgbClr val="FFFFFF"/>
                    </a:solidFill>
                  </a:tcPr>
                </a:tc>
                <a:tc>
                  <a:txBody>
                    <a:bodyPr/>
                    <a:lstStyle/>
                    <a:p>
                      <a:r>
                        <a:rPr sz="850" b="0">
                          <a:solidFill>
                            <a:srgbClr val="4B4B4B"/>
                          </a:solidFill>
                          <a:latin typeface="Arial"/>
                        </a:rPr>
                        <a:t>Draft request</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609596">
                <a:tc>
                  <a:txBody>
                    <a:bodyPr/>
                    <a:lstStyle/>
                    <a:p>
                      <a:r>
                        <a:rPr sz="850" b="0">
                          <a:solidFill>
                            <a:srgbClr val="4B4B4B"/>
                          </a:solidFill>
                          <a:latin typeface="Arial"/>
                        </a:rPr>
                        <a:t>Void</a:t>
                      </a:r>
                    </a:p>
                  </a:txBody>
                  <a:tcPr marL="54864" marR="54864" marT="27432" marB="27432">
                    <a:solidFill>
                      <a:srgbClr val="E5F5FF"/>
                    </a:solidFill>
                  </a:tcPr>
                </a:tc>
                <a:tc>
                  <a:txBody>
                    <a:bodyPr/>
                    <a:lstStyle/>
                    <a:p>
                      <a:r>
                        <a:rPr sz="850" b="0">
                          <a:solidFill>
                            <a:srgbClr val="4B4B4B"/>
                          </a:solidFill>
                          <a:latin typeface="Arial"/>
                        </a:rPr>
                        <a:t>The requester (Draft, For Marketing approval); the Marketing approver; the TSU Team Lead; the TSU Head</a:t>
                      </a:r>
                    </a:p>
                  </a:txBody>
                  <a:tcPr marL="54864" marR="54864" marT="27432" marB="27432">
                    <a:solidFill>
                      <a:srgbClr val="E5F5FF"/>
                    </a:solidFill>
                  </a:tcPr>
                </a:tc>
                <a:tc>
                  <a:txBody>
                    <a:bodyPr/>
                    <a:lstStyle/>
                    <a:p>
                      <a:r>
                        <a:rPr sz="850" b="0">
                          <a:solidFill>
                            <a:srgbClr val="4B4B4B"/>
                          </a:solidFill>
                          <a:latin typeface="Arial"/>
                        </a:rPr>
                        <a:t>Draft to For TSU Head approval</a:t>
                      </a:r>
                    </a:p>
                  </a:txBody>
                  <a:tcPr marL="54864" marR="54864" marT="27432" marB="27432">
                    <a:solidFill>
                      <a:srgbClr val="E5F5FF"/>
                    </a:solidFill>
                  </a:tcPr>
                </a:tc>
                <a:tc>
                  <a:txBody>
                    <a:bodyPr/>
                    <a:lstStyle/>
                    <a:p>
                      <a:r>
                        <a:rPr sz="850" b="0">
                          <a:solidFill>
                            <a:srgbClr val="4B4B4B"/>
                          </a:solidFill>
                          <a:latin typeface="Arial"/>
                        </a:rPr>
                        <a:t>Opens the reason dialog (Void reason, mandatory) and closes the request without a package</a:t>
                      </a:r>
                    </a:p>
                  </a:txBody>
                  <a:tcPr marL="54864" marR="54864" marT="27432" marB="27432">
                    <a:solidFill>
                      <a:srgbClr val="E5F5FF"/>
                    </a:solidFill>
                  </a:tcPr>
                </a:tc>
                <a:tc>
                  <a:txBody>
                    <a:bodyPr/>
                    <a:lstStyle/>
                    <a:p>
                      <a:r>
                        <a:rPr sz="850" b="0">
                          <a:solidFill>
                            <a:srgbClr val="4B4B4B"/>
                          </a:solidFill>
                          <a:latin typeface="Arial"/>
                        </a:rPr>
                        <a:t>Voided</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Recommend for approval</a:t>
                      </a:r>
                    </a:p>
                  </a:txBody>
                  <a:tcPr marL="54864" marR="54864" marT="27432" marB="27432">
                    <a:solidFill>
                      <a:srgbClr val="FFFFFF"/>
                    </a:solidFill>
                  </a:tcPr>
                </a:tc>
                <a:tc>
                  <a:txBody>
                    <a:bodyPr/>
                    <a:lstStyle/>
                    <a:p>
                      <a:r>
                        <a:rPr sz="850" b="0">
                          <a:solidFill>
                            <a:srgbClr val="4B4B4B"/>
                          </a:solidFill>
                          <a:latin typeface="Arial"/>
                        </a:rPr>
                        <a:t>TSU Team Lead (PKG_TSU_RECOMMEND)</a:t>
                      </a:r>
                    </a:p>
                  </a:txBody>
                  <a:tcPr marL="54864" marR="54864" marT="27432" marB="27432">
                    <a:solidFill>
                      <a:srgbClr val="FFFFFF"/>
                    </a:solidFill>
                  </a:tcPr>
                </a:tc>
                <a:tc>
                  <a:txBody>
                    <a:bodyPr/>
                    <a:lstStyle/>
                    <a:p>
                      <a:r>
                        <a:rPr sz="850" b="0">
                          <a:solidFill>
                            <a:srgbClr val="4B4B4B"/>
                          </a:solidFill>
                          <a:latin typeface="Arial"/>
                        </a:rPr>
                        <a:t>For TSU review</a:t>
                      </a:r>
                    </a:p>
                  </a:txBody>
                  <a:tcPr marL="54864" marR="54864" marT="27432" marB="27432">
                    <a:solidFill>
                      <a:srgbClr val="FFFFFF"/>
                    </a:solidFill>
                  </a:tcPr>
                </a:tc>
                <a:tc>
                  <a:txBody>
                    <a:bodyPr/>
                    <a:lstStyle/>
                    <a:p>
                      <a:r>
                        <a:rPr sz="850" b="0">
                          <a:solidFill>
                            <a:srgbClr val="4B4B4B"/>
                          </a:solidFill>
                          <a:latin typeface="Arial"/>
                        </a:rPr>
                        <a:t>Opens Recommend for Approval: the Recommendation (mandatory, up to 2,000 characters) is kept on the request and shown to the TSU Head</a:t>
                      </a:r>
                    </a:p>
                  </a:txBody>
                  <a:tcPr marL="54864" marR="54864" marT="27432" marB="27432">
                    <a:solidFill>
                      <a:srgbClr val="FFFFFF"/>
                    </a:solidFill>
                  </a:tcPr>
                </a:tc>
                <a:tc>
                  <a:txBody>
                    <a:bodyPr/>
                    <a:lstStyle/>
                    <a:p>
                      <a:r>
                        <a:rPr sz="850" b="0">
                          <a:solidFill>
                            <a:srgbClr val="4B4B4B"/>
                          </a:solidFill>
                          <a:latin typeface="Arial"/>
                        </a:rPr>
                        <a:t>For TSU Head approval</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Approve for negotiation</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For TSU Head approval; the request is negotiated; the user is not the recommender</a:t>
                      </a:r>
                    </a:p>
                  </a:txBody>
                  <a:tcPr marL="54864" marR="54864" marT="27432" marB="27432">
                    <a:solidFill>
                      <a:srgbClr val="E5F5FF"/>
                    </a:solidFill>
                  </a:tcPr>
                </a:tc>
                <a:tc>
                  <a:txBody>
                    <a:bodyPr/>
                    <a:lstStyle/>
                    <a:p>
                      <a:r>
                        <a:rPr sz="850" b="0">
                          <a:solidFill>
                            <a:srgbClr val="4B4B4B"/>
                          </a:solidFill>
                          <a:latin typeface="Arial"/>
                        </a:rPr>
                        <a:t>Approves the request and opens negotiation round 1 with the target insurers</a:t>
                      </a:r>
                    </a:p>
                  </a:txBody>
                  <a:tcPr marL="54864" marR="54864" marT="27432" marB="27432">
                    <a:solidFill>
                      <a:srgbClr val="E5F5FF"/>
                    </a:solidFill>
                  </a:tcPr>
                </a:tc>
                <a:tc>
                  <a:txBody>
                    <a:bodyPr/>
                    <a:lstStyle/>
                    <a:p>
                      <a:r>
                        <a:rPr sz="850" b="0">
                          <a:solidFill>
                            <a:srgbClr val="4B4B4B"/>
                          </a:solidFill>
                          <a:latin typeface="Arial"/>
                        </a:rPr>
                        <a:t>Insurer negotiation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609596">
                <a:tc>
                  <a:txBody>
                    <a:bodyPr/>
                    <a:lstStyle/>
                    <a:p>
                      <a:r>
                        <a:rPr sz="850" b="0">
                          <a:solidFill>
                            <a:srgbClr val="4B4B4B"/>
                          </a:solidFill>
                          <a:latin typeface="Arial"/>
                        </a:rPr>
                        <a:t>Approve without negotiation</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For TSU Head approval; no negotiation (Retire, or Renew, Update, Reactivate without insurers)</a:t>
                      </a:r>
                    </a:p>
                  </a:txBody>
                  <a:tcPr marL="54864" marR="54864" marT="27432" marB="27432">
                    <a:solidFill>
                      <a:srgbClr val="FFFFFF"/>
                    </a:solidFill>
                  </a:tcPr>
                </a:tc>
                <a:tc>
                  <a:txBody>
                    <a:bodyPr/>
                    <a:lstStyle/>
                    <a:p>
                      <a:r>
                        <a:rPr sz="850" b="0">
                          <a:solidFill>
                            <a:srgbClr val="4B4B4B"/>
                          </a:solidFill>
                          <a:latin typeface="Arial"/>
                        </a:rPr>
                        <a:t>The requested terms become the proposed terms; the request goes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actions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187</a:t>
            </a:r>
          </a:p>
        </p:txBody>
      </p:sp>
      <p:graphicFrame>
        <p:nvGraphicFramePr>
          <p:cNvPr id="9" name="Table 8"/>
          <p:cNvGraphicFramePr>
            <a:graphicFrameLocks noGrp="1"/>
          </p:cNvGraphicFramePr>
          <p:nvPr/>
        </p:nvGraphicFramePr>
        <p:xfrm>
          <a:off x="548640" y="1325880"/>
          <a:ext cx="11094412" cy="328420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TSU Officer or TSU Head (Insurer negotiation); Marketing (Marketing review of terms)</a:t>
                      </a:r>
                    </a:p>
                  </a:txBody>
                  <a:tcPr marL="54864" marR="54864" marT="27432" marB="27432">
                    <a:solidFill>
                      <a:srgbClr val="FFFFFF"/>
                    </a:solidFill>
                  </a:tcPr>
                </a:tc>
                <a:tc>
                  <a:txBody>
                    <a:bodyPr/>
                    <a:lstStyle/>
                    <a:p>
                      <a:r>
                        <a:rPr sz="850" b="0">
                          <a:solidFill>
                            <a:srgbClr val="4B4B4B"/>
                          </a:solidFill>
                          <a:latin typeface="Arial"/>
                        </a:rPr>
                        <a:t>Those stages</a:t>
                      </a:r>
                    </a:p>
                  </a:txBody>
                  <a:tcPr marL="54864" marR="54864" marT="27432" marB="27432">
                    <a:solidFill>
                      <a:srgbClr val="FFFFFF"/>
                    </a:solidFill>
                  </a:tcPr>
                </a:tc>
                <a:tc>
                  <a:txBody>
                    <a:bodyPr/>
                    <a:lstStyle/>
                    <a:p>
                      <a:r>
                        <a:rPr sz="850" b="0">
                          <a:solidFill>
                            <a:srgbClr val="4B4B4B"/>
                          </a:solidFill>
                          <a:latin typeface="Arial"/>
                        </a:rPr>
                        <a:t>Opens the reason dialog (Not proceeded reason, mandatory) and closes the request</a:t>
                      </a:r>
                    </a:p>
                  </a:txBody>
                  <a:tcPr marL="54864" marR="54864" marT="27432" marB="27432">
                    <a:solidFill>
                      <a:srgbClr val="FFFFFF"/>
                    </a:solidFill>
                  </a:tcPr>
                </a:tc>
                <a:tc>
                  <a:txBody>
                    <a:bodyPr/>
                    <a:lstStyle/>
                    <a:p>
                      <a:r>
                        <a:rPr sz="850" b="0">
                          <a:solidFill>
                            <a:srgbClr val="4B4B4B"/>
                          </a:solidFill>
                          <a:latin typeface="Arial"/>
                        </a:rPr>
                        <a:t>Not proceeded</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Release terms to Marketing</a:t>
                      </a:r>
                    </a:p>
                  </a:txBody>
                  <a:tcPr marL="54864" marR="54864" marT="27432" marB="27432">
                    <a:solidFill>
                      <a:srgbClr val="E5F5FF"/>
                    </a:solidFill>
                  </a:tcPr>
                </a:tc>
                <a:tc>
                  <a:txBody>
                    <a:bodyPr/>
                    <a:lstStyle/>
                    <a:p>
                      <a:r>
                        <a:rPr sz="850" b="0">
                          <a:solidFill>
                            <a:srgbClr val="4B4B4B"/>
                          </a:solidFill>
                          <a:latin typeface="Arial"/>
                        </a:rPr>
                        <a:t>TSU Head (PKG_TSU_APPROVE)</a:t>
                      </a:r>
                    </a:p>
                  </a:txBody>
                  <a:tcPr marL="54864" marR="54864" marT="27432" marB="27432">
                    <a:solidFill>
                      <a:srgbClr val="E5F5FF"/>
                    </a:solidFill>
                  </a:tcPr>
                </a:tc>
                <a:tc>
                  <a:txBody>
                    <a:bodyPr/>
                    <a:lstStyle/>
                    <a:p>
                      <a:r>
                        <a:rPr sz="850" b="0">
                          <a:solidFill>
                            <a:srgbClr val="4B4B4B"/>
                          </a:solidFill>
                          <a:latin typeface="Arial"/>
                        </a:rPr>
                        <a:t>Negotiated terms review; client-specific package</a:t>
                      </a:r>
                    </a:p>
                  </a:txBody>
                  <a:tcPr marL="54864" marR="54864" marT="27432" marB="27432">
                    <a:solidFill>
                      <a:srgbClr val="E5F5FF"/>
                    </a:solidFill>
                  </a:tcPr>
                </a:tc>
                <a:tc>
                  <a:txBody>
                    <a:bodyPr/>
                    <a:lstStyle/>
                    <a:p>
                      <a:r>
                        <a:rPr sz="850" b="0">
                          <a:solidFill>
                            <a:srgbClr val="4B4B4B"/>
                          </a:solidFill>
                          <a:latin typeface="Arial"/>
                        </a:rPr>
                        <a:t>Sends the negotiated terms to Marketing for the client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Proceed to requirements (generic package)</a:t>
                      </a:r>
                    </a:p>
                  </a:txBody>
                  <a:tcPr marL="54864" marR="54864" marT="27432" marB="27432">
                    <a:solidFill>
                      <a:srgbClr val="FFFFFF"/>
                    </a:solidFill>
                  </a:tcPr>
                </a:tc>
                <a:tc>
                  <a:txBody>
                    <a:bodyPr/>
                    <a:lstStyle/>
                    <a:p>
                      <a:r>
                        <a:rPr sz="850" b="0">
                          <a:solidFill>
                            <a:srgbClr val="4B4B4B"/>
                          </a:solidFill>
                          <a:latin typeface="Arial"/>
                        </a:rPr>
                        <a:t>TSU Head (PKG_TSU_APPROVE)</a:t>
                      </a:r>
                    </a:p>
                  </a:txBody>
                  <a:tcPr marL="54864" marR="54864" marT="27432" marB="27432">
                    <a:solidFill>
                      <a:srgbClr val="FFFFFF"/>
                    </a:solidFill>
                  </a:tcPr>
                </a:tc>
                <a:tc>
                  <a:txBody>
                    <a:bodyPr/>
                    <a:lstStyle/>
                    <a:p>
                      <a:r>
                        <a:rPr sz="850" b="0">
                          <a:solidFill>
                            <a:srgbClr val="4B4B4B"/>
                          </a:solidFill>
                          <a:latin typeface="Arial"/>
                        </a:rPr>
                        <a:t>Negotiated terms review; generic programme</a:t>
                      </a:r>
                    </a:p>
                  </a:txBody>
                  <a:tcPr marL="54864" marR="54864" marT="27432" marB="27432">
                    <a:solidFill>
                      <a:srgbClr val="FFFFFF"/>
                    </a:solidFill>
                  </a:tcPr>
                </a:tc>
                <a:tc>
                  <a:txBody>
                    <a:bodyPr/>
                    <a:lstStyle/>
                    <a:p>
                      <a:r>
                        <a:rPr sz="850" b="0">
                          <a:solidFill>
                            <a:srgbClr val="4B4B4B"/>
                          </a:solidFill>
                          <a:latin typeface="Arial"/>
                        </a:rPr>
                        <a:t>Skips the Marketing review</a:t>
                      </a:r>
                    </a:p>
                  </a:txBody>
                  <a:tcPr marL="54864" marR="54864" marT="27432" marB="27432">
                    <a:solidFill>
                      <a:srgbClr val="FFFFFF"/>
                    </a:solidFill>
                  </a:tcPr>
                </a:tc>
                <a:tc>
                  <a:txBody>
                    <a:bodyPr/>
                    <a:lstStyle/>
                    <a:p>
                      <a:r>
                        <a:rPr sz="850" b="0">
                          <a:solidFill>
                            <a:srgbClr val="4B4B4B"/>
                          </a:solidFill>
                          <a:latin typeface="Arial"/>
                        </a:rPr>
                        <a:t>Requirements preparation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350518">
                <a:tc>
                  <a:txBody>
                    <a:bodyPr/>
                    <a:lstStyle/>
                    <a:p>
                      <a:r>
                        <a:rPr sz="850" b="0">
                          <a:solidFill>
                            <a:srgbClr val="4B4B4B"/>
                          </a:solidFill>
                          <a:latin typeface="Arial"/>
                        </a:rPr>
                        <a:t>Accept terms</a:t>
                      </a:r>
                    </a:p>
                  </a:txBody>
                  <a:tcPr marL="54864" marR="54864" marT="27432" marB="27432">
                    <a:solidFill>
                      <a:srgbClr val="E5F5FF"/>
                    </a:solidFill>
                  </a:tcPr>
                </a:tc>
                <a:tc>
                  <a:txBody>
                    <a:bodyPr/>
                    <a:lstStyle/>
                    <a:p>
                      <a:r>
                        <a:rPr sz="850" b="0">
                          <a:solidFill>
                            <a:srgbClr val="4B4B4B"/>
                          </a:solidFill>
                          <a:latin typeface="Arial"/>
                        </a:rPr>
                        <a:t>Marketing (PKG_REQUEST)</a:t>
                      </a:r>
                    </a:p>
                  </a:txBody>
                  <a:tcPr marL="54864" marR="54864" marT="27432" marB="27432">
                    <a:solidFill>
                      <a:srgbClr val="E5F5FF"/>
                    </a:solidFill>
                  </a:tcPr>
                </a:tc>
                <a:tc>
                  <a:txBody>
                    <a:bodyPr/>
                    <a:lstStyle/>
                    <a:p>
                      <a:r>
                        <a:rPr sz="850" b="0">
                          <a:solidFill>
                            <a:srgbClr val="4B4B4B"/>
                          </a:solidFill>
                          <a:latin typeface="Arial"/>
                        </a:rPr>
                        <a:t>Marketing review of terms</a:t>
                      </a:r>
                    </a:p>
                  </a:txBody>
                  <a:tcPr marL="54864" marR="54864" marT="27432" marB="27432">
                    <a:solidFill>
                      <a:srgbClr val="E5F5FF"/>
                    </a:solidFill>
                  </a:tcPr>
                </a:tc>
                <a:tc>
                  <a:txBody>
                    <a:bodyPr/>
                    <a:lstStyle/>
                    <a:p>
                      <a:r>
                        <a:rPr sz="850" b="0">
                          <a:solidFill>
                            <a:srgbClr val="4B4B4B"/>
                          </a:solidFill>
                          <a:latin typeface="Arial"/>
                        </a:rPr>
                        <a:t>Records the client's acceptance of the terms</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350518">
                <a:tc>
                  <a:txBody>
                    <a:bodyPr/>
                    <a:lstStyle/>
                    <a:p>
                      <a:r>
                        <a:rPr sz="850" b="0">
                          <a:solidFill>
                            <a:srgbClr val="4B4B4B"/>
                          </a:solidFill>
                          <a:latin typeface="Arial"/>
                        </a:rPr>
                        <a:t>Request changes</a:t>
                      </a:r>
                    </a:p>
                  </a:txBody>
                  <a:tcPr marL="54864" marR="54864" marT="27432" marB="27432">
                    <a:solidFill>
                      <a:srgbClr val="FFFFFF"/>
                    </a:solidFill>
                  </a:tcPr>
                </a:tc>
                <a:tc>
                  <a:txBody>
                    <a:bodyPr/>
                    <a:lstStyle/>
                    <a:p>
                      <a:r>
                        <a:rPr sz="850" b="0">
                          <a:solidFill>
                            <a:srgbClr val="4B4B4B"/>
                          </a:solidFill>
                          <a:latin typeface="Arial"/>
                        </a:rPr>
                        <a:t>Marketing (PKG_REQUEST)</a:t>
                      </a:r>
                    </a:p>
                  </a:txBody>
                  <a:tcPr marL="54864" marR="54864" marT="27432" marB="27432">
                    <a:solidFill>
                      <a:srgbClr val="FFFFFF"/>
                    </a:solidFill>
                  </a:tcPr>
                </a:tc>
                <a:tc>
                  <a:txBody>
                    <a:bodyPr/>
                    <a:lstStyle/>
                    <a:p>
                      <a:r>
                        <a:rPr sz="850" b="0">
                          <a:solidFill>
                            <a:srgbClr val="4B4B4B"/>
                          </a:solidFill>
                          <a:latin typeface="Arial"/>
                        </a:rPr>
                        <a:t>Marketing review of terms</a:t>
                      </a:r>
                    </a:p>
                  </a:txBody>
                  <a:tcPr marL="54864" marR="54864" marT="27432" marB="27432">
                    <a:solidFill>
                      <a:srgbClr val="FFFFFF"/>
                    </a:solidFill>
                  </a:tcPr>
                </a:tc>
                <a:tc>
                  <a:txBody>
                    <a:bodyPr/>
                    <a:lstStyle/>
                    <a:p>
                      <a:r>
                        <a:rPr sz="850" b="0">
                          <a:solidFill>
                            <a:srgbClr val="4B4B4B"/>
                          </a:solidFill>
                          <a:latin typeface="Arial"/>
                        </a:rPr>
                        <a:t>Opens the reason dialog; the latest round stays open so that TSU revises the slip or makes the terms final again</a:t>
                      </a:r>
                    </a:p>
                  </a:txBody>
                  <a:tcPr marL="54864" marR="54864" marT="27432" marB="27432">
                    <a:solidFill>
                      <a:srgbClr val="FFFFFF"/>
                    </a:solidFill>
                  </a:tcPr>
                </a:tc>
                <a:tc>
                  <a:txBody>
                    <a:bodyPr/>
                    <a:lstStyle/>
                    <a:p>
                      <a:r>
                        <a:rPr sz="850" b="0">
                          <a:solidFill>
                            <a:srgbClr val="4B4B4B"/>
                          </a:solidFill>
                          <a:latin typeface="Arial"/>
                        </a:rPr>
                        <a:t>Insurer negotiation</a:t>
                      </a:r>
                    </a:p>
                  </a:txBody>
                  <a:tcPr marL="54864" marR="54864" marT="27432" marB="27432">
                    <a:solidFill>
                      <a:srgbClr val="FFFFFF"/>
                    </a:solidFill>
                  </a:tcPr>
                </a:tc>
                <a:tc>
                  <a:txBody>
                    <a:bodyPr/>
                    <a:lstStyle/>
                    <a:p>
                      <a:r>
                        <a:rPr sz="850" b="0">
                          <a:solidFill>
                            <a:srgbClr val="4B4B4B"/>
                          </a:solidFill>
                          <a:latin typeface="Arial"/>
                        </a:rPr>
                        <a:t>Workflow notice with the comment</a:t>
                      </a:r>
                    </a:p>
                  </a:txBody>
                  <a:tcPr marL="54864" marR="54864" marT="27432" marB="27432">
                    <a:solidFill>
                      <a:srgbClr val="FFFFFF"/>
                    </a:solidFill>
                  </a:tcPr>
                </a:tc>
              </a:tr>
              <a:tr h="350518">
                <a:tc>
                  <a:txBody>
                    <a:bodyPr/>
                    <a:lstStyle/>
                    <a:p>
                      <a:r>
                        <a:rPr sz="850" b="0">
                          <a:solidFill>
                            <a:srgbClr val="4B4B4B"/>
                          </a:solidFill>
                          <a:latin typeface="Arial"/>
                        </a:rPr>
                        <a:t>Return to TSU</a:t>
                      </a:r>
                    </a:p>
                  </a:txBody>
                  <a:tcPr marL="54864" marR="54864" marT="27432" marB="27432">
                    <a:solidFill>
                      <a:srgbClr val="E5F5FF"/>
                    </a:solidFill>
                  </a:tcPr>
                </a:tc>
                <a:tc>
                  <a:txBody>
                    <a:bodyPr/>
                    <a:lstStyle/>
                    <a:p>
                      <a:r>
                        <a:rPr sz="850" b="0">
                          <a:solidFill>
                            <a:srgbClr val="4B4B4B"/>
                          </a:solidFill>
                          <a:latin typeface="Arial"/>
                        </a:rPr>
                        <a:t>ManCom (PKG_MANCOM_SIGNOFF)</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Opens the reason dialog; the return is kept as a ManCom decision Returned</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Retire package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request type Retire</a:t>
                      </a:r>
                    </a:p>
                  </a:txBody>
                  <a:tcPr marL="54864" marR="54864" marT="27432" marB="27432">
                    <a:solidFill>
                      <a:srgbClr val="FFFFFF"/>
                    </a:solidFill>
                  </a:tcPr>
                </a:tc>
                <a:tc>
                  <a:txBody>
                    <a:bodyPr/>
                    <a:lstStyle/>
                    <a:p>
                      <a:r>
                        <a:rPr sz="850" b="0">
                          <a:solidFill>
                            <a:srgbClr val="4B4B4B"/>
                          </a:solidFill>
                          <a:latin typeface="Arial"/>
                        </a:rPr>
                        <a:t>Retires the product: it is no longer sold; its versions stay readable; the retirement advisory is drafted and incentive criteria on the product are flagged</a:t>
                      </a:r>
                    </a:p>
                  </a:txBody>
                  <a:tcPr marL="54864" marR="54864" marT="27432" marB="27432">
                    <a:solidFill>
                      <a:srgbClr val="FFFFFF"/>
                    </a:solidFill>
                  </a:tcPr>
                </a:tc>
                <a:tc>
                  <a:txBody>
                    <a:bodyPr/>
                    <a:lstStyle/>
                    <a:p>
                      <a:r>
                        <a:rPr sz="850" b="0">
                          <a:solidFill>
                            <a:srgbClr val="4B4B4B"/>
                          </a:solidFill>
                          <a:latin typeface="Arial"/>
                        </a:rPr>
                        <a:t>Package retired</a:t>
                      </a:r>
                    </a:p>
                  </a:txBody>
                  <a:tcPr marL="54864" marR="54864" marT="27432" marB="27432">
                    <a:solidFill>
                      <a:srgbClr val="FFFFFF"/>
                    </a:solidFill>
                  </a:tcPr>
                </a:tc>
                <a:tc>
                  <a:txBody>
                    <a:bodyPr/>
                    <a:lstStyle/>
                    <a:p>
                      <a:r>
                        <a:rPr sz="850" b="0">
                          <a:solidFill>
                            <a:srgbClr val="4B4B4B"/>
                          </a:solidFill>
                          <a:latin typeface="Arial"/>
                        </a:rPr>
                        <a:t>Workflow notice; incentive alert</a:t>
                      </a:r>
                    </a:p>
                  </a:txBody>
                  <a:tcPr marL="54864" marR="54864" marT="27432" marB="27432">
                    <a:solidFill>
                      <a:srgbClr val="FFFFFF"/>
                    </a:solidFill>
                  </a:tcPr>
                </a:tc>
              </a:tr>
              <a:tr h="350518">
                <a:tc>
                  <a:txBody>
                    <a:bodyPr/>
                    <a:lstStyle/>
                    <a:p>
                      <a:r>
                        <a:rPr sz="850" b="0">
                          <a:solidFill>
                            <a:srgbClr val="4B4B4B"/>
                          </a:solidFill>
                          <a:latin typeface="Arial"/>
                        </a:rPr>
                        <a:t>Return incomplete requirements to TSU</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Opens Return Incomplete Requirements (Return reason, mandatory; Comment; Return to TSU)</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188</a:t>
            </a:r>
          </a:p>
        </p:txBody>
      </p:sp>
      <p:graphicFrame>
        <p:nvGraphicFramePr>
          <p:cNvPr id="9" name="Table 8"/>
          <p:cNvGraphicFramePr>
            <a:graphicFrameLocks noGrp="1"/>
          </p:cNvGraphicFramePr>
          <p:nvPr/>
        </p:nvGraphicFramePr>
        <p:xfrm>
          <a:off x="548640" y="1325880"/>
          <a:ext cx="11094415" cy="18592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request is never approved by its maker or submitter, and the TSU Head approval is never given by the recommender (FR-PM-021, FR-PM-023).</a:t>
                      </a:r>
                    </a:p>
                  </a:txBody>
                  <a:tcPr marL="54864" marR="54864" marT="27432" marB="27432">
                    <a:solidFill>
                      <a:srgbClr val="FFFFFF"/>
                    </a:solidFill>
                  </a:tcPr>
                </a:tc>
              </a:tr>
              <a:tr h="243840">
                <a:tc>
                  <a:txBody>
                    <a:bodyPr/>
                    <a:lstStyle/>
                    <a:p>
                      <a:r>
                        <a:rPr sz="1000" b="0">
                          <a:solidFill>
                            <a:srgbClr val="4B4B4B"/>
                          </a:solidFill>
                          <a:latin typeface="Arial"/>
                        </a:rPr>
                        <a:t>The TSU Team Lead's recommendation is mandatory and is shown to the TSU Head (FR-PM-022).</a:t>
                      </a:r>
                    </a:p>
                  </a:txBody>
                  <a:tcPr marL="54864" marR="54864" marT="27432" marB="27432">
                    <a:solidFill>
                      <a:srgbClr val="E5F5FF"/>
                    </a:solidFill>
                  </a:tcPr>
                </a:tc>
              </a:tr>
              <a:tr h="243840">
                <a:tc>
                  <a:txBody>
                    <a:bodyPr/>
                    <a:lstStyle/>
                    <a:p>
                      <a:r>
                        <a:rPr sz="1000" b="0">
                          <a:solidFill>
                            <a:srgbClr val="4B4B4B"/>
                          </a:solidFill>
                          <a:latin typeface="Arial"/>
                        </a:rPr>
                        <a:t>Return, void, not proceeded and request changes need a reason from their list of values; the comment is kept in the history (FR-PM-021, FR-PM-073).</a:t>
                      </a:r>
                    </a:p>
                  </a:txBody>
                  <a:tcPr marL="54864" marR="54864" marT="27432" marB="27432">
                    <a:solidFill>
                      <a:srgbClr val="FFFFFF"/>
                    </a:solidFill>
                  </a:tcPr>
                </a:tc>
              </a:tr>
              <a:tr h="243840">
                <a:tc>
                  <a:txBody>
                    <a:bodyPr/>
                    <a:lstStyle/>
                    <a:p>
                      <a:r>
                        <a:rPr sz="1000" b="0">
                          <a:solidFill>
                            <a:srgbClr val="4B4B4B"/>
                          </a:solidFill>
                          <a:latin typeface="Arial"/>
                        </a:rPr>
                        <a:t>Void is possible from the draft to the TSU Head approval; after that a request ends as not proceeded, released or retired (FR-PM-073).</a:t>
                      </a:r>
                    </a:p>
                  </a:txBody>
                  <a:tcPr marL="54864" marR="54864" marT="27432" marB="27432">
                    <a:solidFill>
                      <a:srgbClr val="E5F5FF"/>
                    </a:solidFill>
                  </a:tcPr>
                </a:tc>
              </a:tr>
              <a:tr h="396240">
                <a:tc>
                  <a:txBody>
                    <a:bodyPr/>
                    <a:lstStyle/>
                    <a:p>
                      <a:r>
                        <a:rPr sz="1000" b="0">
                          <a:solidFill>
                            <a:srgbClr val="4B4B4B"/>
                          </a:solidFill>
                          <a:latin typeface="Arial"/>
                        </a:rPr>
                        <a:t>Every stage has a due time from its service level hours (parameters PKG_SLA_*): Marketing approval 24, TSU review 24, TSU Head approval 24, negotiation 120, ManCom 72, MBS set-up 48 hours by default (FR-PM-073).</a:t>
                      </a:r>
                    </a:p>
                  </a:txBody>
                  <a:tcPr marL="54864" marR="54864" marT="27432" marB="27432">
                    <a:solidFill>
                      <a:srgbClr val="FFFFFF"/>
                    </a:solidFill>
                  </a:tcPr>
                </a:tc>
              </a:tr>
              <a:tr h="243840">
                <a:tc>
                  <a:txBody>
                    <a:bodyPr/>
                    <a:lstStyle/>
                    <a:p>
                      <a:r>
                        <a:rPr sz="1000" b="0">
                          <a:solidFill>
                            <a:srgbClr val="4B4B4B"/>
                          </a:solidFill>
                          <a:latin typeface="Arial"/>
                        </a:rPr>
                        <a:t>Every action is written to the history and the audit trail; audit rows cannot be changed or deleted (FR-PM-005).</a:t>
                      </a:r>
                    </a:p>
                  </a:txBody>
                  <a:tcPr marL="54864" marR="54864" marT="27432" marB="27432">
                    <a:solidFill>
                      <a:srgbClr val="E5F5FF"/>
                    </a:solidFill>
                  </a:tcPr>
                </a:tc>
              </a:tr>
            </a:tbl>
          </a:graphicData>
        </a:graphic>
      </p:graphicFrame>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189</a:t>
            </a:r>
          </a:p>
        </p:txBody>
      </p:sp>
      <p:graphicFrame>
        <p:nvGraphicFramePr>
          <p:cNvPr id="9" name="Table 8"/>
          <p:cNvGraphicFramePr>
            <a:graphicFrameLocks noGrp="1"/>
          </p:cNvGraphicFramePr>
          <p:nvPr/>
        </p:nvGraphicFramePr>
        <p:xfrm>
          <a:off x="548640" y="1325880"/>
          <a:ext cx="11094413" cy="18288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5</a:t>
                      </a:r>
                    </a:p>
                  </a:txBody>
                  <a:tcPr marL="54864" marR="54864" marT="27432" marB="27432">
                    <a:solidFill>
                      <a:srgbClr val="FFFFFF"/>
                    </a:solidFill>
                  </a:tcPr>
                </a:tc>
                <a:tc>
                  <a:txBody>
                    <a:bodyPr/>
                    <a:lstStyle/>
                    <a:p>
                      <a:r>
                        <a:rPr sz="900" b="0">
                          <a:solidFill>
                            <a:srgbClr val="4B4B4B"/>
                          </a:solidFill>
                          <a:latin typeface="Arial"/>
                        </a:rPr>
                        <a:t>Clicks Recommend for approval, writes the recommendation and clicks Recommend</a:t>
                      </a:r>
                    </a:p>
                  </a:txBody>
                  <a:tcPr marL="54864" marR="54864" marT="27432" marB="27432">
                    <a:solidFill>
                      <a:srgbClr val="FFFFFF"/>
                    </a:solidFill>
                  </a:tcPr>
                </a:tc>
                <a:tc>
                  <a:txBody>
                    <a:bodyPr/>
                    <a:lstStyle/>
                    <a:p>
                      <a:r>
                        <a:rPr sz="900" b="0">
                          <a:solidFill>
                            <a:srgbClr val="4B4B4B"/>
                          </a:solidFill>
                          <a:latin typeface="Arial"/>
                        </a:rPr>
                        <a:t>SCR-PM-04_wt-a-step-05.png</a:t>
                      </a:r>
                    </a:p>
                  </a:txBody>
                  <a:tcPr marL="54864" marR="54864" marT="27432" marB="27432">
                    <a:solidFill>
                      <a:srgbClr val="FFFFFF"/>
                    </a:solidFill>
                  </a:tcPr>
                </a:tc>
              </a:tr>
              <a:tr h="228600">
                <a:tc>
                  <a:txBody>
                    <a:bodyPr/>
                    <a:lstStyle/>
                    <a:p>
                      <a:r>
                        <a:rPr sz="900" b="0">
                          <a:solidFill>
                            <a:srgbClr val="4B4B4B"/>
                          </a:solidFill>
                          <a:latin typeface="Arial"/>
                        </a:rPr>
                        <a:t>Default</a:t>
                      </a:r>
                    </a:p>
                  </a:txBody>
                  <a:tcPr marL="54864" marR="54864" marT="27432" marB="27432">
                    <a:solidFill>
                      <a:srgbClr val="E5F5FF"/>
                    </a:solidFill>
                  </a:tcPr>
                </a:tc>
                <a:tc>
                  <a:txBody>
                    <a:bodyPr/>
                    <a:lstStyle/>
                    <a:p>
                      <a:r>
                        <a:rPr sz="900" b="0">
                          <a:solidFill>
                            <a:srgbClr val="4B4B4B"/>
                          </a:solidFill>
                          <a:latin typeface="Arial"/>
                        </a:rPr>
                        <a:t>WT-A step 6</a:t>
                      </a:r>
                    </a:p>
                  </a:txBody>
                  <a:tcPr marL="54864" marR="54864" marT="27432" marB="27432">
                    <a:solidFill>
                      <a:srgbClr val="E5F5FF"/>
                    </a:solidFill>
                  </a:tcPr>
                </a:tc>
                <a:tc>
                  <a:txBody>
                    <a:bodyPr/>
                    <a:lstStyle/>
                    <a:p>
                      <a:r>
                        <a:rPr sz="900" b="0">
                          <a:solidFill>
                            <a:srgbClr val="4B4B4B"/>
                          </a:solidFill>
                          <a:latin typeface="Arial"/>
                        </a:rPr>
                        <a:t>Reads the recommendation and clicks Approve for negotiation</a:t>
                      </a:r>
                    </a:p>
                  </a:txBody>
                  <a:tcPr marL="54864" marR="54864" marT="27432" marB="27432">
                    <a:solidFill>
                      <a:srgbClr val="E5F5FF"/>
                    </a:solidFill>
                  </a:tcPr>
                </a:tc>
                <a:tc>
                  <a:txBody>
                    <a:bodyPr/>
                    <a:lstStyle/>
                    <a:p>
                      <a:r>
                        <a:rPr sz="900" b="0">
                          <a:solidFill>
                            <a:srgbClr val="4B4B4B"/>
                          </a:solidFill>
                          <a:latin typeface="Arial"/>
                        </a:rPr>
                        <a:t>SCR-PM-04_wt-a-step-06.png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4</a:t>
                      </a:r>
                    </a:p>
                  </a:txBody>
                  <a:tcPr marL="54864" marR="54864" marT="27432" marB="27432">
                    <a:solidFill>
                      <a:srgbClr val="FFFFFF"/>
                    </a:solidFill>
                  </a:tcPr>
                </a:tc>
                <a:tc>
                  <a:txBody>
                    <a:bodyPr/>
                    <a:lstStyle/>
                    <a:p>
                      <a:r>
                        <a:rPr sz="900" b="0">
                          <a:solidFill>
                            <a:srgbClr val="4B4B4B"/>
                          </a:solidFill>
                          <a:latin typeface="Arial"/>
                        </a:rPr>
                        <a:t>Opens the request from the For Approval tab and clicks Approve and send to TSU</a:t>
                      </a:r>
                    </a:p>
                  </a:txBody>
                  <a:tcPr marL="54864" marR="54864" marT="27432" marB="27432">
                    <a:solidFill>
                      <a:srgbClr val="FFFFFF"/>
                    </a:solidFill>
                  </a:tcPr>
                </a:tc>
                <a:tc>
                  <a:txBody>
                    <a:bodyPr/>
                    <a:lstStyle/>
                    <a:p>
                      <a:r>
                        <a:rPr sz="900" b="0">
                          <a:solidFill>
                            <a:srgbClr val="4B4B4B"/>
                          </a:solidFill>
                          <a:latin typeface="Arial"/>
                        </a:rPr>
                        <a:t>SCR-PM-04_wt-a-step-04.png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12</a:t>
                      </a:r>
                    </a:p>
                  </a:txBody>
                  <a:tcPr marL="54864" marR="54864" marT="27432" marB="27432">
                    <a:solidFill>
                      <a:srgbClr val="E5F5FF"/>
                    </a:solidFill>
                  </a:tcPr>
                </a:tc>
                <a:tc>
                  <a:txBody>
                    <a:bodyPr/>
                    <a:lstStyle/>
                    <a:p>
                      <a:r>
                        <a:rPr sz="900" b="0">
                          <a:solidFill>
                            <a:srgbClr val="4B4B4B"/>
                          </a:solidFill>
                          <a:latin typeface="Arial"/>
                        </a:rPr>
                        <a:t>Clicks Proceed to requirements (generic package)</a:t>
                      </a:r>
                    </a:p>
                  </a:txBody>
                  <a:tcPr marL="54864" marR="54864" marT="27432" marB="27432">
                    <a:solidFill>
                      <a:srgbClr val="E5F5FF"/>
                    </a:solidFill>
                  </a:tcPr>
                </a:tc>
                <a:tc>
                  <a:txBody>
                    <a:bodyPr/>
                    <a:lstStyle/>
                    <a:p>
                      <a:r>
                        <a:rPr sz="900" b="0">
                          <a:solidFill>
                            <a:srgbClr val="4B4B4B"/>
                          </a:solidFill>
                          <a:latin typeface="Arial"/>
                        </a:rPr>
                        <a:t>SCR-PM-04_wt-a-step-12.png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WT-B step 3</a:t>
                      </a:r>
                    </a:p>
                  </a:txBody>
                  <a:tcPr marL="54864" marR="54864" marT="27432" marB="27432">
                    <a:solidFill>
                      <a:srgbClr val="FFFFFF"/>
                    </a:solidFill>
                  </a:tcPr>
                </a:tc>
                <a:tc>
                  <a:txBody>
                    <a:bodyPr/>
                    <a:lstStyle/>
                    <a:p>
                      <a:r>
                        <a:rPr sz="900" b="0">
                          <a:solidFill>
                            <a:srgbClr val="4B4B4B"/>
                          </a:solidFill>
                          <a:latin typeface="Arial"/>
                        </a:rPr>
                        <a:t>Creates and submits a request himself, then clicks Approve and send to TSU on it</a:t>
                      </a:r>
                    </a:p>
                  </a:txBody>
                  <a:tcPr marL="54864" marR="54864" marT="27432" marB="27432">
                    <a:solidFill>
                      <a:srgbClr val="FFFFFF"/>
                    </a:solidFill>
                  </a:tcPr>
                </a:tc>
                <a:tc>
                  <a:txBody>
                    <a:bodyPr/>
                    <a:lstStyle/>
                    <a:p>
                      <a:r>
                        <a:rPr sz="900" b="0">
                          <a:solidFill>
                            <a:srgbClr val="4B4B4B"/>
                          </a:solidFill>
                          <a:latin typeface="Arial"/>
                        </a:rPr>
                        <a:t>SCR-PM-04_wt-b-step-03.png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4</a:t>
                      </a:r>
                    </a:p>
                  </a:txBody>
                  <a:tcPr marL="54864" marR="54864" marT="27432" marB="27432">
                    <a:solidFill>
                      <a:srgbClr val="E5F5FF"/>
                    </a:solidFill>
                  </a:tcPr>
                </a:tc>
                <a:tc>
                  <a:txBody>
                    <a:bodyPr/>
                    <a:lstStyle/>
                    <a:p>
                      <a:r>
                        <a:rPr sz="900" b="0">
                          <a:solidFill>
                            <a:srgbClr val="4B4B4B"/>
                          </a:solidFill>
                          <a:latin typeface="Arial"/>
                        </a:rPr>
                        <a:t>Opens PKR-2026-900002 and clicks Return to requester, chooses the reason and writes what is missing</a:t>
                      </a:r>
                    </a:p>
                  </a:txBody>
                  <a:tcPr marL="54864" marR="54864" marT="27432" marB="27432">
                    <a:solidFill>
                      <a:srgbClr val="E5F5FF"/>
                    </a:solidFill>
                  </a:tcPr>
                </a:tc>
                <a:tc>
                  <a:txBody>
                    <a:bodyPr/>
                    <a:lstStyle/>
                    <a:p>
                      <a:r>
                        <a:rPr sz="900" b="0">
                          <a:solidFill>
                            <a:srgbClr val="4B4B4B"/>
                          </a:solidFill>
                          <a:latin typeface="Arial"/>
                        </a:rPr>
                        <a:t>SCR-PM-04_wt-b-step-04.png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7</a:t>
                      </a:r>
                    </a:p>
                  </a:txBody>
                  <a:tcPr marL="54864" marR="54864" marT="27432" marB="27432">
                    <a:solidFill>
                      <a:srgbClr val="FFFFFF"/>
                    </a:solidFill>
                  </a:tcPr>
                </a:tc>
                <a:tc>
                  <a:txBody>
                    <a:bodyPr/>
                    <a:lstStyle/>
                    <a:p>
                      <a:r>
                        <a:rPr sz="900" b="0">
                          <a:solidFill>
                            <a:srgbClr val="4B4B4B"/>
                          </a:solidFill>
                          <a:latin typeface="Arial"/>
                        </a:rPr>
                        <a:t>Opens PKR-2026-900004 and clicks Return to TSU with the reason</a:t>
                      </a:r>
                    </a:p>
                  </a:txBody>
                  <a:tcPr marL="54864" marR="54864" marT="27432" marB="27432">
                    <a:solidFill>
                      <a:srgbClr val="FFFFFF"/>
                    </a:solidFill>
                  </a:tcPr>
                </a:tc>
                <a:tc>
                  <a:txBody>
                    <a:bodyPr/>
                    <a:lstStyle/>
                    <a:p>
                      <a:r>
                        <a:rPr sz="900" b="0">
                          <a:solidFill>
                            <a:srgbClr val="4B4B4B"/>
                          </a:solidFill>
                          <a:latin typeface="Arial"/>
                        </a:rPr>
                        <a:t>SCR-PM-04_wt-b-step-07.png</a:t>
                      </a:r>
                    </a:p>
                  </a:txBody>
                  <a:tcPr marL="54864" marR="54864" marT="27432" marB="27432">
                    <a:solidFill>
                      <a:srgbClr val="FFFFFF"/>
                    </a:solidFill>
                  </a:tcPr>
                </a:tc>
              </a:tr>
            </a:tbl>
          </a:graphicData>
        </a:graphic>
      </p:graphicFrame>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190</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04-03-return.png"/>
          <p:cNvPicPr>
            <a:picLocks noChangeAspect="1"/>
          </p:cNvPicPr>
          <p:nvPr/>
        </p:nvPicPr>
        <p:blipFill>
          <a:blip r:embed="rId3"/>
          <a:stretch>
            <a:fillRect/>
          </a:stretch>
        </p:blipFill>
        <p:spPr>
          <a:xfrm>
            <a:off x="1609794" y="1261872"/>
            <a:ext cx="8972107"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Return to requester dialog with the mandatory reason</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191</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1 of 4)</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192</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29.png"/>
          <p:cNvPicPr>
            <a:picLocks noChangeAspect="1"/>
          </p:cNvPicPr>
          <p:nvPr/>
        </p:nvPicPr>
        <p:blipFill>
          <a:blip r:embed="rId3"/>
          <a:stretch>
            <a:fillRect/>
          </a:stretch>
        </p:blipFill>
        <p:spPr>
          <a:xfrm>
            <a:off x="548640" y="1261872"/>
            <a:ext cx="11094415" cy="457644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2 of 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0.png"/>
          <p:cNvPicPr>
            <a:picLocks noChangeAspect="1"/>
          </p:cNvPicPr>
          <p:nvPr/>
        </p:nvPicPr>
        <p:blipFill>
          <a:blip r:embed="rId3"/>
          <a:stretch>
            <a:fillRect/>
          </a:stretch>
        </p:blipFill>
        <p:spPr>
          <a:xfrm>
            <a:off x="548640" y="1261872"/>
            <a:ext cx="11094415" cy="445689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3 of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31.png"/>
          <p:cNvPicPr>
            <a:picLocks noChangeAspect="1"/>
          </p:cNvPicPr>
          <p:nvPr/>
        </p:nvPicPr>
        <p:blipFill>
          <a:blip r:embed="rId3"/>
          <a:stretch>
            <a:fillRect/>
          </a:stretch>
        </p:blipFill>
        <p:spPr>
          <a:xfrm>
            <a:off x="548640" y="1261872"/>
            <a:ext cx="11094415" cy="274012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History tab of a released request (part 4 of 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1 of 3)</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2 of 3)</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4.png"/>
          <p:cNvPicPr>
            <a:picLocks noChangeAspect="1"/>
          </p:cNvPicPr>
          <p:nvPr/>
        </p:nvPicPr>
        <p:blipFill>
          <a:blip r:embed="rId3"/>
          <a:stretch>
            <a:fillRect/>
          </a:stretch>
        </p:blipFill>
        <p:spPr>
          <a:xfrm>
            <a:off x="548640" y="1261872"/>
            <a:ext cx="11094415" cy="148244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request waiting for the Marketing approval, Details tab (part 3 of 3)</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1 of 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199</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2 of 3)</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SCR-PM-04 Package Request record: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37.png"/>
          <p:cNvPicPr>
            <a:picLocks noChangeAspect="1"/>
          </p:cNvPicPr>
          <p:nvPr/>
        </p:nvPicPr>
        <p:blipFill>
          <a:blip r:embed="rId3"/>
          <a:stretch>
            <a:fillRect/>
          </a:stretch>
        </p:blipFill>
        <p:spPr>
          <a:xfrm>
            <a:off x="548640" y="1261872"/>
            <a:ext cx="11094415" cy="16737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Head approval with the recommendation of the TSU Team Lead (part 3 of 3)</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201</a:t>
            </a:r>
          </a:p>
        </p:txBody>
      </p:sp>
      <p:graphicFrame>
        <p:nvGraphicFramePr>
          <p:cNvPr id="9" name="Table 8"/>
          <p:cNvGraphicFramePr>
            <a:graphicFrameLocks noGrp="1"/>
          </p:cNvGraphicFramePr>
          <p:nvPr/>
        </p:nvGraphicFramePr>
        <p:xfrm>
          <a:off x="548640" y="1307592"/>
          <a:ext cx="6434760" cy="29565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negotiation with the insurers, one card per round, newest first. TSU prepares the quotation slip of the round (insurers and notes), a TSU Team Lead or a co-officer approves it and BIBS e-mails it to each insurer, password protected. TSU keys in each insurer's reply with its outcome, rate and terms; a further round revises the slip. When every insurer has answered, TSU makes the terms final with the insurers the package takes.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Negotiation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FR-PM-030, FR-PM-031, FR-PM-032, FR-PM-033, FR-PM-004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negotiated terms of each insurer are recorded round by round with their documents, and the insurers the package takes are chosen.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(10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2 images</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4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202</a:t>
            </a:r>
          </a:p>
        </p:txBody>
      </p:sp>
      <p:graphicFrame>
        <p:nvGraphicFramePr>
          <p:cNvPr id="9" name="Table 8"/>
          <p:cNvGraphicFramePr>
            <a:graphicFrameLocks noGrp="1"/>
          </p:cNvGraphicFramePr>
          <p:nvPr/>
        </p:nvGraphicFramePr>
        <p:xfrm>
          <a:off x="548640" y="1325880"/>
          <a:ext cx="11094411" cy="39852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 · slip number</a:t>
                      </a:r>
                    </a:p>
                  </a:txBody>
                  <a:tcPr marL="54864" marR="54864" marT="27432" marB="27432">
                    <a:solidFill>
                      <a:srgbClr val="FFFFFF"/>
                    </a:solidFill>
                  </a:tcPr>
                </a:tc>
                <a:tc>
                  <a:txBody>
                    <a:bodyPr/>
                    <a:lstStyle/>
                    <a:p>
                      <a:r>
                        <a:rPr sz="850" b="0">
                          <a:solidFill>
                            <a:srgbClr val="4B4B4B"/>
                          </a:solidFill>
                          <a:latin typeface="Arial"/>
                        </a:rPr>
                        <a:t>Card title</a:t>
                      </a:r>
                    </a:p>
                  </a:txBody>
                  <a:tcPr marL="54864" marR="54864" marT="27432" marB="27432">
                    <a:solidFill>
                      <a:srgbClr val="FFFFFF"/>
                    </a:solidFill>
                  </a:tcPr>
                </a:tc>
                <a:tc>
                  <a:txBody>
                    <a:bodyPr/>
                    <a:lstStyle/>
                    <a:p>
                      <a:r>
                        <a:rPr sz="850" b="0">
                          <a:solidFill>
                            <a:srgbClr val="4B4B4B"/>
                          </a:solidFill>
                          <a:latin typeface="Arial"/>
                        </a:rPr>
                        <a:t>Round number and quotation slip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card</a:t>
                      </a:r>
                    </a:p>
                  </a:txBody>
                  <a:tcPr marL="54864" marR="54864" marT="27432" marB="27432">
                    <a:solidFill>
                      <a:srgbClr val="E5F5FF"/>
                    </a:solidFill>
                  </a:tcPr>
                </a:tc>
                <a:tc>
                  <a:txBody>
                    <a:bodyPr/>
                    <a:lstStyle/>
                    <a:p>
                      <a:r>
                        <a:rPr sz="850" b="0">
                          <a:solidFill>
                            <a:srgbClr val="4B4B4B"/>
                          </a:solidFill>
                          <a:latin typeface="Arial"/>
                        </a:rPr>
                        <a:t>Round status pill and Locked tag</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Preparation, For approval, Sent, Superseded; Locked after the ManCom sign-off</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Round card</a:t>
                      </a:r>
                    </a:p>
                  </a:txBody>
                  <a:tcPr marL="54864" marR="54864" marT="27432" marB="27432">
                    <a:solidFill>
                      <a:srgbClr val="FFFFFF"/>
                    </a:solidFill>
                  </a:tcPr>
                </a:tc>
                <a:tc>
                  <a:txBody>
                    <a:bodyPr/>
                    <a:lstStyle/>
                    <a:p>
                      <a:r>
                        <a:rPr sz="850" b="0">
                          <a:solidFill>
                            <a:srgbClr val="4B4B4B"/>
                          </a:solidFill>
                          <a:latin typeface="Arial"/>
                        </a:rPr>
                        <a:t>Round note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Notes of the round; Reply by dd-MMM-yyyy; Sent dd-MMM-yyyy HH:mm (approved by user)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Slip preparation</a:t>
                      </a:r>
                    </a:p>
                  </a:txBody>
                  <a:tcPr marL="54864" marR="54864" marT="27432" marB="27432">
                    <a:solidFill>
                      <a:srgbClr val="E5F5FF"/>
                    </a:solidFill>
                  </a:tcPr>
                </a:tc>
                <a:tc>
                  <a:txBody>
                    <a:bodyPr/>
                    <a:lstStyle/>
                    <a:p>
                      <a:r>
                        <a:rPr sz="850" b="0">
                          <a:solidFill>
                            <a:srgbClr val="4B4B4B"/>
                          </a:solidFill>
                          <a:latin typeface="Arial"/>
                        </a:rPr>
                        <a:t>Insurer check boxes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At least one insurer; each insurer authorised and with a placement e-mail</a:t>
                      </a:r>
                    </a:p>
                  </a:txBody>
                  <a:tcPr marL="54864" marR="54864" marT="27432" marB="27432">
                    <a:solidFill>
                      <a:srgbClr val="E5F5FF"/>
                    </a:solidFill>
                  </a:tcPr>
                </a:tc>
                <a:tc>
                  <a:txBody>
                    <a:bodyPr/>
                    <a:lstStyle/>
                    <a:p>
                      <a:r>
                        <a:rPr sz="850" b="0">
                          <a:solidFill>
                            <a:srgbClr val="4B4B4B"/>
                          </a:solidFill>
                          <a:latin typeface="Arial"/>
                        </a:rPr>
                        <a:t>Select at least one insurer for the quotation slip</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Slip preparation</a:t>
                      </a:r>
                    </a:p>
                  </a:txBody>
                  <a:tcPr marL="54864" marR="54864" marT="27432" marB="27432">
                    <a:solidFill>
                      <a:srgbClr val="FFFFFF"/>
                    </a:solidFill>
                  </a:tcPr>
                </a:tc>
                <a:tc>
                  <a:txBody>
                    <a:bodyPr/>
                    <a:lstStyle/>
                    <a:p>
                      <a:r>
                        <a:rPr sz="850" b="0">
                          <a:solidFill>
                            <a:srgbClr val="4B4B4B"/>
                          </a:solidFill>
                          <a:latin typeface="Arial"/>
                        </a:rPr>
                        <a:t>Notes to the insurers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4,000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Insurer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Outcome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Accepted as requested, Approved with changes, Counter-proposal, Declined, No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Responses</a:t>
                      </a:r>
                    </a:p>
                  </a:txBody>
                  <a:tcPr marL="54864" marR="54864" marT="27432" marB="27432">
                    <a:solidFill>
                      <a:srgbClr val="E5F5FF"/>
                    </a:solidFill>
                  </a:tcPr>
                </a:tc>
                <a:tc>
                  <a:txBody>
                    <a:bodyPr/>
                    <a:lstStyle/>
                    <a:p>
                      <a:r>
                        <a:rPr sz="850" b="0">
                          <a:solidFill>
                            <a:srgbClr val="4B4B4B"/>
                          </a:solidFill>
                          <a:latin typeface="Arial"/>
                        </a:rPr>
                        <a:t>Rate % / Minimum / Conditions / Valid Until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Responses</a:t>
                      </a:r>
                    </a:p>
                  </a:txBody>
                  <a:tcPr marL="54864" marR="54864" marT="27432" marB="27432">
                    <a:solidFill>
                      <a:srgbClr val="FFFFFF"/>
                    </a:solidFill>
                  </a:tcPr>
                </a:tc>
                <a:tc>
                  <a:txBody>
                    <a:bodyPr/>
                    <a:lstStyle/>
                    <a:p>
                      <a:r>
                        <a:rPr sz="850" b="0">
                          <a:solidFill>
                            <a:srgbClr val="4B4B4B"/>
                          </a:solidFill>
                          <a:latin typeface="Arial"/>
                        </a:rPr>
                        <a:t>Rev.</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Revision number of the response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Outcome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Accepted as requested, Approved with changes, Counter-proposal, Declined, No response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active value of the list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203</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1127752">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Cond.: an offer (accepted, approved with changes, counter-proposal)</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Enter the rate offered</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Valid until</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Deductible per coverage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One field per requested coverage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Conditions and warranties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Terms of &lt;insurer&gt;</a:t>
                      </a:r>
                    </a:p>
                  </a:txBody>
                  <a:tcPr marL="54864" marR="54864" marT="27432" marB="27432">
                    <a:solidFill>
                      <a:srgbClr val="E5F5FF"/>
                    </a:solidFill>
                  </a:tcPr>
                </a:tc>
                <a:tc>
                  <a:txBody>
                    <a:bodyPr/>
                    <a:lstStyle/>
                    <a:p>
                      <a:r>
                        <a:rPr sz="850" b="0">
                          <a:solidFill>
                            <a:srgbClr val="4B4B4B"/>
                          </a:solidFill>
                          <a:latin typeface="Arial"/>
                        </a:rPr>
                        <a:t>Remarks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17</a:t>
                      </a:r>
                    </a:p>
                  </a:txBody>
                  <a:tcPr marL="54864" marR="54864" marT="27432" marB="27432">
                    <a:solidFill>
                      <a:srgbClr val="FFFFFF"/>
                    </a:solidFill>
                  </a:tcPr>
                </a:tc>
                <a:tc>
                  <a:txBody>
                    <a:bodyPr/>
                    <a:lstStyle/>
                    <a:p>
                      <a:r>
                        <a:rPr sz="850" b="0">
                          <a:solidFill>
                            <a:srgbClr val="4B4B4B"/>
                          </a:solidFill>
                          <a:latin typeface="Arial"/>
                        </a:rPr>
                        <a:t>Terms of &lt;insurer&gt;</a:t>
                      </a:r>
                    </a:p>
                  </a:txBody>
                  <a:tcPr marL="54864" marR="54864" marT="27432" marB="27432">
                    <a:solidFill>
                      <a:srgbClr val="FFFFFF"/>
                    </a:solidFill>
                  </a:tcPr>
                </a:tc>
                <a:tc>
                  <a:txBody>
                    <a:bodyPr/>
                    <a:lstStyle/>
                    <a:p>
                      <a:r>
                        <a:rPr sz="850" b="0">
                          <a:solidFill>
                            <a:srgbClr val="4B4B4B"/>
                          </a:solidFill>
                          <a:latin typeface="Arial"/>
                        </a:rPr>
                        <a:t>Response document</a:t>
                      </a:r>
                    </a:p>
                  </a:txBody>
                  <a:tcPr marL="54864" marR="54864" marT="27432" marB="27432">
                    <a:solidFill>
                      <a:srgbClr val="FFFFFF"/>
                    </a:solidFill>
                  </a:tcPr>
                </a:tc>
                <a:tc>
                  <a:txBody>
                    <a:bodyPr/>
                    <a:lstStyle/>
                    <a:p>
                      <a:r>
                        <a:rPr sz="850" b="0">
                          <a:solidFill>
                            <a:srgbClr val="4B4B4B"/>
                          </a:solidFill>
                          <a:latin typeface="Arial"/>
                        </a:rPr>
                        <a:t>File</a:t>
                      </a:r>
                    </a:p>
                  </a:txBody>
                  <a:tcPr marL="54864" marR="54864" marT="27432" marB="27432">
                    <a:solidFill>
                      <a:srgbClr val="FFFFFF"/>
                    </a:solidFill>
                  </a:tcPr>
                </a:tc>
                <a:tc>
                  <a:txBody>
                    <a:bodyPr/>
                    <a:lstStyle/>
                    <a:p>
                      <a:r>
                        <a:rPr sz="850" b="0">
                          <a:solidFill>
                            <a:srgbClr val="4B4B4B"/>
                          </a:solidFill>
                          <a:latin typeface="Arial"/>
                        </a:rPr>
                        <a:t>The insurer's reply (PDF, e-mail or image)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File checks of every upload</a:t>
                      </a:r>
                    </a:p>
                  </a:txBody>
                  <a:tcPr marL="54864" marR="54864" marT="27432" marB="27432">
                    <a:solidFill>
                      <a:srgbClr val="FFFFFF"/>
                    </a:solidFill>
                  </a:tcPr>
                </a:tc>
                <a:tc>
                  <a:txBody>
                    <a:bodyPr/>
                    <a:lstStyle/>
                    <a:p>
                      <a:r>
                        <a:rPr sz="850" b="0">
                          <a:solidFill>
                            <a:srgbClr val="4B4B4B"/>
                          </a:solidFill>
                          <a:latin typeface="Arial"/>
                        </a:rPr>
                        <a:t>The file could not be read</a:t>
                      </a:r>
                    </a:p>
                  </a:txBody>
                  <a:tcPr marL="54864" marR="54864" marT="27432" marB="27432">
                    <a:solidFill>
                      <a:srgbClr val="FFFFFF"/>
                    </a:solidFill>
                  </a:tcPr>
                </a:tc>
              </a:tr>
              <a:tr h="480057">
                <a:tc>
                  <a:txBody>
                    <a:bodyPr/>
                    <a:lstStyle/>
                    <a:p>
                      <a:r>
                        <a:rPr sz="850" b="0">
                          <a:solidFill>
                            <a:srgbClr val="4B4B4B"/>
                          </a:solidFill>
                          <a:latin typeface="Arial"/>
                        </a:rPr>
                        <a:t>18</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Offer check box</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Insurer name · rate %, one per insurer that offered terms in the latest round</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Only insurers that offered terms</a:t>
                      </a:r>
                    </a:p>
                  </a:txBody>
                  <a:tcPr marL="54864" marR="54864" marT="27432" marB="27432">
                    <a:solidFill>
                      <a:srgbClr val="E5F5FF"/>
                    </a:solidFill>
                  </a:tcPr>
                </a:tc>
                <a:tc>
                  <a:txBody>
                    <a:bodyPr/>
                    <a:lstStyle/>
                    <a:p>
                      <a:r>
                        <a:rPr sz="850" b="0">
                          <a:solidFill>
                            <a:srgbClr val="4B4B4B"/>
                          </a:solidFill>
                          <a:latin typeface="Arial"/>
                        </a:rPr>
                        <a:t>Choose the insurer(s) whose terms the package takes</a:t>
                      </a:r>
                    </a:p>
                  </a:txBody>
                  <a:tcPr marL="54864" marR="54864" marT="27432" marB="27432">
                    <a:solidFill>
                      <a:srgbClr val="E5F5FF"/>
                    </a:solidFill>
                  </a:tcPr>
                </a:tc>
              </a:tr>
              <a:tr h="220979">
                <a:tc>
                  <a:txBody>
                    <a:bodyPr/>
                    <a:lstStyle/>
                    <a:p>
                      <a:r>
                        <a:rPr sz="850" b="0">
                          <a:solidFill>
                            <a:srgbClr val="4B4B4B"/>
                          </a:solidFill>
                          <a:latin typeface="Arial"/>
                        </a:rPr>
                        <a:t>19</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Role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Panel, Lead, Participant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868674">
                <a:tc>
                  <a:txBody>
                    <a:bodyPr/>
                    <a:lstStyle/>
                    <a:p>
                      <a:r>
                        <a:rPr sz="850" b="0">
                          <a:solidFill>
                            <a:srgbClr val="4B4B4B"/>
                          </a:solidFill>
                          <a:latin typeface="Arial"/>
                        </a:rPr>
                        <a:t>20</a:t>
                      </a:r>
                    </a:p>
                  </a:txBody>
                  <a:tcPr marL="54864" marR="54864" marT="27432" marB="27432">
                    <a:solidFill>
                      <a:srgbClr val="E5F5FF"/>
                    </a:solidFill>
                  </a:tcPr>
                </a:tc>
                <a:tc>
                  <a:txBody>
                    <a:bodyPr/>
                    <a:lstStyle/>
                    <a:p>
                      <a:r>
                        <a:rPr sz="850" b="0">
                          <a:solidFill>
                            <a:srgbClr val="4B4B4B"/>
                          </a:solidFill>
                          <a:latin typeface="Arial"/>
                        </a:rPr>
                        <a:t>Terms Final</a:t>
                      </a:r>
                    </a:p>
                  </a:txBody>
                  <a:tcPr marL="54864" marR="54864" marT="27432" marB="27432">
                    <a:solidFill>
                      <a:srgbClr val="E5F5FF"/>
                    </a:solidFill>
                  </a:tcPr>
                </a:tc>
                <a:tc>
                  <a:txBody>
                    <a:bodyPr/>
                    <a:lstStyle/>
                    <a:p>
                      <a:r>
                        <a:rPr sz="850" b="0">
                          <a:solidFill>
                            <a:srgbClr val="4B4B4B"/>
                          </a:solidFill>
                          <a:latin typeface="Arial"/>
                        </a:rPr>
                        <a:t>Share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Co-insurance share</a:t>
                      </a:r>
                    </a:p>
                  </a:txBody>
                  <a:tcPr marL="54864" marR="54864" marT="27432" marB="27432">
                    <a:solidFill>
                      <a:srgbClr val="E5F5FF"/>
                    </a:solidFill>
                  </a:tcPr>
                </a:tc>
                <a:tc>
                  <a:txBody>
                    <a:bodyPr/>
                    <a:lstStyle/>
                    <a:p>
                      <a:r>
                        <a:rPr sz="850" b="0">
                          <a:solidFill>
                            <a:srgbClr val="4B4B4B"/>
                          </a:solidFill>
                          <a:latin typeface="Arial"/>
                        </a:rPr>
                        <a:t>Cond.: co-insurance (lead and participants)</a:t>
                      </a:r>
                    </a:p>
                  </a:txBody>
                  <a:tcPr marL="54864" marR="54864" marT="27432" marB="27432">
                    <a:solidFill>
                      <a:srgbClr val="E5F5FF"/>
                    </a:solidFill>
                  </a:tcPr>
                </a:tc>
                <a:tc>
                  <a:txBody>
                    <a:bodyPr/>
                    <a:lstStyle/>
                    <a:p>
                      <a:r>
                        <a:rPr sz="850" b="0">
                          <a:solidFill>
                            <a:srgbClr val="4B4B4B"/>
                          </a:solidFill>
                          <a:latin typeface="Arial"/>
                        </a:rPr>
                        <a:t>Shares given for every co-insurer and totalling 100</a:t>
                      </a:r>
                    </a:p>
                  </a:txBody>
                  <a:tcPr marL="54864" marR="54864" marT="27432" marB="27432">
                    <a:solidFill>
                      <a:srgbClr val="E5F5FF"/>
                    </a:solidFill>
                  </a:tcPr>
                </a:tc>
                <a:tc>
                  <a:txBody>
                    <a:bodyPr/>
                    <a:lstStyle/>
                    <a:p>
                      <a:r>
                        <a:rPr sz="850" b="0">
                          <a:solidFill>
                            <a:srgbClr val="4B4B4B"/>
                          </a:solidFill>
                          <a:latin typeface="Arial"/>
                        </a:rPr>
                        <a:t>Co-insurance shares must be given for every insurer and total 100</a:t>
                      </a:r>
                    </a:p>
                  </a:txBody>
                  <a:tcPr marL="54864" marR="54864" marT="27432" marB="27432">
                    <a:solidFill>
                      <a:srgbClr val="E5F5FF"/>
                    </a:solidFill>
                  </a:tcPr>
                </a:tc>
              </a:tr>
              <a:tr h="220979">
                <a:tc>
                  <a:txBody>
                    <a:bodyPr/>
                    <a:lstStyle/>
                    <a:p>
                      <a:r>
                        <a:rPr sz="850" b="0">
                          <a:solidFill>
                            <a:srgbClr val="4B4B4B"/>
                          </a:solidFill>
                          <a:latin typeface="Arial"/>
                        </a:rPr>
                        <a:t>21</a:t>
                      </a:r>
                    </a:p>
                  </a:txBody>
                  <a:tcPr marL="54864" marR="54864" marT="27432" marB="27432">
                    <a:solidFill>
                      <a:srgbClr val="FFFFFF"/>
                    </a:solidFill>
                  </a:tcPr>
                </a:tc>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Comment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1,000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204</a:t>
            </a:r>
          </a:p>
        </p:txBody>
      </p:sp>
      <p:graphicFrame>
        <p:nvGraphicFramePr>
          <p:cNvPr id="9" name="Table 8"/>
          <p:cNvGraphicFramePr>
            <a:graphicFrameLocks noGrp="1"/>
          </p:cNvGraphicFramePr>
          <p:nvPr/>
        </p:nvGraphicFramePr>
        <p:xfrm>
          <a:off x="548640" y="1325880"/>
          <a:ext cx="11094411" cy="7924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Revise Quotation Slip</a:t>
                      </a:r>
                    </a:p>
                  </a:txBody>
                  <a:tcPr marL="54864" marR="54864" marT="27432" marB="27432">
                    <a:solidFill>
                      <a:srgbClr val="FFFFFF"/>
                    </a:solidFill>
                  </a:tcPr>
                </a:tc>
                <a:tc>
                  <a:txBody>
                    <a:bodyPr/>
                    <a:lstStyle/>
                    <a:p>
                      <a:r>
                        <a:rPr sz="850" b="0">
                          <a:solidFill>
                            <a:srgbClr val="4B4B4B"/>
                          </a:solidFill>
                          <a:latin typeface="Arial"/>
                        </a:rPr>
                        <a:t>Insurer check boxes</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Insurers of the next round</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Revise Quotation Slip</a:t>
                      </a:r>
                    </a:p>
                  </a:txBody>
                  <a:tcPr marL="54864" marR="54864" marT="27432" marB="27432">
                    <a:solidFill>
                      <a:srgbClr val="E5F5FF"/>
                    </a:solidFill>
                  </a:tcPr>
                </a:tc>
                <a:tc>
                  <a:txBody>
                    <a:bodyPr/>
                    <a:lstStyle/>
                    <a:p>
                      <a:r>
                        <a:rPr sz="850" b="0">
                          <a:solidFill>
                            <a:srgbClr val="4B4B4B"/>
                          </a:solidFill>
                          <a:latin typeface="Arial"/>
                        </a:rPr>
                        <a:t>What changes in this round</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4,000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205</a:t>
            </a:r>
          </a:p>
        </p:txBody>
      </p:sp>
      <p:graphicFrame>
        <p:nvGraphicFramePr>
          <p:cNvPr id="9" name="Table 8"/>
          <p:cNvGraphicFramePr>
            <a:graphicFrameLocks noGrp="1"/>
          </p:cNvGraphicFramePr>
          <p:nvPr/>
        </p:nvGraphicFramePr>
        <p:xfrm>
          <a:off x="548640" y="1325880"/>
          <a:ext cx="11094412" cy="350518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Save Slip</a:t>
                      </a:r>
                    </a:p>
                  </a:txBody>
                  <a:tcPr marL="54864" marR="54864" marT="27432" marB="27432">
                    <a:solidFill>
                      <a:srgbClr val="FFFFFF"/>
                    </a:solidFill>
                  </a:tcPr>
                </a:tc>
                <a:tc>
                  <a:txBody>
                    <a:bodyPr/>
                    <a:lstStyle/>
                    <a:p>
                      <a:r>
                        <a:rPr sz="850" b="0">
                          <a:solidFill>
                            <a:srgbClr val="4B4B4B"/>
                          </a:solidFill>
                          <a:latin typeface="Arial"/>
                        </a:rPr>
                        <a:t>TSU Officer or Team Lead (PKG_NEGOTIATE)</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Saves the insurers and notes of the slip</a:t>
                      </a:r>
                    </a:p>
                  </a:txBody>
                  <a:tcPr marL="54864" marR="54864" marT="27432" marB="27432">
                    <a:solidFill>
                      <a:srgbClr val="FFFFFF"/>
                    </a:solidFill>
                  </a:tcPr>
                </a:tc>
                <a:tc>
                  <a:txBody>
                    <a:bodyPr/>
                    <a:lstStyle/>
                    <a:p>
                      <a:r>
                        <a:rPr sz="850" b="0">
                          <a:solidFill>
                            <a:srgbClr val="4B4B4B"/>
                          </a:solidFill>
                          <a:latin typeface="Arial"/>
                        </a:rPr>
                        <a:t>Round in preparation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Submit for Approval</a:t>
                      </a:r>
                    </a:p>
                  </a:txBody>
                  <a:tcPr marL="54864" marR="54864" marT="27432" marB="27432">
                    <a:solidFill>
                      <a:srgbClr val="E5F5FF"/>
                    </a:solidFill>
                  </a:tcPr>
                </a:tc>
                <a:tc>
                  <a:txBody>
                    <a:bodyPr/>
                    <a:lstStyle/>
                    <a:p>
                      <a:r>
                        <a:rPr sz="850" b="0">
                          <a:solidFill>
                            <a:srgbClr val="4B4B4B"/>
                          </a:solidFill>
                          <a:latin typeface="Arial"/>
                        </a:rPr>
                        <a:t>TSU Officer or Team Lead (PKG_NEGOTIATE)</a:t>
                      </a:r>
                    </a:p>
                  </a:txBody>
                  <a:tcPr marL="54864" marR="54864" marT="27432" marB="27432">
                    <a:solidFill>
                      <a:srgbClr val="E5F5FF"/>
                    </a:solidFill>
                  </a:tcPr>
                </a:tc>
                <a:tc>
                  <a:txBody>
                    <a:bodyPr/>
                    <a:lstStyle/>
                    <a:p>
                      <a:r>
                        <a:rPr sz="850" b="0">
                          <a:solidFill>
                            <a:srgbClr val="4B4B4B"/>
                          </a:solidFill>
                          <a:latin typeface="Arial"/>
                        </a:rPr>
                        <a:t>Round in preparation; at least one insurer</a:t>
                      </a:r>
                    </a:p>
                  </a:txBody>
                  <a:tcPr marL="54864" marR="54864" marT="27432" marB="27432">
                    <a:solidFill>
                      <a:srgbClr val="E5F5FF"/>
                    </a:solidFill>
                  </a:tcPr>
                </a:tc>
                <a:tc>
                  <a:txBody>
                    <a:bodyPr/>
                    <a:lstStyle/>
                    <a:p>
                      <a:r>
                        <a:rPr sz="850" b="0">
                          <a:solidFill>
                            <a:srgbClr val="4B4B4B"/>
                          </a:solidFill>
                          <a:latin typeface="Arial"/>
                        </a:rPr>
                        <a:t>Saves the slip, numbers it PQS-yyyy-nnnnnn and sets the reply date (today + PKG_QS_REPLY_DAYS, 5 days)</a:t>
                      </a:r>
                    </a:p>
                  </a:txBody>
                  <a:tcPr marL="54864" marR="54864" marT="27432" marB="27432">
                    <a:solidFill>
                      <a:srgbClr val="E5F5FF"/>
                    </a:solidFill>
                  </a:tcPr>
                </a:tc>
                <a:tc>
                  <a:txBody>
                    <a:bodyPr/>
                    <a:lstStyle/>
                    <a:p>
                      <a:r>
                        <a:rPr sz="850" b="0">
                          <a:solidFill>
                            <a:srgbClr val="4B4B4B"/>
                          </a:solidFill>
                          <a:latin typeface="Arial"/>
                        </a:rPr>
                        <a:t>Round for approval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 and Send</a:t>
                      </a:r>
                    </a:p>
                  </a:txBody>
                  <a:tcPr marL="54864" marR="54864" marT="27432" marB="27432">
                    <a:solidFill>
                      <a:srgbClr val="FFFFFF"/>
                    </a:solidFill>
                  </a:tcPr>
                </a:tc>
                <a:tc>
                  <a:txBody>
                    <a:bodyPr/>
                    <a:lstStyle/>
                    <a:p>
                      <a:r>
                        <a:rPr sz="850" b="0">
                          <a:solidFill>
                            <a:srgbClr val="4B4B4B"/>
                          </a:solidFill>
                          <a:latin typeface="Arial"/>
                        </a:rPr>
                        <a:t>TSU Team Lead or a co-officer (PKG_QS_APPROVE), not the preparer</a:t>
                      </a:r>
                    </a:p>
                  </a:txBody>
                  <a:tcPr marL="54864" marR="54864" marT="27432" marB="27432">
                    <a:solidFill>
                      <a:srgbClr val="FFFFFF"/>
                    </a:solidFill>
                  </a:tcPr>
                </a:tc>
                <a:tc>
                  <a:txBody>
                    <a:bodyPr/>
                    <a:lstStyle/>
                    <a:p>
                      <a:r>
                        <a:rPr sz="850" b="0">
                          <a:solidFill>
                            <a:srgbClr val="4B4B4B"/>
                          </a:solidFill>
                          <a:latin typeface="Arial"/>
                        </a:rPr>
                        <a:t>Round for approval</a:t>
                      </a:r>
                    </a:p>
                  </a:txBody>
                  <a:tcPr marL="54864" marR="54864" marT="27432" marB="27432">
                    <a:solidFill>
                      <a:srgbClr val="FFFFFF"/>
                    </a:solidFill>
                  </a:tcPr>
                </a:tc>
                <a:tc>
                  <a:txBody>
                    <a:bodyPr/>
                    <a:lstStyle/>
                    <a:p>
                      <a:r>
                        <a:rPr sz="850" b="0">
                          <a:solidFill>
                            <a:srgbClr val="4B4B4B"/>
                          </a:solidFill>
                          <a:latin typeface="Arial"/>
                        </a:rPr>
                        <a:t>Approves the slip and e-mails it to each insurer, password protected; a pending response is opened per insurer</a:t>
                      </a:r>
                    </a:p>
                  </a:txBody>
                  <a:tcPr marL="54864" marR="54864" marT="27432" marB="27432">
                    <a:solidFill>
                      <a:srgbClr val="FFFFFF"/>
                    </a:solidFill>
                  </a:tcPr>
                </a:tc>
                <a:tc>
                  <a:txBody>
                    <a:bodyPr/>
                    <a:lstStyle/>
                    <a:p>
                      <a:r>
                        <a:rPr sz="850" b="0">
                          <a:solidFill>
                            <a:srgbClr val="4B4B4B"/>
                          </a:solidFill>
                          <a:latin typeface="Arial"/>
                        </a:rPr>
                        <a:t>Round sent</a:t>
                      </a:r>
                    </a:p>
                  </a:txBody>
                  <a:tcPr marL="54864" marR="54864" marT="27432" marB="27432">
                    <a:solidFill>
                      <a:srgbClr val="FFFFFF"/>
                    </a:solidFill>
                  </a:tcPr>
                </a:tc>
                <a:tc>
                  <a:txBody>
                    <a:bodyPr/>
                    <a:lstStyle/>
                    <a:p>
                      <a:r>
                        <a:rPr sz="850" b="0">
                          <a:solidFill>
                            <a:srgbClr val="4B4B4B"/>
                          </a:solidFill>
                          <a:latin typeface="Arial"/>
                        </a:rPr>
                        <a:t>Quotation slip e-mail to each insurer (NT-05)</a:t>
                      </a:r>
                    </a:p>
                  </a:txBody>
                  <a:tcPr marL="54864" marR="54864" marT="27432" marB="27432">
                    <a:solidFill>
                      <a:srgbClr val="FFFFFF"/>
                    </a:solidFill>
                  </a:tcPr>
                </a:tc>
              </a:tr>
              <a:tr h="220979">
                <a:tc>
                  <a:txBody>
                    <a:bodyPr/>
                    <a:lstStyle/>
                    <a:p>
                      <a:r>
                        <a:rPr sz="850" b="0">
                          <a:solidFill>
                            <a:srgbClr val="4B4B4B"/>
                          </a:solidFill>
                          <a:latin typeface="Arial"/>
                        </a:rPr>
                        <a:t>Quotation Slip</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The slip is numbered</a:t>
                      </a:r>
                    </a:p>
                  </a:txBody>
                  <a:tcPr marL="54864" marR="54864" marT="27432" marB="27432">
                    <a:solidFill>
                      <a:srgbClr val="E5F5FF"/>
                    </a:solidFill>
                  </a:tcPr>
                </a:tc>
                <a:tc>
                  <a:txBody>
                    <a:bodyPr/>
                    <a:lstStyle/>
                    <a:p>
                      <a:r>
                        <a:rPr sz="850" b="0">
                          <a:solidFill>
                            <a:srgbClr val="4B4B4B"/>
                          </a:solidFill>
                          <a:latin typeface="Arial"/>
                        </a:rPr>
                        <a:t>Downloads the quotation slip PDF of the round</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Key In</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Opens Terms of &lt;insurer&gt;</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Terms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Outcome chosen; a rate for an offer</a:t>
                      </a:r>
                    </a:p>
                  </a:txBody>
                  <a:tcPr marL="54864" marR="54864" marT="27432" marB="27432">
                    <a:solidFill>
                      <a:srgbClr val="E5F5FF"/>
                    </a:solidFill>
                  </a:tcPr>
                </a:tc>
                <a:tc>
                  <a:txBody>
                    <a:bodyPr/>
                    <a:lstStyle/>
                    <a:p>
                      <a:r>
                        <a:rPr sz="850" b="0">
                          <a:solidFill>
                            <a:srgbClr val="4B4B4B"/>
                          </a:solidFill>
                          <a:latin typeface="Arial"/>
                        </a:rPr>
                        <a:t>Saves the response as a new revision (the previous values stay in the history) and attaches the response document</a:t>
                      </a:r>
                    </a:p>
                  </a:txBody>
                  <a:tcPr marL="54864" marR="54864" marT="27432" marB="27432">
                    <a:solidFill>
                      <a:srgbClr val="E5F5FF"/>
                    </a:solidFill>
                  </a:tcPr>
                </a:tc>
                <a:tc>
                  <a:txBody>
                    <a:bodyPr/>
                    <a:lstStyle/>
                    <a:p>
                      <a:r>
                        <a:rPr sz="850" b="0">
                          <a:solidFill>
                            <a:srgbClr val="4B4B4B"/>
                          </a:solidFill>
                          <a:latin typeface="Arial"/>
                        </a:rPr>
                        <a:t>Response outcome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Resend</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Round sent, open and not locked</a:t>
                      </a:r>
                    </a:p>
                  </a:txBody>
                  <a:tcPr marL="54864" marR="54864" marT="27432" marB="27432">
                    <a:solidFill>
                      <a:srgbClr val="FFFFFF"/>
                    </a:solidFill>
                  </a:tcPr>
                </a:tc>
                <a:tc>
                  <a:txBody>
                    <a:bodyPr/>
                    <a:lstStyle/>
                    <a:p>
                      <a:r>
                        <a:rPr sz="850" b="0">
                          <a:solidFill>
                            <a:srgbClr val="4B4B4B"/>
                          </a:solidFill>
                          <a:latin typeface="Arial"/>
                        </a:rPr>
                        <a:t>E-mails the slip again to that insurer</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Quotation slip e-mail (NT-05)</a:t>
                      </a:r>
                    </a:p>
                  </a:txBody>
                  <a:tcPr marL="54864" marR="54864" marT="27432" marB="27432">
                    <a:solidFill>
                      <a:srgbClr val="FFFFFF"/>
                    </a:solidFill>
                  </a:tcPr>
                </a:tc>
              </a:tr>
              <a:tr h="350518">
                <a:tc>
                  <a:txBody>
                    <a:bodyPr/>
                    <a:lstStyle/>
                    <a:p>
                      <a:r>
                        <a:rPr sz="850" b="0">
                          <a:solidFill>
                            <a:srgbClr val="4B4B4B"/>
                          </a:solidFill>
                          <a:latin typeface="Arial"/>
                        </a:rPr>
                        <a:t>Revise quotation slip (new round)</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Insurer negotiation; the latest slip was sent</a:t>
                      </a:r>
                    </a:p>
                  </a:txBody>
                  <a:tcPr marL="54864" marR="54864" marT="27432" marB="27432">
                    <a:solidFill>
                      <a:srgbClr val="E5F5FF"/>
                    </a:solidFill>
                  </a:tcPr>
                </a:tc>
                <a:tc>
                  <a:txBody>
                    <a:bodyPr/>
                    <a:lstStyle/>
                    <a:p>
                      <a:r>
                        <a:rPr sz="850" b="0">
                          <a:solidFill>
                            <a:srgbClr val="4B4B4B"/>
                          </a:solidFill>
                          <a:latin typeface="Arial"/>
                        </a:rPr>
                        <a:t>Opens Revise Quotation Slip; Open New Round closes the sent round and opens round n+1 with the chosen insurers</a:t>
                      </a:r>
                    </a:p>
                  </a:txBody>
                  <a:tcPr marL="54864" marR="54864" marT="27432" marB="27432">
                    <a:solidFill>
                      <a:srgbClr val="E5F5FF"/>
                    </a:solidFill>
                  </a:tcPr>
                </a:tc>
                <a:tc>
                  <a:txBody>
                    <a:bodyPr/>
                    <a:lstStyle/>
                    <a:p>
                      <a:r>
                        <a:rPr sz="850" b="0">
                          <a:solidFill>
                            <a:srgbClr val="4B4B4B"/>
                          </a:solidFill>
                          <a:latin typeface="Arial"/>
                        </a:rPr>
                        <a:t>Insurer negotiation (round n+1)</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r h="480057">
                <a:tc>
                  <a:txBody>
                    <a:bodyPr/>
                    <a:lstStyle/>
                    <a:p>
                      <a:r>
                        <a:rPr sz="850" b="0">
                          <a:solidFill>
                            <a:srgbClr val="4B4B4B"/>
                          </a:solidFill>
                          <a:latin typeface="Arial"/>
                        </a:rPr>
                        <a:t>Terms final</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Insurer negotiation; every insurer of the latest round has an outcome</a:t>
                      </a:r>
                    </a:p>
                  </a:txBody>
                  <a:tcPr marL="54864" marR="54864" marT="27432" marB="27432">
                    <a:solidFill>
                      <a:srgbClr val="FFFFFF"/>
                    </a:solidFill>
                  </a:tcPr>
                </a:tc>
                <a:tc>
                  <a:txBody>
                    <a:bodyPr/>
                    <a:lstStyle/>
                    <a:p>
                      <a:r>
                        <a:rPr sz="850" b="0">
                          <a:solidFill>
                            <a:srgbClr val="4B4B4B"/>
                          </a:solidFill>
                          <a:latin typeface="Arial"/>
                        </a:rPr>
                        <a:t>Opens Terms Final; Make Terms Final records the chosen insurers with role and share as the proposed terms and compiles the comparative master</a:t>
                      </a:r>
                    </a:p>
                  </a:txBody>
                  <a:tcPr marL="54864" marR="54864" marT="27432" marB="27432">
                    <a:solidFill>
                      <a:srgbClr val="FFFFFF"/>
                    </a:solidFill>
                  </a:tcPr>
                </a:tc>
                <a:tc>
                  <a:txBody>
                    <a:bodyPr/>
                    <a:lstStyle/>
                    <a:p>
                      <a:r>
                        <a:rPr sz="850" b="0">
                          <a:solidFill>
                            <a:srgbClr val="4B4B4B"/>
                          </a:solidFill>
                          <a:latin typeface="Arial"/>
                        </a:rPr>
                        <a:t>Negotiated terms review</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bl>
          </a:graphicData>
        </a:graphic>
      </p:graphicFrame>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206</a:t>
            </a:r>
          </a:p>
        </p:txBody>
      </p:sp>
      <p:graphicFrame>
        <p:nvGraphicFramePr>
          <p:cNvPr id="9" name="Table 8"/>
          <p:cNvGraphicFramePr>
            <a:graphicFrameLocks noGrp="1"/>
          </p:cNvGraphicFramePr>
          <p:nvPr/>
        </p:nvGraphicFramePr>
        <p:xfrm>
          <a:off x="548640" y="1325880"/>
          <a:ext cx="11094415" cy="17068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quotation slip is approved by a TSU Team Lead or a co-officer, never by its preparer (FR-PM-030).</a:t>
                      </a:r>
                    </a:p>
                  </a:txBody>
                  <a:tcPr marL="54864" marR="54864" marT="27432" marB="27432">
                    <a:solidFill>
                      <a:srgbClr val="FFFFFF"/>
                    </a:solidFill>
                  </a:tcPr>
                </a:tc>
              </a:tr>
              <a:tr h="243840">
                <a:tc>
                  <a:txBody>
                    <a:bodyPr/>
                    <a:lstStyle/>
                    <a:p>
                      <a:r>
                        <a:rPr sz="1000" b="0">
                          <a:solidFill>
                            <a:srgbClr val="4B4B4B"/>
                          </a:solidFill>
                          <a:latin typeface="Arial"/>
                        </a:rPr>
                        <a:t>Each insurer receives its own protected e-mail; an insurer without a placement e-mail address stops the sending (FR-PM-030, FR-PM-004).</a:t>
                      </a:r>
                    </a:p>
                  </a:txBody>
                  <a:tcPr marL="54864" marR="54864" marT="27432" marB="27432">
                    <a:solidFill>
                      <a:srgbClr val="E5F5FF"/>
                    </a:solidFill>
                  </a:tcPr>
                </a:tc>
              </a:tr>
              <a:tr h="243840">
                <a:tc>
                  <a:txBody>
                    <a:bodyPr/>
                    <a:lstStyle/>
                    <a:p>
                      <a:r>
                        <a:rPr sz="1000" b="0">
                          <a:solidFill>
                            <a:srgbClr val="4B4B4B"/>
                          </a:solidFill>
                          <a:latin typeface="Arial"/>
                        </a:rPr>
                        <a:t>An offer (accepted as requested, approved with changes, counter-proposal) needs the rate offered; every change of a response is kept as a revision (FR-PM-031).</a:t>
                      </a:r>
                    </a:p>
                  </a:txBody>
                  <a:tcPr marL="54864" marR="54864" marT="27432" marB="27432">
                    <a:solidFill>
                      <a:srgbClr val="FFFFFF"/>
                    </a:solidFill>
                  </a:tcPr>
                </a:tc>
              </a:tr>
              <a:tr h="243840">
                <a:tc>
                  <a:txBody>
                    <a:bodyPr/>
                    <a:lstStyle/>
                    <a:p>
                      <a:r>
                        <a:rPr sz="1000" b="0">
                          <a:solidFill>
                            <a:srgbClr val="4B4B4B"/>
                          </a:solidFill>
                          <a:latin typeface="Arial"/>
                        </a:rPr>
                        <a:t>Only the latest round is keyed in; a sent round is revised through a new round, never changed (FR-PM-032).</a:t>
                      </a:r>
                    </a:p>
                  </a:txBody>
                  <a:tcPr marL="54864" marR="54864" marT="27432" marB="27432">
                    <a:solidFill>
                      <a:srgbClr val="E5F5FF"/>
                    </a:solidFill>
                  </a:tcPr>
                </a:tc>
              </a:tr>
              <a:tr h="243840">
                <a:tc>
                  <a:txBody>
                    <a:bodyPr/>
                    <a:lstStyle/>
                    <a:p>
                      <a:r>
                        <a:rPr sz="1000" b="0">
                          <a:solidFill>
                            <a:srgbClr val="4B4B4B"/>
                          </a:solidFill>
                          <a:latin typeface="Arial"/>
                        </a:rPr>
                        <a:t>The terms are final only when every insurer of the latest round has an outcome and the chosen insurers offered terms; co-insurance shares total 100 (FR-PM-033).</a:t>
                      </a:r>
                    </a:p>
                  </a:txBody>
                  <a:tcPr marL="54864" marR="54864" marT="27432" marB="27432">
                    <a:solidFill>
                      <a:srgbClr val="FFFFFF"/>
                    </a:solidFill>
                  </a:tcPr>
                </a:tc>
              </a:tr>
              <a:tr h="243840">
                <a:tc>
                  <a:txBody>
                    <a:bodyPr/>
                    <a:lstStyle/>
                    <a:p>
                      <a:r>
                        <a:rPr sz="1000" b="0">
                          <a:solidFill>
                            <a:srgbClr val="4B4B4B"/>
                          </a:solidFill>
                          <a:latin typeface="Arial"/>
                        </a:rPr>
                        <a:t>The slips are locked at the ManCom sign-off (FR-PM-041).</a:t>
                      </a:r>
                    </a:p>
                  </a:txBody>
                  <a:tcPr marL="54864" marR="54864" marT="27432" marB="27432">
                    <a:solidFill>
                      <a:srgbClr val="E5F5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207</a:t>
            </a:r>
          </a:p>
        </p:txBody>
      </p:sp>
      <p:graphicFrame>
        <p:nvGraphicFramePr>
          <p:cNvPr id="9" name="Table 8"/>
          <p:cNvGraphicFramePr>
            <a:graphicFrameLocks noGrp="1"/>
          </p:cNvGraphicFramePr>
          <p:nvPr/>
        </p:nvGraphicFramePr>
        <p:xfrm>
          <a:off x="548640" y="1325880"/>
          <a:ext cx="11094413" cy="1737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10</a:t>
                      </a:r>
                    </a:p>
                  </a:txBody>
                  <a:tcPr marL="54864" marR="54864" marT="27432" marB="27432">
                    <a:solidFill>
                      <a:srgbClr val="FFFFFF"/>
                    </a:solidFill>
                  </a:tcPr>
                </a:tc>
                <a:tc>
                  <a:txBody>
                    <a:bodyPr/>
                    <a:lstStyle/>
                    <a:p>
                      <a:r>
                        <a:rPr sz="900" b="0">
                          <a:solidFill>
                            <a:srgbClr val="4B4B4B"/>
                          </a:solidFill>
                          <a:latin typeface="Arial"/>
                        </a:rPr>
                        <a:t>Clicks Terms final, ticks the offer of Mabuhay General Insurance Corp. and clicks Make Terms Final</a:t>
                      </a:r>
                    </a:p>
                  </a:txBody>
                  <a:tcPr marL="54864" marR="54864" marT="27432" marB="27432">
                    <a:solidFill>
                      <a:srgbClr val="FFFFFF"/>
                    </a:solidFill>
                  </a:tcPr>
                </a:tc>
                <a:tc>
                  <a:txBody>
                    <a:bodyPr/>
                    <a:lstStyle/>
                    <a:p>
                      <a:r>
                        <a:rPr sz="900" b="0">
                          <a:solidFill>
                            <a:srgbClr val="4B4B4B"/>
                          </a:solidFill>
                          <a:latin typeface="Arial"/>
                        </a:rPr>
                        <a:t>SCR-PM-05_wt-a-step-10.png</a:t>
                      </a:r>
                    </a:p>
                  </a:txBody>
                  <a:tcPr marL="54864" marR="54864" marT="27432" marB="27432">
                    <a:solidFill>
                      <a:srgbClr val="FFFFFF"/>
                    </a:solidFill>
                  </a:tcPr>
                </a:tc>
              </a:tr>
              <a:tr h="228600">
                <a:tc>
                  <a:txBody>
                    <a:bodyPr/>
                    <a:lstStyle/>
                    <a:p>
                      <a:r>
                        <a:rPr sz="900" b="0">
                          <a:solidFill>
                            <a:srgbClr val="4B4B4B"/>
                          </a:solidFill>
                          <a:latin typeface="Arial"/>
                        </a:rPr>
                        <a:t>Validation error</a:t>
                      </a:r>
                    </a:p>
                  </a:txBody>
                  <a:tcPr marL="54864" marR="54864" marT="27432" marB="27432">
                    <a:solidFill>
                      <a:srgbClr val="E5F5FF"/>
                    </a:solidFill>
                  </a:tcPr>
                </a:tc>
                <a:tc>
                  <a:txBody>
                    <a:bodyPr/>
                    <a:lstStyle/>
                    <a:p>
                      <a:r>
                        <a:rPr sz="900" b="0">
                          <a:solidFill>
                            <a:srgbClr val="4B4B4B"/>
                          </a:solidFill>
                          <a:latin typeface="Arial"/>
                        </a:rPr>
                        <a:t>WT-B step 6</a:t>
                      </a:r>
                    </a:p>
                  </a:txBody>
                  <a:tcPr marL="54864" marR="54864" marT="27432" marB="27432">
                    <a:solidFill>
                      <a:srgbClr val="E5F5FF"/>
                    </a:solidFill>
                  </a:tcPr>
                </a:tc>
                <a:tc>
                  <a:txBody>
                    <a:bodyPr/>
                    <a:lstStyle/>
                    <a:p>
                      <a:r>
                        <a:rPr sz="900" b="0">
                          <a:solidFill>
                            <a:srgbClr val="4B4B4B"/>
                          </a:solidFill>
                          <a:latin typeface="Arial"/>
                        </a:rPr>
                        <a:t>Opens PKR-2026-900003 and clicks Terms final while Luzon Assurance is still pending in round 2</a:t>
                      </a:r>
                    </a:p>
                  </a:txBody>
                  <a:tcPr marL="54864" marR="54864" marT="27432" marB="27432">
                    <a:solidFill>
                      <a:srgbClr val="E5F5FF"/>
                    </a:solidFill>
                  </a:tcPr>
                </a:tc>
                <a:tc>
                  <a:txBody>
                    <a:bodyPr/>
                    <a:lstStyle/>
                    <a:p>
                      <a:r>
                        <a:rPr sz="900" b="0">
                          <a:solidFill>
                            <a:srgbClr val="4B4B4B"/>
                          </a:solidFill>
                          <a:latin typeface="Arial"/>
                        </a:rPr>
                        <a:t>SCR-PM-05_wt-b-step-06.png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7</a:t>
                      </a:r>
                    </a:p>
                  </a:txBody>
                  <a:tcPr marL="54864" marR="54864" marT="27432" marB="27432">
                    <a:solidFill>
                      <a:srgbClr val="FFFFFF"/>
                    </a:solidFill>
                  </a:tcPr>
                </a:tc>
                <a:tc>
                  <a:txBody>
                    <a:bodyPr/>
                    <a:lstStyle/>
                    <a:p>
                      <a:r>
                        <a:rPr sz="900" b="0">
                          <a:solidFill>
                            <a:srgbClr val="4B4B4B"/>
                          </a:solidFill>
                          <a:latin typeface="Arial"/>
                        </a:rPr>
                        <a:t>Opens the Negotiation tab, adds a note to the insurers and clicks Submit for Approval</a:t>
                      </a:r>
                    </a:p>
                  </a:txBody>
                  <a:tcPr marL="54864" marR="54864" marT="27432" marB="27432">
                    <a:solidFill>
                      <a:srgbClr val="FFFFFF"/>
                    </a:solidFill>
                  </a:tcPr>
                </a:tc>
                <a:tc>
                  <a:txBody>
                    <a:bodyPr/>
                    <a:lstStyle/>
                    <a:p>
                      <a:r>
                        <a:rPr sz="900" b="0">
                          <a:solidFill>
                            <a:srgbClr val="4B4B4B"/>
                          </a:solidFill>
                          <a:latin typeface="Arial"/>
                        </a:rPr>
                        <a:t>SCR-PM-05_wt-a-step-07.png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8</a:t>
                      </a:r>
                    </a:p>
                  </a:txBody>
                  <a:tcPr marL="54864" marR="54864" marT="27432" marB="27432">
                    <a:solidFill>
                      <a:srgbClr val="E5F5FF"/>
                    </a:solidFill>
                  </a:tcPr>
                </a:tc>
                <a:tc>
                  <a:txBody>
                    <a:bodyPr/>
                    <a:lstStyle/>
                    <a:p>
                      <a:r>
                        <a:rPr sz="900" b="0">
                          <a:solidFill>
                            <a:srgbClr val="4B4B4B"/>
                          </a:solidFill>
                          <a:latin typeface="Arial"/>
                        </a:rPr>
                        <a:t>Clicks Approve and Send on round 1</a:t>
                      </a:r>
                    </a:p>
                  </a:txBody>
                  <a:tcPr marL="54864" marR="54864" marT="27432" marB="27432">
                    <a:solidFill>
                      <a:srgbClr val="E5F5FF"/>
                    </a:solidFill>
                  </a:tcPr>
                </a:tc>
                <a:tc>
                  <a:txBody>
                    <a:bodyPr/>
                    <a:lstStyle/>
                    <a:p>
                      <a:r>
                        <a:rPr sz="900" b="0">
                          <a:solidFill>
                            <a:srgbClr val="4B4B4B"/>
                          </a:solidFill>
                          <a:latin typeface="Arial"/>
                        </a:rPr>
                        <a:t>SCR-PM-05_wt-a-step-08.png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9</a:t>
                      </a:r>
                    </a:p>
                  </a:txBody>
                  <a:tcPr marL="54864" marR="54864" marT="27432" marB="27432">
                    <a:solidFill>
                      <a:srgbClr val="FFFFFF"/>
                    </a:solidFill>
                  </a:tcPr>
                </a:tc>
                <a:tc>
                  <a:txBody>
                    <a:bodyPr/>
                    <a:lstStyle/>
                    <a:p>
                      <a:r>
                        <a:rPr sz="900" b="0">
                          <a:solidFill>
                            <a:srgbClr val="4B4B4B"/>
                          </a:solidFill>
                          <a:latin typeface="Arial"/>
                        </a:rPr>
                        <a:t>Clicks Key In for each insurer, enters the outcome, rate, minimum premium and deductibles, attaches the insurer's reply and clicks Save Terms</a:t>
                      </a:r>
                    </a:p>
                  </a:txBody>
                  <a:tcPr marL="54864" marR="54864" marT="27432" marB="27432">
                    <a:solidFill>
                      <a:srgbClr val="FFFFFF"/>
                    </a:solidFill>
                  </a:tcPr>
                </a:tc>
                <a:tc>
                  <a:txBody>
                    <a:bodyPr/>
                    <a:lstStyle/>
                    <a:p>
                      <a:r>
                        <a:rPr sz="900" b="0">
                          <a:solidFill>
                            <a:srgbClr val="4B4B4B"/>
                          </a:solidFill>
                          <a:latin typeface="Arial"/>
                        </a:rPr>
                        <a:t>SCR-PM-05_wt-a-step-09.png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WT-B step 5</a:t>
                      </a:r>
                    </a:p>
                  </a:txBody>
                  <a:tcPr marL="54864" marR="54864" marT="27432" marB="27432">
                    <a:solidFill>
                      <a:srgbClr val="E5F5FF"/>
                    </a:solidFill>
                  </a:tcPr>
                </a:tc>
                <a:tc>
                  <a:txBody>
                    <a:bodyPr/>
                    <a:lstStyle/>
                    <a:p>
                      <a:r>
                        <a:rPr sz="900" b="0">
                          <a:solidFill>
                            <a:srgbClr val="4B4B4B"/>
                          </a:solidFill>
                          <a:latin typeface="Arial"/>
                        </a:rPr>
                        <a:t>Prepares and submits a slip himself, then clicks Approve and Send on it</a:t>
                      </a:r>
                    </a:p>
                  </a:txBody>
                  <a:tcPr marL="54864" marR="54864" marT="27432" marB="27432">
                    <a:solidFill>
                      <a:srgbClr val="E5F5FF"/>
                    </a:solidFill>
                  </a:tcPr>
                </a:tc>
                <a:tc>
                  <a:txBody>
                    <a:bodyPr/>
                    <a:lstStyle/>
                    <a:p>
                      <a:r>
                        <a:rPr sz="900" b="0">
                          <a:solidFill>
                            <a:srgbClr val="4B4B4B"/>
                          </a:solidFill>
                          <a:latin typeface="Arial"/>
                        </a:rPr>
                        <a:t>SCR-PM-05_wt-b-step-05.png</a:t>
                      </a:r>
                    </a:p>
                  </a:txBody>
                  <a:tcPr marL="54864" marR="54864" marT="27432" marB="27432">
                    <a:solidFill>
                      <a:srgbClr val="E5F5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8.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1 of 4)</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39.png"/>
          <p:cNvPicPr>
            <a:picLocks noChangeAspect="1"/>
          </p:cNvPicPr>
          <p:nvPr/>
        </p:nvPicPr>
        <p:blipFill>
          <a:blip r:embed="rId3"/>
          <a:stretch>
            <a:fillRect/>
          </a:stretch>
        </p:blipFill>
        <p:spPr>
          <a:xfrm>
            <a:off x="548640" y="1261872"/>
            <a:ext cx="11094415" cy="44282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2 of 4)</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0.png"/>
          <p:cNvPicPr>
            <a:picLocks noChangeAspect="1"/>
          </p:cNvPicPr>
          <p:nvPr/>
        </p:nvPicPr>
        <p:blipFill>
          <a:blip r:embed="rId3"/>
          <a:stretch>
            <a:fillRect/>
          </a:stretch>
        </p:blipFill>
        <p:spPr>
          <a:xfrm>
            <a:off x="548640" y="1261872"/>
            <a:ext cx="11094415" cy="433256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3 of 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1.png"/>
          <p:cNvPicPr>
            <a:picLocks noChangeAspect="1"/>
          </p:cNvPicPr>
          <p:nvPr/>
        </p:nvPicPr>
        <p:blipFill>
          <a:blip r:embed="rId3"/>
          <a:stretch>
            <a:fillRect/>
          </a:stretch>
        </p:blipFill>
        <p:spPr>
          <a:xfrm>
            <a:off x="548640" y="1261872"/>
            <a:ext cx="11094415" cy="234321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Negotiation tab: round 2 sent, round 1 closed with three outcomes (part 4 of 4)</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Filled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2.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1 of 2)</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Filled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143.png"/>
          <p:cNvPicPr>
            <a:picLocks noChangeAspect="1"/>
          </p:cNvPicPr>
          <p:nvPr/>
        </p:nvPicPr>
        <p:blipFill>
          <a:blip r:embed="rId3"/>
          <a:stretch>
            <a:fillRect/>
          </a:stretch>
        </p:blipFill>
        <p:spPr>
          <a:xfrm>
            <a:off x="548640" y="1261872"/>
            <a:ext cx="11094415" cy="47113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of an insurer: outcome, rate and deductibles (part 2 of 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5-04-revise.png"/>
          <p:cNvPicPr>
            <a:picLocks noChangeAspect="1"/>
          </p:cNvPicPr>
          <p:nvPr/>
        </p:nvPicPr>
        <p:blipFill>
          <a:blip r:embed="rId3"/>
          <a:stretch>
            <a:fillRect/>
          </a:stretch>
        </p:blipFill>
        <p:spPr>
          <a:xfrm>
            <a:off x="1045257" y="1261872"/>
            <a:ext cx="1010118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Revise Quotation Slip dialog: insurers of the next round</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SCR-PM-05 Package Request record: Negotiation tab: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215</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05-03-terms_final.png"/>
          <p:cNvPicPr>
            <a:picLocks noChangeAspect="1"/>
          </p:cNvPicPr>
          <p:nvPr/>
        </p:nvPicPr>
        <p:blipFill>
          <a:blip r:embed="rId3"/>
          <a:stretch>
            <a:fillRect/>
          </a:stretch>
        </p:blipFill>
        <p:spPr>
          <a:xfrm>
            <a:off x="1177876" y="1261872"/>
            <a:ext cx="9835942"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Terms Final dialog: insurers, role and share</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Package Request record: Comparative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216</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comparison of the insurer terms of the latest round, the one current comparative master kept for audit, and the client views derived from it for a client presentation. Every output is stored with its PDF and Excel file.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Comparative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FR-PM-034, FR-PM-035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and Marketing compare the insurers on one current table and give the client a tailored view that matches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217</a:t>
            </a:r>
          </a:p>
        </p:txBody>
      </p:sp>
      <p:graphicFrame>
        <p:nvGraphicFramePr>
          <p:cNvPr id="9" name="Table 8"/>
          <p:cNvGraphicFramePr>
            <a:graphicFrameLocks noGrp="1"/>
          </p:cNvGraphicFramePr>
          <p:nvPr/>
        </p:nvGraphicFramePr>
        <p:xfrm>
          <a:off x="548640" y="1325880"/>
          <a:ext cx="11094411" cy="333754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Round n comparison</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 with the Lowest rate tag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terms to compare yet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Round n comparison</a:t>
                      </a:r>
                    </a:p>
                  </a:txBody>
                  <a:tcPr marL="54864" marR="54864" marT="27432" marB="27432">
                    <a:solidFill>
                      <a:srgbClr val="E5F5FF"/>
                    </a:solidFill>
                  </a:tcPr>
                </a:tc>
                <a:tc>
                  <a:txBody>
                    <a:bodyPr/>
                    <a:lstStyle/>
                    <a:p>
                      <a:r>
                        <a:rPr sz="850" b="0">
                          <a:solidFill>
                            <a:srgbClr val="4B4B4B"/>
                          </a:solidFill>
                          <a:latin typeface="Arial"/>
                        </a:rPr>
                        <a:t>Outcome / Rate % / Minimum / Coverages / Deductibles / Conditions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As keyed in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Output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Title, with Audit master or Client view and the round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comparative output yet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or Superseded (master)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Fields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or the number of fields shown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Stored outputs</a:t>
                      </a:r>
                    </a:p>
                  </a:txBody>
                  <a:tcPr marL="54864" marR="54864" marT="27432" marB="27432">
                    <a:solidFill>
                      <a:srgbClr val="E5F5FF"/>
                    </a:solidFill>
                  </a:tcPr>
                </a:tc>
                <a:tc>
                  <a:txBody>
                    <a:bodyPr/>
                    <a:lstStyle/>
                    <a:p>
                      <a:r>
                        <a:rPr sz="850" b="0">
                          <a:solidFill>
                            <a:srgbClr val="4B4B4B"/>
                          </a:solidFill>
                          <a:latin typeface="Arial"/>
                        </a:rPr>
                        <a:t>Generated</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 dd-MMM-yyyy HH:mm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Stored outputs</a:t>
                      </a:r>
                    </a:p>
                  </a:txBody>
                  <a:tcPr marL="54864" marR="54864" marT="27432" marB="27432">
                    <a:solidFill>
                      <a:srgbClr val="FFFFFF"/>
                    </a:solidFill>
                  </a:tcPr>
                </a:tc>
                <a:tc>
                  <a:txBody>
                    <a:bodyPr/>
                    <a:lstStyle/>
                    <a:p>
                      <a:r>
                        <a:rPr sz="850" b="0">
                          <a:solidFill>
                            <a:srgbClr val="4B4B4B"/>
                          </a:solidFill>
                          <a:latin typeface="Arial"/>
                        </a:rPr>
                        <a:t>SHA-256</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First 12 characters of the file fingerprint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 of the view</a:t>
                      </a:r>
                    </a:p>
                  </a:txBody>
                  <a:tcPr marL="54864" marR="54864" marT="27432" marB="27432">
                    <a:solidFill>
                      <a:srgbClr val="E5F5FF"/>
                    </a:solidFill>
                  </a:tcPr>
                </a:tc>
              </a:tr>
              <a:tr h="480057">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Generate Client View</a:t>
                      </a:r>
                    </a:p>
                  </a:txBody>
                  <a:tcPr marL="54864" marR="54864" marT="27432" marB="27432">
                    <a:solidFill>
                      <a:srgbClr val="FFFFFF"/>
                    </a:solidFill>
                  </a:tcPr>
                </a:tc>
                <a:tc>
                  <a:txBody>
                    <a:bodyPr/>
                    <a:lstStyle/>
                    <a:p>
                      <a:r>
                        <a:rPr sz="850" b="0">
                          <a:solidFill>
                            <a:srgbClr val="4B4B4B"/>
                          </a:solidFill>
                          <a:latin typeface="Arial"/>
                        </a:rPr>
                        <a:t>Fields shown</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Outcome, Rate %, Minimum Premium, Coverages, Deductibles, Conditions / Warranties, Valid Until, Remarks</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Known fields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Insurers shown</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Insurers of the master</a:t>
                      </a:r>
                    </a:p>
                  </a:txBody>
                  <a:tcPr marL="54864" marR="54864" marT="27432" marB="27432">
                    <a:solidFill>
                      <a:srgbClr val="E5F5FF"/>
                    </a:solidFill>
                  </a:tcPr>
                </a:tc>
                <a:tc>
                  <a:txBody>
                    <a:bodyPr/>
                    <a:lstStyle/>
                    <a:p>
                      <a:r>
                        <a:rPr sz="850" b="0">
                          <a:solidFill>
                            <a:srgbClr val="4B4B4B"/>
                          </a:solidFill>
                          <a:latin typeface="Arial"/>
                        </a:rPr>
                        <a:t>Select at least one insurer of the master</a:t>
                      </a:r>
                    </a:p>
                  </a:txBody>
                  <a:tcPr marL="54864" marR="54864" marT="27432" marB="27432">
                    <a:solidFill>
                      <a:srgbClr val="E5F5FF"/>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218</a:t>
            </a:r>
          </a:p>
        </p:txBody>
      </p:sp>
      <p:graphicFrame>
        <p:nvGraphicFramePr>
          <p:cNvPr id="9" name="Table 8"/>
          <p:cNvGraphicFramePr>
            <a:graphicFrameLocks noGrp="1"/>
          </p:cNvGraphicFramePr>
          <p:nvPr/>
        </p:nvGraphicFramePr>
        <p:xfrm>
          <a:off x="548640" y="1325880"/>
          <a:ext cx="11094412" cy="114299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Compile Master</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The slip of the latest round was sent</a:t>
                      </a:r>
                    </a:p>
                  </a:txBody>
                  <a:tcPr marL="54864" marR="54864" marT="27432" marB="27432">
                    <a:solidFill>
                      <a:srgbClr val="FFFFFF"/>
                    </a:solidFill>
                  </a:tcPr>
                </a:tc>
                <a:tc>
                  <a:txBody>
                    <a:bodyPr/>
                    <a:lstStyle/>
                    <a:p>
                      <a:r>
                        <a:rPr sz="850" b="0">
                          <a:solidFill>
                            <a:srgbClr val="4B4B4B"/>
                          </a:solidFill>
                          <a:latin typeface="Arial"/>
                        </a:rPr>
                        <a:t>Compiles a new comparative master from the latest round; the previous master becomes Superseded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Generate Client View</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A current master exists</a:t>
                      </a:r>
                    </a:p>
                  </a:txBody>
                  <a:tcPr marL="54864" marR="54864" marT="27432" marB="27432">
                    <a:solidFill>
                      <a:srgbClr val="E5F5FF"/>
                    </a:solidFill>
                  </a:tcPr>
                </a:tc>
                <a:tc>
                  <a:txBody>
                    <a:bodyPr/>
                    <a:lstStyle/>
                    <a:p>
                      <a:r>
                        <a:rPr sz="850" b="0">
                          <a:solidFill>
                            <a:srgbClr val="4B4B4B"/>
                          </a:solidFill>
                          <a:latin typeface="Arial"/>
                        </a:rPr>
                        <a:t>Opens Generate Client View; Generate stores a view with the chosen fields and insurers, taken from the master's values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PDF /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stored output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There is one current comparative master per request; a new master supersedes the previous one (FR-PM-034).</a:t>
                      </a:r>
                    </a:p>
                  </a:txBody>
                  <a:tcPr marL="54864" marR="54864" marT="27432" marB="27432">
                    <a:solidFill>
                      <a:srgbClr val="FFFFFF"/>
                    </a:solidFill>
                  </a:tcPr>
                </a:tc>
              </a:tr>
              <a:tr h="243840">
                <a:tc>
                  <a:txBody>
                    <a:bodyPr/>
                    <a:lstStyle/>
                    <a:p>
                      <a:r>
                        <a:rPr sz="1000" b="0">
                          <a:solidFill>
                            <a:srgbClr val="4B4B4B"/>
                          </a:solidFill>
                          <a:latin typeface="Arial"/>
                        </a:rPr>
                        <a:t>A client view is taken from the current master and never changes a value; it shows only the fields and insurers chosen (FR-PM-035).</a:t>
                      </a:r>
                    </a:p>
                  </a:txBody>
                  <a:tcPr marL="54864" marR="54864" marT="27432" marB="27432">
                    <a:solidFill>
                      <a:srgbClr val="E5F5FF"/>
                    </a:solidFill>
                  </a:tcPr>
                </a:tc>
              </a:tr>
              <a:tr h="243840">
                <a:tc>
                  <a:txBody>
                    <a:bodyPr/>
                    <a:lstStyle/>
                    <a:p>
                      <a:r>
                        <a:rPr sz="1000" b="0">
                          <a:solidFill>
                            <a:srgbClr val="4B4B4B"/>
                          </a:solidFill>
                          <a:latin typeface="Arial"/>
                        </a:rPr>
                        <a:t>Every output is attached to the request with its SHA-256 and written to the audit trail (FR-PM-034, FR-PM-005).</a:t>
                      </a:r>
                    </a:p>
                  </a:txBody>
                  <a:tcPr marL="54864" marR="54864" marT="27432" marB="27432">
                    <a:solidFill>
                      <a:srgbClr val="FFFFFF"/>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220</a:t>
            </a:r>
          </a:p>
        </p:txBody>
      </p:sp>
      <p:graphicFrame>
        <p:nvGraphicFramePr>
          <p:cNvPr id="9" name="Table 8"/>
          <p:cNvGraphicFramePr>
            <a:graphicFrameLocks noGrp="1"/>
          </p:cNvGraphicFramePr>
          <p:nvPr/>
        </p:nvGraphicFramePr>
        <p:xfrm>
          <a:off x="548640" y="1325880"/>
          <a:ext cx="11094413" cy="45720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11</a:t>
                      </a:r>
                    </a:p>
                  </a:txBody>
                  <a:tcPr marL="54864" marR="54864" marT="27432" marB="27432">
                    <a:solidFill>
                      <a:srgbClr val="FFFFFF"/>
                    </a:solidFill>
                  </a:tcPr>
                </a:tc>
                <a:tc>
                  <a:txBody>
                    <a:bodyPr/>
                    <a:lstStyle/>
                    <a:p>
                      <a:r>
                        <a:rPr sz="900" b="0">
                          <a:solidFill>
                            <a:srgbClr val="4B4B4B"/>
                          </a:solidFill>
                          <a:latin typeface="Arial"/>
                        </a:rPr>
                        <a:t>Opens the Comparative tab</a:t>
                      </a:r>
                    </a:p>
                  </a:txBody>
                  <a:tcPr marL="54864" marR="54864" marT="27432" marB="27432">
                    <a:solidFill>
                      <a:srgbClr val="FFFFFF"/>
                    </a:solidFill>
                  </a:tcPr>
                </a:tc>
                <a:tc>
                  <a:txBody>
                    <a:bodyPr/>
                    <a:lstStyle/>
                    <a:p>
                      <a:r>
                        <a:rPr sz="900" b="0">
                          <a:solidFill>
                            <a:srgbClr val="4B4B4B"/>
                          </a:solidFill>
                          <a:latin typeface="Arial"/>
                        </a:rPr>
                        <a:t>SCR-PM-06_wt-a-step-11.png</a:t>
                      </a:r>
                    </a:p>
                  </a:txBody>
                  <a:tcPr marL="54864" marR="54864" marT="27432" marB="27432">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Package Request record: Comparative tab: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4.png"/>
          <p:cNvPicPr>
            <a:picLocks noChangeAspect="1"/>
          </p:cNvPicPr>
          <p:nvPr/>
        </p:nvPicPr>
        <p:blipFill>
          <a:blip r:embed="rId3"/>
          <a:stretch>
            <a:fillRect/>
          </a:stretch>
        </p:blipFill>
        <p:spPr>
          <a:xfrm>
            <a:off x="548640" y="1261872"/>
            <a:ext cx="11094415" cy="46577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1 of 3)</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Package Request record: Comparative tab: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5.png"/>
          <p:cNvPicPr>
            <a:picLocks noChangeAspect="1"/>
          </p:cNvPicPr>
          <p:nvPr/>
        </p:nvPicPr>
        <p:blipFill>
          <a:blip r:embed="rId3"/>
          <a:stretch>
            <a:fillRect/>
          </a:stretch>
        </p:blipFill>
        <p:spPr>
          <a:xfrm>
            <a:off x="548640" y="1261872"/>
            <a:ext cx="11094415" cy="429908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2 of 3)</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Package Request record: Comparative tab: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6.png"/>
          <p:cNvPicPr>
            <a:picLocks noChangeAspect="1"/>
          </p:cNvPicPr>
          <p:nvPr/>
        </p:nvPicPr>
        <p:blipFill>
          <a:blip r:embed="rId3"/>
          <a:stretch>
            <a:fillRect/>
          </a:stretch>
        </p:blipFill>
        <p:spPr>
          <a:xfrm>
            <a:off x="548640" y="1261872"/>
            <a:ext cx="11094415" cy="343831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Comparative tab with the round 2 comparison and the stored outputs (part 3 of 3)</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SCR-PM-06 Package Request record: Comparative tab: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6-02-client_view.png"/>
          <p:cNvPicPr>
            <a:picLocks noChangeAspect="1"/>
          </p:cNvPicPr>
          <p:nvPr/>
        </p:nvPicPr>
        <p:blipFill>
          <a:blip r:embed="rId3"/>
          <a:stretch>
            <a:fillRect/>
          </a:stretch>
        </p:blipFill>
        <p:spPr>
          <a:xfrm>
            <a:off x="1979523" y="1261872"/>
            <a:ext cx="8232648"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Client View dialog</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225</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requirements pack that ManCom signs off: what the pack still lacks, the proposed rate scheme, computation basis and dates (editable while the requirements are prepared), the package slip to print and sign, and the ManCom decisions with their sign-off reference.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Requirements &amp; Sign-off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13.1.7</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FR-PM-040, FR-PM-041, FR-PM-036</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ManCom signs off a complete pack in BIBS and the request goes to MBS for the set-up.</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226</a:t>
            </a:r>
          </a:p>
        </p:txBody>
      </p:sp>
      <p:graphicFrame>
        <p:nvGraphicFramePr>
          <p:cNvPr id="9" name="Table 8"/>
          <p:cNvGraphicFramePr>
            <a:graphicFrameLocks noGrp="1"/>
          </p:cNvGraphicFramePr>
          <p:nvPr/>
        </p:nvGraphicFramePr>
        <p:xfrm>
          <a:off x="548640" y="1325880"/>
          <a:ext cx="11094411" cy="4152875"/>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Requirements pack</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Missing items, or The requirements pack is complete.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The effective date and package end date, a scheme rate or a rate for every insurer, the computation basis, the chosen insurer(s) and the signed package slip</a:t>
                      </a:r>
                    </a:p>
                  </a:txBody>
                  <a:tcPr marL="54864" marR="54864" marT="27432" marB="27432">
                    <a:solidFill>
                      <a:srgbClr val="FFFFFF"/>
                    </a:solidFill>
                  </a:tcPr>
                </a:tc>
                <a:tc>
                  <a:txBody>
                    <a:bodyPr/>
                    <a:lstStyle/>
                    <a:p>
                      <a:r>
                        <a:rPr sz="850" b="0">
                          <a:solidFill>
                            <a:srgbClr val="4B4B4B"/>
                          </a:solidFill>
                          <a:latin typeface="Arial"/>
                        </a:rPr>
                        <a:t>Complete the requirements: &lt;missing&gt;</a:t>
                      </a:r>
                    </a:p>
                  </a:txBody>
                  <a:tcPr marL="54864" marR="54864" marT="27432" marB="27432">
                    <a:solidFill>
                      <a:srgbClr val="FFFFFF"/>
                    </a:solidFill>
                  </a:tcPr>
                </a:tc>
              </a:tr>
              <a:tr h="739135">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Scheme 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Up to four decimals</a:t>
                      </a:r>
                    </a:p>
                  </a:txBody>
                  <a:tcPr marL="54864" marR="54864" marT="27432" marB="27432">
                    <a:solidFill>
                      <a:srgbClr val="E5F5FF"/>
                    </a:solidFill>
                  </a:tcPr>
                </a:tc>
                <a:tc>
                  <a:txBody>
                    <a:bodyPr/>
                    <a:lstStyle/>
                    <a:p>
                      <a:r>
                        <a:rPr sz="850" b="0">
                          <a:solidFill>
                            <a:srgbClr val="4B4B4B"/>
                          </a:solidFill>
                          <a:latin typeface="Arial"/>
                        </a:rPr>
                        <a:t>Cond.: or a rate for every insurer</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Rates and amounts cannot be negative</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Minimum premium / Commission % / Package TSI limit</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 percentage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Rates and amounts cannot be negative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How the premium is computed</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 before submission</a:t>
                      </a:r>
                    </a:p>
                  </a:txBody>
                  <a:tcPr marL="54864" marR="54864" marT="27432" marB="27432">
                    <a:solidFill>
                      <a:srgbClr val="E5F5FF"/>
                    </a:solidFill>
                  </a:tcPr>
                </a:tc>
                <a:tc>
                  <a:txBody>
                    <a:bodyPr/>
                    <a:lstStyle/>
                    <a:p>
                      <a:r>
                        <a:rPr sz="850" b="0">
                          <a:solidFill>
                            <a:srgbClr val="4B4B4B"/>
                          </a:solidFill>
                          <a:latin typeface="Arial"/>
                        </a:rPr>
                        <a:t>Complete the requirements: the computation basis</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Complete the requirements: the effective date and the package end date</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 computation basis and dates</a:t>
                      </a:r>
                    </a:p>
                  </a:txBody>
                  <a:tcPr marL="54864" marR="54864" marT="27432" marB="27432">
                    <a:solidFill>
                      <a:srgbClr val="E5F5FF"/>
                    </a:solidFill>
                  </a:tcPr>
                </a:tc>
                <a:tc>
                  <a:txBody>
                    <a:bodyPr/>
                    <a:lstStyle/>
                    <a:p>
                      <a:r>
                        <a:rPr sz="850" b="0">
                          <a:solidFill>
                            <a:srgbClr val="4B4B4B"/>
                          </a:solidFill>
                          <a:latin typeface="Arial"/>
                        </a:rPr>
                        <a:t>Package start / 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 computation basis and 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Proposed terms</a:t>
                      </a:r>
                    </a:p>
                  </a:txBody>
                  <a:tcPr marL="54864" marR="54864" marT="27432" marB="27432">
                    <a:solidFill>
                      <a:srgbClr val="E5F5FF"/>
                    </a:solidFill>
                  </a:tcPr>
                </a:tc>
                <a:tc>
                  <a:txBody>
                    <a:bodyPr/>
                    <a:lstStyle/>
                    <a:p>
                      <a:r>
                        <a:rPr sz="850" b="0">
                          <a:solidFill>
                            <a:srgbClr val="4B4B4B"/>
                          </a:solidFill>
                          <a:latin typeface="Arial"/>
                        </a:rPr>
                        <a:t>Sections, coverages, rate scheme, dates and insurers</a:t>
                      </a:r>
                    </a:p>
                  </a:txBody>
                  <a:tcPr marL="54864" marR="54864" marT="27432" marB="27432">
                    <a:solidFill>
                      <a:srgbClr val="E5F5FF"/>
                    </a:solidFill>
                  </a:tcPr>
                </a:tc>
                <a:tc>
                  <a:txBody>
                    <a:bodyPr/>
                    <a:lstStyle/>
                    <a:p>
                      <a:r>
                        <a:rPr sz="850" b="0">
                          <a:solidFill>
                            <a:srgbClr val="4B4B4B"/>
                          </a:solidFill>
                          <a:latin typeface="Arial"/>
                        </a:rPr>
                        <a:t>Read-only view</a:t>
                      </a:r>
                    </a:p>
                  </a:txBody>
                  <a:tcPr marL="54864" marR="54864" marT="27432" marB="27432">
                    <a:solidFill>
                      <a:srgbClr val="E5F5FF"/>
                    </a:solidFill>
                  </a:tcPr>
                </a:tc>
                <a:tc>
                  <a:txBody>
                    <a:bodyPr/>
                    <a:lstStyle/>
                    <a:p>
                      <a:r>
                        <a:rPr sz="850" b="0">
                          <a:solidFill>
                            <a:srgbClr val="4B4B4B"/>
                          </a:solidFill>
                          <a:latin typeface="Arial"/>
                        </a:rPr>
                        <a:t>As on the Requested Terms tab</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ManCom decisions</a:t>
                      </a:r>
                    </a:p>
                  </a:txBody>
                  <a:tcPr marL="54864" marR="54864" marT="27432" marB="27432">
                    <a:solidFill>
                      <a:srgbClr val="FFFFFF"/>
                    </a:solidFill>
                  </a:tcPr>
                </a:tc>
                <a:tc>
                  <a:txBody>
                    <a:bodyPr/>
                    <a:lstStyle/>
                    <a:p>
                      <a:r>
                        <a:rPr sz="850" b="0">
                          <a:solidFill>
                            <a:srgbClr val="4B4B4B"/>
                          </a:solidFill>
                          <a:latin typeface="Arial"/>
                        </a:rPr>
                        <a:t>Reference / Decision / By / On / Comment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MC-PKR-yyyy-nnnnnn; Signed or Returned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ManCom decision yet</a:t>
                      </a:r>
                    </a:p>
                  </a:txBody>
                  <a:tcPr marL="54864" marR="54864" marT="27432" marB="27432">
                    <a:solidFill>
                      <a:srgbClr val="FFFFFF"/>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227</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Package Slip</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package slip (PDF) with the proposed terms, to be printed and signed</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Save Requirements</a:t>
                      </a:r>
                    </a:p>
                  </a:txBody>
                  <a:tcPr marL="54864" marR="54864" marT="27432" marB="27432">
                    <a:solidFill>
                      <a:srgbClr val="E5F5FF"/>
                    </a:solidFill>
                  </a:tcPr>
                </a:tc>
                <a:tc>
                  <a:txBody>
                    <a:bodyPr/>
                    <a:lstStyle/>
                    <a:p>
                      <a:r>
                        <a:rPr sz="850" b="0">
                          <a:solidFill>
                            <a:srgbClr val="4B4B4B"/>
                          </a:solidFill>
                          <a:latin typeface="Arial"/>
                        </a:rPr>
                        <a:t>PKG_NEGOTIATE</a:t>
                      </a:r>
                    </a:p>
                  </a:txBody>
                  <a:tcPr marL="54864" marR="54864" marT="27432" marB="27432">
                    <a:solidFill>
                      <a:srgbClr val="E5F5FF"/>
                    </a:solidFill>
                  </a:tcPr>
                </a:tc>
                <a:tc>
                  <a:txBody>
                    <a:bodyPr/>
                    <a:lstStyle/>
                    <a:p>
                      <a:r>
                        <a:rPr sz="850" b="0">
                          <a:solidFill>
                            <a:srgbClr val="4B4B4B"/>
                          </a:solidFill>
                          <a:latin typeface="Arial"/>
                        </a:rPr>
                        <a:t>Requirements preparation</a:t>
                      </a:r>
                    </a:p>
                  </a:txBody>
                  <a:tcPr marL="54864" marR="54864" marT="27432" marB="27432">
                    <a:solidFill>
                      <a:srgbClr val="E5F5FF"/>
                    </a:solidFill>
                  </a:tcPr>
                </a:tc>
                <a:tc>
                  <a:txBody>
                    <a:bodyPr/>
                    <a:lstStyle/>
                    <a:p>
                      <a:r>
                        <a:rPr sz="850" b="0">
                          <a:solidFill>
                            <a:srgbClr val="4B4B4B"/>
                          </a:solidFill>
                          <a:latin typeface="Arial"/>
                        </a:rPr>
                        <a:t>Saves the rate scheme, computation basis and dates of the proposed terms</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Submit requirements for ManCom sign-off</a:t>
                      </a:r>
                    </a:p>
                  </a:txBody>
                  <a:tcPr marL="54864" marR="54864" marT="27432" marB="27432">
                    <a:solidFill>
                      <a:srgbClr val="FFFFFF"/>
                    </a:solidFill>
                  </a:tcPr>
                </a:tc>
                <a:tc>
                  <a:txBody>
                    <a:bodyPr/>
                    <a:lstStyle/>
                    <a:p>
                      <a:r>
                        <a:rPr sz="850" b="0">
                          <a:solidFill>
                            <a:srgbClr val="4B4B4B"/>
                          </a:solidFill>
                          <a:latin typeface="Arial"/>
                        </a:rPr>
                        <a:t>PKG_NEGOTIATE</a:t>
                      </a:r>
                    </a:p>
                  </a:txBody>
                  <a:tcPr marL="54864" marR="54864" marT="27432" marB="27432">
                    <a:solidFill>
                      <a:srgbClr val="FFFFFF"/>
                    </a:solidFill>
                  </a:tcPr>
                </a:tc>
                <a:tc>
                  <a:txBody>
                    <a:bodyPr/>
                    <a:lstStyle/>
                    <a:p>
                      <a:r>
                        <a:rPr sz="850" b="0">
                          <a:solidFill>
                            <a:srgbClr val="4B4B4B"/>
                          </a:solidFill>
                          <a:latin typeface="Arial"/>
                        </a:rPr>
                        <a:t>Requirements preparation; the pack is complete</a:t>
                      </a:r>
                    </a:p>
                  </a:txBody>
                  <a:tcPr marL="54864" marR="54864" marT="27432" marB="27432">
                    <a:solidFill>
                      <a:srgbClr val="FFFFFF"/>
                    </a:solidFill>
                  </a:tcPr>
                </a:tc>
                <a:tc>
                  <a:txBody>
                    <a:bodyPr/>
                    <a:lstStyle/>
                    <a:p>
                      <a:r>
                        <a:rPr sz="850" b="0">
                          <a:solidFill>
                            <a:srgbClr val="4B4B4B"/>
                          </a:solidFill>
                          <a:latin typeface="Arial"/>
                        </a:rPr>
                        <a:t>Sends the pack to ManCom</a:t>
                      </a:r>
                    </a:p>
                  </a:txBody>
                  <a:tcPr marL="54864" marR="54864" marT="27432" marB="27432">
                    <a:solidFill>
                      <a:srgbClr val="FFFFFF"/>
                    </a:solidFill>
                  </a:tcPr>
                </a:tc>
                <a:tc>
                  <a:txBody>
                    <a:bodyPr/>
                    <a:lstStyle/>
                    <a:p>
                      <a:r>
                        <a:rPr sz="850" b="0">
                          <a:solidFill>
                            <a:srgbClr val="4B4B4B"/>
                          </a:solidFill>
                          <a:latin typeface="Arial"/>
                        </a:rPr>
                        <a:t>For ManCom sign-off</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480057">
                <a:tc>
                  <a:txBody>
                    <a:bodyPr/>
                    <a:lstStyle/>
                    <a:p>
                      <a:r>
                        <a:rPr sz="850" b="0">
                          <a:solidFill>
                            <a:srgbClr val="4B4B4B"/>
                          </a:solidFill>
                          <a:latin typeface="Arial"/>
                        </a:rPr>
                        <a:t>Sign off and send to MBS</a:t>
                      </a:r>
                    </a:p>
                  </a:txBody>
                  <a:tcPr marL="54864" marR="54864" marT="27432" marB="27432">
                    <a:solidFill>
                      <a:srgbClr val="E5F5FF"/>
                    </a:solidFill>
                  </a:tcPr>
                </a:tc>
                <a:tc>
                  <a:txBody>
                    <a:bodyPr/>
                    <a:lstStyle/>
                    <a:p>
                      <a:r>
                        <a:rPr sz="850" b="0">
                          <a:solidFill>
                            <a:srgbClr val="4B4B4B"/>
                          </a:solidFill>
                          <a:latin typeface="Arial"/>
                        </a:rPr>
                        <a:t>ManCom (PKG_MANCOM_SIGNOFF), not the submitter of the requirements</a:t>
                      </a:r>
                    </a:p>
                  </a:txBody>
                  <a:tcPr marL="54864" marR="54864" marT="27432" marB="27432">
                    <a:solidFill>
                      <a:srgbClr val="E5F5FF"/>
                    </a:solidFill>
                  </a:tcPr>
                </a:tc>
                <a:tc>
                  <a:txBody>
                    <a:bodyPr/>
                    <a:lstStyle/>
                    <a:p>
                      <a:r>
                        <a:rPr sz="850" b="0">
                          <a:solidFill>
                            <a:srgbClr val="4B4B4B"/>
                          </a:solidFill>
                          <a:latin typeface="Arial"/>
                        </a:rPr>
                        <a:t>For ManCom sign-off</a:t>
                      </a:r>
                    </a:p>
                  </a:txBody>
                  <a:tcPr marL="54864" marR="54864" marT="27432" marB="27432">
                    <a:solidFill>
                      <a:srgbClr val="E5F5FF"/>
                    </a:solidFill>
                  </a:tcPr>
                </a:tc>
                <a:tc>
                  <a:txBody>
                    <a:bodyPr/>
                    <a:lstStyle/>
                    <a:p>
                      <a:r>
                        <a:rPr sz="850" b="0">
                          <a:solidFill>
                            <a:srgbClr val="4B4B4B"/>
                          </a:solidFill>
                          <a:latin typeface="Arial"/>
                        </a:rPr>
                        <a:t>Records the sign-off MC-&lt;request no.&gt;, locks the quotation slips and attaches the sign-off record (or links the uploaded ManCom sign-off sheet)</a:t>
                      </a:r>
                    </a:p>
                  </a:txBody>
                  <a:tcPr marL="54864" marR="54864" marT="27432" marB="27432">
                    <a:solidFill>
                      <a:srgbClr val="E5F5FF"/>
                    </a:solidFill>
                  </a:tcPr>
                </a:tc>
                <a:tc>
                  <a:txBody>
                    <a:bodyPr/>
                    <a:lstStyle/>
                    <a:p>
                      <a:r>
                        <a:rPr sz="850" b="0">
                          <a:solidFill>
                            <a:srgbClr val="4B4B4B"/>
                          </a:solidFill>
                          <a:latin typeface="Arial"/>
                        </a:rPr>
                        <a:t>With MBS for set-up</a:t>
                      </a:r>
                    </a:p>
                  </a:txBody>
                  <a:tcPr marL="54864" marR="54864" marT="27432" marB="27432">
                    <a:solidFill>
                      <a:srgbClr val="E5F5FF"/>
                    </a:solidFill>
                  </a:tcPr>
                </a:tc>
                <a:tc>
                  <a:txBody>
                    <a:bodyPr/>
                    <a:lstStyle/>
                    <a:p>
                      <a:r>
                        <a:rPr sz="850" b="0">
                          <a:solidFill>
                            <a:srgbClr val="4B4B4B"/>
                          </a:solidFill>
                          <a:latin typeface="Arial"/>
                        </a:rPr>
                        <a:t>Workflow notice</a:t>
                      </a:r>
                    </a:p>
                  </a:txBody>
                  <a:tcPr marL="54864" marR="54864" marT="27432" marB="27432">
                    <a:solidFill>
                      <a:srgbClr val="E5F5FF"/>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228</a:t>
            </a:r>
          </a:p>
        </p:txBody>
      </p:sp>
      <p:graphicFrame>
        <p:nvGraphicFramePr>
          <p:cNvPr id="9" name="Table 8"/>
          <p:cNvGraphicFramePr>
            <a:graphicFrameLocks noGrp="1"/>
          </p:cNvGraphicFramePr>
          <p:nvPr/>
        </p:nvGraphicFramePr>
        <p:xfrm>
          <a:off x="548640" y="1325880"/>
          <a:ext cx="11094415" cy="11277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requirements pack needs the effective date and package end date, a scheme rate or a rate for every insurer, the computation basis, at least one chosen insurer and the signed package slip attached as Package slip (signed) (FR-PM-040).</a:t>
                      </a:r>
                    </a:p>
                  </a:txBody>
                  <a:tcPr marL="54864" marR="54864" marT="27432" marB="27432">
                    <a:solidFill>
                      <a:srgbClr val="FFFFFF"/>
                    </a:solidFill>
                  </a:tcPr>
                </a:tc>
              </a:tr>
              <a:tr h="243840">
                <a:tc>
                  <a:txBody>
                    <a:bodyPr/>
                    <a:lstStyle/>
                    <a:p>
                      <a:r>
                        <a:rPr sz="1000" b="0">
                          <a:solidFill>
                            <a:srgbClr val="4B4B4B"/>
                          </a:solidFill>
                          <a:latin typeface="Arial"/>
                        </a:rPr>
                        <a:t>ManCom never signs off requirements it submitted; a single ManCom sign-off is recorded (FR-PM-041).</a:t>
                      </a:r>
                    </a:p>
                  </a:txBody>
                  <a:tcPr marL="54864" marR="54864" marT="27432" marB="27432">
                    <a:solidFill>
                      <a:srgbClr val="E5F5FF"/>
                    </a:solidFill>
                  </a:tcPr>
                </a:tc>
              </a:tr>
              <a:tr h="243840">
                <a:tc>
                  <a:txBody>
                    <a:bodyPr/>
                    <a:lstStyle/>
                    <a:p>
                      <a:r>
                        <a:rPr sz="1000" b="0">
                          <a:solidFill>
                            <a:srgbClr val="4B4B4B"/>
                          </a:solidFill>
                          <a:latin typeface="Arial"/>
                        </a:rPr>
                        <a:t>At the sign-off the quotation slips of every round are locked (FR-PM-041).</a:t>
                      </a:r>
                    </a:p>
                  </a:txBody>
                  <a:tcPr marL="54864" marR="54864" marT="27432" marB="27432">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229</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8</a:t>
                      </a:r>
                    </a:p>
                  </a:txBody>
                  <a:tcPr marL="54864" marR="54864" marT="27432" marB="27432">
                    <a:solidFill>
                      <a:srgbClr val="FFFFFF"/>
                    </a:solidFill>
                  </a:tcPr>
                </a:tc>
                <a:tc>
                  <a:txBody>
                    <a:bodyPr/>
                    <a:lstStyle/>
                    <a:p>
                      <a:r>
                        <a:rPr sz="900" b="0">
                          <a:solidFill>
                            <a:srgbClr val="4B4B4B"/>
                          </a:solidFill>
                          <a:latin typeface="Arial"/>
                        </a:rPr>
                        <a:t>Clicks Submit requirements for ManCom sign-off before uploading the signed package slip</a:t>
                      </a:r>
                    </a:p>
                  </a:txBody>
                  <a:tcPr marL="54864" marR="54864" marT="27432" marB="27432">
                    <a:solidFill>
                      <a:srgbClr val="FFFFFF"/>
                    </a:solidFill>
                  </a:tcPr>
                </a:tc>
                <a:tc>
                  <a:txBody>
                    <a:bodyPr/>
                    <a:lstStyle/>
                    <a:p>
                      <a:r>
                        <a:rPr sz="900" b="0">
                          <a:solidFill>
                            <a:srgbClr val="4B4B4B"/>
                          </a:solidFill>
                          <a:latin typeface="Arial"/>
                        </a:rPr>
                        <a:t>SCR-PM-07_wt-b-step-08.png</a:t>
                      </a:r>
                    </a:p>
                  </a:txBody>
                  <a:tcPr marL="54864" marR="54864" marT="27432" marB="27432">
                    <a:solidFill>
                      <a:srgbClr val="FFFFFF"/>
                    </a:solidFill>
                  </a:tcPr>
                </a:tc>
              </a:tr>
              <a:tr h="50292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13</a:t>
                      </a:r>
                    </a:p>
                  </a:txBody>
                  <a:tcPr marL="54864" marR="54864" marT="27432" marB="27432">
                    <a:solidFill>
                      <a:srgbClr val="E5F5FF"/>
                    </a:solidFill>
                  </a:tcPr>
                </a:tc>
                <a:tc>
                  <a:txBody>
                    <a:bodyPr/>
                    <a:lstStyle/>
                    <a:p>
                      <a:r>
                        <a:rPr sz="900" b="0">
                          <a:solidFill>
                            <a:srgbClr val="4B4B4B"/>
                          </a:solidFill>
                          <a:latin typeface="Arial"/>
                        </a:rPr>
                        <a:t>Enters the computation basis, clicks Save Requirements, downloads the Package Slip, uploads the signed slip on the Documents tab as Package slip (signed), and clicks Submit requirements for ManCom sign-off</a:t>
                      </a:r>
                    </a:p>
                  </a:txBody>
                  <a:tcPr marL="54864" marR="54864" marT="27432" marB="27432">
                    <a:solidFill>
                      <a:srgbClr val="E5F5FF"/>
                    </a:solidFill>
                  </a:tcPr>
                </a:tc>
                <a:tc>
                  <a:txBody>
                    <a:bodyPr/>
                    <a:lstStyle/>
                    <a:p>
                      <a:r>
                        <a:rPr sz="900" b="0">
                          <a:solidFill>
                            <a:srgbClr val="4B4B4B"/>
                          </a:solidFill>
                          <a:latin typeface="Arial"/>
                        </a:rPr>
                        <a:t>SCR-PM-07_wt-a-step-13.png</a:t>
                      </a:r>
                    </a:p>
                  </a:txBody>
                  <a:tcPr marL="54864" marR="54864" marT="27432" marB="27432">
                    <a:solidFill>
                      <a:srgbClr val="E5F5FF"/>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14</a:t>
                      </a:r>
                    </a:p>
                  </a:txBody>
                  <a:tcPr marL="54864" marR="54864" marT="27432" marB="27432">
                    <a:solidFill>
                      <a:srgbClr val="FFFFFF"/>
                    </a:solidFill>
                  </a:tcPr>
                </a:tc>
                <a:tc>
                  <a:txBody>
                    <a:bodyPr/>
                    <a:lstStyle/>
                    <a:p>
                      <a:r>
                        <a:rPr sz="900" b="0">
                          <a:solidFill>
                            <a:srgbClr val="4B4B4B"/>
                          </a:solidFill>
                          <a:latin typeface="Arial"/>
                        </a:rPr>
                        <a:t>Reviews the proposed terms and clicks Sign off and send to MBS</a:t>
                      </a:r>
                    </a:p>
                  </a:txBody>
                  <a:tcPr marL="54864" marR="54864" marT="27432" marB="27432">
                    <a:solidFill>
                      <a:srgbClr val="FFFFFF"/>
                    </a:solidFill>
                  </a:tcPr>
                </a:tc>
                <a:tc>
                  <a:txBody>
                    <a:bodyPr/>
                    <a:lstStyle/>
                    <a:p>
                      <a:r>
                        <a:rPr sz="900" b="0">
                          <a:solidFill>
                            <a:srgbClr val="4B4B4B"/>
                          </a:solidFill>
                          <a:latin typeface="Arial"/>
                        </a:rPr>
                        <a:t>SCR-PM-07_wt-a-step-14.png</a:t>
                      </a:r>
                    </a:p>
                  </a:txBody>
                  <a:tcPr marL="54864" marR="54864" marT="27432" marB="27432">
                    <a:solidFill>
                      <a:srgbClr val="FFFFFF"/>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Default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7.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1 of 4)</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Default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2 of 4)</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Default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4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3 of 4)</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Default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0.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Requirements &amp; Sign-off tab during the requirements preparation (part 4 of 4)</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Pending approval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234</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1 of 4)</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Pending approval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235</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2.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2 of 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Pending approval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3 of 4)</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SCR-PM-07 Package Request record: Requirements &amp; Sign-off tab: Pending approval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54.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ManCom view before the sign-off (part 4 of 4)</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238</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MBS turns the signed-off terms into a draft catalog version (Set up package version), completes it in the version editor and submits it for validation; the request is released when the version is validated. On release (or retirement) BIBS drafts the advisory, which TSU edits and sends to the recipient groups once the signed package slip and the ManCom sign-off are attached.</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Requests › Package Request</a:t>
                      </a:r>
                    </a:p>
                    <a:p>
                      <a:r>
                        <a:rPr sz="950" b="0">
                          <a:solidFill>
                            <a:srgbClr val="4B4B4B"/>
                          </a:solidFill>
                          <a:latin typeface="Arial"/>
                        </a:rPr>
                        <a:t>Package Request record › Set-up tab, Advisories tab</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13.1.8</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FR-PM-042, FR-PM-043, FR-PM-044, FR-PM-045</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signed-off terms reach the catalog without re-keying, and every unit is told, with the documents, that the package is available, changed or retired.</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(6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bl>
          </a:graphicData>
        </a:graphic>
      </p:graphicFrame>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239</a:t>
            </a:r>
          </a:p>
        </p:txBody>
      </p:sp>
      <p:graphicFrame>
        <p:nvGraphicFramePr>
          <p:cNvPr id="9" name="Table 8"/>
          <p:cNvGraphicFramePr>
            <a:graphicFrameLocks noGrp="1"/>
          </p:cNvGraphicFramePr>
          <p:nvPr/>
        </p:nvGraphicFramePr>
        <p:xfrm>
          <a:off x="548640" y="1325880"/>
          <a:ext cx="11094411" cy="355852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Risk code of the new package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 capitals or digits; the naming convention of the line when set</a:t>
                      </a:r>
                    </a:p>
                  </a:txBody>
                  <a:tcPr marL="54864" marR="54864" marT="27432" marB="27432">
                    <a:solidFill>
                      <a:srgbClr val="FFFFFF"/>
                    </a:solidFill>
                  </a:tcPr>
                </a:tc>
                <a:tc>
                  <a:txBody>
                    <a:bodyPr/>
                    <a:lstStyle/>
                    <a:p>
                      <a:r>
                        <a:rPr sz="850" b="0">
                          <a:solidFill>
                            <a:srgbClr val="4B4B4B"/>
                          </a:solidFill>
                          <a:latin typeface="Arial"/>
                        </a:rPr>
                        <a:t>Cond.: New package</a:t>
                      </a:r>
                    </a:p>
                  </a:txBody>
                  <a:tcPr marL="54864" marR="54864" marT="27432" marB="27432">
                    <a:solidFill>
                      <a:srgbClr val="FFFFFF"/>
                    </a:solidFill>
                  </a:tcPr>
                </a:tc>
                <a:tc>
                  <a:txBody>
                    <a:bodyPr/>
                    <a:lstStyle/>
                    <a:p>
                      <a:r>
                        <a:rPr sz="850" b="0">
                          <a:solidFill>
                            <a:srgbClr val="4B4B4B"/>
                          </a:solidFill>
                          <a:latin typeface="Arial"/>
                        </a:rPr>
                        <a:t>Not blank; not an existing product</a:t>
                      </a:r>
                    </a:p>
                  </a:txBody>
                  <a:tcPr marL="54864" marR="54864" marT="27432" marB="27432">
                    <a:solidFill>
                      <a:srgbClr val="FFFFFF"/>
                    </a:solidFill>
                  </a:tcPr>
                </a:tc>
                <a:tc>
                  <a:txBody>
                    <a:bodyPr/>
                    <a:lstStyle/>
                    <a:p>
                      <a:r>
                        <a:rPr sz="850" b="0">
                          <a:solidFill>
                            <a:srgbClr val="4B4B4B"/>
                          </a:solidFill>
                          <a:latin typeface="Arial"/>
                        </a:rPr>
                        <a:t>Enter the risk code of the new package</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Product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Set Up Package Version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Set-up › Catalog version</a:t>
                      </a:r>
                    </a:p>
                  </a:txBody>
                  <a:tcPr marL="54864" marR="54864" marT="27432" marB="27432">
                    <a:solidFill>
                      <a:srgbClr val="FFFFFF"/>
                    </a:solidFill>
                  </a:tcPr>
                </a:tc>
                <a:tc>
                  <a:txBody>
                    <a:bodyPr/>
                    <a:lstStyle/>
                    <a:p>
                      <a:r>
                        <a:rPr sz="850" b="0">
                          <a:solidFill>
                            <a:srgbClr val="4B4B4B"/>
                          </a:solidFill>
                          <a:latin typeface="Arial"/>
                        </a:rPr>
                        <a:t>Product / Version / Request stage</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Risk code, version number, stage pill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MBS sets the package up after the ManCom sign-off</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Advisories</a:t>
                      </a:r>
                    </a:p>
                  </a:txBody>
                  <a:tcPr marL="54864" marR="54864" marT="27432" marB="27432">
                    <a:solidFill>
                      <a:srgbClr val="E5F5FF"/>
                    </a:solidFill>
                  </a:tcPr>
                </a:tc>
                <a:tc>
                  <a:txBody>
                    <a:bodyPr/>
                    <a:lstStyle/>
                    <a:p>
                      <a:r>
                        <a:rPr sz="850" b="0">
                          <a:solidFill>
                            <a:srgbClr val="4B4B4B"/>
                          </a:solidFill>
                          <a:latin typeface="Arial"/>
                        </a:rPr>
                        <a:t>Advisory card</a:t>
                      </a:r>
                    </a:p>
                  </a:txBody>
                  <a:tcPr marL="54864" marR="54864" marT="27432" marB="27432">
                    <a:solidFill>
                      <a:srgbClr val="E5F5FF"/>
                    </a:solidFill>
                  </a:tcPr>
                </a:tc>
                <a:tc>
                  <a:txBody>
                    <a:bodyPr/>
                    <a:lstStyle/>
                    <a:p>
                      <a:r>
                        <a:rPr sz="850" b="0">
                          <a:solidFill>
                            <a:srgbClr val="4B4B4B"/>
                          </a:solidFill>
                          <a:latin typeface="Arial"/>
                        </a:rPr>
                        <a:t>Card</a:t>
                      </a:r>
                    </a:p>
                  </a:txBody>
                  <a:tcPr marL="54864" marR="54864" marT="27432" marB="27432">
                    <a:solidFill>
                      <a:srgbClr val="E5F5FF"/>
                    </a:solidFill>
                  </a:tcPr>
                </a:tc>
                <a:tc>
                  <a:txBody>
                    <a:bodyPr/>
                    <a:lstStyle/>
                    <a:p>
                      <a:r>
                        <a:rPr sz="850" b="0">
                          <a:solidFill>
                            <a:srgbClr val="4B4B4B"/>
                          </a:solidFill>
                          <a:latin typeface="Arial"/>
                        </a:rPr>
                        <a:t>Subject, status pill, type · recipient groups, sent date and user, text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An advisory is drafted when the package is released or retired</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Advisories</a:t>
                      </a:r>
                    </a:p>
                  </a:txBody>
                  <a:tcPr marL="54864" marR="54864" marT="27432" marB="27432">
                    <a:solidFill>
                      <a:srgbClr val="FFFFFF"/>
                    </a:solidFill>
                  </a:tcPr>
                </a:tc>
                <a:tc>
                  <a:txBody>
                    <a:bodyPr/>
                    <a:lstStyle/>
                    <a:p>
                      <a:r>
                        <a:rPr sz="850" b="0">
                          <a:solidFill>
                            <a:srgbClr val="4B4B4B"/>
                          </a:solidFill>
                          <a:latin typeface="Arial"/>
                        </a:rPr>
                        <a:t>Supporting documents checklist</a:t>
                      </a:r>
                    </a:p>
                  </a:txBody>
                  <a:tcPr marL="54864" marR="54864" marT="27432" marB="27432">
                    <a:solidFill>
                      <a:srgbClr val="FFFFFF"/>
                    </a:solidFill>
                  </a:tcPr>
                </a:tc>
                <a:tc>
                  <a:txBody>
                    <a:bodyPr/>
                    <a:lstStyle/>
                    <a:p>
                      <a:r>
                        <a:rPr sz="850" b="0">
                          <a:solidFill>
                            <a:srgbClr val="4B4B4B"/>
                          </a:solidFill>
                          <a:latin typeface="Arial"/>
                        </a:rPr>
                        <a:t>Checklist</a:t>
                      </a:r>
                    </a:p>
                  </a:txBody>
                  <a:tcPr marL="54864" marR="54864" marT="27432" marB="27432">
                    <a:solidFill>
                      <a:srgbClr val="FFFFFF"/>
                    </a:solidFill>
                  </a:tcPr>
                </a:tc>
                <a:tc>
                  <a:txBody>
                    <a:bodyPr/>
                    <a:lstStyle/>
                    <a:p>
                      <a:r>
                        <a:rPr sz="850" b="0">
                          <a:solidFill>
                            <a:srgbClr val="4B4B4B"/>
                          </a:solidFill>
                          <a:latin typeface="Arial"/>
                        </a:rPr>
                        <a:t>Package slip (signed) and ManCom sign-off (retirement: ManCom sign-off only), each Attached or Missing</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Both documents attached before sending</a:t>
                      </a:r>
                    </a:p>
                  </a:txBody>
                  <a:tcPr marL="54864" marR="54864" marT="27432" marB="27432">
                    <a:solidFill>
                      <a:srgbClr val="FFFFFF"/>
                    </a:solidFill>
                  </a:tcPr>
                </a:tc>
                <a:tc>
                  <a:txBody>
                    <a:bodyPr/>
                    <a:lstStyle/>
                    <a:p>
                      <a:r>
                        <a:rPr sz="850" b="0">
                          <a:solidFill>
                            <a:srgbClr val="4B4B4B"/>
                          </a:solidFill>
                          <a:latin typeface="Arial"/>
                        </a:rPr>
                        <a:t>The advisory cannot be sent until the supporting documents are attached (Documents tab).</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Recipient groups</a:t>
                      </a:r>
                    </a:p>
                  </a:txBody>
                  <a:tcPr marL="54864" marR="54864" marT="27432" marB="27432">
                    <a:solidFill>
                      <a:srgbClr val="E5F5FF"/>
                    </a:solidFill>
                  </a:tcPr>
                </a:tc>
                <a:tc>
                  <a:txBody>
                    <a:bodyPr/>
                    <a:lstStyle/>
                    <a:p>
                      <a:r>
                        <a:rPr sz="850" b="0">
                          <a:solidFill>
                            <a:srgbClr val="4B4B4B"/>
                          </a:solidFill>
                          <a:latin typeface="Arial"/>
                        </a:rPr>
                        <a:t>Check boxes</a:t>
                      </a:r>
                    </a:p>
                  </a:txBody>
                  <a:tcPr marL="54864" marR="54864" marT="27432" marB="27432">
                    <a:solidFill>
                      <a:srgbClr val="E5F5FF"/>
                    </a:solidFill>
                  </a:tcPr>
                </a:tc>
                <a:tc>
                  <a:txBody>
                    <a:bodyPr/>
                    <a:lstStyle/>
                    <a:p>
                      <a:r>
                        <a:rPr sz="850" b="0">
                          <a:solidFill>
                            <a:srgbClr val="4B4B4B"/>
                          </a:solidFill>
                          <a:latin typeface="Arial"/>
                        </a:rPr>
                        <a:t>Marketing, TSU, MBS, Processing, Operations</a:t>
                      </a:r>
                    </a:p>
                  </a:txBody>
                  <a:tcPr marL="54864" marR="54864" marT="27432" marB="27432">
                    <a:solidFill>
                      <a:srgbClr val="E5F5FF"/>
                    </a:solidFill>
                  </a:tcPr>
                </a:tc>
                <a:tc>
                  <a:txBody>
                    <a:bodyPr/>
                    <a:lstStyle/>
                    <a:p>
                      <a:r>
                        <a:rPr sz="850" b="0">
                          <a:solidFill>
                            <a:srgbClr val="4B4B4B"/>
                          </a:solidFill>
                          <a:latin typeface="Arial"/>
                        </a:rPr>
                        <a:t>Y (at least one)</a:t>
                      </a:r>
                    </a:p>
                  </a:txBody>
                  <a:tcPr marL="54864" marR="54864" marT="27432" marB="27432">
                    <a:solidFill>
                      <a:srgbClr val="E5F5FF"/>
                    </a:solidFill>
                  </a:tcPr>
                </a:tc>
                <a:tc>
                  <a:txBody>
                    <a:bodyPr/>
                    <a:lstStyle/>
                    <a:p>
                      <a:r>
                        <a:rPr sz="850" b="0">
                          <a:solidFill>
                            <a:srgbClr val="4B4B4B"/>
                          </a:solidFill>
                          <a:latin typeface="Arial"/>
                        </a:rPr>
                        <a:t>Active values of the list</a:t>
                      </a:r>
                    </a:p>
                  </a:txBody>
                  <a:tcPr marL="54864" marR="54864" marT="27432" marB="27432">
                    <a:solidFill>
                      <a:srgbClr val="E5F5FF"/>
                    </a:solidFill>
                  </a:tcPr>
                </a:tc>
                <a:tc>
                  <a:txBody>
                    <a:bodyPr/>
                    <a:lstStyle/>
                    <a:p>
                      <a:r>
                        <a:rPr sz="850" b="0">
                          <a:solidFill>
                            <a:srgbClr val="4B4B4B"/>
                          </a:solidFill>
                          <a:latin typeface="Arial"/>
                        </a:rPr>
                        <a:t>Select at least one recipient group</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E-mail to (optional)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Comma-separated addresses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Edit Advisory</a:t>
                      </a:r>
                    </a:p>
                  </a:txBody>
                  <a:tcPr marL="54864" marR="54864" marT="27432" marB="27432">
                    <a:solidFill>
                      <a:srgbClr val="E5F5FF"/>
                    </a:solidFill>
                  </a:tcPr>
                </a:tc>
                <a:tc>
                  <a:txBody>
                    <a:bodyPr/>
                    <a:lstStyle/>
                    <a:p>
                      <a:r>
                        <a:rPr sz="850" b="0">
                          <a:solidFill>
                            <a:srgbClr val="4B4B4B"/>
                          </a:solidFill>
                          <a:latin typeface="Arial"/>
                        </a:rPr>
                        <a:t>Subject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Up to 200 characters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subject and the text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Edit Advisory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8,000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subject and the text</a:t>
                      </a:r>
                    </a:p>
                  </a:txBody>
                  <a:tcPr marL="54864" marR="54864" marT="27432" marB="27432">
                    <a:solidFill>
                      <a:srgbClr val="FFFFFF"/>
                    </a:solidFill>
                  </a:tcPr>
                </a:tc>
              </a:tr>
            </a:tbl>
          </a:graphicData>
        </a:graphic>
      </p:graphicFrame>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240</a:t>
            </a:r>
          </a:p>
        </p:txBody>
      </p:sp>
      <p:graphicFrame>
        <p:nvGraphicFramePr>
          <p:cNvPr id="9" name="Table 8"/>
          <p:cNvGraphicFramePr>
            <a:graphicFrameLocks noGrp="1"/>
          </p:cNvGraphicFramePr>
          <p:nvPr/>
        </p:nvGraphicFramePr>
        <p:xfrm>
          <a:off x="548640" y="1325880"/>
          <a:ext cx="11094412" cy="1623051"/>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480057">
                <a:tc>
                  <a:txBody>
                    <a:bodyPr/>
                    <a:lstStyle/>
                    <a:p>
                      <a:r>
                        <a:rPr sz="850" b="0">
                          <a:solidFill>
                            <a:srgbClr val="4B4B4B"/>
                          </a:solidFill>
                          <a:latin typeface="Arial"/>
                        </a:rPr>
                        <a:t>Set up package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With MBS for set-up; not a Retire request</a:t>
                      </a:r>
                    </a:p>
                  </a:txBody>
                  <a:tcPr marL="54864" marR="54864" marT="27432" marB="27432">
                    <a:solidFill>
                      <a:srgbClr val="FFFFFF"/>
                    </a:solidFill>
                  </a:tcPr>
                </a:tc>
                <a:tc>
                  <a:txBody>
                    <a:bodyPr/>
                    <a:lstStyle/>
                    <a:p>
                      <a:r>
                        <a:rPr sz="850" b="0">
                          <a:solidFill>
                            <a:srgbClr val="4B4B4B"/>
                          </a:solidFill>
                          <a:latin typeface="Arial"/>
                        </a:rPr>
                        <a:t>Opens Set Up Package Version; Set Up Version creates the draft catalog version from the signed-off terms (a new package also creates its product, pending authorisation)</a:t>
                      </a:r>
                    </a:p>
                  </a:txBody>
                  <a:tcPr marL="54864" marR="54864" marT="27432" marB="27432">
                    <a:solidFill>
                      <a:srgbClr val="FFFFFF"/>
                    </a:solidFill>
                  </a:tcPr>
                </a:tc>
                <a:tc>
                  <a:txBody>
                    <a:bodyPr/>
                    <a:lstStyle/>
                    <a:p>
                      <a:r>
                        <a:rPr sz="850" b="0">
                          <a:solidFill>
                            <a:srgbClr val="4B4B4B"/>
                          </a:solidFill>
                          <a:latin typeface="Arial"/>
                        </a:rPr>
                        <a:t>Package version for validation</a:t>
                      </a:r>
                    </a:p>
                  </a:txBody>
                  <a:tcPr marL="54864" marR="54864" marT="27432" marB="27432">
                    <a:solidFill>
                      <a:srgbClr val="FFFFFF"/>
                    </a:solidFill>
                  </a:tcPr>
                </a:tc>
                <a:tc>
                  <a:txBody>
                    <a:bodyPr/>
                    <a:lstStyle/>
                    <a:p>
                      <a:r>
                        <a:rPr sz="850" b="0">
                          <a:solidFill>
                            <a:srgbClr val="4B4B4B"/>
                          </a:solidFill>
                          <a:latin typeface="Arial"/>
                        </a:rPr>
                        <a:t>Workflow notice</a:t>
                      </a:r>
                    </a:p>
                  </a:txBody>
                  <a:tcPr marL="54864" marR="54864" marT="27432" marB="27432">
                    <a:solidFill>
                      <a:srgbClr val="FFFFFF"/>
                    </a:solidFill>
                  </a:tcPr>
                </a:tc>
              </a:tr>
              <a:tr h="220979">
                <a:tc>
                  <a:txBody>
                    <a:bodyPr/>
                    <a:lstStyle/>
                    <a:p>
                      <a:r>
                        <a:rPr sz="850" b="0">
                          <a:solidFill>
                            <a:srgbClr val="4B4B4B"/>
                          </a:solidFill>
                          <a:latin typeface="Arial"/>
                        </a:rPr>
                        <a:t>Open Version Editor</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 version was set up</a:t>
                      </a:r>
                    </a:p>
                  </a:txBody>
                  <a:tcPr marL="54864" marR="54864" marT="27432" marB="27432">
                    <a:solidFill>
                      <a:srgbClr val="E5F5FF"/>
                    </a:solidFill>
                  </a:tcPr>
                </a:tc>
                <a:tc>
                  <a:txBody>
                    <a:bodyPr/>
                    <a:lstStyle/>
                    <a:p>
                      <a:r>
                        <a:rPr sz="850" b="0">
                          <a:solidFill>
                            <a:srgbClr val="4B4B4B"/>
                          </a:solidFill>
                          <a:latin typeface="Arial"/>
                        </a:rPr>
                        <a:t>Opens the Package Version (SCR-PM-13)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TSU (PKG_ADVISORY)</a:t>
                      </a:r>
                    </a:p>
                  </a:txBody>
                  <a:tcPr marL="54864" marR="54864" marT="27432" marB="27432">
                    <a:solidFill>
                      <a:srgbClr val="FFFFFF"/>
                    </a:solidFill>
                  </a:tcPr>
                </a:tc>
                <a:tc>
                  <a:txBody>
                    <a:bodyPr/>
                    <a:lstStyle/>
                    <a:p>
                      <a:r>
                        <a:rPr sz="850" b="0">
                          <a:solidFill>
                            <a:srgbClr val="4B4B4B"/>
                          </a:solidFill>
                          <a:latin typeface="Arial"/>
                        </a:rPr>
                        <a:t>Draft advisory</a:t>
                      </a:r>
                    </a:p>
                  </a:txBody>
                  <a:tcPr marL="54864" marR="54864" marT="27432" marB="27432">
                    <a:solidFill>
                      <a:srgbClr val="FFFFFF"/>
                    </a:solidFill>
                  </a:tcPr>
                </a:tc>
                <a:tc>
                  <a:txBody>
                    <a:bodyPr/>
                    <a:lstStyle/>
                    <a:p>
                      <a:r>
                        <a:rPr sz="850" b="0">
                          <a:solidFill>
                            <a:srgbClr val="4B4B4B"/>
                          </a:solidFill>
                          <a:latin typeface="Arial"/>
                        </a:rPr>
                        <a:t>Opens Edit Advisory; Save keeps the changes</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Send Advisory</a:t>
                      </a:r>
                    </a:p>
                  </a:txBody>
                  <a:tcPr marL="54864" marR="54864" marT="27432" marB="27432">
                    <a:solidFill>
                      <a:srgbClr val="E5F5FF"/>
                    </a:solidFill>
                  </a:tcPr>
                </a:tc>
                <a:tc>
                  <a:txBody>
                    <a:bodyPr/>
                    <a:lstStyle/>
                    <a:p>
                      <a:r>
                        <a:rPr sz="850" b="0">
                          <a:solidFill>
                            <a:srgbClr val="4B4B4B"/>
                          </a:solidFill>
                          <a:latin typeface="Arial"/>
                        </a:rPr>
                        <a:t>TSU (PKG_ADVISORY)</a:t>
                      </a:r>
                    </a:p>
                  </a:txBody>
                  <a:tcPr marL="54864" marR="54864" marT="27432" marB="27432">
                    <a:solidFill>
                      <a:srgbClr val="E5F5FF"/>
                    </a:solidFill>
                  </a:tcPr>
                </a:tc>
                <a:tc>
                  <a:txBody>
                    <a:bodyPr/>
                    <a:lstStyle/>
                    <a:p>
                      <a:r>
                        <a:rPr sz="850" b="0">
                          <a:solidFill>
                            <a:srgbClr val="4B4B4B"/>
                          </a:solidFill>
                          <a:latin typeface="Arial"/>
                        </a:rPr>
                        <a:t>Draft advisory; the supporting documents are attached</a:t>
                      </a:r>
                    </a:p>
                  </a:txBody>
                  <a:tcPr marL="54864" marR="54864" marT="27432" marB="27432">
                    <a:solidFill>
                      <a:srgbClr val="E5F5FF"/>
                    </a:solidFill>
                  </a:tcPr>
                </a:tc>
                <a:tc>
                  <a:txBody>
                    <a:bodyPr/>
                    <a:lstStyle/>
                    <a:p>
                      <a:r>
                        <a:rPr sz="850" b="0">
                          <a:solidFill>
                            <a:srgbClr val="4B4B4B"/>
                          </a:solidFill>
                          <a:latin typeface="Arial"/>
                        </a:rPr>
                        <a:t>Stores the advisory PDF on the request, notifies the users of each recipient group in the app and, when addresses are given, e-mails the protected PDF</a:t>
                      </a:r>
                    </a:p>
                  </a:txBody>
                  <a:tcPr marL="54864" marR="54864" marT="27432" marB="27432">
                    <a:solidFill>
                      <a:srgbClr val="E5F5FF"/>
                    </a:solidFill>
                  </a:tcPr>
                </a:tc>
                <a:tc>
                  <a:txBody>
                    <a:bodyPr/>
                    <a:lstStyle/>
                    <a:p>
                      <a:r>
                        <a:rPr sz="850" b="0">
                          <a:solidFill>
                            <a:srgbClr val="4B4B4B"/>
                          </a:solidFill>
                          <a:latin typeface="Arial"/>
                        </a:rPr>
                        <a:t>Sent</a:t>
                      </a:r>
                    </a:p>
                  </a:txBody>
                  <a:tcPr marL="54864" marR="54864" marT="27432" marB="27432">
                    <a:solidFill>
                      <a:srgbClr val="E5F5FF"/>
                    </a:solidFill>
                  </a:tcPr>
                </a:tc>
                <a:tc>
                  <a:txBody>
                    <a:bodyPr/>
                    <a:lstStyle/>
                    <a:p>
                      <a:r>
                        <a:rPr sz="850" b="0">
                          <a:solidFill>
                            <a:srgbClr val="4B4B4B"/>
                          </a:solidFill>
                          <a:latin typeface="Arial"/>
                        </a:rPr>
                        <a:t>Advisory notice (NT-03); advisory e-mail (NT-06)</a:t>
                      </a:r>
                    </a:p>
                  </a:txBody>
                  <a:tcPr marL="54864" marR="54864" marT="27432" marB="27432">
                    <a:solidFill>
                      <a:srgbClr val="E5F5FF"/>
                    </a:solidFill>
                  </a:tcPr>
                </a:tc>
              </a:tr>
            </a:tbl>
          </a:graphicData>
        </a:graphic>
      </p:graphicFrame>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241</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set-up creates a draft version; a product can have only one version being set up at a time (FR-PM-042).</a:t>
                      </a:r>
                    </a:p>
                  </a:txBody>
                  <a:tcPr marL="54864" marR="54864" marT="27432" marB="27432">
                    <a:solidFill>
                      <a:srgbClr val="FFFFFF"/>
                    </a:solidFill>
                  </a:tcPr>
                </a:tc>
              </a:tr>
              <a:tr h="243840">
                <a:tc>
                  <a:txBody>
                    <a:bodyPr/>
                    <a:lstStyle/>
                    <a:p>
                      <a:r>
                        <a:rPr sz="1000" b="0">
                          <a:solidFill>
                            <a:srgbClr val="4B4B4B"/>
                          </a:solidFill>
                          <a:latin typeface="Arial"/>
                        </a:rPr>
                        <a:t>A new package needs its risk code; the product is authorised when its first version is validated (FR-PM-042, FR-PM-043).</a:t>
                      </a:r>
                    </a:p>
                  </a:txBody>
                  <a:tcPr marL="54864" marR="54864" marT="27432" marB="27432">
                    <a:solidFill>
                      <a:srgbClr val="E5F5FF"/>
                    </a:solidFill>
                  </a:tcPr>
                </a:tc>
              </a:tr>
              <a:tr h="243840">
                <a:tc>
                  <a:txBody>
                    <a:bodyPr/>
                    <a:lstStyle/>
                    <a:p>
                      <a:r>
                        <a:rPr sz="1000" b="0">
                          <a:solidFill>
                            <a:srgbClr val="4B4B4B"/>
                          </a:solidFill>
                          <a:latin typeface="Arial"/>
                        </a:rPr>
                        <a:t>The request is released automatically when its version is validated, and returns to MBS when the validator returns the version (FR-PM-043).</a:t>
                      </a:r>
                    </a:p>
                  </a:txBody>
                  <a:tcPr marL="54864" marR="54864" marT="27432" marB="27432">
                    <a:solidFill>
                      <a:srgbClr val="FFFFFF"/>
                    </a:solidFill>
                  </a:tcPr>
                </a:tc>
              </a:tr>
              <a:tr h="243840">
                <a:tc>
                  <a:txBody>
                    <a:bodyPr/>
                    <a:lstStyle/>
                    <a:p>
                      <a:r>
                        <a:rPr sz="1000" b="0">
                          <a:solidFill>
                            <a:srgbClr val="4B4B4B"/>
                          </a:solidFill>
                          <a:latin typeface="Arial"/>
                        </a:rPr>
                        <a:t>An advisory is sent only with the signed package slip and the ManCom sign-off attached; a retirement advisory needs the ManCom sign-off only (FR-PM-044).</a:t>
                      </a:r>
                    </a:p>
                  </a:txBody>
                  <a:tcPr marL="54864" marR="54864" marT="27432" marB="27432">
                    <a:solidFill>
                      <a:srgbClr val="E5F5FF"/>
                    </a:solidFill>
                  </a:tcPr>
                </a:tc>
              </a:tr>
              <a:tr h="243840">
                <a:tc>
                  <a:txBody>
                    <a:bodyPr/>
                    <a:lstStyle/>
                    <a:p>
                      <a:r>
                        <a:rPr sz="1000" b="0">
                          <a:solidFill>
                            <a:srgbClr val="4B4B4B"/>
                          </a:solidFill>
                          <a:latin typeface="Arial"/>
                        </a:rPr>
                        <a:t>Recipient groups are notified in the app: Marketing, TSU, MBS, Processing and Operations users by their permissions; e-mail addresses are optional (FR-PM-044).</a:t>
                      </a:r>
                    </a:p>
                  </a:txBody>
                  <a:tcPr marL="54864" marR="54864" marT="27432" marB="27432">
                    <a:solidFill>
                      <a:srgbClr val="FFFFFF"/>
                    </a:solidFill>
                  </a:tcPr>
                </a:tc>
              </a:tr>
            </a:tbl>
          </a:graphicData>
        </a:graphic>
      </p:graphicFrame>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242</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15</a:t>
                      </a:r>
                    </a:p>
                  </a:txBody>
                  <a:tcPr marL="54864" marR="54864" marT="27432" marB="27432">
                    <a:solidFill>
                      <a:srgbClr val="FFFFFF"/>
                    </a:solidFill>
                  </a:tcPr>
                </a:tc>
                <a:tc>
                  <a:txBody>
                    <a:bodyPr/>
                    <a:lstStyle/>
                    <a:p>
                      <a:r>
                        <a:rPr sz="900" b="0">
                          <a:solidFill>
                            <a:srgbClr val="4B4B4B"/>
                          </a:solidFill>
                          <a:latin typeface="Arial"/>
                        </a:rPr>
                        <a:t>Clicks Set up package version, enters the risk code MTR30 and the product name, and clicks Set Up Version</a:t>
                      </a:r>
                    </a:p>
                  </a:txBody>
                  <a:tcPr marL="54864" marR="54864" marT="27432" marB="27432">
                    <a:solidFill>
                      <a:srgbClr val="FFFFFF"/>
                    </a:solidFill>
                  </a:tcPr>
                </a:tc>
                <a:tc>
                  <a:txBody>
                    <a:bodyPr/>
                    <a:lstStyle/>
                    <a:p>
                      <a:r>
                        <a:rPr sz="900" b="0">
                          <a:solidFill>
                            <a:srgbClr val="4B4B4B"/>
                          </a:solidFill>
                          <a:latin typeface="Arial"/>
                        </a:rPr>
                        <a:t>SCR-PM-08_wt-a-step-15.png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20</a:t>
                      </a:r>
                    </a:p>
                  </a:txBody>
                  <a:tcPr marL="54864" marR="54864" marT="27432" marB="27432">
                    <a:solidFill>
                      <a:srgbClr val="E5F5FF"/>
                    </a:solidFill>
                  </a:tcPr>
                </a:tc>
                <a:tc>
                  <a:txBody>
                    <a:bodyPr/>
                    <a:lstStyle/>
                    <a:p>
                      <a:r>
                        <a:rPr sz="900" b="0">
                          <a:solidFill>
                            <a:srgbClr val="4B4B4B"/>
                          </a:solidFill>
                          <a:latin typeface="Arial"/>
                        </a:rPr>
                        <a:t>Opens the Advisories tab of the released request, checks that both supporting documents are Attached and clicks Send Advisory</a:t>
                      </a:r>
                    </a:p>
                  </a:txBody>
                  <a:tcPr marL="54864" marR="54864" marT="27432" marB="27432">
                    <a:solidFill>
                      <a:srgbClr val="E5F5FF"/>
                    </a:solidFill>
                  </a:tcPr>
                </a:tc>
                <a:tc>
                  <a:txBody>
                    <a:bodyPr/>
                    <a:lstStyle/>
                    <a:p>
                      <a:r>
                        <a:rPr sz="900" b="0">
                          <a:solidFill>
                            <a:srgbClr val="4B4B4B"/>
                          </a:solidFill>
                          <a:latin typeface="Arial"/>
                        </a:rPr>
                        <a:t>SCR-PM-08_wt-a-step-20.png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9</a:t>
                      </a:r>
                    </a:p>
                  </a:txBody>
                  <a:tcPr marL="54864" marR="54864" marT="27432" marB="27432">
                    <a:solidFill>
                      <a:srgbClr val="FFFFFF"/>
                    </a:solidFill>
                  </a:tcPr>
                </a:tc>
                <a:tc>
                  <a:txBody>
                    <a:bodyPr/>
                    <a:lstStyle/>
                    <a:p>
                      <a:r>
                        <a:rPr sz="900" b="0">
                          <a:solidFill>
                            <a:srgbClr val="4B4B4B"/>
                          </a:solidFill>
                          <a:latin typeface="Arial"/>
                        </a:rPr>
                        <a:t>Opens PKR-2026-900005 and clicks Return incomplete requirements to TSU with the reason</a:t>
                      </a:r>
                    </a:p>
                  </a:txBody>
                  <a:tcPr marL="54864" marR="54864" marT="27432" marB="27432">
                    <a:solidFill>
                      <a:srgbClr val="FFFFFF"/>
                    </a:solidFill>
                  </a:tcPr>
                </a:tc>
                <a:tc>
                  <a:txBody>
                    <a:bodyPr/>
                    <a:lstStyle/>
                    <a:p>
                      <a:r>
                        <a:rPr sz="900" b="0">
                          <a:solidFill>
                            <a:srgbClr val="4B4B4B"/>
                          </a:solidFill>
                          <a:latin typeface="Arial"/>
                        </a:rPr>
                        <a:t>SCR-PM-08_wt-b-step-09.png</a:t>
                      </a:r>
                    </a:p>
                  </a:txBody>
                  <a:tcPr marL="54864" marR="54864" marT="27432" marB="27432">
                    <a:solidFill>
                      <a:srgbClr val="FFFFFF"/>
                    </a:solidFill>
                  </a:tcPr>
                </a:tc>
              </a:tr>
            </a:tbl>
          </a:graphicData>
        </a:graphic>
      </p:graphicFrame>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5.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1 of 3)</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6.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2 of 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57.png"/>
          <p:cNvPicPr>
            <a:picLocks noChangeAspect="1"/>
          </p:cNvPicPr>
          <p:nvPr/>
        </p:nvPicPr>
        <p:blipFill>
          <a:blip r:embed="rId3"/>
          <a:stretch>
            <a:fillRect/>
          </a:stretch>
        </p:blipFill>
        <p:spPr>
          <a:xfrm>
            <a:off x="548640" y="1261872"/>
            <a:ext cx="11094415" cy="77469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Set-up tab with the catalog version (part 3 of 3)</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08-01-setup.png"/>
          <p:cNvPicPr>
            <a:picLocks noChangeAspect="1"/>
          </p:cNvPicPr>
          <p:nvPr/>
        </p:nvPicPr>
        <p:blipFill>
          <a:blip r:embed="rId3"/>
          <a:stretch>
            <a:fillRect/>
          </a:stretch>
        </p:blipFill>
        <p:spPr>
          <a:xfrm>
            <a:off x="1461800" y="1261872"/>
            <a:ext cx="926809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Set Up Package Version dialog of MBS</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247</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1 of 3)</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248</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5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2 of 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SCR-PM-08 Package Request record: Set-up and Advisories tabs: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249</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0.png"/>
          <p:cNvPicPr>
            <a:picLocks noChangeAspect="1"/>
          </p:cNvPicPr>
          <p:nvPr/>
        </p:nvPicPr>
        <p:blipFill>
          <a:blip r:embed="rId3"/>
          <a:stretch>
            <a:fillRect/>
          </a:stretch>
        </p:blipFill>
        <p:spPr>
          <a:xfrm>
            <a:off x="548640" y="1261872"/>
            <a:ext cx="11094415" cy="860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Advisories tab of a released request (part 3 of 3)</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250</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request queues of the TSU Officer, Team Lead and Head: one tile per stage they work (review, approval, negotiation, terms review, requirements), with the open and overdue counts, and the queue of the chosen stage, oldest due first. A user claims a request to work it; team leads assign requests.</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Officer, TSU Team Lead, TSU Head</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TSU Workbench</a:t>
                      </a:r>
                    </a:p>
                    <a:p>
                      <a:r>
                        <a:rPr sz="950" b="0">
                          <a:solidFill>
                            <a:srgbClr val="4B4B4B"/>
                          </a:solidFill>
                          <a:latin typeface="Arial"/>
                        </a:rPr>
                        <a:t>Sidebar entry TSU Workbench</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13.1.9</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FR-PM-024, FR-PM-022, FR-PM-023</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TSU users pick up their package work by stage and due time; team leaders balance the queues.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251</a:t>
            </a:r>
          </a:p>
        </p:txBody>
      </p:sp>
      <p:graphicFrame>
        <p:nvGraphicFramePr>
          <p:cNvPr id="9" name="Table 8"/>
          <p:cNvGraphicFramePr>
            <a:graphicFrameLocks noGrp="1"/>
          </p:cNvGraphicFramePr>
          <p:nvPr/>
        </p:nvGraphicFramePr>
        <p:xfrm>
          <a:off x="548640" y="1325880"/>
          <a:ext cx="11094411" cy="224788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Package requests</a:t>
                      </a:r>
                    </a:p>
                  </a:txBody>
                  <a:tcPr marL="54864" marR="54864" marT="27432" marB="27432">
                    <a:solidFill>
                      <a:srgbClr val="FFFFFF"/>
                    </a:solidFill>
                  </a:tcPr>
                </a:tc>
                <a:tc>
                  <a:txBody>
                    <a:bodyPr/>
                    <a:lstStyle/>
                    <a:p>
                      <a:r>
                        <a:rPr sz="850" b="0">
                          <a:solidFill>
                            <a:srgbClr val="4B4B4B"/>
                          </a:solidFill>
                          <a:latin typeface="Arial"/>
                        </a:rPr>
                        <a:t>Stage tiles</a:t>
                      </a:r>
                    </a:p>
                  </a:txBody>
                  <a:tcPr marL="54864" marR="54864" marT="27432" marB="27432">
                    <a:solidFill>
                      <a:srgbClr val="FFFFFF"/>
                    </a:solidFill>
                  </a:tcPr>
                </a:tc>
                <a:tc>
                  <a:txBody>
                    <a:bodyPr/>
                    <a:lstStyle/>
                    <a:p>
                      <a:r>
                        <a:rPr sz="850" b="0">
                          <a:solidFill>
                            <a:srgbClr val="4B4B4B"/>
                          </a:solidFill>
                          <a:latin typeface="Arial"/>
                        </a:rPr>
                        <a:t>Tile</a:t>
                      </a:r>
                    </a:p>
                  </a:txBody>
                  <a:tcPr marL="54864" marR="54864" marT="27432" marB="27432">
                    <a:solidFill>
                      <a:srgbClr val="FFFFFF"/>
                    </a:solidFill>
                  </a:tcPr>
                </a:tc>
                <a:tc>
                  <a:txBody>
                    <a:bodyPr/>
                    <a:lstStyle/>
                    <a:p>
                      <a:r>
                        <a:rPr sz="850" b="0">
                          <a:solidFill>
                            <a:srgbClr val="4B4B4B"/>
                          </a:solidFill>
                          <a:latin typeface="Arial"/>
                        </a:rPr>
                        <a:t>Stage name, open count, 'n overdue', 'n mine'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Reference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Description</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Request type, product and name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Unit or user that raised the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In Stage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Time in the stage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Queue</a:t>
                      </a:r>
                    </a:p>
                  </a:txBody>
                  <a:tcPr marL="54864" marR="54864" marT="27432" marB="27432">
                    <a:solidFill>
                      <a:srgbClr val="FFFFFF"/>
                    </a:solidFill>
                  </a:tcPr>
                </a:tc>
                <a:tc>
                  <a:txBody>
                    <a:bodyPr/>
                    <a:lstStyle/>
                    <a:p>
                      <a:r>
                        <a:rPr sz="850" b="0">
                          <a:solidFill>
                            <a:srgbClr val="4B4B4B"/>
                          </a:solidFill>
                          <a:latin typeface="Arial"/>
                        </a:rPr>
                        <a:t>Due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HH:mm; Overdue in 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Queue</a:t>
                      </a:r>
                    </a:p>
                  </a:txBody>
                  <a:tcPr marL="54864" marR="54864" marT="27432" marB="27432">
                    <a:solidFill>
                      <a:srgbClr val="E5F5FF"/>
                    </a:solidFill>
                  </a:tcPr>
                </a:tc>
                <a:tc>
                  <a:txBody>
                    <a:bodyPr/>
                    <a:lstStyle/>
                    <a:p>
                      <a:r>
                        <a:rPr sz="850" b="0">
                          <a:solidFill>
                            <a:srgbClr val="4B4B4B"/>
                          </a:solidFill>
                          <a:latin typeface="Arial"/>
                        </a:rPr>
                        <a:t>Assignee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User or unassigned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252</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 stage tile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Shows the queue of that stage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Claim</a:t>
                      </a:r>
                    </a:p>
                  </a:txBody>
                  <a:tcPr marL="54864" marR="54864" marT="27432" marB="27432">
                    <a:solidFill>
                      <a:srgbClr val="E5F5FF"/>
                    </a:solidFill>
                  </a:tcPr>
                </a:tc>
                <a:tc>
                  <a:txBody>
                    <a:bodyPr/>
                    <a:lstStyle/>
                    <a:p>
                      <a:r>
                        <a:rPr sz="850" b="0">
                          <a:solidFill>
                            <a:srgbClr val="4B4B4B"/>
                          </a:solidFill>
                          <a:latin typeface="Arial"/>
                        </a:rPr>
                        <a:t>A user of the stage</a:t>
                      </a:r>
                    </a:p>
                  </a:txBody>
                  <a:tcPr marL="54864" marR="54864" marT="27432" marB="27432">
                    <a:solidFill>
                      <a:srgbClr val="E5F5FF"/>
                    </a:solidFill>
                  </a:tcPr>
                </a:tc>
                <a:tc>
                  <a:txBody>
                    <a:bodyPr/>
                    <a:lstStyle/>
                    <a:p>
                      <a:r>
                        <a:rPr sz="850" b="0">
                          <a:solidFill>
                            <a:srgbClr val="4B4B4B"/>
                          </a:solidFill>
                          <a:latin typeface="Arial"/>
                        </a:rPr>
                        <a:t>Unassigned item</a:t>
                      </a:r>
                    </a:p>
                  </a:txBody>
                  <a:tcPr marL="54864" marR="54864" marT="27432" marB="27432">
                    <a:solidFill>
                      <a:srgbClr val="E5F5FF"/>
                    </a:solidFill>
                  </a:tcPr>
                </a:tc>
                <a:tc>
                  <a:txBody>
                    <a:bodyPr/>
                    <a:lstStyle/>
                    <a:p>
                      <a:r>
                        <a:rPr sz="850" b="0">
                          <a:solidFill>
                            <a:srgbClr val="4B4B4B"/>
                          </a:solidFill>
                          <a:latin typeface="Arial"/>
                        </a:rPr>
                        <a:t>Assigns the request to the user</a:t>
                      </a:r>
                    </a:p>
                  </a:txBody>
                  <a:tcPr marL="54864" marR="54864" marT="27432" marB="27432">
                    <a:solidFill>
                      <a:srgbClr val="E5F5FF"/>
                    </a:solidFill>
                  </a:tcPr>
                </a:tc>
                <a:tc>
                  <a:txBody>
                    <a:bodyPr/>
                    <a:lstStyle/>
                    <a:p>
                      <a:r>
                        <a:rPr sz="850" b="0">
                          <a:solidFill>
                            <a:srgbClr val="4B4B4B"/>
                          </a:solidFill>
                          <a:latin typeface="Arial"/>
                        </a:rPr>
                        <a:t>Unchanged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Assign</a:t>
                      </a:r>
                    </a:p>
                  </a:txBody>
                  <a:tcPr marL="54864" marR="54864" marT="27432" marB="27432">
                    <a:solidFill>
                      <a:srgbClr val="FFFFFF"/>
                    </a:solidFill>
                  </a:tcPr>
                </a:tc>
                <a:tc>
                  <a:txBody>
                    <a:bodyPr/>
                    <a:lstStyle/>
                    <a:p>
                      <a:r>
                        <a:rPr sz="850" b="0">
                          <a:solidFill>
                            <a:srgbClr val="4B4B4B"/>
                          </a:solidFill>
                          <a:latin typeface="Arial"/>
                        </a:rPr>
                        <a:t>Team leaders (WORK_ASSIGN)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assignment dialog: a user of the stage or the team queue</a:t>
                      </a:r>
                    </a:p>
                  </a:txBody>
                  <a:tcPr marL="54864" marR="54864" marT="27432" marB="27432">
                    <a:solidFill>
                      <a:srgbClr val="FFFFFF"/>
                    </a:solidFill>
                  </a:tcPr>
                </a:tc>
                <a:tc>
                  <a:txBody>
                    <a:bodyPr/>
                    <a:lstStyle/>
                    <a:p>
                      <a:r>
                        <a:rPr sz="850" b="0">
                          <a:solidFill>
                            <a:srgbClr val="4B4B4B"/>
                          </a:solidFill>
                          <a:latin typeface="Arial"/>
                        </a:rPr>
                        <a:t>Unchanged</a:t>
                      </a:r>
                    </a:p>
                  </a:txBody>
                  <a:tcPr marL="54864" marR="54864" marT="27432" marB="27432">
                    <a:solidFill>
                      <a:srgbClr val="FFFFFF"/>
                    </a:solidFill>
                  </a:tcPr>
                </a:tc>
                <a:tc>
                  <a:txBody>
                    <a:bodyPr/>
                    <a:lstStyle/>
                    <a:p>
                      <a:r>
                        <a:rPr sz="850" b="0">
                          <a:solidFill>
                            <a:srgbClr val="4B4B4B"/>
                          </a:solidFill>
                          <a:latin typeface="Arial"/>
                        </a:rPr>
                        <a:t>Assignment notice</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package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253</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the stages the user's permissions work are shown (FR-PM-024).</a:t>
                      </a:r>
                    </a:p>
                  </a:txBody>
                  <a:tcPr marL="54864" marR="54864" marT="27432" marB="27432">
                    <a:solidFill>
                      <a:srgbClr val="FFFFFF"/>
                    </a:solidFill>
                  </a:tcPr>
                </a:tc>
              </a:tr>
              <a:tr h="243840">
                <a:tc>
                  <a:txBody>
                    <a:bodyPr/>
                    <a:lstStyle/>
                    <a:p>
                      <a:r>
                        <a:rPr sz="1000" b="0">
                          <a:solidFill>
                            <a:srgbClr val="4B4B4B"/>
                          </a:solidFill>
                          <a:latin typeface="Arial"/>
                        </a:rPr>
                        <a:t>A claimed request is worked by the user who claimed it; a team leader can re-assign it (FR-PM-024).</a:t>
                      </a:r>
                    </a:p>
                  </a:txBody>
                  <a:tcPr marL="54864" marR="54864" marT="27432" marB="27432">
                    <a:solidFill>
                      <a:srgbClr val="E5F5FF"/>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1.png"/>
          <p:cNvPicPr>
            <a:picLocks noChangeAspect="1"/>
          </p:cNvPicPr>
          <p:nvPr/>
        </p:nvPicPr>
        <p:blipFill>
          <a:blip r:embed="rId3"/>
          <a:stretch>
            <a:fillRect/>
          </a:stretch>
        </p:blipFill>
        <p:spPr>
          <a:xfrm>
            <a:off x="548640" y="1261872"/>
            <a:ext cx="11094415" cy="446167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1 of 2)</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SCR-PM-09 TSU Workbench: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2.png"/>
          <p:cNvPicPr>
            <a:picLocks noChangeAspect="1"/>
          </p:cNvPicPr>
          <p:nvPr/>
        </p:nvPicPr>
        <p:blipFill>
          <a:blip r:embed="rId3"/>
          <a:stretch>
            <a:fillRect/>
          </a:stretch>
        </p:blipFill>
        <p:spPr>
          <a:xfrm>
            <a:off x="548640" y="1261872"/>
            <a:ext cx="11094415" cy="449036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TSU Workbench of the TSU Team Lead (part 2 of 2)</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256</a:t>
            </a:r>
          </a:p>
        </p:txBody>
      </p:sp>
      <p:graphicFrame>
        <p:nvGraphicFramePr>
          <p:cNvPr id="9" name="Table 8"/>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Package requests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released packages by package end date, with their renewal status: packages ending without a renewal request, packages whose renewal is in progress, and the pointer to the expired packages kept in the catalog. TSU drafts renewal requests for the selected packages, pre-filled from the version in force.</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TL / TH / UH, TSU Officer, TSU Team Lead, TSU Head, Marketing Business Services, Business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Package Expiry</a:t>
                      </a:r>
                    </a:p>
                    <a:p>
                      <a:r>
                        <a:rPr sz="950" b="0">
                          <a:solidFill>
                            <a:srgbClr val="4B4B4B"/>
                          </a:solidFill>
                          <a:latin typeface="Arial"/>
                        </a:rPr>
                        <a:t>Product Maintenance Home › Packages ending soon tiles</a:t>
                      </a:r>
                    </a:p>
                    <a:p>
                      <a:r>
                        <a:rPr sz="950" b="0">
                          <a:solidFill>
                            <a:srgbClr val="4B4B4B"/>
                          </a:solidFill>
                          <a:latin typeface="Arial"/>
                        </a:rPr>
                        <a:t>Package Requests › Package Expiry</a:t>
                      </a:r>
                    </a:p>
                    <a:p>
                      <a:r>
                        <a:rPr sz="950" b="0">
                          <a:solidFill>
                            <a:srgbClr val="4B4B4B"/>
                          </a:solidFill>
                          <a:latin typeface="Arial"/>
                        </a:rPr>
                        <a:t>The expiry alert (Alert inbox) and the package expired notice</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13.1.10</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FR-PM-060, FR-PM-061,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package ends unnoticed, and its renewal request starts from the current terms without re-keying.</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257</a:t>
            </a:r>
          </a:p>
        </p:txBody>
      </p:sp>
      <p:graphicFrame>
        <p:nvGraphicFramePr>
          <p:cNvPr id="9" name="Table 8"/>
          <p:cNvGraphicFramePr>
            <a:graphicFrameLocks noGrp="1"/>
          </p:cNvGraphicFramePr>
          <p:nvPr/>
        </p:nvGraphicFramePr>
        <p:xfrm>
          <a:off x="548640" y="1325880"/>
          <a:ext cx="11094411" cy="228598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Expiring / Renewal in Progress / Expired</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Expiring = no renewal request yet; Renewal in Progress = an open renewal or reactivation request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v&lt;version&gt;, with the product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Days Left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Days until the package end, red up to 7, amber up to 30</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Anniversary</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Renewal 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Request number and its stage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Packages ending within (days)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days from today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258</a:t>
            </a:r>
          </a:p>
        </p:txBody>
      </p:sp>
      <p:graphicFrame>
        <p:nvGraphicFramePr>
          <p:cNvPr id="9" name="Table 8"/>
          <p:cNvGraphicFramePr>
            <a:graphicFrameLocks noGrp="1"/>
          </p:cNvGraphicFramePr>
          <p:nvPr/>
        </p:nvGraphicFramePr>
        <p:xfrm>
          <a:off x="548640" y="1325880"/>
          <a:ext cx="11094412" cy="118109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Generate Expiry List</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Generate lists the packages ending within the days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Generate Renewal Request</a:t>
                      </a:r>
                    </a:p>
                  </a:txBody>
                  <a:tcPr marL="54864" marR="54864" marT="27432" marB="27432">
                    <a:solidFill>
                      <a:srgbClr val="E5F5FF"/>
                    </a:solidFill>
                  </a:tcPr>
                </a:tc>
                <a:tc>
                  <a:txBody>
                    <a:bodyPr/>
                    <a:lstStyle/>
                    <a:p>
                      <a:r>
                        <a:rPr sz="850" b="0">
                          <a:solidFill>
                            <a:srgbClr val="4B4B4B"/>
                          </a:solidFill>
                          <a:latin typeface="Arial"/>
                        </a:rPr>
                        <a:t>TSU (PKG_NEGOTIATE)</a:t>
                      </a:r>
                    </a:p>
                  </a:txBody>
                  <a:tcPr marL="54864" marR="54864" marT="27432" marB="27432">
                    <a:solidFill>
                      <a:srgbClr val="E5F5FF"/>
                    </a:solidFill>
                  </a:tcPr>
                </a:tc>
                <a:tc>
                  <a:txBody>
                    <a:bodyPr/>
                    <a:lstStyle/>
                    <a:p>
                      <a:r>
                        <a:rPr sz="850" b="0">
                          <a:solidFill>
                            <a:srgbClr val="4B4B4B"/>
                          </a:solidFill>
                          <a:latin typeface="Arial"/>
                        </a:rPr>
                        <a:t>Expiring tab; at least one package selected</a:t>
                      </a:r>
                    </a:p>
                  </a:txBody>
                  <a:tcPr marL="54864" marR="54864" marT="27432" marB="27432">
                    <a:solidFill>
                      <a:srgbClr val="E5F5FF"/>
                    </a:solidFill>
                  </a:tcPr>
                </a:tc>
                <a:tc>
                  <a:txBody>
                    <a:bodyPr/>
                    <a:lstStyle/>
                    <a:p>
                      <a:r>
                        <a:rPr sz="850" b="0">
                          <a:solidFill>
                            <a:srgbClr val="4B4B4B"/>
                          </a:solidFill>
                          <a:latin typeface="Arial"/>
                        </a:rPr>
                        <a:t>Drafts one Renew request per package, pre-filled from the version in force with the next term (start = old end + 1 day, same length); a package with an open renewal keeps it; one request opens directly</a:t>
                      </a:r>
                    </a:p>
                  </a:txBody>
                  <a:tcPr marL="54864" marR="54864" marT="27432" marB="27432">
                    <a:solidFill>
                      <a:srgbClr val="E5F5FF"/>
                    </a:solidFill>
                  </a:tcPr>
                </a:tc>
                <a:tc>
                  <a:txBody>
                    <a:bodyPr/>
                    <a:lstStyle/>
                    <a:p>
                      <a:r>
                        <a:rPr sz="850" b="0">
                          <a:solidFill>
                            <a:srgbClr val="4B4B4B"/>
                          </a:solidFill>
                          <a:latin typeface="Arial"/>
                        </a:rPr>
                        <a:t>Draft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259</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package is listed from its version in force; the expiry monitor alerts at 60 days (PACKAGE_EXPIRY_NOTICE_DAYS) and again at 30 and 7 days (FR-PM-060).</a:t>
                      </a:r>
                    </a:p>
                  </a:txBody>
                  <a:tcPr marL="54864" marR="54864" marT="27432" marB="27432">
                    <a:solidFill>
                      <a:srgbClr val="FFFFFF"/>
                    </a:solidFill>
                  </a:tcPr>
                </a:tc>
              </a:tr>
              <a:tr h="243840">
                <a:tc>
                  <a:txBody>
                    <a:bodyPr/>
                    <a:lstStyle/>
                    <a:p>
                      <a:r>
                        <a:rPr sz="1000" b="0">
                          <a:solidFill>
                            <a:srgbClr val="4B4B4B"/>
                          </a:solidFill>
                          <a:latin typeface="Arial"/>
                        </a:rPr>
                        <a:t>A renewal request is never drafted twice for the same package; when PACKAGE_RENEWAL_AUTODRAFT is on, the monitor drafts it itself (FR-PM-061).</a:t>
                      </a:r>
                    </a:p>
                  </a:txBody>
                  <a:tcPr marL="54864" marR="54864" marT="27432" marB="27432">
                    <a:solidFill>
                      <a:srgbClr val="E5F5FF"/>
                    </a:solidFill>
                  </a:tcPr>
                </a:tc>
              </a:tr>
              <a:tr h="243840">
                <a:tc>
                  <a:txBody>
                    <a:bodyPr/>
                    <a:lstStyle/>
                    <a:p>
                      <a:r>
                        <a:rPr sz="1000" b="0">
                          <a:solidFill>
                            <a:srgbClr val="4B4B4B"/>
                          </a:solidFill>
                          <a:latin typeface="Arial"/>
                        </a:rPr>
                        <a:t>Expired packages stay readable on Products with the Expired filter; an expired package is sold again only through a Reactivate request (FR-PM-052).</a:t>
                      </a:r>
                    </a:p>
                  </a:txBody>
                  <a:tcPr marL="54864" marR="54864" marT="27432" marB="27432">
                    <a:solidFill>
                      <a:srgbClr val="FFFFFF"/>
                    </a:solidFill>
                  </a:tcPr>
                </a:tc>
              </a:tr>
            </a:tbl>
          </a:graphicData>
        </a:graphic>
      </p:graphicFrame>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0-01-list.png"/>
          <p:cNvPicPr>
            <a:picLocks noChangeAspect="1"/>
          </p:cNvPicPr>
          <p:nvPr/>
        </p:nvPicPr>
        <p:blipFill>
          <a:blip r:embed="rId3"/>
          <a:stretch>
            <a:fillRect/>
          </a:stretch>
        </p:blipFill>
        <p:spPr>
          <a:xfrm>
            <a:off x="548640" y="1261872"/>
            <a:ext cx="11094415" cy="40838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Package Expiry, Expiring tab</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SCR-PM-10 Package Expiry: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10-02-dialog.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Generate Expiry List dialog</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262</a:t>
            </a:r>
          </a:p>
        </p:txBody>
      </p:sp>
      <p:graphicFrame>
        <p:nvGraphicFramePr>
          <p:cNvPr id="9" name="Table 8"/>
          <p:cNvGraphicFramePr>
            <a:graphicFrameLocks noGrp="1"/>
          </p:cNvGraphicFramePr>
          <p:nvPr/>
        </p:nvGraphicFramePr>
        <p:xfrm>
          <a:off x="548640" y="1307592"/>
          <a:ext cx="6434760" cy="32461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product catalogue: every product (risk code) with its line, package flag, current version, market segments, rate and minimum premium, and its lifecycle; and, on their own tabs, the field rules, document rules and TSU routing rules that decide what an account needs and when TSU reviews it. MBS creates products and rules; a second user authorises them. Expired and retired products are listed for the users who may see the archive.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a:t>
                      </a:r>
                    </a:p>
                    <a:p>
                      <a:r>
                        <a:rPr sz="950" b="0">
                          <a:solidFill>
                            <a:srgbClr val="4B4B4B"/>
                          </a:solidFill>
                          <a:latin typeface="Arial"/>
                        </a:rPr>
                        <a:t>Sidebar entry Products</a:t>
                      </a:r>
                    </a:p>
                    <a:p>
                      <a:r>
                        <a:rPr sz="950" b="0">
                          <a:solidFill>
                            <a:srgbClr val="4B4B4B"/>
                          </a:solidFill>
                          <a:latin typeface="Arial"/>
                        </a:rPr>
                        <a:t>Package Expiry › Expired tab › Products</a:t>
                      </a:r>
                    </a:p>
                    <a:p>
                      <a:r>
                        <a:rPr sz="950" b="0">
                          <a:solidFill>
                            <a:srgbClr val="4B4B4B"/>
                          </a:solidFill>
                          <a:latin typeface="Arial"/>
                        </a:rPr>
                        <a:t>Product record › back arrow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FR-PM-012, FR-PM-013, FR-PM-050, FR-PM-052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finds any product with its current version and lifecycle, and maintains products and their rules under maker-checker.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(4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263</a:t>
            </a:r>
          </a:p>
        </p:txBody>
      </p:sp>
      <p:graphicFrame>
        <p:nvGraphicFramePr>
          <p:cNvPr id="9" name="Table 8"/>
          <p:cNvGraphicFramePr>
            <a:graphicFrameLocks noGrp="1"/>
          </p:cNvGraphicFramePr>
          <p:nvPr/>
        </p:nvGraphicFramePr>
        <p:xfrm>
          <a:off x="548640" y="1325880"/>
          <a:ext cx="11094411" cy="483105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Products / Field rules / Document rules / TSU routing</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or name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lines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Package and non-package, Package only, Non-package only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Market segment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All segments or one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Filters</a:t>
                      </a:r>
                    </a:p>
                  </a:txBody>
                  <a:tcPr marL="54864" marR="54864" marT="27432" marB="27432">
                    <a:solidFill>
                      <a:srgbClr val="E5F5FF"/>
                    </a:solidFill>
                  </a:tcPr>
                </a:tc>
                <a:tc>
                  <a:txBody>
                    <a:bodyPr/>
                    <a:lstStyle/>
                    <a:p>
                      <a:r>
                        <a:rPr sz="850" b="0">
                          <a:solidFill>
                            <a:srgbClr val="4B4B4B"/>
                          </a:solidFill>
                          <a:latin typeface="Arial"/>
                        </a:rPr>
                        <a:t>Lifecycle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Sellable, Expired, Retired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Shown only to users who may see the archive (PRODUCT_ARCHIVE_VIEW)</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Filters</a:t>
                      </a:r>
                    </a:p>
                  </a:txBody>
                  <a:tcPr marL="54864" marR="54864" marT="27432" marB="27432">
                    <a:solidFill>
                      <a:srgbClr val="FFFFFF"/>
                    </a:solidFill>
                  </a:tcPr>
                </a:tc>
                <a:tc>
                  <a:txBody>
                    <a:bodyPr/>
                    <a:lstStyle/>
                    <a:p>
                      <a:r>
                        <a:rPr sz="850" b="0">
                          <a:solidFill>
                            <a:srgbClr val="4B4B4B"/>
                          </a:solidFill>
                          <a:latin typeface="Arial"/>
                        </a:rPr>
                        <a:t>Active only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Authorised and active records only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Code / Name / Line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line code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product matches the filters.</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Package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Yes for a package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Version</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Current version (v2) and the pill of a version being set up (Draft, 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Segments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Market segments, or All</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Rate % / Min. Premium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Product rate and minimum premium (of the version in force for a package)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Pending Authorization, Active, Inactive; Expired or Retired for a package no longer sold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1 to 20 capitals or digits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the naming convention of the line when set</a:t>
                      </a:r>
                    </a:p>
                  </a:txBody>
                  <a:tcPr marL="54864" marR="54864" marT="27432" marB="27432">
                    <a:solidFill>
                      <a:srgbClr val="E5F5FF"/>
                    </a:solidFill>
                  </a:tcPr>
                </a:tc>
                <a:tc>
                  <a:txBody>
                    <a:bodyPr/>
                    <a:lstStyle/>
                    <a:p>
                      <a:r>
                        <a:rPr sz="850" b="0">
                          <a:solidFill>
                            <a:srgbClr val="4B4B4B"/>
                          </a:solidFill>
                          <a:latin typeface="Arial"/>
                        </a:rPr>
                        <a:t>Code: 1 to 20 capital letters or digits.</a:t>
                      </a:r>
                    </a:p>
                  </a:txBody>
                  <a:tcPr marL="54864" marR="54864" marT="27432" marB="27432">
                    <a:solidFill>
                      <a:srgbClr val="E5F5FF"/>
                    </a:solidFill>
                  </a:tcPr>
                </a:tc>
              </a:tr>
              <a:tr h="220979">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200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Name is required.</a:t>
                      </a:r>
                    </a:p>
                  </a:txBody>
                  <a:tcPr marL="54864" marR="54864" marT="27432" marB="27432">
                    <a:solidFill>
                      <a:srgbClr val="FFFFFF"/>
                    </a:solidFill>
                  </a:tcPr>
                </a:tc>
              </a:tr>
            </a:tbl>
          </a:graphicData>
        </a:graphic>
      </p:graphicFrame>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264</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the product line.</a:t>
                      </a:r>
                    </a:p>
                  </a:txBody>
                  <a:tcPr marL="54864" marR="54864" marT="27432" marB="27432">
                    <a:solidFill>
                      <a:srgbClr val="FFFFFF"/>
                    </a:solidFill>
                  </a:tcPr>
                </a:tc>
              </a:tr>
              <a:tr h="480057">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Cover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 types of the line</a:t>
                      </a:r>
                    </a:p>
                  </a:txBody>
                  <a:tcPr marL="54864" marR="54864" marT="27432" marB="27432">
                    <a:solidFill>
                      <a:srgbClr val="E5F5FF"/>
                    </a:solidFill>
                  </a:tcPr>
                </a:tc>
                <a:tc>
                  <a:txBody>
                    <a:bodyPr/>
                    <a:lstStyle/>
                    <a:p>
                      <a:r>
                        <a:rPr sz="850" b="0">
                          <a:solidFill>
                            <a:srgbClr val="4B4B4B"/>
                          </a:solidFill>
                          <a:latin typeface="Arial"/>
                        </a:rPr>
                        <a:t>Cond.: package product</a:t>
                      </a:r>
                    </a:p>
                  </a:txBody>
                  <a:tcPr marL="54864" marR="54864" marT="27432" marB="27432">
                    <a:solidFill>
                      <a:srgbClr val="E5F5FF"/>
                    </a:solidFill>
                  </a:tcPr>
                </a:tc>
                <a:tc>
                  <a:txBody>
                    <a:bodyPr/>
                    <a:lstStyle/>
                    <a:p>
                      <a:r>
                        <a:rPr sz="850" b="0">
                          <a:solidFill>
                            <a:srgbClr val="4B4B4B"/>
                          </a:solidFill>
                          <a:latin typeface="Arial"/>
                        </a:rPr>
                        <a:t>A cover type of the line; a package needs one</a:t>
                      </a:r>
                    </a:p>
                  </a:txBody>
                  <a:tcPr marL="54864" marR="54864" marT="27432" marB="27432">
                    <a:solidFill>
                      <a:srgbClr val="E5F5FF"/>
                    </a:solidFill>
                  </a:tcPr>
                </a:tc>
                <a:tc>
                  <a:txBody>
                    <a:bodyPr/>
                    <a:lstStyle/>
                    <a:p>
                      <a:r>
                        <a:rPr sz="850" b="0">
                          <a:solidFill>
                            <a:srgbClr val="4B4B4B"/>
                          </a:solidFill>
                          <a:latin typeface="Arial"/>
                        </a:rPr>
                        <a:t>A package needs its cover type</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Placement after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Paid, Client confirmation</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TSU review</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By rules, Always, Never</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Default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minimum premium, commission and TSI limit of package &lt;code&gt; change through a new version (Versions tab)</a:t>
                      </a:r>
                    </a:p>
                  </a:txBody>
                  <a:tcPr marL="54864" marR="54864" marT="27432" marB="27432">
                    <a:solidFill>
                      <a:srgbClr val="FFFFFF"/>
                    </a:solidFill>
                  </a:tcPr>
                </a:tc>
              </a:tr>
              <a:tr h="350518">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Default commission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Default commission rate is required.</a:t>
                      </a:r>
                    </a:p>
                  </a:txBody>
                  <a:tcPr marL="54864" marR="54864" marT="27432" marB="27432">
                    <a:solidFill>
                      <a:srgbClr val="E5F5FF"/>
                    </a:solidFill>
                  </a:tcPr>
                </a:tc>
              </a:tr>
              <a:tr h="350518">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 in PHP</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The minimum premium cannot be negative</a:t>
                      </a:r>
                    </a:p>
                  </a:txBody>
                  <a:tcPr marL="54864" marR="54864" marT="27432" marB="27432">
                    <a:solidFill>
                      <a:srgbClr val="FFFFFF"/>
                    </a:solidFill>
                  </a:tcPr>
                </a:tc>
              </a:tr>
              <a:tr h="350518">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New product</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the account goes to TSU</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Maximum term (years)</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1 to 10</a:t>
                      </a:r>
                    </a:p>
                  </a:txBody>
                  <a:tcPr marL="54864" marR="54864" marT="27432" marB="27432">
                    <a:solidFill>
                      <a:srgbClr val="FFFFFF"/>
                    </a:solidFill>
                  </a:tcPr>
                </a:tc>
                <a:tc>
                  <a:txBody>
                    <a:bodyPr/>
                    <a:lstStyle/>
                    <a:p>
                      <a:r>
                        <a:rPr sz="850" b="0">
                          <a:solidFill>
                            <a:srgbClr val="4B4B4B"/>
                          </a:solidFill>
                          <a:latin typeface="Arial"/>
                        </a:rPr>
                        <a:t>Cond.: multi-year term allowed</a:t>
                      </a:r>
                    </a:p>
                  </a:txBody>
                  <a:tcPr marL="54864" marR="54864" marT="27432" marB="27432">
                    <a:solidFill>
                      <a:srgbClr val="FFFFFF"/>
                    </a:solidFill>
                  </a:tcPr>
                </a:tc>
                <a:tc>
                  <a:txBody>
                    <a:bodyPr/>
                    <a:lstStyle/>
                    <a:p>
                      <a:r>
                        <a:rPr sz="850" b="0">
                          <a:solidFill>
                            <a:srgbClr val="4B4B4B"/>
                          </a:solidFill>
                          <a:latin typeface="Arial"/>
                        </a:rPr>
                        <a:t>At least 2 for a multi-year product</a:t>
                      </a:r>
                    </a:p>
                  </a:txBody>
                  <a:tcPr marL="54864" marR="54864" marT="27432" marB="27432">
                    <a:solidFill>
                      <a:srgbClr val="FFFFFF"/>
                    </a:solidFill>
                  </a:tcPr>
                </a:tc>
                <a:tc>
                  <a:txBody>
                    <a:bodyPr/>
                    <a:lstStyle/>
                    <a:p>
                      <a:r>
                        <a:rPr sz="850" b="0">
                          <a:solidFill>
                            <a:srgbClr val="4B4B4B"/>
                          </a:solidFill>
                          <a:latin typeface="Arial"/>
                        </a:rPr>
                        <a:t>A multi-year product needs a maximum term of at least 2 years.</a:t>
                      </a:r>
                    </a:p>
                  </a:txBody>
                  <a:tcPr marL="54864" marR="54864" marT="27432" marB="27432">
                    <a:solidFill>
                      <a:srgbClr val="FFFFFF"/>
                    </a:solidFill>
                  </a:tcPr>
                </a:tc>
              </a:tr>
              <a:tr h="868674">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New product › Features</a:t>
                      </a:r>
                    </a:p>
                  </a:txBody>
                  <a:tcPr marL="54864" marR="54864" marT="27432" marB="27432">
                    <a:solidFill>
                      <a:srgbClr val="E5F5FF"/>
                    </a:solidFill>
                  </a:tcPr>
                </a:tc>
                <a:tc>
                  <a:txBody>
                    <a:bodyPr/>
                    <a:lstStyle/>
                    <a:p>
                      <a:r>
                        <a:rPr sz="850" b="0">
                          <a:solidFill>
                            <a:srgbClr val="4B4B4B"/>
                          </a:solidFill>
                          <a:latin typeface="Arial"/>
                        </a:rPr>
                        <a:t>Package product (fixed cover) / Fleet (several vehicles) / Mortgage / loan related / Direct payment to insurer allowed / Multi-year term allowed / Free First Year eligible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Market segments (none = all)</a:t>
                      </a:r>
                    </a:p>
                  </a:txBody>
                  <a:tcPr marL="54864" marR="54864" marT="27432" marB="27432">
                    <a:solidFill>
                      <a:srgbClr val="FFFFFF"/>
                    </a:solidFill>
                  </a:tcPr>
                </a:tc>
                <a:tc>
                  <a:txBody>
                    <a:bodyPr/>
                    <a:lstStyle/>
                    <a:p>
                      <a:r>
                        <a:rPr sz="850" b="0">
                          <a:solidFill>
                            <a:srgbClr val="4B4B4B"/>
                          </a:solidFill>
                          <a:latin typeface="Arial"/>
                        </a:rPr>
                        <a:t>Check boxes</a:t>
                      </a:r>
                    </a:p>
                  </a:txBody>
                  <a:tcPr marL="54864" marR="54864" marT="27432" marB="27432">
                    <a:solidFill>
                      <a:srgbClr val="FFFFFF"/>
                    </a:solidFill>
                  </a:tcPr>
                </a:tc>
                <a:tc>
                  <a:txBody>
                    <a:bodyPr/>
                    <a:lstStyle/>
                    <a:p>
                      <a:r>
                        <a:rPr sz="850" b="0">
                          <a:solidFill>
                            <a:srgbClr val="4B4B4B"/>
                          </a:solidFill>
                          <a:latin typeface="Arial"/>
                        </a:rPr>
                        <a:t>Segments the product is offered to</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values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265</a:t>
            </a:r>
          </a:p>
        </p:txBody>
      </p:sp>
      <p:graphicFrame>
        <p:nvGraphicFramePr>
          <p:cNvPr id="9" name="Table 8"/>
          <p:cNvGraphicFramePr>
            <a:graphicFrameLocks noGrp="1"/>
          </p:cNvGraphicFramePr>
          <p:nvPr/>
        </p:nvGraphicFramePr>
        <p:xfrm>
          <a:off x="548640" y="1325880"/>
          <a:ext cx="11094411" cy="127253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Field rules</a:t>
                      </a:r>
                    </a:p>
                  </a:txBody>
                  <a:tcPr marL="54864" marR="54864" marT="27432" marB="27432">
                    <a:solidFill>
                      <a:srgbClr val="FFFFFF"/>
                    </a:solidFill>
                  </a:tcPr>
                </a:tc>
                <a:tc>
                  <a:txBody>
                    <a:bodyPr/>
                    <a:lstStyle/>
                    <a:p>
                      <a:r>
                        <a:rPr sz="850" b="0">
                          <a:solidFill>
                            <a:srgbClr val="4B4B4B"/>
                          </a:solidFill>
                          <a:latin typeface="Arial"/>
                        </a:rPr>
                        <a:t>Applies to / Level / Field / Key / Mandatory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a line or a product; Account or Risk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Document rules</a:t>
                      </a:r>
                    </a:p>
                  </a:txBody>
                  <a:tcPr marL="54864" marR="54864" marT="27432" marB="27432">
                    <a:solidFill>
                      <a:srgbClr val="E5F5FF"/>
                    </a:solidFill>
                  </a:tcPr>
                </a:tc>
                <a:tc>
                  <a:txBody>
                    <a:bodyPr/>
                    <a:lstStyle/>
                    <a:p>
                      <a:r>
                        <a:rPr sz="850" b="0">
                          <a:solidFill>
                            <a:srgbClr val="4B4B4B"/>
                          </a:solidFill>
                          <a:latin typeface="Arial"/>
                        </a:rPr>
                        <a:t>Applies to / Document / Before Submission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Document type; Required or Optional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TSU routing</a:t>
                      </a:r>
                    </a:p>
                  </a:txBody>
                  <a:tcPr marL="54864" marR="54864" marT="27432" marB="27432">
                    <a:solidFill>
                      <a:srgbClr val="FFFFFF"/>
                    </a:solidFill>
                  </a:tcPr>
                </a:tc>
                <a:tc>
                  <a:txBody>
                    <a:bodyPr/>
                    <a:lstStyle/>
                    <a:p>
                      <a:r>
                        <a:rPr sz="850" b="0">
                          <a:solidFill>
                            <a:srgbClr val="4B4B4B"/>
                          </a:solidFill>
                          <a:latin typeface="Arial"/>
                        </a:rPr>
                        <a:t>Priority / Code / Description / Criteria / TSI Above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Lower priority evaluated first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266</a:t>
            </a:r>
          </a:p>
        </p:txBody>
      </p:sp>
      <p:graphicFrame>
        <p:nvGraphicFramePr>
          <p:cNvPr id="9" name="Table 8"/>
          <p:cNvGraphicFramePr>
            <a:graphicFrameLocks noGrp="1"/>
          </p:cNvGraphicFramePr>
          <p:nvPr/>
        </p:nvGraphicFramePr>
        <p:xfrm>
          <a:off x="548640" y="1325880"/>
          <a:ext cx="11094412" cy="223264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Product</a:t>
                      </a:r>
                    </a:p>
                  </a:txBody>
                  <a:tcPr marL="54864" marR="54864" marT="27432" marB="27432">
                    <a:solidFill>
                      <a:srgbClr val="FFFFFF"/>
                    </a:solidFill>
                  </a:tcPr>
                </a:tc>
                <a:tc>
                  <a:txBody>
                    <a:bodyPr/>
                    <a:lstStyle/>
                    <a:p>
                      <a:r>
                        <a:rPr sz="850" b="0">
                          <a:solidFill>
                            <a:srgbClr val="4B4B4B"/>
                          </a:solidFill>
                          <a:latin typeface="Arial"/>
                        </a:rPr>
                        <a:t>MBS (PRODUCT_MAINTAIN, MASTER_MAINTAIN)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New product;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Add Rule</a:t>
                      </a:r>
                    </a:p>
                  </a:txBody>
                  <a:tcPr marL="54864" marR="54864" marT="27432" marB="27432">
                    <a:solidFill>
                      <a:srgbClr val="E5F5FF"/>
                    </a:solidFill>
                  </a:tcPr>
                </a:tc>
                <a:tc>
                  <a:txBody>
                    <a:bodyPr/>
                    <a:lstStyle/>
                    <a:p>
                      <a:r>
                        <a:rPr sz="850" b="0">
                          <a:solidFill>
                            <a:srgbClr val="4B4B4B"/>
                          </a:solidFill>
                          <a:latin typeface="Arial"/>
                        </a:rPr>
                        <a:t>MBS (PRODUCT_MAINTAIN), Business Administrator (MASTER_MAINTAIN)</a:t>
                      </a:r>
                    </a:p>
                  </a:txBody>
                  <a:tcPr marL="54864" marR="54864" marT="27432" marB="27432">
                    <a:solidFill>
                      <a:srgbClr val="E5F5FF"/>
                    </a:solidFill>
                  </a:tcPr>
                </a:tc>
                <a:tc>
                  <a:txBody>
                    <a:bodyPr/>
                    <a:lstStyle/>
                    <a:p>
                      <a:r>
                        <a:rPr sz="850" b="0">
                          <a:solidFill>
                            <a:srgbClr val="4B4B4B"/>
                          </a:solidFill>
                          <a:latin typeface="Arial"/>
                        </a:rPr>
                        <a:t>Field rules, Document rules or TSU routing tab</a:t>
                      </a:r>
                    </a:p>
                  </a:txBody>
                  <a:tcPr marL="54864" marR="54864" marT="27432" marB="27432">
                    <a:solidFill>
                      <a:srgbClr val="E5F5FF"/>
                    </a:solidFill>
                  </a:tcPr>
                </a:tc>
                <a:tc>
                  <a:txBody>
                    <a:bodyPr/>
                    <a:lstStyle/>
                    <a:p>
                      <a:r>
                        <a:rPr sz="850" b="0">
                          <a:solidFill>
                            <a:srgbClr val="4B4B4B"/>
                          </a:solidFill>
                          <a:latin typeface="Arial"/>
                        </a:rPr>
                        <a:t>Opens New Rule (see SCR-PM-12)</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or MASTER_AUTHORIZE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Row pending authorisation</a:t>
                      </a:r>
                    </a:p>
                  </a:txBody>
                  <a:tcPr marL="54864" marR="54864" marT="27432" marB="27432">
                    <a:solidFill>
                      <a:srgbClr val="FFFFFF"/>
                    </a:solidFill>
                  </a:tcPr>
                </a:tc>
                <a:tc>
                  <a:txBody>
                    <a:bodyPr/>
                    <a:lstStyle/>
                    <a:p>
                      <a:r>
                        <a:rPr sz="850" b="0">
                          <a:solidFill>
                            <a:srgbClr val="4B4B4B"/>
                          </a:solidFill>
                          <a:latin typeface="Arial"/>
                        </a:rPr>
                        <a:t>Authorises the record; it is used by quotations, accounts and rating from now</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Ends the use of the record;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Products tab</a:t>
                      </a:r>
                    </a:p>
                  </a:txBody>
                  <a:tcPr marL="54864" marR="54864" marT="27432" marB="27432">
                    <a:solidFill>
                      <a:srgbClr val="FFFFFF"/>
                    </a:solidFill>
                  </a:tcPr>
                </a:tc>
                <a:tc>
                  <a:txBody>
                    <a:bodyPr/>
                    <a:lstStyle/>
                    <a:p>
                      <a:r>
                        <a:rPr sz="850" b="0">
                          <a:solidFill>
                            <a:srgbClr val="4B4B4B"/>
                          </a:solidFill>
                          <a:latin typeface="Arial"/>
                        </a:rPr>
                        <a:t>Opens the product record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267</a:t>
            </a:r>
          </a:p>
        </p:txBody>
      </p:sp>
      <p:graphicFrame>
        <p:nvGraphicFramePr>
          <p:cNvPr id="9" name="Table 8"/>
          <p:cNvGraphicFramePr>
            <a:graphicFrameLocks noGrp="1"/>
          </p:cNvGraphicFramePr>
          <p:nvPr/>
        </p:nvGraphicFramePr>
        <p:xfrm>
          <a:off x="548640" y="1325880"/>
          <a:ext cx="11094415" cy="14630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Every product and rule is maker-checker: saved changes wait for a second user's authorisation and are not used until then (FR-PM-010, FR-PM-012).</a:t>
                      </a:r>
                    </a:p>
                  </a:txBody>
                  <a:tcPr marL="54864" marR="54864" marT="27432" marB="27432">
                    <a:solidFill>
                      <a:srgbClr val="FFFFFF"/>
                    </a:solidFill>
                  </a:tcPr>
                </a:tc>
              </a:tr>
              <a:tr h="243840">
                <a:tc>
                  <a:txBody>
                    <a:bodyPr/>
                    <a:lstStyle/>
                    <a:p>
                      <a:r>
                        <a:rPr sz="1000" b="0">
                          <a:solidFill>
                            <a:srgbClr val="4B4B4B"/>
                          </a:solidFill>
                          <a:latin typeface="Arial"/>
                        </a:rPr>
                        <a:t>A package product needs its cover type; the risk code follows the naming convention of its line once BDOI has stated it (FR-PM-010).</a:t>
                      </a:r>
                    </a:p>
                  </a:txBody>
                  <a:tcPr marL="54864" marR="54864" marT="27432" marB="27432">
                    <a:solidFill>
                      <a:srgbClr val="E5F5FF"/>
                    </a:solidFill>
                  </a:tcPr>
                </a:tc>
              </a:tr>
              <a:tr h="243840">
                <a:tc>
                  <a:txBody>
                    <a:bodyPr/>
                    <a:lstStyle/>
                    <a:p>
                      <a:r>
                        <a:rPr sz="1000" b="0">
                          <a:solidFill>
                            <a:srgbClr val="4B4B4B"/>
                          </a:solidFill>
                          <a:latin typeface="Arial"/>
                        </a:rPr>
                        <a:t>The rate, minimum premium, commission and TSI limit of a package change only through a new version, so a released package stays sellable while it is changed (FR-PM-050).</a:t>
                      </a:r>
                    </a:p>
                  </a:txBody>
                  <a:tcPr marL="54864" marR="54864" marT="27432" marB="27432">
                    <a:solidFill>
                      <a:srgbClr val="FFFFFF"/>
                    </a:solidFill>
                  </a:tcPr>
                </a:tc>
              </a:tr>
              <a:tr h="243840">
                <a:tc>
                  <a:txBody>
                    <a:bodyPr/>
                    <a:lstStyle/>
                    <a:p>
                      <a:r>
                        <a:rPr sz="1000" b="0">
                          <a:solidFill>
                            <a:srgbClr val="4B4B4B"/>
                          </a:solidFill>
                          <a:latin typeface="Arial"/>
                        </a:rPr>
                        <a:t>Sellable lists show active products only; expired and retired products are shown to the archive users and are never deleted (FR-PM-052).</a:t>
                      </a:r>
                    </a:p>
                  </a:txBody>
                  <a:tcPr marL="54864" marR="54864" marT="27432" marB="27432">
                    <a:solidFill>
                      <a:srgbClr val="E5F5FF"/>
                    </a:solidFill>
                  </a:tcPr>
                </a:tc>
              </a:tr>
              <a:tr h="243840">
                <a:tc>
                  <a:txBody>
                    <a:bodyPr/>
                    <a:lstStyle/>
                    <a:p>
                      <a:r>
                        <a:rPr sz="1000" b="0">
                          <a:solidFill>
                            <a:srgbClr val="4B4B4B"/>
                          </a:solidFill>
                          <a:latin typeface="Arial"/>
                        </a:rPr>
                        <a:t>Field rules check presence, a list of values, a number range or a format; document rules name the documents an account needs before submission (FR-PM-012, FR-PM-013).</a:t>
                      </a:r>
                    </a:p>
                  </a:txBody>
                  <a:tcPr marL="54864" marR="54864" marT="27432" marB="27432">
                    <a:solidFill>
                      <a:srgbClr val="FFFFFF"/>
                    </a:solidFill>
                  </a:tcPr>
                </a:tc>
              </a:tr>
            </a:tbl>
          </a:graphicData>
        </a:graphic>
      </p:graphicFrame>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3.png"/>
          <p:cNvPicPr>
            <a:picLocks noChangeAspect="1"/>
          </p:cNvPicPr>
          <p:nvPr/>
        </p:nvPicPr>
        <p:blipFill>
          <a:blip r:embed="rId3"/>
          <a:stretch>
            <a:fillRect/>
          </a:stretch>
        </p:blipFill>
        <p:spPr>
          <a:xfrm>
            <a:off x="548640" y="1261872"/>
            <a:ext cx="11094415" cy="464461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1 of 3)</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4.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2 of 3)</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5.png"/>
          <p:cNvPicPr>
            <a:picLocks noChangeAspect="1"/>
          </p:cNvPicPr>
          <p:nvPr/>
        </p:nvPicPr>
        <p:blipFill>
          <a:blip r:embed="rId3"/>
          <a:stretch>
            <a:fillRect/>
          </a:stretch>
        </p:blipFill>
        <p:spPr>
          <a:xfrm>
            <a:off x="548640" y="1261872"/>
            <a:ext cx="11094415" cy="82267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with the package filter (part 3 of 3)</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6.png"/>
          <p:cNvPicPr>
            <a:picLocks noChangeAspect="1"/>
          </p:cNvPicPr>
          <p:nvPr/>
        </p:nvPicPr>
        <p:blipFill>
          <a:blip r:embed="rId3"/>
          <a:stretch>
            <a:fillRect/>
          </a:stretch>
        </p:blipFill>
        <p:spPr>
          <a:xfrm>
            <a:off x="548640" y="1261872"/>
            <a:ext cx="11094415" cy="406834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1 of 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67.png"/>
          <p:cNvPicPr>
            <a:picLocks noChangeAspect="1"/>
          </p:cNvPicPr>
          <p:nvPr/>
        </p:nvPicPr>
        <p:blipFill>
          <a:blip r:embed="rId3"/>
          <a:stretch>
            <a:fillRect/>
          </a:stretch>
        </p:blipFill>
        <p:spPr>
          <a:xfrm>
            <a:off x="548640" y="1261872"/>
            <a:ext cx="11094415" cy="419693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product dialog (part 2 of 2)</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Read-only or locked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273</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8.png"/>
          <p:cNvPicPr>
            <a:picLocks noChangeAspect="1"/>
          </p:cNvPicPr>
          <p:nvPr/>
        </p:nvPicPr>
        <p:blipFill>
          <a:blip r:embed="rId3"/>
          <a:stretch>
            <a:fillRect/>
          </a:stretch>
        </p:blipFill>
        <p:spPr>
          <a:xfrm>
            <a:off x="548640" y="1261872"/>
            <a:ext cx="11094415" cy="46070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1 of 3)</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Read-only or locked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274</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69.png"/>
          <p:cNvPicPr>
            <a:picLocks noChangeAspect="1"/>
          </p:cNvPicPr>
          <p:nvPr/>
        </p:nvPicPr>
        <p:blipFill>
          <a:blip r:embed="rId3"/>
          <a:stretch>
            <a:fillRect/>
          </a:stretch>
        </p:blipFill>
        <p:spPr>
          <a:xfrm>
            <a:off x="548640" y="1261872"/>
            <a:ext cx="11094415" cy="473393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2 of 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Read-only or locked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170.png"/>
          <p:cNvPicPr>
            <a:picLocks noChangeAspect="1"/>
          </p:cNvPicPr>
          <p:nvPr/>
        </p:nvPicPr>
        <p:blipFill>
          <a:blip r:embed="rId3"/>
          <a:stretch>
            <a:fillRect/>
          </a:stretch>
        </p:blipFill>
        <p:spPr>
          <a:xfrm>
            <a:off x="548640" y="1261872"/>
            <a:ext cx="11094415" cy="86028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Products as the Auditor sees them, without the maintenance actions (part 3 of 3)</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276</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71.png"/>
          <p:cNvPicPr>
            <a:picLocks noChangeAspect="1"/>
          </p:cNvPicPr>
          <p:nvPr/>
        </p:nvPicPr>
        <p:blipFill>
          <a:blip r:embed="rId3"/>
          <a:stretch>
            <a:fillRect/>
          </a:stretch>
        </p:blipFill>
        <p:spPr>
          <a:xfrm>
            <a:off x="548640" y="1261872"/>
            <a:ext cx="11094415" cy="458657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1 of 2)</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SCR-PM-11 Products: Pending approval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277</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lice-00172.png"/>
          <p:cNvPicPr>
            <a:picLocks noChangeAspect="1"/>
          </p:cNvPicPr>
          <p:nvPr/>
        </p:nvPicPr>
        <p:blipFill>
          <a:blip r:embed="rId3"/>
          <a:stretch>
            <a:fillRect/>
          </a:stretch>
        </p:blipFill>
        <p:spPr>
          <a:xfrm>
            <a:off x="548640" y="1261872"/>
            <a:ext cx="11094415" cy="451122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tab with the authorisation actions (part 2 of 2)</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278</a:t>
            </a:r>
          </a:p>
        </p:txBody>
      </p:sp>
      <p:graphicFrame>
        <p:nvGraphicFramePr>
          <p:cNvPr id="9" name="Table 8"/>
          <p:cNvGraphicFramePr>
            <a:graphicFrameLocks noGrp="1"/>
          </p:cNvGraphicFramePr>
          <p:nvPr/>
        </p:nvGraphicFramePr>
        <p:xfrm>
          <a:off x="548640" y="1307592"/>
          <a:ext cx="6434760" cy="31013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81534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product: its risk code, lifecycle and authorisation status, package and version flags, line and cover type, current version, rate, package end and TSU review; the tabs Versions (every package version with its status, dates, source request and validator), Features (all product attributes) and Field Rules &amp; Documents (the field matrix and the documents an account needs). MBS creates the next version of a package from here.</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67056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Products › Product</a:t>
                      </a:r>
                    </a:p>
                    <a:p>
                      <a:r>
                        <a:rPr sz="950" b="0">
                          <a:solidFill>
                            <a:srgbClr val="4B4B4B"/>
                          </a:solidFill>
                          <a:latin typeface="Arial"/>
                        </a:rPr>
                        <a:t>Products › a row</a:t>
                      </a:r>
                    </a:p>
                    <a:p>
                      <a:r>
                        <a:rPr sz="950" b="0">
                          <a:solidFill>
                            <a:srgbClr val="4B4B4B"/>
                          </a:solidFill>
                          <a:latin typeface="Arial"/>
                        </a:rPr>
                        <a:t>Package Version › back arrow</a:t>
                      </a:r>
                    </a:p>
                    <a:p>
                      <a:r>
                        <a:rPr sz="950" b="0">
                          <a:solidFill>
                            <a:srgbClr val="4B4B4B"/>
                          </a:solidFill>
                          <a:latin typeface="Arial"/>
                        </a:rPr>
                        <a:t>Incentive Criteria (products matrix)</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FR-PM-050, FR-PM-012, FR-PM-013,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MBS and the approvers see the whole history of a product and start its next version from the terms in force.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279</a:t>
            </a:r>
          </a:p>
        </p:txBody>
      </p:sp>
      <p:graphicFrame>
        <p:nvGraphicFramePr>
          <p:cNvPr id="9" name="Table 8"/>
          <p:cNvGraphicFramePr>
            <a:graphicFrameLocks noGrp="1"/>
          </p:cNvGraphicFramePr>
          <p:nvPr/>
        </p:nvGraphicFramePr>
        <p:xfrm>
          <a:off x="548640" y="1325880"/>
          <a:ext cx="11094411" cy="472437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Risk code</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Product code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Lifecycle and record status pills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Expired, Retired; 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Package and version tags</a:t>
                      </a:r>
                    </a:p>
                  </a:txBody>
                  <a:tcPr marL="54864" marR="54864" marT="27432" marB="27432">
                    <a:solidFill>
                      <a:srgbClr val="FFFFFF"/>
                    </a:solidFill>
                  </a:tcPr>
                </a:tc>
                <a:tc>
                  <a:txBody>
                    <a:bodyPr/>
                    <a:lstStyle/>
                    <a:p>
                      <a:r>
                        <a:rPr sz="850" b="0">
                          <a:solidFill>
                            <a:srgbClr val="4B4B4B"/>
                          </a:solidFill>
                          <a:latin typeface="Arial"/>
                        </a:rPr>
                        <a:t>Tag</a:t>
                      </a:r>
                    </a:p>
                  </a:txBody>
                  <a:tcPr marL="54864" marR="54864" marT="27432" marB="27432">
                    <a:solidFill>
                      <a:srgbClr val="FFFFFF"/>
                    </a:solidFill>
                  </a:tcPr>
                </a:tc>
                <a:tc>
                  <a:txBody>
                    <a:bodyPr/>
                    <a:lstStyle/>
                    <a:p>
                      <a:r>
                        <a:rPr sz="850" b="0">
                          <a:solidFill>
                            <a:srgbClr val="4B4B4B"/>
                          </a:solidFill>
                          <a:latin typeface="Arial"/>
                        </a:rPr>
                        <a:t>Package; Version n Draft or For validation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Line › Type / Current Version / Rate % / Package End / TSU Review</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As in the catalogue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Versions</a:t>
                      </a:r>
                    </a:p>
                  </a:txBody>
                  <a:tcPr marL="54864" marR="54864" marT="27432" marB="27432">
                    <a:solidFill>
                      <a:srgbClr val="FFFFFF"/>
                    </a:solidFill>
                  </a:tcPr>
                </a:tc>
                <a:tc>
                  <a:txBody>
                    <a:bodyPr/>
                    <a:lstStyle/>
                    <a:p>
                      <a:r>
                        <a:rPr sz="850" b="0">
                          <a:solidFill>
                            <a:srgbClr val="4B4B4B"/>
                          </a:solidFill>
                          <a:latin typeface="Arial"/>
                        </a:rPr>
                        <a:t>Version / Status / Effective From / Effective To / Rate % / Package End / Request / Validated By / Change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Newest first; Draft, For validation, Released, Superseded, Expired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version yet.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Version</a:t>
                      </a:r>
                    </a:p>
                  </a:txBody>
                  <a:tcPr marL="54864" marR="54864" marT="27432" marB="27432">
                    <a:solidFill>
                      <a:srgbClr val="E5F5FF"/>
                    </a:solidFill>
                  </a:tcPr>
                </a:tc>
                <a:tc>
                  <a:txBody>
                    <a:bodyPr/>
                    <a:lstStyle/>
                    <a:p>
                      <a:r>
                        <a:rPr sz="850" b="0">
                          <a:solidFill>
                            <a:srgbClr val="4B4B4B"/>
                          </a:solidFill>
                          <a:latin typeface="Arial"/>
                        </a:rPr>
                        <a:t>What changes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Describe the change</a:t>
                      </a:r>
                    </a:p>
                  </a:txBody>
                  <a:tcPr marL="54864" marR="54864" marT="27432" marB="27432">
                    <a:solidFill>
                      <a:srgbClr val="E5F5FF"/>
                    </a:solidFill>
                  </a:tcPr>
                </a:tc>
              </a:tr>
              <a:tr h="1127752">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Features</a:t>
                      </a:r>
                    </a:p>
                  </a:txBody>
                  <a:tcPr marL="54864" marR="54864" marT="27432" marB="27432">
                    <a:solidFill>
                      <a:srgbClr val="FFFFFF"/>
                    </a:solidFill>
                  </a:tcPr>
                </a:tc>
                <a:tc>
                  <a:txBody>
                    <a:bodyPr/>
                    <a:lstStyle/>
                    <a:p>
                      <a:r>
                        <a:rPr sz="850" b="0">
                          <a:solidFill>
                            <a:srgbClr val="4B4B4B"/>
                          </a:solidFill>
                          <a:latin typeface="Arial"/>
                        </a:rPr>
                        <a:t>Line / Cover type / Risk items / Rating / Package / Package TSI limit / Fleet / Market segments / Mortgage related / Direct payment allowed / Multi-year / Free First Year / Placement after / Default rate % / Default commission % / Minimum premium / TSU review</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on the product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Field Rules &amp; Documents › Field matrix</a:t>
                      </a:r>
                    </a:p>
                  </a:txBody>
                  <a:tcPr marL="54864" marR="54864" marT="27432" marB="27432">
                    <a:solidFill>
                      <a:srgbClr val="E5F5FF"/>
                    </a:solidFill>
                  </a:tcPr>
                </a:tc>
                <a:tc>
                  <a:txBody>
                    <a:bodyPr/>
                    <a:lstStyle/>
                    <a:p>
                      <a:r>
                        <a:rPr sz="850" b="0">
                          <a:solidFill>
                            <a:srgbClr val="4B4B4B"/>
                          </a:solidFill>
                          <a:latin typeface="Arial"/>
                        </a:rPr>
                        <a:t>Level / Field / Key / Mandatory / Check / From</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Rules of all products, the line and the product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field rules apply.</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Field Rules &amp; Documents</a:t>
                      </a:r>
                    </a:p>
                  </a:txBody>
                  <a:tcPr marL="54864" marR="54864" marT="27432" marB="27432">
                    <a:solidFill>
                      <a:srgbClr val="FFFFFF"/>
                    </a:solidFill>
                  </a:tcPr>
                </a:tc>
                <a:tc>
                  <a:txBody>
                    <a:bodyPr/>
                    <a:lstStyle/>
                    <a:p>
                      <a:r>
                        <a:rPr sz="850" b="0">
                          <a:solidFill>
                            <a:srgbClr val="4B4B4B"/>
                          </a:solidFill>
                          <a:latin typeface="Arial"/>
                        </a:rPr>
                        <a:t>Documents required before submission</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Document types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document is required.</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Applies to</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 Product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c>
                  <a:txBody>
                    <a:bodyPr/>
                    <a:lstStyle/>
                    <a:p>
                      <a:r>
                        <a:rPr sz="850" b="0">
                          <a:solidFill>
                            <a:srgbClr val="4B4B4B"/>
                          </a:solidFill>
                          <a:latin typeface="Arial"/>
                        </a:rPr>
                        <a:t>Rules for every product use the scope code '*'</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Level</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Account or Risk item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280</a:t>
            </a:r>
          </a:p>
        </p:txBody>
      </p:sp>
      <p:graphicFrame>
        <p:nvGraphicFramePr>
          <p:cNvPr id="9" name="Table 8"/>
          <p:cNvGraphicFramePr>
            <a:graphicFrameLocks noGrp="1"/>
          </p:cNvGraphicFramePr>
          <p:nvPr/>
        </p:nvGraphicFramePr>
        <p:xfrm>
          <a:off x="548640" y="1325880"/>
          <a:ext cx="11094411" cy="171449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Field key / Label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Field key (one of several keys with a vertical bar) and its label</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per scope</a:t>
                      </a:r>
                    </a:p>
                  </a:txBody>
                  <a:tcPr marL="54864" marR="54864" marT="27432" marB="27432">
                    <a:solidFill>
                      <a:srgbClr val="FFFFFF"/>
                    </a:solidFill>
                  </a:tcPr>
                </a:tc>
                <a:tc>
                  <a:txBody>
                    <a:bodyPr/>
                    <a:lstStyle/>
                    <a:p>
                      <a:r>
                        <a:rPr sz="850" b="0">
                          <a:solidFill>
                            <a:srgbClr val="4B4B4B"/>
                          </a:solidFill>
                          <a:latin typeface="Arial"/>
                        </a:rPr>
                        <a:t>Minimum-field rule already exists: &lt;key&gt;</a:t>
                      </a:r>
                    </a:p>
                  </a:txBody>
                  <a:tcPr marL="54864" marR="54864" marT="27432" marB="27432">
                    <a:solidFill>
                      <a:srgbClr val="FFFFFF"/>
                    </a:solidFill>
                  </a:tcPr>
                </a:tc>
              </a:tr>
              <a:tr h="350518">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New Rule (field)</a:t>
                      </a:r>
                    </a:p>
                  </a:txBody>
                  <a:tcPr marL="54864" marR="54864" marT="27432" marB="27432">
                    <a:solidFill>
                      <a:srgbClr val="E5F5FF"/>
                    </a:solidFill>
                  </a:tcPr>
                </a:tc>
                <a:tc>
                  <a:txBody>
                    <a:bodyPr/>
                    <a:lstStyle/>
                    <a:p>
                      <a:r>
                        <a:rPr sz="850" b="0">
                          <a:solidFill>
                            <a:srgbClr val="4B4B4B"/>
                          </a:solidFill>
                          <a:latin typeface="Arial"/>
                        </a:rPr>
                        <a:t>Check</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Presence only, List of values, Number range, Format (pattern)</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The parameters of the check are complete</a:t>
                      </a:r>
                    </a:p>
                  </a:txBody>
                  <a:tcPr marL="54864" marR="54864" marT="27432" marB="27432">
                    <a:solidFill>
                      <a:srgbClr val="E5F5FF"/>
                    </a:solidFill>
                  </a:tcPr>
                </a:tc>
                <a:tc>
                  <a:txBody>
                    <a:bodyPr/>
                    <a:lstStyle/>
                    <a:p>
                      <a:r>
                        <a:rPr sz="850" b="0">
                          <a:solidFill>
                            <a:srgbClr val="4B4B4B"/>
                          </a:solidFill>
                          <a:latin typeface="Arial"/>
                        </a:rPr>
                        <a:t>Complete the parameters of the &lt;type&gt; rule</a:t>
                      </a:r>
                    </a:p>
                  </a:txBody>
                  <a:tcPr marL="54864" marR="54864" marT="27432" marB="27432">
                    <a:solidFill>
                      <a:srgbClr val="E5F5FF"/>
                    </a:solidFill>
                  </a:tcPr>
                </a:tc>
              </a:tr>
              <a:tr h="350518">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Rule (field)</a:t>
                      </a:r>
                    </a:p>
                  </a:txBody>
                  <a:tcPr marL="54864" marR="54864" marT="27432" marB="27432">
                    <a:solidFill>
                      <a:srgbClr val="FFFFFF"/>
                    </a:solidFill>
                  </a:tcPr>
                </a:tc>
                <a:tc>
                  <a:txBody>
                    <a:bodyPr/>
                    <a:lstStyle/>
                    <a:p>
                      <a:r>
                        <a:rPr sz="850" b="0">
                          <a:solidFill>
                            <a:srgbClr val="4B4B4B"/>
                          </a:solidFill>
                          <a:latin typeface="Arial"/>
                        </a:rPr>
                        <a:t>List of values / Minimum / Maximum / Pattern</a:t>
                      </a:r>
                    </a:p>
                  </a:txBody>
                  <a:tcPr marL="54864" marR="54864" marT="27432" marB="27432">
                    <a:solidFill>
                      <a:srgbClr val="FFFFFF"/>
                    </a:solidFill>
                  </a:tcPr>
                </a:tc>
                <a:tc>
                  <a:txBody>
                    <a:bodyPr/>
                    <a:lstStyle/>
                    <a:p>
                      <a:r>
                        <a:rPr sz="850" b="0">
                          <a:solidFill>
                            <a:srgbClr val="4B4B4B"/>
                          </a:solidFill>
                          <a:latin typeface="Arial"/>
                        </a:rPr>
                        <a:t>Text / Number</a:t>
                      </a:r>
                    </a:p>
                  </a:txBody>
                  <a:tcPr marL="54864" marR="54864" marT="27432" marB="27432">
                    <a:solidFill>
                      <a:srgbClr val="FFFFFF"/>
                    </a:solidFill>
                  </a:tcPr>
                </a:tc>
                <a:tc>
                  <a:txBody>
                    <a:bodyPr/>
                    <a:lstStyle/>
                    <a:p>
                      <a:r>
                        <a:rPr sz="850" b="0">
                          <a:solidFill>
                            <a:srgbClr val="4B4B4B"/>
                          </a:solidFill>
                          <a:latin typeface="Arial"/>
                        </a:rPr>
                        <a:t>List code; range; regular expression</a:t>
                      </a:r>
                    </a:p>
                  </a:txBody>
                  <a:tcPr marL="54864" marR="54864" marT="27432" marB="27432">
                    <a:solidFill>
                      <a:srgbClr val="FFFFFF"/>
                    </a:solidFill>
                  </a:tcPr>
                </a:tc>
                <a:tc>
                  <a:txBody>
                    <a:bodyPr/>
                    <a:lstStyle/>
                    <a:p>
                      <a:r>
                        <a:rPr sz="850" b="0">
                          <a:solidFill>
                            <a:srgbClr val="4B4B4B"/>
                          </a:solidFill>
                          <a:latin typeface="Arial"/>
                        </a:rPr>
                        <a:t>Cond.: by check</a:t>
                      </a:r>
                    </a:p>
                  </a:txBody>
                  <a:tcPr marL="54864" marR="54864" marT="27432" marB="27432">
                    <a:solidFill>
                      <a:srgbClr val="FFFFFF"/>
                    </a:solidFill>
                  </a:tcPr>
                </a:tc>
                <a:tc>
                  <a:txBody>
                    <a:bodyPr/>
                    <a:lstStyle/>
                    <a:p>
                      <a:r>
                        <a:rPr sz="850" b="0">
                          <a:solidFill>
                            <a:srgbClr val="4B4B4B"/>
                          </a:solidFill>
                          <a:latin typeface="Arial"/>
                        </a:rPr>
                        <a:t>Known list; valid pattern</a:t>
                      </a:r>
                    </a:p>
                  </a:txBody>
                  <a:tcPr marL="54864" marR="54864" marT="27432" marB="27432">
                    <a:solidFill>
                      <a:srgbClr val="FFFFFF"/>
                    </a:solidFill>
                  </a:tcPr>
                </a:tc>
                <a:tc>
                  <a:txBody>
                    <a:bodyPr/>
                    <a:lstStyle/>
                    <a:p>
                      <a:r>
                        <a:rPr sz="850" b="0">
                          <a:solidFill>
                            <a:srgbClr val="4B4B4B"/>
                          </a:solidFill>
                          <a:latin typeface="Arial"/>
                        </a:rPr>
                        <a:t>Unknown list of values &lt;lov type&gt;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Rule (document)</a:t>
                      </a:r>
                    </a:p>
                  </a:txBody>
                  <a:tcPr marL="54864" marR="54864" marT="27432" marB="27432">
                    <a:solidFill>
                      <a:srgbClr val="E5F5FF"/>
                    </a:solidFill>
                  </a:tcPr>
                </a:tc>
                <a:tc>
                  <a:txBody>
                    <a:bodyPr/>
                    <a:lstStyle/>
                    <a:p>
                      <a:r>
                        <a:rPr sz="850" b="0">
                          <a:solidFill>
                            <a:srgbClr val="4B4B4B"/>
                          </a:solidFill>
                          <a:latin typeface="Arial"/>
                        </a:rPr>
                        <a:t>Document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Document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New Rule</a:t>
                      </a:r>
                    </a:p>
                  </a:txBody>
                  <a:tcPr marL="54864" marR="54864" marT="27432" marB="27432">
                    <a:solidFill>
                      <a:srgbClr val="FFFFFF"/>
                    </a:solidFill>
                  </a:tcPr>
                </a:tc>
                <a:tc>
                  <a:txBody>
                    <a:bodyPr/>
                    <a:lstStyle/>
                    <a:p>
                      <a:r>
                        <a:rPr sz="850" b="0">
                          <a:solidFill>
                            <a:srgbClr val="4B4B4B"/>
                          </a:solidFill>
                          <a:latin typeface="Arial"/>
                        </a:rPr>
                        <a:t>Mandatory</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281</a:t>
            </a:r>
          </a:p>
        </p:txBody>
      </p:sp>
      <p:graphicFrame>
        <p:nvGraphicFramePr>
          <p:cNvPr id="9" name="Table 8"/>
          <p:cNvGraphicFramePr>
            <a:graphicFrameLocks noGrp="1"/>
          </p:cNvGraphicFramePr>
          <p:nvPr/>
        </p:nvGraphicFramePr>
        <p:xfrm>
          <a:off x="548640" y="1325880"/>
          <a:ext cx="11094412" cy="184403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PRODUCT_MAINTAIN or 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product dialog (as New product,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As on Products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New Version</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Package product with a version in force and no version being set up</a:t>
                      </a:r>
                    </a:p>
                  </a:txBody>
                  <a:tcPr marL="54864" marR="54864" marT="27432" marB="27432">
                    <a:solidFill>
                      <a:srgbClr val="FFFFFF"/>
                    </a:solidFill>
                  </a:tcPr>
                </a:tc>
                <a:tc>
                  <a:txBody>
                    <a:bodyPr/>
                    <a:lstStyle/>
                    <a:p>
                      <a:r>
                        <a:rPr sz="850" b="0">
                          <a:solidFill>
                            <a:srgbClr val="4B4B4B"/>
                          </a:solidFill>
                          <a:latin typeface="Arial"/>
                        </a:rPr>
                        <a:t>Opens New Version; Create Draft copies the version in force into a new draft effective tomorrow and opens it</a:t>
                      </a:r>
                    </a:p>
                  </a:txBody>
                  <a:tcPr marL="54864" marR="54864" marT="27432" marB="27432">
                    <a:solidFill>
                      <a:srgbClr val="FFFFFF"/>
                    </a:solidFill>
                  </a:tcPr>
                </a:tc>
                <a:tc>
                  <a:txBody>
                    <a:bodyPr/>
                    <a:lstStyle/>
                    <a:p>
                      <a:r>
                        <a:rPr sz="850" b="0">
                          <a:solidFill>
                            <a:srgbClr val="4B4B4B"/>
                          </a:solidFill>
                          <a:latin typeface="Arial"/>
                        </a:rPr>
                        <a:t>Draft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Add Product Rule</a:t>
                      </a:r>
                    </a:p>
                  </a:txBody>
                  <a:tcPr marL="54864" marR="54864" marT="27432" marB="27432">
                    <a:solidFill>
                      <a:srgbClr val="E5F5FF"/>
                    </a:solidFill>
                  </a:tcPr>
                </a:tc>
                <a:tc>
                  <a:txBody>
                    <a:bodyPr/>
                    <a:lstStyle/>
                    <a:p>
                      <a:r>
                        <a:rPr sz="850" b="0">
                          <a:solidFill>
                            <a:srgbClr val="4B4B4B"/>
                          </a:solidFill>
                          <a:latin typeface="Arial"/>
                        </a:rPr>
                        <a:t>PRODUCT_MAINTAIN or MASTER_MAINTAIN</a:t>
                      </a:r>
                    </a:p>
                  </a:txBody>
                  <a:tcPr marL="54864" marR="54864" marT="27432" marB="27432">
                    <a:solidFill>
                      <a:srgbClr val="E5F5FF"/>
                    </a:solidFill>
                  </a:tcPr>
                </a:tc>
                <a:tc>
                  <a:txBody>
                    <a:bodyPr/>
                    <a:lstStyle/>
                    <a:p>
                      <a:r>
                        <a:rPr sz="850" b="0">
                          <a:solidFill>
                            <a:srgbClr val="4B4B4B"/>
                          </a:solidFill>
                          <a:latin typeface="Arial"/>
                        </a:rPr>
                        <a:t>Field Rules &amp; Documents tab</a:t>
                      </a:r>
                    </a:p>
                  </a:txBody>
                  <a:tcPr marL="54864" marR="54864" marT="27432" marB="27432">
                    <a:solidFill>
                      <a:srgbClr val="E5F5FF"/>
                    </a:solidFill>
                  </a:tcPr>
                </a:tc>
                <a:tc>
                  <a:txBody>
                    <a:bodyPr/>
                    <a:lstStyle/>
                    <a:p>
                      <a:r>
                        <a:rPr sz="850" b="0">
                          <a:solidFill>
                            <a:srgbClr val="4B4B4B"/>
                          </a:solidFill>
                          <a:latin typeface="Arial"/>
                        </a:rPr>
                        <a:t>Opens New Rule with the scope set to this product;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Open a version row</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Versions tab</a:t>
                      </a:r>
                    </a:p>
                  </a:txBody>
                  <a:tcPr marL="54864" marR="54864" marT="27432" marB="27432">
                    <a:solidFill>
                      <a:srgbClr val="FFFFFF"/>
                    </a:solidFill>
                  </a:tcPr>
                </a:tc>
                <a:tc>
                  <a:txBody>
                    <a:bodyPr/>
                    <a:lstStyle/>
                    <a:p>
                      <a:r>
                        <a:rPr sz="850" b="0">
                          <a:solidFill>
                            <a:srgbClr val="4B4B4B"/>
                          </a:solidFill>
                          <a:latin typeface="Arial"/>
                        </a:rPr>
                        <a:t>Opens the Package Version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282</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non-package product has no versions; it is rated on the product rate (FR-PM-050).</a:t>
                      </a:r>
                    </a:p>
                  </a:txBody>
                  <a:tcPr marL="54864" marR="54864" marT="27432" marB="27432">
                    <a:solidFill>
                      <a:srgbClr val="FFFFFF"/>
                    </a:solidFill>
                  </a:tcPr>
                </a:tc>
              </a:tr>
              <a:tr h="243840">
                <a:tc>
                  <a:txBody>
                    <a:bodyPr/>
                    <a:lstStyle/>
                    <a:p>
                      <a:r>
                        <a:rPr sz="1000" b="0">
                          <a:solidFill>
                            <a:srgbClr val="4B4B4B"/>
                          </a:solidFill>
                          <a:latin typeface="Arial"/>
                        </a:rPr>
                        <a:t>A package has at most one version being set up (draft or for validation) at a time (FR-PM-042, FR-PM-050).</a:t>
                      </a:r>
                    </a:p>
                  </a:txBody>
                  <a:tcPr marL="54864" marR="54864" marT="27432" marB="27432">
                    <a:solidFill>
                      <a:srgbClr val="E5F5FF"/>
                    </a:solidFill>
                  </a:tcPr>
                </a:tc>
              </a:tr>
              <a:tr h="243840">
                <a:tc>
                  <a:txBody>
                    <a:bodyPr/>
                    <a:lstStyle/>
                    <a:p>
                      <a:r>
                        <a:rPr sz="1000" b="0">
                          <a:solidFill>
                            <a:srgbClr val="4B4B4B"/>
                          </a:solidFill>
                          <a:latin typeface="Arial"/>
                        </a:rPr>
                        <a:t>Every version is kept: superseded and expired versions stay readable with their validator and source request (FR-PM-050, FR-PM-005).</a:t>
                      </a:r>
                    </a:p>
                  </a:txBody>
                  <a:tcPr marL="54864" marR="54864" marT="27432" marB="27432">
                    <a:solidFill>
                      <a:srgbClr val="FFFFFF"/>
                    </a:solidFill>
                  </a:tcPr>
                </a:tc>
              </a:tr>
              <a:tr h="243840">
                <a:tc>
                  <a:txBody>
                    <a:bodyPr/>
                    <a:lstStyle/>
                    <a:p>
                      <a:r>
                        <a:rPr sz="1000" b="0">
                          <a:solidFill>
                            <a:srgbClr val="4B4B4B"/>
                          </a:solidFill>
                          <a:latin typeface="Arial"/>
                        </a:rPr>
                        <a:t>Field rules of all products, of the line and of the product apply together; the account checks refuse a missing or invalid value (FR-PM-012).</a:t>
                      </a:r>
                    </a:p>
                  </a:txBody>
                  <a:tcPr marL="54864" marR="54864" marT="27432" marB="27432">
                    <a:solidFill>
                      <a:srgbClr val="E5F5FF"/>
                    </a:solidFill>
                  </a:tcPr>
                </a:tc>
              </a:tr>
            </a:tbl>
          </a:graphicData>
        </a:graphic>
      </p:graphicFrame>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3.png"/>
          <p:cNvPicPr>
            <a:picLocks noChangeAspect="1"/>
          </p:cNvPicPr>
          <p:nvPr/>
        </p:nvPicPr>
        <p:blipFill>
          <a:blip r:embed="rId3"/>
          <a:stretch>
            <a:fillRect/>
          </a:stretch>
        </p:blipFill>
        <p:spPr>
          <a:xfrm>
            <a:off x="548640" y="1261872"/>
            <a:ext cx="11094415" cy="466730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1 of 2)</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4.png"/>
          <p:cNvPicPr>
            <a:picLocks noChangeAspect="1"/>
          </p:cNvPicPr>
          <p:nvPr/>
        </p:nvPicPr>
        <p:blipFill>
          <a:blip r:embed="rId3"/>
          <a:stretch>
            <a:fillRect/>
          </a:stretch>
        </p:blipFill>
        <p:spPr>
          <a:xfrm>
            <a:off x="548640" y="1261872"/>
            <a:ext cx="11094415" cy="21710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Product record of a package, Versions tab (part 2 of 2)</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2-02-new_version.png"/>
          <p:cNvPicPr>
            <a:picLocks noChangeAspect="1"/>
          </p:cNvPicPr>
          <p:nvPr/>
        </p:nvPicPr>
        <p:blipFill>
          <a:blip r:embed="rId3"/>
          <a:stretch>
            <a:fillRect/>
          </a:stretch>
        </p:blipFill>
        <p:spPr>
          <a:xfrm>
            <a:off x="548640" y="1261872"/>
            <a:ext cx="11094415" cy="3296759"/>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Version dialog</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5.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1 of 3)</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2 of 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SCR-PM-12 Product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77.png"/>
          <p:cNvPicPr>
            <a:picLocks noChangeAspect="1"/>
          </p:cNvPicPr>
          <p:nvPr/>
        </p:nvPicPr>
        <p:blipFill>
          <a:blip r:embed="rId3"/>
          <a:stretch>
            <a:fillRect/>
          </a:stretch>
        </p:blipFill>
        <p:spPr>
          <a:xfrm>
            <a:off x="548640" y="1261872"/>
            <a:ext cx="11094415" cy="36248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Rules &amp; Documents tab (part 3 of 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graphicFrame>
        <p:nvGraphicFramePr>
          <p:cNvPr id="10" name="Table 9"/>
          <p:cNvGraphicFramePr>
            <a:graphicFrameLocks noGrp="1"/>
          </p:cNvGraphicFramePr>
          <p:nvPr/>
        </p:nvGraphicFramePr>
        <p:xfrm>
          <a:off x="548640" y="1307592"/>
          <a:ext cx="6434760" cy="339090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96012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version of a package: the rate scheme, dates and origin, the coverages and perils, the insurers of the panel with their role, share, rate and minimum premium, and the insurer terms per coverage with their clauses. MBS edits a draft and submits it for validation; the validator (TSU Head or Business Administrator, never the maker or submitter) confirms the checklist and releases it, or returns it to MBS with a reason. Released versions are read only and show who validated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Product › Package Version</a:t>
                      </a:r>
                    </a:p>
                    <a:p>
                      <a:r>
                        <a:rPr sz="950" b="0">
                          <a:solidFill>
                            <a:srgbClr val="4B4B4B"/>
                          </a:solidFill>
                          <a:latin typeface="Arial"/>
                        </a:rPr>
                        <a:t>Product record › Versions tab › a row</a:t>
                      </a:r>
                    </a:p>
                    <a:p>
                      <a:r>
                        <a:rPr sz="950" b="0">
                          <a:solidFill>
                            <a:srgbClr val="4B4B4B"/>
                          </a:solidFill>
                          <a:latin typeface="Arial"/>
                        </a:rPr>
                        <a:t>Product record › New Version</a:t>
                      </a:r>
                    </a:p>
                    <a:p>
                      <a:r>
                        <a:rPr sz="950" b="0">
                          <a:solidFill>
                            <a:srgbClr val="4B4B4B"/>
                          </a:solidFill>
                          <a:latin typeface="Arial"/>
                        </a:rPr>
                        <a:t>Package Request record › Set-up tab › Open Version Editor</a:t>
                      </a:r>
                    </a:p>
                    <a:p>
                      <a:r>
                        <a:rPr sz="950" b="0">
                          <a:solidFill>
                            <a:srgbClr val="4B4B4B"/>
                          </a:solidFill>
                          <a:latin typeface="Arial"/>
                        </a:rPr>
                        <a:t>Validation Queue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 FR-PM-050, FR-PM-014, FR-PM-011, FR-PM-042</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version is set up once, checked by a second person and released on its effective date; every earlier version stays on record.</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(11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bl>
          </a:graphicData>
        </a:graphic>
      </p:graphicFrame>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fields and columns (No. = callout on the first image)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290</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Product / Version</a:t>
                      </a:r>
                    </a:p>
                  </a:txBody>
                  <a:tcPr marL="54864" marR="54864" marT="27432" marB="27432">
                    <a:solidFill>
                      <a:srgbClr val="FFFFFF"/>
                    </a:solidFill>
                  </a:tcPr>
                </a:tc>
                <a:tc>
                  <a:txBody>
                    <a:bodyPr/>
                    <a:lstStyle/>
                    <a:p>
                      <a:r>
                        <a:rPr sz="850" b="0">
                          <a:solidFill>
                            <a:srgbClr val="4B4B4B"/>
                          </a:solidFill>
                          <a:latin typeface="Arial"/>
                        </a:rPr>
                        <a:t>Reference chip</a:t>
                      </a:r>
                    </a:p>
                  </a:txBody>
                  <a:tcPr marL="54864" marR="54864" marT="27432" marB="27432">
                    <a:solidFill>
                      <a:srgbClr val="FFFFFF"/>
                    </a:solidFill>
                  </a:tcPr>
                </a:tc>
                <a:tc>
                  <a:txBody>
                    <a:bodyPr/>
                    <a:lstStyle/>
                    <a:p>
                      <a:r>
                        <a:rPr sz="850" b="0">
                          <a:solidFill>
                            <a:srgbClr val="4B4B4B"/>
                          </a:solidFill>
                          <a:latin typeface="Arial"/>
                        </a:rPr>
                        <a:t>Risk code; version number</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Version status pill</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Draft, For validation, Released, Superseded, Expired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Header</a:t>
                      </a:r>
                    </a:p>
                  </a:txBody>
                  <a:tcPr marL="54864" marR="54864" marT="27432" marB="27432">
                    <a:solidFill>
                      <a:srgbClr val="FFFFFF"/>
                    </a:solidFill>
                  </a:tcPr>
                </a:tc>
                <a:tc>
                  <a:txBody>
                    <a:bodyPr/>
                    <a:lstStyle/>
                    <a:p>
                      <a:r>
                        <a:rPr sz="850" b="0">
                          <a:solidFill>
                            <a:srgbClr val="4B4B4B"/>
                          </a:solidFill>
                          <a:latin typeface="Arial"/>
                        </a:rPr>
                        <a:t>Effective / Package End / Rate % / Set Up By / ManCom Ref.</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 shows Per insurer when every insurer has its own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Header</a:t>
                      </a:r>
                    </a:p>
                  </a:txBody>
                  <a:tcPr marL="54864" marR="54864" marT="27432" marB="27432">
                    <a:solidFill>
                      <a:srgbClr val="E5F5FF"/>
                    </a:solidFill>
                  </a:tcPr>
                </a:tc>
                <a:tc>
                  <a:txBody>
                    <a:bodyPr/>
                    <a:lstStyle/>
                    <a:p>
                      <a:r>
                        <a:rPr sz="850" b="0">
                          <a:solidFill>
                            <a:srgbClr val="4B4B4B"/>
                          </a:solidFill>
                          <a:latin typeface="Arial"/>
                        </a:rPr>
                        <a:t>Package Request</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PKR-yyyy-nnnnnn of the request that produced the version, a link to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Package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Up to four decimals; empty when every insurer has its own rate</a:t>
                      </a:r>
                    </a:p>
                  </a:txBody>
                  <a:tcPr marL="54864" marR="54864" marT="27432" marB="27432">
                    <a:solidFill>
                      <a:srgbClr val="FFFFFF"/>
                    </a:solidFill>
                  </a:tcPr>
                </a:tc>
                <a:tc>
                  <a:txBody>
                    <a:bodyPr/>
                    <a:lstStyle/>
                    <a:p>
                      <a:r>
                        <a:rPr sz="850" b="0">
                          <a:solidFill>
                            <a:srgbClr val="4B4B4B"/>
                          </a:solidFill>
                          <a:latin typeface="Arial"/>
                        </a:rPr>
                        <a:t>Cond.: or a rate for every insurer</a:t>
                      </a:r>
                    </a:p>
                  </a:txBody>
                  <a:tcPr marL="54864" marR="54864" marT="27432" marB="27432">
                    <a:solidFill>
                      <a:srgbClr val="FFFFFF"/>
                    </a:solidFill>
                  </a:tcPr>
                </a:tc>
                <a:tc>
                  <a:txBody>
                    <a:bodyPr/>
                    <a:lstStyle/>
                    <a:p>
                      <a:r>
                        <a:rPr sz="850" b="0">
                          <a:solidFill>
                            <a:srgbClr val="4B4B4B"/>
                          </a:solidFill>
                          <a:latin typeface="Arial"/>
                        </a:rPr>
                        <a:t>0 to 100; the package rate or a rate for every insurer</a:t>
                      </a:r>
                    </a:p>
                  </a:txBody>
                  <a:tcPr marL="54864" marR="54864" marT="27432" marB="27432">
                    <a:solidFill>
                      <a:srgbClr val="FFFFFF"/>
                    </a:solidFill>
                  </a:tcPr>
                </a:tc>
                <a:tc>
                  <a:txBody>
                    <a:bodyPr/>
                    <a:lstStyle/>
                    <a:p>
                      <a:r>
                        <a:rPr sz="850" b="0">
                          <a:solidFill>
                            <a:srgbClr val="4B4B4B"/>
                          </a:solidFill>
                          <a:latin typeface="Arial"/>
                        </a:rPr>
                        <a:t>Enter a rate between 0 and 100 / Enter the package rate or a rate for every insurer</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Minimum Premium</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minimum premium</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Rate Scheme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a commission between 0 and 100</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Rate Scheme</a:t>
                      </a:r>
                    </a:p>
                  </a:txBody>
                  <a:tcPr marL="54864" marR="54864" marT="27432" marB="27432">
                    <a:solidFill>
                      <a:srgbClr val="E5F5FF"/>
                    </a:solidFill>
                  </a:tcPr>
                </a:tc>
                <a:tc>
                  <a:txBody>
                    <a:bodyPr/>
                    <a:lstStyle/>
                    <a:p>
                      <a:r>
                        <a:rPr sz="850" b="0">
                          <a:solidFill>
                            <a:srgbClr val="4B4B4B"/>
                          </a:solidFill>
                          <a:latin typeface="Arial"/>
                        </a:rPr>
                        <a:t>Package TSI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Amount in PHP; above it TSU prices the risk</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a positive amount</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Today or later; after the start of the version in force</a:t>
                      </a:r>
                    </a:p>
                  </a:txBody>
                  <a:tcPr marL="54864" marR="54864" marT="27432" marB="27432">
                    <a:solidFill>
                      <a:srgbClr val="FFFFFF"/>
                    </a:solidFill>
                  </a:tcPr>
                </a:tc>
                <a:tc>
                  <a:txBody>
                    <a:bodyPr/>
                    <a:lstStyle/>
                    <a:p>
                      <a:r>
                        <a:rPr sz="850" b="0">
                          <a:solidFill>
                            <a:srgbClr val="4B4B4B"/>
                          </a:solidFill>
                          <a:latin typeface="Arial"/>
                        </a:rPr>
                        <a:t>Enter the effective date / The effective date cannot be before today / The effective date must be after the start of version &lt;version no&gt;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Package Start</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Dates</a:t>
                      </a:r>
                    </a:p>
                  </a:txBody>
                  <a:tcPr marL="54864" marR="54864" marT="27432" marB="27432">
                    <a:solidFill>
                      <a:srgbClr val="FFFFFF"/>
                    </a:solidFill>
                  </a:tcPr>
                </a:tc>
                <a:tc>
                  <a:txBody>
                    <a:bodyPr/>
                    <a:lstStyle/>
                    <a:p>
                      <a:r>
                        <a:rPr sz="850" b="0">
                          <a:solidFill>
                            <a:srgbClr val="4B4B4B"/>
                          </a:solidFill>
                          <a:latin typeface="Arial"/>
                        </a:rPr>
                        <a:t>Package End</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 expiry monitoring</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After the effective date</a:t>
                      </a:r>
                    </a:p>
                  </a:txBody>
                  <a:tcPr marL="54864" marR="54864" marT="27432" marB="27432">
                    <a:solidFill>
                      <a:srgbClr val="FFFFFF"/>
                    </a:solidFill>
                  </a:tcPr>
                </a:tc>
                <a:tc>
                  <a:txBody>
                    <a:bodyPr/>
                    <a:lstStyle/>
                    <a:p>
                      <a:r>
                        <a:rPr sz="850" b="0">
                          <a:solidFill>
                            <a:srgbClr val="4B4B4B"/>
                          </a:solidFill>
                          <a:latin typeface="Arial"/>
                        </a:rPr>
                        <a:t>The package end date must be after the effective date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Dates</a:t>
                      </a:r>
                    </a:p>
                  </a:txBody>
                  <a:tcPr marL="54864" marR="54864" marT="27432" marB="27432">
                    <a:solidFill>
                      <a:srgbClr val="E5F5FF"/>
                    </a:solidFill>
                  </a:tcPr>
                </a:tc>
                <a:tc>
                  <a:txBody>
                    <a:bodyPr/>
                    <a:lstStyle/>
                    <a:p>
                      <a:r>
                        <a:rPr sz="850" b="0">
                          <a:solidFill>
                            <a:srgbClr val="4B4B4B"/>
                          </a:solidFill>
                          <a:latin typeface="Arial"/>
                        </a:rPr>
                        <a:t>Anniversary</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Change Summary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500 characters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fields and columns (No. = callout on the first image)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291</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Origin</a:t>
                      </a:r>
                    </a:p>
                  </a:txBody>
                  <a:tcPr marL="54864" marR="54864" marT="27432" marB="27432">
                    <a:solidFill>
                      <a:srgbClr val="FFFFFF"/>
                    </a:solidFill>
                  </a:tcPr>
                </a:tc>
                <a:tc>
                  <a:txBody>
                    <a:bodyPr/>
                    <a:lstStyle/>
                    <a:p>
                      <a:r>
                        <a:rPr sz="850" b="0">
                          <a:solidFill>
                            <a:srgbClr val="4B4B4B"/>
                          </a:solidFill>
                          <a:latin typeface="Arial"/>
                        </a:rPr>
                        <a:t>ManCom Sign-off Reference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MC-PKR-yyyy-nnnnnn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Origin</a:t>
                      </a:r>
                    </a:p>
                  </a:txBody>
                  <a:tcPr marL="54864" marR="54864" marT="27432" marB="27432">
                    <a:solidFill>
                      <a:srgbClr val="E5F5FF"/>
                    </a:solidFill>
                  </a:tcPr>
                </a:tc>
                <a:tc>
                  <a:txBody>
                    <a:bodyPr/>
                    <a:lstStyle/>
                    <a:p>
                      <a:r>
                        <a:rPr sz="850" b="0">
                          <a:solidFill>
                            <a:srgbClr val="4B4B4B"/>
                          </a:solidFill>
                          <a:latin typeface="Arial"/>
                        </a:rPr>
                        <a:t>Computation Basis</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As agreed with the insurers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name, with the Basic tag</a:t>
                      </a:r>
                    </a:p>
                  </a:txBody>
                  <a:tcPr marL="54864" marR="54864" marT="27432" marB="27432">
                    <a:solidFill>
                      <a:srgbClr val="FFFFFF"/>
                    </a:solidFill>
                  </a:tcPr>
                </a:tc>
                <a:tc>
                  <a:txBody>
                    <a:bodyPr/>
                    <a:lstStyle/>
                    <a:p>
                      <a:r>
                        <a:rPr sz="850" b="0">
                          <a:solidFill>
                            <a:srgbClr val="4B4B4B"/>
                          </a:solidFill>
                          <a:latin typeface="Arial"/>
                        </a:rPr>
                        <a:t>Y (at least one included)</a:t>
                      </a:r>
                    </a:p>
                  </a:txBody>
                  <a:tcPr marL="54864" marR="54864" marT="27432" marB="27432">
                    <a:solidFill>
                      <a:srgbClr val="FFFFFF"/>
                    </a:solidFill>
                  </a:tcPr>
                </a:tc>
                <a:tc>
                  <a:txBody>
                    <a:bodyPr/>
                    <a:lstStyle/>
                    <a:p>
                      <a:r>
                        <a:rPr sz="850" b="0">
                          <a:solidFill>
                            <a:srgbClr val="4B4B4B"/>
                          </a:solidFill>
                          <a:latin typeface="Arial"/>
                        </a:rPr>
                        <a:t>At least one included coverage; a basic coverage</a:t>
                      </a:r>
                    </a:p>
                  </a:txBody>
                  <a:tcPr marL="54864" marR="54864" marT="27432" marB="27432">
                    <a:solidFill>
                      <a:srgbClr val="FFFFFF"/>
                    </a:solidFill>
                  </a:tcPr>
                </a:tc>
                <a:tc>
                  <a:txBody>
                    <a:bodyPr/>
                    <a:lstStyle/>
                    <a:p>
                      <a:r>
                        <a:rPr sz="850" b="0">
                          <a:solidFill>
                            <a:srgbClr val="4B4B4B"/>
                          </a:solidFill>
                          <a:latin typeface="Arial"/>
                        </a:rPr>
                        <a:t>Include at least one coverage / The package needs its cover type and at least one included basic coverage</a:t>
                      </a:r>
                    </a:p>
                  </a:txBody>
                  <a:tcPr marL="54864" marR="54864" marT="27432" marB="27432">
                    <a:solidFill>
                      <a:srgbClr val="FFFFFF"/>
                    </a:solidFill>
                  </a:tcPr>
                </a:tc>
              </a:tr>
              <a:tr h="220979">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Included / Optional</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Coverages</a:t>
                      </a:r>
                    </a:p>
                  </a:txBody>
                  <a:tcPr marL="54864" marR="54864" marT="27432" marB="27432">
                    <a:solidFill>
                      <a:srgbClr val="FFFFFF"/>
                    </a:solidFill>
                  </a:tcPr>
                </a:tc>
                <a:tc>
                  <a:txBody>
                    <a:bodyPr/>
                    <a:lstStyle/>
                    <a:p>
                      <a:r>
                        <a:rPr sz="850" b="0">
                          <a:solidFill>
                            <a:srgbClr val="4B4B4B"/>
                          </a:solidFill>
                          <a:latin typeface="Arial"/>
                        </a:rPr>
                        <a:t>Limit / Deductible</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Amounts in PHP</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Coverages</a:t>
                      </a:r>
                    </a:p>
                  </a:txBody>
                  <a:tcPr marL="54864" marR="54864" marT="27432" marB="27432">
                    <a:solidFill>
                      <a:srgbClr val="E5F5FF"/>
                    </a:solidFill>
                  </a:tcPr>
                </a:tc>
                <a:tc>
                  <a:txBody>
                    <a:bodyPr/>
                    <a:lstStyle/>
                    <a:p>
                      <a:r>
                        <a:rPr sz="850" b="0">
                          <a:solidFill>
                            <a:srgbClr val="4B4B4B"/>
                          </a:solidFill>
                          <a:latin typeface="Arial"/>
                        </a:rPr>
                        <a:t>Add coverage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coverages of the line not yet added, (basic) marked</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20</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Insurer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Insurer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Every insurer with terms is on the package</a:t>
                      </a:r>
                    </a:p>
                  </a:txBody>
                  <a:tcPr marL="54864" marR="54864" marT="27432" marB="27432">
                    <a:solidFill>
                      <a:srgbClr val="FFFFFF"/>
                    </a:solidFill>
                  </a:tcPr>
                </a:tc>
                <a:tc>
                  <a:txBody>
                    <a:bodyPr/>
                    <a:lstStyle/>
                    <a:p>
                      <a:r>
                        <a:rPr sz="850" b="0">
                          <a:solidFill>
                            <a:srgbClr val="4B4B4B"/>
                          </a:solidFill>
                          <a:latin typeface="Arial"/>
                        </a:rPr>
                        <a:t>Insurer &lt;insurer code&gt; has terms but is not on the package</a:t>
                      </a:r>
                    </a:p>
                  </a:txBody>
                  <a:tcPr marL="54864" marR="54864" marT="27432" marB="27432">
                    <a:solidFill>
                      <a:srgbClr val="FFFFFF"/>
                    </a:solidFill>
                  </a:tcPr>
                </a:tc>
              </a:tr>
              <a:tr h="220979">
                <a:tc>
                  <a:txBody>
                    <a:bodyPr/>
                    <a:lstStyle/>
                    <a:p>
                      <a:r>
                        <a:rPr sz="850" b="0">
                          <a:solidFill>
                            <a:srgbClr val="4B4B4B"/>
                          </a:solidFill>
                          <a:latin typeface="Arial"/>
                        </a:rPr>
                        <a:t>21</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Role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Panel, Lead, Participant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22</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Share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Co-insurance share</a:t>
                      </a:r>
                    </a:p>
                  </a:txBody>
                  <a:tcPr marL="54864" marR="54864" marT="27432" marB="27432">
                    <a:solidFill>
                      <a:srgbClr val="FFFFFF"/>
                    </a:solidFill>
                  </a:tcPr>
                </a:tc>
                <a:tc>
                  <a:txBody>
                    <a:bodyPr/>
                    <a:lstStyle/>
                    <a:p>
                      <a:r>
                        <a:rPr sz="850" b="0">
                          <a:solidFill>
                            <a:srgbClr val="4B4B4B"/>
                          </a:solidFill>
                          <a:latin typeface="Arial"/>
                        </a:rPr>
                        <a:t>Cond.: lead and participants</a:t>
                      </a:r>
                    </a:p>
                  </a:txBody>
                  <a:tcPr marL="54864" marR="54864" marT="27432" marB="27432">
                    <a:solidFill>
                      <a:srgbClr val="FFFFFF"/>
                    </a:solidFill>
                  </a:tcPr>
                </a:tc>
                <a:tc>
                  <a:txBody>
                    <a:bodyPr/>
                    <a:lstStyle/>
                    <a:p>
                      <a:r>
                        <a:rPr sz="850" b="0">
                          <a:solidFill>
                            <a:srgbClr val="4B4B4B"/>
                          </a:solidFill>
                          <a:latin typeface="Arial"/>
                        </a:rPr>
                        <a:t>0 to 100; lead and participant shares total 100%</a:t>
                      </a:r>
                    </a:p>
                  </a:txBody>
                  <a:tcPr marL="54864" marR="54864" marT="27432" marB="27432">
                    <a:solidFill>
                      <a:srgbClr val="FFFFFF"/>
                    </a:solidFill>
                  </a:tcPr>
                </a:tc>
                <a:tc>
                  <a:txBody>
                    <a:bodyPr/>
                    <a:lstStyle/>
                    <a:p>
                      <a:r>
                        <a:rPr sz="850" b="0">
                          <a:solidFill>
                            <a:srgbClr val="4B4B4B"/>
                          </a:solidFill>
                          <a:latin typeface="Arial"/>
                        </a:rPr>
                        <a:t>Enter a share between 0 and 100 / The co-insurance shares must add up to 100%</a:t>
                      </a:r>
                    </a:p>
                  </a:txBody>
                  <a:tcPr marL="54864" marR="54864" marT="27432" marB="27432">
                    <a:solidFill>
                      <a:srgbClr val="FFFFFF"/>
                    </a:solidFill>
                  </a:tcPr>
                </a:tc>
              </a:tr>
              <a:tr h="739135">
                <a:tc>
                  <a:txBody>
                    <a:bodyPr/>
                    <a:lstStyle/>
                    <a:p>
                      <a:r>
                        <a:rPr sz="850" b="0">
                          <a:solidFill>
                            <a:srgbClr val="4B4B4B"/>
                          </a:solidFill>
                          <a:latin typeface="Arial"/>
                        </a:rPr>
                        <a:t>23</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Rate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Insurer's own rate; wins over the package rate</a:t>
                      </a:r>
                    </a:p>
                  </a:txBody>
                  <a:tcPr marL="54864" marR="54864" marT="27432" marB="27432">
                    <a:solidFill>
                      <a:srgbClr val="E5F5FF"/>
                    </a:solidFill>
                  </a:tcPr>
                </a:tc>
                <a:tc>
                  <a:txBody>
                    <a:bodyPr/>
                    <a:lstStyle/>
                    <a:p>
                      <a:r>
                        <a:rPr sz="850" b="0">
                          <a:solidFill>
                            <a:srgbClr val="4B4B4B"/>
                          </a:solidFill>
                          <a:latin typeface="Arial"/>
                        </a:rPr>
                        <a:t>Cond.: when there is no package rate</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Enter a rate between 0 and 100</a:t>
                      </a:r>
                    </a:p>
                  </a:txBody>
                  <a:tcPr marL="54864" marR="54864" marT="27432" marB="27432">
                    <a:solidFill>
                      <a:srgbClr val="E5F5FF"/>
                    </a:solidFill>
                  </a:tcPr>
                </a:tc>
              </a:tr>
              <a:tr h="220979">
                <a:tc>
                  <a:txBody>
                    <a:bodyPr/>
                    <a:lstStyle/>
                    <a:p>
                      <a:r>
                        <a:rPr sz="850" b="0">
                          <a:solidFill>
                            <a:srgbClr val="4B4B4B"/>
                          </a:solidFill>
                          <a:latin typeface="Arial"/>
                        </a:rPr>
                        <a:t>24</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Minimum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Insurer's own minimum premium</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Zero or more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25</a:t>
                      </a:r>
                    </a:p>
                  </a:txBody>
                  <a:tcPr marL="54864" marR="54864" marT="27432" marB="27432">
                    <a:solidFill>
                      <a:srgbClr val="E5F5FF"/>
                    </a:solidFill>
                  </a:tcPr>
                </a:tc>
                <a:tc>
                  <a:txBody>
                    <a:bodyPr/>
                    <a:lstStyle/>
                    <a:p>
                      <a:r>
                        <a:rPr sz="850" b="0">
                          <a:solidFill>
                            <a:srgbClr val="4B4B4B"/>
                          </a:solidFill>
                          <a:latin typeface="Arial"/>
                        </a:rPr>
                        <a:t>Insurers</a:t>
                      </a:r>
                    </a:p>
                  </a:txBody>
                  <a:tcPr marL="54864" marR="54864" marT="27432" marB="27432">
                    <a:solidFill>
                      <a:srgbClr val="E5F5FF"/>
                    </a:solidFill>
                  </a:tcPr>
                </a:tc>
                <a:tc>
                  <a:txBody>
                    <a:bodyPr/>
                    <a:lstStyle/>
                    <a:p>
                      <a:r>
                        <a:rPr sz="850" b="0">
                          <a:solidFill>
                            <a:srgbClr val="4B4B4B"/>
                          </a:solidFill>
                          <a:latin typeface="Arial"/>
                        </a:rPr>
                        <a:t>Add 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insurers not yet on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26</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Insurer / Coverage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One row per panel insurer and included coverage</a:t>
                      </a:r>
                    </a:p>
                  </a:txBody>
                  <a:tcPr marL="54864" marR="54864" marT="27432" marB="27432">
                    <a:solidFill>
                      <a:srgbClr val="FFFFFF"/>
                    </a:solidFill>
                  </a:tcPr>
                </a:tc>
                <a:tc>
                  <a:txBody>
                    <a:bodyPr/>
                    <a:lstStyle/>
                    <a:p>
                      <a:r>
                        <a:rPr sz="850" b="0">
                          <a:solidFill>
                            <a:srgbClr val="4B4B4B"/>
                          </a:solidFill>
                          <a:latin typeface="Arial"/>
                        </a:rPr>
                        <a:t>Y (every pair)</a:t>
                      </a:r>
                    </a:p>
                  </a:txBody>
                  <a:tcPr marL="54864" marR="54864" marT="27432" marB="27432">
                    <a:solidFill>
                      <a:srgbClr val="FFFFFF"/>
                    </a:solidFill>
                  </a:tcPr>
                </a:tc>
                <a:tc>
                  <a:txBody>
                    <a:bodyPr/>
                    <a:lstStyle/>
                    <a:p>
                      <a:r>
                        <a:rPr sz="850" b="0">
                          <a:solidFill>
                            <a:srgbClr val="4B4B4B"/>
                          </a:solidFill>
                          <a:latin typeface="Arial"/>
                        </a:rPr>
                        <a:t>Every panel insurer has terms for each included coverage</a:t>
                      </a:r>
                    </a:p>
                  </a:txBody>
                  <a:tcPr marL="54864" marR="54864" marT="27432" marB="27432">
                    <a:solidFill>
                      <a:srgbClr val="FFFFFF"/>
                    </a:solidFill>
                  </a:tcPr>
                </a:tc>
                <a:tc>
                  <a:txBody>
                    <a:bodyPr/>
                    <a:lstStyle/>
                    <a:p>
                      <a:r>
                        <a:rPr sz="850" b="0">
                          <a:solidFill>
                            <a:srgbClr val="4B4B4B"/>
                          </a:solidFill>
                          <a:latin typeface="Arial"/>
                        </a:rPr>
                        <a:t>Insurer &lt;insurer code&gt; has no terms for coverage &lt;coverage&gt;</a:t>
                      </a:r>
                    </a:p>
                  </a:txBody>
                  <a:tcPr marL="54864" marR="54864" marT="27432" marB="27432">
                    <a:solidFill>
                      <a:srgbClr val="FFFFFF"/>
                    </a:solidFill>
                  </a:tcPr>
                </a:tc>
              </a:tr>
            </a:tbl>
          </a:graphicData>
        </a:graphic>
      </p:graphicFrame>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fields and columns (No. = callout on the first image)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292</a:t>
            </a:r>
          </a:p>
        </p:txBody>
      </p:sp>
      <p:graphicFrame>
        <p:nvGraphicFramePr>
          <p:cNvPr id="9" name="Table 8"/>
          <p:cNvGraphicFramePr>
            <a:graphicFrameLocks noGrp="1"/>
          </p:cNvGraphicFramePr>
          <p:nvPr/>
        </p:nvGraphicFramePr>
        <p:xfrm>
          <a:off x="548640" y="1325880"/>
          <a:ext cx="11094411" cy="422907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27</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Covered</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28</a:t>
                      </a:r>
                    </a:p>
                  </a:txBody>
                  <a:tcPr marL="54864" marR="54864" marT="27432" marB="27432">
                    <a:solidFill>
                      <a:srgbClr val="E5F5FF"/>
                    </a:solidFill>
                  </a:tcPr>
                </a:tc>
                <a:tc>
                  <a:txBody>
                    <a:bodyPr/>
                    <a:lstStyle/>
                    <a:p>
                      <a:r>
                        <a:rPr sz="850" b="0">
                          <a:solidFill>
                            <a:srgbClr val="4B4B4B"/>
                          </a:solidFill>
                          <a:latin typeface="Arial"/>
                        </a:rPr>
                        <a:t>Insurer Terms</a:t>
                      </a:r>
                    </a:p>
                  </a:txBody>
                  <a:tcPr marL="54864" marR="54864" marT="27432" marB="27432">
                    <a:solidFill>
                      <a:srgbClr val="E5F5FF"/>
                    </a:solidFill>
                  </a:tcPr>
                </a:tc>
                <a:tc>
                  <a:txBody>
                    <a:bodyPr/>
                    <a:lstStyle/>
                    <a:p>
                      <a:r>
                        <a:rPr sz="850" b="0">
                          <a:solidFill>
                            <a:srgbClr val="4B4B4B"/>
                          </a:solidFill>
                          <a:latin typeface="Arial"/>
                        </a:rPr>
                        <a:t>Limit / Deductible / Deductible Wording</a:t>
                      </a:r>
                    </a:p>
                  </a:txBody>
                  <a:tcPr marL="54864" marR="54864" marT="27432" marB="27432">
                    <a:solidFill>
                      <a:srgbClr val="E5F5FF"/>
                    </a:solidFill>
                  </a:tcPr>
                </a:tc>
                <a:tc>
                  <a:txBody>
                    <a:bodyPr/>
                    <a:lstStyle/>
                    <a:p>
                      <a:r>
                        <a:rPr sz="850" b="0">
                          <a:solidFill>
                            <a:srgbClr val="4B4B4B"/>
                          </a:solidFill>
                          <a:latin typeface="Arial"/>
                        </a:rPr>
                        <a:t>Number / Text</a:t>
                      </a:r>
                    </a:p>
                  </a:txBody>
                  <a:tcPr marL="54864" marR="54864" marT="27432" marB="27432">
                    <a:solidFill>
                      <a:srgbClr val="E5F5FF"/>
                    </a:solidFill>
                  </a:tcPr>
                </a:tc>
                <a:tc>
                  <a:txBody>
                    <a:bodyPr/>
                    <a:lstStyle/>
                    <a:p>
                      <a:r>
                        <a:rPr sz="850" b="0">
                          <a:solidFill>
                            <a:srgbClr val="4B4B4B"/>
                          </a:solidFill>
                          <a:latin typeface="Arial"/>
                        </a:rPr>
                        <a:t>Amounts in PHP; wording</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29</a:t>
                      </a:r>
                    </a:p>
                  </a:txBody>
                  <a:tcPr marL="54864" marR="54864" marT="27432" marB="27432">
                    <a:solidFill>
                      <a:srgbClr val="FFFFFF"/>
                    </a:solidFill>
                  </a:tcPr>
                </a:tc>
                <a:tc>
                  <a:txBody>
                    <a:bodyPr/>
                    <a:lstStyle/>
                    <a:p>
                      <a:r>
                        <a:rPr sz="850" b="0">
                          <a:solidFill>
                            <a:srgbClr val="4B4B4B"/>
                          </a:solidFill>
                          <a:latin typeface="Arial"/>
                        </a:rPr>
                        <a:t>Insurer Terms</a:t>
                      </a:r>
                    </a:p>
                  </a:txBody>
                  <a:tcPr marL="54864" marR="54864" marT="27432" marB="27432">
                    <a:solidFill>
                      <a:srgbClr val="FFFFFF"/>
                    </a:solidFill>
                  </a:tcPr>
                </a:tc>
                <a:tc>
                  <a:txBody>
                    <a:bodyPr/>
                    <a:lstStyle/>
                    <a:p>
                      <a:r>
                        <a:rPr sz="850" b="0">
                          <a:solidFill>
                            <a:srgbClr val="4B4B4B"/>
                          </a:solidFill>
                          <a:latin typeface="Arial"/>
                        </a:rPr>
                        <a:t>Clauses</a:t>
                      </a:r>
                    </a:p>
                  </a:txBody>
                  <a:tcPr marL="54864" marR="54864" marT="27432" marB="27432">
                    <a:solidFill>
                      <a:srgbClr val="FFFFFF"/>
                    </a:solidFill>
                  </a:tcPr>
                </a:tc>
                <a:tc>
                  <a:txBody>
                    <a:bodyPr/>
                    <a:lstStyle/>
                    <a:p>
                      <a:r>
                        <a:rPr sz="850" b="0">
                          <a:solidFill>
                            <a:srgbClr val="4B4B4B"/>
                          </a:solidFill>
                          <a:latin typeface="Arial"/>
                        </a:rPr>
                        <a:t>Multi-select</a:t>
                      </a:r>
                    </a:p>
                  </a:txBody>
                  <a:tcPr marL="54864" marR="54864" marT="27432" marB="27432">
                    <a:solidFill>
                      <a:srgbClr val="FFFFFF"/>
                    </a:solidFill>
                  </a:tcPr>
                </a:tc>
                <a:tc>
                  <a:txBody>
                    <a:bodyPr/>
                    <a:lstStyle/>
                    <a:p>
                      <a:r>
                        <a:rPr sz="850" b="0">
                          <a:solidFill>
                            <a:srgbClr val="4B4B4B"/>
                          </a:solidFill>
                          <a:latin typeface="Arial"/>
                        </a:rPr>
                        <a:t>Active clauses of the line or of every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Active clauses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998213">
                <a:tc>
                  <a:txBody>
                    <a:bodyPr/>
                    <a:lstStyle/>
                    <a:p>
                      <a:r>
                        <a:rPr sz="850" b="0">
                          <a:solidFill>
                            <a:srgbClr val="4B4B4B"/>
                          </a:solidFill>
                          <a:latin typeface="Arial"/>
                        </a:rPr>
                        <a:t>30</a:t>
                      </a:r>
                    </a:p>
                  </a:txBody>
                  <a:tcPr marL="54864" marR="54864" marT="27432" marB="27432">
                    <a:solidFill>
                      <a:srgbClr val="E5F5FF"/>
                    </a:solidFill>
                  </a:tcPr>
                </a:tc>
                <a:tc>
                  <a:txBody>
                    <a:bodyPr/>
                    <a:lstStyle/>
                    <a:p>
                      <a:r>
                        <a:rPr sz="850" b="0">
                          <a:solidFill>
                            <a:srgbClr val="4B4B4B"/>
                          </a:solidFill>
                          <a:latin typeface="Arial"/>
                        </a:rPr>
                        <a:t>Validation Checklist</a:t>
                      </a:r>
                    </a:p>
                  </a:txBody>
                  <a:tcPr marL="54864" marR="54864" marT="27432" marB="27432">
                    <a:solidFill>
                      <a:srgbClr val="E5F5FF"/>
                    </a:solidFill>
                  </a:tcPr>
                </a:tc>
                <a:tc>
                  <a:txBody>
                    <a:bodyPr/>
                    <a:lstStyle/>
                    <a:p>
                      <a:r>
                        <a:rPr sz="850" b="0">
                          <a:solidFill>
                            <a:srgbClr val="4B4B4B"/>
                          </a:solidFill>
                          <a:latin typeface="Arial"/>
                        </a:rPr>
                        <a:t>Hierarchy complete: cover type and basic coverage / Every panel insurer has terms for each included coverage / Rates and minimum premiums match the signed-off terms / Dates and package term are correct / Test premium reviewed</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Every item</a:t>
                      </a:r>
                    </a:p>
                  </a:txBody>
                  <a:tcPr marL="54864" marR="54864" marT="27432" marB="27432">
                    <a:solidFill>
                      <a:srgbClr val="E5F5FF"/>
                    </a:solidFill>
                  </a:tcPr>
                </a:tc>
                <a:tc>
                  <a:txBody>
                    <a:bodyPr/>
                    <a:lstStyle/>
                    <a:p>
                      <a:r>
                        <a:rPr sz="850" b="0">
                          <a:solidFill>
                            <a:srgbClr val="4B4B4B"/>
                          </a:solidFill>
                          <a:latin typeface="Arial"/>
                        </a:rPr>
                        <a:t>Y (all five)</a:t>
                      </a:r>
                    </a:p>
                  </a:txBody>
                  <a:tcPr marL="54864" marR="54864" marT="27432" marB="27432">
                    <a:solidFill>
                      <a:srgbClr val="E5F5FF"/>
                    </a:solidFill>
                  </a:tcPr>
                </a:tc>
                <a:tc>
                  <a:txBody>
                    <a:bodyPr/>
                    <a:lstStyle/>
                    <a:p>
                      <a:r>
                        <a:rPr sz="850" b="0">
                          <a:solidFill>
                            <a:srgbClr val="4B4B4B"/>
                          </a:solidFill>
                          <a:latin typeface="Arial"/>
                        </a:rPr>
                        <a:t>Every item confirmed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31</a:t>
                      </a:r>
                    </a:p>
                  </a:txBody>
                  <a:tcPr marL="54864" marR="54864" marT="27432" marB="27432">
                    <a:solidFill>
                      <a:srgbClr val="FFFFFF"/>
                    </a:solidFill>
                  </a:tcPr>
                </a:tc>
                <a:tc>
                  <a:txBody>
                    <a:bodyPr/>
                    <a:lstStyle/>
                    <a:p>
                      <a:r>
                        <a:rPr sz="850" b="0">
                          <a:solidFill>
                            <a:srgbClr val="4B4B4B"/>
                          </a:solidFill>
                          <a:latin typeface="Arial"/>
                        </a:rPr>
                        <a:t>Validation</a:t>
                      </a:r>
                    </a:p>
                  </a:txBody>
                  <a:tcPr marL="54864" marR="54864" marT="27432" marB="27432">
                    <a:solidFill>
                      <a:srgbClr val="FFFFFF"/>
                    </a:solidFill>
                  </a:tcPr>
                </a:tc>
                <a:tc>
                  <a:txBody>
                    <a:bodyPr/>
                    <a:lstStyle/>
                    <a:p>
                      <a:r>
                        <a:rPr sz="850" b="0">
                          <a:solidFill>
                            <a:srgbClr val="4B4B4B"/>
                          </a:solidFill>
                          <a:latin typeface="Arial"/>
                        </a:rPr>
                        <a:t>Result / Validated By / Validated On / Test Premium / Return Reason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Passed or Returned pill; validator's name; dd-MMM-yyyy HH:mm; PHP amount; the reason when returned (Returned By / Returned 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1127752">
                <a:tc>
                  <a:txBody>
                    <a:bodyPr/>
                    <a:lstStyle/>
                    <a:p>
                      <a:r>
                        <a:rPr sz="850" b="0">
                          <a:solidFill>
                            <a:srgbClr val="4B4B4B"/>
                          </a:solidFill>
                          <a:latin typeface="Arial"/>
                        </a:rPr>
                        <a:t>32</a:t>
                      </a:r>
                    </a:p>
                  </a:txBody>
                  <a:tcPr marL="54864" marR="54864" marT="27432" marB="27432">
                    <a:solidFill>
                      <a:srgbClr val="E5F5FF"/>
                    </a:solidFill>
                  </a:tcPr>
                </a:tc>
                <a:tc>
                  <a:txBody>
                    <a:bodyPr/>
                    <a:lstStyle/>
                    <a:p>
                      <a:r>
                        <a:rPr sz="850" b="0">
                          <a:solidFill>
                            <a:srgbClr val="4B4B4B"/>
                          </a:solidFill>
                          <a:latin typeface="Arial"/>
                        </a:rPr>
                        <a:t>Validation</a:t>
                      </a:r>
                    </a:p>
                  </a:txBody>
                  <a:tcPr marL="54864" marR="54864" marT="27432" marB="27432">
                    <a:solidFill>
                      <a:srgbClr val="E5F5FF"/>
                    </a:solidFill>
                  </a:tcPr>
                </a:tc>
                <a:tc>
                  <a:txBody>
                    <a:bodyPr/>
                    <a:lstStyle/>
                    <a:p>
                      <a:r>
                        <a:rPr sz="850" b="0">
                          <a:solidFill>
                            <a:srgbClr val="4B4B4B"/>
                          </a:solidFill>
                          <a:latin typeface="Arial"/>
                        </a:rPr>
                        <a:t># / Check / Result / Details</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check: hierarchy, insurer terms, co-insurance shares, rates and minimum premiums, dates and package term, test premium; Passed, Failed or Not Applicable with the figures compared (for example 3 of 3 insurers have terms for 2 included coverages)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33</a:t>
                      </a:r>
                    </a:p>
                  </a:txBody>
                  <a:tcPr marL="54864" marR="54864" marT="27432" marB="27432">
                    <a:solidFill>
                      <a:srgbClr val="FFFFFF"/>
                    </a:solidFill>
                  </a:tcPr>
                </a:tc>
                <a:tc>
                  <a:txBody>
                    <a:bodyPr/>
                    <a:lstStyle/>
                    <a:p>
                      <a:r>
                        <a:rPr sz="850" b="0">
                          <a:solidFill>
                            <a:srgbClr val="4B4B4B"/>
                          </a:solidFill>
                          <a:latin typeface="Arial"/>
                        </a:rPr>
                        <a:t>Return Version to MBS</a:t>
                      </a:r>
                    </a:p>
                  </a:txBody>
                  <a:tcPr marL="54864" marR="54864" marT="27432" marB="27432">
                    <a:solidFill>
                      <a:srgbClr val="FFFFFF"/>
                    </a:solidFill>
                  </a:tcPr>
                </a:tc>
                <a:tc>
                  <a:txBody>
                    <a:bodyPr/>
                    <a:lstStyle/>
                    <a:p>
                      <a:r>
                        <a:rPr sz="850" b="0">
                          <a:solidFill>
                            <a:srgbClr val="4B4B4B"/>
                          </a:solidFill>
                          <a:latin typeface="Arial"/>
                        </a:rPr>
                        <a:t>Return reason / Comment</a:t>
                      </a:r>
                    </a:p>
                  </a:txBody>
                  <a:tcPr marL="54864" marR="54864" marT="27432" marB="27432">
                    <a:solidFill>
                      <a:srgbClr val="FFFFFF"/>
                    </a:solidFill>
                  </a:tcPr>
                </a:tc>
                <a:tc>
                  <a:txBody>
                    <a:bodyPr/>
                    <a:lstStyle/>
                    <a:p>
                      <a:r>
                        <a:rPr sz="850" b="0">
                          <a:solidFill>
                            <a:srgbClr val="4B4B4B"/>
                          </a:solidFill>
                          <a:latin typeface="Arial"/>
                        </a:rPr>
                        <a:t>Drop-down / Text</a:t>
                      </a:r>
                    </a:p>
                  </a:txBody>
                  <a:tcPr marL="54864" marR="54864" marT="27432" marB="27432">
                    <a:solidFill>
                      <a:srgbClr val="FFFFFF"/>
                    </a:solidFill>
                  </a:tcPr>
                </a:tc>
                <a:tc>
                  <a:txBody>
                    <a:bodyPr/>
                    <a:lstStyle/>
                    <a:p>
                      <a:r>
                        <a:rPr sz="850" b="0">
                          <a:solidFill>
                            <a:srgbClr val="4B4B4B"/>
                          </a:solidFill>
                          <a:latin typeface="Arial"/>
                        </a:rPr>
                        <a:t>Return reason list; free text</a:t>
                      </a:r>
                    </a:p>
                  </a:txBody>
                  <a:tcPr marL="54864" marR="54864" marT="27432" marB="27432">
                    <a:solidFill>
                      <a:srgbClr val="FFFFFF"/>
                    </a:solidFill>
                  </a:tcPr>
                </a:tc>
                <a:tc>
                  <a:txBody>
                    <a:bodyPr/>
                    <a:lstStyle/>
                    <a:p>
                      <a:r>
                        <a:rPr sz="850" b="0">
                          <a:solidFill>
                            <a:srgbClr val="4B4B4B"/>
                          </a:solidFill>
                          <a:latin typeface="Arial"/>
                        </a:rPr>
                        <a:t>Y (reason)</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of the return</a:t>
                      </a:r>
                    </a:p>
                  </a:txBody>
                  <a:tcPr marL="54864" marR="54864" marT="27432" marB="27432">
                    <a:solidFill>
                      <a:srgbClr val="FFFFFF"/>
                    </a:solidFill>
                  </a:tcPr>
                </a:tc>
              </a:tr>
            </a:tbl>
          </a:graphicData>
        </a:graphic>
      </p:graphicFrame>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293</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Save Draft</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Checks the fields and saves the whole draft</a:t>
                      </a:r>
                    </a:p>
                  </a:txBody>
                  <a:tcPr marL="54864" marR="54864" marT="27432" marB="27432">
                    <a:solidFill>
                      <a:srgbClr val="FFFFFF"/>
                    </a:solidFill>
                  </a:tcPr>
                </a:tc>
                <a:tc>
                  <a:txBody>
                    <a:bodyPr/>
                    <a:lstStyle/>
                    <a:p>
                      <a:r>
                        <a:rPr sz="850" b="0">
                          <a:solidFill>
                            <a:srgbClr val="4B4B4B"/>
                          </a:solidFill>
                          <a:latin typeface="Arial"/>
                        </a:rPr>
                        <a:t>Draft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Submit for Validation</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Draft; no field message</a:t>
                      </a:r>
                    </a:p>
                  </a:txBody>
                  <a:tcPr marL="54864" marR="54864" marT="27432" marB="27432">
                    <a:solidFill>
                      <a:srgbClr val="E5F5FF"/>
                    </a:solidFill>
                  </a:tcPr>
                </a:tc>
                <a:tc>
                  <a:txBody>
                    <a:bodyPr/>
                    <a:lstStyle/>
                    <a:p>
                      <a:r>
                        <a:rPr sz="850" b="0">
                          <a:solidFill>
                            <a:srgbClr val="4B4B4B"/>
                          </a:solidFill>
                          <a:latin typeface="Arial"/>
                        </a:rPr>
                        <a:t>Saves the draft and checks completeness (cover type and basic coverage, insurer terms for every included coverage, shares, rate, dates)</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Validate and Release</a:t>
                      </a:r>
                    </a:p>
                  </a:txBody>
                  <a:tcPr marL="54864" marR="54864" marT="27432" marB="27432">
                    <a:solidFill>
                      <a:srgbClr val="FFFFFF"/>
                    </a:solidFill>
                  </a:tcPr>
                </a:tc>
                <a:tc>
                  <a:txBody>
                    <a:bodyPr/>
                    <a:lstStyle/>
                    <a:p>
                      <a:r>
                        <a:rPr sz="850" b="0">
                          <a:solidFill>
                            <a:srgbClr val="4B4B4B"/>
                          </a:solidFill>
                          <a:latin typeface="Arial"/>
                        </a:rPr>
                        <a:t>TSU Head or Business Administrator (PRODUCT_VALIDATE), not the maker or the submitter</a:t>
                      </a:r>
                    </a:p>
                  </a:txBody>
                  <a:tcPr marL="54864" marR="54864" marT="27432" marB="27432">
                    <a:solidFill>
                      <a:srgbClr val="FFFFFF"/>
                    </a:solidFill>
                  </a:tcPr>
                </a:tc>
                <a:tc>
                  <a:txBody>
                    <a:bodyPr/>
                    <a:lstStyle/>
                    <a:p>
                      <a:r>
                        <a:rPr sz="850" b="0">
                          <a:solidFill>
                            <a:srgbClr val="4B4B4B"/>
                          </a:solidFill>
                          <a:latin typeface="Arial"/>
                        </a:rPr>
                        <a:t>For validation; every checklist item ticked</a:t>
                      </a:r>
                    </a:p>
                  </a:txBody>
                  <a:tcPr marL="54864" marR="54864" marT="27432" marB="27432">
                    <a:solidFill>
                      <a:srgbClr val="FFFFFF"/>
                    </a:solidFill>
                  </a:tcPr>
                </a:tc>
                <a:tc>
                  <a:txBody>
                    <a:bodyPr/>
                    <a:lstStyle/>
                    <a:p>
                      <a:r>
                        <a:rPr sz="850" b="0">
                          <a:solidFill>
                            <a:srgbClr val="4B4B4B"/>
                          </a:solidFill>
                          <a:latin typeface="Arial"/>
                        </a:rPr>
                        <a:t>Computes the test premium, releases the version and ends the previous version the day before; releases the source request, drafts its advisory and, for a new package, authorises the product</a:t>
                      </a:r>
                    </a:p>
                  </a:txBody>
                  <a:tcPr marL="54864" marR="54864" marT="27432" marB="27432">
                    <a:solidFill>
                      <a:srgbClr val="FFFFFF"/>
                    </a:solidFill>
                  </a:tcPr>
                </a:tc>
                <a:tc>
                  <a:txBody>
                    <a:bodyPr/>
                    <a:lstStyle/>
                    <a:p>
                      <a:r>
                        <a:rPr sz="850" b="0">
                          <a:solidFill>
                            <a:srgbClr val="4B4B4B"/>
                          </a:solidFill>
                          <a:latin typeface="Arial"/>
                        </a:rPr>
                        <a:t>Released</a:t>
                      </a:r>
                    </a:p>
                  </a:txBody>
                  <a:tcPr marL="54864" marR="54864" marT="27432" marB="27432">
                    <a:solidFill>
                      <a:srgbClr val="FFFFFF"/>
                    </a:solidFill>
                  </a:tcPr>
                </a:tc>
                <a:tc>
                  <a:txBody>
                    <a:bodyPr/>
                    <a:lstStyle/>
                    <a:p>
                      <a:r>
                        <a:rPr sz="850" b="0">
                          <a:solidFill>
                            <a:srgbClr val="4B4B4B"/>
                          </a:solidFill>
                          <a:latin typeface="Arial"/>
                        </a:rPr>
                        <a:t>Package available notice to Marketing (NT-02)</a:t>
                      </a:r>
                    </a:p>
                  </a:txBody>
                  <a:tcPr marL="54864" marR="54864" marT="27432" marB="27432">
                    <a:solidFill>
                      <a:srgbClr val="FFFFFF"/>
                    </a:solidFill>
                  </a:tcPr>
                </a:tc>
              </a:tr>
              <a:tr h="350518">
                <a:tc>
                  <a:txBody>
                    <a:bodyPr/>
                    <a:lstStyle/>
                    <a:p>
                      <a:r>
                        <a:rPr sz="850" b="0">
                          <a:solidFill>
                            <a:srgbClr val="4B4B4B"/>
                          </a:solidFill>
                          <a:latin typeface="Arial"/>
                        </a:rPr>
                        <a:t>Return to MBS</a:t>
                      </a:r>
                    </a:p>
                  </a:txBody>
                  <a:tcPr marL="54864" marR="54864" marT="27432" marB="27432">
                    <a:solidFill>
                      <a:srgbClr val="E5F5FF"/>
                    </a:solidFill>
                  </a:tcPr>
                </a:tc>
                <a:tc>
                  <a:txBody>
                    <a:bodyPr/>
                    <a:lstStyle/>
                    <a:p>
                      <a:r>
                        <a:rPr sz="850" b="0">
                          <a:solidFill>
                            <a:srgbClr val="4B4B4B"/>
                          </a:solidFill>
                          <a:latin typeface="Arial"/>
                        </a:rPr>
                        <a:t>As Validate and Release</a:t>
                      </a:r>
                    </a:p>
                  </a:txBody>
                  <a:tcPr marL="54864" marR="54864" marT="27432" marB="27432">
                    <a:solidFill>
                      <a:srgbClr val="E5F5FF"/>
                    </a:solidFill>
                  </a:tcPr>
                </a:tc>
                <a:tc>
                  <a:txBody>
                    <a:bodyPr/>
                    <a:lstStyle/>
                    <a:p>
                      <a:r>
                        <a:rPr sz="850" b="0">
                          <a:solidFill>
                            <a:srgbClr val="4B4B4B"/>
                          </a:solidFill>
                          <a:latin typeface="Arial"/>
                        </a:rPr>
                        <a:t>For validation</a:t>
                      </a:r>
                    </a:p>
                  </a:txBody>
                  <a:tcPr marL="54864" marR="54864" marT="27432" marB="27432">
                    <a:solidFill>
                      <a:srgbClr val="E5F5FF"/>
                    </a:solidFill>
                  </a:tcPr>
                </a:tc>
                <a:tc>
                  <a:txBody>
                    <a:bodyPr/>
                    <a:lstStyle/>
                    <a:p>
                      <a:r>
                        <a:rPr sz="850" b="0">
                          <a:solidFill>
                            <a:srgbClr val="4B4B4B"/>
                          </a:solidFill>
                          <a:latin typeface="Arial"/>
                        </a:rPr>
                        <a:t>Opens Return Version n to MBS; Return sends the version back to draft with the reason, and the request back to MBS</a:t>
                      </a:r>
                    </a:p>
                  </a:txBody>
                  <a:tcPr marL="54864" marR="54864" marT="27432" marB="27432">
                    <a:solidFill>
                      <a:srgbClr val="E5F5FF"/>
                    </a:solidFill>
                  </a:tcPr>
                </a:tc>
                <a:tc>
                  <a:txBody>
                    <a:bodyPr/>
                    <a:lstStyle/>
                    <a:p>
                      <a:r>
                        <a:rPr sz="850" b="0">
                          <a:solidFill>
                            <a:srgbClr val="4B4B4B"/>
                          </a:solidFill>
                          <a:latin typeface="Arial"/>
                        </a:rPr>
                        <a:t>Draft</a:t>
                      </a:r>
                    </a:p>
                  </a:txBody>
                  <a:tcPr marL="54864" marR="54864" marT="27432" marB="27432">
                    <a:solidFill>
                      <a:srgbClr val="E5F5FF"/>
                    </a:solidFill>
                  </a:tcPr>
                </a:tc>
                <a:tc>
                  <a:txBody>
                    <a:bodyPr/>
                    <a:lstStyle/>
                    <a:p>
                      <a:r>
                        <a:rPr sz="850" b="0">
                          <a:solidFill>
                            <a:srgbClr val="4B4B4B"/>
                          </a:solidFill>
                          <a:latin typeface="Arial"/>
                        </a:rPr>
                        <a:t>Workflow notice on the request</a:t>
                      </a:r>
                    </a:p>
                  </a:txBody>
                  <a:tcPr marL="54864" marR="54864" marT="27432" marB="27432">
                    <a:solidFill>
                      <a:srgbClr val="E5F5FF"/>
                    </a:solidFill>
                  </a:tcPr>
                </a:tc>
              </a:tr>
            </a:tbl>
          </a:graphicData>
        </a:graphic>
      </p:graphicFrame>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294</a:t>
            </a:r>
          </a:p>
        </p:txBody>
      </p:sp>
      <p:graphicFrame>
        <p:nvGraphicFramePr>
          <p:cNvPr id="9" name="Table 8"/>
          <p:cNvGraphicFramePr>
            <a:graphicFrameLocks noGrp="1"/>
          </p:cNvGraphicFramePr>
          <p:nvPr/>
        </p:nvGraphicFramePr>
        <p:xfrm>
          <a:off x="548640" y="1325880"/>
          <a:ext cx="11094415" cy="21640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draft is invisible to rating; only a released version prices new business (FR-PM-050, FR-PM-051).</a:t>
                      </a:r>
                    </a:p>
                  </a:txBody>
                  <a:tcPr marL="54864" marR="54864" marT="27432" marB="27432">
                    <a:solidFill>
                      <a:srgbClr val="FFFFFF"/>
                    </a:solidFill>
                  </a:tcPr>
                </a:tc>
              </a:tr>
              <a:tr h="396240">
                <a:tc>
                  <a:txBody>
                    <a:bodyPr/>
                    <a:lstStyle/>
                    <a:p>
                      <a:r>
                        <a:rPr sz="1000" b="0">
                          <a:solidFill>
                            <a:srgbClr val="4B4B4B"/>
                          </a:solidFill>
                          <a:latin typeface="Arial"/>
                        </a:rPr>
                        <a:t>Submission needs the cover type and at least one included basic coverage, terms for every panel insurer on every included coverage, the package rate or a rate for every insurer, co-insurance shares totalling 100%, an effective date today or later and after the start of the version in force, and a package end after the effective date (FR-PM-043, FR-PM-014).</a:t>
                      </a:r>
                    </a:p>
                  </a:txBody>
                  <a:tcPr marL="54864" marR="54864" marT="27432" marB="27432">
                    <a:solidFill>
                      <a:srgbClr val="E5F5FF"/>
                    </a:solidFill>
                  </a:tcPr>
                </a:tc>
              </a:tr>
              <a:tr h="243840">
                <a:tc>
                  <a:txBody>
                    <a:bodyPr/>
                    <a:lstStyle/>
                    <a:p>
                      <a:r>
                        <a:rPr sz="1000" b="0">
                          <a:solidFill>
                            <a:srgbClr val="4B4B4B"/>
                          </a:solidFill>
                          <a:latin typeface="Arial"/>
                        </a:rPr>
                        <a:t>The validator is never the maker or the submitter of the version; the validator confirms the five checklist items and a test premium is computed (FR-PM-043).</a:t>
                      </a:r>
                    </a:p>
                  </a:txBody>
                  <a:tcPr marL="54864" marR="54864" marT="27432" marB="27432">
                    <a:solidFill>
                      <a:srgbClr val="FFFFFF"/>
                    </a:solidFill>
                  </a:tcPr>
                </a:tc>
              </a:tr>
              <a:tr h="396240">
                <a:tc>
                  <a:txBody>
                    <a:bodyPr/>
                    <a:lstStyle/>
                    <a:p>
                      <a:r>
                        <a:rPr sz="1000" b="0">
                          <a:solidFill>
                            <a:srgbClr val="4B4B4B"/>
                          </a:solidFill>
                          <a:latin typeface="Arial"/>
                        </a:rPr>
                        <a:t>At release and at return BIBS records each check with its result (Passed, Failed or Not Applicable) and the figures compared, with the validator, the time and, for a return, the reason; the Validation card shows them until the version is submitted again (FR-PM-043).</a:t>
                      </a:r>
                    </a:p>
                  </a:txBody>
                  <a:tcPr marL="54864" marR="54864" marT="27432" marB="27432">
                    <a:solidFill>
                      <a:srgbClr val="E5F5FF"/>
                    </a:solidFill>
                  </a:tcPr>
                </a:tc>
              </a:tr>
              <a:tr h="396240">
                <a:tc>
                  <a:txBody>
                    <a:bodyPr/>
                    <a:lstStyle/>
                    <a:p>
                      <a:r>
                        <a:rPr sz="1000" b="0">
                          <a:solidFill>
                            <a:srgbClr val="4B4B4B"/>
                          </a:solidFill>
                          <a:latin typeface="Arial"/>
                        </a:rPr>
                        <a:t>On release the previous version ends the day before the new one takes effect and becomes Superseded; a version whose package end has passed without a renewal becomes Expired and the product is no longer sold (FR-PM-050, FR-PM-052).</a:t>
                      </a:r>
                    </a:p>
                  </a:txBody>
                  <a:tcPr marL="54864" marR="54864" marT="27432" marB="27432">
                    <a:solidFill>
                      <a:srgbClr val="FFFFFF"/>
                    </a:solidFill>
                  </a:tcPr>
                </a:tc>
              </a:tr>
              <a:tr h="243840">
                <a:tc>
                  <a:txBody>
                    <a:bodyPr/>
                    <a:lstStyle/>
                    <a:p>
                      <a:r>
                        <a:rPr sz="1000" b="0">
                          <a:solidFill>
                            <a:srgbClr val="4B4B4B"/>
                          </a:solidFill>
                          <a:latin typeface="Arial"/>
                        </a:rPr>
                        <a:t>An insurer's own rate and minimum premium win over the package's; a package with a panel is placed only with its panel insurers (FR-PM-014, FR-PM-051).</a:t>
                      </a:r>
                    </a:p>
                  </a:txBody>
                  <a:tcPr marL="54864" marR="54864" marT="27432" marB="27432">
                    <a:solidFill>
                      <a:srgbClr val="E5F5FF"/>
                    </a:solidFill>
                  </a:tcPr>
                </a:tc>
              </a:tr>
            </a:tbl>
          </a:graphicData>
        </a:graphic>
      </p:graphicFrame>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295</a:t>
            </a:r>
          </a:p>
        </p:txBody>
      </p:sp>
      <p:graphicFrame>
        <p:nvGraphicFramePr>
          <p:cNvPr id="9" name="Table 8"/>
          <p:cNvGraphicFramePr>
            <a:graphicFrameLocks noGrp="1"/>
          </p:cNvGraphicFramePr>
          <p:nvPr/>
        </p:nvGraphicFramePr>
        <p:xfrm>
          <a:off x="548640" y="1325880"/>
          <a:ext cx="11094413" cy="178308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Validation error</a:t>
                      </a:r>
                    </a:p>
                  </a:txBody>
                  <a:tcPr marL="54864" marR="54864" marT="27432" marB="27432">
                    <a:solidFill>
                      <a:srgbClr val="FFFFFF"/>
                    </a:solidFill>
                  </a:tcPr>
                </a:tc>
                <a:tc>
                  <a:txBody>
                    <a:bodyPr/>
                    <a:lstStyle/>
                    <a:p>
                      <a:r>
                        <a:rPr sz="900" b="0">
                          <a:solidFill>
                            <a:srgbClr val="4B4B4B"/>
                          </a:solidFill>
                          <a:latin typeface="Arial"/>
                        </a:rPr>
                        <a:t>WT-B step 10</a:t>
                      </a:r>
                    </a:p>
                  </a:txBody>
                  <a:tcPr marL="54864" marR="54864" marT="27432" marB="27432">
                    <a:solidFill>
                      <a:srgbClr val="FFFFFF"/>
                    </a:solidFill>
                  </a:tcPr>
                </a:tc>
                <a:tc>
                  <a:txBody>
                    <a:bodyPr/>
                    <a:lstStyle/>
                    <a:p>
                      <a:r>
                        <a:rPr sz="900" b="0">
                          <a:solidFill>
                            <a:srgbClr val="4B4B4B"/>
                          </a:solidFill>
                          <a:latin typeface="Arial"/>
                        </a:rPr>
                        <a:t>Opens MTR12 version 2, clears the minimum premium and sets an effective date before today, then clicks Submit for Validation</a:t>
                      </a:r>
                    </a:p>
                  </a:txBody>
                  <a:tcPr marL="54864" marR="54864" marT="27432" marB="27432">
                    <a:solidFill>
                      <a:srgbClr val="FFFFFF"/>
                    </a:solidFill>
                  </a:tcPr>
                </a:tc>
                <a:tc>
                  <a:txBody>
                    <a:bodyPr/>
                    <a:lstStyle/>
                    <a:p>
                      <a:r>
                        <a:rPr sz="900" b="0">
                          <a:solidFill>
                            <a:srgbClr val="4B4B4B"/>
                          </a:solidFill>
                          <a:latin typeface="Arial"/>
                        </a:rPr>
                        <a:t>SCR-PM-13_wt-b-step-10.png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16</a:t>
                      </a:r>
                    </a:p>
                  </a:txBody>
                  <a:tcPr marL="54864" marR="54864" marT="27432" marB="27432">
                    <a:solidFill>
                      <a:srgbClr val="E5F5FF"/>
                    </a:solidFill>
                  </a:tcPr>
                </a:tc>
                <a:tc>
                  <a:txBody>
                    <a:bodyPr/>
                    <a:lstStyle/>
                    <a:p>
                      <a:r>
                        <a:rPr sz="900" b="0">
                          <a:solidFill>
                            <a:srgbClr val="4B4B4B"/>
                          </a:solidFill>
                          <a:latin typeface="Arial"/>
                        </a:rPr>
                        <a:t>Clicks Open Version Editor, adds the clause FLEET_REPAIR on the insurer terms, saves and clicks Submit for Validation</a:t>
                      </a:r>
                    </a:p>
                  </a:txBody>
                  <a:tcPr marL="54864" marR="54864" marT="27432" marB="27432">
                    <a:solidFill>
                      <a:srgbClr val="E5F5FF"/>
                    </a:solidFill>
                  </a:tcPr>
                </a:tc>
                <a:tc>
                  <a:txBody>
                    <a:bodyPr/>
                    <a:lstStyle/>
                    <a:p>
                      <a:r>
                        <a:rPr sz="900" b="0">
                          <a:solidFill>
                            <a:srgbClr val="4B4B4B"/>
                          </a:solidFill>
                          <a:latin typeface="Arial"/>
                        </a:rPr>
                        <a:t>SCR-PM-13_wt-a-step-16.png</a:t>
                      </a:r>
                    </a:p>
                  </a:txBody>
                  <a:tcPr marL="54864" marR="54864" marT="27432" marB="27432">
                    <a:solidFill>
                      <a:srgbClr val="E5F5FF"/>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17</a:t>
                      </a:r>
                    </a:p>
                  </a:txBody>
                  <a:tcPr marL="54864" marR="54864" marT="27432" marB="27432">
                    <a:solidFill>
                      <a:srgbClr val="FFFFFF"/>
                    </a:solidFill>
                  </a:tcPr>
                </a:tc>
                <a:tc>
                  <a:txBody>
                    <a:bodyPr/>
                    <a:lstStyle/>
                    <a:p>
                      <a:r>
                        <a:rPr sz="900" b="0">
                          <a:solidFill>
                            <a:srgbClr val="4B4B4B"/>
                          </a:solidFill>
                          <a:latin typeface="Arial"/>
                        </a:rPr>
                        <a:t>Opens the version from the Validation Queue, ticks the five checklist items and clicks Validate and Release</a:t>
                      </a:r>
                    </a:p>
                  </a:txBody>
                  <a:tcPr marL="54864" marR="54864" marT="27432" marB="27432">
                    <a:solidFill>
                      <a:srgbClr val="FFFFFF"/>
                    </a:solidFill>
                  </a:tcPr>
                </a:tc>
                <a:tc>
                  <a:txBody>
                    <a:bodyPr/>
                    <a:lstStyle/>
                    <a:p>
                      <a:r>
                        <a:rPr sz="900" b="0">
                          <a:solidFill>
                            <a:srgbClr val="4B4B4B"/>
                          </a:solidFill>
                          <a:latin typeface="Arial"/>
                        </a:rPr>
                        <a:t>SCR-PM-13_wt-a-step-17.png</a:t>
                      </a:r>
                    </a:p>
                  </a:txBody>
                  <a:tcPr marL="54864" marR="54864" marT="27432" marB="27432">
                    <a:solidFill>
                      <a:srgbClr val="FFFFFF"/>
                    </a:solidFill>
                  </a:tcPr>
                </a:tc>
              </a:tr>
              <a:tr h="228600">
                <a:tc>
                  <a:txBody>
                    <a:bodyPr/>
                    <a:lstStyle/>
                    <a:p>
                      <a:r>
                        <a:rPr sz="900" b="0">
                          <a:solidFill>
                            <a:srgbClr val="4B4B4B"/>
                          </a:solidFill>
                          <a:latin typeface="Arial"/>
                        </a:rPr>
                        <a:t>Rejected or returned</a:t>
                      </a:r>
                    </a:p>
                  </a:txBody>
                  <a:tcPr marL="54864" marR="54864" marT="27432" marB="27432">
                    <a:solidFill>
                      <a:srgbClr val="E5F5FF"/>
                    </a:solidFill>
                  </a:tcPr>
                </a:tc>
                <a:tc>
                  <a:txBody>
                    <a:bodyPr/>
                    <a:lstStyle/>
                    <a:p>
                      <a:r>
                        <a:rPr sz="900" b="0">
                          <a:solidFill>
                            <a:srgbClr val="4B4B4B"/>
                          </a:solidFill>
                          <a:latin typeface="Arial"/>
                        </a:rPr>
                        <a:t>WT-B step 11</a:t>
                      </a:r>
                    </a:p>
                  </a:txBody>
                  <a:tcPr marL="54864" marR="54864" marT="27432" marB="27432">
                    <a:solidFill>
                      <a:srgbClr val="E5F5FF"/>
                    </a:solidFill>
                  </a:tcPr>
                </a:tc>
                <a:tc>
                  <a:txBody>
                    <a:bodyPr/>
                    <a:lstStyle/>
                    <a:p>
                      <a:r>
                        <a:rPr sz="900" b="0">
                          <a:solidFill>
                            <a:srgbClr val="4B4B4B"/>
                          </a:solidFill>
                          <a:latin typeface="Arial"/>
                        </a:rPr>
                        <a:t>Opens the submitted MTR12 version 2 and clicks Return to MBS with the reason</a:t>
                      </a:r>
                    </a:p>
                  </a:txBody>
                  <a:tcPr marL="54864" marR="54864" marT="27432" marB="27432">
                    <a:solidFill>
                      <a:srgbClr val="E5F5FF"/>
                    </a:solidFill>
                  </a:tcPr>
                </a:tc>
                <a:tc>
                  <a:txBody>
                    <a:bodyPr/>
                    <a:lstStyle/>
                    <a:p>
                      <a:r>
                        <a:rPr sz="900" b="0">
                          <a:solidFill>
                            <a:srgbClr val="4B4B4B"/>
                          </a:solidFill>
                          <a:latin typeface="Arial"/>
                        </a:rPr>
                        <a:t>SCR-PM-13_wt-b-step-11.png</a:t>
                      </a:r>
                    </a:p>
                  </a:txBody>
                  <a:tcPr marL="54864" marR="54864" marT="27432" marB="27432">
                    <a:solidFill>
                      <a:srgbClr val="E5F5FF"/>
                    </a:solidFill>
                  </a:tcPr>
                </a:tc>
              </a:tr>
              <a:tr h="228600">
                <a:tc>
                  <a:txBody>
                    <a:bodyPr/>
                    <a:lstStyle/>
                    <a:p>
                      <a:r>
                        <a:rPr sz="900" b="0">
                          <a:solidFill>
                            <a:srgbClr val="4B4B4B"/>
                          </a:solidFill>
                          <a:latin typeface="Arial"/>
                        </a:rPr>
                        <a:t>Rejected or returned</a:t>
                      </a:r>
                    </a:p>
                  </a:txBody>
                  <a:tcPr marL="54864" marR="54864" marT="27432" marB="27432">
                    <a:solidFill>
                      <a:srgbClr val="FFFFFF"/>
                    </a:solidFill>
                  </a:tcPr>
                </a:tc>
                <a:tc>
                  <a:txBody>
                    <a:bodyPr/>
                    <a:lstStyle/>
                    <a:p>
                      <a:r>
                        <a:rPr sz="900" b="0">
                          <a:solidFill>
                            <a:srgbClr val="4B4B4B"/>
                          </a:solidFill>
                          <a:latin typeface="Arial"/>
                        </a:rPr>
                        <a:t>WT-B step 12</a:t>
                      </a:r>
                    </a:p>
                  </a:txBody>
                  <a:tcPr marL="54864" marR="54864" marT="27432" marB="27432">
                    <a:solidFill>
                      <a:srgbClr val="FFFFFF"/>
                    </a:solidFill>
                  </a:tcPr>
                </a:tc>
                <a:tc>
                  <a:txBody>
                    <a:bodyPr/>
                    <a:lstStyle/>
                    <a:p>
                      <a:r>
                        <a:rPr sz="900" b="0">
                          <a:solidFill>
                            <a:srgbClr val="4B4B4B"/>
                          </a:solidFill>
                          <a:latin typeface="Arial"/>
                        </a:rPr>
                        <a:t>Opens MTR12 version 2</a:t>
                      </a:r>
                    </a:p>
                  </a:txBody>
                  <a:tcPr marL="54864" marR="54864" marT="27432" marB="27432">
                    <a:solidFill>
                      <a:srgbClr val="FFFFFF"/>
                    </a:solidFill>
                  </a:tcPr>
                </a:tc>
                <a:tc>
                  <a:txBody>
                    <a:bodyPr/>
                    <a:lstStyle/>
                    <a:p>
                      <a:r>
                        <a:rPr sz="900" b="0">
                          <a:solidFill>
                            <a:srgbClr val="4B4B4B"/>
                          </a:solidFill>
                          <a:latin typeface="Arial"/>
                        </a:rPr>
                        <a:t>SCR-PM-13_wt-b-step-12.png</a:t>
                      </a:r>
                    </a:p>
                  </a:txBody>
                  <a:tcPr marL="54864" marR="54864" marT="27432" marB="27432">
                    <a:solidFill>
                      <a:srgbClr val="FFFFFF"/>
                    </a:solidFill>
                  </a:tcPr>
                </a:tc>
              </a:tr>
            </a:tbl>
          </a:graphicData>
        </a:graphic>
      </p:graphicFrame>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8.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1 of 3)</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7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2 of 3)</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180.png"/>
          <p:cNvPicPr>
            <a:picLocks noChangeAspect="1"/>
          </p:cNvPicPr>
          <p:nvPr/>
        </p:nvPicPr>
        <p:blipFill>
          <a:blip r:embed="rId3"/>
          <a:stretch>
            <a:fillRect/>
          </a:stretch>
        </p:blipFill>
        <p:spPr>
          <a:xfrm>
            <a:off x="548640" y="1261872"/>
            <a:ext cx="11094415" cy="109987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Draft version of the MTR12 package, Rate Scheme &amp; Dates tab (part 3 of 3)</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1 of 2)</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2.png"/>
          <p:cNvPicPr>
            <a:picLocks noChangeAspect="1"/>
          </p:cNvPicPr>
          <p:nvPr/>
        </p:nvPicPr>
        <p:blipFill>
          <a:blip r:embed="rId3"/>
          <a:stretch>
            <a:fillRect/>
          </a:stretch>
        </p:blipFill>
        <p:spPr>
          <a:xfrm>
            <a:off x="548640" y="1261872"/>
            <a:ext cx="11094415" cy="332832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tab of the draft (part 2 of 2)</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1 of 3)</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4.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2 of 3)</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85.png"/>
          <p:cNvPicPr>
            <a:picLocks noChangeAspect="1"/>
          </p:cNvPicPr>
          <p:nvPr/>
        </p:nvPicPr>
        <p:blipFill>
          <a:blip r:embed="rId3"/>
          <a:stretch>
            <a:fillRect/>
          </a:stretch>
        </p:blipFill>
        <p:spPr>
          <a:xfrm>
            <a:off x="548640" y="1261872"/>
            <a:ext cx="11094415" cy="21901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Terms tab: terms and clauses per insurer and coverage (part 3 of 3)</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Validation error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304</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86.png"/>
          <p:cNvPicPr>
            <a:picLocks noChangeAspect="1"/>
          </p:cNvPicPr>
          <p:nvPr/>
        </p:nvPicPr>
        <p:blipFill>
          <a:blip r:embed="rId3"/>
          <a:stretch>
            <a:fillRect/>
          </a:stretch>
        </p:blipFill>
        <p:spPr>
          <a:xfrm>
            <a:off x="548640" y="1261872"/>
            <a:ext cx="11094415" cy="47350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1 of 3)</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Validation error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305</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87.png"/>
          <p:cNvPicPr>
            <a:picLocks noChangeAspect="1"/>
          </p:cNvPicPr>
          <p:nvPr/>
        </p:nvPicPr>
        <p:blipFill>
          <a:blip r:embed="rId3"/>
          <a:stretch>
            <a:fillRect/>
          </a:stretch>
        </p:blipFill>
        <p:spPr>
          <a:xfrm>
            <a:off x="548640" y="1261872"/>
            <a:ext cx="11094415" cy="46305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2 of 3)</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Validation error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306</a:t>
            </a:r>
          </a:p>
        </p:txBody>
      </p:sp>
      <p:sp>
        <p:nvSpPr>
          <p:cNvPr id="9" name="Rounded Rectangle 8"/>
          <p:cNvSpPr/>
          <p:nvPr/>
        </p:nvSpPr>
        <p:spPr>
          <a:xfrm>
            <a:off x="9887407"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0" name="Picture 9" descr="slice-00188.png"/>
          <p:cNvPicPr>
            <a:picLocks noChangeAspect="1"/>
          </p:cNvPicPr>
          <p:nvPr/>
        </p:nvPicPr>
        <p:blipFill>
          <a:blip r:embed="rId3"/>
          <a:stretch>
            <a:fillRect/>
          </a:stretch>
        </p:blipFill>
        <p:spPr>
          <a:xfrm>
            <a:off x="548640" y="1261872"/>
            <a:ext cx="11094415" cy="15862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Field messages of the version form (part 3 of 3)</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Read-only or locked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89.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1 of 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Read-only or locked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90.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2 of 4)</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Read-only or locked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9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3 of 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Read-only or locked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371539"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1" name="Picture 10" descr="slice-00192.png"/>
          <p:cNvPicPr>
            <a:picLocks noChangeAspect="1"/>
          </p:cNvPicPr>
          <p:nvPr/>
        </p:nvPicPr>
        <p:blipFill>
          <a:blip r:embed="rId3"/>
          <a:stretch>
            <a:fillRect/>
          </a:stretch>
        </p:blipFill>
        <p:spPr>
          <a:xfrm>
            <a:off x="548640" y="1261872"/>
            <a:ext cx="11094415" cy="1740675"/>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Released version: header with the package request, and the Validation card with the checks (part 4 of 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Pending approval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9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1 of 3)</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Pending approval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94.png"/>
          <p:cNvPicPr>
            <a:picLocks noChangeAspect="1"/>
          </p:cNvPicPr>
          <p:nvPr/>
        </p:nvPicPr>
        <p:blipFill>
          <a:blip r:embed="rId3"/>
          <a:stretch>
            <a:fillRect/>
          </a:stretch>
        </p:blipFill>
        <p:spPr>
          <a:xfrm>
            <a:off x="548640" y="1261872"/>
            <a:ext cx="11094415" cy="460035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2 of 3)</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SCR-PM-13 Package Version: Pending approval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313</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CHG-PM-2.0-02</a:t>
            </a:r>
          </a:p>
        </p:txBody>
      </p:sp>
      <p:sp>
        <p:nvSpPr>
          <p:cNvPr id="10" name="Rounded Rectangle 9"/>
          <p:cNvSpPr/>
          <p:nvPr/>
        </p:nvSpPr>
        <p:spPr>
          <a:xfrm>
            <a:off x="6632143"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1" name="Picture 10" descr="slice-00195.png"/>
          <p:cNvPicPr>
            <a:picLocks noChangeAspect="1"/>
          </p:cNvPicPr>
          <p:nvPr/>
        </p:nvPicPr>
        <p:blipFill>
          <a:blip r:embed="rId3"/>
          <a:stretch>
            <a:fillRect/>
          </a:stretch>
        </p:blipFill>
        <p:spPr>
          <a:xfrm>
            <a:off x="548640" y="1261872"/>
            <a:ext cx="11094415" cy="289793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Checklist of the TSU Head (part 3 of 3)</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314</a:t>
            </a:r>
          </a:p>
        </p:txBody>
      </p:sp>
      <p:graphicFrame>
        <p:nvGraphicFramePr>
          <p:cNvPr id="9" name="Table 8"/>
          <p:cNvGraphicFramePr>
            <a:graphicFrameLocks noGrp="1"/>
          </p:cNvGraphicFramePr>
          <p:nvPr/>
        </p:nvGraphicFramePr>
        <p:xfrm>
          <a:off x="548640" y="1307592"/>
          <a:ext cx="6434760" cy="20878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38100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package versions submitted by MBS that wait for the post-set-up validation, oldest first, with their age. A row opens the version with its checklist.</a:t>
                      </a:r>
                    </a:p>
                  </a:txBody>
                  <a:tcPr marL="54864" marR="54864" marT="27432" marB="27432">
                    <a:solidFill>
                      <a:srgbClr val="FFFFFF"/>
                    </a:solidFill>
                  </a:tcPr>
                </a:tc>
              </a:tr>
              <a:tr h="23622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TSU Head, Business Administrator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Validation Queue</a:t>
                      </a:r>
                    </a:p>
                    <a:p>
                      <a:r>
                        <a:rPr sz="950" b="0">
                          <a:solidFill>
                            <a:srgbClr val="4B4B4B"/>
                          </a:solidFill>
                          <a:latin typeface="Arial"/>
                        </a:rPr>
                        <a:t>Sidebar entry Validation Queue</a:t>
                      </a:r>
                    </a:p>
                    <a:p>
                      <a:r>
                        <a:rPr sz="950" b="0">
                          <a:solidFill>
                            <a:srgbClr val="4B4B4B"/>
                          </a:solidFill>
                          <a:latin typeface="Arial"/>
                        </a:rPr>
                        <a:t>Product Maintenance Home › Versions for validation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FR-PM-043</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No submitted version waits unseen; the validator works the oldest first.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(1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315</a:t>
            </a:r>
          </a:p>
        </p:txBody>
      </p:sp>
      <p:graphicFrame>
        <p:nvGraphicFramePr>
          <p:cNvPr id="9" name="Table 8"/>
          <p:cNvGraphicFramePr>
            <a:graphicFrameLocks noGrp="1"/>
          </p:cNvGraphicFramePr>
          <p:nvPr/>
        </p:nvGraphicFramePr>
        <p:xfrm>
          <a:off x="548640" y="1325880"/>
          <a:ext cx="11094411" cy="167639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Search</a:t>
                      </a:r>
                    </a:p>
                  </a:txBody>
                  <a:tcPr marL="54864" marR="54864" marT="27432" marB="27432">
                    <a:solidFill>
                      <a:srgbClr val="FFFFFF"/>
                    </a:solidFill>
                  </a:tcPr>
                </a:tc>
                <a:tc>
                  <a:txBody>
                    <a:bodyPr/>
                    <a:lstStyle/>
                    <a:p>
                      <a:r>
                        <a:rPr sz="850" b="0">
                          <a:solidFill>
                            <a:srgbClr val="4B4B4B"/>
                          </a:solidFill>
                          <a:latin typeface="Arial"/>
                        </a:rPr>
                        <a:t>Search Product</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Code or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Product / Name / Version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Risk code, product name, v&lt;n&gt;, For validation pill</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package version waits for validation.</a:t>
                      </a:r>
                    </a:p>
                  </a:txBody>
                  <a:tcPr marL="54864" marR="54864" marT="27432" marB="27432">
                    <a:solidFill>
                      <a:srgbClr val="E5F5FF"/>
                    </a:solidFill>
                  </a:tcPr>
                </a:tc>
              </a:tr>
              <a:tr h="220979">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Request</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PKR-yyyy-nnnnnn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Submitted By / Submitted</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User;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Age (days)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Whole days since the submission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316</a:t>
            </a:r>
          </a:p>
        </p:txBody>
      </p:sp>
      <p:graphicFrame>
        <p:nvGraphicFramePr>
          <p:cNvPr id="9" name="Table 8"/>
          <p:cNvGraphicFramePr>
            <a:graphicFrameLocks noGrp="1"/>
          </p:cNvGraphicFramePr>
          <p:nvPr/>
        </p:nvGraphicFramePr>
        <p:xfrm>
          <a:off x="548640" y="1325880"/>
          <a:ext cx="11094412" cy="571497"/>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Open a row</a:t>
                      </a:r>
                    </a:p>
                  </a:txBody>
                  <a:tcPr marL="54864" marR="54864" marT="27432" marB="27432">
                    <a:solidFill>
                      <a:srgbClr val="FFFFFF"/>
                    </a:solidFill>
                  </a:tcPr>
                </a:tc>
                <a:tc>
                  <a:txBody>
                    <a:bodyPr/>
                    <a:lstStyle/>
                    <a:p>
                      <a:r>
                        <a:rPr sz="850" b="0">
                          <a:solidFill>
                            <a:srgbClr val="4B4B4B"/>
                          </a:solidFill>
                          <a:latin typeface="Arial"/>
                        </a:rPr>
                        <a:t>TSU Head, Business Administrator (PRODUCT_VALIDATE)</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Package Version with the Validation Checklist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317</a:t>
            </a:r>
          </a:p>
        </p:txBody>
      </p:sp>
      <p:graphicFrame>
        <p:nvGraphicFramePr>
          <p:cNvPr id="9" name="Table 8"/>
          <p:cNvGraphicFramePr>
            <a:graphicFrameLocks noGrp="1"/>
          </p:cNvGraphicFramePr>
          <p:nvPr/>
        </p:nvGraphicFramePr>
        <p:xfrm>
          <a:off x="548640" y="1325880"/>
          <a:ext cx="11094415" cy="48768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users who validate package versions see the queue; a version they set up or submitted is shown but cannot be validated by them (FR-PM-043).</a:t>
                      </a:r>
                    </a:p>
                  </a:txBody>
                  <a:tcPr marL="54864" marR="54864" marT="27432" marB="27432">
                    <a:solidFill>
                      <a:srgbClr val="FFFFFF"/>
                    </a:solidFill>
                  </a:tcPr>
                </a:tc>
              </a:tr>
            </a:tbl>
          </a:graphicData>
        </a:graphic>
      </p:graphicFrame>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SCR-PM-14 Validation Queue: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318</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14-01-list.png"/>
          <p:cNvPicPr>
            <a:picLocks noChangeAspect="1"/>
          </p:cNvPicPr>
          <p:nvPr/>
        </p:nvPicPr>
        <p:blipFill>
          <a:blip r:embed="rId3"/>
          <a:stretch>
            <a:fillRect/>
          </a:stretch>
        </p:blipFill>
        <p:spPr>
          <a:xfrm>
            <a:off x="548640" y="1261872"/>
            <a:ext cx="11094415" cy="3471786"/>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Validation Queue of the TSU Head</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319</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coverage and peril level of the product hierarchy, per line, and the clause library (warranties, clauses, exclusions and deductible wordings) that package versions use in their insurer terms. MBS maintains them; a second user authorises them.</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Coverages &amp; Clauses</a:t>
                      </a:r>
                    </a:p>
                    <a:p>
                      <a:r>
                        <a:rPr sz="950" b="0">
                          <a:solidFill>
                            <a:srgbClr val="4B4B4B"/>
                          </a:solidFill>
                          <a:latin typeface="Arial"/>
                        </a:rPr>
                        <a:t>Sidebar entry Coverages &amp; Clauses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FR-PM-010, FR-PM-011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keeps one library of coverages and clause wordings that every package version reuses.</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(5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3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320</a:t>
            </a:r>
          </a:p>
        </p:txBody>
      </p:sp>
      <p:graphicFrame>
        <p:nvGraphicFramePr>
          <p:cNvPr id="9" name="Table 8"/>
          <p:cNvGraphicFramePr>
            <a:graphicFrameLocks noGrp="1"/>
          </p:cNvGraphicFramePr>
          <p:nvPr/>
        </p:nvGraphicFramePr>
        <p:xfrm>
          <a:off x="548640" y="1325880"/>
          <a:ext cx="11094411" cy="4274799"/>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Coverages &amp; Perils / Clause Library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Coverages &amp; Perils</a:t>
                      </a:r>
                    </a:p>
                  </a:txBody>
                  <a:tcPr marL="54864" marR="54864" marT="27432" marB="27432">
                    <a:solidFill>
                      <a:srgbClr val="E5F5FF"/>
                    </a:solidFill>
                  </a:tcPr>
                </a:tc>
                <a:tc>
                  <a:txBody>
                    <a:bodyPr/>
                    <a:lstStyle/>
                    <a:p>
                      <a:r>
                        <a:rPr sz="850" b="0">
                          <a:solidFill>
                            <a:srgbClr val="4B4B4B"/>
                          </a:solidFill>
                          <a:latin typeface="Arial"/>
                        </a:rPr>
                        <a:t>Product line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lines or one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Coverages &amp; Perils</a:t>
                      </a:r>
                    </a:p>
                  </a:txBody>
                  <a:tcPr marL="54864" marR="54864" marT="27432" marB="27432">
                    <a:solidFill>
                      <a:srgbClr val="FFFFFF"/>
                    </a:solidFill>
                  </a:tcPr>
                </a:tc>
                <a:tc>
                  <a:txBody>
                    <a:bodyPr/>
                    <a:lstStyle/>
                    <a:p>
                      <a:r>
                        <a:rPr sz="850" b="0">
                          <a:solidFill>
                            <a:srgbClr val="4B4B4B"/>
                          </a:solidFill>
                          <a:latin typeface="Arial"/>
                        </a:rPr>
                        <a:t>Line / Code / Name / Kind / Basic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Coverage of the line; Basic Yes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coverage is set up for this line.</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Clause Library</a:t>
                      </a:r>
                    </a:p>
                  </a:txBody>
                  <a:tcPr marL="54864" marR="54864" marT="27432" marB="27432">
                    <a:solidFill>
                      <a:srgbClr val="E5F5FF"/>
                    </a:solidFill>
                  </a:tcPr>
                </a:tc>
                <a:tc>
                  <a:txBody>
                    <a:bodyPr/>
                    <a:lstStyle/>
                    <a:p>
                      <a:r>
                        <a:rPr sz="850" b="0">
                          <a:solidFill>
                            <a:srgbClr val="4B4B4B"/>
                          </a:solidFill>
                          <a:latin typeface="Arial"/>
                        </a:rPr>
                        <a:t>Code / Kind / Title / Line / Effective / Until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Line or All lines; dd-MMM-yyyy</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The clause library is empty.</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Line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Select the product line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and _</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line</a:t>
                      </a:r>
                    </a:p>
                  </a:txBody>
                  <a:tcPr marL="54864" marR="54864" marT="27432" marB="27432">
                    <a:solidFill>
                      <a:srgbClr val="E5F5FF"/>
                    </a:solidFill>
                  </a:tcPr>
                </a:tc>
                <a:tc>
                  <a:txBody>
                    <a:bodyPr/>
                    <a:lstStyle/>
                    <a:p>
                      <a:r>
                        <a:rPr sz="850" b="0">
                          <a:solidFill>
                            <a:srgbClr val="4B4B4B"/>
                          </a:solidFill>
                          <a:latin typeface="Arial"/>
                        </a:rPr>
                        <a:t>Use A-Z, 0-9 and _</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Coverage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Coverage</a:t>
                      </a:r>
                    </a:p>
                  </a:txBody>
                  <a:tcPr marL="54864" marR="54864" marT="27432" marB="27432">
                    <a:solidFill>
                      <a:srgbClr val="FFFFFF"/>
                    </a:solidFill>
                  </a:tcPr>
                </a:tc>
                <a:tc>
                  <a:txBody>
                    <a:bodyPr/>
                    <a:lstStyle/>
                    <a:p>
                      <a:r>
                        <a:rPr sz="850" b="0">
                          <a:solidFill>
                            <a:srgbClr val="4B4B4B"/>
                          </a:solidFill>
                          <a:latin typeface="Arial"/>
                        </a:rPr>
                        <a:t>Display order</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Whole number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Coverage</a:t>
                      </a:r>
                    </a:p>
                  </a:txBody>
                  <a:tcPr marL="54864" marR="54864" marT="27432" marB="27432">
                    <a:solidFill>
                      <a:srgbClr val="E5F5FF"/>
                    </a:solidFill>
                  </a:tcPr>
                </a:tc>
                <a:tc>
                  <a:txBody>
                    <a:bodyPr/>
                    <a:lstStyle/>
                    <a:p>
                      <a:r>
                        <a:rPr sz="850" b="0">
                          <a:solidFill>
                            <a:srgbClr val="4B4B4B"/>
                          </a:solidFill>
                          <a:latin typeface="Arial"/>
                        </a:rPr>
                        <a:t>Basic coverage</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A-Z, 0-9 and _</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Use A-Z, 0-9 and _</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Kind</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Clause kinds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kind</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Product line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Every line or one line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Title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title</a:t>
                      </a:r>
                    </a:p>
                  </a:txBody>
                  <a:tcPr marL="54864" marR="54864" marT="27432" marB="27432">
                    <a:solidFill>
                      <a:srgbClr val="E5F5FF"/>
                    </a:solidFill>
                  </a:tcPr>
                </a:tc>
              </a:tr>
              <a:tr h="350518">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New Clause</a:t>
                      </a:r>
                    </a:p>
                  </a:txBody>
                  <a:tcPr marL="54864" marR="54864" marT="27432" marB="27432">
                    <a:solidFill>
                      <a:srgbClr val="FFFFFF"/>
                    </a:solidFill>
                  </a:tcPr>
                </a:tc>
                <a:tc>
                  <a:txBody>
                    <a:bodyPr/>
                    <a:lstStyle/>
                    <a:p>
                      <a:r>
                        <a:rPr sz="850" b="0">
                          <a:solidFill>
                            <a:srgbClr val="4B4B4B"/>
                          </a:solidFill>
                          <a:latin typeface="Arial"/>
                        </a:rPr>
                        <a:t>Effective from / Effective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 (from)</a:t>
                      </a:r>
                    </a:p>
                  </a:txBody>
                  <a:tcPr marL="54864" marR="54864" marT="27432" marB="27432">
                    <a:solidFill>
                      <a:srgbClr val="FFFFFF"/>
                    </a:solidFill>
                  </a:tcPr>
                </a:tc>
                <a:tc>
                  <a:txBody>
                    <a:bodyPr/>
                    <a:lstStyle/>
                    <a:p>
                      <a:r>
                        <a:rPr sz="850" b="0">
                          <a:solidFill>
                            <a:srgbClr val="4B4B4B"/>
                          </a:solidFill>
                          <a:latin typeface="Arial"/>
                        </a:rPr>
                        <a:t>To on or after from</a:t>
                      </a:r>
                    </a:p>
                  </a:txBody>
                  <a:tcPr marL="54864" marR="54864" marT="27432" marB="27432">
                    <a:solidFill>
                      <a:srgbClr val="FFFFFF"/>
                    </a:solidFill>
                  </a:tcPr>
                </a:tc>
                <a:tc>
                  <a:txBody>
                    <a:bodyPr/>
                    <a:lstStyle/>
                    <a:p>
                      <a:r>
                        <a:rPr sz="850" b="0">
                          <a:solidFill>
                            <a:srgbClr val="4B4B4B"/>
                          </a:solidFill>
                          <a:latin typeface="Arial"/>
                        </a:rPr>
                        <a:t>Enter the effective date / The end is before the start</a:t>
                      </a:r>
                    </a:p>
                  </a:txBody>
                  <a:tcPr marL="54864" marR="54864" marT="27432" marB="27432">
                    <a:solidFill>
                      <a:srgbClr val="FFFFFF"/>
                    </a:solidFill>
                  </a:tcPr>
                </a:tc>
              </a:tr>
              <a:tr h="220979">
                <a:tc>
                  <a:txBody>
                    <a:bodyPr/>
                    <a:lstStyle/>
                    <a:p>
                      <a:r>
                        <a:rPr sz="850" b="0">
                          <a:solidFill>
                            <a:srgbClr val="4B4B4B"/>
                          </a:solidFill>
                          <a:latin typeface="Arial"/>
                        </a:rPr>
                        <a:t>16</a:t>
                      </a:r>
                    </a:p>
                  </a:txBody>
                  <a:tcPr marL="54864" marR="54864" marT="27432" marB="27432">
                    <a:solidFill>
                      <a:srgbClr val="E5F5FF"/>
                    </a:solidFill>
                  </a:tcPr>
                </a:tc>
                <a:tc>
                  <a:txBody>
                    <a:bodyPr/>
                    <a:lstStyle/>
                    <a:p>
                      <a:r>
                        <a:rPr sz="850" b="0">
                          <a:solidFill>
                            <a:srgbClr val="4B4B4B"/>
                          </a:solidFill>
                          <a:latin typeface="Arial"/>
                        </a:rPr>
                        <a:t>New Clause</a:t>
                      </a:r>
                    </a:p>
                  </a:txBody>
                  <a:tcPr marL="54864" marR="54864" marT="27432" marB="27432">
                    <a:solidFill>
                      <a:srgbClr val="E5F5FF"/>
                    </a:solidFill>
                  </a:tcPr>
                </a:tc>
                <a:tc>
                  <a:txBody>
                    <a:bodyPr/>
                    <a:lstStyle/>
                    <a:p>
                      <a:r>
                        <a:rPr sz="850" b="0">
                          <a:solidFill>
                            <a:srgbClr val="4B4B4B"/>
                          </a:solidFill>
                          <a:latin typeface="Arial"/>
                        </a:rPr>
                        <a:t>Wording</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Full wording</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wording</a:t>
                      </a:r>
                    </a:p>
                  </a:txBody>
                  <a:tcPr marL="54864" marR="54864" marT="27432" marB="27432">
                    <a:solidFill>
                      <a:srgbClr val="E5F5FF"/>
                    </a:solidFill>
                  </a:tcPr>
                </a:tc>
              </a:tr>
            </a:tbl>
          </a:graphicData>
        </a:graphic>
      </p:graphicFrame>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321</a:t>
            </a:r>
          </a:p>
        </p:txBody>
      </p:sp>
      <p:graphicFrame>
        <p:nvGraphicFramePr>
          <p:cNvPr id="9" name="Table 8"/>
          <p:cNvGraphicFramePr>
            <a:graphicFrameLocks noGrp="1"/>
          </p:cNvGraphicFramePr>
          <p:nvPr/>
        </p:nvGraphicFramePr>
        <p:xfrm>
          <a:off x="548640" y="1325880"/>
          <a:ext cx="11094412" cy="149351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Coverage / New Clause</a:t>
                      </a:r>
                    </a:p>
                  </a:txBody>
                  <a:tcPr marL="54864" marR="54864" marT="27432" marB="27432">
                    <a:solidFill>
                      <a:srgbClr val="FFFFFF"/>
                    </a:solidFill>
                  </a:tcPr>
                </a:tc>
                <a:tc>
                  <a:txBody>
                    <a:bodyPr/>
                    <a:lstStyle/>
                    <a:p>
                      <a:r>
                        <a:rPr sz="850" b="0">
                          <a:solidFill>
                            <a:srgbClr val="4B4B4B"/>
                          </a:solidFill>
                          <a:latin typeface="Arial"/>
                        </a:rPr>
                        <a:t>MBS (PRODUCT_MAINTAIN)</a:t>
                      </a:r>
                    </a:p>
                  </a:txBody>
                  <a:tcPr marL="54864" marR="54864" marT="27432" marB="27432">
                    <a:solidFill>
                      <a:srgbClr val="FFFFFF"/>
                    </a:solidFill>
                  </a:tcPr>
                </a:tc>
                <a:tc>
                  <a:txBody>
                    <a:bodyPr/>
                    <a:lstStyle/>
                    <a:p>
                      <a:r>
                        <a:rPr sz="850" b="0">
                          <a:solidFill>
                            <a:srgbClr val="4B4B4B"/>
                          </a:solidFill>
                          <a:latin typeface="Arial"/>
                        </a:rPr>
                        <a:t>Tab of the kind</a:t>
                      </a:r>
                    </a:p>
                  </a:txBody>
                  <a:tcPr marL="54864" marR="54864" marT="27432" marB="27432">
                    <a:solidFill>
                      <a:srgbClr val="FFFFFF"/>
                    </a:solidFill>
                  </a:tcPr>
                </a:tc>
                <a:tc>
                  <a:txBody>
                    <a:bodyPr/>
                    <a:lstStyle/>
                    <a:p>
                      <a:r>
                        <a:rPr sz="850" b="0">
                          <a:solidFill>
                            <a:srgbClr val="4B4B4B"/>
                          </a:solidFill>
                          <a:latin typeface="Arial"/>
                        </a:rPr>
                        <a:t>Opens the dialog; Save for Authorization saves it pending authorisation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(PRODUCT_MAINTAIN)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coverage or clause for change (code fixed)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Authorises the coverage or clause</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PRODUCT_MAINTAIN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Ends its use; versions already released keep it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322</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hierarchy is line, cover type with at most one subtype level, product, and coverage or peril of the line (FR-PM-010).</a:t>
                      </a:r>
                    </a:p>
                  </a:txBody>
                  <a:tcPr marL="54864" marR="54864" marT="27432" marB="27432">
                    <a:solidFill>
                      <a:srgbClr val="FFFFFF"/>
                    </a:solidFill>
                  </a:tcPr>
                </a:tc>
              </a:tr>
              <a:tr h="243840">
                <a:tc>
                  <a:txBody>
                    <a:bodyPr/>
                    <a:lstStyle/>
                    <a:p>
                      <a:r>
                        <a:rPr sz="1000" b="0">
                          <a:solidFill>
                            <a:srgbClr val="4B4B4B"/>
                          </a:solidFill>
                          <a:latin typeface="Arial"/>
                        </a:rPr>
                        <a:t>A package version offers only the active coverages of its line and the active clauses of its line or of every line (FR-PM-010, FR-PM-011).</a:t>
                      </a:r>
                    </a:p>
                  </a:txBody>
                  <a:tcPr marL="54864" marR="54864" marT="27432" marB="27432">
                    <a:solidFill>
                      <a:srgbClr val="E5F5FF"/>
                    </a:solidFill>
                  </a:tcPr>
                </a:tc>
              </a:tr>
              <a:tr h="243840">
                <a:tc>
                  <a:txBody>
                    <a:bodyPr/>
                    <a:lstStyle/>
                    <a:p>
                      <a:r>
                        <a:rPr sz="1000" b="0">
                          <a:solidFill>
                            <a:srgbClr val="4B4B4B"/>
                          </a:solidFill>
                          <a:latin typeface="Arial"/>
                        </a:rPr>
                        <a:t>Coverages and clauses are maker-checker and never deleted (FR-PM-011).</a:t>
                      </a:r>
                    </a:p>
                  </a:txBody>
                  <a:tcPr marL="54864" marR="54864" marT="27432" marB="27432">
                    <a:solidFill>
                      <a:srgbClr val="FFFFFF"/>
                    </a:solidFill>
                  </a:tcPr>
                </a:tc>
              </a:tr>
            </a:tbl>
          </a:graphicData>
        </a:graphic>
      </p:graphicFrame>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323</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a:t>
                      </a:r>
                    </a:p>
                  </a:txBody>
                  <a:tcPr marL="54864" marR="54864" marT="27432" marB="27432">
                    <a:solidFill>
                      <a:srgbClr val="FFFFFF"/>
                    </a:solidFill>
                  </a:tcPr>
                </a:tc>
                <a:tc>
                  <a:txBody>
                    <a:bodyPr/>
                    <a:lstStyle/>
                    <a:p>
                      <a:r>
                        <a:rPr sz="900" b="0">
                          <a:solidFill>
                            <a:srgbClr val="4B4B4B"/>
                          </a:solidFill>
                          <a:latin typeface="Arial"/>
                        </a:rPr>
                        <a:t>Opens the Clause Library and clicks Authorize on FLEET_REPAIR</a:t>
                      </a:r>
                    </a:p>
                  </a:txBody>
                  <a:tcPr marL="54864" marR="54864" marT="27432" marB="27432">
                    <a:solidFill>
                      <a:srgbClr val="FFFFFF"/>
                    </a:solidFill>
                  </a:tcPr>
                </a:tc>
                <a:tc>
                  <a:txBody>
                    <a:bodyPr/>
                    <a:lstStyle/>
                    <a:p>
                      <a:r>
                        <a:rPr sz="900" b="0">
                          <a:solidFill>
                            <a:srgbClr val="4B4B4B"/>
                          </a:solidFill>
                          <a:latin typeface="Arial"/>
                        </a:rPr>
                        <a:t>SCR-PM-15_wt-a-step-02.png</a:t>
                      </a:r>
                    </a:p>
                  </a:txBody>
                  <a:tcPr marL="54864" marR="54864" marT="27432" marB="27432">
                    <a:solidFill>
                      <a:srgbClr val="FFFFFF"/>
                    </a:solidFill>
                  </a:tcPr>
                </a:tc>
              </a:tr>
              <a:tr h="365760">
                <a:tc>
                  <a:txBody>
                    <a:bodyPr/>
                    <a:lstStyle/>
                    <a:p>
                      <a:r>
                        <a:rPr sz="900" b="0">
                          <a:solidFill>
                            <a:srgbClr val="4B4B4B"/>
                          </a:solidFill>
                          <a:latin typeface="Arial"/>
                        </a:rPr>
                        <a:t>Pending approval</a:t>
                      </a:r>
                    </a:p>
                  </a:txBody>
                  <a:tcPr marL="54864" marR="54864" marT="27432" marB="27432">
                    <a:solidFill>
                      <a:srgbClr val="E5F5FF"/>
                    </a:solidFill>
                  </a:tcPr>
                </a:tc>
                <a:tc>
                  <a:txBody>
                    <a:bodyPr/>
                    <a:lstStyle/>
                    <a:p>
                      <a:r>
                        <a:rPr sz="900" b="0">
                          <a:solidFill>
                            <a:srgbClr val="4B4B4B"/>
                          </a:solidFill>
                          <a:latin typeface="Arial"/>
                        </a:rPr>
                        <a:t>WT-A step 1</a:t>
                      </a:r>
                    </a:p>
                  </a:txBody>
                  <a:tcPr marL="54864" marR="54864" marT="27432" marB="27432">
                    <a:solidFill>
                      <a:srgbClr val="E5F5FF"/>
                    </a:solidFill>
                  </a:tcPr>
                </a:tc>
                <a:tc>
                  <a:txBody>
                    <a:bodyPr/>
                    <a:lstStyle/>
                    <a:p>
                      <a:r>
                        <a:rPr sz="900" b="0">
                          <a:solidFill>
                            <a:srgbClr val="4B4B4B"/>
                          </a:solidFill>
                          <a:latin typeface="Arial"/>
                        </a:rPr>
                        <a:t>Opens Coverages &amp; Clauses › Clause Library, clicks New Clause, enters the code FLEET_REPAIR, kind, line Motor, title, effective date and wording, and clicks Save for Authorization</a:t>
                      </a:r>
                    </a:p>
                  </a:txBody>
                  <a:tcPr marL="54864" marR="54864" marT="27432" marB="27432">
                    <a:solidFill>
                      <a:srgbClr val="E5F5FF"/>
                    </a:solidFill>
                  </a:tcPr>
                </a:tc>
                <a:tc>
                  <a:txBody>
                    <a:bodyPr/>
                    <a:lstStyle/>
                    <a:p>
                      <a:r>
                        <a:rPr sz="900" b="0">
                          <a:solidFill>
                            <a:srgbClr val="4B4B4B"/>
                          </a:solidFill>
                          <a:latin typeface="Arial"/>
                        </a:rPr>
                        <a:t>SCR-PM-15_wt-a-step-01.png</a:t>
                      </a:r>
                    </a:p>
                  </a:txBody>
                  <a:tcPr marL="54864" marR="54864" marT="27432" marB="27432">
                    <a:solidFill>
                      <a:srgbClr val="E5F5FF"/>
                    </a:solidFill>
                  </a:tcPr>
                </a:tc>
              </a:tr>
            </a:tbl>
          </a:graphicData>
        </a:graphic>
      </p:graphicFrame>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6.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1 of 3)</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325</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7.png"/>
          <p:cNvPicPr>
            <a:picLocks noChangeAspect="1"/>
          </p:cNvPicPr>
          <p:nvPr/>
        </p:nvPicPr>
        <p:blipFill>
          <a:blip r:embed="rId3"/>
          <a:stretch>
            <a:fillRect/>
          </a:stretch>
        </p:blipFill>
        <p:spPr>
          <a:xfrm>
            <a:off x="548640" y="1261872"/>
            <a:ext cx="11094415" cy="454297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2 of 3)</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326</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8.png"/>
          <p:cNvPicPr>
            <a:picLocks noChangeAspect="1"/>
          </p:cNvPicPr>
          <p:nvPr/>
        </p:nvPicPr>
        <p:blipFill>
          <a:blip r:embed="rId3"/>
          <a:stretch>
            <a:fillRect/>
          </a:stretch>
        </p:blipFill>
        <p:spPr>
          <a:xfrm>
            <a:off x="548640" y="1261872"/>
            <a:ext cx="11094415" cy="29648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Coverages &amp; Perils tab (part 3 of 3)</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327</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199.png"/>
          <p:cNvPicPr>
            <a:picLocks noChangeAspect="1"/>
          </p:cNvPicPr>
          <p:nvPr/>
        </p:nvPicPr>
        <p:blipFill>
          <a:blip r:embed="rId3"/>
          <a:stretch>
            <a:fillRect/>
          </a:stretch>
        </p:blipFill>
        <p:spPr>
          <a:xfrm>
            <a:off x="548640" y="1261872"/>
            <a:ext cx="11094415" cy="4648177"/>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Clause Library tab (part 1 of 2)</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0.png"/>
          <p:cNvPicPr>
            <a:picLocks noChangeAspect="1"/>
          </p:cNvPicPr>
          <p:nvPr/>
        </p:nvPicPr>
        <p:blipFill>
          <a:blip r:embed="rId3"/>
          <a:stretch>
            <a:fillRect/>
          </a:stretch>
        </p:blipFill>
        <p:spPr>
          <a:xfrm>
            <a:off x="548640" y="1261872"/>
            <a:ext cx="11094415" cy="226670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Clause Library tab (part 2 of 2)</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SCR-PM-15 Coverages &amp; Clauses: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5-03-new.png"/>
          <p:cNvPicPr>
            <a:picLocks noChangeAspect="1"/>
          </p:cNvPicPr>
          <p:nvPr/>
        </p:nvPicPr>
        <p:blipFill>
          <a:blip r:embed="rId3"/>
          <a:stretch>
            <a:fillRect/>
          </a:stretch>
        </p:blipFill>
        <p:spPr>
          <a:xfrm>
            <a:off x="548640" y="1261872"/>
            <a:ext cx="11094415" cy="429046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Coverage dialog</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CHG-PM-2.0-03</a:t>
            </a:r>
          </a:p>
        </p:txBody>
      </p:sp>
      <p:graphicFrame>
        <p:nvGraphicFramePr>
          <p:cNvPr id="10" name="Table 9"/>
          <p:cNvGraphicFramePr>
            <a:graphicFrameLocks noGrp="1"/>
          </p:cNvGraphicFramePr>
          <p:nvPr/>
        </p:nvGraphicFramePr>
        <p:xfrm>
          <a:off x="548640" y="1307592"/>
          <a:ext cx="6434760" cy="28117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Products and package versions</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Incentive criteria, such as CPC2, on the products matrix: their value (rate, fixed amount or rule), the products and segments they apply to, and their effective dates. An active criterion is changed by an amendment that starts later and is deactivated, never deleted. Booking stamps on each invoice the criteria it matches.</a:t>
                      </a:r>
                    </a:p>
                  </a:txBody>
                  <a:tcPr marL="54864" marR="54864" marT="27432" marB="27432">
                    <a:solidFill>
                      <a:srgbClr val="FFFFFF"/>
                    </a:solidFill>
                  </a:tcPr>
                </a:tc>
              </a:tr>
              <a:tr h="52578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TSU Team Lead, TSU Head, Marketing Business Services, ManCom member, Business Administrator, New Business Approver, System Administrator, Auditor</a:t>
                      </a:r>
                    </a:p>
                  </a:txBody>
                  <a:tcPr marL="54864" marR="54864" marT="27432" marB="27432">
                    <a:solidFill>
                      <a:srgbClr val="FFFFFF"/>
                    </a:solidFill>
                  </a:tcPr>
                </a:tc>
              </a:tr>
              <a:tr h="52578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Incentive Criteria</a:t>
                      </a:r>
                    </a:p>
                    <a:p>
                      <a:r>
                        <a:rPr sz="950" b="0">
                          <a:solidFill>
                            <a:srgbClr val="4B4B4B"/>
                          </a:solidFill>
                          <a:latin typeface="Arial"/>
                        </a:rPr>
                        <a:t>Sidebar entry Incentive Criteria</a:t>
                      </a:r>
                    </a:p>
                    <a:p>
                      <a:r>
                        <a:rPr sz="950" b="0">
                          <a:solidFill>
                            <a:srgbClr val="4B4B4B"/>
                          </a:solidFill>
                          <a:latin typeface="Arial"/>
                        </a:rPr>
                        <a:t>The incentive alert when a product of a criterion expires or is retired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13.2.6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FR-PM-080, FR-PM-081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incentive criteria are maintained once, on the products matrix, and applied the same way to every booking.</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331</a:t>
            </a:r>
          </a:p>
        </p:txBody>
      </p:sp>
      <p:graphicFrame>
        <p:nvGraphicFramePr>
          <p:cNvPr id="9" name="Table 8"/>
          <p:cNvGraphicFramePr>
            <a:graphicFrameLocks noGrp="1"/>
          </p:cNvGraphicFramePr>
          <p:nvPr/>
        </p:nvGraphicFramePr>
        <p:xfrm>
          <a:off x="548640" y="1325880"/>
          <a:ext cx="11094411" cy="4907252"/>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Current / Pending Authorization / History</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Current = active and not ended; History = ended, replaced or 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Search</a:t>
                      </a:r>
                    </a:p>
                  </a:txBody>
                  <a:tcPr marL="54864" marR="54864" marT="27432" marB="27432">
                    <a:solidFill>
                      <a:srgbClr val="E5F5FF"/>
                    </a:solidFill>
                  </a:tcPr>
                </a:tc>
                <a:tc>
                  <a:txBody>
                    <a:bodyPr/>
                    <a:lstStyle/>
                    <a:p>
                      <a:r>
                        <a:rPr sz="850" b="0">
                          <a:solidFill>
                            <a:srgbClr val="4B4B4B"/>
                          </a:solidFill>
                          <a:latin typeface="Arial"/>
                        </a:rPr>
                        <a:t>Search Criterion or Product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Code of a criterion or a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Contains search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 / Name / Type / Value / Products / From / Until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Value as n%, an amount, or Rule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incentive criterion in this list.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A-Z, 0-9, _ and -</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a:t>
                      </a:r>
                    </a:p>
                  </a:txBody>
                  <a:tcPr marL="54864" marR="54864" marT="27432" marB="27432">
                    <a:solidFill>
                      <a:srgbClr val="E5F5FF"/>
                    </a:solidFill>
                  </a:tcPr>
                </a:tc>
                <a:tc>
                  <a:txBody>
                    <a:bodyPr/>
                    <a:lstStyle/>
                    <a:p>
                      <a:r>
                        <a:rPr sz="850" b="0">
                          <a:solidFill>
                            <a:srgbClr val="4B4B4B"/>
                          </a:solidFill>
                          <a:latin typeface="Arial"/>
                        </a:rPr>
                        <a:t>Use A-Z, 0-9, _ and -</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Up to 150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name</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Incentive type</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Incentive types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Active value</a:t>
                      </a:r>
                    </a:p>
                  </a:txBody>
                  <a:tcPr marL="54864" marR="54864" marT="27432" marB="27432">
                    <a:solidFill>
                      <a:srgbClr val="E5F5FF"/>
                    </a:solidFill>
                  </a:tcPr>
                </a:tc>
                <a:tc>
                  <a:txBody>
                    <a:bodyPr/>
                    <a:lstStyle/>
                    <a:p>
                      <a:r>
                        <a:rPr sz="850" b="0">
                          <a:solidFill>
                            <a:srgbClr val="4B4B4B"/>
                          </a:solidFill>
                          <a:latin typeface="Arial"/>
                        </a:rPr>
                        <a:t>Select the type</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Value basis</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Rate (%), Fixed amount, Rule (parameters)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Value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Rate 0 to 100 or an amount</a:t>
                      </a:r>
                    </a:p>
                  </a:txBody>
                  <a:tcPr marL="54864" marR="54864" marT="27432" marB="27432">
                    <a:solidFill>
                      <a:srgbClr val="E5F5FF"/>
                    </a:solidFill>
                  </a:tcPr>
                </a:tc>
                <a:tc>
                  <a:txBody>
                    <a:bodyPr/>
                    <a:lstStyle/>
                    <a:p>
                      <a:r>
                        <a:rPr sz="850" b="0">
                          <a:solidFill>
                            <a:srgbClr val="4B4B4B"/>
                          </a:solidFill>
                          <a:latin typeface="Arial"/>
                        </a:rPr>
                        <a:t>Cond.: rate or fixed amount</a:t>
                      </a:r>
                    </a:p>
                  </a:txBody>
                  <a:tcPr marL="54864" marR="54864" marT="27432" marB="27432">
                    <a:solidFill>
                      <a:srgbClr val="E5F5FF"/>
                    </a:solidFill>
                  </a:tcPr>
                </a:tc>
                <a:tc>
                  <a:txBody>
                    <a:bodyPr/>
                    <a:lstStyle/>
                    <a:p>
                      <a:r>
                        <a:rPr sz="850" b="0">
                          <a:solidFill>
                            <a:srgbClr val="4B4B4B"/>
                          </a:solidFill>
                          <a:latin typeface="Arial"/>
                        </a:rPr>
                        <a:t>Zero or more; a rate up to 100</a:t>
                      </a:r>
                    </a:p>
                  </a:txBody>
                  <a:tcPr marL="54864" marR="54864" marT="27432" marB="27432">
                    <a:solidFill>
                      <a:srgbClr val="E5F5FF"/>
                    </a:solidFill>
                  </a:tcPr>
                </a:tc>
                <a:tc>
                  <a:txBody>
                    <a:bodyPr/>
                    <a:lstStyle/>
                    <a:p>
                      <a:r>
                        <a:rPr sz="850" b="0">
                          <a:solidFill>
                            <a:srgbClr val="4B4B4B"/>
                          </a:solidFill>
                          <a:latin typeface="Arial"/>
                        </a:rPr>
                        <a:t>Enter the value / A rate is between 0 and 100</a:t>
                      </a:r>
                    </a:p>
                  </a:txBody>
                  <a:tcPr marL="54864" marR="54864" marT="27432" marB="27432">
                    <a:solidFill>
                      <a:srgbClr val="E5F5FF"/>
                    </a:solidFill>
                  </a:tcPr>
                </a:tc>
              </a:tr>
              <a:tr h="609596">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Effective from</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amendment starts after the active row; no overlap with another row of the code</a:t>
                      </a:r>
                    </a:p>
                  </a:txBody>
                  <a:tcPr marL="54864" marR="54864" marT="27432" marB="27432">
                    <a:solidFill>
                      <a:srgbClr val="FFFFFF"/>
                    </a:solidFill>
                  </a:tcPr>
                </a:tc>
                <a:tc>
                  <a:txBody>
                    <a:bodyPr/>
                    <a:lstStyle/>
                    <a:p>
                      <a:r>
                        <a:rPr sz="850" b="0">
                          <a:solidFill>
                            <a:srgbClr val="4B4B4B"/>
                          </a:solidFill>
                          <a:latin typeface="Arial"/>
                        </a:rPr>
                        <a:t>Enter the start date / The change must start after &lt;active from&gt; / Criterion &lt;code&gt; already covers part of this period</a:t>
                      </a:r>
                    </a:p>
                  </a:txBody>
                  <a:tcPr marL="54864" marR="54864" marT="27432" marB="27432">
                    <a:solidFill>
                      <a:srgbClr val="FFFFFF"/>
                    </a:solidFill>
                  </a:tcPr>
                </a:tc>
              </a:tr>
              <a:tr h="220979">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 or after the start</a:t>
                      </a:r>
                    </a:p>
                  </a:txBody>
                  <a:tcPr marL="54864" marR="54864" marT="27432" marB="27432">
                    <a:solidFill>
                      <a:srgbClr val="E5F5FF"/>
                    </a:solidFill>
                  </a:tcPr>
                </a:tc>
                <a:tc>
                  <a:txBody>
                    <a:bodyPr/>
                    <a:lstStyle/>
                    <a:p>
                      <a:r>
                        <a:rPr sz="850" b="0">
                          <a:solidFill>
                            <a:srgbClr val="4B4B4B"/>
                          </a:solidFill>
                          <a:latin typeface="Arial"/>
                        </a:rPr>
                        <a:t>The end is before the start</a:t>
                      </a:r>
                    </a:p>
                  </a:txBody>
                  <a:tcPr marL="54864" marR="54864" marT="27432" marB="27432">
                    <a:solidFill>
                      <a:srgbClr val="E5F5FF"/>
                    </a:solidFill>
                  </a:tcPr>
                </a:tc>
              </a:tr>
              <a:tr h="739135">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Rule Parameters</a:t>
                      </a:r>
                    </a:p>
                  </a:txBody>
                  <a:tcPr marL="54864" marR="54864" marT="27432" marB="27432">
                    <a:solidFill>
                      <a:srgbClr val="FFFFFF"/>
                    </a:solidFill>
                  </a:tcPr>
                </a:tc>
                <a:tc>
                  <a:txBody>
                    <a:bodyPr/>
                    <a:lstStyle/>
                    <a:p>
                      <a:r>
                        <a:rPr sz="850" b="0">
                          <a:solidFill>
                            <a:srgbClr val="4B4B4B"/>
                          </a:solidFill>
                          <a:latin typeface="Arial"/>
                        </a:rPr>
                        <a:t>Rows: parameter and value</a:t>
                      </a:r>
                    </a:p>
                  </a:txBody>
                  <a:tcPr marL="54864" marR="54864" marT="27432" marB="27432">
                    <a:solidFill>
                      <a:srgbClr val="FFFFFF"/>
                    </a:solidFill>
                  </a:tcPr>
                </a:tc>
                <a:tc>
                  <a:txBody>
                    <a:bodyPr/>
                    <a:lstStyle/>
                    <a:p>
                      <a:r>
                        <a:rPr sz="850" b="0">
                          <a:solidFill>
                            <a:srgbClr val="4B4B4B"/>
                          </a:solidFill>
                          <a:latin typeface="Arial"/>
                        </a:rPr>
                        <a:t>Parameter from the parameters of the incentive type (Minimum Gross Premium); value as the parameter asks (an amount)</a:t>
                      </a:r>
                    </a:p>
                  </a:txBody>
                  <a:tcPr marL="54864" marR="54864" marT="27432" marB="27432">
                    <a:solidFill>
                      <a:srgbClr val="FFFFFF"/>
                    </a:solidFill>
                  </a:tcPr>
                </a:tc>
                <a:tc>
                  <a:txBody>
                    <a:bodyPr/>
                    <a:lstStyle/>
                    <a:p>
                      <a:r>
                        <a:rPr sz="850" b="0">
                          <a:solidFill>
                            <a:srgbClr val="4B4B4B"/>
                          </a:solidFill>
                          <a:latin typeface="Arial"/>
                        </a:rPr>
                        <a:t>N (a value per row)</a:t>
                      </a:r>
                    </a:p>
                  </a:txBody>
                  <a:tcPr marL="54864" marR="54864" marT="27432" marB="27432">
                    <a:solidFill>
                      <a:srgbClr val="FFFFFF"/>
                    </a:solidFill>
                  </a:tcPr>
                </a:tc>
                <a:tc>
                  <a:txBody>
                    <a:bodyPr/>
                    <a:lstStyle/>
                    <a:p>
                      <a:r>
                        <a:rPr sz="850" b="0">
                          <a:solidFill>
                            <a:srgbClr val="4B4B4B"/>
                          </a:solidFill>
                          <a:latin typeface="Arial"/>
                        </a:rPr>
                        <a:t>Each parameter once; a value for each parameter; a number, zero or more</a:t>
                      </a:r>
                    </a:p>
                  </a:txBody>
                  <a:tcPr marL="54864" marR="54864" marT="27432" marB="27432">
                    <a:solidFill>
                      <a:srgbClr val="FFFFFF"/>
                    </a:solidFill>
                  </a:tcPr>
                </a:tc>
                <a:tc>
                  <a:txBody>
                    <a:bodyPr/>
                    <a:lstStyle/>
                    <a:p>
                      <a:r>
                        <a:rPr sz="850" b="0">
                          <a:solidFill>
                            <a:srgbClr val="4B4B4B"/>
                          </a:solidFill>
                          <a:latin typeface="Arial"/>
                        </a:rPr>
                        <a:t>Select the parameter / &lt;parameter&gt; is listed twice / Enter a value for each parameter / &lt;parameter&gt; must be a number / &lt;parameter&gt; cannot be negative</a:t>
                      </a:r>
                    </a:p>
                  </a:txBody>
                  <a:tcPr marL="54864" marR="54864" marT="27432" marB="27432">
                    <a:solidFill>
                      <a:srgbClr val="FFFFFF"/>
                    </a:solidFill>
                  </a:tcPr>
                </a:tc>
              </a:tr>
              <a:tr h="220979">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Incentive Criterion</a:t>
                      </a:r>
                    </a:p>
                  </a:txBody>
                  <a:tcPr marL="54864" marR="54864" marT="27432" marB="27432">
                    <a:solidFill>
                      <a:srgbClr val="E5F5FF"/>
                    </a:solidFill>
                  </a:tcPr>
                </a:tc>
                <a:tc>
                  <a:txBody>
                    <a:bodyPr/>
                    <a:lstStyle/>
                    <a:p>
                      <a:r>
                        <a:rPr sz="850" b="0">
                          <a:solidFill>
                            <a:srgbClr val="4B4B4B"/>
                          </a:solidFill>
                          <a:latin typeface="Arial"/>
                        </a:rPr>
                        <a:t>Description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Incentive Criterion</a:t>
                      </a:r>
                    </a:p>
                  </a:txBody>
                  <a:tcPr marL="54864" marR="54864" marT="27432" marB="27432">
                    <a:solidFill>
                      <a:srgbClr val="FFFFFF"/>
                    </a:solidFill>
                  </a:tcPr>
                </a:tc>
                <a:tc>
                  <a:txBody>
                    <a:bodyPr/>
                    <a:lstStyle/>
                    <a:p>
                      <a:r>
                        <a:rPr sz="850" b="0">
                          <a:solidFill>
                            <a:srgbClr val="4B4B4B"/>
                          </a:solidFill>
                          <a:latin typeface="Arial"/>
                        </a:rPr>
                        <a:t>Products matrix</a:t>
                      </a:r>
                    </a:p>
                  </a:txBody>
                  <a:tcPr marL="54864" marR="54864" marT="27432" marB="27432">
                    <a:solidFill>
                      <a:srgbClr val="FFFFFF"/>
                    </a:solidFill>
                  </a:tcPr>
                </a:tc>
                <a:tc>
                  <a:txBody>
                    <a:bodyPr/>
                    <a:lstStyle/>
                    <a:p>
                      <a:r>
                        <a:rPr sz="850" b="0">
                          <a:solidFill>
                            <a:srgbClr val="4B4B4B"/>
                          </a:solidFill>
                          <a:latin typeface="Arial"/>
                        </a:rPr>
                        <a:t>Drop-down and rows</a:t>
                      </a:r>
                    </a:p>
                  </a:txBody>
                  <a:tcPr marL="54864" marR="54864" marT="27432" marB="27432">
                    <a:solidFill>
                      <a:srgbClr val="FFFFFF"/>
                    </a:solidFill>
                  </a:tcPr>
                </a:tc>
                <a:tc>
                  <a:txBody>
                    <a:bodyPr/>
                    <a:lstStyle/>
                    <a:p>
                      <a:r>
                        <a:rPr sz="850" b="0">
                          <a:solidFill>
                            <a:srgbClr val="4B4B4B"/>
                          </a:solidFill>
                          <a:latin typeface="Arial"/>
                        </a:rPr>
                        <a:t>Active product, with a segment per product (Any segment)</a:t>
                      </a:r>
                    </a:p>
                  </a:txBody>
                  <a:tcPr marL="54864" marR="54864" marT="27432" marB="27432">
                    <a:solidFill>
                      <a:srgbClr val="FFFFFF"/>
                    </a:solidFill>
                  </a:tcPr>
                </a:tc>
                <a:tc>
                  <a:txBody>
                    <a:bodyPr/>
                    <a:lstStyle/>
                    <a:p>
                      <a:r>
                        <a:rPr sz="850" b="0">
                          <a:solidFill>
                            <a:srgbClr val="4B4B4B"/>
                          </a:solidFill>
                          <a:latin typeface="Arial"/>
                        </a:rPr>
                        <a:t>Y (at least one)</a:t>
                      </a:r>
                    </a:p>
                  </a:txBody>
                  <a:tcPr marL="54864" marR="54864" marT="27432" marB="27432">
                    <a:solidFill>
                      <a:srgbClr val="FFFFFF"/>
                    </a:solidFill>
                  </a:tcPr>
                </a:tc>
                <a:tc>
                  <a:txBody>
                    <a:bodyPr/>
                    <a:lstStyle/>
                    <a:p>
                      <a:r>
                        <a:rPr sz="850" b="0">
                          <a:solidFill>
                            <a:srgbClr val="4B4B4B"/>
                          </a:solidFill>
                          <a:latin typeface="Arial"/>
                        </a:rPr>
                        <a:t>Active products only</a:t>
                      </a:r>
                    </a:p>
                  </a:txBody>
                  <a:tcPr marL="54864" marR="54864" marT="27432" marB="27432">
                    <a:solidFill>
                      <a:srgbClr val="FFFFFF"/>
                    </a:solidFill>
                  </a:tcPr>
                </a:tc>
                <a:tc>
                  <a:txBody>
                    <a:bodyPr/>
                    <a:lstStyle/>
                    <a:p>
                      <a:r>
                        <a:rPr sz="850" b="0">
                          <a:solidFill>
                            <a:srgbClr val="4B4B4B"/>
                          </a:solidFill>
                          <a:latin typeface="Arial"/>
                        </a:rPr>
                        <a:t>Select at least one product of the matrix</a:t>
                      </a:r>
                    </a:p>
                  </a:txBody>
                  <a:tcPr marL="54864" marR="54864" marT="27432" marB="27432">
                    <a:solidFill>
                      <a:srgbClr val="FFFFFF"/>
                    </a:solidFill>
                  </a:tcPr>
                </a:tc>
              </a:tr>
            </a:tbl>
          </a:graphicData>
        </a:graphic>
      </p:graphicFrame>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332</a:t>
            </a:r>
          </a:p>
        </p:txBody>
      </p:sp>
      <p:graphicFrame>
        <p:nvGraphicFramePr>
          <p:cNvPr id="9" name="Table 8"/>
          <p:cNvGraphicFramePr>
            <a:graphicFrameLocks noGrp="1"/>
          </p:cNvGraphicFramePr>
          <p:nvPr/>
        </p:nvGraphicFramePr>
        <p:xfrm>
          <a:off x="548640" y="1325880"/>
          <a:ext cx="11094412" cy="1752590"/>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Criterion</a:t>
                      </a:r>
                    </a:p>
                  </a:txBody>
                  <a:tcPr marL="54864" marR="54864" marT="27432" marB="27432">
                    <a:solidFill>
                      <a:srgbClr val="FFFFFF"/>
                    </a:solidFill>
                  </a:tcPr>
                </a:tc>
                <a:tc>
                  <a:txBody>
                    <a:bodyPr/>
                    <a:lstStyle/>
                    <a:p>
                      <a:r>
                        <a:rPr sz="850" b="0">
                          <a:solidFill>
                            <a:srgbClr val="4B4B4B"/>
                          </a:solidFill>
                          <a:latin typeface="Arial"/>
                        </a:rPr>
                        <a:t>MBS (INCENTIVE_CRITERIA_MAINTAIN)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Incentive Criterion;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Row not inactive</a:t>
                      </a:r>
                    </a:p>
                  </a:txBody>
                  <a:tcPr marL="54864" marR="54864" marT="27432" marB="27432">
                    <a:solidFill>
                      <a:srgbClr val="E5F5FF"/>
                    </a:solidFill>
                  </a:tcPr>
                </a:tc>
                <a:tc>
                  <a:txBody>
                    <a:bodyPr/>
                    <a:lstStyle/>
                    <a:p>
                      <a:r>
                        <a:rPr sz="850" b="0">
                          <a:solidFill>
                            <a:srgbClr val="4B4B4B"/>
                          </a:solidFill>
                          <a:latin typeface="Arial"/>
                        </a:rPr>
                        <a:t>Opens Change &lt;code&gt; (pending row) or Amend &lt;code&gt; (active row: a successor from a later date)</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Authorize</a:t>
                      </a:r>
                    </a:p>
                  </a:txBody>
                  <a:tcPr marL="54864" marR="54864" marT="27432" marB="27432">
                    <a:solidFill>
                      <a:srgbClr val="FFFFFF"/>
                    </a:solidFill>
                  </a:tcPr>
                </a:tc>
                <a:tc>
                  <a:txBody>
                    <a:bodyPr/>
                    <a:lstStyle/>
                    <a:p>
                      <a:r>
                        <a:rPr sz="850" b="0">
                          <a:solidFill>
                            <a:srgbClr val="4B4B4B"/>
                          </a:solidFill>
                          <a:latin typeface="Arial"/>
                        </a:rPr>
                        <a:t>PRODUCT_AUTHORIZE (Business Administrator, New Business Approver), not the maker</a:t>
                      </a:r>
                    </a:p>
                  </a:txBody>
                  <a:tcPr marL="54864" marR="54864" marT="27432" marB="27432">
                    <a:solidFill>
                      <a:srgbClr val="FFFFFF"/>
                    </a:solidFill>
                  </a:tcPr>
                </a:tc>
                <a:tc>
                  <a:txBody>
                    <a:bodyPr/>
                    <a:lstStyle/>
                    <a:p>
                      <a:r>
                        <a:rPr sz="850" b="0">
                          <a:solidFill>
                            <a:srgbClr val="4B4B4B"/>
                          </a:solidFill>
                          <a:latin typeface="Arial"/>
                        </a:rPr>
                        <a:t>Pending row</a:t>
                      </a:r>
                    </a:p>
                  </a:txBody>
                  <a:tcPr marL="54864" marR="54864" marT="27432" marB="27432">
                    <a:solidFill>
                      <a:srgbClr val="FFFFFF"/>
                    </a:solidFill>
                  </a:tcPr>
                </a:tc>
                <a:tc>
                  <a:txBody>
                    <a:bodyPr/>
                    <a:lstStyle/>
                    <a:p>
                      <a:r>
                        <a:rPr sz="850" b="0">
                          <a:solidFill>
                            <a:srgbClr val="4B4B4B"/>
                          </a:solidFill>
                          <a:latin typeface="Arial"/>
                        </a:rPr>
                        <a:t>Authorises the criterion; an authorised amendment ends the active row the day before it starts</a:t>
                      </a:r>
                    </a:p>
                  </a:txBody>
                  <a:tcPr marL="54864" marR="54864" marT="27432" marB="27432">
                    <a:solidFill>
                      <a:srgbClr val="FFFFFF"/>
                    </a:solidFill>
                  </a:tcPr>
                </a:tc>
                <a:tc>
                  <a:txBody>
                    <a:bodyPr/>
                    <a:lstStyle/>
                    <a:p>
                      <a:r>
                        <a:rPr sz="850" b="0">
                          <a:solidFill>
                            <a:srgbClr val="4B4B4B"/>
                          </a:solidFill>
                          <a:latin typeface="Arial"/>
                        </a:rPr>
                        <a:t>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Deactivate</a:t>
                      </a:r>
                    </a:p>
                  </a:txBody>
                  <a:tcPr marL="54864" marR="54864" marT="27432" marB="27432">
                    <a:solidFill>
                      <a:srgbClr val="E5F5FF"/>
                    </a:solidFill>
                  </a:tcPr>
                </a:tc>
                <a:tc>
                  <a:txBody>
                    <a:bodyPr/>
                    <a:lstStyle/>
                    <a:p>
                      <a:r>
                        <a:rPr sz="850" b="0">
                          <a:solidFill>
                            <a:srgbClr val="4B4B4B"/>
                          </a:solidFill>
                          <a:latin typeface="Arial"/>
                        </a:rPr>
                        <a:t>MBS (INCENTIVE_CRITERIA_MAINTAIN)</a:t>
                      </a:r>
                    </a:p>
                  </a:txBody>
                  <a:tcPr marL="54864" marR="54864" marT="27432" marB="27432">
                    <a:solidFill>
                      <a:srgbClr val="E5F5FF"/>
                    </a:solidFill>
                  </a:tcPr>
                </a:tc>
                <a:tc>
                  <a:txBody>
                    <a:bodyPr/>
                    <a:lstStyle/>
                    <a:p>
                      <a:r>
                        <a:rPr sz="850" b="0">
                          <a:solidFill>
                            <a:srgbClr val="4B4B4B"/>
                          </a:solidFill>
                          <a:latin typeface="Arial"/>
                        </a:rPr>
                        <a:t>Active row</a:t>
                      </a:r>
                    </a:p>
                  </a:txBody>
                  <a:tcPr marL="54864" marR="54864" marT="27432" marB="27432">
                    <a:solidFill>
                      <a:srgbClr val="E5F5FF"/>
                    </a:solidFill>
                  </a:tcPr>
                </a:tc>
                <a:tc>
                  <a:txBody>
                    <a:bodyPr/>
                    <a:lstStyle/>
                    <a:p>
                      <a:r>
                        <a:rPr sz="850" b="0">
                          <a:solidFill>
                            <a:srgbClr val="4B4B4B"/>
                          </a:solidFill>
                          <a:latin typeface="Arial"/>
                        </a:rPr>
                        <a:t>Ends the criterion; its history stays</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333</a:t>
            </a:r>
          </a:p>
        </p:txBody>
      </p:sp>
      <p:graphicFrame>
        <p:nvGraphicFramePr>
          <p:cNvPr id="9" name="Table 8"/>
          <p:cNvGraphicFramePr>
            <a:graphicFrameLocks noGrp="1"/>
          </p:cNvGraphicFramePr>
          <p:nvPr/>
        </p:nvGraphicFramePr>
        <p:xfrm>
          <a:off x="548640" y="1325880"/>
          <a:ext cx="11094415" cy="97536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A criterion names at least one active product of the matrix; a product that expires or is retired raises an alert to review or deactivate the criterion (FR-PM-080, FR-PM-081).</a:t>
                      </a:r>
                    </a:p>
                  </a:txBody>
                  <a:tcPr marL="54864" marR="54864" marT="27432" marB="27432">
                    <a:solidFill>
                      <a:srgbClr val="FFFFFF"/>
                    </a:solidFill>
                  </a:tcPr>
                </a:tc>
              </a:tr>
              <a:tr h="243840">
                <a:tc>
                  <a:txBody>
                    <a:bodyPr/>
                    <a:lstStyle/>
                    <a:p>
                      <a:r>
                        <a:rPr sz="1000" b="0">
                          <a:solidFill>
                            <a:srgbClr val="4B4B4B"/>
                          </a:solidFill>
                          <a:latin typeface="Arial"/>
                        </a:rPr>
                        <a:t>An active criterion is changed only by an amendment starting after it; the active row ends when the amendment is authorised, so there is never a gap or an overlap (FR-PM-080).</a:t>
                      </a:r>
                    </a:p>
                  </a:txBody>
                  <a:tcPr marL="54864" marR="54864" marT="27432" marB="27432">
                    <a:solidFill>
                      <a:srgbClr val="E5F5FF"/>
                    </a:solidFill>
                  </a:tcPr>
                </a:tc>
              </a:tr>
              <a:tr h="243840">
                <a:tc>
                  <a:txBody>
                    <a:bodyPr/>
                    <a:lstStyle/>
                    <a:p>
                      <a:r>
                        <a:rPr sz="1000" b="0">
                          <a:solidFill>
                            <a:srgbClr val="4B4B4B"/>
                          </a:solidFill>
                          <a:latin typeface="Arial"/>
                        </a:rPr>
                        <a:t>At booking, the invoice stores the codes of the criteria that match its product, cover type, segment, channel, lead insurer and booking date (FR-PM-081).</a:t>
                      </a:r>
                    </a:p>
                  </a:txBody>
                  <a:tcPr marL="54864" marR="54864" marT="27432" marB="27432">
                    <a:solidFill>
                      <a:srgbClr val="FFFFFF"/>
                    </a:solidFill>
                  </a:tcPr>
                </a:tc>
              </a:tr>
            </a:tbl>
          </a:graphicData>
        </a:graphic>
      </p:graphicFrame>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6-01-list.png"/>
          <p:cNvPicPr>
            <a:picLocks noChangeAspect="1"/>
          </p:cNvPicPr>
          <p:nvPr/>
        </p:nvPicPr>
        <p:blipFill>
          <a:blip r:embed="rId3"/>
          <a:stretch>
            <a:fillRect/>
          </a:stretch>
        </p:blipFill>
        <p:spPr>
          <a:xfrm>
            <a:off x="548640" y="1261872"/>
            <a:ext cx="11094415" cy="398825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Incentive Criteria, Current tab</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335</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01.png"/>
          <p:cNvPicPr>
            <a:picLocks noChangeAspect="1"/>
          </p:cNvPicPr>
          <p:nvPr/>
        </p:nvPicPr>
        <p:blipFill>
          <a:blip r:embed="rId3"/>
          <a:stretch>
            <a:fillRect/>
          </a:stretch>
        </p:blipFill>
        <p:spPr>
          <a:xfrm>
            <a:off x="548640" y="1261872"/>
            <a:ext cx="11094415" cy="3916363"/>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1 of 3)</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336</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02.png"/>
          <p:cNvPicPr>
            <a:picLocks noChangeAspect="1"/>
          </p:cNvPicPr>
          <p:nvPr/>
        </p:nvPicPr>
        <p:blipFill>
          <a:blip r:embed="rId3"/>
          <a:stretch>
            <a:fillRect/>
          </a:stretch>
        </p:blipFill>
        <p:spPr>
          <a:xfrm>
            <a:off x="548640" y="1261872"/>
            <a:ext cx="11094415" cy="473470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2 of 3)</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SCR-PM-16 Incentive Criteria: Filled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CHG-PM-2.0-03</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1" name="Picture 10" descr="slice-00203.png"/>
          <p:cNvPicPr>
            <a:picLocks noChangeAspect="1"/>
          </p:cNvPicPr>
          <p:nvPr/>
        </p:nvPicPr>
        <p:blipFill>
          <a:blip r:embed="rId3"/>
          <a:stretch>
            <a:fillRect/>
          </a:stretch>
        </p:blipFill>
        <p:spPr>
          <a:xfrm>
            <a:off x="548640" y="1261872"/>
            <a:ext cx="11094415" cy="116906"/>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Incentive Criterion dialog with its rule parameters (part 3 of 3)</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338</a:t>
            </a:r>
          </a:p>
        </p:txBody>
      </p:sp>
      <p:graphicFrame>
        <p:nvGraphicFramePr>
          <p:cNvPr id="9" name="Table 8"/>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insurer panel of the company: each accredited insurer with its accreditation date, placement channel and placement e-mails, and its credit days. Package versions, quotation slips and placement use this panel. A new insurer also creates its business partner for the ledger; both are authorised together.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a:t>
                      </a:r>
                    </a:p>
                    <a:p>
                      <a:r>
                        <a:rPr sz="950" b="0">
                          <a:solidFill>
                            <a:srgbClr val="4B4B4B"/>
                          </a:solidFill>
                          <a:latin typeface="Arial"/>
                        </a:rPr>
                        <a:t>Sidebar entry Insurers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13.3.1</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insurer panel used by every package is maintained once, with the e-mail addresses the slips are sent to.</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339</a:t>
            </a:r>
          </a:p>
        </p:txBody>
      </p:sp>
      <p:graphicFrame>
        <p:nvGraphicFramePr>
          <p:cNvPr id="9" name="Table 8"/>
          <p:cNvGraphicFramePr>
            <a:graphicFrameLocks noGrp="1"/>
          </p:cNvGraphicFramePr>
          <p:nvPr/>
        </p:nvGraphicFramePr>
        <p:xfrm>
          <a:off x="548640" y="1325880"/>
          <a:ext cx="11094411" cy="464817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Code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Partner code INS-...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insurer on the panel yet.</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Name</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Registered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Accredited Until</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(expired) in red once past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Placement / Placement e-mails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E-mail; addresses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List</a:t>
                      </a:r>
                    </a:p>
                  </a:txBody>
                  <a:tcPr marL="54864" marR="54864" marT="27432" marB="27432">
                    <a:solidFill>
                      <a:srgbClr val="FFFFFF"/>
                    </a:solidFill>
                  </a:tcPr>
                </a:tc>
                <a:tc>
                  <a:txBody>
                    <a:bodyPr/>
                    <a:lstStyle/>
                    <a:p>
                      <a:r>
                        <a:rPr sz="850" b="0">
                          <a:solidFill>
                            <a:srgbClr val="4B4B4B"/>
                          </a:solidFill>
                          <a:latin typeface="Arial"/>
                        </a:rPr>
                        <a:t>Credit Days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Days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List</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Pending Authorization, Active,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Partner code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INS- followed by capitals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 an existing party must be an insurer</a:t>
                      </a:r>
                    </a:p>
                  </a:txBody>
                  <a:tcPr marL="54864" marR="54864" marT="27432" marB="27432">
                    <a:solidFill>
                      <a:srgbClr val="FFFFFF"/>
                    </a:solidFill>
                  </a:tcPr>
                </a:tc>
                <a:tc>
                  <a:txBody>
                    <a:bodyPr/>
                    <a:lstStyle/>
                    <a:p>
                      <a:r>
                        <a:rPr sz="850" b="0">
                          <a:solidFill>
                            <a:srgbClr val="4B4B4B"/>
                          </a:solidFill>
                          <a:latin typeface="Arial"/>
                        </a:rPr>
                        <a:t>Party &lt;party code&gt; exists and is not an insurer</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Name / Short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Registered and short name</a:t>
                      </a:r>
                    </a:p>
                  </a:txBody>
                  <a:tcPr marL="54864" marR="54864" marT="27432" marB="27432">
                    <a:solidFill>
                      <a:srgbClr val="E5F5FF"/>
                    </a:solidFill>
                  </a:tcPr>
                </a:tc>
                <a:tc>
                  <a:txBody>
                    <a:bodyPr/>
                    <a:lstStyle/>
                    <a:p>
                      <a:r>
                        <a:rPr sz="850" b="0">
                          <a:solidFill>
                            <a:srgbClr val="4B4B4B"/>
                          </a:solidFill>
                          <a:latin typeface="Arial"/>
                        </a:rPr>
                        <a:t>Y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IC accreditation no. / Accredited until</a:t>
                      </a:r>
                    </a:p>
                  </a:txBody>
                  <a:tcPr marL="54864" marR="54864" marT="27432" marB="27432">
                    <a:solidFill>
                      <a:srgbClr val="FFFFFF"/>
                    </a:solidFill>
                  </a:tcPr>
                </a:tc>
                <a:tc>
                  <a:txBody>
                    <a:bodyPr/>
                    <a:lstStyle/>
                    <a:p>
                      <a:r>
                        <a:rPr sz="850" b="0">
                          <a:solidFill>
                            <a:srgbClr val="4B4B4B"/>
                          </a:solidFill>
                          <a:latin typeface="Arial"/>
                        </a:rPr>
                        <a:t>Text / Date</a:t>
                      </a:r>
                    </a:p>
                  </a:txBody>
                  <a:tcPr marL="54864" marR="54864" marT="27432" marB="27432">
                    <a:solidFill>
                      <a:srgbClr val="FFFFFF"/>
                    </a:solidFill>
                  </a:tcPr>
                </a:tc>
                <a:tc>
                  <a:txBody>
                    <a:bodyPr/>
                    <a:lstStyle/>
                    <a:p>
                      <a:r>
                        <a:rPr sz="850" b="0">
                          <a:solidFill>
                            <a:srgbClr val="4B4B4B"/>
                          </a:solidFill>
                          <a:latin typeface="Arial"/>
                        </a:rPr>
                        <a:t>Insurance Commission accreditation; dd-MMM-yyyy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Placement channel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Only e-mail placement is available</a:t>
                      </a:r>
                    </a:p>
                  </a:txBody>
                  <a:tcPr marL="54864" marR="54864" marT="27432" marB="27432">
                    <a:solidFill>
                      <a:srgbClr val="E5F5FF"/>
                    </a:solidFill>
                  </a:tcPr>
                </a:tc>
                <a:tc>
                  <a:txBody>
                    <a:bodyPr/>
                    <a:lstStyle/>
                    <a:p>
                      <a:r>
                        <a:rPr sz="850" b="0">
                          <a:solidFill>
                            <a:srgbClr val="4B4B4B"/>
                          </a:solidFill>
                          <a:latin typeface="Arial"/>
                        </a:rPr>
                        <a:t>Only e-mail placement is available; choose the e-mail placement channel</a:t>
                      </a:r>
                    </a:p>
                  </a:txBody>
                  <a:tcPr marL="54864" marR="54864" marT="27432" marB="27432">
                    <a:solidFill>
                      <a:srgbClr val="E5F5FF"/>
                    </a:solidFill>
                  </a:tcPr>
                </a:tc>
              </a:tr>
              <a:tr h="998213">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Placement e-mails</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Addresses separated by commas</a:t>
                      </a:r>
                    </a:p>
                  </a:txBody>
                  <a:tcPr marL="54864" marR="54864" marT="27432" marB="27432">
                    <a:solidFill>
                      <a:srgbClr val="FFFFFF"/>
                    </a:solidFill>
                  </a:tcPr>
                </a:tc>
                <a:tc>
                  <a:txBody>
                    <a:bodyPr/>
                    <a:lstStyle/>
                    <a:p>
                      <a:r>
                        <a:rPr sz="850" b="0">
                          <a:solidFill>
                            <a:srgbClr val="4B4B4B"/>
                          </a:solidFill>
                          <a:latin typeface="Arial"/>
                        </a:rPr>
                        <a:t>N (needed to send quotation slips and placement slips)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&lt;name&gt; has no placement e-mail address</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insurer</a:t>
                      </a:r>
                    </a:p>
                  </a:txBody>
                  <a:tcPr marL="54864" marR="54864" marT="27432" marB="27432">
                    <a:solidFill>
                      <a:srgbClr val="E5F5FF"/>
                    </a:solidFill>
                  </a:tcPr>
                </a:tc>
                <a:tc>
                  <a:txBody>
                    <a:bodyPr/>
                    <a:lstStyle/>
                    <a:p>
                      <a:r>
                        <a:rPr sz="850" b="0">
                          <a:solidFill>
                            <a:srgbClr val="4B4B4B"/>
                          </a:solidFill>
                          <a:latin typeface="Arial"/>
                        </a:rPr>
                        <a:t>Credit days</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0 to 365</a:t>
                      </a:r>
                    </a:p>
                  </a:txBody>
                  <a:tcPr marL="54864" marR="54864" marT="27432" marB="27432">
                    <a:solidFill>
                      <a:srgbClr val="E5F5FF"/>
                    </a:solidFill>
                  </a:tcPr>
                </a:tc>
                <a:tc>
                  <a:txBody>
                    <a:bodyPr/>
                    <a:lstStyle/>
                    <a:p>
                      <a:r>
                        <a:rPr sz="850" b="0">
                          <a:solidFill>
                            <a:srgbClr val="4B4B4B"/>
                          </a:solidFill>
                          <a:latin typeface="Arial"/>
                        </a:rPr>
                        <a:t>Default credit days must be between 0 and 365</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TIN / Address / E-mail / Phone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Business partner details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340</a:t>
            </a:r>
          </a:p>
        </p:txBody>
      </p:sp>
      <p:graphicFrame>
        <p:nvGraphicFramePr>
          <p:cNvPr id="9" name="Table 8"/>
          <p:cNvGraphicFramePr>
            <a:graphicFrameLocks noGrp="1"/>
          </p:cNvGraphicFramePr>
          <p:nvPr/>
        </p:nvGraphicFramePr>
        <p:xfrm>
          <a:off x="548640" y="1325880"/>
          <a:ext cx="11094412" cy="1363973"/>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Insurer</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insurer;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row</a:t>
                      </a:r>
                    </a:p>
                  </a:txBody>
                  <a:tcPr marL="54864" marR="54864" marT="27432" marB="27432">
                    <a:solidFill>
                      <a:srgbClr val="E5F5FF"/>
                    </a:solidFill>
                  </a:tcPr>
                </a:tc>
                <a:tc>
                  <a:txBody>
                    <a:bodyPr/>
                    <a:lstStyle/>
                    <a:p>
                      <a:r>
                        <a:rPr sz="850" b="0">
                          <a:solidFill>
                            <a:srgbClr val="4B4B4B"/>
                          </a:solidFill>
                          <a:latin typeface="Arial"/>
                        </a:rPr>
                        <a:t>Authorises the insurer and its business partner</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row</a:t>
                      </a:r>
                    </a:p>
                  </a:txBody>
                  <a:tcPr marL="54864" marR="54864" marT="27432" marB="27432">
                    <a:solidFill>
                      <a:srgbClr val="FFFFFF"/>
                    </a:solidFill>
                  </a:tcPr>
                </a:tc>
                <a:tc>
                  <a:txBody>
                    <a:bodyPr/>
                    <a:lstStyle/>
                    <a:p>
                      <a:r>
                        <a:rPr sz="850" b="0">
                          <a:solidFill>
                            <a:srgbClr val="4B4B4B"/>
                          </a:solidFill>
                          <a:latin typeface="Arial"/>
                        </a:rPr>
                        <a:t>The insurer is no longer offered</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Open a row</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the insurer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341</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authorised, active insurers are offered in package requests, package versions and quotation slips (FR-PM-014, FR-PM-030).</a:t>
                      </a:r>
                    </a:p>
                  </a:txBody>
                  <a:tcPr marL="54864" marR="54864" marT="27432" marB="27432">
                    <a:solidFill>
                      <a:srgbClr val="FFFFFF"/>
                    </a:solidFill>
                  </a:tcPr>
                </a:tc>
              </a:tr>
              <a:tr h="243840">
                <a:tc>
                  <a:txBody>
                    <a:bodyPr/>
                    <a:lstStyle/>
                    <a:p>
                      <a:r>
                        <a:rPr sz="1000" b="0">
                          <a:solidFill>
                            <a:srgbClr val="4B4B4B"/>
                          </a:solidFill>
                          <a:latin typeface="Arial"/>
                        </a:rPr>
                        <a:t>The insurer master is maintained under New Business rules (BRD-1, insurer panel); Product Maintenance uses it for the package panels (FR-PM-014).</a:t>
                      </a:r>
                    </a:p>
                  </a:txBody>
                  <a:tcPr marL="54864" marR="54864" marT="27432" marB="27432">
                    <a:solidFill>
                      <a:srgbClr val="E5F5FF"/>
                    </a:solidFill>
                  </a:tcPr>
                </a:tc>
              </a:tr>
            </a:tbl>
          </a:graphicData>
        </a:graphic>
      </p:graphicFrame>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4.png"/>
          <p:cNvPicPr>
            <a:picLocks noChangeAspect="1"/>
          </p:cNvPicPr>
          <p:nvPr/>
        </p:nvPicPr>
        <p:blipFill>
          <a:blip r:embed="rId3"/>
          <a:stretch>
            <a:fillRect/>
          </a:stretch>
        </p:blipFill>
        <p:spPr>
          <a:xfrm>
            <a:off x="548640" y="1261872"/>
            <a:ext cx="11094415" cy="45286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list (part 1 of 2)</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5.png"/>
          <p:cNvPicPr>
            <a:picLocks noChangeAspect="1"/>
          </p:cNvPicPr>
          <p:nvPr/>
        </p:nvPicPr>
        <p:blipFill>
          <a:blip r:embed="rId3"/>
          <a:stretch>
            <a:fillRect/>
          </a:stretch>
        </p:blipFill>
        <p:spPr>
          <a:xfrm>
            <a:off x="548640" y="1261872"/>
            <a:ext cx="11094415" cy="22619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list (part 2 of 2)</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7-02-new.png"/>
          <p:cNvPicPr>
            <a:picLocks noChangeAspect="1"/>
          </p:cNvPicPr>
          <p:nvPr/>
        </p:nvPicPr>
        <p:blipFill>
          <a:blip r:embed="rId3"/>
          <a:stretch>
            <a:fillRect/>
          </a:stretch>
        </p:blipFill>
        <p:spPr>
          <a:xfrm>
            <a:off x="1887022" y="1261872"/>
            <a:ext cx="8417651"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insurer dialog</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Read-only or locked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345</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06.png"/>
          <p:cNvPicPr>
            <a:picLocks noChangeAspect="1"/>
          </p:cNvPicPr>
          <p:nvPr/>
        </p:nvPicPr>
        <p:blipFill>
          <a:blip r:embed="rId3"/>
          <a:stretch>
            <a:fillRect/>
          </a:stretch>
        </p:blipFill>
        <p:spPr>
          <a:xfrm>
            <a:off x="548640" y="1261872"/>
            <a:ext cx="11094415" cy="4528625"/>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as the Auditor sees them, without the maintenance actions (part 1 of 2)</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SCR-PM-17 Insurers: Read-only or locked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346</a:t>
            </a:r>
          </a:p>
        </p:txBody>
      </p:sp>
      <p:sp>
        <p:nvSpPr>
          <p:cNvPr id="9" name="Rounded Rectangle 8"/>
          <p:cNvSpPr/>
          <p:nvPr/>
        </p:nvSpPr>
        <p:spPr>
          <a:xfrm>
            <a:off x="9626803" y="896112"/>
            <a:ext cx="2016252" cy="274320"/>
          </a:xfrm>
          <a:prstGeom prst="roundRect">
            <a:avLst/>
          </a:prstGeom>
          <a:solidFill>
            <a:srgbClr val="F6F6F6"/>
          </a:solidFill>
          <a:ln w="12700">
            <a:solidFill>
              <a:srgbClr val="656565"/>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656565"/>
                </a:solidFill>
                <a:latin typeface="Arial"/>
              </a:rPr>
              <a:t>Read-only or locked</a:t>
            </a:r>
          </a:p>
        </p:txBody>
      </p:sp>
      <p:pic>
        <p:nvPicPr>
          <p:cNvPr id="10" name="Picture 9" descr="slice-00207.png"/>
          <p:cNvPicPr>
            <a:picLocks noChangeAspect="1"/>
          </p:cNvPicPr>
          <p:nvPr/>
        </p:nvPicPr>
        <p:blipFill>
          <a:blip r:embed="rId3"/>
          <a:stretch>
            <a:fillRect/>
          </a:stretch>
        </p:blipFill>
        <p:spPr>
          <a:xfrm>
            <a:off x="548640" y="1261872"/>
            <a:ext cx="11094415" cy="226192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Insurers as the Auditor sees them, without the maintenance actions (part 2 of 2)</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347</a:t>
            </a:r>
          </a:p>
        </p:txBody>
      </p:sp>
      <p:graphicFrame>
        <p:nvGraphicFramePr>
          <p:cNvPr id="9" name="Table 8"/>
          <p:cNvGraphicFramePr>
            <a:graphicFrameLocks noGrp="1"/>
          </p:cNvGraphicFramePr>
          <p:nvPr/>
        </p:nvGraphicFramePr>
        <p:xfrm>
          <a:off x="548640" y="1307592"/>
          <a:ext cx="6434760" cy="223266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5257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One insurer: its profile (partner code, accreditation, placement channel and e-mails, credit days, maker and authoriser), its branches with the local government tax rate, and its commission rates by product.</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Insurers › Insurer</a:t>
                      </a:r>
                    </a:p>
                    <a:p>
                      <a:r>
                        <a:rPr sz="950" b="0">
                          <a:solidFill>
                            <a:srgbClr val="4B4B4B"/>
                          </a:solidFill>
                          <a:latin typeface="Arial"/>
                        </a:rPr>
                        <a:t>Insurers › a row</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13.3.2</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FR-PM-014</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The business sees and maintains everything that is specific to one insurer.</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348</a:t>
            </a:r>
          </a:p>
        </p:txBody>
      </p:sp>
      <p:graphicFrame>
        <p:nvGraphicFramePr>
          <p:cNvPr id="9" name="Table 8"/>
          <p:cNvGraphicFramePr>
            <a:graphicFrameLocks noGrp="1"/>
          </p:cNvGraphicFramePr>
          <p:nvPr/>
        </p:nvGraphicFramePr>
        <p:xfrm>
          <a:off x="548640" y="1325880"/>
          <a:ext cx="11094411" cy="3985237"/>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739135">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Profile</a:t>
                      </a:r>
                    </a:p>
                  </a:txBody>
                  <a:tcPr marL="54864" marR="54864" marT="27432" marB="27432">
                    <a:solidFill>
                      <a:srgbClr val="FFFFFF"/>
                    </a:solidFill>
                  </a:tcPr>
                </a:tc>
                <a:tc>
                  <a:txBody>
                    <a:bodyPr/>
                    <a:lstStyle/>
                    <a:p>
                      <a:r>
                        <a:rPr sz="850" b="0">
                          <a:solidFill>
                            <a:srgbClr val="4B4B4B"/>
                          </a:solidFill>
                          <a:latin typeface="Arial"/>
                        </a:rPr>
                        <a:t>Partner code / Short name / IC accreditation / Accredited until / Placement channel / Placement e-mails / Credit days / Maker / Authorized by</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As entered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Branches</a:t>
                      </a:r>
                    </a:p>
                  </a:txBody>
                  <a:tcPr marL="54864" marR="54864" marT="27432" marB="27432">
                    <a:solidFill>
                      <a:srgbClr val="E5F5FF"/>
                    </a:solidFill>
                  </a:tcPr>
                </a:tc>
                <a:tc>
                  <a:txBody>
                    <a:bodyPr/>
                    <a:lstStyle/>
                    <a:p>
                      <a:r>
                        <a:rPr sz="850" b="0">
                          <a:solidFill>
                            <a:srgbClr val="4B4B4B"/>
                          </a:solidFill>
                          <a:latin typeface="Arial"/>
                        </a:rPr>
                        <a:t>Code / Name / City / LGT % / Placement e-mail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Branch of the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No branch recorded.</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Commission rates</a:t>
                      </a:r>
                    </a:p>
                  </a:txBody>
                  <a:tcPr marL="54864" marR="54864" marT="27432" marB="27432">
                    <a:solidFill>
                      <a:srgbClr val="FFFFFF"/>
                    </a:solidFill>
                  </a:tcPr>
                </a:tc>
                <a:tc>
                  <a:txBody>
                    <a:bodyPr/>
                    <a:lstStyle/>
                    <a:p>
                      <a:r>
                        <a:rPr sz="850" b="0">
                          <a:solidFill>
                            <a:srgbClr val="4B4B4B"/>
                          </a:solidFill>
                          <a:latin typeface="Arial"/>
                        </a:rPr>
                        <a:t>Product / Commission %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All products or one product; To shows Open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commission rate: the product default applies.</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Code / Name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Branch code and name</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Unique per insurer</a:t>
                      </a:r>
                    </a:p>
                  </a:txBody>
                  <a:tcPr marL="54864" marR="54864" marT="27432" marB="27432">
                    <a:solidFill>
                      <a:srgbClr val="E5F5FF"/>
                    </a:solidFill>
                  </a:tcPr>
                </a:tc>
                <a:tc>
                  <a:txBody>
                    <a:bodyPr/>
                    <a:lstStyle/>
                    <a:p>
                      <a:r>
                        <a:rPr sz="850" b="0">
                          <a:solidFill>
                            <a:srgbClr val="4B4B4B"/>
                          </a:solidFill>
                          <a:latin typeface="Arial"/>
                        </a:rPr>
                        <a:t>Insurer branch already exists: &lt;key&gt;</a:t>
                      </a:r>
                    </a:p>
                  </a:txBody>
                  <a:tcPr marL="54864" marR="54864" marT="27432" marB="27432">
                    <a:solidFill>
                      <a:srgbClr val="E5F5FF"/>
                    </a:solidFill>
                  </a:tcPr>
                </a:tc>
              </a:tr>
              <a:tr h="220979">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City</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Branch</a:t>
                      </a:r>
                    </a:p>
                  </a:txBody>
                  <a:tcPr marL="54864" marR="54864" marT="27432" marB="27432">
                    <a:solidFill>
                      <a:srgbClr val="E5F5FF"/>
                    </a:solidFill>
                  </a:tcPr>
                </a:tc>
                <a:tc>
                  <a:txBody>
                    <a:bodyPr/>
                    <a:lstStyle/>
                    <a:p>
                      <a:r>
                        <a:rPr sz="850" b="0">
                          <a:solidFill>
                            <a:srgbClr val="4B4B4B"/>
                          </a:solidFill>
                          <a:latin typeface="Arial"/>
                        </a:rPr>
                        <a:t>LGT %</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Local government tax on premium, up to four decimals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0 to 100</a:t>
                      </a:r>
                    </a:p>
                  </a:txBody>
                  <a:tcPr marL="54864" marR="54864" marT="27432" marB="27432">
                    <a:solidFill>
                      <a:srgbClr val="E5F5FF"/>
                    </a:solidFill>
                  </a:tcPr>
                </a:tc>
                <a:tc>
                  <a:txBody>
                    <a:bodyPr/>
                    <a:lstStyle/>
                    <a:p>
                      <a:r>
                        <a:rPr sz="850" b="0">
                          <a:solidFill>
                            <a:srgbClr val="4B4B4B"/>
                          </a:solidFill>
                          <a:latin typeface="Arial"/>
                        </a:rPr>
                        <a:t>The LGT rate must be between 0 and 100 %</a:t>
                      </a:r>
                    </a:p>
                  </a:txBody>
                  <a:tcPr marL="54864" marR="54864" marT="27432" marB="27432">
                    <a:solidFill>
                      <a:srgbClr val="E5F5FF"/>
                    </a:solidFill>
                  </a:tcPr>
                </a:tc>
              </a:tr>
              <a:tr h="220979">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Branch</a:t>
                      </a:r>
                    </a:p>
                  </a:txBody>
                  <a:tcPr marL="54864" marR="54864" marT="27432" marB="27432">
                    <a:solidFill>
                      <a:srgbClr val="FFFFFF"/>
                    </a:solidFill>
                  </a:tcPr>
                </a:tc>
                <a:tc>
                  <a:txBody>
                    <a:bodyPr/>
                    <a:lstStyle/>
                    <a:p>
                      <a:r>
                        <a:rPr sz="850" b="0">
                          <a:solidFill>
                            <a:srgbClr val="4B4B4B"/>
                          </a:solidFill>
                          <a:latin typeface="Arial"/>
                        </a:rPr>
                        <a:t>Placement e-mail</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Address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Product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All products of the insurer or one active product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Commission Rate</a:t>
                      </a:r>
                    </a:p>
                  </a:txBody>
                  <a:tcPr marL="54864" marR="54864" marT="27432" marB="27432">
                    <a:solidFill>
                      <a:srgbClr val="FFFFFF"/>
                    </a:solidFill>
                  </a:tcPr>
                </a:tc>
                <a:tc>
                  <a:txBody>
                    <a:bodyPr/>
                    <a:lstStyle/>
                    <a:p>
                      <a:r>
                        <a:rPr sz="850" b="0">
                          <a:solidFill>
                            <a:srgbClr val="4B4B4B"/>
                          </a:solidFill>
                          <a:latin typeface="Arial"/>
                        </a:rPr>
                        <a:t>Commission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commission rate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Commission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349</a:t>
            </a:r>
          </a:p>
        </p:txBody>
      </p:sp>
      <p:graphicFrame>
        <p:nvGraphicFramePr>
          <p:cNvPr id="9" name="Table 8"/>
          <p:cNvGraphicFramePr>
            <a:graphicFrameLocks noGrp="1"/>
          </p:cNvGraphicFramePr>
          <p:nvPr/>
        </p:nvGraphicFramePr>
        <p:xfrm>
          <a:off x="548640" y="1325880"/>
          <a:ext cx="11094412" cy="1234434"/>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Edit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insurer dialog (partner code fixed);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branch</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New Branch;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Add rate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Commission Rate;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350</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commission rate in force on the account's period start applies; without an insurer rate, the product default applies (FR-PM-014).</a:t>
                      </a:r>
                    </a:p>
                  </a:txBody>
                  <a:tcPr marL="54864" marR="54864" marT="27432" marB="27432">
                    <a:solidFill>
                      <a:srgbClr val="FFFFFF"/>
                    </a:solidFill>
                  </a:tcPr>
                </a:tc>
              </a:tr>
              <a:tr h="243840">
                <a:tc>
                  <a:txBody>
                    <a:bodyPr/>
                    <a:lstStyle/>
                    <a:p>
                      <a:r>
                        <a:rPr sz="1000" b="0">
                          <a:solidFill>
                            <a:srgbClr val="4B4B4B"/>
                          </a:solidFill>
                          <a:latin typeface="Arial"/>
                        </a:rPr>
                        <a:t>A package version's own insurer rate and minimum premium win over the insurer's general terms for that package (FR-PM-014).</a:t>
                      </a:r>
                    </a:p>
                  </a:txBody>
                  <a:tcPr marL="54864" marR="54864" marT="27432" marB="27432">
                    <a:solidFill>
                      <a:srgbClr val="E5F5FF"/>
                    </a:solidFill>
                  </a:tcPr>
                </a:tc>
              </a:tr>
            </a:tbl>
          </a:graphicData>
        </a:graphic>
      </p:graphicFrame>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351</a:t>
            </a:r>
          </a:p>
        </p:txBody>
      </p:sp>
      <p:graphicFrame>
        <p:nvGraphicFramePr>
          <p:cNvPr id="9" name="Table 8"/>
          <p:cNvGraphicFramePr>
            <a:graphicFrameLocks noGrp="1"/>
          </p:cNvGraphicFramePr>
          <p:nvPr/>
        </p:nvGraphicFramePr>
        <p:xfrm>
          <a:off x="548640" y="1325880"/>
          <a:ext cx="11094413" cy="8229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228600">
                <a:tc>
                  <a:txBody>
                    <a:bodyPr/>
                    <a:lstStyle/>
                    <a:p>
                      <a:r>
                        <a:rPr sz="900" b="0">
                          <a:solidFill>
                            <a:srgbClr val="4B4B4B"/>
                          </a:solidFill>
                          <a:latin typeface="Arial"/>
                        </a:rPr>
                        <a:t>Default</a:t>
                      </a:r>
                    </a:p>
                  </a:txBody>
                  <a:tcPr marL="54864" marR="54864" marT="27432" marB="27432">
                    <a:solidFill>
                      <a:srgbClr val="FFFFFF"/>
                    </a:solidFill>
                  </a:tcPr>
                </a:tc>
                <a:tc>
                  <a:txBody>
                    <a:bodyPr/>
                    <a:lstStyle/>
                    <a:p>
                      <a:r>
                        <a:rPr sz="900" b="0">
                          <a:solidFill>
                            <a:srgbClr val="4B4B4B"/>
                          </a:solidFill>
                          <a:latin typeface="Arial"/>
                        </a:rPr>
                        <a:t>WT-A step 19</a:t>
                      </a:r>
                    </a:p>
                  </a:txBody>
                  <a:tcPr marL="54864" marR="54864" marT="27432" marB="27432">
                    <a:solidFill>
                      <a:srgbClr val="FFFFFF"/>
                    </a:solidFill>
                  </a:tcPr>
                </a:tc>
                <a:tc>
                  <a:txBody>
                    <a:bodyPr/>
                    <a:lstStyle/>
                    <a:p>
                      <a:r>
                        <a:rPr sz="900" b="0">
                          <a:solidFill>
                            <a:srgbClr val="4B4B4B"/>
                          </a:solidFill>
                          <a:latin typeface="Arial"/>
                        </a:rPr>
                        <a:t>Opens the insurer and clicks Authorize on the new commission rate</a:t>
                      </a:r>
                    </a:p>
                  </a:txBody>
                  <a:tcPr marL="54864" marR="54864" marT="27432" marB="27432">
                    <a:solidFill>
                      <a:srgbClr val="FFFFFF"/>
                    </a:solidFill>
                  </a:tcPr>
                </a:tc>
                <a:tc>
                  <a:txBody>
                    <a:bodyPr/>
                    <a:lstStyle/>
                    <a:p>
                      <a:r>
                        <a:rPr sz="900" b="0">
                          <a:solidFill>
                            <a:srgbClr val="4B4B4B"/>
                          </a:solidFill>
                          <a:latin typeface="Arial"/>
                        </a:rPr>
                        <a:t>SCR-PM-18_wt-a-step-19.png</a:t>
                      </a:r>
                    </a:p>
                  </a:txBody>
                  <a:tcPr marL="54864" marR="54864" marT="27432" marB="27432">
                    <a:solidFill>
                      <a:srgbClr val="FFFFFF"/>
                    </a:solidFill>
                  </a:tcPr>
                </a:tc>
              </a:tr>
              <a:tr h="36576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18</a:t>
                      </a:r>
                    </a:p>
                  </a:txBody>
                  <a:tcPr marL="54864" marR="54864" marT="27432" marB="27432">
                    <a:solidFill>
                      <a:srgbClr val="E5F5FF"/>
                    </a:solidFill>
                  </a:tcPr>
                </a:tc>
                <a:tc>
                  <a:txBody>
                    <a:bodyPr/>
                    <a:lstStyle/>
                    <a:p>
                      <a:r>
                        <a:rPr sz="900" b="0">
                          <a:solidFill>
                            <a:srgbClr val="4B4B4B"/>
                          </a:solidFill>
                          <a:latin typeface="Arial"/>
                        </a:rPr>
                        <a:t>Opens Insurers › Mabuhay General Insurance Corp., clicks Add rate, chooses MTR30, 15% from today and clicks Save for Authorization</a:t>
                      </a:r>
                    </a:p>
                  </a:txBody>
                  <a:tcPr marL="54864" marR="54864" marT="27432" marB="27432">
                    <a:solidFill>
                      <a:srgbClr val="E5F5FF"/>
                    </a:solidFill>
                  </a:tcPr>
                </a:tc>
                <a:tc>
                  <a:txBody>
                    <a:bodyPr/>
                    <a:lstStyle/>
                    <a:p>
                      <a:r>
                        <a:rPr sz="900" b="0">
                          <a:solidFill>
                            <a:srgbClr val="4B4B4B"/>
                          </a:solidFill>
                          <a:latin typeface="Arial"/>
                        </a:rPr>
                        <a:t>SCR-PM-18_wt-a-step-18.png</a:t>
                      </a:r>
                    </a:p>
                  </a:txBody>
                  <a:tcPr marL="54864" marR="54864" marT="27432" marB="27432">
                    <a:solidFill>
                      <a:srgbClr val="E5F5FF"/>
                    </a:solidFill>
                  </a:tcPr>
                </a:tc>
              </a:tr>
            </a:tbl>
          </a:graphicData>
        </a:graphic>
      </p:graphicFrame>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352</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8.png"/>
          <p:cNvPicPr>
            <a:picLocks noChangeAspect="1"/>
          </p:cNvPicPr>
          <p:nvPr/>
        </p:nvPicPr>
        <p:blipFill>
          <a:blip r:embed="rId3"/>
          <a:stretch>
            <a:fillRect/>
          </a:stretch>
        </p:blipFill>
        <p:spPr>
          <a:xfrm>
            <a:off x="548640" y="1261872"/>
            <a:ext cx="11094415" cy="4466458"/>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1 of 3)</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353</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09.png"/>
          <p:cNvPicPr>
            <a:picLocks noChangeAspect="1"/>
          </p:cNvPicPr>
          <p:nvPr/>
        </p:nvPicPr>
        <p:blipFill>
          <a:blip r:embed="rId3"/>
          <a:stretch>
            <a:fillRect/>
          </a:stretch>
        </p:blipFill>
        <p:spPr>
          <a:xfrm>
            <a:off x="548640" y="1261872"/>
            <a:ext cx="11094415" cy="463861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2 of 3)</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SCR-PM-18 Insurer record: Default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354</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0.png"/>
          <p:cNvPicPr>
            <a:picLocks noChangeAspect="1"/>
          </p:cNvPicPr>
          <p:nvPr/>
        </p:nvPicPr>
        <p:blipFill>
          <a:blip r:embed="rId3"/>
          <a:stretch>
            <a:fillRect/>
          </a:stretch>
        </p:blipFill>
        <p:spPr>
          <a:xfrm>
            <a:off x="548640" y="1261872"/>
            <a:ext cx="11094415" cy="1386801"/>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Insurer record with branches and commission rates (part 3 of 3)</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355</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statutory charges and rating tables applied by the premium calculation: documentary stamp tax, premium tax, VAT, fire service tax and the motor own-damage factors; the short-period table; and the bodily injury and property damage limit premiums. Every row is effective-dated and maker-checker.</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Rates &amp; Taxes</a:t>
                      </a:r>
                    </a:p>
                    <a:p>
                      <a:r>
                        <a:rPr sz="950" b="0">
                          <a:solidFill>
                            <a:srgbClr val="4B4B4B"/>
                          </a:solidFill>
                          <a:latin typeface="Arial"/>
                        </a:rPr>
                        <a:t>Sidebar entry Rates &amp; Taxes</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13.3.3</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charge applied to a premium comes from one authorised, effective-dated table.</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fields and columns (No. = callout on the first image)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356</a:t>
            </a:r>
          </a:p>
        </p:txBody>
      </p:sp>
      <p:graphicFrame>
        <p:nvGraphicFramePr>
          <p:cNvPr id="9" name="Table 8"/>
          <p:cNvGraphicFramePr>
            <a:graphicFrameLocks noGrp="1"/>
          </p:cNvGraphicFramePr>
          <p:nvPr/>
        </p:nvGraphicFramePr>
        <p:xfrm>
          <a:off x="548640" y="1325880"/>
          <a:ext cx="11094411" cy="4114776"/>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Tabs</a:t>
                      </a:r>
                    </a:p>
                  </a:txBody>
                  <a:tcPr marL="54864" marR="54864" marT="27432" marB="27432">
                    <a:solidFill>
                      <a:srgbClr val="FFFFFF"/>
                    </a:solidFill>
                  </a:tcPr>
                </a:tc>
                <a:tc>
                  <a:txBody>
                    <a:bodyPr/>
                    <a:lstStyle/>
                    <a:p>
                      <a:r>
                        <a:rPr sz="850" b="0">
                          <a:solidFill>
                            <a:srgbClr val="4B4B4B"/>
                          </a:solidFill>
                          <a:latin typeface="Arial"/>
                        </a:rPr>
                        <a:t>Taxes &amp; factors / Short-period table / BI / PD limits</a:t>
                      </a:r>
                    </a:p>
                  </a:txBody>
                  <a:tcPr marL="54864" marR="54864" marT="27432" marB="27432">
                    <a:solidFill>
                      <a:srgbClr val="FFFFFF"/>
                    </a:solidFill>
                  </a:tcPr>
                </a:tc>
                <a:tc>
                  <a:txBody>
                    <a:bodyPr/>
                    <a:lstStyle/>
                    <a:p>
                      <a:r>
                        <a:rPr sz="850" b="0">
                          <a:solidFill>
                            <a:srgbClr val="4B4B4B"/>
                          </a:solidFill>
                          <a:latin typeface="Arial"/>
                        </a:rPr>
                        <a:t>Tab</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Taxes &amp; factors</a:t>
                      </a:r>
                    </a:p>
                  </a:txBody>
                  <a:tcPr marL="54864" marR="54864" marT="27432" marB="27432">
                    <a:solidFill>
                      <a:srgbClr val="E5F5FF"/>
                    </a:solidFill>
                  </a:tcPr>
                </a:tc>
                <a:tc>
                  <a:txBody>
                    <a:bodyPr/>
                    <a:lstStyle/>
                    <a:p>
                      <a:r>
                        <a:rPr sz="850" b="0">
                          <a:solidFill>
                            <a:srgbClr val="4B4B4B"/>
                          </a:solidFill>
                          <a:latin typeface="Arial"/>
                        </a:rPr>
                        <a:t>Rate / Line / %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Rate name; All lines or a line; percentage; dd-MMM-yyyy; Open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Short-period table</a:t>
                      </a:r>
                    </a:p>
                  </a:txBody>
                  <a:tcPr marL="54864" marR="54864" marT="27432" marB="27432">
                    <a:solidFill>
                      <a:srgbClr val="FFFFFF"/>
                    </a:solidFill>
                  </a:tcPr>
                </a:tc>
                <a:tc>
                  <a:txBody>
                    <a:bodyPr/>
                    <a:lstStyle/>
                    <a:p>
                      <a:r>
                        <a:rPr sz="850" b="0">
                          <a:solidFill>
                            <a:srgbClr val="4B4B4B"/>
                          </a:solidFill>
                          <a:latin typeface="Arial"/>
                        </a:rPr>
                        <a:t>Months Covered (up To) / % of Annual Premium / From / To / Status</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Months 1 to 12; percentage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BI / PD limits</a:t>
                      </a:r>
                    </a:p>
                  </a:txBody>
                  <a:tcPr marL="54864" marR="54864" marT="27432" marB="27432">
                    <a:solidFill>
                      <a:srgbClr val="E5F5FF"/>
                    </a:solidFill>
                  </a:tcPr>
                </a:tc>
                <a:tc>
                  <a:txBody>
                    <a:bodyPr/>
                    <a:lstStyle/>
                    <a:p>
                      <a:r>
                        <a:rPr sz="850" b="0">
                          <a:solidFill>
                            <a:srgbClr val="4B4B4B"/>
                          </a:solidFill>
                          <a:latin typeface="Arial"/>
                        </a:rPr>
                        <a:t>Coverage / Limit / Premium / From / To / Status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Bodily injury or Property damage; amounts</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DST, premium tax, VAT, fire service tax and the motor factors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Line code</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Blank = every line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609596">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Rate % / % of annual premium</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Percentage, up to four decimals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The rate must be a percentage between 0 and 100 / The short-period percentage must be a percentage between 0 and 100</a:t>
                      </a:r>
                    </a:p>
                  </a:txBody>
                  <a:tcPr marL="54864" marR="54864" marT="27432" marB="27432">
                    <a:solidFill>
                      <a:srgbClr val="FFFFFF"/>
                    </a:solidFill>
                  </a:tcPr>
                </a:tc>
              </a:tr>
              <a:tr h="480057">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Months covered</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Y (short-period table)</a:t>
                      </a:r>
                    </a:p>
                  </a:txBody>
                  <a:tcPr marL="54864" marR="54864" marT="27432" marB="27432">
                    <a:solidFill>
                      <a:srgbClr val="E5F5FF"/>
                    </a:solidFill>
                  </a:tcPr>
                </a:tc>
                <a:tc>
                  <a:txBody>
                    <a:bodyPr/>
                    <a:lstStyle/>
                    <a:p>
                      <a:r>
                        <a:rPr sz="850" b="0">
                          <a:solidFill>
                            <a:srgbClr val="4B4B4B"/>
                          </a:solidFill>
                          <a:latin typeface="Arial"/>
                        </a:rPr>
                        <a:t>1 to 12</a:t>
                      </a:r>
                    </a:p>
                  </a:txBody>
                  <a:tcPr marL="54864" marR="54864" marT="27432" marB="27432">
                    <a:solidFill>
                      <a:srgbClr val="E5F5FF"/>
                    </a:solidFill>
                  </a:tcPr>
                </a:tc>
                <a:tc>
                  <a:txBody>
                    <a:bodyPr/>
                    <a:lstStyle/>
                    <a:p>
                      <a:r>
                        <a:rPr sz="850" b="0">
                          <a:solidFill>
                            <a:srgbClr val="4B4B4B"/>
                          </a:solidFill>
                          <a:latin typeface="Arial"/>
                        </a:rPr>
                        <a:t>Months covered must be between 1 and 12</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Coverage / Limit / Premium</a:t>
                      </a:r>
                    </a:p>
                  </a:txBody>
                  <a:tcPr marL="54864" marR="54864" marT="27432" marB="27432">
                    <a:solidFill>
                      <a:srgbClr val="FFFFFF"/>
                    </a:solidFill>
                  </a:tcPr>
                </a:tc>
                <a:tc>
                  <a:txBody>
                    <a:bodyPr/>
                    <a:lstStyle/>
                    <a:p>
                      <a:r>
                        <a:rPr sz="850" b="0">
                          <a:solidFill>
                            <a:srgbClr val="4B4B4B"/>
                          </a:solidFill>
                          <a:latin typeface="Arial"/>
                        </a:rPr>
                        <a:t>Drop-down / Number</a:t>
                      </a:r>
                    </a:p>
                  </a:txBody>
                  <a:tcPr marL="54864" marR="54864" marT="27432" marB="27432">
                    <a:solidFill>
                      <a:srgbClr val="FFFFFF"/>
                    </a:solidFill>
                  </a:tcPr>
                </a:tc>
                <a:tc>
                  <a:txBody>
                    <a:bodyPr/>
                    <a:lstStyle/>
                    <a:p>
                      <a:r>
                        <a:rPr sz="850" b="0">
                          <a:solidFill>
                            <a:srgbClr val="4B4B4B"/>
                          </a:solidFill>
                          <a:latin typeface="Arial"/>
                        </a:rPr>
                        <a:t>Bodily injury (BI) or Property damage (PD); amounts</a:t>
                      </a:r>
                    </a:p>
                  </a:txBody>
                  <a:tcPr marL="54864" marR="54864" marT="27432" marB="27432">
                    <a:solidFill>
                      <a:srgbClr val="FFFFFF"/>
                    </a:solidFill>
                  </a:tcPr>
                </a:tc>
                <a:tc>
                  <a:txBody>
                    <a:bodyPr/>
                    <a:lstStyle/>
                    <a:p>
                      <a:r>
                        <a:rPr sz="850" b="0">
                          <a:solidFill>
                            <a:srgbClr val="4B4B4B"/>
                          </a:solidFill>
                          <a:latin typeface="Arial"/>
                        </a:rPr>
                        <a:t>Y (limit table)</a:t>
                      </a:r>
                    </a:p>
                  </a:txBody>
                  <a:tcPr marL="54864" marR="54864" marT="27432" marB="27432">
                    <a:solidFill>
                      <a:srgbClr val="FFFFFF"/>
                    </a:solidFill>
                  </a:tcPr>
                </a:tc>
                <a:tc>
                  <a:txBody>
                    <a:bodyPr/>
                    <a:lstStyle/>
                    <a:p>
                      <a:r>
                        <a:rPr sz="850" b="0">
                          <a:solidFill>
                            <a:srgbClr val="4B4B4B"/>
                          </a:solidFill>
                          <a:latin typeface="Arial"/>
                        </a:rPr>
                        <a:t>Limit greater than zero; premium zero or more</a:t>
                      </a:r>
                    </a:p>
                  </a:txBody>
                  <a:tcPr marL="54864" marR="54864" marT="27432" marB="27432">
                    <a:solidFill>
                      <a:srgbClr val="FFFFFF"/>
                    </a:solidFill>
                  </a:tcPr>
                </a:tc>
                <a:tc>
                  <a:txBody>
                    <a:bodyPr/>
                    <a:lstStyle/>
                    <a:p>
                      <a:r>
                        <a:rPr sz="850" b="0">
                          <a:solidFill>
                            <a:srgbClr val="4B4B4B"/>
                          </a:solidFill>
                          <a:latin typeface="Arial"/>
                        </a:rPr>
                        <a:t>The limit must be greater than zero / The premium cannot be negative</a:t>
                      </a:r>
                    </a:p>
                  </a:txBody>
                  <a:tcPr marL="54864" marR="54864" marT="27432" marB="27432">
                    <a:solidFill>
                      <a:srgbClr val="FFFFFF"/>
                    </a:solidFill>
                  </a:tcPr>
                </a:tc>
              </a:tr>
              <a:tr h="480057">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New rate</a:t>
                      </a:r>
                    </a:p>
                  </a:txBody>
                  <a:tcPr marL="54864" marR="54864" marT="27432" marB="27432">
                    <a:solidFill>
                      <a:srgbClr val="E5F5FF"/>
                    </a:solidFill>
                  </a:tcPr>
                </a:tc>
                <a:tc>
                  <a:txBody>
                    <a:bodyPr/>
                    <a:lstStyle/>
                    <a:p>
                      <a:r>
                        <a:rPr sz="850" b="0">
                          <a:solidFill>
                            <a:srgbClr val="4B4B4B"/>
                          </a:solidFill>
                          <a:latin typeface="Arial"/>
                        </a:rPr>
                        <a:t>Effective from / Effective to</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Y (from)</a:t>
                      </a:r>
                    </a:p>
                  </a:txBody>
                  <a:tcPr marL="54864" marR="54864" marT="27432" marB="27432">
                    <a:solidFill>
                      <a:srgbClr val="E5F5FF"/>
                    </a:solidFill>
                  </a:tcPr>
                </a:tc>
                <a:tc>
                  <a:txBody>
                    <a:bodyPr/>
                    <a:lstStyle/>
                    <a:p>
                      <a:r>
                        <a:rPr sz="850" b="0">
                          <a:solidFill>
                            <a:srgbClr val="4B4B4B"/>
                          </a:solidFill>
                          <a:latin typeface="Arial"/>
                        </a:rPr>
                        <a:t>To on or after from</a:t>
                      </a:r>
                    </a:p>
                  </a:txBody>
                  <a:tcPr marL="54864" marR="54864" marT="27432" marB="27432">
                    <a:solidFill>
                      <a:srgbClr val="E5F5FF"/>
                    </a:solidFill>
                  </a:tcPr>
                </a:tc>
                <a:tc>
                  <a:txBody>
                    <a:bodyPr/>
                    <a:lstStyle/>
                    <a:p>
                      <a:r>
                        <a:rPr sz="850" b="0">
                          <a:solidFill>
                            <a:srgbClr val="4B4B4B"/>
                          </a:solidFill>
                          <a:latin typeface="Arial"/>
                        </a:rPr>
                        <a:t>Enter the effective-from date / The effective-to date is before the effective-from date</a:t>
                      </a:r>
                    </a:p>
                  </a:txBody>
                  <a:tcPr marL="54864" marR="54864" marT="27432" marB="27432">
                    <a:solidFill>
                      <a:srgbClr val="E5F5FF"/>
                    </a:solidFill>
                  </a:tcPr>
                </a:tc>
              </a:tr>
            </a:tbl>
          </a:graphicData>
        </a:graphic>
      </p:graphicFrame>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357</a:t>
            </a:r>
          </a:p>
        </p:txBody>
      </p:sp>
      <p:graphicFrame>
        <p:nvGraphicFramePr>
          <p:cNvPr id="9" name="Table 8"/>
          <p:cNvGraphicFramePr>
            <a:graphicFrameLocks noGrp="1"/>
          </p:cNvGraphicFramePr>
          <p:nvPr/>
        </p:nvGraphicFramePr>
        <p:xfrm>
          <a:off x="548640" y="1325880"/>
          <a:ext cx="11094412" cy="922015"/>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New Rate</a:t>
                      </a:r>
                    </a:p>
                  </a:txBody>
                  <a:tcPr marL="54864" marR="54864" marT="27432" marB="27432">
                    <a:solidFill>
                      <a:srgbClr val="FFFFFF"/>
                    </a:solidFill>
                  </a:tcPr>
                </a:tc>
                <a:tc>
                  <a:txBody>
                    <a:bodyPr/>
                    <a:lstStyle/>
                    <a:p>
                      <a:r>
                        <a:rPr sz="850" b="0">
                          <a:solidFill>
                            <a:srgbClr val="4B4B4B"/>
                          </a:solidFill>
                          <a:latin typeface="Arial"/>
                        </a:rPr>
                        <a:t>MASTER_MAINTAIN (Business Administrator)</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the dialog of the current tab;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 / Deactivate</a:t>
                      </a:r>
                    </a:p>
                  </a:txBody>
                  <a:tcPr marL="54864" marR="54864" marT="27432" marB="27432">
                    <a:solidFill>
                      <a:srgbClr val="E5F5FF"/>
                    </a:solidFill>
                  </a:tcPr>
                </a:tc>
                <a:tc>
                  <a:txBody>
                    <a:bodyPr/>
                    <a:lstStyle/>
                    <a:p>
                      <a:r>
                        <a:rPr sz="850" b="0">
                          <a:solidFill>
                            <a:srgbClr val="4B4B4B"/>
                          </a:solidFill>
                          <a:latin typeface="Arial"/>
                        </a:rPr>
                        <a:t>MASTER_AUTHORIZE / MASTER_MAINTAIN</a:t>
                      </a:r>
                    </a:p>
                  </a:txBody>
                  <a:tcPr marL="54864" marR="54864" marT="27432" marB="27432">
                    <a:solidFill>
                      <a:srgbClr val="E5F5FF"/>
                    </a:solidFill>
                  </a:tcPr>
                </a:tc>
                <a:tc>
                  <a:txBody>
                    <a:bodyPr/>
                    <a:lstStyle/>
                    <a:p>
                      <a:r>
                        <a:rPr sz="850" b="0">
                          <a:solidFill>
                            <a:srgbClr val="4B4B4B"/>
                          </a:solidFill>
                          <a:latin typeface="Arial"/>
                        </a:rPr>
                        <a:t>As on Insurers</a:t>
                      </a:r>
                    </a:p>
                  </a:txBody>
                  <a:tcPr marL="54864" marR="54864" marT="27432" marB="27432">
                    <a:solidFill>
                      <a:srgbClr val="E5F5FF"/>
                    </a:solidFill>
                  </a:tcPr>
                </a:tc>
                <a:tc>
                  <a:txBody>
                    <a:bodyPr/>
                    <a:lstStyle/>
                    <a:p>
                      <a:r>
                        <a:rPr sz="850" b="0">
                          <a:solidFill>
                            <a:srgbClr val="4B4B4B"/>
                          </a:solidFill>
                          <a:latin typeface="Arial"/>
                        </a:rPr>
                        <a:t>Authorises the row or ends its use</a:t>
                      </a:r>
                    </a:p>
                  </a:txBody>
                  <a:tcPr marL="54864" marR="54864" marT="27432" marB="27432">
                    <a:solidFill>
                      <a:srgbClr val="E5F5FF"/>
                    </a:solidFill>
                  </a:tcPr>
                </a:tc>
                <a:tc>
                  <a:txBody>
                    <a:bodyPr/>
                    <a:lstStyle/>
                    <a:p>
                      <a:r>
                        <a:rPr sz="850" b="0">
                          <a:solidFill>
                            <a:srgbClr val="4B4B4B"/>
                          </a:solidFill>
                          <a:latin typeface="Arial"/>
                        </a:rPr>
                        <a:t>Active /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358</a:t>
            </a:r>
          </a:p>
        </p:txBody>
      </p:sp>
      <p:graphicFrame>
        <p:nvGraphicFramePr>
          <p:cNvPr id="9" name="Table 8"/>
          <p:cNvGraphicFramePr>
            <a:graphicFrameLocks noGrp="1"/>
          </p:cNvGraphicFramePr>
          <p:nvPr/>
        </p:nvGraphicFramePr>
        <p:xfrm>
          <a:off x="548640" y="1325880"/>
          <a:ext cx="11094415" cy="73152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The row in force on the rating date applies; statutory rates keep their effective-date look-up and do not follow the package version (FR-PM-051).</a:t>
                      </a:r>
                    </a:p>
                  </a:txBody>
                  <a:tcPr marL="54864" marR="54864" marT="27432" marB="27432">
                    <a:solidFill>
                      <a:srgbClr val="FFFFFF"/>
                    </a:solidFill>
                  </a:tcPr>
                </a:tc>
              </a:tr>
              <a:tr h="243840">
                <a:tc>
                  <a:txBody>
                    <a:bodyPr/>
                    <a:lstStyle/>
                    <a:p>
                      <a:r>
                        <a:rPr sz="1000" b="0">
                          <a:solidFill>
                            <a:srgbClr val="4B4B4B"/>
                          </a:solidFill>
                          <a:latin typeface="Arial"/>
                        </a:rPr>
                        <a:t>A period without a short-period row, or a motor limit not in the table, is refused at rating (FR-PM-051).</a:t>
                      </a:r>
                    </a:p>
                  </a:txBody>
                  <a:tcPr marL="54864" marR="54864" marT="27432" marB="27432">
                    <a:solidFill>
                      <a:srgbClr val="E5F5FF"/>
                    </a:solidFill>
                  </a:tcPr>
                </a:tc>
              </a:tr>
            </a:tbl>
          </a:graphicData>
        </a:graphic>
      </p:graphicFrame>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1.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Rates &amp; Taxes, Taxes &amp; factors tab (part 1 of 2)</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lice-00212.png"/>
          <p:cNvPicPr>
            <a:picLocks noChangeAspect="1"/>
          </p:cNvPicPr>
          <p:nvPr/>
        </p:nvPicPr>
        <p:blipFill>
          <a:blip r:embed="rId3"/>
          <a:stretch>
            <a:fillRect/>
          </a:stretch>
        </p:blipFill>
        <p:spPr>
          <a:xfrm>
            <a:off x="548640" y="1261872"/>
            <a:ext cx="11094415" cy="18745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Rates &amp; Taxes, Taxes &amp; factors tab (part 2 of 2)</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SCR-PM-19 Rates &amp; Taxes: Default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0" name="Picture 9" descr="scr-pm-19-02-new.png"/>
          <p:cNvPicPr>
            <a:picLocks noChangeAspect="1"/>
          </p:cNvPicPr>
          <p:nvPr/>
        </p:nvPicPr>
        <p:blipFill>
          <a:blip r:embed="rId3"/>
          <a:stretch>
            <a:fillRect/>
          </a:stretch>
        </p:blipFill>
        <p:spPr>
          <a:xfrm>
            <a:off x="548640" y="1261872"/>
            <a:ext cx="11094415" cy="427877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New tax or rating factor dialog</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362</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CHG-PM-2.0-01</a:t>
            </a:r>
          </a:p>
        </p:txBody>
      </p:sp>
      <p:graphicFrame>
        <p:nvGraphicFramePr>
          <p:cNvPr id="10" name="Table 9"/>
          <p:cNvGraphicFramePr>
            <a:graphicFrameLocks noGrp="1"/>
          </p:cNvGraphicFramePr>
          <p:nvPr/>
        </p:nvGraphicFramePr>
        <p:xfrm>
          <a:off x="548640" y="1307592"/>
          <a:ext cx="6434760" cy="252222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The sales organisation of the company as one tree table: regions, departments and teams with their cost centres, and the account officers of each team by name, role and assignment date. Accounts are stamped with the creator's units and cost centre when they are created.</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Business Services, Business Administrator, New Business Approver, System Administrator,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Sales Organisation</a:t>
                      </a:r>
                    </a:p>
                    <a:p>
                      <a:r>
                        <a:rPr sz="950" b="0">
                          <a:solidFill>
                            <a:srgbClr val="4B4B4B"/>
                          </a:solidFill>
                          <a:latin typeface="Arial"/>
                        </a:rPr>
                        <a:t>Sidebar entry Sales Organisation</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13.3.4</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Every account and production report is attributed to the right region, department, team and officer.</a:t>
                      </a:r>
                    </a:p>
                  </a:txBody>
                  <a:tcPr marL="54864" marR="54864" marT="27432" marB="27432">
                    <a:solidFill>
                      <a:srgbClr val="FFFFFF"/>
                    </a:solidFill>
                  </a:tcPr>
                </a:tc>
              </a:tr>
            </a:tbl>
          </a:graphicData>
        </a:graphic>
      </p:graphicFrame>
      <p:sp>
        <p:nvSpPr>
          <p:cNvPr id="11" name="TextBox 10"/>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(3 images)</a:t>
            </a:r>
          </a:p>
        </p:txBody>
      </p:sp>
      <p:graphicFrame>
        <p:nvGraphicFramePr>
          <p:cNvPr id="12" name="Table 11"/>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363</a:t>
            </a:r>
          </a:p>
        </p:txBody>
      </p:sp>
      <p:graphicFrame>
        <p:nvGraphicFramePr>
          <p:cNvPr id="9" name="Table 8"/>
          <p:cNvGraphicFramePr>
            <a:graphicFrameLocks noGrp="1"/>
          </p:cNvGraphicFramePr>
          <p:nvPr/>
        </p:nvGraphicFramePr>
        <p:xfrm>
          <a:off x="548640" y="1325880"/>
          <a:ext cx="11094411" cy="477771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350518">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Search unit code, name or officer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or name, or the officer's name</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Contains search; the matching branches open</a:t>
                      </a:r>
                    </a:p>
                  </a:txBody>
                  <a:tcPr marL="54864" marR="54864" marT="27432" marB="27432">
                    <a:solidFill>
                      <a:srgbClr val="FFFFFF"/>
                    </a:solidFill>
                  </a:tcPr>
                </a:tc>
                <a:tc>
                  <a:txBody>
                    <a:bodyPr/>
                    <a:lstStyle/>
                    <a:p>
                      <a:r>
                        <a:rPr sz="850" b="0">
                          <a:solidFill>
                            <a:srgbClr val="4B4B4B"/>
                          </a:solidFill>
                          <a:latin typeface="Arial"/>
                        </a:rPr>
                        <a:t>No unit or officer matches the search</a:t>
                      </a:r>
                    </a:p>
                  </a:txBody>
                  <a:tcPr marL="54864" marR="54864" marT="27432" marB="27432">
                    <a:solidFill>
                      <a:srgbClr val="FFFFFF"/>
                    </a:solidFill>
                  </a:tcPr>
                </a:tc>
              </a:tr>
              <a:tr h="220979">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Expand All / Collapse All</a:t>
                      </a:r>
                    </a:p>
                  </a:txBody>
                  <a:tcPr marL="54864" marR="54864" marT="27432" marB="27432">
                    <a:solidFill>
                      <a:srgbClr val="E5F5FF"/>
                    </a:solidFill>
                  </a:tcPr>
                </a:tc>
                <a:tc>
                  <a:txBody>
                    <a:bodyPr/>
                    <a:lstStyle/>
                    <a:p>
                      <a:r>
                        <a:rPr sz="850" b="0">
                          <a:solidFill>
                            <a:srgbClr val="4B4B4B"/>
                          </a:solidFill>
                          <a:latin typeface="Arial"/>
                        </a:rPr>
                        <a:t>Button</a:t>
                      </a:r>
                    </a:p>
                  </a:txBody>
                  <a:tcPr marL="54864" marR="54864" marT="27432" marB="27432">
                    <a:solidFill>
                      <a:srgbClr val="E5F5FF"/>
                    </a:solidFill>
                  </a:tcPr>
                </a:tc>
                <a:tc>
                  <a:txBody>
                    <a:bodyPr/>
                    <a:lstStyle/>
                    <a:p>
                      <a:r>
                        <a:rPr sz="850" b="0">
                          <a:solidFill>
                            <a:srgbClr val="4B4B4B"/>
                          </a:solidFill>
                          <a:latin typeface="Arial"/>
                        </a:rPr>
                        <a:t>Opens or closes every branch</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Toolbar</a:t>
                      </a:r>
                    </a:p>
                  </a:txBody>
                  <a:tcPr marL="54864" marR="54864" marT="27432" marB="27432">
                    <a:solidFill>
                      <a:srgbClr val="FFFFFF"/>
                    </a:solidFill>
                  </a:tcPr>
                </a:tc>
                <a:tc>
                  <a:txBody>
                    <a:bodyPr/>
                    <a:lstStyle/>
                    <a:p>
                      <a:r>
                        <a:rPr sz="850" b="0">
                          <a:solidFill>
                            <a:srgbClr val="4B4B4B"/>
                          </a:solidFill>
                          <a:latin typeface="Arial"/>
                        </a:rPr>
                        <a:t>Show Inactive</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Lists deactivated units and removed officers in grey</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Toolbar</a:t>
                      </a:r>
                    </a:p>
                  </a:txBody>
                  <a:tcPr marL="54864" marR="54864" marT="27432" marB="27432">
                    <a:solidFill>
                      <a:srgbClr val="E5F5FF"/>
                    </a:solidFill>
                  </a:tcPr>
                </a:tc>
                <a:tc>
                  <a:txBody>
                    <a:bodyPr/>
                    <a:lstStyle/>
                    <a:p>
                      <a:r>
                        <a:rPr sz="850" b="0">
                          <a:solidFill>
                            <a:srgbClr val="4B4B4B"/>
                          </a:solidFill>
                          <a:latin typeface="Arial"/>
                        </a:rPr>
                        <a:t>Summary</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n regions · n departments · n teams · n officers of the rows shown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Unit</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Chevron and indentation per level; code in bold and name; an officer by full name with the role below</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No sales unit defined yet</a:t>
                      </a:r>
                    </a:p>
                  </a:txBody>
                  <a:tcPr marL="54864" marR="54864" marT="27432" marB="27432">
                    <a:solidFill>
                      <a:srgbClr val="FFFFFF"/>
                    </a:solidFill>
                  </a:tcPr>
                </a:tc>
              </a:tr>
              <a:tr h="350518">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Region, Department, Team or Account Officer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The unit's own cost centre, or the cost centre in force with Inherited from &lt;parent code&gt; below it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Account Officers</a:t>
                      </a:r>
                    </a:p>
                  </a:txBody>
                  <a:tcPr marL="54864" marR="54864" marT="27432" marB="27432">
                    <a:solidFill>
                      <a:srgbClr val="E5F5FF"/>
                    </a:solidFill>
                  </a:tcPr>
                </a:tc>
                <a:tc>
                  <a:txBody>
                    <a:bodyPr/>
                    <a:lstStyle/>
                    <a:p>
                      <a:r>
                        <a:rPr sz="850" b="0">
                          <a:solidFill>
                            <a:srgbClr val="4B4B4B"/>
                          </a:solidFill>
                          <a:latin typeface="Arial"/>
                        </a:rPr>
                        <a:t>Column</a:t>
                      </a:r>
                    </a:p>
                  </a:txBody>
                  <a:tcPr marL="54864" marR="54864" marT="27432" marB="27432">
                    <a:solidFill>
                      <a:srgbClr val="E5F5FF"/>
                    </a:solidFill>
                  </a:tcPr>
                </a:tc>
                <a:tc>
                  <a:txBody>
                    <a:bodyPr/>
                    <a:lstStyle/>
                    <a:p>
                      <a:r>
                        <a:rPr sz="850" b="0">
                          <a:solidFill>
                            <a:srgbClr val="4B4B4B"/>
                          </a:solidFill>
                          <a:latin typeface="Arial"/>
                        </a:rPr>
                        <a:t>Number of active officers of a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Assigned Since</a:t>
                      </a:r>
                    </a:p>
                  </a:txBody>
                  <a:tcPr marL="54864" marR="54864" marT="27432" marB="27432">
                    <a:solidFill>
                      <a:srgbClr val="FFFFFF"/>
                    </a:solidFill>
                  </a:tcPr>
                </a:tc>
                <a:tc>
                  <a:txBody>
                    <a:bodyPr/>
                    <a:lstStyle/>
                    <a:p>
                      <a:r>
                        <a:rPr sz="850" b="0">
                          <a:solidFill>
                            <a:srgbClr val="4B4B4B"/>
                          </a:solidFill>
                          <a:latin typeface="Arial"/>
                        </a:rPr>
                        <a:t>Column</a:t>
                      </a:r>
                    </a:p>
                  </a:txBody>
                  <a:tcPr marL="54864" marR="54864" marT="27432" marB="27432">
                    <a:solidFill>
                      <a:srgbClr val="FFFFFF"/>
                    </a:solidFill>
                  </a:tcPr>
                </a:tc>
                <a:tc>
                  <a:txBody>
                    <a:bodyPr/>
                    <a:lstStyle/>
                    <a:p>
                      <a:r>
                        <a:rPr sz="850" b="0">
                          <a:solidFill>
                            <a:srgbClr val="4B4B4B"/>
                          </a:solidFill>
                          <a:latin typeface="Arial"/>
                        </a:rPr>
                        <a:t>dd-MMM-yyyy, date the officer joined the team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Tree table</a:t>
                      </a:r>
                    </a:p>
                  </a:txBody>
                  <a:tcPr marL="54864" marR="54864" marT="27432" marB="27432">
                    <a:solidFill>
                      <a:srgbClr val="E5F5FF"/>
                    </a:solidFill>
                  </a:tcPr>
                </a:tc>
                <a:tc>
                  <a:txBody>
                    <a:bodyPr/>
                    <a:lstStyle/>
                    <a:p>
                      <a:r>
                        <a:rPr sz="850" b="0">
                          <a:solidFill>
                            <a:srgbClr val="4B4B4B"/>
                          </a:solidFill>
                          <a:latin typeface="Arial"/>
                        </a:rPr>
                        <a:t>Status</a:t>
                      </a:r>
                    </a:p>
                  </a:txBody>
                  <a:tcPr marL="54864" marR="54864" marT="27432" marB="27432">
                    <a:solidFill>
                      <a:srgbClr val="E5F5FF"/>
                    </a:solidFill>
                  </a:tcPr>
                </a:tc>
                <a:tc>
                  <a:txBody>
                    <a:bodyPr/>
                    <a:lstStyle/>
                    <a:p>
                      <a:r>
                        <a:rPr sz="850" b="0">
                          <a:solidFill>
                            <a:srgbClr val="4B4B4B"/>
                          </a:solidFill>
                          <a:latin typeface="Arial"/>
                        </a:rPr>
                        <a:t>Pill</a:t>
                      </a:r>
                    </a:p>
                  </a:txBody>
                  <a:tcPr marL="54864" marR="54864" marT="27432" marB="27432">
                    <a:solidFill>
                      <a:srgbClr val="E5F5FF"/>
                    </a:solidFill>
                  </a:tcPr>
                </a:tc>
                <a:tc>
                  <a:txBody>
                    <a:bodyPr/>
                    <a:lstStyle/>
                    <a:p>
                      <a:r>
                        <a:rPr sz="850" b="0">
                          <a:solidFill>
                            <a:srgbClr val="4B4B4B"/>
                          </a:solidFill>
                          <a:latin typeface="Arial"/>
                        </a:rPr>
                        <a:t>Active, Pending Authorization, 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Tree table</a:t>
                      </a:r>
                    </a:p>
                  </a:txBody>
                  <a:tcPr marL="54864" marR="54864" marT="27432" marB="27432">
                    <a:solidFill>
                      <a:srgbClr val="FFFFFF"/>
                    </a:solidFill>
                  </a:tcPr>
                </a:tc>
                <a:tc>
                  <a:txBody>
                    <a:bodyPr/>
                    <a:lstStyle/>
                    <a:p>
                      <a:r>
                        <a:rPr sz="850" b="0">
                          <a:solidFill>
                            <a:srgbClr val="4B4B4B"/>
                          </a:solidFill>
                          <a:latin typeface="Arial"/>
                        </a:rPr>
                        <a:t>Actions</a:t>
                      </a:r>
                    </a:p>
                  </a:txBody>
                  <a:tcPr marL="54864" marR="54864" marT="27432" marB="27432">
                    <a:solidFill>
                      <a:srgbClr val="FFFFFF"/>
                    </a:solidFill>
                  </a:tcPr>
                </a:tc>
                <a:tc>
                  <a:txBody>
                    <a:bodyPr/>
                    <a:lstStyle/>
                    <a:p>
                      <a:r>
                        <a:rPr sz="850" b="0">
                          <a:solidFill>
                            <a:srgbClr val="4B4B4B"/>
                          </a:solidFill>
                          <a:latin typeface="Arial"/>
                        </a:rPr>
                        <a:t>Menu</a:t>
                      </a:r>
                    </a:p>
                  </a:txBody>
                  <a:tcPr marL="54864" marR="54864" marT="27432" marB="27432">
                    <a:solidFill>
                      <a:srgbClr val="FFFFFF"/>
                    </a:solidFill>
                  </a:tcPr>
                </a:tc>
                <a:tc>
                  <a:txBody>
                    <a:bodyPr/>
                    <a:lstStyle/>
                    <a:p>
                      <a:r>
                        <a:rPr sz="850" b="0">
                          <a:solidFill>
                            <a:srgbClr val="4B4B4B"/>
                          </a:solidFill>
                          <a:latin typeface="Arial"/>
                        </a:rPr>
                        <a:t>The actions of the row (see Actions)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480057">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Level</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Region, Department, Team; fixed to the level below when opened from a unit</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 department belongs to a region; a team to a department</a:t>
                      </a:r>
                    </a:p>
                  </a:txBody>
                  <a:tcPr marL="54864" marR="54864" marT="27432" marB="27432">
                    <a:solidFill>
                      <a:srgbClr val="E5F5FF"/>
                    </a:solidFill>
                  </a:tcPr>
                </a:tc>
                <a:tc>
                  <a:txBody>
                    <a:bodyPr/>
                    <a:lstStyle/>
                    <a:p>
                      <a:r>
                        <a:rPr sz="850" b="0">
                          <a:solidFill>
                            <a:srgbClr val="4B4B4B"/>
                          </a:solidFill>
                          <a:latin typeface="Arial"/>
                        </a:rPr>
                        <a:t>A &lt;level&gt; must belong to an active &lt;parent level&gt;</a:t>
                      </a:r>
                    </a:p>
                  </a:txBody>
                  <a:tcPr marL="54864" marR="54864" marT="27432" marB="27432">
                    <a:solidFill>
                      <a:srgbClr val="E5F5FF"/>
                    </a:solidFill>
                  </a:tcPr>
                </a:tc>
              </a:tr>
              <a:tr h="220979">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Code / Name</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Unit code and name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Unique</a:t>
                      </a:r>
                    </a:p>
                  </a:txBody>
                  <a:tcPr marL="54864" marR="54864" marT="27432" marB="27432">
                    <a:solidFill>
                      <a:srgbClr val="FFFFFF"/>
                    </a:solidFill>
                  </a:tcPr>
                </a:tc>
                <a:tc>
                  <a:txBody>
                    <a:bodyPr/>
                    <a:lstStyle/>
                    <a:p>
                      <a:r>
                        <a:rPr sz="850" b="0">
                          <a:solidFill>
                            <a:srgbClr val="4B4B4B"/>
                          </a:solidFill>
                          <a:latin typeface="Arial"/>
                        </a:rPr>
                        <a:t>Sales unit already exists: &lt;key&gt;</a:t>
                      </a:r>
                    </a:p>
                  </a:txBody>
                  <a:tcPr marL="54864" marR="54864" marT="27432" marB="27432">
                    <a:solidFill>
                      <a:srgbClr val="FFFFFF"/>
                    </a:solidFill>
                  </a:tcPr>
                </a:tc>
              </a:tr>
            </a:tbl>
          </a:graphicData>
        </a:graphic>
      </p:graphicFrame>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364</a:t>
            </a:r>
          </a:p>
        </p:txBody>
      </p:sp>
      <p:graphicFrame>
        <p:nvGraphicFramePr>
          <p:cNvPr id="9" name="Table 8"/>
          <p:cNvGraphicFramePr>
            <a:graphicFrameLocks noGrp="1"/>
          </p:cNvGraphicFramePr>
          <p:nvPr/>
        </p:nvGraphicFramePr>
        <p:xfrm>
          <a:off x="548640" y="1325880"/>
          <a:ext cx="11094411" cy="2842243"/>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New unit / Add sub-unit</a:t>
                      </a:r>
                    </a:p>
                  </a:txBody>
                  <a:tcPr marL="54864" marR="54864" marT="27432" marB="27432">
                    <a:solidFill>
                      <a:srgbClr val="FFFFFF"/>
                    </a:solidFill>
                  </a:tcPr>
                </a:tc>
                <a:tc>
                  <a:txBody>
                    <a:bodyPr/>
                    <a:lstStyle/>
                    <a:p>
                      <a:r>
                        <a:rPr sz="850" b="0">
                          <a:solidFill>
                            <a:srgbClr val="4B4B4B"/>
                          </a:solidFill>
                          <a:latin typeface="Arial"/>
                        </a:rPr>
                        <a:t>Cost Center</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Blank = inherited from the parent</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cost centre of the company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609596">
                <a:tc>
                  <a:txBody>
                    <a:bodyPr/>
                    <a:lstStyle/>
                    <a:p>
                      <a:r>
                        <a:rPr sz="850" b="0">
                          <a:solidFill>
                            <a:srgbClr val="4B4B4B"/>
                          </a:solidFill>
                          <a:latin typeface="Arial"/>
                        </a:rPr>
                        <a:t>15</a:t>
                      </a:r>
                    </a:p>
                  </a:txBody>
                  <a:tcPr marL="54864" marR="54864" marT="27432" marB="27432">
                    <a:solidFill>
                      <a:srgbClr val="E5F5FF"/>
                    </a:solidFill>
                  </a:tcPr>
                </a:tc>
                <a:tc>
                  <a:txBody>
                    <a:bodyPr/>
                    <a:lstStyle/>
                    <a:p>
                      <a:r>
                        <a:rPr sz="850" b="0">
                          <a:solidFill>
                            <a:srgbClr val="4B4B4B"/>
                          </a:solidFill>
                          <a:latin typeface="Arial"/>
                        </a:rPr>
                        <a:t>New unit / Add sub-unit</a:t>
                      </a:r>
                    </a:p>
                  </a:txBody>
                  <a:tcPr marL="54864" marR="54864" marT="27432" marB="27432">
                    <a:solidFill>
                      <a:srgbClr val="E5F5FF"/>
                    </a:solidFill>
                  </a:tcPr>
                </a:tc>
                <a:tc>
                  <a:txBody>
                    <a:bodyPr/>
                    <a:lstStyle/>
                    <a:p>
                      <a:r>
                        <a:rPr sz="850" b="0">
                          <a:solidFill>
                            <a:srgbClr val="4B4B4B"/>
                          </a:solidFill>
                          <a:latin typeface="Arial"/>
                        </a:rPr>
                        <a:t>Parent</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units of the level above</a:t>
                      </a:r>
                    </a:p>
                  </a:txBody>
                  <a:tcPr marL="54864" marR="54864" marT="27432" marB="27432">
                    <a:solidFill>
                      <a:srgbClr val="E5F5FF"/>
                    </a:solidFill>
                  </a:tcPr>
                </a:tc>
                <a:tc>
                  <a:txBody>
                    <a:bodyPr/>
                    <a:lstStyle/>
                    <a:p>
                      <a:r>
                        <a:rPr sz="850" b="0">
                          <a:solidFill>
                            <a:srgbClr val="4B4B4B"/>
                          </a:solidFill>
                          <a:latin typeface="Arial"/>
                        </a:rPr>
                        <a:t>Cond.: department and team</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16</a:t>
                      </a:r>
                    </a:p>
                  </a:txBody>
                  <a:tcPr marL="54864" marR="54864" marT="27432" marB="27432">
                    <a:solidFill>
                      <a:srgbClr val="FFFFFF"/>
                    </a:solidFill>
                  </a:tcPr>
                </a:tc>
                <a:tc>
                  <a:txBody>
                    <a:bodyPr/>
                    <a:lstStyle/>
                    <a:p>
                      <a:r>
                        <a:rPr sz="850" b="0">
                          <a:solidFill>
                            <a:srgbClr val="4B4B4B"/>
                          </a:solidFill>
                          <a:latin typeface="Arial"/>
                        </a:rPr>
                        <a:t>Unit details</a:t>
                      </a:r>
                    </a:p>
                  </a:txBody>
                  <a:tcPr marL="54864" marR="54864" marT="27432" marB="27432">
                    <a:solidFill>
                      <a:srgbClr val="FFFFFF"/>
                    </a:solidFill>
                  </a:tcPr>
                </a:tc>
                <a:tc>
                  <a:txBody>
                    <a:bodyPr/>
                    <a:lstStyle/>
                    <a:p>
                      <a:r>
                        <a:rPr sz="850" b="0">
                          <a:solidFill>
                            <a:srgbClr val="4B4B4B"/>
                          </a:solidFill>
                          <a:latin typeface="Arial"/>
                        </a:rPr>
                        <a:t>Code, Name, Level, Parent Unit, Cost Center, Unit Head, Sub-units, Account Officers, Status, Status Reason, Created, Last Changed, Authorized</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Names of users, dd-MMM-yyyy HH:mm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17</a:t>
                      </a:r>
                    </a:p>
                  </a:txBody>
                  <a:tcPr marL="54864" marR="54864" marT="27432" marB="27432">
                    <a:solidFill>
                      <a:srgbClr val="E5F5FF"/>
                    </a:solidFill>
                  </a:tcPr>
                </a:tc>
                <a:tc>
                  <a:txBody>
                    <a:bodyPr/>
                    <a:lstStyle/>
                    <a:p>
                      <a:r>
                        <a:rPr sz="850" b="0">
                          <a:solidFill>
                            <a:srgbClr val="4B4B4B"/>
                          </a:solidFill>
                          <a:latin typeface="Arial"/>
                        </a:rPr>
                        <a:t>Assign Account Officer / Reassign</a:t>
                      </a:r>
                    </a:p>
                  </a:txBody>
                  <a:tcPr marL="54864" marR="54864" marT="27432" marB="27432">
                    <a:solidFill>
                      <a:srgbClr val="E5F5FF"/>
                    </a:solidFill>
                  </a:tcPr>
                </a:tc>
                <a:tc>
                  <a:txBody>
                    <a:bodyPr/>
                    <a:lstStyle/>
                    <a:p>
                      <a:r>
                        <a:rPr sz="850" b="0">
                          <a:solidFill>
                            <a:srgbClr val="4B4B4B"/>
                          </a:solidFill>
                          <a:latin typeface="Arial"/>
                        </a:rPr>
                        <a:t>Team</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Active teams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An existing, active team</a:t>
                      </a:r>
                    </a:p>
                  </a:txBody>
                  <a:tcPr marL="54864" marR="54864" marT="27432" marB="27432">
                    <a:solidFill>
                      <a:srgbClr val="E5F5FF"/>
                    </a:solidFill>
                  </a:tcPr>
                </a:tc>
                <a:tc>
                  <a:txBody>
                    <a:bodyPr/>
                    <a:lstStyle/>
                    <a:p>
                      <a:r>
                        <a:rPr sz="850" b="0">
                          <a:solidFill>
                            <a:srgbClr val="4B4B4B"/>
                          </a:solidFill>
                          <a:latin typeface="Arial"/>
                        </a:rPr>
                        <a:t>Team &lt;team code&gt; is unknown or inactive</a:t>
                      </a:r>
                    </a:p>
                  </a:txBody>
                  <a:tcPr marL="54864" marR="54864" marT="27432" marB="27432">
                    <a:solidFill>
                      <a:srgbClr val="E5F5FF"/>
                    </a:solidFill>
                  </a:tcPr>
                </a:tc>
              </a:tr>
              <a:tr h="350518">
                <a:tc>
                  <a:txBody>
                    <a:bodyPr/>
                    <a:lstStyle/>
                    <a:p>
                      <a:r>
                        <a:rPr sz="850" b="0">
                          <a:solidFill>
                            <a:srgbClr val="4B4B4B"/>
                          </a:solidFill>
                          <a:latin typeface="Arial"/>
                        </a:rPr>
                        <a:t>18</a:t>
                      </a:r>
                    </a:p>
                  </a:txBody>
                  <a:tcPr marL="54864" marR="54864" marT="27432" marB="27432">
                    <a:solidFill>
                      <a:srgbClr val="FFFFFF"/>
                    </a:solidFill>
                  </a:tcPr>
                </a:tc>
                <a:tc>
                  <a:txBody>
                    <a:bodyPr/>
                    <a:lstStyle/>
                    <a:p>
                      <a:r>
                        <a:rPr sz="850" b="0">
                          <a:solidFill>
                            <a:srgbClr val="4B4B4B"/>
                          </a:solidFill>
                          <a:latin typeface="Arial"/>
                        </a:rPr>
                        <a:t>Assign Account Officer / Reassign</a:t>
                      </a:r>
                    </a:p>
                  </a:txBody>
                  <a:tcPr marL="54864" marR="54864" marT="27432" marB="27432">
                    <a:solidFill>
                      <a:srgbClr val="FFFFFF"/>
                    </a:solidFill>
                  </a:tcPr>
                </a:tc>
                <a:tc>
                  <a:txBody>
                    <a:bodyPr/>
                    <a:lstStyle/>
                    <a:p>
                      <a:r>
                        <a:rPr sz="850" b="0">
                          <a:solidFill>
                            <a:srgbClr val="4B4B4B"/>
                          </a:solidFill>
                          <a:latin typeface="Arial"/>
                        </a:rPr>
                        <a:t>Account Officer</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BIBS users by name and role</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An existing user</a:t>
                      </a:r>
                    </a:p>
                  </a:txBody>
                  <a:tcPr marL="54864" marR="54864" marT="27432" marB="27432">
                    <a:solidFill>
                      <a:srgbClr val="FFFFFF"/>
                    </a:solidFill>
                  </a:tcPr>
                </a:tc>
                <a:tc>
                  <a:txBody>
                    <a:bodyPr/>
                    <a:lstStyle/>
                    <a:p>
                      <a:r>
                        <a:rPr sz="850" b="0">
                          <a:solidFill>
                            <a:srgbClr val="4B4B4B"/>
                          </a:solidFill>
                          <a:latin typeface="Arial"/>
                        </a:rPr>
                        <a:t>Unknown user &lt;user&gt;</a:t>
                      </a:r>
                    </a:p>
                  </a:txBody>
                  <a:tcPr marL="54864" marR="54864" marT="27432" marB="27432">
                    <a:solidFill>
                      <a:srgbClr val="FFFFFF"/>
                    </a:solidFill>
                  </a:tcPr>
                </a:tc>
              </a:tr>
              <a:tr h="350518">
                <a:tc>
                  <a:txBody>
                    <a:bodyPr/>
                    <a:lstStyle/>
                    <a:p>
                      <a:r>
                        <a:rPr sz="850" b="0">
                          <a:solidFill>
                            <a:srgbClr val="4B4B4B"/>
                          </a:solidFill>
                          <a:latin typeface="Arial"/>
                        </a:rPr>
                        <a:t>19</a:t>
                      </a:r>
                    </a:p>
                  </a:txBody>
                  <a:tcPr marL="54864" marR="54864" marT="27432" marB="27432">
                    <a:solidFill>
                      <a:srgbClr val="E5F5FF"/>
                    </a:solidFill>
                  </a:tcPr>
                </a:tc>
                <a:tc>
                  <a:txBody>
                    <a:bodyPr/>
                    <a:lstStyle/>
                    <a:p>
                      <a:r>
                        <a:rPr sz="850" b="0">
                          <a:solidFill>
                            <a:srgbClr val="4B4B4B"/>
                          </a:solidFill>
                          <a:latin typeface="Arial"/>
                        </a:rPr>
                        <a:t>Deactivate / Reactivate / Remove from Team</a:t>
                      </a:r>
                    </a:p>
                  </a:txBody>
                  <a:tcPr marL="54864" marR="54864" marT="27432" marB="27432">
                    <a:solidFill>
                      <a:srgbClr val="E5F5FF"/>
                    </a:solidFill>
                  </a:tcPr>
                </a:tc>
                <a:tc>
                  <a:txBody>
                    <a:bodyPr/>
                    <a:lstStyle/>
                    <a:p>
                      <a:r>
                        <a:rPr sz="850" b="0">
                          <a:solidFill>
                            <a:srgbClr val="4B4B4B"/>
                          </a:solidFill>
                          <a:latin typeface="Arial"/>
                        </a:rPr>
                        <a:t>Reason</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Why the unit or officer changes</a:t>
                      </a:r>
                    </a:p>
                  </a:txBody>
                  <a:tcPr marL="54864" marR="54864" marT="27432" marB="27432">
                    <a:solidFill>
                      <a:srgbClr val="E5F5FF"/>
                    </a:solidFill>
                  </a:tcPr>
                </a:tc>
                <a:tc>
                  <a:txBody>
                    <a:bodyPr/>
                    <a:lstStyle/>
                    <a:p>
                      <a:r>
                        <a:rPr sz="850" b="0">
                          <a:solidFill>
                            <a:srgbClr val="4B4B4B"/>
                          </a:solidFill>
                          <a:latin typeface="Arial"/>
                        </a:rPr>
                        <a:t>Y</a:t>
                      </a:r>
                    </a:p>
                  </a:txBody>
                  <a:tcPr marL="54864" marR="54864" marT="27432" marB="27432">
                    <a:solidFill>
                      <a:srgbClr val="E5F5FF"/>
                    </a:solidFill>
                  </a:tcPr>
                </a:tc>
                <a:tc>
                  <a:txBody>
                    <a:bodyPr/>
                    <a:lstStyle/>
                    <a:p>
                      <a:r>
                        <a:rPr sz="850" b="0">
                          <a:solidFill>
                            <a:srgbClr val="4B4B4B"/>
                          </a:solidFill>
                          <a:latin typeface="Arial"/>
                        </a:rPr>
                        <a:t>Not blank</a:t>
                      </a:r>
                    </a:p>
                  </a:txBody>
                  <a:tcPr marL="54864" marR="54864" marT="27432" marB="27432">
                    <a:solidFill>
                      <a:srgbClr val="E5F5FF"/>
                    </a:solidFill>
                  </a:tcPr>
                </a:tc>
                <a:tc>
                  <a:txBody>
                    <a:bodyPr/>
                    <a:lstStyle/>
                    <a:p>
                      <a:r>
                        <a:rPr sz="850" b="0">
                          <a:solidFill>
                            <a:srgbClr val="4B4B4B"/>
                          </a:solidFill>
                          <a:latin typeface="Arial"/>
                        </a:rPr>
                        <a:t>Enter the reason.</a:t>
                      </a:r>
                    </a:p>
                  </a:txBody>
                  <a:tcPr marL="54864" marR="54864" marT="27432" marB="27432">
                    <a:solidFill>
                      <a:srgbClr val="E5F5FF"/>
                    </a:solidFill>
                  </a:tcPr>
                </a:tc>
              </a:tr>
            </a:tbl>
          </a:graphicData>
        </a:graphic>
      </p:graphicFrame>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365</a:t>
            </a:r>
          </a:p>
        </p:txBody>
      </p:sp>
      <p:graphicFrame>
        <p:nvGraphicFramePr>
          <p:cNvPr id="9" name="Table 8"/>
          <p:cNvGraphicFramePr>
            <a:graphicFrameLocks noGrp="1"/>
          </p:cNvGraphicFramePr>
          <p:nvPr/>
        </p:nvGraphicFramePr>
        <p:xfrm>
          <a:off x="548640" y="1325880"/>
          <a:ext cx="11094412" cy="3428982"/>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New Unit</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Opens New unit;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Assign Officer</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Always</a:t>
                      </a:r>
                    </a:p>
                  </a:txBody>
                  <a:tcPr marL="54864" marR="54864" marT="27432" marB="27432">
                    <a:solidFill>
                      <a:srgbClr val="E5F5FF"/>
                    </a:solidFill>
                  </a:tcPr>
                </a:tc>
                <a:tc>
                  <a:txBody>
                    <a:bodyPr/>
                    <a:lstStyle/>
                    <a:p>
                      <a:r>
                        <a:rPr sz="850" b="0">
                          <a:solidFill>
                            <a:srgbClr val="4B4B4B"/>
                          </a:solidFill>
                          <a:latin typeface="Arial"/>
                        </a:rPr>
                        <a:t>Opens Assign Account Officer; Save for Authorization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View / Edit</a:t>
                      </a:r>
                    </a:p>
                  </a:txBody>
                  <a:tcPr marL="54864" marR="54864" marT="27432" marB="27432">
                    <a:solidFill>
                      <a:srgbClr val="FFFFFF"/>
                    </a:solidFill>
                  </a:tcPr>
                </a:tc>
                <a:tc>
                  <a:txBody>
                    <a:bodyPr/>
                    <a:lstStyle/>
                    <a:p>
                      <a:r>
                        <a:rPr sz="850" b="0">
                          <a:solidFill>
                            <a:srgbClr val="4B4B4B"/>
                          </a:solidFill>
                          <a:latin typeface="Arial"/>
                        </a:rPr>
                        <a:t>Every user of the screen; Edit with MASTER_MAINTAIN</a:t>
                      </a:r>
                    </a:p>
                  </a:txBody>
                  <a:tcPr marL="54864" marR="54864" marT="27432" marB="27432">
                    <a:solidFill>
                      <a:srgbClr val="FFFFFF"/>
                    </a:solidFill>
                  </a:tcPr>
                </a:tc>
                <a:tc>
                  <a:txBody>
                    <a:bodyPr/>
                    <a:lstStyle/>
                    <a:p>
                      <a:r>
                        <a:rPr sz="850" b="0">
                          <a:solidFill>
                            <a:srgbClr val="4B4B4B"/>
                          </a:solidFill>
                          <a:latin typeface="Arial"/>
                        </a:rPr>
                        <a:t>Unit row</a:t>
                      </a:r>
                    </a:p>
                  </a:txBody>
                  <a:tcPr marL="54864" marR="54864" marT="27432" marB="27432">
                    <a:solidFill>
                      <a:srgbClr val="FFFFFF"/>
                    </a:solidFill>
                  </a:tcPr>
                </a:tc>
                <a:tc>
                  <a:txBody>
                    <a:bodyPr/>
                    <a:lstStyle/>
                    <a:p>
                      <a:r>
                        <a:rPr sz="850" b="0">
                          <a:solidFill>
                            <a:srgbClr val="4B4B4B"/>
                          </a:solidFill>
                          <a:latin typeface="Arial"/>
                        </a:rPr>
                        <a:t>Opens the unit details; Edit changes name, parent and cost centre, Save for Authorization</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Add Department / Add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region / department</a:t>
                      </a:r>
                    </a:p>
                  </a:txBody>
                  <a:tcPr marL="54864" marR="54864" marT="27432" marB="27432">
                    <a:solidFill>
                      <a:srgbClr val="E5F5FF"/>
                    </a:solidFill>
                  </a:tcPr>
                </a:tc>
                <a:tc>
                  <a:txBody>
                    <a:bodyPr/>
                    <a:lstStyle/>
                    <a:p>
                      <a:r>
                        <a:rPr sz="850" b="0">
                          <a:solidFill>
                            <a:srgbClr val="4B4B4B"/>
                          </a:solidFill>
                          <a:latin typeface="Arial"/>
                        </a:rPr>
                        <a:t>Opens New unit at the level below, the parent filled</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Assign Officer (row)</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team</a:t>
                      </a:r>
                    </a:p>
                  </a:txBody>
                  <a:tcPr marL="54864" marR="54864" marT="27432" marB="27432">
                    <a:solidFill>
                      <a:srgbClr val="FFFFFF"/>
                    </a:solidFill>
                  </a:tcPr>
                </a:tc>
                <a:tc>
                  <a:txBody>
                    <a:bodyPr/>
                    <a:lstStyle/>
                    <a:p>
                      <a:r>
                        <a:rPr sz="850" b="0">
                          <a:solidFill>
                            <a:srgbClr val="4B4B4B"/>
                          </a:solidFill>
                          <a:latin typeface="Arial"/>
                        </a:rPr>
                        <a:t>Opens Assign Account Officer with the team filled</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Authorize</a:t>
                      </a:r>
                    </a:p>
                  </a:txBody>
                  <a:tcPr marL="54864" marR="54864" marT="27432" marB="27432">
                    <a:solidFill>
                      <a:srgbClr val="E5F5FF"/>
                    </a:solidFill>
                  </a:tcPr>
                </a:tc>
                <a:tc>
                  <a:txBody>
                    <a:bodyPr/>
                    <a:lstStyle/>
                    <a:p>
                      <a:r>
                        <a:rPr sz="850" b="0">
                          <a:solidFill>
                            <a:srgbClr val="4B4B4B"/>
                          </a:solidFill>
                          <a:latin typeface="Arial"/>
                        </a:rPr>
                        <a:t>MASTER_AUTHORIZE, not the maker</a:t>
                      </a:r>
                    </a:p>
                  </a:txBody>
                  <a:tcPr marL="54864" marR="54864" marT="27432" marB="27432">
                    <a:solidFill>
                      <a:srgbClr val="E5F5FF"/>
                    </a:solidFill>
                  </a:tcPr>
                </a:tc>
                <a:tc>
                  <a:txBody>
                    <a:bodyPr/>
                    <a:lstStyle/>
                    <a:p>
                      <a:r>
                        <a:rPr sz="850" b="0">
                          <a:solidFill>
                            <a:srgbClr val="4B4B4B"/>
                          </a:solidFill>
                          <a:latin typeface="Arial"/>
                        </a:rPr>
                        <a:t>Pending unit or officer</a:t>
                      </a:r>
                    </a:p>
                  </a:txBody>
                  <a:tcPr marL="54864" marR="54864" marT="27432" marB="27432">
                    <a:solidFill>
                      <a:srgbClr val="E5F5FF"/>
                    </a:solidFill>
                  </a:tcPr>
                </a:tc>
                <a:tc>
                  <a:txBody>
                    <a:bodyPr/>
                    <a:lstStyle/>
                    <a:p>
                      <a:r>
                        <a:rPr sz="850" b="0">
                          <a:solidFill>
                            <a:srgbClr val="4B4B4B"/>
                          </a:solidFill>
                          <a:latin typeface="Arial"/>
                        </a:rPr>
                        <a:t>Authorises the record</a:t>
                      </a:r>
                    </a:p>
                  </a:txBody>
                  <a:tcPr marL="54864" marR="54864" marT="27432" marB="27432">
                    <a:solidFill>
                      <a:srgbClr val="E5F5FF"/>
                    </a:solidFill>
                  </a:tcPr>
                </a:tc>
                <a:tc>
                  <a:txBody>
                    <a:bodyPr/>
                    <a:lstStyle/>
                    <a:p>
                      <a:r>
                        <a:rPr sz="850" b="0">
                          <a:solidFill>
                            <a:srgbClr val="4B4B4B"/>
                          </a:solidFill>
                          <a:latin typeface="Arial"/>
                        </a:rPr>
                        <a:t>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Deactivate</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Active or pending unit without active sub-units or officers</a:t>
                      </a:r>
                    </a:p>
                  </a:txBody>
                  <a:tcPr marL="54864" marR="54864" marT="27432" marB="27432">
                    <a:solidFill>
                      <a:srgbClr val="FFFFFF"/>
                    </a:solidFill>
                  </a:tcPr>
                </a:tc>
                <a:tc>
                  <a:txBody>
                    <a:bodyPr/>
                    <a:lstStyle/>
                    <a:p>
                      <a:r>
                        <a:rPr sz="850" b="0">
                          <a:solidFill>
                            <a:srgbClr val="4B4B4B"/>
                          </a:solidFill>
                          <a:latin typeface="Arial"/>
                        </a:rPr>
                        <a:t>Asks the reason and deactivates the unit; refused with a notice while sub-units or officers remain</a:t>
                      </a:r>
                    </a:p>
                  </a:txBody>
                  <a:tcPr marL="54864" marR="54864" marT="27432" marB="27432">
                    <a:solidFill>
                      <a:srgbClr val="FFFFFF"/>
                    </a:solidFill>
                  </a:tcPr>
                </a:tc>
                <a:tc>
                  <a:txBody>
                    <a:bodyPr/>
                    <a:lstStyle/>
                    <a:p>
                      <a:r>
                        <a:rPr sz="850" b="0">
                          <a:solidFill>
                            <a:srgbClr val="4B4B4B"/>
                          </a:solidFill>
                          <a:latin typeface="Arial"/>
                        </a:rPr>
                        <a:t>Inactive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Reactivate</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Inactive unit whose parent is not inactive</a:t>
                      </a:r>
                    </a:p>
                  </a:txBody>
                  <a:tcPr marL="54864" marR="54864" marT="27432" marB="27432">
                    <a:solidFill>
                      <a:srgbClr val="E5F5FF"/>
                    </a:solidFill>
                  </a:tcPr>
                </a:tc>
                <a:tc>
                  <a:txBody>
                    <a:bodyPr/>
                    <a:lstStyle/>
                    <a:p>
                      <a:r>
                        <a:rPr sz="850" b="0">
                          <a:solidFill>
                            <a:srgbClr val="4B4B4B"/>
                          </a:solidFill>
                          <a:latin typeface="Arial"/>
                        </a:rPr>
                        <a:t>Asks the reason; the unit waits for authorisation again</a:t>
                      </a:r>
                    </a:p>
                  </a:txBody>
                  <a:tcPr marL="54864" marR="54864" marT="27432" marB="27432">
                    <a:solidFill>
                      <a:srgbClr val="E5F5FF"/>
                    </a:solidFill>
                  </a:tcPr>
                </a:tc>
                <a:tc>
                  <a:txBody>
                    <a:bodyPr/>
                    <a:lstStyle/>
                    <a:p>
                      <a:r>
                        <a:rPr sz="850" b="0">
                          <a:solidFill>
                            <a:srgbClr val="4B4B4B"/>
                          </a:solidFill>
                          <a:latin typeface="Arial"/>
                        </a:rPr>
                        <a:t>Pending Authorization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Reassign / Assign to a Team</a:t>
                      </a:r>
                    </a:p>
                  </a:txBody>
                  <a:tcPr marL="54864" marR="54864" marT="27432" marB="27432">
                    <a:solidFill>
                      <a:srgbClr val="FFFFFF"/>
                    </a:solidFill>
                  </a:tcPr>
                </a:tc>
                <a:tc>
                  <a:txBody>
                    <a:bodyPr/>
                    <a:lstStyle/>
                    <a:p>
                      <a:r>
                        <a:rPr sz="850" b="0">
                          <a:solidFill>
                            <a:srgbClr val="4B4B4B"/>
                          </a:solidFill>
                          <a:latin typeface="Arial"/>
                        </a:rPr>
                        <a:t>MASTER_MAINTAIN</a:t>
                      </a:r>
                    </a:p>
                  </a:txBody>
                  <a:tcPr marL="54864" marR="54864" marT="27432" marB="27432">
                    <a:solidFill>
                      <a:srgbClr val="FFFFFF"/>
                    </a:solidFill>
                  </a:tcPr>
                </a:tc>
                <a:tc>
                  <a:txBody>
                    <a:bodyPr/>
                    <a:lstStyle/>
                    <a:p>
                      <a:r>
                        <a:rPr sz="850" b="0">
                          <a:solidFill>
                            <a:srgbClr val="4B4B4B"/>
                          </a:solidFill>
                          <a:latin typeface="Arial"/>
                        </a:rPr>
                        <a:t>Officer row</a:t>
                      </a:r>
                    </a:p>
                  </a:txBody>
                  <a:tcPr marL="54864" marR="54864" marT="27432" marB="27432">
                    <a:solidFill>
                      <a:srgbClr val="FFFFFF"/>
                    </a:solidFill>
                  </a:tcPr>
                </a:tc>
                <a:tc>
                  <a:txBody>
                    <a:bodyPr/>
                    <a:lstStyle/>
                    <a:p>
                      <a:r>
                        <a:rPr sz="850" b="0">
                          <a:solidFill>
                            <a:srgbClr val="4B4B4B"/>
                          </a:solidFill>
                          <a:latin typeface="Arial"/>
                        </a:rPr>
                        <a:t>Moves the officer to another team (or places a removed officer again) from today</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Remove from Team</a:t>
                      </a:r>
                    </a:p>
                  </a:txBody>
                  <a:tcPr marL="54864" marR="54864" marT="27432" marB="27432">
                    <a:solidFill>
                      <a:srgbClr val="E5F5FF"/>
                    </a:solidFill>
                  </a:tcPr>
                </a:tc>
                <a:tc>
                  <a:txBody>
                    <a:bodyPr/>
                    <a:lstStyle/>
                    <a:p>
                      <a:r>
                        <a:rPr sz="850" b="0">
                          <a:solidFill>
                            <a:srgbClr val="4B4B4B"/>
                          </a:solidFill>
                          <a:latin typeface="Arial"/>
                        </a:rPr>
                        <a:t>MASTER_MAINTAIN</a:t>
                      </a:r>
                    </a:p>
                  </a:txBody>
                  <a:tcPr marL="54864" marR="54864" marT="27432" marB="27432">
                    <a:solidFill>
                      <a:srgbClr val="E5F5FF"/>
                    </a:solidFill>
                  </a:tcPr>
                </a:tc>
                <a:tc>
                  <a:txBody>
                    <a:bodyPr/>
                    <a:lstStyle/>
                    <a:p>
                      <a:r>
                        <a:rPr sz="850" b="0">
                          <a:solidFill>
                            <a:srgbClr val="4B4B4B"/>
                          </a:solidFill>
                          <a:latin typeface="Arial"/>
                        </a:rPr>
                        <a:t>Active or pending officer</a:t>
                      </a:r>
                    </a:p>
                  </a:txBody>
                  <a:tcPr marL="54864" marR="54864" marT="27432" marB="27432">
                    <a:solidFill>
                      <a:srgbClr val="E5F5FF"/>
                    </a:solidFill>
                  </a:tcPr>
                </a:tc>
                <a:tc>
                  <a:txBody>
                    <a:bodyPr/>
                    <a:lstStyle/>
                    <a:p>
                      <a:r>
                        <a:rPr sz="850" b="0">
                          <a:solidFill>
                            <a:srgbClr val="4B4B4B"/>
                          </a:solidFill>
                          <a:latin typeface="Arial"/>
                        </a:rPr>
                        <a:t>Asks the reason and ends the officer's assignment</a:t>
                      </a:r>
                    </a:p>
                  </a:txBody>
                  <a:tcPr marL="54864" marR="54864" marT="27432" marB="27432">
                    <a:solidFill>
                      <a:srgbClr val="E5F5FF"/>
                    </a:solidFill>
                  </a:tcPr>
                </a:tc>
                <a:tc>
                  <a:txBody>
                    <a:bodyPr/>
                    <a:lstStyle/>
                    <a:p>
                      <a:r>
                        <a:rPr sz="850" b="0">
                          <a:solidFill>
                            <a:srgbClr val="4B4B4B"/>
                          </a:solidFill>
                          <a:latin typeface="Arial"/>
                        </a:rPr>
                        <a:t>Inactive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Export to Excel</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366</a:t>
            </a:r>
          </a:p>
        </p:txBody>
      </p:sp>
      <p:graphicFrame>
        <p:nvGraphicFramePr>
          <p:cNvPr id="9" name="Table 8"/>
          <p:cNvGraphicFramePr>
            <a:graphicFrameLocks noGrp="1"/>
          </p:cNvGraphicFramePr>
          <p:nvPr/>
        </p:nvGraphicFramePr>
        <p:xfrm>
          <a:off x="548640" y="1325880"/>
          <a:ext cx="11094415" cy="15240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396240">
                <a:tc>
                  <a:txBody>
                    <a:bodyPr/>
                    <a:lstStyle/>
                    <a:p>
                      <a:r>
                        <a:rPr sz="1000" b="0">
                          <a:solidFill>
                            <a:srgbClr val="4B4B4B"/>
                          </a:solidFill>
                          <a:latin typeface="Arial"/>
                        </a:rPr>
                        <a:t>The sales organisation is a New Business master (BRD-1, sales hierarchy and production reporting) kept in the Product Maintenance section of the menu; it is loaded at go-live by the data migration.</a:t>
                      </a:r>
                    </a:p>
                  </a:txBody>
                  <a:tcPr marL="54864" marR="54864" marT="27432" marB="27432">
                    <a:solidFill>
                      <a:srgbClr val="FFFFFF"/>
                    </a:solidFill>
                  </a:tcPr>
                </a:tc>
              </a:tr>
              <a:tr h="396240">
                <a:tc>
                  <a:txBody>
                    <a:bodyPr/>
                    <a:lstStyle/>
                    <a:p>
                      <a:r>
                        <a:rPr sz="1000" b="0">
                          <a:solidFill>
                            <a:srgbClr val="4B4B4B"/>
                          </a:solidFill>
                          <a:latin typeface="Arial"/>
                        </a:rPr>
                        <a:t>A unit is deactivated only when none of its sub-units and account officers is still active or pending; a unit is reactivated only under an active or pending parent, and waits for authorisation again.</a:t>
                      </a:r>
                    </a:p>
                  </a:txBody>
                  <a:tcPr marL="54864" marR="54864" marT="27432" marB="27432">
                    <a:solidFill>
                      <a:srgbClr val="E5F5FF"/>
                    </a:solidFill>
                  </a:tcPr>
                </a:tc>
              </a:tr>
              <a:tr h="243840">
                <a:tc>
                  <a:txBody>
                    <a:bodyPr/>
                    <a:lstStyle/>
                    <a:p>
                      <a:r>
                        <a:rPr sz="1000" b="0">
                          <a:solidFill>
                            <a:srgbClr val="4B4B4B"/>
                          </a:solidFill>
                          <a:latin typeface="Arial"/>
                        </a:rPr>
                        <a:t>Deactivation, reactivation and removal from a team need a reason, kept on the record and in the audit trail with the user and time.</a:t>
                      </a:r>
                    </a:p>
                  </a:txBody>
                  <a:tcPr marL="54864" marR="54864" marT="27432" marB="27432">
                    <a:solidFill>
                      <a:srgbClr val="FFFFFF"/>
                    </a:solidFill>
                  </a:tcPr>
                </a:tc>
              </a:tr>
              <a:tr h="243840">
                <a:tc>
                  <a:txBody>
                    <a:bodyPr/>
                    <a:lstStyle/>
                    <a:p>
                      <a:r>
                        <a:rPr sz="1000" b="0">
                          <a:solidFill>
                            <a:srgbClr val="4B4B4B"/>
                          </a:solidFill>
                          <a:latin typeface="Arial"/>
                        </a:rPr>
                        <a:t>A team without its own cost centre uses the cost centre of the nearest parent that has one.</a:t>
                      </a:r>
                    </a:p>
                  </a:txBody>
                  <a:tcPr marL="54864" marR="54864" marT="27432" marB="27432">
                    <a:solidFill>
                      <a:srgbClr val="E5F5FF"/>
                    </a:solidFill>
                  </a:tcPr>
                </a:tc>
              </a:tr>
            </a:tbl>
          </a:graphicData>
        </a:graphic>
      </p:graphicFrame>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367</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13.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1 of 2)</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368</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14.png"/>
          <p:cNvPicPr>
            <a:picLocks noChangeAspect="1"/>
          </p:cNvPicPr>
          <p:nvPr/>
        </p:nvPicPr>
        <p:blipFill>
          <a:blip r:embed="rId3"/>
          <a:stretch>
            <a:fillRect/>
          </a:stretch>
        </p:blipFill>
        <p:spPr>
          <a:xfrm>
            <a:off x="548640" y="1261872"/>
            <a:ext cx="11094415" cy="423691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Sales Organisation tree table, every branch expanded (part 2 of 2)</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369</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15.png"/>
          <p:cNvPicPr>
            <a:picLocks noChangeAspect="1"/>
          </p:cNvPicPr>
          <p:nvPr/>
        </p:nvPicPr>
        <p:blipFill>
          <a:blip r:embed="rId3"/>
          <a:stretch>
            <a:fillRect/>
          </a:stretch>
        </p:blipFill>
        <p:spPr>
          <a:xfrm>
            <a:off x="548640" y="1261872"/>
            <a:ext cx="11094415" cy="4351688"/>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1 of 2)</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Default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370</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CHG-PM-2.0-01</a:t>
            </a:r>
          </a:p>
        </p:txBody>
      </p:sp>
      <p:sp>
        <p:nvSpPr>
          <p:cNvPr id="10" name="Rounded Rectangle 9"/>
          <p:cNvSpPr/>
          <p:nvPr/>
        </p:nvSpPr>
        <p:spPr>
          <a:xfrm>
            <a:off x="7199071"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Default</a:t>
            </a:r>
          </a:p>
        </p:txBody>
      </p:sp>
      <p:pic>
        <p:nvPicPr>
          <p:cNvPr id="11" name="Picture 10" descr="slice-00216.png"/>
          <p:cNvPicPr>
            <a:picLocks noChangeAspect="1"/>
          </p:cNvPicPr>
          <p:nvPr/>
        </p:nvPicPr>
        <p:blipFill>
          <a:blip r:embed="rId3"/>
          <a:stretch>
            <a:fillRect/>
          </a:stretch>
        </p:blipFill>
        <p:spPr>
          <a:xfrm>
            <a:off x="548640" y="1261872"/>
            <a:ext cx="11094415" cy="4619484"/>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Actions menu of a team (part 2 of 2)</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SCR-PM-20 Sales Organisation: Validation error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371</a:t>
            </a:r>
          </a:p>
        </p:txBody>
      </p:sp>
      <p:sp>
        <p:nvSpPr>
          <p:cNvPr id="9" name="Rounded Rectangle 8"/>
          <p:cNvSpPr/>
          <p:nvPr/>
        </p:nvSpPr>
        <p:spPr>
          <a:xfrm>
            <a:off x="8479231" y="896112"/>
            <a:ext cx="3163824"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Changed in this issue: CHG-PM-2.0-01</a:t>
            </a:r>
          </a:p>
        </p:txBody>
      </p:sp>
      <p:sp>
        <p:nvSpPr>
          <p:cNvPr id="10" name="Rounded Rectangle 9"/>
          <p:cNvSpPr/>
          <p:nvPr/>
        </p:nvSpPr>
        <p:spPr>
          <a:xfrm>
            <a:off x="6632143" y="896112"/>
            <a:ext cx="1755648" cy="274320"/>
          </a:xfrm>
          <a:prstGeom prst="roundRect">
            <a:avLst/>
          </a:prstGeom>
          <a:solidFill>
            <a:srgbClr val="FDECEA"/>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C62828"/>
                </a:solidFill>
                <a:latin typeface="Arial"/>
              </a:rPr>
              <a:t>Validation error</a:t>
            </a:r>
          </a:p>
        </p:txBody>
      </p:sp>
      <p:pic>
        <p:nvPicPr>
          <p:cNvPr id="11" name="Picture 10" descr="scr-pm-20-03-deactivate.png"/>
          <p:cNvPicPr>
            <a:picLocks noChangeAspect="1"/>
          </p:cNvPicPr>
          <p:nvPr/>
        </p:nvPicPr>
        <p:blipFill>
          <a:blip r:embed="rId3"/>
          <a:stretch>
            <a:fillRect/>
          </a:stretch>
        </p:blipFill>
        <p:spPr>
          <a:xfrm>
            <a:off x="548640" y="1261872"/>
            <a:ext cx="11094415" cy="3619787"/>
          </a:xfrm>
          <a:prstGeom prst="rect">
            <a:avLst/>
          </a:prstGeom>
          <a:ln w="9525">
            <a:solidFill>
              <a:srgbClr val="C2C2C1"/>
            </a:solidFill>
          </a:ln>
        </p:spPr>
      </p:pic>
      <p:sp>
        <p:nvSpPr>
          <p:cNvPr id="12" name="TextBox 11"/>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Deactivation refused while the team still has active account officers</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372</a:t>
            </a:r>
          </a:p>
        </p:txBody>
      </p:sp>
      <p:graphicFrame>
        <p:nvGraphicFramePr>
          <p:cNvPr id="9" name="Table 8"/>
          <p:cNvGraphicFramePr>
            <a:graphicFrameLocks noGrp="1"/>
          </p:cNvGraphicFramePr>
          <p:nvPr/>
        </p:nvGraphicFramePr>
        <p:xfrm>
          <a:off x="548640" y="1307592"/>
          <a:ext cx="6434760" cy="237744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67056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Rates a product with the charges in force, for an insurer and branch, annual, pro-rata or short period, for a new account or an endorsement over the remaining term, and shows every charge and the commission. For a package it shows the version that priced it; an earlier released version can be chosen for information.</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38100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Product Maintenance › Premium Calculator</a:t>
                      </a:r>
                    </a:p>
                    <a:p>
                      <a:r>
                        <a:rPr sz="950" b="0">
                          <a:solidFill>
                            <a:srgbClr val="4B4B4B"/>
                          </a:solidFill>
                          <a:latin typeface="Arial"/>
                        </a:rPr>
                        <a:t>Sidebar entry Premium Calculator</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13.3.5</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 FR-PM-052</a:t>
                      </a:r>
                    </a:p>
                  </a:txBody>
                  <a:tcPr marL="54864" marR="54864" marT="27432" marB="27432">
                    <a:solidFill>
                      <a:srgbClr val="FFFFFF"/>
                    </a:solidFill>
                  </a:tcPr>
                </a:tc>
              </a:tr>
              <a:tr h="23622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Anyone can check what a package costs today, and on which version, before quoting it.</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(2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1 image</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373</a:t>
            </a:r>
          </a:p>
        </p:txBody>
      </p:sp>
      <p:graphicFrame>
        <p:nvGraphicFramePr>
          <p:cNvPr id="9" name="Table 8"/>
          <p:cNvGraphicFramePr>
            <a:graphicFrameLocks noGrp="1"/>
          </p:cNvGraphicFramePr>
          <p:nvPr/>
        </p:nvGraphicFramePr>
        <p:xfrm>
          <a:off x="548640" y="1325880"/>
          <a:ext cx="11094411" cy="494535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220979">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Product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Code – name of the active products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Choose a product.</a:t>
                      </a:r>
                    </a:p>
                  </a:txBody>
                  <a:tcPr marL="54864" marR="54864" marT="27432" marB="27432">
                    <a:solidFill>
                      <a:srgbClr val="FFFFFF"/>
                    </a:solidFill>
                  </a:tcPr>
                </a:tc>
              </a:tr>
              <a:tr h="480057">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Insurer</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Insurers of the panel</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package with a panel accepts only its panel insurers</a:t>
                      </a:r>
                    </a:p>
                  </a:txBody>
                  <a:tcPr marL="54864" marR="54864" marT="27432" marB="27432">
                    <a:solidFill>
                      <a:srgbClr val="E5F5FF"/>
                    </a:solidFill>
                  </a:tcPr>
                </a:tc>
                <a:tc>
                  <a:txBody>
                    <a:bodyPr/>
                    <a:lstStyle/>
                    <a:p>
                      <a:r>
                        <a:rPr sz="850" b="0">
                          <a:solidFill>
                            <a:srgbClr val="4B4B4B"/>
                          </a:solidFill>
                          <a:latin typeface="Arial"/>
                        </a:rPr>
                        <a:t>Insurer &lt;insurer code&gt; is not on the panel of &lt;product code&gt; version &lt;version no&gt;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Insurer branch (LGT)</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Branch name (LGT %)</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An authorised branch of the insurer</a:t>
                      </a:r>
                    </a:p>
                  </a:txBody>
                  <a:tcPr marL="54864" marR="54864" marT="27432" marB="27432">
                    <a:solidFill>
                      <a:srgbClr val="FFFFFF"/>
                    </a:solidFill>
                  </a:tcPr>
                </a:tc>
                <a:tc>
                  <a:txBody>
                    <a:bodyPr/>
                    <a:lstStyle/>
                    <a:p>
                      <a:r>
                        <a:rPr sz="850" b="0">
                          <a:solidFill>
                            <a:srgbClr val="4B4B4B"/>
                          </a:solidFill>
                          <a:latin typeface="Arial"/>
                        </a:rPr>
                        <a:t>Branch &lt;branch code&gt; is not authorized or inactive</a:t>
                      </a:r>
                    </a:p>
                  </a:txBody>
                  <a:tcPr marL="54864" marR="54864" marT="27432" marB="27432">
                    <a:solidFill>
                      <a:srgbClr val="FFFFFF"/>
                    </a:solidFill>
                  </a:tcPr>
                </a:tc>
              </a:tr>
              <a:tr h="480057">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Period basis</a:t>
                      </a:r>
                    </a:p>
                  </a:txBody>
                  <a:tcPr marL="54864" marR="54864" marT="27432" marB="27432">
                    <a:solidFill>
                      <a:srgbClr val="E5F5FF"/>
                    </a:solidFill>
                  </a:tcPr>
                </a:tc>
                <a:tc>
                  <a:txBody>
                    <a:bodyPr/>
                    <a:lstStyle/>
                    <a:p>
                      <a:r>
                        <a:rPr sz="850" b="0">
                          <a:solidFill>
                            <a:srgbClr val="4B4B4B"/>
                          </a:solidFill>
                          <a:latin typeface="Arial"/>
                        </a:rPr>
                        <a:t>Drop-down</a:t>
                      </a:r>
                    </a:p>
                  </a:txBody>
                  <a:tcPr marL="54864" marR="54864" marT="27432" marB="27432">
                    <a:solidFill>
                      <a:srgbClr val="E5F5FF"/>
                    </a:solidFill>
                  </a:tcPr>
                </a:tc>
                <a:tc>
                  <a:txBody>
                    <a:bodyPr/>
                    <a:lstStyle/>
                    <a:p>
                      <a:r>
                        <a:rPr sz="850" b="0">
                          <a:solidFill>
                            <a:srgbClr val="4B4B4B"/>
                          </a:solidFill>
                          <a:latin typeface="Arial"/>
                        </a:rPr>
                        <a:t>Annual, Pro-rata (days), Short period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Pro-rata and short period need the period</a:t>
                      </a:r>
                    </a:p>
                  </a:txBody>
                  <a:tcPr marL="54864" marR="54864" marT="27432" marB="27432">
                    <a:solidFill>
                      <a:srgbClr val="E5F5FF"/>
                    </a:solidFill>
                  </a:tcPr>
                </a:tc>
                <a:tc>
                  <a:txBody>
                    <a:bodyPr/>
                    <a:lstStyle/>
                    <a:p>
                      <a:r>
                        <a:rPr sz="850" b="0">
                          <a:solidFill>
                            <a:srgbClr val="4B4B4B"/>
                          </a:solidFill>
                          <a:latin typeface="Arial"/>
                        </a:rPr>
                        <a:t>Pro-rata and short-period rating need the period (for endorsements: the remaining term).</a:t>
                      </a:r>
                    </a:p>
                  </a:txBody>
                  <a:tcPr marL="54864" marR="54864" marT="27432" marB="27432">
                    <a:solidFill>
                      <a:srgbClr val="E5F5FF"/>
                    </a:solidFill>
                  </a:tcPr>
                </a:tc>
              </a:tr>
              <a:tr h="609596">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From / To</a:t>
                      </a:r>
                    </a:p>
                  </a:txBody>
                  <a:tcPr marL="54864" marR="54864" marT="27432" marB="27432">
                    <a:solidFill>
                      <a:srgbClr val="FFFFFF"/>
                    </a:solidFill>
                  </a:tcPr>
                </a:tc>
                <a:tc>
                  <a:txBody>
                    <a:bodyPr/>
                    <a:lstStyle/>
                    <a:p>
                      <a:r>
                        <a:rPr sz="850" b="0">
                          <a:solidFill>
                            <a:srgbClr val="4B4B4B"/>
                          </a:solidFill>
                          <a:latin typeface="Arial"/>
                        </a:rPr>
                        <a:t>Date</a:t>
                      </a:r>
                    </a:p>
                  </a:txBody>
                  <a:tcPr marL="54864" marR="54864" marT="27432" marB="27432">
                    <a:solidFill>
                      <a:srgbClr val="FFFFFF"/>
                    </a:solidFill>
                  </a:tcPr>
                </a:tc>
                <a:tc>
                  <a:txBody>
                    <a:bodyPr/>
                    <a:lstStyle/>
                    <a:p>
                      <a:r>
                        <a:rPr sz="850" b="0">
                          <a:solidFill>
                            <a:srgbClr val="4B4B4B"/>
                          </a:solidFill>
                          <a:latin typeface="Arial"/>
                        </a:rPr>
                        <a:t>dd-MMM-yyyy</a:t>
                      </a:r>
                    </a:p>
                  </a:txBody>
                  <a:tcPr marL="54864" marR="54864" marT="27432" marB="27432">
                    <a:solidFill>
                      <a:srgbClr val="FFFFFF"/>
                    </a:solidFill>
                  </a:tcPr>
                </a:tc>
                <a:tc>
                  <a:txBody>
                    <a:bodyPr/>
                    <a:lstStyle/>
                    <a:p>
                      <a:r>
                        <a:rPr sz="850" b="0">
                          <a:solidFill>
                            <a:srgbClr val="4B4B4B"/>
                          </a:solidFill>
                          <a:latin typeface="Arial"/>
                        </a:rPr>
                        <a:t>Cond.: pro-rata or short period</a:t>
                      </a:r>
                    </a:p>
                  </a:txBody>
                  <a:tcPr marL="54864" marR="54864" marT="27432" marB="27432">
                    <a:solidFill>
                      <a:srgbClr val="FFFFFF"/>
                    </a:solidFill>
                  </a:tcPr>
                </a:tc>
                <a:tc>
                  <a:txBody>
                    <a:bodyPr/>
                    <a:lstStyle/>
                    <a:p>
                      <a:r>
                        <a:rPr sz="850" b="0">
                          <a:solidFill>
                            <a:srgbClr val="4B4B4B"/>
                          </a:solidFill>
                          <a:latin typeface="Arial"/>
                        </a:rPr>
                        <a:t>To after From</a:t>
                      </a:r>
                    </a:p>
                  </a:txBody>
                  <a:tcPr marL="54864" marR="54864" marT="27432" marB="27432">
                    <a:solidFill>
                      <a:srgbClr val="FFFFFF"/>
                    </a:solidFill>
                  </a:tcPr>
                </a:tc>
                <a:tc>
                  <a:txBody>
                    <a:bodyPr/>
                    <a:lstStyle/>
                    <a:p>
                      <a:r>
                        <a:rPr sz="850" b="0">
                          <a:solidFill>
                            <a:srgbClr val="4B4B4B"/>
                          </a:solidFill>
                          <a:latin typeface="Arial"/>
                        </a:rPr>
                        <a:t>The period end must be after the period start</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Commission % override</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Percentage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Drop-down</a:t>
                      </a:r>
                    </a:p>
                  </a:txBody>
                  <a:tcPr marL="54864" marR="54864" marT="27432" marB="27432">
                    <a:solidFill>
                      <a:srgbClr val="FFFFFF"/>
                    </a:solidFill>
                  </a:tcPr>
                </a:tc>
                <a:tc>
                  <a:txBody>
                    <a:bodyPr/>
                    <a:lstStyle/>
                    <a:p>
                      <a:r>
                        <a:rPr sz="850" b="0">
                          <a:solidFill>
                            <a:srgbClr val="4B4B4B"/>
                          </a:solidFill>
                          <a:latin typeface="Arial"/>
                        </a:rPr>
                        <a:t>Version in force, or an earlier released version</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Shown when the package has two or more sold versions</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Cover</a:t>
                      </a:r>
                    </a:p>
                  </a:txBody>
                  <a:tcPr marL="54864" marR="54864" marT="27432" marB="27432">
                    <a:solidFill>
                      <a:srgbClr val="E5F5FF"/>
                    </a:solidFill>
                  </a:tcPr>
                </a:tc>
                <a:tc>
                  <a:txBody>
                    <a:bodyPr/>
                    <a:lstStyle/>
                    <a:p>
                      <a:r>
                        <a:rPr sz="850" b="0">
                          <a:solidFill>
                            <a:srgbClr val="4B4B4B"/>
                          </a:solidFill>
                          <a:latin typeface="Arial"/>
                        </a:rPr>
                        <a:t>Endorsement (remaining term, may return premium)</a:t>
                      </a:r>
                    </a:p>
                  </a:txBody>
                  <a:tcPr marL="54864" marR="54864" marT="27432" marB="27432">
                    <a:solidFill>
                      <a:srgbClr val="E5F5FF"/>
                    </a:solidFill>
                  </a:tcPr>
                </a:tc>
                <a:tc>
                  <a:txBody>
                    <a:bodyPr/>
                    <a:lstStyle/>
                    <a:p>
                      <a:r>
                        <a:rPr sz="850" b="0">
                          <a:solidFill>
                            <a:srgbClr val="4B4B4B"/>
                          </a:solidFill>
                          <a:latin typeface="Arial"/>
                        </a:rPr>
                        <a:t>Check box</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c>
                  <a:txBody>
                    <a:bodyPr/>
                    <a:lstStyle/>
                    <a:p>
                      <a:r>
                        <a:rPr sz="850" b="0">
                          <a:solidFill>
                            <a:srgbClr val="4B4B4B"/>
                          </a:solidFill>
                          <a:latin typeface="Arial"/>
                        </a:rPr>
                        <a:t>Only an endorsement may reduce the sum insured.</a:t>
                      </a:r>
                    </a:p>
                  </a:txBody>
                  <a:tcPr marL="54864" marR="54864" marT="27432" marB="27432">
                    <a:solidFill>
                      <a:srgbClr val="E5F5FF"/>
                    </a:solidFill>
                  </a:tcPr>
                </a:tc>
              </a:tr>
              <a:tr h="220979">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Cover</a:t>
                      </a:r>
                    </a:p>
                  </a:txBody>
                  <a:tcPr marL="54864" marR="54864" marT="27432" marB="27432">
                    <a:solidFill>
                      <a:srgbClr val="FFFFFF"/>
                    </a:solidFill>
                  </a:tcPr>
                </a:tc>
                <a:tc>
                  <a:txBody>
                    <a:bodyPr/>
                    <a:lstStyle/>
                    <a:p>
                      <a:r>
                        <a:rPr sz="850" b="0">
                          <a:solidFill>
                            <a:srgbClr val="4B4B4B"/>
                          </a:solidFill>
                          <a:latin typeface="Arial"/>
                        </a:rPr>
                        <a:t>Multi-year own damage factor</a:t>
                      </a:r>
                    </a:p>
                  </a:txBody>
                  <a:tcPr marL="54864" marR="54864" marT="27432" marB="27432">
                    <a:solidFill>
                      <a:srgbClr val="FFFFFF"/>
                    </a:solidFill>
                  </a:tcPr>
                </a:tc>
                <a:tc>
                  <a:txBody>
                    <a:bodyPr/>
                    <a:lstStyle/>
                    <a:p>
                      <a:r>
                        <a:rPr sz="850" b="0">
                          <a:solidFill>
                            <a:srgbClr val="4B4B4B"/>
                          </a:solidFill>
                          <a:latin typeface="Arial"/>
                        </a:rPr>
                        <a:t>Check box</a:t>
                      </a:r>
                    </a:p>
                  </a:txBody>
                  <a:tcPr marL="54864" marR="54864" marT="27432" marB="27432">
                    <a:solidFill>
                      <a:srgbClr val="FFFFFF"/>
                    </a:solidFill>
                  </a:tcPr>
                </a:tc>
                <a:tc>
                  <a:txBody>
                    <a:bodyPr/>
                    <a:lstStyle/>
                    <a:p>
                      <a:r>
                        <a:rPr sz="850" b="0">
                          <a:solidFill>
                            <a:srgbClr val="4B4B4B"/>
                          </a:solidFill>
                          <a:latin typeface="Arial"/>
                        </a:rPr>
                        <a:t>Motor multi-year products</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739135">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Item / Sum insured</a:t>
                      </a:r>
                    </a:p>
                  </a:txBody>
                  <a:tcPr marL="54864" marR="54864" marT="27432" marB="27432">
                    <a:solidFill>
                      <a:srgbClr val="E5F5FF"/>
                    </a:solidFill>
                  </a:tcPr>
                </a:tc>
                <a:tc>
                  <a:txBody>
                    <a:bodyPr/>
                    <a:lstStyle/>
                    <a:p>
                      <a:r>
                        <a:rPr sz="850" b="0">
                          <a:solidFill>
                            <a:srgbClr val="4B4B4B"/>
                          </a:solidFill>
                          <a:latin typeface="Arial"/>
                        </a:rPr>
                        <a:t>Text / Number</a:t>
                      </a:r>
                    </a:p>
                  </a:txBody>
                  <a:tcPr marL="54864" marR="54864" marT="27432" marB="27432">
                    <a:solidFill>
                      <a:srgbClr val="E5F5FF"/>
                    </a:solidFill>
                  </a:tcPr>
                </a:tc>
                <a:tc>
                  <a:txBody>
                    <a:bodyPr/>
                    <a:lstStyle/>
                    <a:p>
                      <a:r>
                        <a:rPr sz="850" b="0">
                          <a:solidFill>
                            <a:srgbClr val="4B4B4B"/>
                          </a:solidFill>
                          <a:latin typeface="Arial"/>
                        </a:rPr>
                        <a:t>Label; amount in PHP</a:t>
                      </a:r>
                    </a:p>
                  </a:txBody>
                  <a:tcPr marL="54864" marR="54864" marT="27432" marB="27432">
                    <a:solidFill>
                      <a:srgbClr val="E5F5FF"/>
                    </a:solidFill>
                  </a:tcPr>
                </a:tc>
                <a:tc>
                  <a:txBody>
                    <a:bodyPr/>
                    <a:lstStyle/>
                    <a:p>
                      <a:r>
                        <a:rPr sz="850" b="0">
                          <a:solidFill>
                            <a:srgbClr val="4B4B4B"/>
                          </a:solidFill>
                          <a:latin typeface="Arial"/>
                        </a:rPr>
                        <a:t>Y (a sum insured for at least one item)</a:t>
                      </a:r>
                    </a:p>
                  </a:txBody>
                  <a:tcPr marL="54864" marR="54864" marT="27432" marB="27432">
                    <a:solidFill>
                      <a:srgbClr val="E5F5FF"/>
                    </a:solidFill>
                  </a:tcPr>
                </a:tc>
                <a:tc>
                  <a:txBody>
                    <a:bodyPr/>
                    <a:lstStyle/>
                    <a:p>
                      <a:r>
                        <a:rPr sz="850" b="0">
                          <a:solidFill>
                            <a:srgbClr val="4B4B4B"/>
                          </a:solidFill>
                          <a:latin typeface="Arial"/>
                        </a:rPr>
                        <a:t>Zero or more</a:t>
                      </a:r>
                    </a:p>
                  </a:txBody>
                  <a:tcPr marL="54864" marR="54864" marT="27432" marB="27432">
                    <a:solidFill>
                      <a:srgbClr val="E5F5FF"/>
                    </a:solidFill>
                  </a:tcPr>
                </a:tc>
                <a:tc>
                  <a:txBody>
                    <a:bodyPr/>
                    <a:lstStyle/>
                    <a:p>
                      <a:r>
                        <a:rPr sz="850" b="0">
                          <a:solidFill>
                            <a:srgbClr val="4B4B4B"/>
                          </a:solidFill>
                          <a:latin typeface="Arial"/>
                        </a:rPr>
                        <a:t>Enter the sum insured of at least one item.</a:t>
                      </a:r>
                    </a:p>
                  </a:txBody>
                  <a:tcPr marL="54864" marR="54864" marT="27432" marB="27432">
                    <a:solidFill>
                      <a:srgbClr val="E5F5FF"/>
                    </a:solidFill>
                  </a:tcPr>
                </a:tc>
              </a:tr>
              <a:tr h="350518">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Items</a:t>
                      </a:r>
                    </a:p>
                  </a:txBody>
                  <a:tcPr marL="54864" marR="54864" marT="27432" marB="27432">
                    <a:solidFill>
                      <a:srgbClr val="FFFFFF"/>
                    </a:solidFill>
                  </a:tcPr>
                </a:tc>
                <a:tc>
                  <a:txBody>
                    <a:bodyPr/>
                    <a:lstStyle/>
                    <a:p>
                      <a:r>
                        <a:rPr sz="850" b="0">
                          <a:solidFill>
                            <a:srgbClr val="4B4B4B"/>
                          </a:solidFill>
                          <a:latin typeface="Arial"/>
                        </a:rPr>
                        <a:t>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Blank = product default (non-motor)</a:t>
                      </a:r>
                    </a:p>
                  </a:txBody>
                  <a:tcPr marL="54864" marR="54864" marT="27432" marB="27432">
                    <a:solidFill>
                      <a:srgbClr val="FFFFFF"/>
                    </a:solidFill>
                  </a:tcPr>
                </a:tc>
                <a:tc>
                  <a:txBody>
                    <a:bodyPr/>
                    <a:lstStyle/>
                    <a:p>
                      <a:r>
                        <a:rPr sz="850" b="0">
                          <a:solidFill>
                            <a:srgbClr val="4B4B4B"/>
                          </a:solidFill>
                          <a:latin typeface="Arial"/>
                        </a:rPr>
                        <a:t>N</a:t>
                      </a:r>
                    </a:p>
                  </a:txBody>
                  <a:tcPr marL="54864" marR="54864" marT="27432" marB="27432">
                    <a:solidFill>
                      <a:srgbClr val="FFFFFF"/>
                    </a:solidFill>
                  </a:tcPr>
                </a:tc>
                <a:tc>
                  <a:txBody>
                    <a:bodyPr/>
                    <a:lstStyle/>
                    <a:p>
                      <a:r>
                        <a:rPr sz="850" b="0">
                          <a:solidFill>
                            <a:srgbClr val="4B4B4B"/>
                          </a:solidFill>
                          <a:latin typeface="Arial"/>
                        </a:rPr>
                        <a:t>A rate other than the scheme rate is priced but flagged</a:t>
                      </a:r>
                    </a:p>
                  </a:txBody>
                  <a:tcPr marL="54864" marR="54864" marT="27432" marB="27432">
                    <a:solidFill>
                      <a:srgbClr val="FFFFFF"/>
                    </a:solidFill>
                  </a:tcPr>
                </a:tc>
                <a:tc>
                  <a:txBody>
                    <a:bodyPr/>
                    <a:lstStyle/>
                    <a:p>
                      <a:r>
                        <a:rPr sz="850" b="0">
                          <a:solidFill>
                            <a:srgbClr val="4B4B4B"/>
                          </a:solidFill>
                          <a:latin typeface="Arial"/>
                        </a:rPr>
                        <a:t>Enter the premium rate of &lt;item&gt;</a:t>
                      </a:r>
                    </a:p>
                  </a:txBody>
                  <a:tcPr marL="54864" marR="54864" marT="27432" marB="27432">
                    <a:solidFill>
                      <a:srgbClr val="FFFFFF"/>
                    </a:solidFill>
                  </a:tcPr>
                </a:tc>
              </a:tr>
              <a:tr h="350518">
                <a:tc>
                  <a:txBody>
                    <a:bodyPr/>
                    <a:lstStyle/>
                    <a:p>
                      <a:r>
                        <a:rPr sz="850" b="0">
                          <a:solidFill>
                            <a:srgbClr val="4B4B4B"/>
                          </a:solidFill>
                          <a:latin typeface="Arial"/>
                        </a:rPr>
                        <a:t>12</a:t>
                      </a:r>
                    </a:p>
                  </a:txBody>
                  <a:tcPr marL="54864" marR="54864" marT="27432" marB="27432">
                    <a:solidFill>
                      <a:srgbClr val="E5F5FF"/>
                    </a:solidFill>
                  </a:tcPr>
                </a:tc>
                <a:tc>
                  <a:txBody>
                    <a:bodyPr/>
                    <a:lstStyle/>
                    <a:p>
                      <a:r>
                        <a:rPr sz="850" b="0">
                          <a:solidFill>
                            <a:srgbClr val="4B4B4B"/>
                          </a:solidFill>
                          <a:latin typeface="Arial"/>
                        </a:rPr>
                        <a:t>Items</a:t>
                      </a:r>
                    </a:p>
                  </a:txBody>
                  <a:tcPr marL="54864" marR="54864" marT="27432" marB="27432">
                    <a:solidFill>
                      <a:srgbClr val="E5F5FF"/>
                    </a:solidFill>
                  </a:tcPr>
                </a:tc>
                <a:tc>
                  <a:txBody>
                    <a:bodyPr/>
                    <a:lstStyle/>
                    <a:p>
                      <a:r>
                        <a:rPr sz="850" b="0">
                          <a:solidFill>
                            <a:srgbClr val="4B4B4B"/>
                          </a:solidFill>
                          <a:latin typeface="Arial"/>
                        </a:rPr>
                        <a:t>Excess BI limit / PD limit</a:t>
                      </a:r>
                    </a:p>
                  </a:txBody>
                  <a:tcPr marL="54864" marR="54864" marT="27432" marB="27432">
                    <a:solidFill>
                      <a:srgbClr val="E5F5FF"/>
                    </a:solidFill>
                  </a:tcPr>
                </a:tc>
                <a:tc>
                  <a:txBody>
                    <a:bodyPr/>
                    <a:lstStyle/>
                    <a:p>
                      <a:r>
                        <a:rPr sz="850" b="0">
                          <a:solidFill>
                            <a:srgbClr val="4B4B4B"/>
                          </a:solidFill>
                          <a:latin typeface="Arial"/>
                        </a:rPr>
                        <a:t>Number</a:t>
                      </a:r>
                    </a:p>
                  </a:txBody>
                  <a:tcPr marL="54864" marR="54864" marT="27432" marB="27432">
                    <a:solidFill>
                      <a:srgbClr val="E5F5FF"/>
                    </a:solidFill>
                  </a:tcPr>
                </a:tc>
                <a:tc>
                  <a:txBody>
                    <a:bodyPr/>
                    <a:lstStyle/>
                    <a:p>
                      <a:r>
                        <a:rPr sz="850" b="0">
                          <a:solidFill>
                            <a:srgbClr val="4B4B4B"/>
                          </a:solidFill>
                          <a:latin typeface="Arial"/>
                        </a:rPr>
                        <a:t>Motor limits of the table</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 limit of the table</a:t>
                      </a:r>
                    </a:p>
                  </a:txBody>
                  <a:tcPr marL="54864" marR="54864" marT="27432" marB="27432">
                    <a:solidFill>
                      <a:srgbClr val="E5F5FF"/>
                    </a:solidFill>
                  </a:tcPr>
                </a:tc>
                <a:tc>
                  <a:txBody>
                    <a:bodyPr/>
                    <a:lstStyle/>
                    <a:p>
                      <a:r>
                        <a:rPr sz="850" b="0">
                          <a:solidFill>
                            <a:srgbClr val="4B4B4B"/>
                          </a:solidFill>
                          <a:latin typeface="Arial"/>
                        </a:rPr>
                        <a:t>&lt;coverage&gt; limit &lt;amount&gt; is not in the limit table</a:t>
                      </a:r>
                    </a:p>
                  </a:txBody>
                  <a:tcPr marL="54864" marR="54864" marT="27432" marB="27432">
                    <a:solidFill>
                      <a:srgbClr val="E5F5FF"/>
                    </a:solidFill>
                  </a:tcPr>
                </a:tc>
              </a:tr>
            </a:tbl>
          </a:graphicData>
        </a:graphic>
      </p:graphicFrame>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374</a:t>
            </a:r>
          </a:p>
        </p:txBody>
      </p:sp>
      <p:graphicFrame>
        <p:nvGraphicFramePr>
          <p:cNvPr id="9" name="Table 8"/>
          <p:cNvGraphicFramePr>
            <a:graphicFrameLocks noGrp="1"/>
          </p:cNvGraphicFramePr>
          <p:nvPr/>
        </p:nvGraphicFramePr>
        <p:xfrm>
          <a:off x="548640" y="1325880"/>
          <a:ext cx="11094411" cy="1920228"/>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13</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Version line</a:t>
                      </a:r>
                    </a:p>
                  </a:txBody>
                  <a:tcPr marL="54864" marR="54864" marT="27432" marB="27432">
                    <a:solidFill>
                      <a:srgbClr val="FFFFFF"/>
                    </a:solidFill>
                  </a:tcPr>
                </a:tc>
                <a:tc>
                  <a:txBody>
                    <a:bodyPr/>
                    <a:lstStyle/>
                    <a:p>
                      <a:r>
                        <a:rPr sz="850" b="0">
                          <a:solidFill>
                            <a:srgbClr val="4B4B4B"/>
                          </a:solidFill>
                          <a:latin typeface="Arial"/>
                        </a:rPr>
                        <a:t>Banner</a:t>
                      </a:r>
                    </a:p>
                  </a:txBody>
                  <a:tcPr marL="54864" marR="54864" marT="27432" marB="27432">
                    <a:solidFill>
                      <a:srgbClr val="FFFFFF"/>
                    </a:solidFill>
                  </a:tcPr>
                </a:tc>
                <a:tc>
                  <a:txBody>
                    <a:bodyPr/>
                    <a:lstStyle/>
                    <a:p>
                      <a:r>
                        <a:rPr sz="850" b="0">
                          <a:solidFill>
                            <a:srgbClr val="4B4B4B"/>
                          </a:solidFill>
                          <a:latin typeface="Arial"/>
                        </a:rPr>
                        <a:t>Priced on package version n (effective dd-MMM-yyyy, scheme rate r%); not the current version; an item rate differs from the scheme rate</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14</a:t>
                      </a:r>
                    </a:p>
                  </a:txBody>
                  <a:tcPr marL="54864" marR="54864" marT="27432" marB="27432">
                    <a:solidFill>
                      <a:srgbClr val="E5F5FF"/>
                    </a:solidFill>
                  </a:tcPr>
                </a:tc>
                <a:tc>
                  <a:txBody>
                    <a:bodyPr/>
                    <a:lstStyle/>
                    <a:p>
                      <a:r>
                        <a:rPr sz="850" b="0">
                          <a:solidFill>
                            <a:srgbClr val="4B4B4B"/>
                          </a:solidFill>
                          <a:latin typeface="Arial"/>
                        </a:rPr>
                        <a:t>Result</a:t>
                      </a:r>
                    </a:p>
                  </a:txBody>
                  <a:tcPr marL="54864" marR="54864" marT="27432" marB="27432">
                    <a:solidFill>
                      <a:srgbClr val="E5F5FF"/>
                    </a:solidFill>
                  </a:tcPr>
                </a:tc>
                <a:tc>
                  <a:txBody>
                    <a:bodyPr/>
                    <a:lstStyle/>
                    <a:p>
                      <a:r>
                        <a:rPr sz="850" b="0">
                          <a:solidFill>
                            <a:srgbClr val="4B4B4B"/>
                          </a:solidFill>
                          <a:latin typeface="Arial"/>
                        </a:rPr>
                        <a:t>Sum insured / Net premium / Gross premium / Commission</a:t>
                      </a:r>
                    </a:p>
                  </a:txBody>
                  <a:tcPr marL="54864" marR="54864" marT="27432" marB="27432">
                    <a:solidFill>
                      <a:srgbClr val="E5F5FF"/>
                    </a:solidFill>
                  </a:tcPr>
                </a:tc>
                <a:tc>
                  <a:txBody>
                    <a:bodyPr/>
                    <a:lstStyle/>
                    <a:p>
                      <a:r>
                        <a:rPr sz="850" b="0">
                          <a:solidFill>
                            <a:srgbClr val="4B4B4B"/>
                          </a:solidFill>
                          <a:latin typeface="Arial"/>
                        </a:rPr>
                        <a:t>Figure</a:t>
                      </a:r>
                    </a:p>
                  </a:txBody>
                  <a:tcPr marL="54864" marR="54864" marT="27432" marB="27432">
                    <a:solidFill>
                      <a:srgbClr val="E5F5FF"/>
                    </a:solidFill>
                  </a:tcPr>
                </a:tc>
                <a:tc>
                  <a:txBody>
                    <a:bodyPr/>
                    <a:lstStyle/>
                    <a:p>
                      <a:r>
                        <a:rPr sz="850" b="0">
                          <a:solidFill>
                            <a:srgbClr val="4B4B4B"/>
                          </a:solidFill>
                          <a:latin typeface="Arial"/>
                        </a:rPr>
                        <a:t>Amounts in PHP</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739135">
                <a:tc>
                  <a:txBody>
                    <a:bodyPr/>
                    <a:lstStyle/>
                    <a:p>
                      <a:r>
                        <a:rPr sz="850" b="0">
                          <a:solidFill>
                            <a:srgbClr val="4B4B4B"/>
                          </a:solidFill>
                          <a:latin typeface="Arial"/>
                        </a:rPr>
                        <a:t>15</a:t>
                      </a:r>
                    </a:p>
                  </a:txBody>
                  <a:tcPr marL="54864" marR="54864" marT="27432" marB="27432">
                    <a:solidFill>
                      <a:srgbClr val="FFFFFF"/>
                    </a:solidFill>
                  </a:tcPr>
                </a:tc>
                <a:tc>
                  <a:txBody>
                    <a:bodyPr/>
                    <a:lstStyle/>
                    <a:p>
                      <a:r>
                        <a:rPr sz="850" b="0">
                          <a:solidFill>
                            <a:srgbClr val="4B4B4B"/>
                          </a:solidFill>
                          <a:latin typeface="Arial"/>
                        </a:rPr>
                        <a:t>Result</a:t>
                      </a:r>
                    </a:p>
                  </a:txBody>
                  <a:tcPr marL="54864" marR="54864" marT="27432" marB="27432">
                    <a:solidFill>
                      <a:srgbClr val="FFFFFF"/>
                    </a:solidFill>
                  </a:tcPr>
                </a:tc>
                <a:tc>
                  <a:txBody>
                    <a:bodyPr/>
                    <a:lstStyle/>
                    <a:p>
                      <a:r>
                        <a:rPr sz="850" b="0">
                          <a:solidFill>
                            <a:srgbClr val="4B4B4B"/>
                          </a:solidFill>
                          <a:latin typeface="Arial"/>
                        </a:rPr>
                        <a:t>Component / Basis / Amount</a:t>
                      </a:r>
                    </a:p>
                  </a:txBody>
                  <a:tcPr marL="54864" marR="54864" marT="27432" marB="27432">
                    <a:solidFill>
                      <a:srgbClr val="FFFFFF"/>
                    </a:solidFill>
                  </a:tcPr>
                </a:tc>
                <a:tc>
                  <a:txBody>
                    <a:bodyPr/>
                    <a:lstStyle/>
                    <a:p>
                      <a:r>
                        <a:rPr sz="850" b="0">
                          <a:solidFill>
                            <a:srgbClr val="4B4B4B"/>
                          </a:solidFill>
                          <a:latin typeface="Arial"/>
                        </a:rPr>
                        <a:t>Table</a:t>
                      </a:r>
                    </a:p>
                  </a:txBody>
                  <a:tcPr marL="54864" marR="54864" marT="27432" marB="27432">
                    <a:solidFill>
                      <a:srgbClr val="FFFFFF"/>
                    </a:solidFill>
                  </a:tcPr>
                </a:tc>
                <a:tc>
                  <a:txBody>
                    <a:bodyPr/>
                    <a:lstStyle/>
                    <a:p>
                      <a:r>
                        <a:rPr sz="850" b="0">
                          <a:solidFill>
                            <a:srgbClr val="4B4B4B"/>
                          </a:solidFill>
                          <a:latin typeface="Arial"/>
                        </a:rPr>
                        <a:t>Annual premium, net premium, documentary stamp tax, premium tax, VAT, fire service tax, local government tax, total charges, commission, VAT on commission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375</a:t>
            </a:r>
          </a:p>
        </p:txBody>
      </p:sp>
      <p:graphicFrame>
        <p:nvGraphicFramePr>
          <p:cNvPr id="9" name="Table 8"/>
          <p:cNvGraphicFramePr>
            <a:graphicFrameLocks noGrp="1"/>
          </p:cNvGraphicFramePr>
          <p:nvPr/>
        </p:nvGraphicFramePr>
        <p:xfrm>
          <a:off x="548640" y="1325880"/>
          <a:ext cx="11094412" cy="792476"/>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220979">
                <a:tc>
                  <a:txBody>
                    <a:bodyPr/>
                    <a:lstStyle/>
                    <a:p>
                      <a:r>
                        <a:rPr sz="850" b="0">
                          <a:solidFill>
                            <a:srgbClr val="4B4B4B"/>
                          </a:solidFill>
                          <a:latin typeface="Arial"/>
                        </a:rPr>
                        <a:t>Add Item / Remove</a:t>
                      </a:r>
                    </a:p>
                  </a:txBody>
                  <a:tcPr marL="54864" marR="54864" marT="27432" marB="27432">
                    <a:solidFill>
                      <a:srgbClr val="FFFFFF"/>
                    </a:solidFill>
                  </a:tcPr>
                </a:tc>
                <a:tc>
                  <a:txBody>
                    <a:bodyPr/>
                    <a:lstStyle/>
                    <a:p>
                      <a:r>
                        <a:rPr sz="850" b="0">
                          <a:solidFill>
                            <a:srgbClr val="4B4B4B"/>
                          </a:solidFill>
                          <a:latin typeface="Arial"/>
                        </a:rPr>
                        <a:t>Every user of the screen</a:t>
                      </a:r>
                    </a:p>
                  </a:txBody>
                  <a:tcPr marL="54864" marR="54864" marT="27432" marB="27432">
                    <a:solidFill>
                      <a:srgbClr val="FFFFFF"/>
                    </a:solidFill>
                  </a:tcPr>
                </a:tc>
                <a:tc>
                  <a:txBody>
                    <a:bodyPr/>
                    <a:lstStyle/>
                    <a:p>
                      <a:r>
                        <a:rPr sz="850" b="0">
                          <a:solidFill>
                            <a:srgbClr val="4B4B4B"/>
                          </a:solidFill>
                          <a:latin typeface="Arial"/>
                        </a:rPr>
                        <a:t>Always</a:t>
                      </a:r>
                    </a:p>
                  </a:txBody>
                  <a:tcPr marL="54864" marR="54864" marT="27432" marB="27432">
                    <a:solidFill>
                      <a:srgbClr val="FFFFFF"/>
                    </a:solidFill>
                  </a:tcPr>
                </a:tc>
                <a:tc>
                  <a:txBody>
                    <a:bodyPr/>
                    <a:lstStyle/>
                    <a:p>
                      <a:r>
                        <a:rPr sz="850" b="0">
                          <a:solidFill>
                            <a:srgbClr val="4B4B4B"/>
                          </a:solidFill>
                          <a:latin typeface="Arial"/>
                        </a:rPr>
                        <a:t>Adds or removes an item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Calculate</a:t>
                      </a:r>
                    </a:p>
                  </a:txBody>
                  <a:tcPr marL="54864" marR="54864" marT="27432" marB="27432">
                    <a:solidFill>
                      <a:srgbClr val="E5F5FF"/>
                    </a:solidFill>
                  </a:tcPr>
                </a:tc>
                <a:tc>
                  <a:txBody>
                    <a:bodyPr/>
                    <a:lstStyle/>
                    <a:p>
                      <a:r>
                        <a:rPr sz="850" b="0">
                          <a:solidFill>
                            <a:srgbClr val="4B4B4B"/>
                          </a:solidFill>
                          <a:latin typeface="Arial"/>
                        </a:rPr>
                        <a:t>Every user of the screen</a:t>
                      </a:r>
                    </a:p>
                  </a:txBody>
                  <a:tcPr marL="54864" marR="54864" marT="27432" marB="27432">
                    <a:solidFill>
                      <a:srgbClr val="E5F5FF"/>
                    </a:solidFill>
                  </a:tcPr>
                </a:tc>
                <a:tc>
                  <a:txBody>
                    <a:bodyPr/>
                    <a:lstStyle/>
                    <a:p>
                      <a:r>
                        <a:rPr sz="850" b="0">
                          <a:solidFill>
                            <a:srgbClr val="4B4B4B"/>
                          </a:solidFill>
                          <a:latin typeface="Arial"/>
                        </a:rPr>
                        <a:t>Product chosen and a sum insured entered</a:t>
                      </a:r>
                    </a:p>
                  </a:txBody>
                  <a:tcPr marL="54864" marR="54864" marT="27432" marB="27432">
                    <a:solidFill>
                      <a:srgbClr val="E5F5FF"/>
                    </a:solidFill>
                  </a:tcPr>
                </a:tc>
                <a:tc>
                  <a:txBody>
                    <a:bodyPr/>
                    <a:lstStyle/>
                    <a:p>
                      <a:r>
                        <a:rPr sz="850" b="0">
                          <a:solidFill>
                            <a:srgbClr val="4B4B4B"/>
                          </a:solidFill>
                          <a:latin typeface="Arial"/>
                        </a:rPr>
                        <a:t>Rates the cover and shows the result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bl>
          </a:graphicData>
        </a:graphic>
      </p:graphicFrame>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376</a:t>
            </a:r>
          </a:p>
        </p:txBody>
      </p:sp>
      <p:graphicFrame>
        <p:nvGraphicFramePr>
          <p:cNvPr id="9" name="Table 8"/>
          <p:cNvGraphicFramePr>
            <a:graphicFrameLocks noGrp="1"/>
          </p:cNvGraphicFramePr>
          <p:nvPr/>
        </p:nvGraphicFramePr>
        <p:xfrm>
          <a:off x="548640" y="1325880"/>
          <a:ext cx="11094415" cy="121920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New business is priced on the package version in force on the transaction date, not on the period start (FR-PM-051).</a:t>
                      </a:r>
                    </a:p>
                  </a:txBody>
                  <a:tcPr marL="54864" marR="54864" marT="27432" marB="27432">
                    <a:solidFill>
                      <a:srgbClr val="FFFFFF"/>
                    </a:solidFill>
                  </a:tcPr>
                </a:tc>
              </a:tr>
              <a:tr h="243840">
                <a:tc>
                  <a:txBody>
                    <a:bodyPr/>
                    <a:lstStyle/>
                    <a:p>
                      <a:r>
                        <a:rPr sz="1000" b="0">
                          <a:solidFill>
                            <a:srgbClr val="4B4B4B"/>
                          </a:solidFill>
                          <a:latin typeface="Arial"/>
                        </a:rPr>
                        <a:t>A version other than the one in force is shown for information only; a quotation needs the current version or an approved rate exception (FR-PM-051).</a:t>
                      </a:r>
                    </a:p>
                  </a:txBody>
                  <a:tcPr marL="54864" marR="54864" marT="27432" marB="27432">
                    <a:solidFill>
                      <a:srgbClr val="E5F5FF"/>
                    </a:solidFill>
                  </a:tcPr>
                </a:tc>
              </a:tr>
              <a:tr h="243840">
                <a:tc>
                  <a:txBody>
                    <a:bodyPr/>
                    <a:lstStyle/>
                    <a:p>
                      <a:r>
                        <a:rPr sz="1000" b="0">
                          <a:solidFill>
                            <a:srgbClr val="4B4B4B"/>
                          </a:solidFill>
                          <a:latin typeface="Arial"/>
                        </a:rPr>
                        <a:t>An item rate different from the scheme rate (or the panel insurer's rate) is priced but flagged; a quotation with it needs an approved rate exception (FR-PM-051).</a:t>
                      </a:r>
                    </a:p>
                  </a:txBody>
                  <a:tcPr marL="54864" marR="54864" marT="27432" marB="27432">
                    <a:solidFill>
                      <a:srgbClr val="FFFFFF"/>
                    </a:solidFill>
                  </a:tcPr>
                </a:tc>
              </a:tr>
              <a:tr h="243840">
                <a:tc>
                  <a:txBody>
                    <a:bodyPr/>
                    <a:lstStyle/>
                    <a:p>
                      <a:r>
                        <a:rPr sz="1000" b="0">
                          <a:solidFill>
                            <a:srgbClr val="4B4B4B"/>
                          </a:solidFill>
                          <a:latin typeface="Arial"/>
                        </a:rPr>
                        <a:t>An expired or retired package, or a package with no version in force, cannot be priced for new business (FR-PM-052).</a:t>
                      </a:r>
                    </a:p>
                  </a:txBody>
                  <a:tcPr marL="54864" marR="54864" marT="27432" marB="27432">
                    <a:solidFill>
                      <a:srgbClr val="E5F5FF"/>
                    </a:solidFill>
                  </a:tcPr>
                </a:tc>
              </a:tr>
            </a:tbl>
          </a:graphicData>
        </a:graphic>
      </p:graphicFrame>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377</a:t>
            </a:r>
          </a:p>
        </p:txBody>
      </p:sp>
      <p:graphicFrame>
        <p:nvGraphicFramePr>
          <p:cNvPr id="9" name="Table 8"/>
          <p:cNvGraphicFramePr>
            <a:graphicFrameLocks noGrp="1"/>
          </p:cNvGraphicFramePr>
          <p:nvPr/>
        </p:nvGraphicFramePr>
        <p:xfrm>
          <a:off x="548640" y="1325880"/>
          <a:ext cx="11094413" cy="59436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21</a:t>
                      </a:r>
                    </a:p>
                  </a:txBody>
                  <a:tcPr marL="54864" marR="54864" marT="27432" marB="27432">
                    <a:solidFill>
                      <a:srgbClr val="FFFFFF"/>
                    </a:solidFill>
                  </a:tcPr>
                </a:tc>
                <a:tc>
                  <a:txBody>
                    <a:bodyPr/>
                    <a:lstStyle/>
                    <a:p>
                      <a:r>
                        <a:rPr sz="900" b="0">
                          <a:solidFill>
                            <a:srgbClr val="4B4B4B"/>
                          </a:solidFill>
                          <a:latin typeface="Arial"/>
                        </a:rPr>
                        <a:t>Opens Premium Calculator, chooses MTR30 and Mabuhay General Insurance Corp., enters a vehicle value and clicks Calculate</a:t>
                      </a:r>
                    </a:p>
                  </a:txBody>
                  <a:tcPr marL="54864" marR="54864" marT="27432" marB="27432">
                    <a:solidFill>
                      <a:srgbClr val="FFFFFF"/>
                    </a:solidFill>
                  </a:tcPr>
                </a:tc>
                <a:tc>
                  <a:txBody>
                    <a:bodyPr/>
                    <a:lstStyle/>
                    <a:p>
                      <a:r>
                        <a:rPr sz="900" b="0">
                          <a:solidFill>
                            <a:srgbClr val="4B4B4B"/>
                          </a:solidFill>
                          <a:latin typeface="Arial"/>
                        </a:rPr>
                        <a:t>SCR-PM-21_wt-a-step-21.png</a:t>
                      </a:r>
                    </a:p>
                  </a:txBody>
                  <a:tcPr marL="54864" marR="54864" marT="27432" marB="27432">
                    <a:solidFill>
                      <a:srgbClr val="FFFFFF"/>
                    </a:solidFill>
                  </a:tcPr>
                </a:tc>
              </a:tr>
            </a:tbl>
          </a:graphicData>
        </a:graphic>
      </p:graphicFrame>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(1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7.png"/>
          <p:cNvPicPr>
            <a:picLocks noChangeAspect="1"/>
          </p:cNvPicPr>
          <p:nvPr/>
        </p:nvPicPr>
        <p:blipFill>
          <a:blip r:embed="rId3"/>
          <a:stretch>
            <a:fillRect/>
          </a:stretch>
        </p:blipFill>
        <p:spPr>
          <a:xfrm>
            <a:off x="548640" y="1261872"/>
            <a:ext cx="11094415" cy="470556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1 of 4)</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(2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379</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8.png"/>
          <p:cNvPicPr>
            <a:picLocks noChangeAspect="1"/>
          </p:cNvPicPr>
          <p:nvPr/>
        </p:nvPicPr>
        <p:blipFill>
          <a:blip r:embed="rId3"/>
          <a:stretch>
            <a:fillRect/>
          </a:stretch>
        </p:blipFill>
        <p:spPr>
          <a:xfrm>
            <a:off x="548640" y="1261872"/>
            <a:ext cx="11094415" cy="4686433"/>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2 of 4)</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(3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380</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19.png"/>
          <p:cNvPicPr>
            <a:picLocks noChangeAspect="1"/>
          </p:cNvPicPr>
          <p:nvPr/>
        </p:nvPicPr>
        <p:blipFill>
          <a:blip r:embed="rId3"/>
          <a:stretch>
            <a:fillRect/>
          </a:stretch>
        </p:blipFill>
        <p:spPr>
          <a:xfrm>
            <a:off x="548640" y="1261872"/>
            <a:ext cx="11094415" cy="4734254"/>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3 of 4)</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SCR-PM-21 Premium Calculator: Filled (4 of 4)</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381</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lice-00220.png"/>
          <p:cNvPicPr>
            <a:picLocks noChangeAspect="1"/>
          </p:cNvPicPr>
          <p:nvPr/>
        </p:nvPicPr>
        <p:blipFill>
          <a:blip r:embed="rId3"/>
          <a:stretch>
            <a:fillRect/>
          </a:stretch>
        </p:blipFill>
        <p:spPr>
          <a:xfrm>
            <a:off x="548640" y="1261872"/>
            <a:ext cx="11094415" cy="4217790"/>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Premium Calculator: a package priced on its version in force (part 4 of 4)</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Quotation: package rate scheme and rate exception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382</a:t>
            </a:r>
          </a:p>
        </p:txBody>
      </p:sp>
      <p:graphicFrame>
        <p:nvGraphicFramePr>
          <p:cNvPr id="9" name="Table 8"/>
          <p:cNvGraphicFramePr>
            <a:graphicFrameLocks noGrp="1"/>
          </p:cNvGraphicFramePr>
          <p:nvPr/>
        </p:nvGraphicFramePr>
        <p:xfrm>
          <a:off x="548640" y="1307592"/>
          <a:ext cx="6434760" cy="3535680"/>
        </p:xfrm>
        <a:graphic>
          <a:graphicData uri="http://schemas.openxmlformats.org/drawingml/2006/table">
            <a:tbl>
              <a:tblPr bandRow="1">
                <a:tableStyleId>{5C22544A-7EE6-4342-B048-85BDC9FD1C3A}</a:tableStyleId>
              </a:tblPr>
              <a:tblGrid>
                <a:gridCol w="1371600"/>
                <a:gridCol w="5063160"/>
              </a:tblGrid>
              <a:tr h="236220">
                <a:tc>
                  <a:txBody>
                    <a:bodyPr/>
                    <a:lstStyle/>
                    <a:p>
                      <a:r>
                        <a:rPr sz="950" b="1">
                          <a:solidFill>
                            <a:srgbClr val="004EA8"/>
                          </a:solidFill>
                          <a:latin typeface="Arial"/>
                        </a:rPr>
                        <a:t>Area</a:t>
                      </a:r>
                    </a:p>
                  </a:txBody>
                  <a:tcPr marL="54864" marR="54864" marT="27432" marB="27432">
                    <a:solidFill>
                      <a:srgbClr val="E5F5FF"/>
                    </a:solidFill>
                  </a:tcPr>
                </a:tc>
                <a:tc>
                  <a:txBody>
                    <a:bodyPr/>
                    <a:lstStyle/>
                    <a:p>
                      <a:r>
                        <a:rPr sz="950" b="0">
                          <a:solidFill>
                            <a:srgbClr val="4B4B4B"/>
                          </a:solidFill>
                          <a:latin typeface="Arial"/>
                        </a:rPr>
                        <a:t>Insurers, rates and pricing</a:t>
                      </a:r>
                    </a:p>
                  </a:txBody>
                  <a:tcPr marL="54864" marR="54864" marT="27432" marB="27432">
                    <a:solidFill>
                      <a:srgbClr val="FFFFFF"/>
                    </a:solidFill>
                  </a:tcPr>
                </a:tc>
              </a:tr>
              <a:tr h="1249680">
                <a:tc>
                  <a:txBody>
                    <a:bodyPr/>
                    <a:lstStyle/>
                    <a:p>
                      <a:r>
                        <a:rPr sz="950" b="1">
                          <a:solidFill>
                            <a:srgbClr val="004EA8"/>
                          </a:solidFill>
                          <a:latin typeface="Arial"/>
                        </a:rPr>
                        <a:t>Purpose</a:t>
                      </a:r>
                    </a:p>
                  </a:txBody>
                  <a:tcPr marL="54864" marR="54864" marT="27432" marB="27432">
                    <a:solidFill>
                      <a:srgbClr val="E5F5FF"/>
                    </a:solidFill>
                  </a:tcPr>
                </a:tc>
                <a:tc>
                  <a:txBody>
                    <a:bodyPr/>
                    <a:lstStyle/>
                    <a:p>
                      <a:r>
                        <a:rPr sz="950" b="0">
                          <a:solidFill>
                            <a:srgbClr val="4B4B4B"/>
                          </a:solidFill>
                          <a:latin typeface="Arial"/>
                        </a:rPr>
                        <a:t>Where New Business meets the package version: the quotation record of a package product shows the version that priced it and warns when an item rate differs from the scheme rate. The Account Officer then requests a rate exception. The approver opens the exception record from My Approvals, compares the requested rate with the scheme in force and approves it with a comment or rejects it with a reason; the requester is notified and the quotation is submitted with the approved exception. Only the Rate Exceptions card, the Request Rate Exception dialog and the exception record are specified here; the rest of the quotation record is specified in the New Business set (SCR-NB-07).</a:t>
                      </a:r>
                    </a:p>
                  </a:txBody>
                  <a:tcPr marL="54864" marR="54864" marT="27432" marB="27432">
                    <a:solidFill>
                      <a:srgbClr val="FFFFFF"/>
                    </a:solidFill>
                  </a:tcPr>
                </a:tc>
              </a:tr>
              <a:tr h="381000">
                <a:tc>
                  <a:txBody>
                    <a:bodyPr/>
                    <a:lstStyle/>
                    <a:p>
                      <a:r>
                        <a:rPr sz="950" b="1">
                          <a:solidFill>
                            <a:srgbClr val="004EA8"/>
                          </a:solidFill>
                          <a:latin typeface="Arial"/>
                        </a:rPr>
                        <a:t>Personas</a:t>
                      </a:r>
                    </a:p>
                  </a:txBody>
                  <a:tcPr marL="54864" marR="54864" marT="27432" marB="27432">
                    <a:solidFill>
                      <a:srgbClr val="E5F5FF"/>
                    </a:solidFill>
                  </a:tcPr>
                </a:tc>
                <a:tc>
                  <a:txBody>
                    <a:bodyPr/>
                    <a:lstStyle/>
                    <a:p>
                      <a:r>
                        <a:rPr sz="950" b="0">
                          <a:solidFill>
                            <a:srgbClr val="4B4B4B"/>
                          </a:solidFill>
                          <a:latin typeface="Arial"/>
                        </a:rPr>
                        <a:t>Marketing Account Officer, Marketing TL / TH / UH, TSU Officer, New Business Approver, Auditor</a:t>
                      </a:r>
                    </a:p>
                  </a:txBody>
                  <a:tcPr marL="54864" marR="54864" marT="27432" marB="27432">
                    <a:solidFill>
                      <a:srgbClr val="FFFFFF"/>
                    </a:solidFill>
                  </a:tcPr>
                </a:tc>
              </a:tr>
              <a:tr h="815340">
                <a:tc>
                  <a:txBody>
                    <a:bodyPr/>
                    <a:lstStyle/>
                    <a:p>
                      <a:r>
                        <a:rPr sz="950" b="1">
                          <a:solidFill>
                            <a:srgbClr val="004EA8"/>
                          </a:solidFill>
                          <a:latin typeface="Arial"/>
                        </a:rPr>
                        <a:t>Ways in</a:t>
                      </a:r>
                    </a:p>
                  </a:txBody>
                  <a:tcPr marL="54864" marR="54864" marT="27432" marB="27432">
                    <a:solidFill>
                      <a:srgbClr val="E5F5FF"/>
                    </a:solidFill>
                  </a:tcPr>
                </a:tc>
                <a:tc>
                  <a:txBody>
                    <a:bodyPr/>
                    <a:lstStyle/>
                    <a:p>
                      <a:r>
                        <a:rPr sz="950" b="0">
                          <a:solidFill>
                            <a:srgbClr val="4B4B4B"/>
                          </a:solidFill>
                          <a:latin typeface="Arial"/>
                        </a:rPr>
                        <a:t>Menu: Client &amp; Policy › Quotation / Proposal › Quotations › Quotation</a:t>
                      </a:r>
                    </a:p>
                    <a:p>
                      <a:r>
                        <a:rPr sz="950" b="0">
                          <a:solidFill>
                            <a:srgbClr val="4B4B4B"/>
                          </a:solidFill>
                          <a:latin typeface="Arial"/>
                        </a:rPr>
                        <a:t>Quotations › a row (New Business)</a:t>
                      </a:r>
                    </a:p>
                    <a:p>
                      <a:r>
                        <a:rPr sz="950" b="0">
                          <a:solidFill>
                            <a:srgbClr val="4B4B4B"/>
                          </a:solidFill>
                          <a:latin typeface="Arial"/>
                        </a:rPr>
                        <a:t>New Quotation › Submit for Review refused with the rate scheme message</a:t>
                      </a:r>
                    </a:p>
                    <a:p>
                      <a:r>
                        <a:rPr sz="950" b="0">
                          <a:solidFill>
                            <a:srgbClr val="4B4B4B"/>
                          </a:solidFill>
                          <a:latin typeface="Arial"/>
                        </a:rPr>
                        <a:t>My Approvals › the rate exception row (the exception record)</a:t>
                      </a:r>
                    </a:p>
                    <a:p>
                      <a:r>
                        <a:rPr sz="950" b="0">
                          <a:solidFill>
                            <a:srgbClr val="4B4B4B"/>
                          </a:solidFill>
                          <a:latin typeface="Arial"/>
                        </a:rPr>
                        <a:t>Notification of the decision › the exception record</a:t>
                      </a:r>
                    </a:p>
                  </a:txBody>
                  <a:tcPr marL="54864" marR="54864" marT="27432" marB="27432">
                    <a:solidFill>
                      <a:srgbClr val="FFFFFF"/>
                    </a:solidFill>
                  </a:tcPr>
                </a:tc>
              </a:tr>
              <a:tr h="236220">
                <a:tc>
                  <a:txBody>
                    <a:bodyPr/>
                    <a:lstStyle/>
                    <a:p>
                      <a:r>
                        <a:rPr sz="950" b="1">
                          <a:solidFill>
                            <a:srgbClr val="004EA8"/>
                          </a:solidFill>
                          <a:latin typeface="Arial"/>
                        </a:rPr>
                        <a:t>FRS section</a:t>
                      </a:r>
                    </a:p>
                  </a:txBody>
                  <a:tcPr marL="54864" marR="54864" marT="27432" marB="27432">
                    <a:solidFill>
                      <a:srgbClr val="E5F5FF"/>
                    </a:solidFill>
                  </a:tcPr>
                </a:tc>
                <a:tc>
                  <a:txBody>
                    <a:bodyPr/>
                    <a:lstStyle/>
                    <a:p>
                      <a:r>
                        <a:rPr sz="950" b="0">
                          <a:solidFill>
                            <a:srgbClr val="4B4B4B"/>
                          </a:solidFill>
                          <a:latin typeface="Arial"/>
                        </a:rPr>
                        <a:t>13.3.6</a:t>
                      </a:r>
                    </a:p>
                  </a:txBody>
                  <a:tcPr marL="54864" marR="54864" marT="27432" marB="27432">
                    <a:solidFill>
                      <a:srgbClr val="FFFFFF"/>
                    </a:solidFill>
                  </a:tcPr>
                </a:tc>
              </a:tr>
              <a:tr h="236220">
                <a:tc>
                  <a:txBody>
                    <a:bodyPr/>
                    <a:lstStyle/>
                    <a:p>
                      <a:r>
                        <a:rPr sz="950" b="1">
                          <a:solidFill>
                            <a:srgbClr val="004EA8"/>
                          </a:solidFill>
                          <a:latin typeface="Arial"/>
                        </a:rPr>
                        <a:t>Requirements</a:t>
                      </a:r>
                    </a:p>
                  </a:txBody>
                  <a:tcPr marL="54864" marR="54864" marT="27432" marB="27432">
                    <a:solidFill>
                      <a:srgbClr val="E5F5FF"/>
                    </a:solidFill>
                  </a:tcPr>
                </a:tc>
                <a:tc>
                  <a:txBody>
                    <a:bodyPr/>
                    <a:lstStyle/>
                    <a:p>
                      <a:r>
                        <a:rPr sz="950" b="0">
                          <a:solidFill>
                            <a:srgbClr val="4B4B4B"/>
                          </a:solidFill>
                          <a:latin typeface="Arial"/>
                        </a:rPr>
                        <a:t>FR-PM-051</a:t>
                      </a:r>
                    </a:p>
                  </a:txBody>
                  <a:tcPr marL="54864" marR="54864" marT="27432" marB="27432">
                    <a:solidFill>
                      <a:srgbClr val="FFFFFF"/>
                    </a:solidFill>
                  </a:tcPr>
                </a:tc>
              </a:tr>
              <a:tr h="381000">
                <a:tc>
                  <a:txBody>
                    <a:bodyPr/>
                    <a:lstStyle/>
                    <a:p>
                      <a:r>
                        <a:rPr sz="950" b="1">
                          <a:solidFill>
                            <a:srgbClr val="004EA8"/>
                          </a:solidFill>
                          <a:latin typeface="Arial"/>
                        </a:rPr>
                        <a:t>Outcome</a:t>
                      </a:r>
                    </a:p>
                  </a:txBody>
                  <a:tcPr marL="54864" marR="54864" marT="27432" marB="27432">
                    <a:solidFill>
                      <a:srgbClr val="E5F5FF"/>
                    </a:solidFill>
                  </a:tcPr>
                </a:tc>
                <a:tc>
                  <a:txBody>
                    <a:bodyPr/>
                    <a:lstStyle/>
                    <a:p>
                      <a:r>
                        <a:rPr sz="950" b="0">
                          <a:solidFill>
                            <a:srgbClr val="4B4B4B"/>
                          </a:solidFill>
                          <a:latin typeface="Arial"/>
                        </a:rPr>
                        <a:t>A package is sold on its approved scheme, and any exception is approved by a second person and kept with the transaction.</a:t>
                      </a:r>
                    </a:p>
                  </a:txBody>
                  <a:tcPr marL="54864" marR="54864" marT="27432" marB="27432">
                    <a:solidFill>
                      <a:srgbClr val="FFFFFF"/>
                    </a:solidFill>
                  </a:tcPr>
                </a:tc>
              </a:tr>
            </a:tbl>
          </a:graphicData>
        </a:graphic>
      </p:graphicFrame>
      <p:sp>
        <p:nvSpPr>
          <p:cNvPr id="10" name="TextBox 9"/>
          <p:cNvSpPr txBox="1"/>
          <p:nvPr/>
        </p:nvSpPr>
        <p:spPr>
          <a:xfrm>
            <a:off x="7212000" y="1261872"/>
            <a:ext cx="4431054" cy="274320"/>
          </a:xfrm>
          <a:prstGeom prst="rect">
            <a:avLst/>
          </a:prstGeom>
          <a:noFill/>
        </p:spPr>
        <p:txBody>
          <a:bodyPr wrap="square" anchor="t" lIns="45720" rIns="45720">
            <a:spAutoFit/>
          </a:bodyPr>
          <a:lstStyle/>
          <a:p>
            <a:r>
              <a:rPr sz="1200" b="1" i="0">
                <a:solidFill>
                  <a:srgbClr val="004EA8"/>
                </a:solidFill>
                <a:latin typeface="Arial"/>
              </a:rPr>
              <a:t>States shown (7 images)</a:t>
            </a:r>
          </a:p>
        </p:txBody>
      </p:sp>
      <p:graphicFrame>
        <p:nvGraphicFramePr>
          <p:cNvPr id="11" name="Table 10"/>
          <p:cNvGraphicFramePr>
            <a:graphicFrameLocks noGrp="1"/>
          </p:cNvGraphicFramePr>
          <p:nvPr/>
        </p:nvGraphicFramePr>
        <p:xfrm>
          <a:off x="7212000.699999999" y="1581912"/>
          <a:ext cx="4431053" cy="2743200"/>
        </p:xfrm>
        <a:graphic>
          <a:graphicData uri="http://schemas.openxmlformats.org/drawingml/2006/table">
            <a:tbl>
              <a:tblPr firstRow="1" bandRow="1">
                <a:tableStyleId>{5C22544A-7EE6-4342-B048-85BDC9FD1C3A}</a:tableStyleId>
              </a:tblPr>
              <a:tblGrid>
                <a:gridCol w="2747253"/>
                <a:gridCol w="1683800"/>
              </a:tblGrid>
              <a:tr h="274320">
                <a:tc>
                  <a:txBody>
                    <a:bodyPr/>
                    <a:lstStyle/>
                    <a:p>
                      <a:r>
                        <a:rPr sz="950" b="1">
                          <a:solidFill>
                            <a:srgbClr val="FFFFFF"/>
                          </a:solidFill>
                          <a:latin typeface="Arial"/>
                        </a:rPr>
                        <a:t>State</a:t>
                      </a:r>
                    </a:p>
                  </a:txBody>
                  <a:tcPr marL="54864" marR="54864" marT="27432" marB="27432">
                    <a:solidFill>
                      <a:srgbClr val="004EA8"/>
                    </a:solidFill>
                  </a:tcPr>
                </a:tc>
                <a:tc>
                  <a:txBody>
                    <a:bodyPr/>
                    <a:lstStyle/>
                    <a:p>
                      <a:r>
                        <a:rPr sz="950" b="1">
                          <a:solidFill>
                            <a:srgbClr val="FFFFFF"/>
                          </a:solidFill>
                          <a:latin typeface="Arial"/>
                        </a:rPr>
                        <a:t>Images</a:t>
                      </a:r>
                    </a:p>
                  </a:txBody>
                  <a:tcPr marL="54864" marR="54864" marT="27432" marB="27432">
                    <a:solidFill>
                      <a:srgbClr val="004EA8"/>
                    </a:solidFill>
                  </a:tcPr>
                </a:tc>
              </a:tr>
              <a:tr h="274320">
                <a:tc>
                  <a:txBody>
                    <a:bodyPr/>
                    <a:lstStyle/>
                    <a:p>
                      <a:r>
                        <a:rPr sz="950" b="0">
                          <a:solidFill>
                            <a:srgbClr val="4B4B4B"/>
                          </a:solidFill>
                          <a:latin typeface="Arial"/>
                        </a:rPr>
                        <a:t>Default</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Filled</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Validation error</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Confirmation with reason</a:t>
                      </a:r>
                    </a:p>
                  </a:txBody>
                  <a:tcPr marL="54864" marR="54864" marT="27432" marB="27432">
                    <a:solidFill>
                      <a:srgbClr val="E5F5FF"/>
                    </a:solidFill>
                  </a:tcPr>
                </a:tc>
                <a:tc>
                  <a:txBody>
                    <a:bodyPr/>
                    <a:lstStyle/>
                    <a:p>
                      <a:r>
                        <a:rPr sz="950" b="0">
                          <a:solidFill>
                            <a:srgbClr val="4B4B4B"/>
                          </a:solidFill>
                          <a:latin typeface="Arial"/>
                        </a:rPr>
                        <a:t>1 image</a:t>
                      </a:r>
                    </a:p>
                  </a:txBody>
                  <a:tcPr marL="54864" marR="54864" marT="27432" marB="27432">
                    <a:solidFill>
                      <a:srgbClr val="E5F5FF"/>
                    </a:solidFill>
                  </a:tcPr>
                </a:tc>
              </a:tr>
              <a:tr h="274320">
                <a:tc>
                  <a:txBody>
                    <a:bodyPr/>
                    <a:lstStyle/>
                    <a:p>
                      <a:r>
                        <a:rPr sz="950" b="0">
                          <a:solidFill>
                            <a:srgbClr val="4B4B4B"/>
                          </a:solidFill>
                          <a:latin typeface="Arial"/>
                        </a:rPr>
                        <a:t>Success message</a:t>
                      </a:r>
                    </a:p>
                  </a:txBody>
                  <a:tcPr marL="54864" marR="54864" marT="27432" marB="27432">
                    <a:solidFill>
                      <a:srgbClr val="FFFFFF"/>
                    </a:solidFill>
                  </a:tcPr>
                </a:tc>
                <a:tc>
                  <a:txBody>
                    <a:bodyPr/>
                    <a:lstStyle/>
                    <a:p>
                      <a:r>
                        <a:rPr sz="950" b="0">
                          <a:solidFill>
                            <a:srgbClr val="4B4B4B"/>
                          </a:solidFill>
                          <a:latin typeface="Arial"/>
                        </a:rPr>
                        <a:t>2 images</a:t>
                      </a:r>
                    </a:p>
                  </a:txBody>
                  <a:tcPr marL="54864" marR="54864" marT="27432" marB="27432">
                    <a:solidFill>
                      <a:srgbClr val="FFFFFF"/>
                    </a:solidFill>
                  </a:tcPr>
                </a:tc>
              </a:tr>
              <a:tr h="274320">
                <a:tc>
                  <a:txBody>
                    <a:bodyPr/>
                    <a:lstStyle/>
                    <a:p>
                      <a:r>
                        <a:rPr sz="950" b="0">
                          <a:solidFill>
                            <a:srgbClr val="4B4B4B"/>
                          </a:solidFill>
                          <a:latin typeface="Arial"/>
                        </a:rPr>
                        <a:t>Empty list</a:t>
                      </a:r>
                    </a:p>
                  </a:txBody>
                  <a:tcPr marL="54864" marR="54864" marT="27432" marB="27432">
                    <a:solidFill>
                      <a:srgbClr val="E5F5FF"/>
                    </a:solidFill>
                  </a:tcPr>
                </a:tc>
                <a:tc>
                  <a:txBody>
                    <a:bodyPr/>
                    <a:lstStyle/>
                    <a:p>
                      <a:r>
                        <a:rPr sz="950" b="0">
                          <a:solidFill>
                            <a:srgbClr val="4B4B4B"/>
                          </a:solidFill>
                          <a:latin typeface="Arial"/>
                        </a:rPr>
                        <a:t>-</a:t>
                      </a:r>
                    </a:p>
                  </a:txBody>
                  <a:tcPr marL="54864" marR="54864" marT="27432" marB="27432">
                    <a:solidFill>
                      <a:srgbClr val="E5F5FF"/>
                    </a:solidFill>
                  </a:tcPr>
                </a:tc>
              </a:tr>
              <a:tr h="274320">
                <a:tc>
                  <a:txBody>
                    <a:bodyPr/>
                    <a:lstStyle/>
                    <a:p>
                      <a:r>
                        <a:rPr sz="950" b="0">
                          <a:solidFill>
                            <a:srgbClr val="4B4B4B"/>
                          </a:solidFill>
                          <a:latin typeface="Arial"/>
                        </a:rPr>
                        <a:t>Read-only or locked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r h="274320">
                <a:tc>
                  <a:txBody>
                    <a:bodyPr/>
                    <a:lstStyle/>
                    <a:p>
                      <a:r>
                        <a:rPr sz="950" b="0">
                          <a:solidFill>
                            <a:srgbClr val="4B4B4B"/>
                          </a:solidFill>
                          <a:latin typeface="Arial"/>
                        </a:rPr>
                        <a:t>Pending approval</a:t>
                      </a:r>
                    </a:p>
                  </a:txBody>
                  <a:tcPr marL="54864" marR="54864" marT="27432" marB="27432">
                    <a:solidFill>
                      <a:srgbClr val="E5F5FF"/>
                    </a:solidFill>
                  </a:tcPr>
                </a:tc>
                <a:tc>
                  <a:txBody>
                    <a:bodyPr/>
                    <a:lstStyle/>
                    <a:p>
                      <a:r>
                        <a:rPr sz="950" b="0">
                          <a:solidFill>
                            <a:srgbClr val="4B4B4B"/>
                          </a:solidFill>
                          <a:latin typeface="Arial"/>
                        </a:rPr>
                        <a:t>3 images</a:t>
                      </a:r>
                    </a:p>
                  </a:txBody>
                  <a:tcPr marL="54864" marR="54864" marT="27432" marB="27432">
                    <a:solidFill>
                      <a:srgbClr val="E5F5FF"/>
                    </a:solidFill>
                  </a:tcPr>
                </a:tc>
              </a:tr>
              <a:tr h="274320">
                <a:tc>
                  <a:txBody>
                    <a:bodyPr/>
                    <a:lstStyle/>
                    <a:p>
                      <a:r>
                        <a:rPr sz="950" b="0">
                          <a:solidFill>
                            <a:srgbClr val="4B4B4B"/>
                          </a:solidFill>
                          <a:latin typeface="Arial"/>
                        </a:rPr>
                        <a:t>Rejected or returned</a:t>
                      </a:r>
                    </a:p>
                  </a:txBody>
                  <a:tcPr marL="54864" marR="54864" marT="27432" marB="27432">
                    <a:solidFill>
                      <a:srgbClr val="FFFFFF"/>
                    </a:solidFill>
                  </a:tcPr>
                </a:tc>
                <a:tc>
                  <a:txBody>
                    <a:bodyPr/>
                    <a:lstStyle/>
                    <a:p>
                      <a:r>
                        <a:rPr sz="9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fields and columns (No. = callout on the first image)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383</a:t>
            </a:r>
          </a:p>
        </p:txBody>
      </p:sp>
      <p:graphicFrame>
        <p:nvGraphicFramePr>
          <p:cNvPr id="9" name="Table 8"/>
          <p:cNvGraphicFramePr>
            <a:graphicFrameLocks noGrp="1"/>
          </p:cNvGraphicFramePr>
          <p:nvPr/>
        </p:nvGraphicFramePr>
        <p:xfrm>
          <a:off x="548640" y="1325880"/>
          <a:ext cx="11094411" cy="4853911"/>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609596">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Rate Exceptions card</a:t>
                      </a:r>
                    </a:p>
                  </a:txBody>
                  <a:tcPr marL="54864" marR="54864" marT="27432" marB="27432">
                    <a:solidFill>
                      <a:srgbClr val="FFFFFF"/>
                    </a:solidFill>
                  </a:tcPr>
                </a:tc>
                <a:tc>
                  <a:txBody>
                    <a:bodyPr/>
                    <a:lstStyle/>
                    <a:p>
                      <a:r>
                        <a:rPr sz="850" b="0">
                          <a:solidFill>
                            <a:srgbClr val="4B4B4B"/>
                          </a:solidFill>
                          <a:latin typeface="Arial"/>
                        </a:rPr>
                        <a:t>Pricing notice</a:t>
                      </a:r>
                    </a:p>
                  </a:txBody>
                  <a:tcPr marL="54864" marR="54864" marT="27432" marB="27432">
                    <a:solidFill>
                      <a:srgbClr val="FFFFFF"/>
                    </a:solidFill>
                  </a:tcPr>
                </a:tc>
                <a:tc>
                  <a:txBody>
                    <a:bodyPr/>
                    <a:lstStyle/>
                    <a:p>
                      <a:r>
                        <a:rPr sz="850" b="0">
                          <a:solidFill>
                            <a:srgbClr val="4B4B4B"/>
                          </a:solidFill>
                          <a:latin typeface="Arial"/>
                        </a:rPr>
                        <a:t>Notice</a:t>
                      </a:r>
                    </a:p>
                  </a:txBody>
                  <a:tcPr marL="54864" marR="54864" marT="27432" marB="27432">
                    <a:solidFill>
                      <a:srgbClr val="FFFFFF"/>
                    </a:solidFill>
                  </a:tcPr>
                </a:tc>
                <a:tc>
                  <a:txBody>
                    <a:bodyPr/>
                    <a:lstStyle/>
                    <a:p>
                      <a:r>
                        <a:rPr sz="850" b="0">
                          <a:solidFill>
                            <a:srgbClr val="4B4B4B"/>
                          </a:solidFill>
                          <a:latin typeface="Arial"/>
                        </a:rPr>
                        <a:t>Priced on package version n. An item rate differs from the scheme rate, so submission needs an approved rate exception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Shown while an item rate differs</a:t>
                      </a:r>
                    </a:p>
                  </a:txBody>
                  <a:tcPr marL="54864" marR="54864" marT="27432" marB="27432">
                    <a:solidFill>
                      <a:srgbClr val="FFFFFF"/>
                    </a:solidFill>
                  </a:tcPr>
                </a:tc>
                <a:tc>
                  <a:txBody>
                    <a:bodyPr/>
                    <a:lstStyle/>
                    <a:p>
                      <a:r>
                        <a:rPr sz="850" b="0">
                          <a:solidFill>
                            <a:srgbClr val="4B4B4B"/>
                          </a:solidFill>
                          <a:latin typeface="Arial"/>
                        </a:rPr>
                        <a:t>Package &lt;product code&gt; is priced on the current rate scheme: &lt;what&gt; needs an approved rate exception</a:t>
                      </a:r>
                    </a:p>
                  </a:txBody>
                  <a:tcPr marL="54864" marR="54864" marT="27432" marB="27432">
                    <a:solidFill>
                      <a:srgbClr val="FFFFFF"/>
                    </a:solidFill>
                  </a:tcPr>
                </a:tc>
              </a:tr>
              <a:tr h="1127752">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Rate Exceptions card</a:t>
                      </a:r>
                    </a:p>
                  </a:txBody>
                  <a:tcPr marL="54864" marR="54864" marT="27432" marB="27432">
                    <a:solidFill>
                      <a:srgbClr val="E5F5FF"/>
                    </a:solidFill>
                  </a:tcPr>
                </a:tc>
                <a:tc>
                  <a:txBody>
                    <a:bodyPr/>
                    <a:lstStyle/>
                    <a:p>
                      <a:r>
                        <a:rPr sz="850" b="0">
                          <a:solidFill>
                            <a:srgbClr val="4B4B4B"/>
                          </a:solidFill>
                          <a:latin typeface="Arial"/>
                        </a:rPr>
                        <a:t>Rate exceptions table</a:t>
                      </a:r>
                    </a:p>
                  </a:txBody>
                  <a:tcPr marL="54864" marR="54864" marT="27432" marB="27432">
                    <a:solidFill>
                      <a:srgbClr val="E5F5FF"/>
                    </a:solidFill>
                  </a:tcPr>
                </a:tc>
                <a:tc>
                  <a:txBody>
                    <a:bodyPr/>
                    <a:lstStyle/>
                    <a:p>
                      <a:r>
                        <a:rPr sz="850" b="0">
                          <a:solidFill>
                            <a:srgbClr val="4B4B4B"/>
                          </a:solidFill>
                          <a:latin typeface="Arial"/>
                        </a:rPr>
                        <a:t>Table</a:t>
                      </a:r>
                    </a:p>
                  </a:txBody>
                  <a:tcPr marL="54864" marR="54864" marT="27432" marB="27432">
                    <a:solidFill>
                      <a:srgbClr val="E5F5FF"/>
                    </a:solidFill>
                  </a:tcPr>
                </a:tc>
                <a:tc>
                  <a:txBody>
                    <a:bodyPr/>
                    <a:lstStyle/>
                    <a:p>
                      <a:r>
                        <a:rPr sz="850" b="0">
                          <a:solidFill>
                            <a:srgbClr val="4B4B4B"/>
                          </a:solidFill>
                          <a:latin typeface="Arial"/>
                        </a:rPr>
                        <a:t>One row per exception: Exception No. (opens the exception record), Requested Rate (%), Scheme Rate (%), Difference (%) in percentage points with its sign, Valid Until, Requested By and on, Decided By and on, Status (Pending Authorization, Approved or Rejected)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Item rate %</a:t>
                      </a:r>
                    </a:p>
                  </a:txBody>
                  <a:tcPr marL="54864" marR="54864" marT="27432" marB="27432">
                    <a:solidFill>
                      <a:srgbClr val="FFFFFF"/>
                    </a:solidFill>
                  </a:tcPr>
                </a:tc>
                <a:tc>
                  <a:txBody>
                    <a:bodyPr/>
                    <a:lstStyle/>
                    <a:p>
                      <a:r>
                        <a:rPr sz="850" b="0">
                          <a:solidFill>
                            <a:srgbClr val="4B4B4B"/>
                          </a:solidFill>
                          <a:latin typeface="Arial"/>
                        </a:rPr>
                        <a:t>Number</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0 to 100</a:t>
                      </a:r>
                    </a:p>
                  </a:txBody>
                  <a:tcPr marL="54864" marR="54864" marT="27432" marB="27432">
                    <a:solidFill>
                      <a:srgbClr val="FFFFFF"/>
                    </a:solidFill>
                  </a:tcPr>
                </a:tc>
                <a:tc>
                  <a:txBody>
                    <a:bodyPr/>
                    <a:lstStyle/>
                    <a:p>
                      <a:r>
                        <a:rPr sz="850" b="0">
                          <a:solidFill>
                            <a:srgbClr val="4B4B4B"/>
                          </a:solidFill>
                          <a:latin typeface="Arial"/>
                        </a:rPr>
                        <a:t>Enter the item rate between 0 and 100</a:t>
                      </a:r>
                    </a:p>
                  </a:txBody>
                  <a:tcPr marL="54864" marR="54864" marT="27432" marB="27432">
                    <a:solidFill>
                      <a:srgbClr val="FFFFFF"/>
                    </a:solidFill>
                  </a:tcPr>
                </a:tc>
              </a:tr>
              <a:tr h="350518">
                <a:tc>
                  <a:txBody>
                    <a:bodyPr/>
                    <a:lstStyle/>
                    <a:p>
                      <a:r>
                        <a:rPr sz="850" b="0">
                          <a:solidFill>
                            <a:srgbClr val="4B4B4B"/>
                          </a:solidFill>
                          <a:latin typeface="Arial"/>
                        </a:rPr>
                        <a:t>4</a:t>
                      </a:r>
                    </a:p>
                  </a:txBody>
                  <a:tcPr marL="54864" marR="54864" marT="27432" marB="27432">
                    <a:solidFill>
                      <a:srgbClr val="E5F5FF"/>
                    </a:solidFill>
                  </a:tcPr>
                </a:tc>
                <a:tc>
                  <a:txBody>
                    <a:bodyPr/>
                    <a:lstStyle/>
                    <a:p>
                      <a:r>
                        <a:rPr sz="850" b="0">
                          <a:solidFill>
                            <a:srgbClr val="4B4B4B"/>
                          </a:solidFill>
                          <a:latin typeface="Arial"/>
                        </a:rPr>
                        <a:t>Request Rate Exception</a:t>
                      </a:r>
                    </a:p>
                  </a:txBody>
                  <a:tcPr marL="54864" marR="54864" marT="27432" marB="27432">
                    <a:solidFill>
                      <a:srgbClr val="E5F5FF"/>
                    </a:solidFill>
                  </a:tcPr>
                </a:tc>
                <a:tc>
                  <a:txBody>
                    <a:bodyPr/>
                    <a:lstStyle/>
                    <a:p>
                      <a:r>
                        <a:rPr sz="850" b="0">
                          <a:solidFill>
                            <a:srgbClr val="4B4B4B"/>
                          </a:solidFill>
                          <a:latin typeface="Arial"/>
                        </a:rPr>
                        <a:t>Valid until</a:t>
                      </a:r>
                    </a:p>
                  </a:txBody>
                  <a:tcPr marL="54864" marR="54864" marT="27432" marB="27432">
                    <a:solidFill>
                      <a:srgbClr val="E5F5FF"/>
                    </a:solidFill>
                  </a:tcPr>
                </a:tc>
                <a:tc>
                  <a:txBody>
                    <a:bodyPr/>
                    <a:lstStyle/>
                    <a:p>
                      <a:r>
                        <a:rPr sz="850" b="0">
                          <a:solidFill>
                            <a:srgbClr val="4B4B4B"/>
                          </a:solidFill>
                          <a:latin typeface="Arial"/>
                        </a:rPr>
                        <a:t>Date</a:t>
                      </a:r>
                    </a:p>
                  </a:txBody>
                  <a:tcPr marL="54864" marR="54864" marT="27432" marB="27432">
                    <a:solidFill>
                      <a:srgbClr val="E5F5FF"/>
                    </a:solidFill>
                  </a:tcPr>
                </a:tc>
                <a:tc>
                  <a:txBody>
                    <a:bodyPr/>
                    <a:lstStyle/>
                    <a:p>
                      <a:r>
                        <a:rPr sz="850" b="0">
                          <a:solidFill>
                            <a:srgbClr val="4B4B4B"/>
                          </a:solidFill>
                          <a:latin typeface="Arial"/>
                        </a:rPr>
                        <a:t>dd-MMM-yyyy</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Not in the past</a:t>
                      </a:r>
                    </a:p>
                  </a:txBody>
                  <a:tcPr marL="54864" marR="54864" marT="27432" marB="27432">
                    <a:solidFill>
                      <a:srgbClr val="E5F5FF"/>
                    </a:solidFill>
                  </a:tcPr>
                </a:tc>
                <a:tc>
                  <a:txBody>
                    <a:bodyPr/>
                    <a:lstStyle/>
                    <a:p>
                      <a:r>
                        <a:rPr sz="850" b="0">
                          <a:solidFill>
                            <a:srgbClr val="4B4B4B"/>
                          </a:solidFill>
                          <a:latin typeface="Arial"/>
                        </a:rPr>
                        <a:t>The validity date cannot be in the past</a:t>
                      </a:r>
                    </a:p>
                  </a:txBody>
                  <a:tcPr marL="54864" marR="54864" marT="27432" marB="27432">
                    <a:solidFill>
                      <a:srgbClr val="E5F5FF"/>
                    </a:solidFill>
                  </a:tcPr>
                </a:tc>
              </a:tr>
              <a:tr h="350518">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Reason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Explain why the scheme rate cannot be used</a:t>
                      </a:r>
                    </a:p>
                  </a:txBody>
                  <a:tcPr marL="54864" marR="54864" marT="27432" marB="27432">
                    <a:solidFill>
                      <a:srgbClr val="FFFFFF"/>
                    </a:solidFill>
                  </a:tcPr>
                </a:tc>
              </a:tr>
              <a:tr h="220979">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Package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Risk code – package name</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Requested rate</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Rate n.nn% (or the version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8</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Scheme in force</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Version n, rate n.nn% (or rate per insurer)</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350518">
                <a:tc>
                  <a:txBody>
                    <a:bodyPr/>
                    <a:lstStyle/>
                    <a:p>
                      <a:r>
                        <a:rPr sz="850" b="0">
                          <a:solidFill>
                            <a:srgbClr val="4B4B4B"/>
                          </a:solidFill>
                          <a:latin typeface="Arial"/>
                        </a:rPr>
                        <a:t>9</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Quotation</a:t>
                      </a:r>
                    </a:p>
                  </a:txBody>
                  <a:tcPr marL="54864" marR="54864" marT="27432" marB="27432">
                    <a:solidFill>
                      <a:srgbClr val="FFFFFF"/>
                    </a:solidFill>
                  </a:tcPr>
                </a:tc>
                <a:tc>
                  <a:txBody>
                    <a:bodyPr/>
                    <a:lstStyle/>
                    <a:p>
                      <a:r>
                        <a:rPr sz="850" b="0">
                          <a:solidFill>
                            <a:srgbClr val="4B4B4B"/>
                          </a:solidFill>
                          <a:latin typeface="Arial"/>
                        </a:rPr>
                        <a:t>Fact</a:t>
                      </a:r>
                    </a:p>
                  </a:txBody>
                  <a:tcPr marL="54864" marR="54864" marT="27432" marB="27432">
                    <a:solidFill>
                      <a:srgbClr val="FFFFFF"/>
                    </a:solidFill>
                  </a:tcPr>
                </a:tc>
                <a:tc>
                  <a:txBody>
                    <a:bodyPr/>
                    <a:lstStyle/>
                    <a:p>
                      <a:r>
                        <a:rPr sz="850" b="0">
                          <a:solidFill>
                            <a:srgbClr val="4B4B4B"/>
                          </a:solidFill>
                          <a:latin typeface="Arial"/>
                        </a:rPr>
                        <a:t>Quotation number (opens the quotation), client and gross premium</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350518">
                <a:tc>
                  <a:txBody>
                    <a:bodyPr/>
                    <a:lstStyle/>
                    <a:p>
                      <a:r>
                        <a:rPr sz="850" b="0">
                          <a:solidFill>
                            <a:srgbClr val="4B4B4B"/>
                          </a:solidFill>
                          <a:latin typeface="Arial"/>
                        </a:rPr>
                        <a:t>10</a:t>
                      </a:r>
                    </a:p>
                  </a:txBody>
                  <a:tcPr marL="54864" marR="54864" marT="27432" marB="27432">
                    <a:solidFill>
                      <a:srgbClr val="E5F5FF"/>
                    </a:solidFill>
                  </a:tcPr>
                </a:tc>
                <a:tc>
                  <a:txBody>
                    <a:bodyPr/>
                    <a:lstStyle/>
                    <a:p>
                      <a:r>
                        <a:rPr sz="850" b="0">
                          <a:solidFill>
                            <a:srgbClr val="4B4B4B"/>
                          </a:solidFill>
                          <a:latin typeface="Arial"/>
                        </a:rPr>
                        <a:t>Exception record</a:t>
                      </a:r>
                    </a:p>
                  </a:txBody>
                  <a:tcPr marL="54864" marR="54864" marT="27432" marB="27432">
                    <a:solidFill>
                      <a:srgbClr val="E5F5FF"/>
                    </a:solidFill>
                  </a:tcPr>
                </a:tc>
                <a:tc>
                  <a:txBody>
                    <a:bodyPr/>
                    <a:lstStyle/>
                    <a:p>
                      <a:r>
                        <a:rPr sz="850" b="0">
                          <a:solidFill>
                            <a:srgbClr val="4B4B4B"/>
                          </a:solidFill>
                          <a:latin typeface="Arial"/>
                        </a:rPr>
                        <a:t>Requested by</a:t>
                      </a:r>
                    </a:p>
                  </a:txBody>
                  <a:tcPr marL="54864" marR="54864" marT="27432" marB="27432">
                    <a:solidFill>
                      <a:srgbClr val="E5F5FF"/>
                    </a:solidFill>
                  </a:tcPr>
                </a:tc>
                <a:tc>
                  <a:txBody>
                    <a:bodyPr/>
                    <a:lstStyle/>
                    <a:p>
                      <a:r>
                        <a:rPr sz="850" b="0">
                          <a:solidFill>
                            <a:srgbClr val="4B4B4B"/>
                          </a:solidFill>
                          <a:latin typeface="Arial"/>
                        </a:rPr>
                        <a:t>Fact</a:t>
                      </a:r>
                    </a:p>
                  </a:txBody>
                  <a:tcPr marL="54864" marR="54864" marT="27432" marB="27432">
                    <a:solidFill>
                      <a:srgbClr val="E5F5FF"/>
                    </a:solidFill>
                  </a:tcPr>
                </a:tc>
                <a:tc>
                  <a:txBody>
                    <a:bodyPr/>
                    <a:lstStyle/>
                    <a:p>
                      <a:r>
                        <a:rPr sz="850" b="0">
                          <a:solidFill>
                            <a:srgbClr val="4B4B4B"/>
                          </a:solidFill>
                          <a:latin typeface="Arial"/>
                        </a:rPr>
                        <a:t>Display name and date and time of the request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Reason for the exception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As requested</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bl>
          </a:graphicData>
        </a:graphic>
      </p:graphicFrame>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fields and columns (No. = callout on the first image)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384</a:t>
            </a:r>
          </a:p>
        </p:txBody>
      </p:sp>
      <p:graphicFrame>
        <p:nvGraphicFramePr>
          <p:cNvPr id="9" name="Table 8"/>
          <p:cNvGraphicFramePr>
            <a:graphicFrameLocks noGrp="1"/>
          </p:cNvGraphicFramePr>
          <p:nvPr/>
        </p:nvGraphicFramePr>
        <p:xfrm>
          <a:off x="548640" y="1325880"/>
          <a:ext cx="11094411" cy="1142994"/>
        </p:xfrm>
        <a:graphic>
          <a:graphicData uri="http://schemas.openxmlformats.org/drawingml/2006/table">
            <a:tbl>
              <a:tblPr firstRow="1" bandRow="1">
                <a:tableStyleId>{5C22544A-7EE6-4342-B048-85BDC9FD1C3A}</a:tableStyleId>
              </a:tblPr>
              <a:tblGrid>
                <a:gridCol w="413970"/>
                <a:gridCol w="1324706"/>
                <a:gridCol w="1821471"/>
                <a:gridCol w="993529"/>
                <a:gridCol w="1987059"/>
                <a:gridCol w="579558"/>
                <a:gridCol w="1987059"/>
                <a:gridCol w="1987059"/>
              </a:tblGrid>
              <a:tr h="220979">
                <a:tc>
                  <a:txBody>
                    <a:bodyPr/>
                    <a:lstStyle/>
                    <a:p>
                      <a:r>
                        <a:rPr sz="850" b="1">
                          <a:solidFill>
                            <a:srgbClr val="FFFFFF"/>
                          </a:solidFill>
                          <a:latin typeface="Arial"/>
                        </a:rPr>
                        <a:t>No.</a:t>
                      </a:r>
                    </a:p>
                  </a:txBody>
                  <a:tcPr marL="54864" marR="54864" marT="27432" marB="27432">
                    <a:solidFill>
                      <a:srgbClr val="004EA8"/>
                    </a:solidFill>
                  </a:tcPr>
                </a:tc>
                <a:tc>
                  <a:txBody>
                    <a:bodyPr/>
                    <a:lstStyle/>
                    <a:p>
                      <a:r>
                        <a:rPr sz="850" b="1">
                          <a:solidFill>
                            <a:srgbClr val="FFFFFF"/>
                          </a:solidFill>
                          <a:latin typeface="Arial"/>
                        </a:rPr>
                        <a:t>Section</a:t>
                      </a:r>
                    </a:p>
                  </a:txBody>
                  <a:tcPr marL="54864" marR="54864" marT="27432" marB="27432">
                    <a:solidFill>
                      <a:srgbClr val="004EA8"/>
                    </a:solidFill>
                  </a:tcPr>
                </a:tc>
                <a:tc>
                  <a:txBody>
                    <a:bodyPr/>
                    <a:lstStyle/>
                    <a:p>
                      <a:r>
                        <a:rPr sz="850" b="1">
                          <a:solidFill>
                            <a:srgbClr val="FFFFFF"/>
                          </a:solidFill>
                          <a:latin typeface="Arial"/>
                        </a:rPr>
                        <a:t>Field</a:t>
                      </a:r>
                    </a:p>
                  </a:txBody>
                  <a:tcPr marL="54864" marR="54864" marT="27432" marB="27432">
                    <a:solidFill>
                      <a:srgbClr val="004EA8"/>
                    </a:solidFill>
                  </a:tcPr>
                </a:tc>
                <a:tc>
                  <a:txBody>
                    <a:bodyPr/>
                    <a:lstStyle/>
                    <a:p>
                      <a:r>
                        <a:rPr sz="850" b="1">
                          <a:solidFill>
                            <a:srgbClr val="FFFFFF"/>
                          </a:solidFill>
                          <a:latin typeface="Arial"/>
                        </a:rPr>
                        <a:t>Type</a:t>
                      </a:r>
                    </a:p>
                  </a:txBody>
                  <a:tcPr marL="54864" marR="54864" marT="27432" marB="27432">
                    <a:solidFill>
                      <a:srgbClr val="004EA8"/>
                    </a:solidFill>
                  </a:tcPr>
                </a:tc>
                <a:tc>
                  <a:txBody>
                    <a:bodyPr/>
                    <a:lstStyle/>
                    <a:p>
                      <a:r>
                        <a:rPr sz="850" b="1">
                          <a:solidFill>
                            <a:srgbClr val="FFFFFF"/>
                          </a:solidFill>
                          <a:latin typeface="Arial"/>
                        </a:rPr>
                        <a:t>Length / format</a:t>
                      </a:r>
                    </a:p>
                  </a:txBody>
                  <a:tcPr marL="54864" marR="54864" marT="27432" marB="27432">
                    <a:solidFill>
                      <a:srgbClr val="004EA8"/>
                    </a:solidFill>
                  </a:tcPr>
                </a:tc>
                <a:tc>
                  <a:txBody>
                    <a:bodyPr/>
                    <a:lstStyle/>
                    <a:p>
                      <a:r>
                        <a:rPr sz="850" b="1">
                          <a:solidFill>
                            <a:srgbClr val="FFFFFF"/>
                          </a:solidFill>
                          <a:latin typeface="Arial"/>
                        </a:rPr>
                        <a:t>Mand.</a:t>
                      </a:r>
                    </a:p>
                  </a:txBody>
                  <a:tcPr marL="54864" marR="54864" marT="27432" marB="27432">
                    <a:solidFill>
                      <a:srgbClr val="004EA8"/>
                    </a:solidFill>
                  </a:tcPr>
                </a:tc>
                <a:tc>
                  <a:txBody>
                    <a:bodyPr/>
                    <a:lstStyle/>
                    <a:p>
                      <a:r>
                        <a:rPr sz="850" b="1">
                          <a:solidFill>
                            <a:srgbClr val="FFFFFF"/>
                          </a:solidFill>
                          <a:latin typeface="Arial"/>
                        </a:rPr>
                        <a:t>Validation</a:t>
                      </a:r>
                    </a:p>
                  </a:txBody>
                  <a:tcPr marL="54864" marR="54864" marT="27432" marB="27432">
                    <a:solidFill>
                      <a:srgbClr val="004EA8"/>
                    </a:solidFill>
                  </a:tcPr>
                </a:tc>
                <a:tc>
                  <a:txBody>
                    <a:bodyPr/>
                    <a:lstStyle/>
                    <a:p>
                      <a:r>
                        <a:rPr sz="850" b="1">
                          <a:solidFill>
                            <a:srgbClr val="FFFFFF"/>
                          </a:solidFill>
                          <a:latin typeface="Arial"/>
                        </a:rPr>
                        <a:t>Message when it fails</a:t>
                      </a:r>
                    </a:p>
                  </a:txBody>
                  <a:tcPr marL="54864" marR="54864" marT="27432" marB="27432">
                    <a:solidFill>
                      <a:srgbClr val="004EA8"/>
                    </a:solidFill>
                  </a:tcPr>
                </a:tc>
              </a:tr>
              <a:tr h="480057">
                <a:tc>
                  <a:txBody>
                    <a:bodyPr/>
                    <a:lstStyle/>
                    <a:p>
                      <a:r>
                        <a:rPr sz="850" b="0">
                          <a:solidFill>
                            <a:srgbClr val="4B4B4B"/>
                          </a:solidFill>
                          <a:latin typeface="Arial"/>
                        </a:rPr>
                        <a:t>12</a:t>
                      </a:r>
                    </a:p>
                  </a:txBody>
                  <a:tcPr marL="54864" marR="54864" marT="27432" marB="27432">
                    <a:solidFill>
                      <a:srgbClr val="FFFFFF"/>
                    </a:solidFill>
                  </a:tcPr>
                </a:tc>
                <a:tc>
                  <a:txBody>
                    <a:bodyPr/>
                    <a:lstStyle/>
                    <a:p>
                      <a:r>
                        <a:rPr sz="850" b="0">
                          <a:solidFill>
                            <a:srgbClr val="4B4B4B"/>
                          </a:solidFill>
                          <a:latin typeface="Arial"/>
                        </a:rPr>
                        <a:t>Exception record</a:t>
                      </a:r>
                    </a:p>
                  </a:txBody>
                  <a:tcPr marL="54864" marR="54864" marT="27432" marB="27432">
                    <a:solidFill>
                      <a:srgbClr val="FFFFFF"/>
                    </a:solidFill>
                  </a:tcPr>
                </a:tc>
                <a:tc>
                  <a:txBody>
                    <a:bodyPr/>
                    <a:lstStyle/>
                    <a:p>
                      <a:r>
                        <a:rPr sz="850" b="0">
                          <a:solidFill>
                            <a:srgbClr val="4B4B4B"/>
                          </a:solidFill>
                          <a:latin typeface="Arial"/>
                        </a:rPr>
                        <a:t>Decision</a:t>
                      </a:r>
                    </a:p>
                  </a:txBody>
                  <a:tcPr marL="54864" marR="54864" marT="27432" marB="27432">
                    <a:solidFill>
                      <a:srgbClr val="FFFFFF"/>
                    </a:solidFill>
                  </a:tcPr>
                </a:tc>
                <a:tc>
                  <a:txBody>
                    <a:bodyPr/>
                    <a:lstStyle/>
                    <a:p>
                      <a:r>
                        <a:rPr sz="850" b="0">
                          <a:solidFill>
                            <a:srgbClr val="4B4B4B"/>
                          </a:solidFill>
                          <a:latin typeface="Arial"/>
                        </a:rPr>
                        <a:t>Detail</a:t>
                      </a:r>
                    </a:p>
                  </a:txBody>
                  <a:tcPr marL="54864" marR="54864" marT="27432" marB="27432">
                    <a:solidFill>
                      <a:srgbClr val="FFFFFF"/>
                    </a:solidFill>
                  </a:tcPr>
                </a:tc>
                <a:tc>
                  <a:txBody>
                    <a:bodyPr/>
                    <a:lstStyle/>
                    <a:p>
                      <a:r>
                        <a:rPr sz="850" b="0">
                          <a:solidFill>
                            <a:srgbClr val="4B4B4B"/>
                          </a:solidFill>
                          <a:latin typeface="Arial"/>
                        </a:rPr>
                        <a:t>Approved by or Rejected by (display name and role), On, Comment or Reason</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r>
              <a:tr h="220979">
                <a:tc>
                  <a:txBody>
                    <a:bodyPr/>
                    <a:lstStyle/>
                    <a:p>
                      <a:r>
                        <a:rPr sz="850" b="0">
                          <a:solidFill>
                            <a:srgbClr val="4B4B4B"/>
                          </a:solidFill>
                          <a:latin typeface="Arial"/>
                        </a:rPr>
                        <a:t>13</a:t>
                      </a:r>
                    </a:p>
                  </a:txBody>
                  <a:tcPr marL="54864" marR="54864" marT="27432" marB="27432">
                    <a:solidFill>
                      <a:srgbClr val="E5F5FF"/>
                    </a:solidFill>
                  </a:tcPr>
                </a:tc>
                <a:tc>
                  <a:txBody>
                    <a:bodyPr/>
                    <a:lstStyle/>
                    <a:p>
                      <a:r>
                        <a:rPr sz="850" b="0">
                          <a:solidFill>
                            <a:srgbClr val="4B4B4B"/>
                          </a:solidFill>
                          <a:latin typeface="Arial"/>
                        </a:rPr>
                        <a:t>Approve Rate Exception</a:t>
                      </a:r>
                    </a:p>
                  </a:txBody>
                  <a:tcPr marL="54864" marR="54864" marT="27432" marB="27432">
                    <a:solidFill>
                      <a:srgbClr val="E5F5FF"/>
                    </a:solidFill>
                  </a:tcPr>
                </a:tc>
                <a:tc>
                  <a:txBody>
                    <a:bodyPr/>
                    <a:lstStyle/>
                    <a:p>
                      <a:r>
                        <a:rPr sz="850" b="0">
                          <a:solidFill>
                            <a:srgbClr val="4B4B4B"/>
                          </a:solidFill>
                          <a:latin typeface="Arial"/>
                        </a:rPr>
                        <a:t>Comment</a:t>
                      </a:r>
                    </a:p>
                  </a:txBody>
                  <a:tcPr marL="54864" marR="54864" marT="27432" marB="27432">
                    <a:solidFill>
                      <a:srgbClr val="E5F5FF"/>
                    </a:solidFill>
                  </a:tcPr>
                </a:tc>
                <a:tc>
                  <a:txBody>
                    <a:bodyPr/>
                    <a:lstStyle/>
                    <a:p>
                      <a:r>
                        <a:rPr sz="850" b="0">
                          <a:solidFill>
                            <a:srgbClr val="4B4B4B"/>
                          </a:solidFill>
                          <a:latin typeface="Arial"/>
                        </a:rPr>
                        <a:t>Text</a:t>
                      </a:r>
                    </a:p>
                  </a:txBody>
                  <a:tcPr marL="54864" marR="54864" marT="27432" marB="27432">
                    <a:solidFill>
                      <a:srgbClr val="E5F5FF"/>
                    </a:solidFill>
                  </a:tcPr>
                </a:tc>
                <a:tc>
                  <a:txBody>
                    <a:bodyPr/>
                    <a:lstStyle/>
                    <a:p>
                      <a:r>
                        <a:rPr sz="850" b="0">
                          <a:solidFill>
                            <a:srgbClr val="4B4B4B"/>
                          </a:solidFill>
                          <a:latin typeface="Arial"/>
                        </a:rPr>
                        <a:t>Free text, up to 1,000 characters</a:t>
                      </a:r>
                    </a:p>
                  </a:txBody>
                  <a:tcPr marL="54864" marR="54864" marT="27432" marB="27432">
                    <a:solidFill>
                      <a:srgbClr val="E5F5FF"/>
                    </a:solidFill>
                  </a:tcPr>
                </a:tc>
                <a:tc>
                  <a:txBody>
                    <a:bodyPr/>
                    <a:lstStyle/>
                    <a:p>
                      <a:r>
                        <a:rPr sz="850" b="0">
                          <a:solidFill>
                            <a:srgbClr val="4B4B4B"/>
                          </a:solidFill>
                          <a:latin typeface="Arial"/>
                        </a:rPr>
                        <a:t>N</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220979">
                <a:tc>
                  <a:txBody>
                    <a:bodyPr/>
                    <a:lstStyle/>
                    <a:p>
                      <a:r>
                        <a:rPr sz="850" b="0">
                          <a:solidFill>
                            <a:srgbClr val="4B4B4B"/>
                          </a:solidFill>
                          <a:latin typeface="Arial"/>
                        </a:rPr>
                        <a:t>14</a:t>
                      </a:r>
                    </a:p>
                  </a:txBody>
                  <a:tcPr marL="54864" marR="54864" marT="27432" marB="27432">
                    <a:solidFill>
                      <a:srgbClr val="FFFFFF"/>
                    </a:solidFill>
                  </a:tcPr>
                </a:tc>
                <a:tc>
                  <a:txBody>
                    <a:bodyPr/>
                    <a:lstStyle/>
                    <a:p>
                      <a:r>
                        <a:rPr sz="850" b="0">
                          <a:solidFill>
                            <a:srgbClr val="4B4B4B"/>
                          </a:solidFill>
                          <a:latin typeface="Arial"/>
                        </a:rPr>
                        <a:t>Reject Rate Exception</a:t>
                      </a:r>
                    </a:p>
                  </a:txBody>
                  <a:tcPr marL="54864" marR="54864" marT="27432" marB="27432">
                    <a:solidFill>
                      <a:srgbClr val="FFFFFF"/>
                    </a:solidFill>
                  </a:tcPr>
                </a:tc>
                <a:tc>
                  <a:txBody>
                    <a:bodyPr/>
                    <a:lstStyle/>
                    <a:p>
                      <a:r>
                        <a:rPr sz="850" b="0">
                          <a:solidFill>
                            <a:srgbClr val="4B4B4B"/>
                          </a:solidFill>
                          <a:latin typeface="Arial"/>
                        </a:rPr>
                        <a:t>Reason for the rejection</a:t>
                      </a:r>
                    </a:p>
                  </a:txBody>
                  <a:tcPr marL="54864" marR="54864" marT="27432" marB="27432">
                    <a:solidFill>
                      <a:srgbClr val="FFFFFF"/>
                    </a:solidFill>
                  </a:tcPr>
                </a:tc>
                <a:tc>
                  <a:txBody>
                    <a:bodyPr/>
                    <a:lstStyle/>
                    <a:p>
                      <a:r>
                        <a:rPr sz="850" b="0">
                          <a:solidFill>
                            <a:srgbClr val="4B4B4B"/>
                          </a:solidFill>
                          <a:latin typeface="Arial"/>
                        </a:rPr>
                        <a:t>Text</a:t>
                      </a:r>
                    </a:p>
                  </a:txBody>
                  <a:tcPr marL="54864" marR="54864" marT="27432" marB="27432">
                    <a:solidFill>
                      <a:srgbClr val="FFFFFF"/>
                    </a:solidFill>
                  </a:tcPr>
                </a:tc>
                <a:tc>
                  <a:txBody>
                    <a:bodyPr/>
                    <a:lstStyle/>
                    <a:p>
                      <a:r>
                        <a:rPr sz="850" b="0">
                          <a:solidFill>
                            <a:srgbClr val="4B4B4B"/>
                          </a:solidFill>
                          <a:latin typeface="Arial"/>
                        </a:rPr>
                        <a:t>Free text, up to 1,000 characters</a:t>
                      </a:r>
                    </a:p>
                  </a:txBody>
                  <a:tcPr marL="54864" marR="54864" marT="27432" marB="27432">
                    <a:solidFill>
                      <a:srgbClr val="FFFFFF"/>
                    </a:solidFill>
                  </a:tcPr>
                </a:tc>
                <a:tc>
                  <a:txBody>
                    <a:bodyPr/>
                    <a:lstStyle/>
                    <a:p>
                      <a:r>
                        <a:rPr sz="850" b="0">
                          <a:solidFill>
                            <a:srgbClr val="4B4B4B"/>
                          </a:solidFill>
                          <a:latin typeface="Arial"/>
                        </a:rPr>
                        <a:t>Y</a:t>
                      </a:r>
                    </a:p>
                  </a:txBody>
                  <a:tcPr marL="54864" marR="54864" marT="27432" marB="27432">
                    <a:solidFill>
                      <a:srgbClr val="FFFFFF"/>
                    </a:solidFill>
                  </a:tcPr>
                </a:tc>
                <a:tc>
                  <a:txBody>
                    <a:bodyPr/>
                    <a:lstStyle/>
                    <a:p>
                      <a:r>
                        <a:rPr sz="850" b="0">
                          <a:solidFill>
                            <a:srgbClr val="4B4B4B"/>
                          </a:solidFill>
                          <a:latin typeface="Arial"/>
                        </a:rPr>
                        <a:t>Not blank</a:t>
                      </a:r>
                    </a:p>
                  </a:txBody>
                  <a:tcPr marL="54864" marR="54864" marT="27432" marB="27432">
                    <a:solidFill>
                      <a:srgbClr val="FFFFFF"/>
                    </a:solidFill>
                  </a:tcPr>
                </a:tc>
                <a:tc>
                  <a:txBody>
                    <a:bodyPr/>
                    <a:lstStyle/>
                    <a:p>
                      <a:r>
                        <a:rPr sz="850" b="0">
                          <a:solidFill>
                            <a:srgbClr val="4B4B4B"/>
                          </a:solidFill>
                          <a:latin typeface="Arial"/>
                        </a:rPr>
                        <a:t>Enter the reason for the rejection</a:t>
                      </a:r>
                    </a:p>
                  </a:txBody>
                  <a:tcPr marL="54864" marR="54864" marT="27432" marB="27432">
                    <a:solidFill>
                      <a:srgbClr val="FFFFFF"/>
                    </a:solidFill>
                  </a:tcPr>
                </a:tc>
              </a:tr>
            </a:tbl>
          </a:graphicData>
        </a:graphic>
      </p:graphicFrame>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actions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385</a:t>
            </a:r>
          </a:p>
        </p:txBody>
      </p:sp>
      <p:graphicFrame>
        <p:nvGraphicFramePr>
          <p:cNvPr id="9" name="Table 8"/>
          <p:cNvGraphicFramePr>
            <a:graphicFrameLocks noGrp="1"/>
          </p:cNvGraphicFramePr>
          <p:nvPr/>
        </p:nvGraphicFramePr>
        <p:xfrm>
          <a:off x="548640" y="1325880"/>
          <a:ext cx="11094412" cy="2011668"/>
        </p:xfrm>
        <a:graphic>
          <a:graphicData uri="http://schemas.openxmlformats.org/drawingml/2006/table">
            <a:tbl>
              <a:tblPr firstRow="1" bandRow="1">
                <a:tableStyleId>{5C22544A-7EE6-4342-B048-85BDC9FD1C3A}</a:tableStyleId>
              </a:tblPr>
              <a:tblGrid>
                <a:gridCol w="1501499"/>
                <a:gridCol w="1668333"/>
                <a:gridCol w="1668333"/>
                <a:gridCol w="3503499"/>
                <a:gridCol w="1251249"/>
                <a:gridCol w="1501499"/>
              </a:tblGrid>
              <a:tr h="220979">
                <a:tc>
                  <a:txBody>
                    <a:bodyPr/>
                    <a:lstStyle/>
                    <a:p>
                      <a:r>
                        <a:rPr sz="850" b="1">
                          <a:solidFill>
                            <a:srgbClr val="FFFFFF"/>
                          </a:solidFill>
                          <a:latin typeface="Arial"/>
                        </a:rPr>
                        <a:t>Button</a:t>
                      </a:r>
                    </a:p>
                  </a:txBody>
                  <a:tcPr marL="54864" marR="54864" marT="27432" marB="27432">
                    <a:solidFill>
                      <a:srgbClr val="004EA8"/>
                    </a:solidFill>
                  </a:tcPr>
                </a:tc>
                <a:tc>
                  <a:txBody>
                    <a:bodyPr/>
                    <a:lstStyle/>
                    <a:p>
                      <a:r>
                        <a:rPr sz="850" b="1">
                          <a:solidFill>
                            <a:srgbClr val="FFFFFF"/>
                          </a:solidFill>
                          <a:latin typeface="Arial"/>
                        </a:rPr>
                        <a:t>Who</a:t>
                      </a:r>
                    </a:p>
                  </a:txBody>
                  <a:tcPr marL="54864" marR="54864" marT="27432" marB="27432">
                    <a:solidFill>
                      <a:srgbClr val="004EA8"/>
                    </a:solidFill>
                  </a:tcPr>
                </a:tc>
                <a:tc>
                  <a:txBody>
                    <a:bodyPr/>
                    <a:lstStyle/>
                    <a:p>
                      <a:r>
                        <a:rPr sz="850" b="1">
                          <a:solidFill>
                            <a:srgbClr val="FFFFFF"/>
                          </a:solidFill>
                          <a:latin typeface="Arial"/>
                        </a:rPr>
                        <a:t>Enabled when</a:t>
                      </a:r>
                    </a:p>
                  </a:txBody>
                  <a:tcPr marL="54864" marR="54864" marT="27432" marB="27432">
                    <a:solidFill>
                      <a:srgbClr val="004EA8"/>
                    </a:solidFill>
                  </a:tcPr>
                </a:tc>
                <a:tc>
                  <a:txBody>
                    <a:bodyPr/>
                    <a:lstStyle/>
                    <a:p>
                      <a:r>
                        <a:rPr sz="850" b="1">
                          <a:solidFill>
                            <a:srgbClr val="FFFFFF"/>
                          </a:solidFill>
                          <a:latin typeface="Arial"/>
                        </a:rPr>
                        <a:t>What happens</a:t>
                      </a:r>
                    </a:p>
                  </a:txBody>
                  <a:tcPr marL="54864" marR="54864" marT="27432" marB="27432">
                    <a:solidFill>
                      <a:srgbClr val="004EA8"/>
                    </a:solidFill>
                  </a:tcPr>
                </a:tc>
                <a:tc>
                  <a:txBody>
                    <a:bodyPr/>
                    <a:lstStyle/>
                    <a:p>
                      <a:r>
                        <a:rPr sz="850" b="1">
                          <a:solidFill>
                            <a:srgbClr val="FFFFFF"/>
                          </a:solidFill>
                          <a:latin typeface="Arial"/>
                        </a:rPr>
                        <a:t>Resulting status</a:t>
                      </a:r>
                    </a:p>
                  </a:txBody>
                  <a:tcPr marL="54864" marR="54864" marT="27432" marB="27432">
                    <a:solidFill>
                      <a:srgbClr val="004EA8"/>
                    </a:solidFill>
                  </a:tcPr>
                </a:tc>
                <a:tc>
                  <a:txBody>
                    <a:bodyPr/>
                    <a:lstStyle/>
                    <a:p>
                      <a:r>
                        <a:rPr sz="850" b="1">
                          <a:solidFill>
                            <a:srgbClr val="FFFFFF"/>
                          </a:solidFill>
                          <a:latin typeface="Arial"/>
                        </a:rPr>
                        <a:t>Notification</a:t>
                      </a:r>
                    </a:p>
                  </a:txBody>
                  <a:tcPr marL="54864" marR="54864" marT="27432" marB="27432">
                    <a:solidFill>
                      <a:srgbClr val="004EA8"/>
                    </a:solidFill>
                  </a:tcPr>
                </a:tc>
              </a:tr>
              <a:tr h="350518">
                <a:tc>
                  <a:txBody>
                    <a:bodyPr/>
                    <a:lstStyle/>
                    <a:p>
                      <a:r>
                        <a:rPr sz="850" b="0">
                          <a:solidFill>
                            <a:srgbClr val="4B4B4B"/>
                          </a:solidFill>
                          <a:latin typeface="Arial"/>
                        </a:rPr>
                        <a:t>Request Rate Exception</a:t>
                      </a:r>
                    </a:p>
                  </a:txBody>
                  <a:tcPr marL="54864" marR="54864" marT="27432" marB="27432">
                    <a:solidFill>
                      <a:srgbClr val="FFFFFF"/>
                    </a:solidFill>
                  </a:tcPr>
                </a:tc>
                <a:tc>
                  <a:txBody>
                    <a:bodyPr/>
                    <a:lstStyle/>
                    <a:p>
                      <a:r>
                        <a:rPr sz="850" b="0">
                          <a:solidFill>
                            <a:srgbClr val="4B4B4B"/>
                          </a:solidFill>
                          <a:latin typeface="Arial"/>
                        </a:rPr>
                        <a:t>Marketing (QUOTE_MAINTAIN)</a:t>
                      </a:r>
                    </a:p>
                  </a:txBody>
                  <a:tcPr marL="54864" marR="54864" marT="27432" marB="27432">
                    <a:solidFill>
                      <a:srgbClr val="FFFFFF"/>
                    </a:solidFill>
                  </a:tcPr>
                </a:tc>
                <a:tc>
                  <a:txBody>
                    <a:bodyPr/>
                    <a:lstStyle/>
                    <a:p>
                      <a:r>
                        <a:rPr sz="850" b="0">
                          <a:solidFill>
                            <a:srgbClr val="4B4B4B"/>
                          </a:solidFill>
                          <a:latin typeface="Arial"/>
                        </a:rPr>
                        <a:t>Draft quotation of a package with an item rate that differs</a:t>
                      </a:r>
                    </a:p>
                  </a:txBody>
                  <a:tcPr marL="54864" marR="54864" marT="27432" marB="27432">
                    <a:solidFill>
                      <a:srgbClr val="FFFFFF"/>
                    </a:solidFill>
                  </a:tcPr>
                </a:tc>
                <a:tc>
                  <a:txBody>
                    <a:bodyPr/>
                    <a:lstStyle/>
                    <a:p>
                      <a:r>
                        <a:rPr sz="850" b="0">
                          <a:solidFill>
                            <a:srgbClr val="4B4B4B"/>
                          </a:solidFill>
                          <a:latin typeface="Arial"/>
                        </a:rPr>
                        <a:t>Opens the dialog; Request Exception records the exception for this quotation, pending approval</a:t>
                      </a:r>
                    </a:p>
                  </a:txBody>
                  <a:tcPr marL="54864" marR="54864" marT="27432" marB="27432">
                    <a:solidFill>
                      <a:srgbClr val="FFFFFF"/>
                    </a:solidFill>
                  </a:tcPr>
                </a:tc>
                <a:tc>
                  <a:txBody>
                    <a:bodyPr/>
                    <a:lstStyle/>
                    <a:p>
                      <a:r>
                        <a:rPr sz="850" b="0">
                          <a:solidFill>
                            <a:srgbClr val="4B4B4B"/>
                          </a:solidFill>
                          <a:latin typeface="Arial"/>
                        </a:rPr>
                        <a:t>Pending Authorization</a:t>
                      </a:r>
                    </a:p>
                  </a:txBody>
                  <a:tcPr marL="54864" marR="54864" marT="27432" marB="27432">
                    <a:solidFill>
                      <a:srgbClr val="FFFFFF"/>
                    </a:solidFill>
                  </a:tcPr>
                </a:tc>
                <a:tc>
                  <a:txBody>
                    <a:bodyPr/>
                    <a:lstStyle/>
                    <a:p>
                      <a:r>
                        <a:rPr sz="850" b="0">
                          <a:solidFill>
                            <a:srgbClr val="4B4B4B"/>
                          </a:solidFill>
                          <a:latin typeface="Arial"/>
                        </a:rPr>
                        <a:t>My Approvals of the approvers</a:t>
                      </a:r>
                    </a:p>
                  </a:txBody>
                  <a:tcPr marL="54864" marR="54864" marT="27432" marB="27432">
                    <a:solidFill>
                      <a:srgbClr val="FFFFFF"/>
                    </a:solidFill>
                  </a:tcPr>
                </a:tc>
              </a:tr>
              <a:tr h="480057">
                <a:tc>
                  <a:txBody>
                    <a:bodyPr/>
                    <a:lstStyle/>
                    <a:p>
                      <a:r>
                        <a:rPr sz="850" b="0">
                          <a:solidFill>
                            <a:srgbClr val="4B4B4B"/>
                          </a:solidFill>
                          <a:latin typeface="Arial"/>
                        </a:rPr>
                        <a:t>Open from My Approvals</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The rate exception row of My Approvals opens the exception record</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r>
              <a:tr h="480057">
                <a:tc>
                  <a:txBody>
                    <a:bodyPr/>
                    <a:lstStyle/>
                    <a:p>
                      <a:r>
                        <a:rPr sz="850" b="0">
                          <a:solidFill>
                            <a:srgbClr val="4B4B4B"/>
                          </a:solidFill>
                          <a:latin typeface="Arial"/>
                        </a:rPr>
                        <a:t>Approve</a:t>
                      </a:r>
                    </a:p>
                  </a:txBody>
                  <a:tcPr marL="54864" marR="54864" marT="27432" marB="27432">
                    <a:solidFill>
                      <a:srgbClr val="FFFF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FFFFFF"/>
                    </a:solidFill>
                  </a:tcPr>
                </a:tc>
                <a:tc>
                  <a:txBody>
                    <a:bodyPr/>
                    <a:lstStyle/>
                    <a:p>
                      <a:r>
                        <a:rPr sz="850" b="0">
                          <a:solidFill>
                            <a:srgbClr val="4B4B4B"/>
                          </a:solidFill>
                          <a:latin typeface="Arial"/>
                        </a:rPr>
                        <a:t>Exception pending</a:t>
                      </a:r>
                    </a:p>
                  </a:txBody>
                  <a:tcPr marL="54864" marR="54864" marT="27432" marB="27432">
                    <a:solidFill>
                      <a:srgbClr val="FFFFFF"/>
                    </a:solidFill>
                  </a:tcPr>
                </a:tc>
                <a:tc>
                  <a:txBody>
                    <a:bodyPr/>
                    <a:lstStyle/>
                    <a:p>
                      <a:r>
                        <a:rPr sz="850" b="0">
                          <a:solidFill>
                            <a:srgbClr val="4B4B4B"/>
                          </a:solidFill>
                          <a:latin typeface="Arial"/>
                        </a:rPr>
                        <a:t>Opens the confirmation with an optional comment; Approve approves the exception, which prices the quotation from then on</a:t>
                      </a:r>
                    </a:p>
                  </a:txBody>
                  <a:tcPr marL="54864" marR="54864" marT="27432" marB="27432">
                    <a:solidFill>
                      <a:srgbClr val="FFFFFF"/>
                    </a:solidFill>
                  </a:tcPr>
                </a:tc>
                <a:tc>
                  <a:txBody>
                    <a:bodyPr/>
                    <a:lstStyle/>
                    <a:p>
                      <a:r>
                        <a:rPr sz="850" b="0">
                          <a:solidFill>
                            <a:srgbClr val="4B4B4B"/>
                          </a:solidFill>
                          <a:latin typeface="Arial"/>
                        </a:rPr>
                        <a:t>Approved</a:t>
                      </a:r>
                    </a:p>
                  </a:txBody>
                  <a:tcPr marL="54864" marR="54864" marT="27432" marB="27432">
                    <a:solidFill>
                      <a:srgbClr val="FFFFFF"/>
                    </a:solidFill>
                  </a:tcPr>
                </a:tc>
                <a:tc>
                  <a:txBody>
                    <a:bodyPr/>
                    <a:lstStyle/>
                    <a:p>
                      <a:r>
                        <a:rPr sz="850" b="0">
                          <a:solidFill>
                            <a:srgbClr val="4B4B4B"/>
                          </a:solidFill>
                          <a:latin typeface="Arial"/>
                        </a:rPr>
                        <a:t>Notification to the requester</a:t>
                      </a:r>
                    </a:p>
                  </a:txBody>
                  <a:tcPr marL="54864" marR="54864" marT="27432" marB="27432">
                    <a:solidFill>
                      <a:srgbClr val="FFFFFF"/>
                    </a:solidFill>
                  </a:tcPr>
                </a:tc>
              </a:tr>
              <a:tr h="480057">
                <a:tc>
                  <a:txBody>
                    <a:bodyPr/>
                    <a:lstStyle/>
                    <a:p>
                      <a:r>
                        <a:rPr sz="850" b="0">
                          <a:solidFill>
                            <a:srgbClr val="4B4B4B"/>
                          </a:solidFill>
                          <a:latin typeface="Arial"/>
                        </a:rPr>
                        <a:t>Reject</a:t>
                      </a:r>
                    </a:p>
                  </a:txBody>
                  <a:tcPr marL="54864" marR="54864" marT="27432" marB="27432">
                    <a:solidFill>
                      <a:srgbClr val="E5F5FF"/>
                    </a:solidFill>
                  </a:tcPr>
                </a:tc>
                <a:tc>
                  <a:txBody>
                    <a:bodyPr/>
                    <a:lstStyle/>
                    <a:p>
                      <a:r>
                        <a:rPr sz="850" b="0">
                          <a:solidFill>
                            <a:srgbClr val="4B4B4B"/>
                          </a:solidFill>
                          <a:latin typeface="Arial"/>
                        </a:rPr>
                        <a:t>Business Administrator, New Business Approver (PRODUCT_AUTHORIZE), not the requester</a:t>
                      </a:r>
                    </a:p>
                  </a:txBody>
                  <a:tcPr marL="54864" marR="54864" marT="27432" marB="27432">
                    <a:solidFill>
                      <a:srgbClr val="E5F5FF"/>
                    </a:solidFill>
                  </a:tcPr>
                </a:tc>
                <a:tc>
                  <a:txBody>
                    <a:bodyPr/>
                    <a:lstStyle/>
                    <a:p>
                      <a:r>
                        <a:rPr sz="850" b="0">
                          <a:solidFill>
                            <a:srgbClr val="4B4B4B"/>
                          </a:solidFill>
                          <a:latin typeface="Arial"/>
                        </a:rPr>
                        <a:t>Exception pending</a:t>
                      </a:r>
                    </a:p>
                  </a:txBody>
                  <a:tcPr marL="54864" marR="54864" marT="27432" marB="27432">
                    <a:solidFill>
                      <a:srgbClr val="E5F5FF"/>
                    </a:solidFill>
                  </a:tcPr>
                </a:tc>
                <a:tc>
                  <a:txBody>
                    <a:bodyPr/>
                    <a:lstStyle/>
                    <a:p>
                      <a:r>
                        <a:rPr sz="850" b="0">
                          <a:solidFill>
                            <a:srgbClr val="4B4B4B"/>
                          </a:solidFill>
                          <a:latin typeface="Arial"/>
                        </a:rPr>
                        <a:t>Opens the confirmation; the reason is required; Reject rejects the exception, which can no longer be used</a:t>
                      </a:r>
                    </a:p>
                  </a:txBody>
                  <a:tcPr marL="54864" marR="54864" marT="27432" marB="27432">
                    <a:solidFill>
                      <a:srgbClr val="E5F5FF"/>
                    </a:solidFill>
                  </a:tcPr>
                </a:tc>
                <a:tc>
                  <a:txBody>
                    <a:bodyPr/>
                    <a:lstStyle/>
                    <a:p>
                      <a:r>
                        <a:rPr sz="850" b="0">
                          <a:solidFill>
                            <a:srgbClr val="4B4B4B"/>
                          </a:solidFill>
                          <a:latin typeface="Arial"/>
                        </a:rPr>
                        <a:t>Rejected</a:t>
                      </a:r>
                    </a:p>
                  </a:txBody>
                  <a:tcPr marL="54864" marR="54864" marT="27432" marB="27432">
                    <a:solidFill>
                      <a:srgbClr val="E5F5FF"/>
                    </a:solidFill>
                  </a:tcPr>
                </a:tc>
                <a:tc>
                  <a:txBody>
                    <a:bodyPr/>
                    <a:lstStyle/>
                    <a:p>
                      <a:r>
                        <a:rPr sz="850" b="0">
                          <a:solidFill>
                            <a:srgbClr val="4B4B4B"/>
                          </a:solidFill>
                          <a:latin typeface="Arial"/>
                        </a:rPr>
                        <a:t>Notification to the requester with the reason</a:t>
                      </a:r>
                    </a:p>
                  </a:txBody>
                  <a:tcPr marL="54864" marR="54864" marT="27432" marB="27432">
                    <a:solidFill>
                      <a:srgbClr val="E5F5FF"/>
                    </a:solidFill>
                  </a:tcPr>
                </a:tc>
              </a:tr>
            </a:tbl>
          </a:graphicData>
        </a:graphic>
      </p:graphicFrame>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rules the user meets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386</a:t>
            </a:r>
          </a:p>
        </p:txBody>
      </p:sp>
      <p:graphicFrame>
        <p:nvGraphicFramePr>
          <p:cNvPr id="9" name="Table 8"/>
          <p:cNvGraphicFramePr>
            <a:graphicFrameLocks noGrp="1"/>
          </p:cNvGraphicFramePr>
          <p:nvPr/>
        </p:nvGraphicFramePr>
        <p:xfrm>
          <a:off x="548640" y="1325880"/>
          <a:ext cx="11094415" cy="1615440"/>
        </p:xfrm>
        <a:graphic>
          <a:graphicData uri="http://schemas.openxmlformats.org/drawingml/2006/table">
            <a:tbl>
              <a:tblPr firstRow="1" bandRow="1">
                <a:tableStyleId>{5C22544A-7EE6-4342-B048-85BDC9FD1C3A}</a:tableStyleId>
              </a:tblPr>
              <a:tblGrid>
                <a:gridCol w="11094415"/>
              </a:tblGrid>
              <a:tr h="243840">
                <a:tc>
                  <a:txBody>
                    <a:bodyPr/>
                    <a:lstStyle/>
                    <a:p>
                      <a:r>
                        <a:rPr sz="1000" b="1">
                          <a:solidFill>
                            <a:srgbClr val="FFFFFF"/>
                          </a:solidFill>
                          <a:latin typeface="Arial"/>
                        </a:rPr>
                        <a:t>Rule</a:t>
                      </a:r>
                    </a:p>
                  </a:txBody>
                  <a:tcPr marL="54864" marR="54864" marT="27432" marB="27432">
                    <a:solidFill>
                      <a:srgbClr val="004EA8"/>
                    </a:solidFill>
                  </a:tcPr>
                </a:tc>
              </a:tr>
              <a:tr h="243840">
                <a:tc>
                  <a:txBody>
                    <a:bodyPr/>
                    <a:lstStyle/>
                    <a:p>
                      <a:r>
                        <a:rPr sz="1000" b="0">
                          <a:solidFill>
                            <a:srgbClr val="4B4B4B"/>
                          </a:solidFill>
                          <a:latin typeface="Arial"/>
                        </a:rPr>
                        <a:t>Only package rate schemes need an exception; an exception names the rate or the version it approves and the transaction (quotation number or ARN) (FR-PM-051).</a:t>
                      </a:r>
                    </a:p>
                  </a:txBody>
                  <a:tcPr marL="54864" marR="54864" marT="27432" marB="27432">
                    <a:solidFill>
                      <a:srgbClr val="FFFFFF"/>
                    </a:solidFill>
                  </a:tcPr>
                </a:tc>
              </a:tr>
              <a:tr h="396240">
                <a:tc>
                  <a:txBody>
                    <a:bodyPr/>
                    <a:lstStyle/>
                    <a:p>
                      <a:r>
                        <a:rPr sz="1000" b="0">
                          <a:solidFill>
                            <a:srgbClr val="4B4B4B"/>
                          </a:solidFill>
                          <a:latin typeface="Arial"/>
                        </a:rPr>
                        <a:t>An exception is approved or rejected by a holder of the product approval permission other than its requester; the requester sees the record without the Approve and Reject buttons (FR-PM-051).</a:t>
                      </a:r>
                    </a:p>
                  </a:txBody>
                  <a:tcPr marL="54864" marR="54864" marT="27432" marB="27432">
                    <a:solidFill>
                      <a:srgbClr val="E5F5FF"/>
                    </a:solidFill>
                  </a:tcPr>
                </a:tc>
              </a:tr>
              <a:tr h="243840">
                <a:tc>
                  <a:txBody>
                    <a:bodyPr/>
                    <a:lstStyle/>
                    <a:p>
                      <a:r>
                        <a:rPr sz="1000" b="0">
                          <a:solidFill>
                            <a:srgbClr val="4B4B4B"/>
                          </a:solidFill>
                          <a:latin typeface="Arial"/>
                        </a:rPr>
                        <a:t>A rejection needs its reason; the decision, its maker, date and comment or reason stay on the record and in the audit trail (FR-PM-051).</a:t>
                      </a:r>
                    </a:p>
                  </a:txBody>
                  <a:tcPr marL="54864" marR="54864" marT="27432" marB="27432">
                    <a:solidFill>
                      <a:srgbClr val="FFFFFF"/>
                    </a:solidFill>
                  </a:tcPr>
                </a:tc>
              </a:tr>
              <a:tr h="243840">
                <a:tc>
                  <a:txBody>
                    <a:bodyPr/>
                    <a:lstStyle/>
                    <a:p>
                      <a:r>
                        <a:rPr sz="1000" b="0">
                          <a:solidFill>
                            <a:srgbClr val="4B4B4B"/>
                          </a:solidFill>
                          <a:latin typeface="Arial"/>
                        </a:rPr>
                        <a:t>Submission of the quotation (and of the account) is refused until an approved exception covers the differing rate or version (FR-PM-051).</a:t>
                      </a:r>
                    </a:p>
                  </a:txBody>
                  <a:tcPr marL="54864" marR="54864" marT="27432" marB="27432">
                    <a:solidFill>
                      <a:srgbClr val="E5F5FF"/>
                    </a:solidFill>
                  </a:tcPr>
                </a:tc>
              </a:tr>
              <a:tr h="243840">
                <a:tc>
                  <a:txBody>
                    <a:bodyPr/>
                    <a:lstStyle/>
                    <a:p>
                      <a:r>
                        <a:rPr sz="1000" b="0">
                          <a:solidFill>
                            <a:srgbClr val="4B4B4B"/>
                          </a:solidFill>
                          <a:latin typeface="Arial"/>
                        </a:rPr>
                        <a:t>The approved exception is stored on the quotation and passed to the accounts created from it (FR-PM-051).</a:t>
                      </a:r>
                    </a:p>
                  </a:txBody>
                  <a:tcPr marL="54864" marR="54864" marT="27432" marB="27432">
                    <a:solidFill>
                      <a:srgbClr val="FFFFFF"/>
                    </a:solidFill>
                  </a:tcPr>
                </a:tc>
              </a:tr>
            </a:tbl>
          </a:graphicData>
        </a:graphic>
      </p:graphicFrame>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states shown in the flows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387</a:t>
            </a:r>
          </a:p>
        </p:txBody>
      </p:sp>
      <p:graphicFrame>
        <p:nvGraphicFramePr>
          <p:cNvPr id="9" name="Table 8"/>
          <p:cNvGraphicFramePr>
            <a:graphicFrameLocks noGrp="1"/>
          </p:cNvGraphicFramePr>
          <p:nvPr/>
        </p:nvGraphicFramePr>
        <p:xfrm>
          <a:off x="548640" y="1325880"/>
          <a:ext cx="11094413" cy="1188720"/>
        </p:xfrm>
        <a:graphic>
          <a:graphicData uri="http://schemas.openxmlformats.org/drawingml/2006/table">
            <a:tbl>
              <a:tblPr firstRow="1" bandRow="1">
                <a:tableStyleId>{5C22544A-7EE6-4342-B048-85BDC9FD1C3A}</a:tableStyleId>
              </a:tblPr>
              <a:tblGrid>
                <a:gridCol w="1536149"/>
                <a:gridCol w="1365466"/>
                <a:gridCol w="5632549"/>
                <a:gridCol w="2560249"/>
              </a:tblGrid>
              <a:tr h="228600">
                <a:tc>
                  <a:txBody>
                    <a:bodyPr/>
                    <a:lstStyle/>
                    <a:p>
                      <a:r>
                        <a:rPr sz="900" b="1">
                          <a:solidFill>
                            <a:srgbClr val="FFFFFF"/>
                          </a:solidFill>
                          <a:latin typeface="Arial"/>
                        </a:rPr>
                        <a:t>State</a:t>
                      </a:r>
                    </a:p>
                  </a:txBody>
                  <a:tcPr marL="54864" marR="54864" marT="27432" marB="27432">
                    <a:solidFill>
                      <a:srgbClr val="004EA8"/>
                    </a:solidFill>
                  </a:tcPr>
                </a:tc>
                <a:tc>
                  <a:txBody>
                    <a:bodyPr/>
                    <a:lstStyle/>
                    <a:p>
                      <a:r>
                        <a:rPr sz="900" b="1">
                          <a:solidFill>
                            <a:srgbClr val="FFFFFF"/>
                          </a:solidFill>
                          <a:latin typeface="Arial"/>
                        </a:rPr>
                        <a:t>Flow and step</a:t>
                      </a:r>
                    </a:p>
                  </a:txBody>
                  <a:tcPr marL="54864" marR="54864" marT="27432" marB="27432">
                    <a:solidFill>
                      <a:srgbClr val="004EA8"/>
                    </a:solidFill>
                  </a:tcPr>
                </a:tc>
                <a:tc>
                  <a:txBody>
                    <a:bodyPr/>
                    <a:lstStyle/>
                    <a:p>
                      <a:r>
                        <a:rPr sz="900" b="1">
                          <a:solidFill>
                            <a:srgbClr val="FFFFFF"/>
                          </a:solidFill>
                          <a:latin typeface="Arial"/>
                        </a:rPr>
                        <a:t>What the image shows</a:t>
                      </a:r>
                    </a:p>
                  </a:txBody>
                  <a:tcPr marL="54864" marR="54864" marT="27432" marB="27432">
                    <a:solidFill>
                      <a:srgbClr val="004EA8"/>
                    </a:solidFill>
                  </a:tcPr>
                </a:tc>
                <a:tc>
                  <a:txBody>
                    <a:bodyPr/>
                    <a:lstStyle/>
                    <a:p>
                      <a:r>
                        <a:rPr sz="900" b="1">
                          <a:solidFill>
                            <a:srgbClr val="FFFFFF"/>
                          </a:solidFill>
                          <a:latin typeface="Arial"/>
                        </a:rPr>
                        <a:t>Image</a:t>
                      </a:r>
                    </a:p>
                  </a:txBody>
                  <a:tcPr marL="54864" marR="54864" marT="27432" marB="27432">
                    <a:solidFill>
                      <a:srgbClr val="004EA8"/>
                    </a:solidFill>
                  </a:tcPr>
                </a:tc>
              </a:tr>
              <a:tr h="365760">
                <a:tc>
                  <a:txBody>
                    <a:bodyPr/>
                    <a:lstStyle/>
                    <a:p>
                      <a:r>
                        <a:rPr sz="900" b="0">
                          <a:solidFill>
                            <a:srgbClr val="4B4B4B"/>
                          </a:solidFill>
                          <a:latin typeface="Arial"/>
                        </a:rPr>
                        <a:t>Success message</a:t>
                      </a:r>
                    </a:p>
                  </a:txBody>
                  <a:tcPr marL="54864" marR="54864" marT="27432" marB="27432">
                    <a:solidFill>
                      <a:srgbClr val="FFFFFF"/>
                    </a:solidFill>
                  </a:tcPr>
                </a:tc>
                <a:tc>
                  <a:txBody>
                    <a:bodyPr/>
                    <a:lstStyle/>
                    <a:p>
                      <a:r>
                        <a:rPr sz="900" b="0">
                          <a:solidFill>
                            <a:srgbClr val="4B4B4B"/>
                          </a:solidFill>
                          <a:latin typeface="Arial"/>
                        </a:rPr>
                        <a:t>WT-A step 23</a:t>
                      </a:r>
                    </a:p>
                  </a:txBody>
                  <a:tcPr marL="54864" marR="54864" marT="27432" marB="27432">
                    <a:solidFill>
                      <a:srgbClr val="FFFFFF"/>
                    </a:solidFill>
                  </a:tcPr>
                </a:tc>
                <a:tc>
                  <a:txBody>
                    <a:bodyPr/>
                    <a:lstStyle/>
                    <a:p>
                      <a:r>
                        <a:rPr sz="900" b="0">
                          <a:solidFill>
                            <a:srgbClr val="4B4B4B"/>
                          </a:solidFill>
                          <a:latin typeface="Arial"/>
                        </a:rPr>
                        <a:t>Opens My Approvals, clicks the rate exception of the quotation, compares the requested rate with the scheme in force on the exception record, clicks Approve, writes the comment and confirms</a:t>
                      </a:r>
                    </a:p>
                  </a:txBody>
                  <a:tcPr marL="54864" marR="54864" marT="27432" marB="27432">
                    <a:solidFill>
                      <a:srgbClr val="FFFFFF"/>
                    </a:solidFill>
                  </a:tcPr>
                </a:tc>
                <a:tc>
                  <a:txBody>
                    <a:bodyPr/>
                    <a:lstStyle/>
                    <a:p>
                      <a:r>
                        <a:rPr sz="900" b="0">
                          <a:solidFill>
                            <a:srgbClr val="4B4B4B"/>
                          </a:solidFill>
                          <a:latin typeface="Arial"/>
                        </a:rPr>
                        <a:t>SCR-PM-22_wt-a-step-23.png</a:t>
                      </a:r>
                    </a:p>
                  </a:txBody>
                  <a:tcPr marL="54864" marR="54864" marT="27432" marB="27432">
                    <a:solidFill>
                      <a:srgbClr val="FFFFFF"/>
                    </a:solidFill>
                  </a:tcPr>
                </a:tc>
              </a:tr>
              <a:tr h="228600">
                <a:tc>
                  <a:txBody>
                    <a:bodyPr/>
                    <a:lstStyle/>
                    <a:p>
                      <a:r>
                        <a:rPr sz="900" b="0">
                          <a:solidFill>
                            <a:srgbClr val="4B4B4B"/>
                          </a:solidFill>
                          <a:latin typeface="Arial"/>
                        </a:rPr>
                        <a:t>Success message</a:t>
                      </a:r>
                    </a:p>
                  </a:txBody>
                  <a:tcPr marL="54864" marR="54864" marT="27432" marB="27432">
                    <a:solidFill>
                      <a:srgbClr val="E5F5FF"/>
                    </a:solidFill>
                  </a:tcPr>
                </a:tc>
                <a:tc>
                  <a:txBody>
                    <a:bodyPr/>
                    <a:lstStyle/>
                    <a:p>
                      <a:r>
                        <a:rPr sz="900" b="0">
                          <a:solidFill>
                            <a:srgbClr val="4B4B4B"/>
                          </a:solidFill>
                          <a:latin typeface="Arial"/>
                        </a:rPr>
                        <a:t>WT-A step 24</a:t>
                      </a:r>
                    </a:p>
                  </a:txBody>
                  <a:tcPr marL="54864" marR="54864" marT="27432" marB="27432">
                    <a:solidFill>
                      <a:srgbClr val="E5F5FF"/>
                    </a:solidFill>
                  </a:tcPr>
                </a:tc>
                <a:tc>
                  <a:txBody>
                    <a:bodyPr/>
                    <a:lstStyle/>
                    <a:p>
                      <a:r>
                        <a:rPr sz="900" b="0">
                          <a:solidFill>
                            <a:srgbClr val="4B4B4B"/>
                          </a:solidFill>
                          <a:latin typeface="Arial"/>
                        </a:rPr>
                        <a:t>Opens the quotation again after the approval</a:t>
                      </a:r>
                    </a:p>
                  </a:txBody>
                  <a:tcPr marL="54864" marR="54864" marT="27432" marB="27432">
                    <a:solidFill>
                      <a:srgbClr val="E5F5FF"/>
                    </a:solidFill>
                  </a:tcPr>
                </a:tc>
                <a:tc>
                  <a:txBody>
                    <a:bodyPr/>
                    <a:lstStyle/>
                    <a:p>
                      <a:r>
                        <a:rPr sz="900" b="0">
                          <a:solidFill>
                            <a:srgbClr val="4B4B4B"/>
                          </a:solidFill>
                          <a:latin typeface="Arial"/>
                        </a:rPr>
                        <a:t>SCR-PM-22_wt-a-step-24.png</a:t>
                      </a:r>
                    </a:p>
                  </a:txBody>
                  <a:tcPr marL="54864" marR="54864" marT="27432" marB="27432">
                    <a:solidFill>
                      <a:srgbClr val="E5F5FF"/>
                    </a:solidFill>
                  </a:tcPr>
                </a:tc>
              </a:tr>
              <a:tr h="365760">
                <a:tc>
                  <a:txBody>
                    <a:bodyPr/>
                    <a:lstStyle/>
                    <a:p>
                      <a:r>
                        <a:rPr sz="900" b="0">
                          <a:solidFill>
                            <a:srgbClr val="4B4B4B"/>
                          </a:solidFill>
                          <a:latin typeface="Arial"/>
                        </a:rPr>
                        <a:t>Pending approval</a:t>
                      </a:r>
                    </a:p>
                  </a:txBody>
                  <a:tcPr marL="54864" marR="54864" marT="27432" marB="27432">
                    <a:solidFill>
                      <a:srgbClr val="FFFFFF"/>
                    </a:solidFill>
                  </a:tcPr>
                </a:tc>
                <a:tc>
                  <a:txBody>
                    <a:bodyPr/>
                    <a:lstStyle/>
                    <a:p>
                      <a:r>
                        <a:rPr sz="900" b="0">
                          <a:solidFill>
                            <a:srgbClr val="4B4B4B"/>
                          </a:solidFill>
                          <a:latin typeface="Arial"/>
                        </a:rPr>
                        <a:t>WT-A step 22</a:t>
                      </a:r>
                    </a:p>
                  </a:txBody>
                  <a:tcPr marL="54864" marR="54864" marT="27432" marB="27432">
                    <a:solidFill>
                      <a:srgbClr val="FFFFFF"/>
                    </a:solidFill>
                  </a:tcPr>
                </a:tc>
                <a:tc>
                  <a:txBody>
                    <a:bodyPr/>
                    <a:lstStyle/>
                    <a:p>
                      <a:r>
                        <a:rPr sz="900" b="0">
                          <a:solidFill>
                            <a:srgbClr val="4B4B4B"/>
                          </a:solidFill>
                          <a:latin typeface="Arial"/>
                        </a:rPr>
                        <a:t>Creates a New Business quotation of MTR30 for the seed client with an item rate of 1.10%, opens it and clicks Request Rate Exception with the reason</a:t>
                      </a:r>
                    </a:p>
                  </a:txBody>
                  <a:tcPr marL="54864" marR="54864" marT="27432" marB="27432">
                    <a:solidFill>
                      <a:srgbClr val="FFFFFF"/>
                    </a:solidFill>
                  </a:tcPr>
                </a:tc>
                <a:tc>
                  <a:txBody>
                    <a:bodyPr/>
                    <a:lstStyle/>
                    <a:p>
                      <a:r>
                        <a:rPr sz="900" b="0">
                          <a:solidFill>
                            <a:srgbClr val="4B4B4B"/>
                          </a:solidFill>
                          <a:latin typeface="Arial"/>
                        </a:rPr>
                        <a:t>SCR-PM-22_wt-a-step-22.png</a:t>
                      </a:r>
                    </a:p>
                  </a:txBody>
                  <a:tcPr marL="54864" marR="54864" marT="27432" marB="27432">
                    <a:solidFill>
                      <a:srgbClr val="FFFFFF"/>
                    </a:solidFill>
                  </a:tcPr>
                </a:tc>
              </a:tr>
            </a:tbl>
          </a:graphicData>
        </a:graphic>
      </p:graphicFrame>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Quotation: package rate scheme and rate exception: Filled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388</a:t>
            </a:r>
          </a:p>
        </p:txBody>
      </p:sp>
      <p:sp>
        <p:nvSpPr>
          <p:cNvPr id="9" name="Rounded Rectangle 8"/>
          <p:cNvSpPr/>
          <p:nvPr/>
        </p:nvSpPr>
        <p:spPr>
          <a:xfrm>
            <a:off x="10454335" y="896112"/>
            <a:ext cx="1188720" cy="274320"/>
          </a:xfrm>
          <a:prstGeom prst="round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004EA8"/>
                </a:solidFill>
                <a:latin typeface="Arial"/>
              </a:rPr>
              <a:t>Filled</a:t>
            </a:r>
          </a:p>
        </p:txBody>
      </p:sp>
      <p:pic>
        <p:nvPicPr>
          <p:cNvPr id="10" name="Picture 9" descr="scr-pm-22-01-exception.png"/>
          <p:cNvPicPr>
            <a:picLocks noChangeAspect="1"/>
          </p:cNvPicPr>
          <p:nvPr/>
        </p:nvPicPr>
        <p:blipFill>
          <a:blip r:embed="rId3"/>
          <a:stretch>
            <a:fillRect/>
          </a:stretch>
        </p:blipFill>
        <p:spPr>
          <a:xfrm>
            <a:off x="731855" y="1261872"/>
            <a:ext cx="10727985"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Request Rate Exception dialog</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Quotation: package rate scheme and rate exception: Confirmation with reason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389</a:t>
            </a:r>
          </a:p>
        </p:txBody>
      </p:sp>
      <p:sp>
        <p:nvSpPr>
          <p:cNvPr id="9" name="Rounded Rectangle 8"/>
          <p:cNvSpPr/>
          <p:nvPr/>
        </p:nvSpPr>
        <p:spPr>
          <a:xfrm>
            <a:off x="9192463" y="896112"/>
            <a:ext cx="2450592"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Confirmation with reason</a:t>
            </a:r>
          </a:p>
        </p:txBody>
      </p:sp>
      <p:pic>
        <p:nvPicPr>
          <p:cNvPr id="10" name="Picture 9" descr="scr-pm-22-04-reject.png"/>
          <p:cNvPicPr>
            <a:picLocks noChangeAspect="1"/>
          </p:cNvPicPr>
          <p:nvPr/>
        </p:nvPicPr>
        <p:blipFill>
          <a:blip r:embed="rId3"/>
          <a:stretch>
            <a:fillRect/>
          </a:stretch>
        </p:blipFill>
        <p:spPr>
          <a:xfrm>
            <a:off x="693172" y="1261872"/>
            <a:ext cx="10805350"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Reject Rate Exception: the reason is required</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390</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22-02-deviation.png"/>
          <p:cNvPicPr>
            <a:picLocks noChangeAspect="1"/>
          </p:cNvPicPr>
          <p:nvPr/>
        </p:nvPicPr>
        <p:blipFill>
          <a:blip r:embed="rId3"/>
          <a:stretch>
            <a:fillRect/>
          </a:stretch>
        </p:blipFill>
        <p:spPr>
          <a:xfrm>
            <a:off x="548640" y="1261872"/>
            <a:ext cx="11094415" cy="429810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Exceptions card: an item rate differs from the scheme rate; each exception is a row of the table</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SCR-PM-22 Quotation: package rate scheme and rate exception: Pending approval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391</a:t>
            </a:r>
          </a:p>
        </p:txBody>
      </p:sp>
      <p:sp>
        <p:nvSpPr>
          <p:cNvPr id="9" name="Rounded Rectangle 8"/>
          <p:cNvSpPr/>
          <p:nvPr/>
        </p:nvSpPr>
        <p:spPr>
          <a:xfrm>
            <a:off x="9887407" y="896112"/>
            <a:ext cx="1755648" cy="274320"/>
          </a:xfrm>
          <a:prstGeom prst="round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000" b="1">
                <a:solidFill>
                  <a:srgbClr val="8A5A00"/>
                </a:solidFill>
                <a:latin typeface="Arial"/>
              </a:rPr>
              <a:t>Pending approval</a:t>
            </a:r>
          </a:p>
        </p:txBody>
      </p:sp>
      <p:pic>
        <p:nvPicPr>
          <p:cNvPr id="10" name="Picture 9" descr="scr-pm-22-03-record.png"/>
          <p:cNvPicPr>
            <a:picLocks noChangeAspect="1"/>
          </p:cNvPicPr>
          <p:nvPr/>
        </p:nvPicPr>
        <p:blipFill>
          <a:blip r:embed="rId3"/>
          <a:stretch>
            <a:fillRect/>
          </a:stretch>
        </p:blipFill>
        <p:spPr>
          <a:xfrm>
            <a:off x="1748975" y="1261872"/>
            <a:ext cx="8693744" cy="4736592"/>
          </a:xfrm>
          <a:prstGeom prst="rect">
            <a:avLst/>
          </a:prstGeom>
          <a:ln w="9525">
            <a:solidFill>
              <a:srgbClr val="C2C2C1"/>
            </a:solidFill>
          </a:ln>
        </p:spPr>
      </p:pic>
      <p:sp>
        <p:nvSpPr>
          <p:cNvPr id="11" name="TextBox 10"/>
          <p:cNvSpPr txBox="1"/>
          <p:nvPr/>
        </p:nvSpPr>
        <p:spPr>
          <a:xfrm>
            <a:off x="548640" y="5998464"/>
            <a:ext cx="11094415" cy="292608"/>
          </a:xfrm>
          <a:prstGeom prst="rect">
            <a:avLst/>
          </a:prstGeom>
          <a:noFill/>
        </p:spPr>
        <p:txBody>
          <a:bodyPr wrap="square" anchor="t" lIns="45720" rIns="45720">
            <a:spAutoFit/>
          </a:bodyPr>
          <a:lstStyle/>
          <a:p>
            <a:pPr algn="ctr"/>
            <a:r>
              <a:rPr sz="1100" b="0" i="1">
                <a:solidFill>
                  <a:srgbClr val="656565"/>
                </a:solidFill>
                <a:latin typeface="Arial"/>
              </a:rPr>
              <a:t>Rate exception record opened from My Approvals: the requested rate against the scheme in force, with Approve and Reject</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Outputs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Documents, e-mails and notifications, and the exports as the user receives them</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DO-01 Package Request 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393</a:t>
            </a:r>
          </a:p>
        </p:txBody>
      </p:sp>
      <p:pic>
        <p:nvPicPr>
          <p:cNvPr id="9" name="Picture 8" descr="doc-request-form.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PKG_REQUEST_FORM</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Package Request record › Request Form</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request number and type, package or programme name, scope, client, line and cover type, product – from the package request</a:t>
                      </a:r>
                    </a:p>
                    <a:p>
                      <a:r>
                        <a:rPr sz="900" b="0">
                          <a:solidFill>
                            <a:srgbClr val="4B4B4B"/>
                          </a:solidFill>
                          <a:latin typeface="Arial"/>
                        </a:rPr>
                        <a:t>Requested terms: sections; coverages with Included, Limit, Sub-limit, Deductible; rate %, minimum premium, commission %, TSI limit, computation basis, effective from, package term, anniversary; insurers with role, share, rate and minimum premium – from the requested terms</a:t>
                      </a:r>
                    </a:p>
                    <a:p>
                      <a:r>
                        <a:rPr sz="900" b="0">
                          <a:solidFill>
                            <a:srgbClr val="4B4B4B"/>
                          </a:solidFill>
                          <a:latin typeface="Arial"/>
                        </a:rPr>
                        <a:t>Opening text – merged from the template PKG_REQUEST_FORM; 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DO-02 Package quotation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394</a:t>
            </a:r>
          </a:p>
        </p:txBody>
      </p:sp>
      <p:pic>
        <p:nvPicPr>
          <p:cNvPr id="9" name="Picture 8" descr="doc-quotation-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PKG_QUOTATION_SLIP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one per round (the same slip to every insurer of the round)</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Negotiation tab › Quotation Slip; e-mailed at Approve and Send and at Resend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105156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Slip number PQS-yyyy-nnnnnn, round, request, package, line, client or programme, reply date – from the round and the request</a:t>
                      </a:r>
                    </a:p>
                    <a:p>
                      <a:r>
                        <a:rPr sz="900" b="0">
                          <a:solidFill>
                            <a:srgbClr val="4B4B4B"/>
                          </a:solidFill>
                          <a:latin typeface="Arial"/>
                        </a:rPr>
                        <a:t>Round notes – the notes of the round (What changes in this round)</a:t>
                      </a:r>
                    </a:p>
                    <a:p>
                      <a:r>
                        <a:rPr sz="900" b="0">
                          <a:solidFill>
                            <a:srgbClr val="4B4B4B"/>
                          </a:solidFill>
                          <a:latin typeface="Arial"/>
                        </a:rPr>
                        <a:t>Requested terms as in DO-01</a:t>
                      </a:r>
                    </a:p>
                    <a:p>
                      <a:r>
                        <a:rPr sz="900" b="0">
                          <a:solidFill>
                            <a:srgbClr val="4B4B4B"/>
                          </a:solidFill>
                          <a:latin typeface="Arial"/>
                        </a:rPr>
                        <a:t>Opening text with the slip number, round and reply date – merged from the template PKG_QUOTATION_SLIP</a:t>
                      </a:r>
                    </a:p>
                    <a:p>
                      <a:r>
                        <a:rPr sz="900" b="0">
                          <a:solidFill>
                            <a:srgbClr val="4B4B4B"/>
                          </a:solidFill>
                          <a:latin typeface="Arial"/>
                        </a:rPr>
                        <a:t>Signature lines Prepared by and Approved by</a:t>
                      </a:r>
                    </a:p>
                  </a:txBody>
                  <a:tcPr marL="54864" marR="54864" marT="27432" marB="27432">
                    <a:solidFill>
                      <a:srgbClr val="FFFFFF"/>
                    </a:solidFill>
                  </a:tcPr>
                </a:tc>
              </a:tr>
            </a:tbl>
          </a:graphicData>
        </a:graphic>
      </p:graphicFrame>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DO-03 Comparative table (audit master and client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395</a:t>
            </a:r>
          </a:p>
        </p:txBody>
      </p:sp>
      <p:pic>
        <p:nvPicPr>
          <p:cNvPr id="9" name="Picture 8" descr="doc-comparative.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2402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PKG_COMPARATIVE</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and Excel, one pair per stored output</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Comparative tab › PDF / Excel of each stored output</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a:t>
                      </a:r>
                    </a:p>
                  </a:txBody>
                  <a:tcPr marL="54864" marR="54864" marT="27432" marB="27432">
                    <a:solidFill>
                      <a:srgbClr val="FFFFFF"/>
                    </a:solidFill>
                  </a:tcPr>
                </a:tc>
              </a:tr>
              <a:tr h="13258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Title (Audit master or the client view title), request, round – from the output</a:t>
                      </a:r>
                    </a:p>
                    <a:p>
                      <a:r>
                        <a:rPr sz="900" b="0">
                          <a:solidFill>
                            <a:srgbClr val="4B4B4B"/>
                          </a:solidFill>
                          <a:latin typeface="Arial"/>
                        </a:rPr>
                        <a:t>Insurer terms: one row per insurer with the fields of the output (Outcome, Rate %, Minimum Premium, Coverages, Deductibles, Conditions / Warranties, Valid Until, Remarks) – from the insurer responses stored in the output</a:t>
                      </a:r>
                    </a:p>
                    <a:p>
                      <a:r>
                        <a:rPr sz="900" b="0">
                          <a:solidFill>
                            <a:srgbClr val="4B4B4B"/>
                          </a:solidFill>
                          <a:latin typeface="Arial"/>
                        </a:rPr>
                        <a:t>Opening text with the request, round and variant – merged from the template PKG_COMPARATIVE (PDF only); the Excel file holds the table only</a:t>
                      </a:r>
                    </a:p>
                  </a:txBody>
                  <a:tcPr marL="54864" marR="54864" marT="27432" marB="27432">
                    <a:solidFill>
                      <a:srgbClr val="FFFFFF"/>
                    </a:solidFill>
                  </a:tcPr>
                </a:tc>
              </a:tr>
            </a:tbl>
          </a:graphicData>
        </a:graphic>
      </p:graphicFrame>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DO-04 Package slip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396</a:t>
            </a:r>
          </a:p>
        </p:txBody>
      </p:sp>
      <p:pic>
        <p:nvPicPr>
          <p:cNvPr id="9" name="Picture 8" descr="doc-package-slip.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82880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PKG_SLIP</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a:t>
                      </a:r>
                    </a:p>
                  </a:txBody>
                  <a:tcPr marL="54864" marR="54864" marT="27432" marB="27432">
                    <a:solidFill>
                      <a:srgbClr val="FFFFFF"/>
                    </a:solidFill>
                  </a:tcPr>
                </a:tc>
              </a:tr>
              <a:tr h="36576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Requirements &amp; Sign-off tab › Package Slip; printed, signed and uploaded as Package slip (signed)</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77724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Request, package, line, client or programme – from the request</a:t>
                      </a:r>
                    </a:p>
                    <a:p>
                      <a:r>
                        <a:rPr sz="900" b="0">
                          <a:solidFill>
                            <a:srgbClr val="4B4B4B"/>
                          </a:solidFill>
                          <a:latin typeface="Arial"/>
                        </a:rPr>
                        <a:t>Proposed terms: coverages, rate scheme, computation basis, dates and chosen insurers with role and share – from the proposed terms</a:t>
                      </a:r>
                    </a:p>
                    <a:p>
                      <a:r>
                        <a:rPr sz="900" b="0">
                          <a:solidFill>
                            <a:srgbClr val="4B4B4B"/>
                          </a:solidFill>
                          <a:latin typeface="Arial"/>
                        </a:rPr>
                        <a:t>Opening text – merged from the template PKG_SLIP; signature lines Prepared by and Approved by, signed on the printed slip</a:t>
                      </a:r>
                    </a:p>
                  </a:txBody>
                  <a:tcPr marL="54864" marR="54864" marT="27432" marB="27432">
                    <a:solidFill>
                      <a:srgbClr val="FFFFFF"/>
                    </a:solidFill>
                  </a:tcPr>
                </a:tc>
              </a:tr>
            </a:tbl>
          </a:graphicData>
        </a:graphic>
      </p:graphicFrame>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DO-05 ManCom sign-off record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397</a:t>
            </a:r>
          </a:p>
        </p:txBody>
      </p:sp>
      <p:pic>
        <p:nvPicPr>
          <p:cNvPr id="9" name="Picture 8" descr="doc-mancom-signoff.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1554480"/>
        </p:xfrm>
        <a:graphic>
          <a:graphicData uri="http://schemas.openxmlformats.org/drawingml/2006/table">
            <a:tbl>
              <a:tblPr bandRow="1">
                <a:tableStyleId>{5C22544A-7EE6-4342-B048-85BDC9FD1C3A}</a:tableStyleId>
              </a:tblPr>
              <a:tblGrid>
                <a:gridCol w="1371600"/>
                <a:gridCol w="3779215"/>
              </a:tblGrid>
              <a:tr h="22860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(built-in layout, ManCom Sign-off)</a:t>
                      </a:r>
                    </a:p>
                  </a:txBody>
                  <a:tcPr marL="54864" marR="54864" marT="27432" marB="27432">
                    <a:solidFill>
                      <a:srgbClr val="FFFFFF"/>
                    </a:solidFill>
                  </a:tcPr>
                </a:tc>
              </a:tr>
              <a:tr h="22860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attached as ManCom sign-off when no signed sheet was uploaded</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Automatically at Sign off and send to MBS</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No (kept in BIBS)</a:t>
                      </a:r>
                    </a:p>
                  </a:txBody>
                  <a:tcPr marL="54864" marR="54864" marT="27432" marB="27432">
                    <a:solidFill>
                      <a:srgbClr val="FFFFFF"/>
                    </a:solidFill>
                  </a:tcPr>
                </a:tc>
              </a:tr>
              <a:tr h="64008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Package: request, package, line, client or programme – from the request</a:t>
                      </a:r>
                    </a:p>
                    <a:p>
                      <a:r>
                        <a:rPr sz="900" b="0">
                          <a:solidFill>
                            <a:srgbClr val="4B4B4B"/>
                          </a:solidFill>
                          <a:latin typeface="Arial"/>
                        </a:rPr>
                        <a:t>Reference MC-PKR-yyyy-nnnnnn, Decision, Signed by, Signed at, Comment – from the ManCom decision; footer Signed in BIBS by &lt;user&gt;</a:t>
                      </a:r>
                    </a:p>
                  </a:txBody>
                  <a:tcPr marL="54864" marR="54864" marT="27432" marB="27432">
                    <a:solidFill>
                      <a:srgbClr val="FFFFFF"/>
                    </a:solidFill>
                  </a:tcPr>
                </a:tc>
              </a:tr>
            </a:tbl>
          </a:graphicData>
        </a:graphic>
      </p:graphicFrame>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DO-06 Package advisory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398</a:t>
            </a:r>
          </a:p>
        </p:txBody>
      </p:sp>
      <p:pic>
        <p:nvPicPr>
          <p:cNvPr id="9" name="Picture 8" descr="doc-advisory.png"/>
          <p:cNvPicPr>
            <a:picLocks noChangeAspect="1"/>
          </p:cNvPicPr>
          <p:nvPr/>
        </p:nvPicPr>
        <p:blipFill>
          <a:blip r:embed="rId3"/>
          <a:stretch>
            <a:fillRect/>
          </a:stretch>
        </p:blipFill>
        <p:spPr>
          <a:xfrm>
            <a:off x="1606181" y="1261872"/>
            <a:ext cx="3554197" cy="5029200"/>
          </a:xfrm>
          <a:prstGeom prst="rect">
            <a:avLst/>
          </a:prstGeom>
          <a:ln w="9525">
            <a:solidFill>
              <a:srgbClr val="C2C2C1"/>
            </a:solidFill>
          </a:ln>
        </p:spPr>
      </p:pic>
      <p:graphicFrame>
        <p:nvGraphicFramePr>
          <p:cNvPr id="10" name="Table 9"/>
          <p:cNvGraphicFramePr>
            <a:graphicFrameLocks noGrp="1"/>
          </p:cNvGraphicFramePr>
          <p:nvPr/>
        </p:nvGraphicFramePr>
        <p:xfrm>
          <a:off x="6492240" y="1307592"/>
          <a:ext cx="5150815" cy="2103120"/>
        </p:xfrm>
        <a:graphic>
          <a:graphicData uri="http://schemas.openxmlformats.org/drawingml/2006/table">
            <a:tbl>
              <a:tblPr bandRow="1">
                <a:tableStyleId>{5C22544A-7EE6-4342-B048-85BDC9FD1C3A}</a:tableStyleId>
              </a:tblPr>
              <a:tblGrid>
                <a:gridCol w="1371600"/>
                <a:gridCol w="3779215"/>
              </a:tblGrid>
              <a:tr h="365760">
                <a:tc>
                  <a:txBody>
                    <a:bodyPr/>
                    <a:lstStyle/>
                    <a:p>
                      <a:r>
                        <a:rPr sz="900" b="1">
                          <a:solidFill>
                            <a:srgbClr val="004EA8"/>
                          </a:solidFill>
                          <a:latin typeface="Arial"/>
                        </a:rPr>
                        <a:t>Template</a:t>
                      </a:r>
                    </a:p>
                  </a:txBody>
                  <a:tcPr marL="54864" marR="54864" marT="27432" marB="27432">
                    <a:solidFill>
                      <a:srgbClr val="E5F5FF"/>
                    </a:solidFill>
                  </a:tcPr>
                </a:tc>
                <a:tc>
                  <a:txBody>
                    <a:bodyPr/>
                    <a:lstStyle/>
                    <a:p>
                      <a:r>
                        <a:rPr sz="900" b="0">
                          <a:solidFill>
                            <a:srgbClr val="4B4B4B"/>
                          </a:solidFill>
                          <a:latin typeface="Arial"/>
                        </a:rPr>
                        <a:t>PKG_ADVISORY (new, reactivated or updated package), PKG_RENEWAL_ADVISORY (renewed package); built-in text for a retirement</a:t>
                      </a:r>
                    </a:p>
                  </a:txBody>
                  <a:tcPr marL="54864" marR="54864" marT="27432" marB="27432">
                    <a:solidFill>
                      <a:srgbClr val="FFFFFF"/>
                    </a:solidFill>
                  </a:tcPr>
                </a:tc>
              </a:tr>
              <a:tr h="365760">
                <a:tc>
                  <a:txBody>
                    <a:bodyPr/>
                    <a:lstStyle/>
                    <a:p>
                      <a:r>
                        <a:rPr sz="900" b="1">
                          <a:solidFill>
                            <a:srgbClr val="004EA8"/>
                          </a:solidFill>
                          <a:latin typeface="Arial"/>
                        </a:rPr>
                        <a:t>Format</a:t>
                      </a:r>
                    </a:p>
                  </a:txBody>
                  <a:tcPr marL="54864" marR="54864" marT="27432" marB="27432">
                    <a:solidFill>
                      <a:srgbClr val="E5F5FF"/>
                    </a:solidFill>
                  </a:tcPr>
                </a:tc>
                <a:tc>
                  <a:txBody>
                    <a:bodyPr/>
                    <a:lstStyle/>
                    <a:p>
                      <a:r>
                        <a:rPr sz="900" b="0">
                          <a:solidFill>
                            <a:srgbClr val="4B4B4B"/>
                          </a:solidFill>
                          <a:latin typeface="Arial"/>
                        </a:rPr>
                        <a:t>PDF, stored on the request as Package advisory and e-mailed when addresses are given</a:t>
                      </a:r>
                    </a:p>
                  </a:txBody>
                  <a:tcPr marL="54864" marR="54864" marT="27432" marB="27432">
                    <a:solidFill>
                      <a:srgbClr val="FFFFFF"/>
                    </a:solidFill>
                  </a:tcPr>
                </a:tc>
              </a:tr>
              <a:tr h="228600">
                <a:tc>
                  <a:txBody>
                    <a:bodyPr/>
                    <a:lstStyle/>
                    <a:p>
                      <a:r>
                        <a:rPr sz="900" b="1">
                          <a:solidFill>
                            <a:srgbClr val="004EA8"/>
                          </a:solidFill>
                          <a:latin typeface="Arial"/>
                        </a:rPr>
                        <a:t>Produced by</a:t>
                      </a:r>
                    </a:p>
                  </a:txBody>
                  <a:tcPr marL="54864" marR="54864" marT="27432" marB="27432">
                    <a:solidFill>
                      <a:srgbClr val="E5F5FF"/>
                    </a:solidFill>
                  </a:tcPr>
                </a:tc>
                <a:tc>
                  <a:txBody>
                    <a:bodyPr/>
                    <a:lstStyle/>
                    <a:p>
                      <a:r>
                        <a:rPr sz="900" b="0">
                          <a:solidFill>
                            <a:srgbClr val="4B4B4B"/>
                          </a:solidFill>
                          <a:latin typeface="Arial"/>
                        </a:rPr>
                        <a:t>Advisories tab › Send Advisory</a:t>
                      </a:r>
                    </a:p>
                  </a:txBody>
                  <a:tcPr marL="54864" marR="54864" marT="27432" marB="27432">
                    <a:solidFill>
                      <a:srgbClr val="FFFFFF"/>
                    </a:solidFill>
                  </a:tcPr>
                </a:tc>
              </a:tr>
              <a:tr h="228600">
                <a:tc>
                  <a:txBody>
                    <a:bodyPr/>
                    <a:lstStyle/>
                    <a:p>
                      <a:r>
                        <a:rPr sz="900" b="1">
                          <a:solidFill>
                            <a:srgbClr val="004EA8"/>
                          </a:solidFill>
                          <a:latin typeface="Arial"/>
                        </a:rPr>
                        <a:t>Password protected</a:t>
                      </a:r>
                    </a:p>
                  </a:txBody>
                  <a:tcPr marL="54864" marR="54864" marT="27432" marB="27432">
                    <a:solidFill>
                      <a:srgbClr val="E5F5FF"/>
                    </a:solidFill>
                  </a:tcPr>
                </a:tc>
                <a:tc>
                  <a:txBody>
                    <a:bodyPr/>
                    <a:lstStyle/>
                    <a:p>
                      <a:r>
                        <a:rPr sz="900" b="0">
                          <a:solidFill>
                            <a:srgbClr val="4B4B4B"/>
                          </a:solidFill>
                          <a:latin typeface="Arial"/>
                        </a:rPr>
                        <a:t>Yes when e-mailed (password in a separate e-mail)</a:t>
                      </a:r>
                    </a:p>
                  </a:txBody>
                  <a:tcPr marL="54864" marR="54864" marT="27432" marB="27432">
                    <a:solidFill>
                      <a:srgbClr val="FFFFFF"/>
                    </a:solidFill>
                  </a:tcPr>
                </a:tc>
              </a:tr>
              <a:tr h="914400">
                <a:tc>
                  <a:txBody>
                    <a:bodyPr/>
                    <a:lstStyle/>
                    <a:p>
                      <a:r>
                        <a:rPr sz="900" b="1">
                          <a:solidFill>
                            <a:srgbClr val="004EA8"/>
                          </a:solidFill>
                          <a:latin typeface="Arial"/>
                        </a:rPr>
                        <a:t>Fields</a:t>
                      </a:r>
                    </a:p>
                  </a:txBody>
                  <a:tcPr marL="54864" marR="54864" marT="27432" marB="27432">
                    <a:solidFill>
                      <a:srgbClr val="E5F5FF"/>
                    </a:solidFill>
                  </a:tcPr>
                </a:tc>
                <a:tc>
                  <a:txBody>
                    <a:bodyPr/>
                    <a:lstStyle/>
                    <a:p>
                      <a:r>
                        <a:rPr sz="900" b="0">
                          <a:solidFill>
                            <a:srgbClr val="4B4B4B"/>
                          </a:solidFill>
                          <a:latin typeface="Arial"/>
                        </a:rPr>
                        <a:t>Subject and recipient groups – from the advisory as edited</a:t>
                      </a:r>
                    </a:p>
                    <a:p>
                      <a:r>
                        <a:rPr sz="900" b="0">
                          <a:solidFill>
                            <a:srgbClr val="4B4B4B"/>
                          </a:solidFill>
                          <a:latin typeface="Arial"/>
                        </a:rPr>
                        <a:t>Advisory text – merged from the template with the risk code, package name, version, effective date and request number, then edited by TSU</a:t>
                      </a:r>
                    </a:p>
                    <a:p>
                      <a:r>
                        <a:rPr sz="900" b="0">
                          <a:solidFill>
                            <a:srgbClr val="4B4B4B"/>
                          </a:solidFill>
                          <a:latin typeface="Arial"/>
                        </a:rPr>
                        <a:t>Supporting documents (kept in BIBS): the signed package slip and the ManCom sign-off with their file names</a:t>
                      </a:r>
                    </a:p>
                  </a:txBody>
                  <a:tcPr marL="54864" marR="54864" marT="27432" marB="27432">
                    <a:solidFill>
                      <a:srgbClr val="FFFFFF"/>
                    </a:solidFill>
                  </a:tcPr>
                </a:tc>
              </a:tr>
            </a:tbl>
          </a:graphicData>
        </a:graphic>
      </p:graphicFrame>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399</a:t>
            </a:r>
          </a:p>
        </p:txBody>
      </p:sp>
      <p:graphicFrame>
        <p:nvGraphicFramePr>
          <p:cNvPr id="9" name="Table 8"/>
          <p:cNvGraphicFramePr>
            <a:graphicFrameLocks noGrp="1"/>
          </p:cNvGraphicFramePr>
          <p:nvPr/>
        </p:nvGraphicFramePr>
        <p:xfrm>
          <a:off x="548640" y="1325880"/>
          <a:ext cx="11094413" cy="4579591"/>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NT-01</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A package request moves to another stage (any workflow action, including return, void, not proceeded and the automatic release or return of its version)</a:t>
                      </a:r>
                    </a:p>
                  </a:txBody>
                  <a:tcPr marL="54864" marR="54864" marT="27432" marB="27432">
                    <a:solidFill>
                      <a:srgbClr val="FFFFFF"/>
                    </a:solidFill>
                  </a:tcPr>
                </a:tc>
                <a:tc>
                  <a:txBody>
                    <a:bodyPr/>
                    <a:lstStyle/>
                    <a:p>
                      <a:r>
                        <a:rPr sz="850" b="0">
                          <a:solidFill>
                            <a:srgbClr val="4B4B4B"/>
                          </a:solidFill>
                          <a:latin typeface="Arial"/>
                        </a:rPr>
                        <a:t>The creator of the request and its current assignee, unless they made the move themselves</a:t>
                      </a:r>
                    </a:p>
                  </a:txBody>
                  <a:tcPr marL="54864" marR="54864" marT="27432" marB="27432">
                    <a:solidFill>
                      <a:srgbClr val="FFFFFF"/>
                    </a:solidFill>
                  </a:tcPr>
                </a:tc>
                <a:tc>
                  <a:txBody>
                    <a:bodyPr/>
                    <a:lstStyle/>
                    <a:p>
                      <a:r>
                        <a:rPr sz="850" b="0">
                          <a:solidFill>
                            <a:srgbClr val="4B4B4B"/>
                          </a:solidFill>
                          <a:latin typeface="Arial"/>
                        </a:rPr>
                        <a:t>Title: &lt;request no.&gt;: &lt;new stage name&gt;. Text: &lt;request description&gt; - &lt;comment&gt;</a:t>
                      </a:r>
                    </a:p>
                  </a:txBody>
                  <a:tcPr marL="54864" marR="54864" marT="27432" marB="27432">
                    <a:solidFill>
                      <a:srgbClr val="FFFFFF"/>
                    </a:solidFill>
                  </a:tcPr>
                </a:tc>
              </a:tr>
              <a:tr h="350518">
                <a:tc>
                  <a:txBody>
                    <a:bodyPr/>
                    <a:lstStyle/>
                    <a:p>
                      <a:r>
                        <a:rPr sz="850" b="0">
                          <a:solidFill>
                            <a:srgbClr val="4B4B4B"/>
                          </a:solidFill>
                          <a:latin typeface="Arial"/>
                        </a:rPr>
                        <a:t>NT-02</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package version set up from a request is validated and released</a:t>
                      </a:r>
                    </a:p>
                  </a:txBody>
                  <a:tcPr marL="54864" marR="54864" marT="27432" marB="27432">
                    <a:solidFill>
                      <a:srgbClr val="E5F5FF"/>
                    </a:solidFill>
                  </a:tcPr>
                </a:tc>
                <a:tc>
                  <a:txBody>
                    <a:bodyPr/>
                    <a:lstStyle/>
                    <a:p>
                      <a:r>
                        <a:rPr sz="850" b="0">
                          <a:solidFill>
                            <a:srgbClr val="4B4B4B"/>
                          </a:solidFill>
                          <a:latin typeface="Arial"/>
                        </a:rPr>
                        <a:t>Every user who creates quotations (QUOTE_MAINTAIN, Marketing)</a:t>
                      </a:r>
                    </a:p>
                  </a:txBody>
                  <a:tcPr marL="54864" marR="54864" marT="27432" marB="27432">
                    <a:solidFill>
                      <a:srgbClr val="E5F5FF"/>
                    </a:solidFill>
                  </a:tcPr>
                </a:tc>
                <a:tc>
                  <a:txBody>
                    <a:bodyPr/>
                    <a:lstStyle/>
                    <a:p>
                      <a:r>
                        <a:rPr sz="850" b="0">
                          <a:solidFill>
                            <a:srgbClr val="4B4B4B"/>
                          </a:solidFill>
                          <a:latin typeface="Arial"/>
                        </a:rPr>
                        <a:t>Title: Package available: &lt;risk code&gt;. Text: &lt;package name&gt; (version &lt;n&gt;) sells from &lt;effective date&gt;.</a:t>
                      </a:r>
                    </a:p>
                  </a:txBody>
                  <a:tcPr marL="54864" marR="54864" marT="27432" marB="27432">
                    <a:solidFill>
                      <a:srgbClr val="E5F5FF"/>
                    </a:solidFill>
                  </a:tcPr>
                </a:tc>
              </a:tr>
              <a:tr h="609596">
                <a:tc>
                  <a:txBody>
                    <a:bodyPr/>
                    <a:lstStyle/>
                    <a:p>
                      <a:r>
                        <a:rPr sz="850" b="0">
                          <a:solidFill>
                            <a:srgbClr val="4B4B4B"/>
                          </a:solidFill>
                          <a:latin typeface="Arial"/>
                        </a:rPr>
                        <a:t>NT-03</a:t>
                      </a:r>
                    </a:p>
                  </a:txBody>
                  <a:tcPr marL="54864" marR="54864" marT="27432" marB="27432">
                    <a:solidFill>
                      <a:srgbClr val="FFFFFF"/>
                    </a:solidFill>
                  </a:tcPr>
                </a:tc>
                <a:tc>
                  <a:txBody>
                    <a:bodyPr/>
                    <a:lstStyle/>
                    <a:p>
                      <a:r>
                        <a:rPr sz="850" b="0">
                          <a:solidFill>
                            <a:srgbClr val="4B4B4B"/>
                          </a:solidFill>
                          <a:latin typeface="Arial"/>
                        </a:rPr>
                        <a:t>In-app</a:t>
                      </a:r>
                    </a:p>
                  </a:txBody>
                  <a:tcPr marL="54864" marR="54864" marT="27432" marB="27432">
                    <a:solidFill>
                      <a:srgbClr val="FFFFFF"/>
                    </a:solidFill>
                  </a:tcPr>
                </a:tc>
                <a:tc>
                  <a:txBody>
                    <a:bodyPr/>
                    <a:lstStyle/>
                    <a:p>
                      <a:r>
                        <a:rPr sz="850" b="0">
                          <a:solidFill>
                            <a:srgbClr val="4B4B4B"/>
                          </a:solidFill>
                          <a:latin typeface="Arial"/>
                        </a:rPr>
                        <a:t>TSU sends an advisory (Send Advisory)</a:t>
                      </a:r>
                    </a:p>
                  </a:txBody>
                  <a:tcPr marL="54864" marR="54864" marT="27432" marB="27432">
                    <a:solidFill>
                      <a:srgbClr val="FFFFFF"/>
                    </a:solidFill>
                  </a:tcPr>
                </a:tc>
                <a:tc>
                  <a:txBody>
                    <a:bodyPr/>
                    <a:lstStyle/>
                    <a:p>
                      <a:r>
                        <a:rPr sz="850" b="0">
                          <a:solidFill>
                            <a:srgbClr val="4B4B4B"/>
                          </a:solidFill>
                          <a:latin typeface="Arial"/>
                        </a:rPr>
                        <a:t>The users of each recipient group: Marketing (QUOTE_MAINTAIN), TSU (PKG_NEGOTIATE), MBS (PRODUCT_MAINTAIN), Processing (ACCOUNT_PROCESS), Operations (OPS_VIEW)</a:t>
                      </a:r>
                    </a:p>
                  </a:txBody>
                  <a:tcPr marL="54864" marR="54864" marT="27432" marB="27432">
                    <a:solidFill>
                      <a:srgbClr val="FFFFFF"/>
                    </a:solidFill>
                  </a:tcPr>
                </a:tc>
                <a:tc>
                  <a:txBody>
                    <a:bodyPr/>
                    <a:lstStyle/>
                    <a:p>
                      <a:r>
                        <a:rPr sz="850" b="0">
                          <a:solidFill>
                            <a:srgbClr val="4B4B4B"/>
                          </a:solidFill>
                          <a:latin typeface="Arial"/>
                        </a:rPr>
                        <a:t>Title: &lt;advisory subject&gt;. Text: &lt;advisory text&gt;</a:t>
                      </a:r>
                    </a:p>
                  </a:txBody>
                  <a:tcPr marL="54864" marR="54864" marT="27432" marB="27432">
                    <a:solidFill>
                      <a:srgbClr val="FFFFFF"/>
                    </a:solidFill>
                  </a:tcPr>
                </a:tc>
              </a:tr>
              <a:tr h="480057">
                <a:tc>
                  <a:txBody>
                    <a:bodyPr/>
                    <a:lstStyle/>
                    <a:p>
                      <a:r>
                        <a:rPr sz="850" b="0">
                          <a:solidFill>
                            <a:srgbClr val="4B4B4B"/>
                          </a:solidFill>
                          <a:latin typeface="Arial"/>
                        </a:rPr>
                        <a:t>NT-04</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The daily package version step finds a package whose package end date has passed without a released renewal; the product becomes Expired</a:t>
                      </a:r>
                    </a:p>
                  </a:txBody>
                  <a:tcPr marL="54864" marR="54864" marT="27432" marB="27432">
                    <a:solidFill>
                      <a:srgbClr val="E5F5FF"/>
                    </a:solidFill>
                  </a:tcPr>
                </a:tc>
                <a:tc>
                  <a:txBody>
                    <a:bodyPr/>
                    <a:lstStyle/>
                    <a:p>
                      <a:r>
                        <a:rPr sz="850" b="0">
                          <a:solidFill>
                            <a:srgbClr val="4B4B4B"/>
                          </a:solidFill>
                          <a:latin typeface="Arial"/>
                        </a:rPr>
                        <a:t>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Title: Package expired: &lt;risk code&gt;. Text: Version &lt;n&gt; ended on &lt;package end date&gt; without a renewal; the package is no longer sold for new business.</a:t>
                      </a:r>
                    </a:p>
                  </a:txBody>
                  <a:tcPr marL="54864" marR="54864" marT="27432" marB="27432">
                    <a:solidFill>
                      <a:srgbClr val="E5F5FF"/>
                    </a:solidFill>
                  </a:tcPr>
                </a:tc>
              </a:tr>
              <a:tr h="739135">
                <a:tc>
                  <a:txBody>
                    <a:bodyPr/>
                    <a:lstStyle/>
                    <a:p>
                      <a:r>
                        <a:rPr sz="850" b="0">
                          <a:solidFill>
                            <a:srgbClr val="4B4B4B"/>
                          </a:solidFill>
                          <a:latin typeface="Arial"/>
                        </a:rPr>
                        <a:t>NT-05</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A quotation slip is approved and sent (Approve and Send), or resent to one insurer (Resend)</a:t>
                      </a:r>
                    </a:p>
                  </a:txBody>
                  <a:tcPr marL="54864" marR="54864" marT="27432" marB="27432">
                    <a:solidFill>
                      <a:srgbClr val="FFFFFF"/>
                    </a:solidFill>
                  </a:tcPr>
                </a:tc>
                <a:tc>
                  <a:txBody>
                    <a:bodyPr/>
                    <a:lstStyle/>
                    <a:p>
                      <a:r>
                        <a:rPr sz="850" b="0">
                          <a:solidFill>
                            <a:srgbClr val="4B4B4B"/>
                          </a:solidFill>
                          <a:latin typeface="Arial"/>
                        </a:rPr>
                        <a:t>The placement e-mail addresses of each insurer of the round</a:t>
                      </a:r>
                    </a:p>
                  </a:txBody>
                  <a:tcPr marL="54864" marR="54864" marT="27432" marB="27432">
                    <a:solidFill>
                      <a:srgbClr val="FFFFFF"/>
                    </a:solidFill>
                  </a:tcPr>
                </a:tc>
                <a:tc>
                  <a:txBody>
                    <a:bodyPr/>
                    <a:lstStyle/>
                    <a:p>
                      <a:r>
                        <a:rPr sz="850" b="0">
                          <a:solidFill>
                            <a:srgbClr val="4B4B4B"/>
                          </a:solidFill>
                          <a:latin typeface="Arial"/>
                        </a:rPr>
                        <a:t>Subject: Package quotation slip &lt;PQS no.&gt; - &lt;package name&gt;. Body: Dear &lt;insurer&gt;, Please find attached our package quotation slip &lt;PQS no.&gt; (round &lt;n&gt;) for &lt;package name&gt;. Kindly send your best terms on or before &lt;reply date&gt;. The document is password protected; the password follows separately. BDO Insurance and Reinsurance Brokers, Inc.</a:t>
                      </a:r>
                    </a:p>
                  </a:txBody>
                  <a:tcPr marL="54864" marR="54864" marT="27432" marB="27432">
                    <a:solidFill>
                      <a:srgbClr val="FFFFFF"/>
                    </a:solidFill>
                  </a:tcPr>
                </a:tc>
              </a:tr>
              <a:tr h="480057">
                <a:tc>
                  <a:txBody>
                    <a:bodyPr/>
                    <a:lstStyle/>
                    <a:p>
                      <a:r>
                        <a:rPr sz="850" b="0">
                          <a:solidFill>
                            <a:srgbClr val="4B4B4B"/>
                          </a:solidFill>
                          <a:latin typeface="Arial"/>
                        </a:rPr>
                        <a:t>NT-06</a:t>
                      </a:r>
                    </a:p>
                  </a:txBody>
                  <a:tcPr marL="54864" marR="54864" marT="27432" marB="27432">
                    <a:solidFill>
                      <a:srgbClr val="E5F5FF"/>
                    </a:solidFill>
                  </a:tcPr>
                </a:tc>
                <a:tc>
                  <a:txBody>
                    <a:bodyPr/>
                    <a:lstStyle/>
                    <a:p>
                      <a:r>
                        <a:rPr sz="850" b="0">
                          <a:solidFill>
                            <a:srgbClr val="4B4B4B"/>
                          </a:solidFill>
                          <a:latin typeface="Arial"/>
                        </a:rPr>
                        <a:t>E-mail</a:t>
                      </a:r>
                    </a:p>
                  </a:txBody>
                  <a:tcPr marL="54864" marR="54864" marT="27432" marB="27432">
                    <a:solidFill>
                      <a:srgbClr val="E5F5FF"/>
                    </a:solidFill>
                  </a:tcPr>
                </a:tc>
                <a:tc>
                  <a:txBody>
                    <a:bodyPr/>
                    <a:lstStyle/>
                    <a:p>
                      <a:r>
                        <a:rPr sz="850" b="0">
                          <a:solidFill>
                            <a:srgbClr val="4B4B4B"/>
                          </a:solidFill>
                          <a:latin typeface="Arial"/>
                        </a:rPr>
                        <a:t>An advisory is sent with e-mail addresses in E-mail to (optional)</a:t>
                      </a:r>
                    </a:p>
                  </a:txBody>
                  <a:tcPr marL="54864" marR="54864" marT="27432" marB="27432">
                    <a:solidFill>
                      <a:srgbClr val="E5F5FF"/>
                    </a:solidFill>
                  </a:tcPr>
                </a:tc>
                <a:tc>
                  <a:txBody>
                    <a:bodyPr/>
                    <a:lstStyle/>
                    <a:p>
                      <a:r>
                        <a:rPr sz="850" b="0">
                          <a:solidFill>
                            <a:srgbClr val="4B4B4B"/>
                          </a:solidFill>
                          <a:latin typeface="Arial"/>
                        </a:rPr>
                        <a:t>The addresses entered on the advisory</a:t>
                      </a:r>
                    </a:p>
                  </a:txBody>
                  <a:tcPr marL="54864" marR="54864" marT="27432" marB="27432">
                    <a:solidFill>
                      <a:srgbClr val="E5F5FF"/>
                    </a:solidFill>
                  </a:tcPr>
                </a:tc>
                <a:tc>
                  <a:txBody>
                    <a:bodyPr/>
                    <a:lstStyle/>
                    <a:p>
                      <a:r>
                        <a:rPr sz="850" b="0">
                          <a:solidFill>
                            <a:srgbClr val="4B4B4B"/>
                          </a:solidFill>
                          <a:latin typeface="Arial"/>
                        </a:rPr>
                        <a:t>Subject: &lt;advisory subject&gt;. Body: &lt;advisory text&gt; The advisory is attached (password protected; the password follows separately). BDO Insurance and Reinsurance Brokers, Inc.</a:t>
                      </a:r>
                    </a:p>
                  </a:txBody>
                  <a:tcPr marL="54864" marR="54864" marT="27432" marB="27432">
                    <a:solidFill>
                      <a:srgbClr val="E5F5FF"/>
                    </a:solidFill>
                  </a:tcPr>
                </a:tc>
              </a:tr>
              <a:tr h="480057">
                <a:tc>
                  <a:txBody>
                    <a:bodyPr/>
                    <a:lstStyle/>
                    <a:p>
                      <a:r>
                        <a:rPr sz="850" b="0">
                          <a:solidFill>
                            <a:srgbClr val="4B4B4B"/>
                          </a:solidFill>
                          <a:latin typeface="Arial"/>
                        </a:rPr>
                        <a:t>NT-07</a:t>
                      </a:r>
                    </a:p>
                  </a:txBody>
                  <a:tcPr marL="54864" marR="54864" marT="27432" marB="27432">
                    <a:solidFill>
                      <a:srgbClr val="FFFFFF"/>
                    </a:solidFill>
                  </a:tcPr>
                </a:tc>
                <a:tc>
                  <a:txBody>
                    <a:bodyPr/>
                    <a:lstStyle/>
                    <a:p>
                      <a:r>
                        <a:rPr sz="850" b="0">
                          <a:solidFill>
                            <a:srgbClr val="4B4B4B"/>
                          </a:solidFill>
                          <a:latin typeface="Arial"/>
                        </a:rPr>
                        <a:t>E-mail</a:t>
                      </a:r>
                    </a:p>
                  </a:txBody>
                  <a:tcPr marL="54864" marR="54864" marT="27432" marB="27432">
                    <a:solidFill>
                      <a:srgbClr val="FFFFFF"/>
                    </a:solidFill>
                  </a:tcPr>
                </a:tc>
                <a:tc>
                  <a:txBody>
                    <a:bodyPr/>
                    <a:lstStyle/>
                    <a:p>
                      <a:r>
                        <a:rPr sz="850" b="0">
                          <a:solidFill>
                            <a:srgbClr val="4B4B4B"/>
                          </a:solidFill>
                          <a:latin typeface="Arial"/>
                        </a:rPr>
                        <a:t>Every e-mail sent with a password-protected attachment (NT-05, NT-06)</a:t>
                      </a:r>
                    </a:p>
                  </a:txBody>
                  <a:tcPr marL="54864" marR="54864" marT="27432" marB="27432">
                    <a:solidFill>
                      <a:srgbClr val="FFFFFF"/>
                    </a:solidFill>
                  </a:tcPr>
                </a:tc>
                <a:tc>
                  <a:txBody>
                    <a:bodyPr/>
                    <a:lstStyle/>
                    <a:p>
                      <a:r>
                        <a:rPr sz="850" b="0">
                          <a:solidFill>
                            <a:srgbClr val="4B4B4B"/>
                          </a:solidFill>
                          <a:latin typeface="Arial"/>
                        </a:rPr>
                        <a:t>The same recipients as the document e-mail</a:t>
                      </a:r>
                    </a:p>
                  </a:txBody>
                  <a:tcPr marL="54864" marR="54864" marT="27432" marB="27432">
                    <a:solidFill>
                      <a:srgbClr val="FFFFFF"/>
                    </a:solidFill>
                  </a:tcPr>
                </a:tc>
                <a:tc>
                  <a:txBody>
                    <a:bodyPr/>
                    <a:lstStyle/>
                    <a:p>
                      <a:r>
                        <a:rPr sz="850" b="0">
                          <a:solidFill>
                            <a:srgbClr val="4B4B4B"/>
                          </a:solidFill>
                          <a:latin typeface="Arial"/>
                        </a:rPr>
                        <a:t>Subject: Password for: &lt;subject of the document e-mail&gt;. Body: The documents sent to you in the e-mail "&lt;subject&gt;" are password protected. Password: &lt;password&gt;. This e-mail was sent separately for your security. Please do not forward it.</a:t>
                      </a:r>
                    </a:p>
                  </a:txBody>
                  <a:tcPr marL="54864" marR="54864" marT="27432" marB="27432">
                    <a:solidFill>
                      <a:srgbClr val="FFFFFF"/>
                    </a:solidFill>
                  </a:tcPr>
                </a:tc>
              </a:tr>
              <a:tr h="609596">
                <a:tc>
                  <a:txBody>
                    <a:bodyPr/>
                    <a:lstStyle/>
                    <a:p>
                      <a:r>
                        <a:rPr sz="850" b="0">
                          <a:solidFill>
                            <a:srgbClr val="4B4B4B"/>
                          </a:solidFill>
                          <a:latin typeface="Arial"/>
                        </a:rPr>
                        <a:t>NT-08</a:t>
                      </a:r>
                    </a:p>
                  </a:txBody>
                  <a:tcPr marL="54864" marR="54864" marT="27432" marB="27432">
                    <a:solidFill>
                      <a:srgbClr val="E5F5FF"/>
                    </a:solidFill>
                  </a:tcPr>
                </a:tc>
                <a:tc>
                  <a:txBody>
                    <a:bodyPr/>
                    <a:lstStyle/>
                    <a:p>
                      <a:r>
                        <a:rPr sz="850" b="0">
                          <a:solidFill>
                            <a:srgbClr val="4B4B4B"/>
                          </a:solidFill>
                          <a:latin typeface="Arial"/>
                        </a:rPr>
                        <a:t>Alert inbox</a:t>
                      </a:r>
                    </a:p>
                  </a:txBody>
                  <a:tcPr marL="54864" marR="54864" marT="27432" marB="27432">
                    <a:solidFill>
                      <a:srgbClr val="E5F5FF"/>
                    </a:solidFill>
                  </a:tcPr>
                </a:tc>
                <a:tc>
                  <a:txBody>
                    <a:bodyPr/>
                    <a:lstStyle/>
                    <a:p>
                      <a:r>
                        <a:rPr sz="850" b="0">
                          <a:solidFill>
                            <a:srgbClr val="4B4B4B"/>
                          </a:solidFill>
                          <a:latin typeface="Arial"/>
                        </a:rPr>
                        <a:t>The daily PACKAGE_EXPIRY_MONITOR job (01:00 PHT) finds a released package ending within 60 days (PACKAGE_EXPIRY_NOTICE_DAYS), then within 30 and 7 days (PACKAGE_EXPIRY_REMINDER_DAYS); once per threshold</a:t>
                      </a:r>
                    </a:p>
                  </a:txBody>
                  <a:tcPr marL="54864" marR="54864" marT="27432" marB="27432">
                    <a:solidFill>
                      <a:srgbClr val="E5F5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E5F5FF"/>
                    </a:solidFill>
                  </a:tcPr>
                </a:tc>
                <a:tc>
                  <a:txBody>
                    <a:bodyPr/>
                    <a:lstStyle/>
                    <a:p>
                      <a:r>
                        <a:rPr sz="850" b="0">
                          <a:solidFill>
                            <a:srgbClr val="4B4B4B"/>
                          </a:solidFill>
                          <a:latin typeface="Arial"/>
                        </a:rPr>
                        <a:t>Exception PACKAGE_EXPIRING (Package expiring): Package &lt;risk code&gt; version &lt;n&gt; ends on &lt;dd-MMM-yyyy&gt; (&lt;n&gt; days); no renewal request yet (or: renewal &lt;request no.&gt;). In-app notice: Title: Package ending: &lt;risk code&gt;, with the same text</a:t>
                      </a:r>
                    </a:p>
                  </a:txBody>
                  <a:tcPr marL="54864" marR="54864" marT="27432" marB="27432">
                    <a:solidFill>
                      <a:srgbClr val="E5F5FF"/>
                    </a:solidFill>
                  </a:tcPr>
                </a:tc>
              </a:tr>
            </a:tbl>
          </a:graphicData>
        </a:graphic>
      </p:graphicFrame>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Notifications and e-mails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400</a:t>
            </a:r>
          </a:p>
        </p:txBody>
      </p:sp>
      <p:graphicFrame>
        <p:nvGraphicFramePr>
          <p:cNvPr id="9" name="Table 8"/>
          <p:cNvGraphicFramePr>
            <a:graphicFrameLocks noGrp="1"/>
          </p:cNvGraphicFramePr>
          <p:nvPr/>
        </p:nvGraphicFramePr>
        <p:xfrm>
          <a:off x="548640" y="1325880"/>
          <a:ext cx="11094413" cy="1920228"/>
        </p:xfrm>
        <a:graphic>
          <a:graphicData uri="http://schemas.openxmlformats.org/drawingml/2006/table">
            <a:tbl>
              <a:tblPr firstRow="1" bandRow="1">
                <a:tableStyleId>{5C22544A-7EE6-4342-B048-85BDC9FD1C3A}</a:tableStyleId>
              </a:tblPr>
              <a:tblGrid>
                <a:gridCol w="682733"/>
                <a:gridCol w="1109441"/>
                <a:gridCol w="2730932"/>
                <a:gridCol w="2218883"/>
                <a:gridCol w="4352424"/>
              </a:tblGrid>
              <a:tr h="220979">
                <a:tc>
                  <a:txBody>
                    <a:bodyPr/>
                    <a:lstStyle/>
                    <a:p>
                      <a:r>
                        <a:rPr sz="850" b="1">
                          <a:solidFill>
                            <a:srgbClr val="FFFFFF"/>
                          </a:solidFill>
                          <a:latin typeface="Arial"/>
                        </a:rPr>
                        <a:t>ID</a:t>
                      </a:r>
                    </a:p>
                  </a:txBody>
                  <a:tcPr marL="54864" marR="54864" marT="27432" marB="27432">
                    <a:solidFill>
                      <a:srgbClr val="004EA8"/>
                    </a:solidFill>
                  </a:tcPr>
                </a:tc>
                <a:tc>
                  <a:txBody>
                    <a:bodyPr/>
                    <a:lstStyle/>
                    <a:p>
                      <a:r>
                        <a:rPr sz="850" b="1">
                          <a:solidFill>
                            <a:srgbClr val="FFFFFF"/>
                          </a:solidFill>
                          <a:latin typeface="Arial"/>
                        </a:rPr>
                        <a:t>Channel</a:t>
                      </a:r>
                    </a:p>
                  </a:txBody>
                  <a:tcPr marL="54864" marR="54864" marT="27432" marB="27432">
                    <a:solidFill>
                      <a:srgbClr val="004EA8"/>
                    </a:solidFill>
                  </a:tcPr>
                </a:tc>
                <a:tc>
                  <a:txBody>
                    <a:bodyPr/>
                    <a:lstStyle/>
                    <a:p>
                      <a:r>
                        <a:rPr sz="850" b="1">
                          <a:solidFill>
                            <a:srgbClr val="FFFFFF"/>
                          </a:solidFill>
                          <a:latin typeface="Arial"/>
                        </a:rPr>
                        <a:t>Trigger</a:t>
                      </a:r>
                    </a:p>
                  </a:txBody>
                  <a:tcPr marL="54864" marR="54864" marT="27432" marB="27432">
                    <a:solidFill>
                      <a:srgbClr val="004EA8"/>
                    </a:solidFill>
                  </a:tcPr>
                </a:tc>
                <a:tc>
                  <a:txBody>
                    <a:bodyPr/>
                    <a:lstStyle/>
                    <a:p>
                      <a:r>
                        <a:rPr sz="850" b="1">
                          <a:solidFill>
                            <a:srgbClr val="FFFFFF"/>
                          </a:solidFill>
                          <a:latin typeface="Arial"/>
                        </a:rPr>
                        <a:t>Recipient</a:t>
                      </a:r>
                    </a:p>
                  </a:txBody>
                  <a:tcPr marL="54864" marR="54864" marT="27432" marB="27432">
                    <a:solidFill>
                      <a:srgbClr val="004EA8"/>
                    </a:solidFill>
                  </a:tcPr>
                </a:tc>
                <a:tc>
                  <a:txBody>
                    <a:bodyPr/>
                    <a:lstStyle/>
                    <a:p>
                      <a:r>
                        <a:rPr sz="850" b="1">
                          <a:solidFill>
                            <a:srgbClr val="FFFFFF"/>
                          </a:solidFill>
                          <a:latin typeface="Arial"/>
                        </a:rPr>
                        <a:t>Content</a:t>
                      </a:r>
                    </a:p>
                  </a:txBody>
                  <a:tcPr marL="54864" marR="54864" marT="27432" marB="27432">
                    <a:solidFill>
                      <a:srgbClr val="004EA8"/>
                    </a:solidFill>
                  </a:tcPr>
                </a:tc>
              </a:tr>
              <a:tr h="609596">
                <a:tc>
                  <a:txBody>
                    <a:bodyPr/>
                    <a:lstStyle/>
                    <a:p>
                      <a:r>
                        <a:rPr sz="850" b="0">
                          <a:solidFill>
                            <a:srgbClr val="4B4B4B"/>
                          </a:solidFill>
                          <a:latin typeface="Arial"/>
                        </a:rPr>
                        <a:t>NT-09</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A package that an active incentive criterion names expires or is retired</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in the app, every user with PKG_NEGOTIATE (TSU) and every user with PRODUCT_MAINTAIN (MBS)</a:t>
                      </a:r>
                    </a:p>
                  </a:txBody>
                  <a:tcPr marL="54864" marR="54864" marT="27432" marB="27432">
                    <a:solidFill>
                      <a:srgbClr val="FFFFFF"/>
                    </a:solidFill>
                  </a:tcPr>
                </a:tc>
                <a:tc>
                  <a:txBody>
                    <a:bodyPr/>
                    <a:lstStyle/>
                    <a:p>
                      <a:r>
                        <a:rPr sz="850" b="0">
                          <a:solidFill>
                            <a:srgbClr val="4B4B4B"/>
                          </a:solidFill>
                          <a:latin typeface="Arial"/>
                        </a:rPr>
                        <a:t>Exception INCENTIVE_PRODUCT_INACTIVE (Incentive criterion on an inactive product): Incentive criterion &lt;code&gt; applies to package &lt;risk code&gt;, which &lt;expired or retired&gt;: review or deactivate it. In-app notice: Title: Incentive criterion to review: &lt;code&gt;, with the same text</a:t>
                      </a:r>
                    </a:p>
                  </a:txBody>
                  <a:tcPr marL="54864" marR="54864" marT="27432" marB="27432">
                    <a:solidFill>
                      <a:srgbClr val="FFFFFF"/>
                    </a:solidFill>
                  </a:tcPr>
                </a:tc>
              </a:tr>
              <a:tr h="350518">
                <a:tc>
                  <a:txBody>
                    <a:bodyPr/>
                    <a:lstStyle/>
                    <a:p>
                      <a:r>
                        <a:rPr sz="850" b="0">
                          <a:solidFill>
                            <a:srgbClr val="4B4B4B"/>
                          </a:solidFill>
                          <a:latin typeface="Arial"/>
                        </a:rPr>
                        <a:t>NT-10</a:t>
                      </a:r>
                    </a:p>
                  </a:txBody>
                  <a:tcPr marL="54864" marR="54864" marT="27432" marB="27432">
                    <a:solidFill>
                      <a:srgbClr val="E5F5FF"/>
                    </a:solidFill>
                  </a:tcPr>
                </a:tc>
                <a:tc>
                  <a:txBody>
                    <a:bodyPr/>
                    <a:lstStyle/>
                    <a:p>
                      <a:r>
                        <a:rPr sz="850" b="0">
                          <a:solidFill>
                            <a:srgbClr val="4B4B4B"/>
                          </a:solidFill>
                          <a:latin typeface="Arial"/>
                        </a:rPr>
                        <a:t>In-app</a:t>
                      </a:r>
                    </a:p>
                  </a:txBody>
                  <a:tcPr marL="54864" marR="54864" marT="27432" marB="27432">
                    <a:solidFill>
                      <a:srgbClr val="E5F5FF"/>
                    </a:solidFill>
                  </a:tcPr>
                </a:tc>
                <a:tc>
                  <a:txBody>
                    <a:bodyPr/>
                    <a:lstStyle/>
                    <a:p>
                      <a:r>
                        <a:rPr sz="850" b="0">
                          <a:solidFill>
                            <a:srgbClr val="4B4B4B"/>
                          </a:solidFill>
                          <a:latin typeface="Arial"/>
                        </a:rPr>
                        <a:t>A team leader assigns package requests (Package Requests › Assign, TSU Workbench › Assign)</a:t>
                      </a:r>
                    </a:p>
                  </a:txBody>
                  <a:tcPr marL="54864" marR="54864" marT="27432" marB="27432">
                    <a:solidFill>
                      <a:srgbClr val="E5F5FF"/>
                    </a:solidFill>
                  </a:tcPr>
                </a:tc>
                <a:tc>
                  <a:txBody>
                    <a:bodyPr/>
                    <a:lstStyle/>
                    <a:p>
                      <a:r>
                        <a:rPr sz="850" b="0">
                          <a:solidFill>
                            <a:srgbClr val="4B4B4B"/>
                          </a:solidFill>
                          <a:latin typeface="Arial"/>
                        </a:rPr>
                        <a:t>The new assignee, unless the team leader assigns them to himself</a:t>
                      </a:r>
                    </a:p>
                  </a:txBody>
                  <a:tcPr marL="54864" marR="54864" marT="27432" marB="27432">
                    <a:solidFill>
                      <a:srgbClr val="E5F5FF"/>
                    </a:solidFill>
                  </a:tcPr>
                </a:tc>
                <a:tc>
                  <a:txBody>
                    <a:bodyPr/>
                    <a:lstStyle/>
                    <a:p>
                      <a:r>
                        <a:rPr sz="850" b="0">
                          <a:solidFill>
                            <a:srgbClr val="4B4B4B"/>
                          </a:solidFill>
                          <a:latin typeface="Arial"/>
                        </a:rPr>
                        <a:t>Title: &lt;request no.&gt; assigned to you. Text: &lt;request description&gt;</a:t>
                      </a:r>
                    </a:p>
                  </a:txBody>
                  <a:tcPr marL="54864" marR="54864" marT="27432" marB="27432">
                    <a:solidFill>
                      <a:srgbClr val="E5F5FF"/>
                    </a:solidFill>
                  </a:tcPr>
                </a:tc>
              </a:tr>
              <a:tr h="739135">
                <a:tc>
                  <a:txBody>
                    <a:bodyPr/>
                    <a:lstStyle/>
                    <a:p>
                      <a:r>
                        <a:rPr sz="850" b="0">
                          <a:solidFill>
                            <a:srgbClr val="4B4B4B"/>
                          </a:solidFill>
                          <a:latin typeface="Arial"/>
                        </a:rPr>
                        <a:t>NT-11</a:t>
                      </a:r>
                    </a:p>
                  </a:txBody>
                  <a:tcPr marL="54864" marR="54864" marT="27432" marB="27432">
                    <a:solidFill>
                      <a:srgbClr val="FFFFFF"/>
                    </a:solidFill>
                  </a:tcPr>
                </a:tc>
                <a:tc>
                  <a:txBody>
                    <a:bodyPr/>
                    <a:lstStyle/>
                    <a:p>
                      <a:r>
                        <a:rPr sz="850" b="0">
                          <a:solidFill>
                            <a:srgbClr val="4B4B4B"/>
                          </a:solidFill>
                          <a:latin typeface="Arial"/>
                        </a:rPr>
                        <a:t>Alert inbox</a:t>
                      </a:r>
                    </a:p>
                  </a:txBody>
                  <a:tcPr marL="54864" marR="54864" marT="27432" marB="27432">
                    <a:solidFill>
                      <a:srgbClr val="FFFFFF"/>
                    </a:solidFill>
                  </a:tcPr>
                </a:tc>
                <a:tc>
                  <a:txBody>
                    <a:bodyPr/>
                    <a:lstStyle/>
                    <a:p>
                      <a:r>
                        <a:rPr sz="850" b="0">
                          <a:solidFill>
                            <a:srgbClr val="4B4B4B"/>
                          </a:solidFill>
                          <a:latin typeface="Arial"/>
                        </a:rPr>
                        <a:t>The daily alert check (09:30 PHT) finds package requests past their stage service level</a:t>
                      </a:r>
                    </a:p>
                  </a:txBody>
                  <a:tcPr marL="54864" marR="54864" marT="27432" marB="27432">
                    <a:solidFill>
                      <a:srgbClr val="FFFFFF"/>
                    </a:solidFill>
                  </a:tcPr>
                </a:tc>
                <a:tc>
                  <a:txBody>
                    <a:bodyPr/>
                    <a:lstStyle/>
                    <a:p>
                      <a:r>
                        <a:rPr sz="850" b="0">
                          <a:solidFill>
                            <a:srgbClr val="4B4B4B"/>
                          </a:solidFill>
                          <a:latin typeface="Arial"/>
                        </a:rPr>
                        <a:t>Users of the Alerts screen (System Administrator, Auditor); the Product Maintenance roles see the same requests as overdue on the home tiles, Package Requests and TSU Workbench</a:t>
                      </a:r>
                    </a:p>
                  </a:txBody>
                  <a:tcPr marL="54864" marR="54864" marT="27432" marB="27432">
                    <a:solidFill>
                      <a:srgbClr val="FFFFFF"/>
                    </a:solidFill>
                  </a:tcPr>
                </a:tc>
                <a:tc>
                  <a:txBody>
                    <a:bodyPr/>
                    <a:lstStyle/>
                    <a:p>
                      <a:r>
                        <a:rPr sz="850" b="0">
                          <a:solidFill>
                            <a:srgbClr val="4B4B4B"/>
                          </a:solidFill>
                          <a:latin typeface="Arial"/>
                        </a:rPr>
                        <a:t>Exception WORK_SLA_BREACH: Work item overdue</a:t>
                      </a:r>
                    </a:p>
                  </a:txBody>
                  <a:tcPr marL="54864" marR="54864" marT="27432" marB="27432">
                    <a:solidFill>
                      <a:srgbClr val="FFFFFF"/>
                    </a:solidFill>
                  </a:tcPr>
                </a:tc>
              </a:tr>
            </a:tbl>
          </a:graphicData>
        </a:graphic>
      </p:graphicFrame>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Exports and downloads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401</a:t>
            </a:r>
          </a:p>
        </p:txBody>
      </p:sp>
      <p:graphicFrame>
        <p:nvGraphicFramePr>
          <p:cNvPr id="9" name="Table 8"/>
          <p:cNvGraphicFramePr>
            <a:graphicFrameLocks noGrp="1"/>
          </p:cNvGraphicFramePr>
          <p:nvPr/>
        </p:nvGraphicFramePr>
        <p:xfrm>
          <a:off x="548640" y="1325880"/>
          <a:ext cx="11094413" cy="1508760"/>
        </p:xfrm>
        <a:graphic>
          <a:graphicData uri="http://schemas.openxmlformats.org/drawingml/2006/table">
            <a:tbl>
              <a:tblPr firstRow="1" bandRow="1">
                <a:tableStyleId>{5C22544A-7EE6-4342-B048-85BDC9FD1C3A}</a:tableStyleId>
              </a:tblPr>
              <a:tblGrid>
                <a:gridCol w="1194783"/>
                <a:gridCol w="2048199"/>
                <a:gridCol w="2560249"/>
                <a:gridCol w="5291182"/>
              </a:tblGrid>
              <a:tr h="228600">
                <a:tc>
                  <a:txBody>
                    <a:bodyPr/>
                    <a:lstStyle/>
                    <a:p>
                      <a:r>
                        <a:rPr sz="900" b="1">
                          <a:solidFill>
                            <a:srgbClr val="FFFFFF"/>
                          </a:solidFill>
                          <a:latin typeface="Arial"/>
                        </a:rPr>
                        <a:t>Screen</a:t>
                      </a:r>
                    </a:p>
                  </a:txBody>
                  <a:tcPr marL="54864" marR="54864" marT="27432" marB="27432">
                    <a:solidFill>
                      <a:srgbClr val="004EA8"/>
                    </a:solidFill>
                  </a:tcPr>
                </a:tc>
                <a:tc>
                  <a:txBody>
                    <a:bodyPr/>
                    <a:lstStyle/>
                    <a:p>
                      <a:r>
                        <a:rPr sz="900" b="1">
                          <a:solidFill>
                            <a:srgbClr val="FFFFFF"/>
                          </a:solidFill>
                          <a:latin typeface="Arial"/>
                        </a:rPr>
                        <a:t>Button</a:t>
                      </a:r>
                    </a:p>
                  </a:txBody>
                  <a:tcPr marL="54864" marR="54864" marT="27432" marB="27432">
                    <a:solidFill>
                      <a:srgbClr val="004EA8"/>
                    </a:solidFill>
                  </a:tcPr>
                </a:tc>
                <a:tc>
                  <a:txBody>
                    <a:bodyPr/>
                    <a:lstStyle/>
                    <a:p>
                      <a:r>
                        <a:rPr sz="900" b="1">
                          <a:solidFill>
                            <a:srgbClr val="FFFFFF"/>
                          </a:solidFill>
                          <a:latin typeface="Arial"/>
                        </a:rPr>
                        <a:t>Who</a:t>
                      </a:r>
                    </a:p>
                  </a:txBody>
                  <a:tcPr marL="54864" marR="54864" marT="27432" marB="27432">
                    <a:solidFill>
                      <a:srgbClr val="004EA8"/>
                    </a:solidFill>
                  </a:tcPr>
                </a:tc>
                <a:tc>
                  <a:txBody>
                    <a:bodyPr/>
                    <a:lstStyle/>
                    <a:p>
                      <a:r>
                        <a:rPr sz="900" b="1">
                          <a:solidFill>
                            <a:srgbClr val="FFFFFF"/>
                          </a:solidFill>
                          <a:latin typeface="Arial"/>
                        </a:rPr>
                        <a:t>What the user receives</a:t>
                      </a:r>
                    </a:p>
                  </a:txBody>
                  <a:tcPr marL="54864" marR="54864" marT="27432" marB="27432">
                    <a:solidFill>
                      <a:srgbClr val="004EA8"/>
                    </a:solidFill>
                  </a:tcPr>
                </a:tc>
              </a:tr>
              <a:tr h="228600">
                <a:tc>
                  <a:txBody>
                    <a:bodyPr/>
                    <a:lstStyle/>
                    <a:p>
                      <a:r>
                        <a:rPr sz="900" b="0">
                          <a:solidFill>
                            <a:srgbClr val="4B4B4B"/>
                          </a:solidFill>
                          <a:latin typeface="Arial"/>
                        </a:rPr>
                        <a:t>SCR-PM-04</a:t>
                      </a:r>
                    </a:p>
                  </a:txBody>
                  <a:tcPr marL="54864" marR="54864" marT="27432" marB="27432">
                    <a:solidFill>
                      <a:srgbClr val="FFFFFF"/>
                    </a:solidFill>
                  </a:tcPr>
                </a:tc>
                <a:tc>
                  <a:txBody>
                    <a:bodyPr/>
                    <a:lstStyle/>
                    <a:p>
                      <a:r>
                        <a:rPr sz="900" b="0">
                          <a:solidFill>
                            <a:srgbClr val="4B4B4B"/>
                          </a:solidFill>
                          <a:latin typeface="Arial"/>
                        </a:rPr>
                        <a:t>Request Form</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Package Request Form (PDF) with the requested terms</a:t>
                      </a:r>
                    </a:p>
                  </a:txBody>
                  <a:tcPr marL="54864" marR="54864" marT="27432" marB="27432">
                    <a:solidFill>
                      <a:srgbClr val="FFFFFF"/>
                    </a:solidFill>
                  </a:tcPr>
                </a:tc>
              </a:tr>
              <a:tr h="228600">
                <a:tc>
                  <a:txBody>
                    <a:bodyPr/>
                    <a:lstStyle/>
                    <a:p>
                      <a:r>
                        <a:rPr sz="900" b="0">
                          <a:solidFill>
                            <a:srgbClr val="4B4B4B"/>
                          </a:solidFill>
                          <a:latin typeface="Arial"/>
                        </a:rPr>
                        <a:t>SCR-PM-05</a:t>
                      </a:r>
                    </a:p>
                  </a:txBody>
                  <a:tcPr marL="54864" marR="54864" marT="27432" marB="27432">
                    <a:solidFill>
                      <a:srgbClr val="E5F5FF"/>
                    </a:solidFill>
                  </a:tcPr>
                </a:tc>
                <a:tc>
                  <a:txBody>
                    <a:bodyPr/>
                    <a:lstStyle/>
                    <a:p>
                      <a:r>
                        <a:rPr sz="900" b="0">
                          <a:solidFill>
                            <a:srgbClr val="4B4B4B"/>
                          </a:solidFill>
                          <a:latin typeface="Arial"/>
                        </a:rPr>
                        <a:t>Quotation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quotation slip PDF of the round</a:t>
                      </a:r>
                    </a:p>
                  </a:txBody>
                  <a:tcPr marL="54864" marR="54864" marT="27432" marB="27432">
                    <a:solidFill>
                      <a:srgbClr val="E5F5FF"/>
                    </a:solidFill>
                  </a:tcPr>
                </a:tc>
              </a:tr>
              <a:tr h="228600">
                <a:tc>
                  <a:txBody>
                    <a:bodyPr/>
                    <a:lstStyle/>
                    <a:p>
                      <a:r>
                        <a:rPr sz="900" b="0">
                          <a:solidFill>
                            <a:srgbClr val="4B4B4B"/>
                          </a:solidFill>
                          <a:latin typeface="Arial"/>
                        </a:rPr>
                        <a:t>SCR-PM-06</a:t>
                      </a:r>
                    </a:p>
                  </a:txBody>
                  <a:tcPr marL="54864" marR="54864" marT="27432" marB="27432">
                    <a:solidFill>
                      <a:srgbClr val="FFFFFF"/>
                    </a:solidFill>
                  </a:tcPr>
                </a:tc>
                <a:tc>
                  <a:txBody>
                    <a:bodyPr/>
                    <a:lstStyle/>
                    <a:p>
                      <a:r>
                        <a:rPr sz="900" b="0">
                          <a:solidFill>
                            <a:srgbClr val="4B4B4B"/>
                          </a:solidFill>
                          <a:latin typeface="Arial"/>
                        </a:rPr>
                        <a:t>PDF /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stored output</a:t>
                      </a:r>
                    </a:p>
                  </a:txBody>
                  <a:tcPr marL="54864" marR="54864" marT="27432" marB="27432">
                    <a:solidFill>
                      <a:srgbClr val="FFFFFF"/>
                    </a:solidFill>
                  </a:tcPr>
                </a:tc>
              </a:tr>
              <a:tr h="228600">
                <a:tc>
                  <a:txBody>
                    <a:bodyPr/>
                    <a:lstStyle/>
                    <a:p>
                      <a:r>
                        <a:rPr sz="900" b="0">
                          <a:solidFill>
                            <a:srgbClr val="4B4B4B"/>
                          </a:solidFill>
                          <a:latin typeface="Arial"/>
                        </a:rPr>
                        <a:t>SCR-PM-07</a:t>
                      </a:r>
                    </a:p>
                  </a:txBody>
                  <a:tcPr marL="54864" marR="54864" marT="27432" marB="27432">
                    <a:solidFill>
                      <a:srgbClr val="E5F5FF"/>
                    </a:solidFill>
                  </a:tcPr>
                </a:tc>
                <a:tc>
                  <a:txBody>
                    <a:bodyPr/>
                    <a:lstStyle/>
                    <a:p>
                      <a:r>
                        <a:rPr sz="900" b="0">
                          <a:solidFill>
                            <a:srgbClr val="4B4B4B"/>
                          </a:solidFill>
                          <a:latin typeface="Arial"/>
                        </a:rPr>
                        <a:t>Package Slip</a:t>
                      </a:r>
                    </a:p>
                  </a:txBody>
                  <a:tcPr marL="54864" marR="54864" marT="27432" marB="27432">
                    <a:solidFill>
                      <a:srgbClr val="E5F5FF"/>
                    </a:solidFill>
                  </a:tcPr>
                </a:tc>
                <a:tc>
                  <a:txBody>
                    <a:bodyPr/>
                    <a:lstStyle/>
                    <a:p>
                      <a:r>
                        <a:rPr sz="900" b="0">
                          <a:solidFill>
                            <a:srgbClr val="4B4B4B"/>
                          </a:solidFill>
                          <a:latin typeface="Arial"/>
                        </a:rPr>
                        <a:t>Every user of the screen</a:t>
                      </a:r>
                    </a:p>
                  </a:txBody>
                  <a:tcPr marL="54864" marR="54864" marT="27432" marB="27432">
                    <a:solidFill>
                      <a:srgbClr val="E5F5FF"/>
                    </a:solidFill>
                  </a:tcPr>
                </a:tc>
                <a:tc>
                  <a:txBody>
                    <a:bodyPr/>
                    <a:lstStyle/>
                    <a:p>
                      <a:r>
                        <a:rPr sz="900" b="0">
                          <a:solidFill>
                            <a:srgbClr val="4B4B4B"/>
                          </a:solidFill>
                          <a:latin typeface="Arial"/>
                        </a:rPr>
                        <a:t>Downloads the package slip (PDF) with the proposed terms, to be printed and signed</a:t>
                      </a:r>
                    </a:p>
                  </a:txBody>
                  <a:tcPr marL="54864" marR="54864" marT="27432" marB="27432">
                    <a:solidFill>
                      <a:srgbClr val="E5F5FF"/>
                    </a:solidFill>
                  </a:tcPr>
                </a:tc>
              </a:tr>
              <a:tr h="365760">
                <a:tc>
                  <a:txBody>
                    <a:bodyPr/>
                    <a:lstStyle/>
                    <a:p>
                      <a:r>
                        <a:rPr sz="900" b="0">
                          <a:solidFill>
                            <a:srgbClr val="4B4B4B"/>
                          </a:solidFill>
                          <a:latin typeface="Arial"/>
                        </a:rPr>
                        <a:t>SCR-PM-20</a:t>
                      </a:r>
                    </a:p>
                  </a:txBody>
                  <a:tcPr marL="54864" marR="54864" marT="27432" marB="27432">
                    <a:solidFill>
                      <a:srgbClr val="FFFFFF"/>
                    </a:solidFill>
                  </a:tcPr>
                </a:tc>
                <a:tc>
                  <a:txBody>
                    <a:bodyPr/>
                    <a:lstStyle/>
                    <a:p>
                      <a:r>
                        <a:rPr sz="900" b="0">
                          <a:solidFill>
                            <a:srgbClr val="4B4B4B"/>
                          </a:solidFill>
                          <a:latin typeface="Arial"/>
                        </a:rPr>
                        <a:t>Export to Excel</a:t>
                      </a:r>
                    </a:p>
                  </a:txBody>
                  <a:tcPr marL="54864" marR="54864" marT="27432" marB="27432">
                    <a:solidFill>
                      <a:srgbClr val="FFFFFF"/>
                    </a:solidFill>
                  </a:tcPr>
                </a:tc>
                <a:tc>
                  <a:txBody>
                    <a:bodyPr/>
                    <a:lstStyle/>
                    <a:p>
                      <a:r>
                        <a:rPr sz="900" b="0">
                          <a:solidFill>
                            <a:srgbClr val="4B4B4B"/>
                          </a:solidFill>
                          <a:latin typeface="Arial"/>
                        </a:rPr>
                        <a:t>Every user of the screen</a:t>
                      </a:r>
                    </a:p>
                  </a:txBody>
                  <a:tcPr marL="54864" marR="54864" marT="27432" marB="27432">
                    <a:solidFill>
                      <a:srgbClr val="FFFFFF"/>
                    </a:solidFill>
                  </a:tcPr>
                </a:tc>
                <a:tc>
                  <a:txBody>
                    <a:bodyPr/>
                    <a:lstStyle/>
                    <a:p>
                      <a:r>
                        <a:rPr sz="900" b="0">
                          <a:solidFill>
                            <a:srgbClr val="4B4B4B"/>
                          </a:solidFill>
                          <a:latin typeface="Arial"/>
                        </a:rPr>
                        <a:t>Downloads the tree in tree order with the effective cost centres and the officers by name and role</a:t>
                      </a:r>
                    </a:p>
                  </a:txBody>
                  <a:tcPr marL="54864" marR="54864" marT="27432" marB="27432">
                    <a:solidFill>
                      <a:srgbClr val="FFFFFF"/>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UX points for confirmation</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Presentation items to confirm, screen observations, accessibility and the desktop assumptions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Presentation items of the clarifications chapter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403</a:t>
            </a:r>
          </a:p>
        </p:txBody>
      </p:sp>
      <p:graphicFrame>
        <p:nvGraphicFramePr>
          <p:cNvPr id="9" name="Table 8"/>
          <p:cNvGraphicFramePr>
            <a:graphicFrameLocks noGrp="1"/>
          </p:cNvGraphicFramePr>
          <p:nvPr/>
        </p:nvGraphicFramePr>
        <p:xfrm>
          <a:off x="548640" y="1325880"/>
          <a:ext cx="11094413" cy="2697480"/>
        </p:xfrm>
        <a:graphic>
          <a:graphicData uri="http://schemas.openxmlformats.org/drawingml/2006/table">
            <a:tbl>
              <a:tblPr firstRow="1" bandRow="1">
                <a:tableStyleId>{5C22544A-7EE6-4342-B048-85BDC9FD1C3A}</a:tableStyleId>
              </a:tblPr>
              <a:tblGrid>
                <a:gridCol w="1024099"/>
                <a:gridCol w="2048199"/>
                <a:gridCol w="5120499"/>
                <a:gridCol w="2901616"/>
              </a:tblGrid>
              <a:tr h="228600">
                <a:tc>
                  <a:txBody>
                    <a:bodyPr/>
                    <a:lstStyle/>
                    <a:p>
                      <a:r>
                        <a:rPr sz="900" b="1">
                          <a:solidFill>
                            <a:srgbClr val="FFFFFF"/>
                          </a:solidFill>
                          <a:latin typeface="Arial"/>
                        </a:rPr>
                        <a:t>Ref</a:t>
                      </a:r>
                    </a:p>
                  </a:txBody>
                  <a:tcPr marL="54864" marR="54864" marT="27432" marB="27432">
                    <a:solidFill>
                      <a:srgbClr val="004EA8"/>
                    </a:solidFill>
                  </a:tcPr>
                </a:tc>
                <a:tc>
                  <a:txBody>
                    <a:bodyPr/>
                    <a:lstStyle/>
                    <a:p>
                      <a:r>
                        <a:rPr sz="900" b="1">
                          <a:solidFill>
                            <a:srgbClr val="FFFFFF"/>
                          </a:solidFill>
                          <a:latin typeface="Arial"/>
                        </a:rPr>
                        <a:t>Topic</a:t>
                      </a:r>
                    </a:p>
                  </a:txBody>
                  <a:tcPr marL="54864" marR="54864" marT="27432" marB="27432">
                    <a:solidFill>
                      <a:srgbClr val="004EA8"/>
                    </a:solidFill>
                  </a:tcPr>
                </a:tc>
                <a:tc>
                  <a:txBody>
                    <a:bodyPr/>
                    <a:lstStyle/>
                    <a:p>
                      <a:r>
                        <a:rPr sz="900" b="1">
                          <a:solidFill>
                            <a:srgbClr val="FFFFFF"/>
                          </a:solidFill>
                          <a:latin typeface="Arial"/>
                        </a:rPr>
                        <a:t>Proposed</a:t>
                      </a:r>
                    </a:p>
                  </a:txBody>
                  <a:tcPr marL="54864" marR="54864" marT="27432" marB="27432">
                    <a:solidFill>
                      <a:srgbClr val="004EA8"/>
                    </a:solidFill>
                  </a:tcPr>
                </a:tc>
                <a:tc>
                  <a:txBody>
                    <a:bodyPr/>
                    <a:lstStyle/>
                    <a:p>
                      <a:r>
                        <a:rPr sz="900" b="1">
                          <a:solidFill>
                            <a:srgbClr val="FFFFFF"/>
                          </a:solidFill>
                          <a:latin typeface="Arial"/>
                        </a:rPr>
                        <a:t>To confirm</a:t>
                      </a:r>
                    </a:p>
                  </a:txBody>
                  <a:tcPr marL="54864" marR="54864" marT="27432" marB="27432">
                    <a:solidFill>
                      <a:srgbClr val="004EA8"/>
                    </a:solidFill>
                  </a:tcPr>
                </a:tc>
              </a:tr>
              <a:tr h="365760">
                <a:tc>
                  <a:txBody>
                    <a:bodyPr/>
                    <a:lstStyle/>
                    <a:p>
                      <a:r>
                        <a:rPr sz="900" b="0">
                          <a:solidFill>
                            <a:srgbClr val="4B4B4B"/>
                          </a:solidFill>
                          <a:latin typeface="Arial"/>
                        </a:rPr>
                        <a:t>CLR-PM-11</a:t>
                      </a:r>
                    </a:p>
                  </a:txBody>
                  <a:tcPr marL="54864" marR="54864" marT="27432" marB="27432">
                    <a:solidFill>
                      <a:srgbClr val="FFFFFF"/>
                    </a:solidFill>
                  </a:tcPr>
                </a:tc>
                <a:tc>
                  <a:txBody>
                    <a:bodyPr/>
                    <a:lstStyle/>
                    <a:p>
                      <a:r>
                        <a:rPr sz="900" b="0">
                          <a:solidFill>
                            <a:srgbClr val="4B4B4B"/>
                          </a:solidFill>
                          <a:latin typeface="Arial"/>
                        </a:rPr>
                        <a:t>Client-tailored comparative (PMADD03; FR-PM-035)</a:t>
                      </a:r>
                    </a:p>
                  </a:txBody>
                  <a:tcPr marL="54864" marR="54864" marT="27432" marB="27432">
                    <a:solidFill>
                      <a:srgbClr val="FFFFFF"/>
                    </a:solidFill>
                  </a:tcPr>
                </a:tc>
                <a:tc>
                  <a:txBody>
                    <a:bodyPr/>
                    <a:lstStyle/>
                    <a:p>
                      <a:r>
                        <a:rPr sz="900" b="0">
                          <a:solidFill>
                            <a:srgbClr val="4B4B4B"/>
                          </a:solidFill>
                          <a:latin typeface="Arial"/>
                        </a:rPr>
                        <a:t>TSU chooses from a fixed catalogue of eight fields: Outcome, Rate %, Minimum Premium, Coverages, Deductibles, Conditions / Warranties, Valid Until and Remarks.</a:t>
                      </a:r>
                    </a:p>
                  </a:txBody>
                  <a:tcPr marL="54864" marR="54864" marT="27432" marB="27432">
                    <a:solidFill>
                      <a:srgbClr val="FFFFFF"/>
                    </a:solidFill>
                  </a:tcPr>
                </a:tc>
                <a:tc>
                  <a:txBody>
                    <a:bodyPr/>
                    <a:lstStyle/>
                    <a:p>
                      <a:r>
                        <a:rPr sz="900" b="0">
                          <a:solidFill>
                            <a:srgbClr val="4B4B4B"/>
                          </a:solidFill>
                          <a:latin typeface="Arial"/>
                        </a:rPr>
                        <a:t>Confirm the eight fields or give the fields (PQ06).</a:t>
                      </a:r>
                    </a:p>
                  </a:txBody>
                  <a:tcPr marL="54864" marR="54864" marT="27432" marB="27432">
                    <a:solidFill>
                      <a:srgbClr val="FFFFFF"/>
                    </a:solidFill>
                  </a:tcPr>
                </a:tc>
              </a:tr>
              <a:tr h="365760">
                <a:tc>
                  <a:txBody>
                    <a:bodyPr/>
                    <a:lstStyle/>
                    <a:p>
                      <a:r>
                        <a:rPr sz="900" b="0">
                          <a:solidFill>
                            <a:srgbClr val="4B4B4B"/>
                          </a:solidFill>
                          <a:latin typeface="Arial"/>
                        </a:rPr>
                        <a:t>CLR-PM-12</a:t>
                      </a:r>
                    </a:p>
                  </a:txBody>
                  <a:tcPr marL="54864" marR="54864" marT="27432" marB="27432">
                    <a:solidFill>
                      <a:srgbClr val="E5F5FF"/>
                    </a:solidFill>
                  </a:tcPr>
                </a:tc>
                <a:tc>
                  <a:txBody>
                    <a:bodyPr/>
                    <a:lstStyle/>
                    <a:p>
                      <a:r>
                        <a:rPr sz="900" b="0">
                          <a:solidFill>
                            <a:srgbClr val="4B4B4B"/>
                          </a:solidFill>
                          <a:latin typeface="Arial"/>
                        </a:rPr>
                        <a:t>Client view without a field selected (FR-PM-035)</a:t>
                      </a:r>
                    </a:p>
                  </a:txBody>
                  <a:tcPr marL="54864" marR="54864" marT="27432" marB="27432">
                    <a:solidFill>
                      <a:srgbClr val="E5F5FF"/>
                    </a:solidFill>
                  </a:tcPr>
                </a:tc>
                <a:tc>
                  <a:txBody>
                    <a:bodyPr/>
                    <a:lstStyle/>
                    <a:p>
                      <a:r>
                        <a:rPr sz="900" b="0">
                          <a:solidFill>
                            <a:srgbClr val="4B4B4B"/>
                          </a:solidFill>
                          <a:latin typeface="Arial"/>
                        </a:rPr>
                        <a:t>BIBS requires a title and at least one insurer for a client view; the field selection is not checked, so a view can show the insurers without comparison fields.</a:t>
                      </a:r>
                    </a:p>
                  </a:txBody>
                  <a:tcPr marL="54864" marR="54864" marT="27432" marB="27432">
                    <a:solidFill>
                      <a:srgbClr val="E5F5FF"/>
                    </a:solidFill>
                  </a:tcPr>
                </a:tc>
                <a:tc>
                  <a:txBody>
                    <a:bodyPr/>
                    <a:lstStyle/>
                    <a:p>
                      <a:r>
                        <a:rPr sz="900" b="0">
                          <a:solidFill>
                            <a:srgbClr val="4B4B4B"/>
                          </a:solidFill>
                          <a:latin typeface="Arial"/>
                        </a:rPr>
                        <a:t>Confirm whether a client view must have at least one field.</a:t>
                      </a:r>
                    </a:p>
                  </a:txBody>
                  <a:tcPr marL="54864" marR="54864" marT="27432" marB="27432">
                    <a:solidFill>
                      <a:srgbClr val="E5F5FF"/>
                    </a:solidFill>
                  </a:tcPr>
                </a:tc>
              </a:tr>
              <a:tr h="502920">
                <a:tc>
                  <a:txBody>
                    <a:bodyPr/>
                    <a:lstStyle/>
                    <a:p>
                      <a:r>
                        <a:rPr sz="900" b="0">
                          <a:solidFill>
                            <a:srgbClr val="4B4B4B"/>
                          </a:solidFill>
                          <a:latin typeface="Arial"/>
                        </a:rPr>
                        <a:t>CLR-PM-17</a:t>
                      </a:r>
                    </a:p>
                  </a:txBody>
                  <a:tcPr marL="54864" marR="54864" marT="27432" marB="27432">
                    <a:solidFill>
                      <a:srgbClr val="FFFFFF"/>
                    </a:solidFill>
                  </a:tcPr>
                </a:tc>
                <a:tc>
                  <a:txBody>
                    <a:bodyPr/>
                    <a:lstStyle/>
                    <a:p>
                      <a:r>
                        <a:rPr sz="900" b="0">
                          <a:solidFill>
                            <a:srgbClr val="4B4B4B"/>
                          </a:solidFill>
                          <a:latin typeface="Arial"/>
                        </a:rPr>
                        <a:t>Main path of the package request stepper</a:t>
                      </a:r>
                    </a:p>
                  </a:txBody>
                  <a:tcPr marL="54864" marR="54864" marT="27432" marB="27432">
                    <a:solidFill>
                      <a:srgbClr val="FFFFFF"/>
                    </a:solidFill>
                  </a:tcPr>
                </a:tc>
                <a:tc>
                  <a:txBody>
                    <a:bodyPr/>
                    <a:lstStyle/>
                    <a:p>
                      <a:r>
                        <a:rPr sz="900" b="0">
                          <a:solidFill>
                            <a:srgbClr val="4B4B4B"/>
                          </a:solidFill>
                          <a:latin typeface="Arial"/>
                        </a:rPr>
                        <a:t>The stepper shows the main path from Draft Request to Released, through the stages of the request in their order; a returned request shows the stage it went back to in amber, and a voided or not proceeded request ends in red.</a:t>
                      </a:r>
                    </a:p>
                  </a:txBody>
                  <a:tcPr marL="54864" marR="54864" marT="27432" marB="27432">
                    <a:solidFill>
                      <a:srgbClr val="FFFFFF"/>
                    </a:solidFill>
                  </a:tcPr>
                </a:tc>
                <a:tc>
                  <a:txBody>
                    <a:bodyPr/>
                    <a:lstStyle/>
                    <a:p>
                      <a:r>
                        <a:rPr sz="900" b="0">
                          <a:solidFill>
                            <a:srgbClr val="4B4B4B"/>
                          </a:solidFill>
                          <a:latin typeface="Arial"/>
                        </a:rPr>
                        <a:t>Confirm the stage list of the package request.</a:t>
                      </a:r>
                    </a:p>
                  </a:txBody>
                  <a:tcPr marL="54864" marR="54864" marT="27432" marB="27432">
                    <a:solidFill>
                      <a:srgbClr val="FFFFFF"/>
                    </a:solidFill>
                  </a:tcPr>
                </a:tc>
              </a:tr>
              <a:tr h="365760">
                <a:tc>
                  <a:txBody>
                    <a:bodyPr/>
                    <a:lstStyle/>
                    <a:p>
                      <a:r>
                        <a:rPr sz="900" b="0">
                          <a:solidFill>
                            <a:srgbClr val="4B4B4B"/>
                          </a:solidFill>
                          <a:latin typeface="Arial"/>
                        </a:rPr>
                        <a:t>CLR-PM-18</a:t>
                      </a:r>
                    </a:p>
                  </a:txBody>
                  <a:tcPr marL="54864" marR="54864" marT="27432" marB="27432">
                    <a:solidFill>
                      <a:srgbClr val="E5F5FF"/>
                    </a:solidFill>
                  </a:tcPr>
                </a:tc>
                <a:tc>
                  <a:txBody>
                    <a:bodyPr/>
                    <a:lstStyle/>
                    <a:p>
                      <a:r>
                        <a:rPr sz="900" b="0">
                          <a:solidFill>
                            <a:srgbClr val="4B4B4B"/>
                          </a:solidFill>
                          <a:latin typeface="Arial"/>
                        </a:rPr>
                        <a:t>Scheme rate compared in a rate exception (FR-PM-051)</a:t>
                      </a:r>
                    </a:p>
                  </a:txBody>
                  <a:tcPr marL="54864" marR="54864" marT="27432" marB="27432">
                    <a:solidFill>
                      <a:srgbClr val="E5F5FF"/>
                    </a:solidFill>
                  </a:tcPr>
                </a:tc>
                <a:tc>
                  <a:txBody>
                    <a:bodyPr/>
                    <a:lstStyle/>
                    <a:p>
                      <a:r>
                        <a:rPr sz="900" b="0">
                          <a:solidFill>
                            <a:srgbClr val="4B4B4B"/>
                          </a:solidFill>
                          <a:latin typeface="Arial"/>
                        </a:rPr>
                        <a:t>The Scheme Rate of the Rate Exceptions table and of the exception record is the package rate of the version in force that priced the quotation, not the panel insurer's rate.</a:t>
                      </a:r>
                    </a:p>
                  </a:txBody>
                  <a:tcPr marL="54864" marR="54864" marT="27432" marB="27432">
                    <a:solidFill>
                      <a:srgbClr val="E5F5FF"/>
                    </a:solidFill>
                  </a:tcPr>
                </a:tc>
                <a:tc>
                  <a:txBody>
                    <a:bodyPr/>
                    <a:lstStyle/>
                    <a:p>
                      <a:r>
                        <a:rPr sz="900" b="0">
                          <a:solidFill>
                            <a:srgbClr val="4B4B4B"/>
                          </a:solidFill>
                          <a:latin typeface="Arial"/>
                        </a:rPr>
                        <a:t>Confirm the rate the requested rate is compared with.</a:t>
                      </a:r>
                    </a:p>
                  </a:txBody>
                  <a:tcPr marL="54864" marR="54864" marT="27432" marB="27432">
                    <a:solidFill>
                      <a:srgbClr val="E5F5FF"/>
                    </a:solidFill>
                  </a:tcPr>
                </a:tc>
              </a:tr>
              <a:tr h="365760">
                <a:tc>
                  <a:txBody>
                    <a:bodyPr/>
                    <a:lstStyle/>
                    <a:p>
                      <a:r>
                        <a:rPr sz="900" b="0">
                          <a:solidFill>
                            <a:srgbClr val="4B4B4B"/>
                          </a:solidFill>
                          <a:latin typeface="Arial"/>
                        </a:rPr>
                        <a:t>CLR-PM-19</a:t>
                      </a:r>
                    </a:p>
                  </a:txBody>
                  <a:tcPr marL="54864" marR="54864" marT="27432" marB="27432">
                    <a:solidFill>
                      <a:srgbClr val="FFFFFF"/>
                    </a:solidFill>
                  </a:tcPr>
                </a:tc>
                <a:tc>
                  <a:txBody>
                    <a:bodyPr/>
                    <a:lstStyle/>
                    <a:p>
                      <a:r>
                        <a:rPr sz="900" b="0">
                          <a:solidFill>
                            <a:srgbClr val="4B4B4B"/>
                          </a:solidFill>
                          <a:latin typeface="Arial"/>
                        </a:rPr>
                        <a:t>Difference column format (FR-PM-051)</a:t>
                      </a:r>
                    </a:p>
                  </a:txBody>
                  <a:tcPr marL="54864" marR="54864" marT="27432" marB="27432">
                    <a:solidFill>
                      <a:srgbClr val="FFFFFF"/>
                    </a:solidFill>
                  </a:tcPr>
                </a:tc>
                <a:tc>
                  <a:txBody>
                    <a:bodyPr/>
                    <a:lstStyle/>
                    <a:p>
                      <a:r>
                        <a:rPr sz="900" b="0">
                          <a:solidFill>
                            <a:srgbClr val="4B4B4B"/>
                          </a:solidFill>
                          <a:latin typeface="Arial"/>
                        </a:rPr>
                        <a:t>The difference is shown in percentage points with its sign and two decimals (for example -0.10).</a:t>
                      </a:r>
                    </a:p>
                  </a:txBody>
                  <a:tcPr marL="54864" marR="54864" marT="27432" marB="27432">
                    <a:solidFill>
                      <a:srgbClr val="FFFFFF"/>
                    </a:solidFill>
                  </a:tcPr>
                </a:tc>
                <a:tc>
                  <a:txBody>
                    <a:bodyPr/>
                    <a:lstStyle/>
                    <a:p>
                      <a:r>
                        <a:rPr sz="900" b="0">
                          <a:solidFill>
                            <a:srgbClr val="4B4B4B"/>
                          </a:solidFill>
                          <a:latin typeface="Arial"/>
                        </a:rPr>
                        <a:t>Confirm percentage points with the sign.</a:t>
                      </a:r>
                    </a:p>
                  </a:txBody>
                  <a:tcPr marL="54864" marR="54864" marT="27432" marB="27432">
                    <a:solidFill>
                      <a:srgbClr val="FFFFFF"/>
                    </a:solidFill>
                  </a:tcPr>
                </a:tc>
              </a:tr>
              <a:tr h="502920">
                <a:tc>
                  <a:txBody>
                    <a:bodyPr/>
                    <a:lstStyle/>
                    <a:p>
                      <a:r>
                        <a:rPr sz="900" b="0">
                          <a:solidFill>
                            <a:srgbClr val="4B4B4B"/>
                          </a:solidFill>
                          <a:latin typeface="Arial"/>
                        </a:rPr>
                        <a:t>CLR-PM-20</a:t>
                      </a:r>
                    </a:p>
                  </a:txBody>
                  <a:tcPr marL="54864" marR="54864" marT="27432" marB="27432">
                    <a:solidFill>
                      <a:srgbClr val="E5F5FF"/>
                    </a:solidFill>
                  </a:tcPr>
                </a:tc>
                <a:tc>
                  <a:txBody>
                    <a:bodyPr/>
                    <a:lstStyle/>
                    <a:p>
                      <a:r>
                        <a:rPr sz="900" b="0">
                          <a:solidFill>
                            <a:srgbClr val="4B4B4B"/>
                          </a:solidFill>
                          <a:latin typeface="Arial"/>
                        </a:rPr>
                        <a:t>Full status labels</a:t>
                      </a:r>
                    </a:p>
                  </a:txBody>
                  <a:tcPr marL="54864" marR="54864" marT="27432" marB="27432">
                    <a:solidFill>
                      <a:srgbClr val="E5F5FF"/>
                    </a:solidFill>
                  </a:tcPr>
                </a:tc>
                <a:tc>
                  <a:txBody>
                    <a:bodyPr/>
                    <a:lstStyle/>
                    <a:p>
                      <a:r>
                        <a:rPr sz="900" b="0">
                          <a:solidFill>
                            <a:srgbClr val="4B4B4B"/>
                          </a:solidFill>
                          <a:latin typeface="Arial"/>
                        </a:rPr>
                        <a:t>Stages and statuses show their full label (for example Requirements Preparation, Pending Authorization); a short form with the full label in the tooltip is used only above 21 characters.</a:t>
                      </a:r>
                    </a:p>
                  </a:txBody>
                  <a:tcPr marL="54864" marR="54864" marT="27432" marB="27432">
                    <a:solidFill>
                      <a:srgbClr val="E5F5FF"/>
                    </a:solidFill>
                  </a:tcPr>
                </a:tc>
                <a:tc>
                  <a:txBody>
                    <a:bodyPr/>
                    <a:lstStyle/>
                    <a:p>
                      <a:r>
                        <a:rPr sz="900" b="0">
                          <a:solidFill>
                            <a:srgbClr val="4B4B4B"/>
                          </a:solidFill>
                          <a:latin typeface="Arial"/>
                        </a:rPr>
                        <a:t>Confirm full labels and the short forms of the longer ones.</a:t>
                      </a:r>
                    </a:p>
                  </a:txBody>
                  <a:tcPr marL="54864" marR="54864" marT="27432" marB="27432">
                    <a:solidFill>
                      <a:srgbClr val="E5F5FF"/>
                    </a:solidFill>
                  </a:tcPr>
                </a:tc>
              </a:tr>
            </a:tbl>
          </a:graphicData>
        </a:graphic>
      </p:graphicFrame>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observations: proposals for the UX Design team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404</a:t>
            </a:r>
          </a:p>
        </p:txBody>
      </p:sp>
      <p:graphicFrame>
        <p:nvGraphicFramePr>
          <p:cNvPr id="9" name="Table 8"/>
          <p:cNvGraphicFramePr>
            <a:graphicFrameLocks noGrp="1"/>
          </p:cNvGraphicFramePr>
          <p:nvPr/>
        </p:nvGraphicFramePr>
        <p:xfrm>
          <a:off x="548640" y="1325880"/>
          <a:ext cx="11094413" cy="2971800"/>
        </p:xfrm>
        <a:graphic>
          <a:graphicData uri="http://schemas.openxmlformats.org/drawingml/2006/table">
            <a:tbl>
              <a:tblPr firstRow="1" bandRow="1">
                <a:tableStyleId>{5C22544A-7EE6-4342-B048-85BDC9FD1C3A}</a:tableStyleId>
              </a:tblPr>
              <a:tblGrid>
                <a:gridCol w="938758"/>
                <a:gridCol w="1536149"/>
                <a:gridCol w="4267082"/>
                <a:gridCol w="4352424"/>
              </a:tblGrid>
              <a:tr h="228600">
                <a:tc>
                  <a:txBody>
                    <a:bodyPr/>
                    <a:lstStyle/>
                    <a:p>
                      <a:r>
                        <a:rPr sz="900" b="1">
                          <a:solidFill>
                            <a:srgbClr val="FFFFFF"/>
                          </a:solidFill>
                          <a:latin typeface="Arial"/>
                        </a:rPr>
                        <a:t>No.</a:t>
                      </a:r>
                    </a:p>
                  </a:txBody>
                  <a:tcPr marL="54864" marR="54864" marT="27432" marB="27432">
                    <a:solidFill>
                      <a:srgbClr val="004EA8"/>
                    </a:solidFill>
                  </a:tcPr>
                </a:tc>
                <a:tc>
                  <a:txBody>
                    <a:bodyPr/>
                    <a:lstStyle/>
                    <a:p>
                      <a:r>
                        <a:rPr sz="900" b="1">
                          <a:solidFill>
                            <a:srgbClr val="FFFFFF"/>
                          </a:solidFill>
                          <a:latin typeface="Arial"/>
                        </a:rPr>
                        <a:t>Screens</a:t>
                      </a:r>
                    </a:p>
                  </a:txBody>
                  <a:tcPr marL="54864" marR="54864" marT="27432" marB="27432">
                    <a:solidFill>
                      <a:srgbClr val="004EA8"/>
                    </a:solidFill>
                  </a:tcPr>
                </a:tc>
                <a:tc>
                  <a:txBody>
                    <a:bodyPr/>
                    <a:lstStyle/>
                    <a:p>
                      <a:r>
                        <a:rPr sz="900" b="1">
                          <a:solidFill>
                            <a:srgbClr val="FFFFFF"/>
                          </a:solidFill>
                          <a:latin typeface="Arial"/>
                        </a:rPr>
                        <a:t>Observation</a:t>
                      </a:r>
                    </a:p>
                  </a:txBody>
                  <a:tcPr marL="54864" marR="54864" marT="27432" marB="27432">
                    <a:solidFill>
                      <a:srgbClr val="004EA8"/>
                    </a:solidFill>
                  </a:tcPr>
                </a:tc>
                <a:tc>
                  <a:txBody>
                    <a:bodyPr/>
                    <a:lstStyle/>
                    <a:p>
                      <a:r>
                        <a:rPr sz="900" b="1">
                          <a:solidFill>
                            <a:srgbClr val="FFFFFF"/>
                          </a:solidFill>
                          <a:latin typeface="Arial"/>
                        </a:rPr>
                        <a:t>Proposal</a:t>
                      </a:r>
                    </a:p>
                  </a:txBody>
                  <a:tcPr marL="54864" marR="54864" marT="27432" marB="27432">
                    <a:solidFill>
                      <a:srgbClr val="004EA8"/>
                    </a:solidFill>
                  </a:tcPr>
                </a:tc>
              </a:tr>
              <a:tr h="365760">
                <a:tc>
                  <a:txBody>
                    <a:bodyPr/>
                    <a:lstStyle/>
                    <a:p>
                      <a:r>
                        <a:rPr sz="900" b="0">
                          <a:solidFill>
                            <a:srgbClr val="4B4B4B"/>
                          </a:solidFill>
                          <a:latin typeface="Arial"/>
                        </a:rPr>
                        <a:t>UX-PM-01</a:t>
                      </a:r>
                    </a:p>
                  </a:txBody>
                  <a:tcPr marL="54864" marR="54864" marT="27432" marB="27432">
                    <a:solidFill>
                      <a:srgbClr val="FFFFFF"/>
                    </a:solidFill>
                  </a:tcPr>
                </a:tc>
                <a:tc>
                  <a:txBody>
                    <a:bodyPr/>
                    <a:lstStyle/>
                    <a:p>
                      <a:r>
                        <a:rPr sz="900" b="0">
                          <a:solidFill>
                            <a:srgbClr val="4B4B4B"/>
                          </a:solidFill>
                          <a:latin typeface="Arial"/>
                        </a:rPr>
                        <a:t>SCR-PM-13</a:t>
                      </a:r>
                    </a:p>
                  </a:txBody>
                  <a:tcPr marL="54864" marR="54864" marT="27432" marB="27432">
                    <a:solidFill>
                      <a:srgbClr val="FFFFFF"/>
                    </a:solidFill>
                  </a:tcPr>
                </a:tc>
                <a:tc>
                  <a:txBody>
                    <a:bodyPr/>
                    <a:lstStyle/>
                    <a:p>
                      <a:r>
                        <a:rPr sz="900" b="0">
                          <a:solidFill>
                            <a:srgbClr val="4B4B4B"/>
                          </a:solidFill>
                          <a:latin typeface="Arial"/>
                        </a:rPr>
                        <a:t>The Details column of the validation checks shows list codes (COMPREHENSIVE, OD_THEFT) next to the counts.</a:t>
                      </a:r>
                    </a:p>
                  </a:txBody>
                  <a:tcPr marL="54864" marR="54864" marT="27432" marB="27432">
                    <a:solidFill>
                      <a:srgbClr val="FFFFFF"/>
                    </a:solidFill>
                  </a:tcPr>
                </a:tc>
                <a:tc>
                  <a:txBody>
                    <a:bodyPr/>
                    <a:lstStyle/>
                    <a:p>
                      <a:r>
                        <a:rPr sz="900" b="0">
                          <a:solidFill>
                            <a:srgbClr val="4B4B4B"/>
                          </a:solidFill>
                          <a:latin typeface="Arial"/>
                        </a:rPr>
                        <a:t>Show the cover type and the coverages by their names, as the other columns of the screens do.</a:t>
                      </a:r>
                    </a:p>
                  </a:txBody>
                  <a:tcPr marL="54864" marR="54864" marT="27432" marB="27432">
                    <a:solidFill>
                      <a:srgbClr val="FFFFFF"/>
                    </a:solidFill>
                  </a:tcPr>
                </a:tc>
              </a:tr>
              <a:tr h="502920">
                <a:tc>
                  <a:txBody>
                    <a:bodyPr/>
                    <a:lstStyle/>
                    <a:p>
                      <a:r>
                        <a:rPr sz="900" b="0">
                          <a:solidFill>
                            <a:srgbClr val="4B4B4B"/>
                          </a:solidFill>
                          <a:latin typeface="Arial"/>
                        </a:rPr>
                        <a:t>UX-PM-02</a:t>
                      </a:r>
                    </a:p>
                  </a:txBody>
                  <a:tcPr marL="54864" marR="54864" marT="27432" marB="27432">
                    <a:solidFill>
                      <a:srgbClr val="E5F5FF"/>
                    </a:solidFill>
                  </a:tcPr>
                </a:tc>
                <a:tc>
                  <a:txBody>
                    <a:bodyPr/>
                    <a:lstStyle/>
                    <a:p>
                      <a:r>
                        <a:rPr sz="900" b="0">
                          <a:solidFill>
                            <a:srgbClr val="4B4B4B"/>
                          </a:solidFill>
                          <a:latin typeface="Arial"/>
                        </a:rPr>
                        <a:t>SCR-PM-13</a:t>
                      </a:r>
                    </a:p>
                  </a:txBody>
                  <a:tcPr marL="54864" marR="54864" marT="27432" marB="27432">
                    <a:solidFill>
                      <a:srgbClr val="E5F5FF"/>
                    </a:solidFill>
                  </a:tcPr>
                </a:tc>
                <a:tc>
                  <a:txBody>
                    <a:bodyPr/>
                    <a:lstStyle/>
                    <a:p>
                      <a:r>
                        <a:rPr sz="900" b="0">
                          <a:solidFill>
                            <a:srgbClr val="4B4B4B"/>
                          </a:solidFill>
                          <a:latin typeface="Arial"/>
                        </a:rPr>
                        <a:t>A released version shows its rate scheme and dates in read-only input boxes; the amounts read 5000 and 5000000 and the rate 1.2, without the separators and decimals of the screen standard.</a:t>
                      </a:r>
                    </a:p>
                  </a:txBody>
                  <a:tcPr marL="54864" marR="54864" marT="27432" marB="27432">
                    <a:solidFill>
                      <a:srgbClr val="E5F5FF"/>
                    </a:solidFill>
                  </a:tcPr>
                </a:tc>
                <a:tc>
                  <a:txBody>
                    <a:bodyPr/>
                    <a:lstStyle/>
                    <a:p>
                      <a:r>
                        <a:rPr sz="900" b="0">
                          <a:solidFill>
                            <a:srgbClr val="4B4B4B"/>
                          </a:solidFill>
                          <a:latin typeface="Arial"/>
                        </a:rPr>
                        <a:t>Show a released (read-only) version as a label and value grid with the amounts formatted (5,000.00; 5,000,000.00) and the rate as keyed with the percent sign.</a:t>
                      </a:r>
                    </a:p>
                  </a:txBody>
                  <a:tcPr marL="54864" marR="54864" marT="27432" marB="27432">
                    <a:solidFill>
                      <a:srgbClr val="E5F5FF"/>
                    </a:solidFill>
                  </a:tcPr>
                </a:tc>
              </a:tr>
              <a:tr h="365760">
                <a:tc>
                  <a:txBody>
                    <a:bodyPr/>
                    <a:lstStyle/>
                    <a:p>
                      <a:r>
                        <a:rPr sz="900" b="0">
                          <a:solidFill>
                            <a:srgbClr val="4B4B4B"/>
                          </a:solidFill>
                          <a:latin typeface="Arial"/>
                        </a:rPr>
                        <a:t>UX-PM-03</a:t>
                      </a:r>
                    </a:p>
                  </a:txBody>
                  <a:tcPr marL="54864" marR="54864" marT="27432" marB="27432">
                    <a:solidFill>
                      <a:srgbClr val="FFFFFF"/>
                    </a:solidFill>
                  </a:tcPr>
                </a:tc>
                <a:tc>
                  <a:txBody>
                    <a:bodyPr/>
                    <a:lstStyle/>
                    <a:p>
                      <a:r>
                        <a:rPr sz="900" b="0">
                          <a:solidFill>
                            <a:srgbClr val="4B4B4B"/>
                          </a:solidFill>
                          <a:latin typeface="Arial"/>
                        </a:rPr>
                        <a:t>SCR-PM-13</a:t>
                      </a:r>
                    </a:p>
                  </a:txBody>
                  <a:tcPr marL="54864" marR="54864" marT="27432" marB="27432">
                    <a:solidFill>
                      <a:srgbClr val="FFFFFF"/>
                    </a:solidFill>
                  </a:tcPr>
                </a:tc>
                <a:tc>
                  <a:txBody>
                    <a:bodyPr/>
                    <a:lstStyle/>
                    <a:p>
                      <a:r>
                        <a:rPr sz="900" b="0">
                          <a:solidFill>
                            <a:srgbClr val="4B4B4B"/>
                          </a:solidFill>
                          <a:latin typeface="Arial"/>
                        </a:rPr>
                        <a:t>On a released version an empty date (Anniversary) shows the format hint dd-MMM-yyyy, and a long text (Computation Basis) is cut at the edge of its box.</a:t>
                      </a:r>
                    </a:p>
                  </a:txBody>
                  <a:tcPr marL="54864" marR="54864" marT="27432" marB="27432">
                    <a:solidFill>
                      <a:srgbClr val="FFFFFF"/>
                    </a:solidFill>
                  </a:tcPr>
                </a:tc>
                <a:tc>
                  <a:txBody>
                    <a:bodyPr/>
                    <a:lstStyle/>
                    <a:p>
                      <a:r>
                        <a:rPr sz="900" b="0">
                          <a:solidFill>
                            <a:srgbClr val="4B4B4B"/>
                          </a:solidFill>
                          <a:latin typeface="Arial"/>
                        </a:rPr>
                        <a:t>Show a dash for an empty value and the whole text of a read-only field (wrapped).</a:t>
                      </a:r>
                    </a:p>
                  </a:txBody>
                  <a:tcPr marL="54864" marR="54864" marT="27432" marB="27432">
                    <a:solidFill>
                      <a:srgbClr val="FFFFFF"/>
                    </a:solidFill>
                  </a:tcPr>
                </a:tc>
              </a:tr>
              <a:tr h="640080">
                <a:tc>
                  <a:txBody>
                    <a:bodyPr/>
                    <a:lstStyle/>
                    <a:p>
                      <a:r>
                        <a:rPr sz="900" b="0">
                          <a:solidFill>
                            <a:srgbClr val="4B4B4B"/>
                          </a:solidFill>
                          <a:latin typeface="Arial"/>
                        </a:rPr>
                        <a:t>UX-PM-04</a:t>
                      </a:r>
                    </a:p>
                  </a:txBody>
                  <a:tcPr marL="54864" marR="54864" marT="27432" marB="27432">
                    <a:solidFill>
                      <a:srgbClr val="E5F5FF"/>
                    </a:solidFill>
                  </a:tcPr>
                </a:tc>
                <a:tc>
                  <a:txBody>
                    <a:bodyPr/>
                    <a:lstStyle/>
                    <a:p>
                      <a:r>
                        <a:rPr sz="900" b="0">
                          <a:solidFill>
                            <a:srgbClr val="4B4B4B"/>
                          </a:solidFill>
                          <a:latin typeface="Arial"/>
                        </a:rPr>
                        <a:t>SCR-PM-03</a:t>
                      </a:r>
                    </a:p>
                  </a:txBody>
                  <a:tcPr marL="54864" marR="54864" marT="27432" marB="27432">
                    <a:solidFill>
                      <a:srgbClr val="E5F5FF"/>
                    </a:solidFill>
                  </a:tcPr>
                </a:tc>
                <a:tc>
                  <a:txBody>
                    <a:bodyPr/>
                    <a:lstStyle/>
                    <a:p>
                      <a:r>
                        <a:rPr sz="900" b="0">
                          <a:solidFill>
                            <a:srgbClr val="4B4B4B"/>
                          </a:solidFill>
                          <a:latin typeface="Arial"/>
                        </a:rPr>
                        <a:t>On the request form the coverage is keyed as a code (Coverage code) and the amounts show without separators while typed (2000000, 5000000); the hint "Before submitting, complete the package end date." is plain text above the form.</a:t>
                      </a:r>
                    </a:p>
                  </a:txBody>
                  <a:tcPr marL="54864" marR="54864" marT="27432" marB="27432">
                    <a:solidFill>
                      <a:srgbClr val="E5F5FF"/>
                    </a:solidFill>
                  </a:tcPr>
                </a:tc>
                <a:tc>
                  <a:txBody>
                    <a:bodyPr/>
                    <a:lstStyle/>
                    <a:p>
                      <a:r>
                        <a:rPr sz="900" b="0">
                          <a:solidFill>
                            <a:srgbClr val="4B4B4B"/>
                          </a:solidFill>
                          <a:latin typeface="Arial"/>
                        </a:rPr>
                        <a:t>Pick the coverage by its name from the coverage list, format the amounts when the field is left, and show the hint as the one-line information notice of the notice standard.</a:t>
                      </a:r>
                    </a:p>
                  </a:txBody>
                  <a:tcPr marL="54864" marR="54864" marT="27432" marB="27432">
                    <a:solidFill>
                      <a:srgbClr val="E5F5FF"/>
                    </a:solidFill>
                  </a:tcPr>
                </a:tc>
              </a:tr>
              <a:tr h="502920">
                <a:tc>
                  <a:txBody>
                    <a:bodyPr/>
                    <a:lstStyle/>
                    <a:p>
                      <a:r>
                        <a:rPr sz="900" b="0">
                          <a:solidFill>
                            <a:srgbClr val="4B4B4B"/>
                          </a:solidFill>
                          <a:latin typeface="Arial"/>
                        </a:rPr>
                        <a:t>UX-PM-05</a:t>
                      </a:r>
                    </a:p>
                  </a:txBody>
                  <a:tcPr marL="54864" marR="54864" marT="27432" marB="27432">
                    <a:solidFill>
                      <a:srgbClr val="FFFFFF"/>
                    </a:solidFill>
                  </a:tcPr>
                </a:tc>
                <a:tc>
                  <a:txBody>
                    <a:bodyPr/>
                    <a:lstStyle/>
                    <a:p>
                      <a:r>
                        <a:rPr sz="900" b="0">
                          <a:solidFill>
                            <a:srgbClr val="4B4B4B"/>
                          </a:solidFill>
                          <a:latin typeface="Arial"/>
                        </a:rPr>
                        <a:t>SCR-PM-04, SCR-PM-05</a:t>
                      </a:r>
                    </a:p>
                  </a:txBody>
                  <a:tcPr marL="54864" marR="54864" marT="27432" marB="27432">
                    <a:solidFill>
                      <a:srgbClr val="FFFFFF"/>
                    </a:solidFill>
                  </a:tcPr>
                </a:tc>
                <a:tc>
                  <a:txBody>
                    <a:bodyPr/>
                    <a:lstStyle/>
                    <a:p>
                      <a:r>
                        <a:rPr sz="900" b="0">
                          <a:solidFill>
                            <a:srgbClr val="4B4B4B"/>
                          </a:solidFill>
                          <a:latin typeface="Arial"/>
                        </a:rPr>
                        <a:t>In the workflow step bar of a request in negotiation the stage actions wrap to a second line under the meta row, and Not Proceeded (which ends the request) has the look of the other secondary actions.</a:t>
                      </a:r>
                    </a:p>
                  </a:txBody>
                  <a:tcPr marL="54864" marR="54864" marT="27432" marB="27432">
                    <a:solidFill>
                      <a:srgbClr val="FFFFFF"/>
                    </a:solidFill>
                  </a:tcPr>
                </a:tc>
                <a:tc>
                  <a:txBody>
                    <a:bodyPr/>
                    <a:lstStyle/>
                    <a:p>
                      <a:r>
                        <a:rPr sz="900" b="0">
                          <a:solidFill>
                            <a:srgbClr val="4B4B4B"/>
                          </a:solidFill>
                          <a:latin typeface="Arial"/>
                        </a:rPr>
                        <a:t>Keep the actions on the meta row, or give them their own right-aligned row by design; show Not Proceeded as the destructive action, last and in red, as the page action order asks.</a:t>
                      </a:r>
                    </a:p>
                  </a:txBody>
                  <a:tcPr marL="54864" marR="54864" marT="27432" marB="27432">
                    <a:solidFill>
                      <a:srgbClr val="FFFFFF"/>
                    </a:solidFill>
                  </a:tcPr>
                </a:tc>
              </a:tr>
              <a:tr h="365760">
                <a:tc>
                  <a:txBody>
                    <a:bodyPr/>
                    <a:lstStyle/>
                    <a:p>
                      <a:r>
                        <a:rPr sz="900" b="0">
                          <a:solidFill>
                            <a:srgbClr val="4B4B4B"/>
                          </a:solidFill>
                          <a:latin typeface="Arial"/>
                        </a:rPr>
                        <a:t>UX-PM-06</a:t>
                      </a:r>
                    </a:p>
                  </a:txBody>
                  <a:tcPr marL="54864" marR="54864" marT="27432" marB="27432">
                    <a:solidFill>
                      <a:srgbClr val="E5F5FF"/>
                    </a:solidFill>
                  </a:tcPr>
                </a:tc>
                <a:tc>
                  <a:txBody>
                    <a:bodyPr/>
                    <a:lstStyle/>
                    <a:p>
                      <a:r>
                        <a:rPr sz="900" b="0">
                          <a:solidFill>
                            <a:srgbClr val="4B4B4B"/>
                          </a:solidFill>
                          <a:latin typeface="Arial"/>
                        </a:rPr>
                        <a:t>SCR-PM-16</a:t>
                      </a:r>
                    </a:p>
                  </a:txBody>
                  <a:tcPr marL="54864" marR="54864" marT="27432" marB="27432">
                    <a:solidFill>
                      <a:srgbClr val="E5F5FF"/>
                    </a:solidFill>
                  </a:tcPr>
                </a:tc>
                <a:tc>
                  <a:txBody>
                    <a:bodyPr/>
                    <a:lstStyle/>
                    <a:p>
                      <a:r>
                        <a:rPr sz="900" b="0">
                          <a:solidFill>
                            <a:srgbClr val="4B4B4B"/>
                          </a:solidFill>
                          <a:latin typeface="Arial"/>
                        </a:rPr>
                        <a:t>The Actions column of Incentive Criteria shows Deactivate as a link in the row.</a:t>
                      </a:r>
                    </a:p>
                  </a:txBody>
                  <a:tcPr marL="54864" marR="54864" marT="27432" marB="27432">
                    <a:solidFill>
                      <a:srgbClr val="E5F5FF"/>
                    </a:solidFill>
                  </a:tcPr>
                </a:tc>
                <a:tc>
                  <a:txBody>
                    <a:bodyPr/>
                    <a:lstStyle/>
                    <a:p>
                      <a:r>
                        <a:rPr sz="900" b="0">
                          <a:solidFill>
                            <a:srgbClr val="4B4B4B"/>
                          </a:solidFill>
                          <a:latin typeface="Arial"/>
                        </a:rPr>
                        <a:t>Offer the row actions through the row action menu of the table standard (Deactivate last, in red).</a:t>
                      </a:r>
                    </a:p>
                  </a:txBody>
                  <a:tcPr marL="54864" marR="54864" marT="27432" marB="27432">
                    <a:solidFill>
                      <a:srgbClr val="E5F5FF"/>
                    </a:solidFill>
                  </a:tcPr>
                </a:tc>
              </a:tr>
            </a:tbl>
          </a:graphicData>
        </a:graphic>
      </p:graphicFrame>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Accessibility notes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405</a:t>
            </a:r>
          </a:p>
        </p:txBody>
      </p:sp>
      <p:graphicFrame>
        <p:nvGraphicFramePr>
          <p:cNvPr id="9" name="Table 8"/>
          <p:cNvGraphicFramePr>
            <a:graphicFrameLocks noGrp="1"/>
          </p:cNvGraphicFramePr>
          <p:nvPr/>
        </p:nvGraphicFramePr>
        <p:xfrm>
          <a:off x="548640" y="1325880"/>
          <a:ext cx="11094414" cy="2377440"/>
        </p:xfrm>
        <a:graphic>
          <a:graphicData uri="http://schemas.openxmlformats.org/drawingml/2006/table">
            <a:tbl>
              <a:tblPr firstRow="1" bandRow="1">
                <a:tableStyleId>{5C22544A-7EE6-4342-B048-85BDC9FD1C3A}</a:tableStyleId>
              </a:tblPr>
              <a:tblGrid>
                <a:gridCol w="1706833"/>
                <a:gridCol w="5120499"/>
                <a:gridCol w="4267082"/>
              </a:tblGrid>
              <a:tr h="243840">
                <a:tc>
                  <a:txBody>
                    <a:bodyPr/>
                    <a:lstStyle/>
                    <a:p>
                      <a:r>
                        <a:rPr sz="1000" b="1">
                          <a:solidFill>
                            <a:srgbClr val="FFFFFF"/>
                          </a:solidFill>
                          <a:latin typeface="Arial"/>
                        </a:rPr>
                        <a:t>Topic</a:t>
                      </a:r>
                    </a:p>
                  </a:txBody>
                  <a:tcPr marL="54864" marR="54864" marT="27432" marB="27432">
                    <a:solidFill>
                      <a:srgbClr val="004EA8"/>
                    </a:solidFill>
                  </a:tcPr>
                </a:tc>
                <a:tc>
                  <a:txBody>
                    <a:bodyPr/>
                    <a:lstStyle/>
                    <a:p>
                      <a:r>
                        <a:rPr sz="1000" b="1">
                          <a:solidFill>
                            <a:srgbClr val="FFFFFF"/>
                          </a:solidFill>
                          <a:latin typeface="Arial"/>
                        </a:rPr>
                        <a:t>What the screens do</a:t>
                      </a:r>
                    </a:p>
                  </a:txBody>
                  <a:tcPr marL="54864" marR="54864" marT="27432" marB="27432">
                    <a:solidFill>
                      <a:srgbClr val="004EA8"/>
                    </a:solidFill>
                  </a:tcPr>
                </a:tc>
                <a:tc>
                  <a:txBody>
                    <a:bodyPr/>
                    <a:lstStyle/>
                    <a:p>
                      <a:r>
                        <a:rPr sz="1000" b="1">
                          <a:solidFill>
                            <a:srgbClr val="FFFFFF"/>
                          </a:solidFill>
                          <a:latin typeface="Arial"/>
                        </a:rPr>
                        <a:t>For the UX Design team</a:t>
                      </a:r>
                    </a:p>
                  </a:txBody>
                  <a:tcPr marL="54864" marR="54864" marT="27432" marB="27432">
                    <a:solidFill>
                      <a:srgbClr val="004EA8"/>
                    </a:solidFill>
                  </a:tcPr>
                </a:tc>
              </a:tr>
              <a:tr h="396240">
                <a:tc>
                  <a:txBody>
                    <a:bodyPr/>
                    <a:lstStyle/>
                    <a:p>
                      <a:r>
                        <a:rPr sz="1000" b="0">
                          <a:solidFill>
                            <a:srgbClr val="4B4B4B"/>
                          </a:solidFill>
                          <a:latin typeface="Arial"/>
                        </a:rPr>
                        <a:t>Keyboard</a:t>
                      </a:r>
                    </a:p>
                  </a:txBody>
                  <a:tcPr marL="54864" marR="54864" marT="27432" marB="27432">
                    <a:solidFill>
                      <a:srgbClr val="FFFFFF"/>
                    </a:solidFill>
                  </a:tcPr>
                </a:tc>
                <a:tc>
                  <a:txBody>
                    <a:bodyPr/>
                    <a:lstStyle/>
                    <a:p>
                      <a:r>
                        <a:rPr sz="1000" b="0">
                          <a:solidFill>
                            <a:srgbClr val="4B4B4B"/>
                          </a:solidFill>
                          <a:latin typeface="Arial"/>
                        </a:rPr>
                        <a:t>Tabs move with the arrow keys, Home and End; table rows open with Enter; tree tables expand and collapse with the arrow keys; dialogs close with Escape</a:t>
                      </a:r>
                    </a:p>
                  </a:txBody>
                  <a:tcPr marL="54864" marR="54864" marT="27432" marB="27432">
                    <a:solidFill>
                      <a:srgbClr val="FFFFFF"/>
                    </a:solidFill>
                  </a:tcPr>
                </a:tc>
                <a:tc>
                  <a:txBody>
                    <a:bodyPr/>
                    <a:lstStyle/>
                    <a:p>
                      <a:r>
                        <a:rPr sz="1000" b="0">
                          <a:solidFill>
                            <a:srgbClr val="4B4B4B"/>
                          </a:solidFill>
                          <a:latin typeface="Arial"/>
                        </a:rPr>
                        <a:t>Keep every action reachable without a mouse; keep the order of the tabs and fields</a:t>
                      </a:r>
                    </a:p>
                  </a:txBody>
                  <a:tcPr marL="54864" marR="54864" marT="27432" marB="27432">
                    <a:solidFill>
                      <a:srgbClr val="FFFFFF"/>
                    </a:solidFill>
                  </a:tcPr>
                </a:tc>
              </a:tr>
              <a:tr h="396240">
                <a:tc>
                  <a:txBody>
                    <a:bodyPr/>
                    <a:lstStyle/>
                    <a:p>
                      <a:r>
                        <a:rPr sz="1000" b="0">
                          <a:solidFill>
                            <a:srgbClr val="4B4B4B"/>
                          </a:solidFill>
                          <a:latin typeface="Arial"/>
                        </a:rPr>
                        <a:t>Focus</a:t>
                      </a:r>
                    </a:p>
                  </a:txBody>
                  <a:tcPr marL="54864" marR="54864" marT="27432" marB="27432">
                    <a:solidFill>
                      <a:srgbClr val="E5F5FF"/>
                    </a:solidFill>
                  </a:tcPr>
                </a:tc>
                <a:tc>
                  <a:txBody>
                    <a:bodyPr/>
                    <a:lstStyle/>
                    <a:p>
                      <a:r>
                        <a:rPr sz="1000" b="0">
                          <a:solidFill>
                            <a:srgbClr val="4B4B4B"/>
                          </a:solidFill>
                          <a:latin typeface="Arial"/>
                        </a:rPr>
                        <a:t>A visible focus ring (3 px CTA Blue halo) on every control; a dialog takes the focus and returns it to the button that opened it</a:t>
                      </a:r>
                    </a:p>
                  </a:txBody>
                  <a:tcPr marL="54864" marR="54864" marT="27432" marB="27432">
                    <a:solidFill>
                      <a:srgbClr val="E5F5FF"/>
                    </a:solidFill>
                  </a:tcPr>
                </a:tc>
                <a:tc>
                  <a:txBody>
                    <a:bodyPr/>
                    <a:lstStyle/>
                    <a:p>
                      <a:r>
                        <a:rPr sz="1000" b="0">
                          <a:solidFill>
                            <a:srgbClr val="4B4B4B"/>
                          </a:solidFill>
                          <a:latin typeface="Arial"/>
                        </a:rPr>
                        <a:t>Never hide the focus ring; show it in the designs</a:t>
                      </a:r>
                    </a:p>
                  </a:txBody>
                  <a:tcPr marL="54864" marR="54864" marT="27432" marB="27432">
                    <a:solidFill>
                      <a:srgbClr val="E5F5FF"/>
                    </a:solidFill>
                  </a:tcPr>
                </a:tc>
              </a:tr>
              <a:tr h="396240">
                <a:tc>
                  <a:txBody>
                    <a:bodyPr/>
                    <a:lstStyle/>
                    <a:p>
                      <a:r>
                        <a:rPr sz="1000" b="0">
                          <a:solidFill>
                            <a:srgbClr val="4B4B4B"/>
                          </a:solidFill>
                          <a:latin typeface="Arial"/>
                        </a:rPr>
                        <a:t>Contrast</a:t>
                      </a:r>
                    </a:p>
                  </a:txBody>
                  <a:tcPr marL="54864" marR="54864" marT="27432" marB="27432">
                    <a:solidFill>
                      <a:srgbClr val="FFFFFF"/>
                    </a:solidFill>
                  </a:tcPr>
                </a:tc>
                <a:tc>
                  <a:txBody>
                    <a:bodyPr/>
                    <a:lstStyle/>
                    <a:p>
                      <a:r>
                        <a:rPr sz="1000" b="0">
                          <a:solidFill>
                            <a:srgbClr val="4B4B4B"/>
                          </a:solidFill>
                          <a:latin typeface="Arial"/>
                        </a:rPr>
                        <a:t>Text and pills meet AA contrast; no dark text on a dark fill or light text on a light fill; yellow only as an accent</a:t>
                      </a:r>
                    </a:p>
                  </a:txBody>
                  <a:tcPr marL="54864" marR="54864" marT="27432" marB="27432">
                    <a:solidFill>
                      <a:srgbClr val="FFFFFF"/>
                    </a:solidFill>
                  </a:tcPr>
                </a:tc>
                <a:tc>
                  <a:txBody>
                    <a:bodyPr/>
                    <a:lstStyle/>
                    <a:p>
                      <a:r>
                        <a:rPr sz="1000" b="0">
                          <a:solidFill>
                            <a:srgbClr val="4B4B4B"/>
                          </a:solidFill>
                          <a:latin typeface="Arial"/>
                        </a:rPr>
                        <a:t>Check new colours of pills, tags and charts for AA</a:t>
                      </a:r>
                    </a:p>
                  </a:txBody>
                  <a:tcPr marL="54864" marR="54864" marT="27432" marB="27432">
                    <a:solidFill>
                      <a:srgbClr val="FFFFFF"/>
                    </a:solidFill>
                  </a:tcPr>
                </a:tc>
              </a:tr>
              <a:tr h="548640">
                <a:tc>
                  <a:txBody>
                    <a:bodyPr/>
                    <a:lstStyle/>
                    <a:p>
                      <a:r>
                        <a:rPr sz="1000" b="0">
                          <a:solidFill>
                            <a:srgbClr val="4B4B4B"/>
                          </a:solidFill>
                          <a:latin typeface="Arial"/>
                        </a:rPr>
                        <a:t>Error identification</a:t>
                      </a:r>
                    </a:p>
                  </a:txBody>
                  <a:tcPr marL="54864" marR="54864" marT="27432" marB="27432">
                    <a:solidFill>
                      <a:srgbClr val="E5F5FF"/>
                    </a:solidFill>
                  </a:tcPr>
                </a:tc>
                <a:tc>
                  <a:txBody>
                    <a:bodyPr/>
                    <a:lstStyle/>
                    <a:p>
                      <a:r>
                        <a:rPr sz="1000" b="0">
                          <a:solidFill>
                            <a:srgbClr val="4B4B4B"/>
                          </a:solidFill>
                          <a:latin typeface="Arial"/>
                        </a:rPr>
                        <a:t>Errors are named in words under the field with the field outlined; a long form lists its errors at the top with a link to the first field; colour is never the only sign</a:t>
                      </a:r>
                    </a:p>
                  </a:txBody>
                  <a:tcPr marL="54864" marR="54864" marT="27432" marB="27432">
                    <a:solidFill>
                      <a:srgbClr val="E5F5FF"/>
                    </a:solidFill>
                  </a:tcPr>
                </a:tc>
                <a:tc>
                  <a:txBody>
                    <a:bodyPr/>
                    <a:lstStyle/>
                    <a:p>
                      <a:r>
                        <a:rPr sz="1000" b="0">
                          <a:solidFill>
                            <a:srgbClr val="4B4B4B"/>
                          </a:solidFill>
                          <a:latin typeface="Arial"/>
                        </a:rPr>
                        <a:t>Keep the text of the message with its icon and title</a:t>
                      </a:r>
                    </a:p>
                  </a:txBody>
                  <a:tcPr marL="54864" marR="54864" marT="27432" marB="27432">
                    <a:solidFill>
                      <a:srgbClr val="E5F5FF"/>
                    </a:solidFill>
                  </a:tcPr>
                </a:tc>
              </a:tr>
              <a:tr h="396240">
                <a:tc>
                  <a:txBody>
                    <a:bodyPr/>
                    <a:lstStyle/>
                    <a:p>
                      <a:r>
                        <a:rPr sz="1000" b="0">
                          <a:solidFill>
                            <a:srgbClr val="4B4B4B"/>
                          </a:solidFill>
                          <a:latin typeface="Arial"/>
                        </a:rPr>
                        <a:t>Labels and names</a:t>
                      </a:r>
                    </a:p>
                  </a:txBody>
                  <a:tcPr marL="54864" marR="54864" marT="27432" marB="27432">
                    <a:solidFill>
                      <a:srgbClr val="FFFFFF"/>
                    </a:solidFill>
                  </a:tcPr>
                </a:tc>
                <a:tc>
                  <a:txBody>
                    <a:bodyPr/>
                    <a:lstStyle/>
                    <a:p>
                      <a:r>
                        <a:rPr sz="1000" b="0">
                          <a:solidFill>
                            <a:srgbClr val="4B4B4B"/>
                          </a:solidFill>
                          <a:latin typeface="Arial"/>
                        </a:rPr>
                        <a:t>Every field has a visible label above it; icons have a text label or a tooltip; users are named by their names</a:t>
                      </a:r>
                    </a:p>
                  </a:txBody>
                  <a:tcPr marL="54864" marR="54864" marT="27432" marB="27432">
                    <a:solidFill>
                      <a:srgbClr val="FFFFFF"/>
                    </a:solidFill>
                  </a:tcPr>
                </a:tc>
                <a:tc>
                  <a:txBody>
                    <a:bodyPr/>
                    <a:lstStyle/>
                    <a:p>
                      <a:r>
                        <a:rPr sz="1000" b="0">
                          <a:solidFill>
                            <a:srgbClr val="4B4B4B"/>
                          </a:solidFill>
                          <a:latin typeface="Arial"/>
                        </a:rPr>
                        <a:t>No placeholder as the only label</a:t>
                      </a:r>
                    </a:p>
                  </a:txBody>
                  <a:tcPr marL="54864" marR="54864" marT="27432" marB="27432">
                    <a:solidFill>
                      <a:srgbClr val="FFFFFF"/>
                    </a:solidFill>
                  </a:tcPr>
                </a:tc>
              </a:tr>
            </a:tbl>
          </a:graphicData>
        </a:graphic>
      </p:graphicFrame>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Desktop and responsive assumptions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406</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BIBS is a desktop web application used in the office; the designs are for 1440 x 900 at 100 % zoom and work from 1280 px wide</a:t>
            </a:r>
          </a:p>
          <a:p>
            <a:pPr>
              <a:spcAft>
                <a:spcPts val="600"/>
              </a:spcAft>
            </a:pPr>
            <a:r>
              <a:rPr sz="1500">
                <a:solidFill>
                  <a:srgbClr val="004EA8"/>
                </a:solidFill>
                <a:latin typeface="Arial"/>
              </a:rPr>
              <a:t>•  </a:t>
            </a:r>
            <a:r>
              <a:rPr sz="1500">
                <a:solidFill>
                  <a:srgbClr val="4B4B4B"/>
                </a:solidFill>
                <a:latin typeface="Arial"/>
              </a:rPr>
              <a:t>The images of this deck are taken at 1440 x 900 at twice the screen resolution</a:t>
            </a:r>
          </a:p>
          <a:p>
            <a:pPr>
              <a:spcAft>
                <a:spcPts val="600"/>
              </a:spcAft>
            </a:pPr>
            <a:r>
              <a:rPr sz="1500">
                <a:solidFill>
                  <a:srgbClr val="004EA8"/>
                </a:solidFill>
                <a:latin typeface="Arial"/>
              </a:rPr>
              <a:t>•  </a:t>
            </a:r>
            <a:r>
              <a:rPr sz="1500">
                <a:solidFill>
                  <a:srgbClr val="4B4B4B"/>
                </a:solidFill>
                <a:latin typeface="Arial"/>
              </a:rPr>
              <a:t>Narrow widths: the menu collapses; the workflow step bar keeps the first, the last and the current stage and its neighbours; tables scroll inside their card with the header row in view</a:t>
            </a:r>
          </a:p>
          <a:p>
            <a:pPr>
              <a:spcAft>
                <a:spcPts val="600"/>
              </a:spcAft>
            </a:pPr>
            <a:r>
              <a:rPr sz="1500">
                <a:solidFill>
                  <a:srgbClr val="004EA8"/>
                </a:solidFill>
                <a:latin typeface="Arial"/>
              </a:rPr>
              <a:t>•  </a:t>
            </a:r>
            <a:r>
              <a:rPr sz="1500">
                <a:solidFill>
                  <a:srgbClr val="4B4B4B"/>
                </a:solidFill>
                <a:latin typeface="Arial"/>
              </a:rPr>
              <a:t>No phone or tablet layout is in scope; printing uses the BDO print layout (A4 landscape, no menu or buttons)</a:t>
            </a:r>
          </a:p>
          <a:p>
            <a:pPr>
              <a:spcAft>
                <a:spcPts val="600"/>
              </a:spcAft>
            </a:pPr>
            <a:r>
              <a:rPr sz="1500">
                <a:solidFill>
                  <a:srgbClr val="004EA8"/>
                </a:solidFill>
                <a:latin typeface="Arial"/>
              </a:rPr>
              <a:t>•  </a:t>
            </a:r>
            <a:r>
              <a:rPr sz="1500">
                <a:solidFill>
                  <a:srgbClr val="4B4B4B"/>
                </a:solidFill>
                <a:latin typeface="Arial"/>
              </a:rPr>
              <a:t>Browser zoom up to 200 % keeps every function usable</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Appendix</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Screen ID, FRS section and requirements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UX Screen Deck BRD-3 Product Maintenance</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(1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408</a:t>
            </a:r>
          </a:p>
        </p:txBody>
      </p:sp>
      <p:graphicFrame>
        <p:nvGraphicFramePr>
          <p:cNvPr id="9" name="Table 8"/>
          <p:cNvGraphicFramePr>
            <a:graphicFrameLocks noGrp="1"/>
          </p:cNvGraphicFramePr>
          <p:nvPr/>
        </p:nvGraphicFramePr>
        <p:xfrm>
          <a:off x="548640" y="1325880"/>
          <a:ext cx="11094412" cy="4754856"/>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SCR-PM-01</a:t>
                      </a:r>
                    </a:p>
                  </a:txBody>
                  <a:tcPr marL="54864" marR="54864" marT="27432" marB="27432">
                    <a:solidFill>
                      <a:srgbClr val="FFFFFF"/>
                    </a:solidFill>
                  </a:tcPr>
                </a:tc>
                <a:tc>
                  <a:txBody>
                    <a:bodyPr/>
                    <a:lstStyle/>
                    <a:p>
                      <a:r>
                        <a:rPr sz="850" b="0">
                          <a:solidFill>
                            <a:srgbClr val="4B4B4B"/>
                          </a:solidFill>
                          <a:latin typeface="Arial"/>
                        </a:rPr>
                        <a:t>Product Maintenance Home</a:t>
                      </a:r>
                    </a:p>
                  </a:txBody>
                  <a:tcPr marL="54864" marR="54864" marT="27432" marB="27432">
                    <a:solidFill>
                      <a:srgbClr val="FFFFFF"/>
                    </a:solidFill>
                  </a:tcPr>
                </a:tc>
                <a:tc>
                  <a:txBody>
                    <a:bodyPr/>
                    <a:lstStyle/>
                    <a:p>
                      <a:r>
                        <a:rPr sz="850" b="0">
                          <a:solidFill>
                            <a:srgbClr val="4B4B4B"/>
                          </a:solidFill>
                          <a:latin typeface="Arial"/>
                        </a:rPr>
                        <a:t>13.1.1</a:t>
                      </a:r>
                    </a:p>
                  </a:txBody>
                  <a:tcPr marL="54864" marR="54864" marT="27432" marB="27432">
                    <a:solidFill>
                      <a:srgbClr val="FFFFFF"/>
                    </a:solidFill>
                  </a:tcPr>
                </a:tc>
                <a:tc>
                  <a:txBody>
                    <a:bodyPr/>
                    <a:lstStyle/>
                    <a:p>
                      <a:r>
                        <a:rPr sz="850" b="0">
                          <a:solidFill>
                            <a:srgbClr val="4B4B4B"/>
                          </a:solidFill>
                          <a:latin typeface="Arial"/>
                        </a:rPr>
                        <a:t>FR-PM-070, FR-PM-073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SCR-PM-02</a:t>
                      </a:r>
                    </a:p>
                  </a:txBody>
                  <a:tcPr marL="54864" marR="54864" marT="27432" marB="27432">
                    <a:solidFill>
                      <a:srgbClr val="E5F5FF"/>
                    </a:solidFill>
                  </a:tcPr>
                </a:tc>
                <a:tc>
                  <a:txBody>
                    <a:bodyPr/>
                    <a:lstStyle/>
                    <a:p>
                      <a:r>
                        <a:rPr sz="850" b="0">
                          <a:solidFill>
                            <a:srgbClr val="4B4B4B"/>
                          </a:solidFill>
                          <a:latin typeface="Arial"/>
                        </a:rPr>
                        <a:t>Package Requests</a:t>
                      </a:r>
                    </a:p>
                  </a:txBody>
                  <a:tcPr marL="54864" marR="54864" marT="27432" marB="27432">
                    <a:solidFill>
                      <a:srgbClr val="E5F5FF"/>
                    </a:solidFill>
                  </a:tcPr>
                </a:tc>
                <a:tc>
                  <a:txBody>
                    <a:bodyPr/>
                    <a:lstStyle/>
                    <a:p>
                      <a:r>
                        <a:rPr sz="850" b="0">
                          <a:solidFill>
                            <a:srgbClr val="4B4B4B"/>
                          </a:solidFill>
                          <a:latin typeface="Arial"/>
                        </a:rPr>
                        <a:t>13.1.2</a:t>
                      </a:r>
                    </a:p>
                  </a:txBody>
                  <a:tcPr marL="54864" marR="54864" marT="27432" marB="27432">
                    <a:solidFill>
                      <a:srgbClr val="E5F5FF"/>
                    </a:solidFill>
                  </a:tcPr>
                </a:tc>
                <a:tc>
                  <a:txBody>
                    <a:bodyPr/>
                    <a:lstStyle/>
                    <a:p>
                      <a:r>
                        <a:rPr sz="850" b="0">
                          <a:solidFill>
                            <a:srgbClr val="4B4B4B"/>
                          </a:solidFill>
                          <a:latin typeface="Arial"/>
                        </a:rPr>
                        <a:t>FR-PM-024, FR-PM-073</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Empty list</a:t>
                      </a:r>
                    </a:p>
                  </a:txBody>
                  <a:tcPr marL="54864" marR="54864" marT="27432" marB="27432">
                    <a:solidFill>
                      <a:srgbClr val="E5F5FF"/>
                    </a:solidFill>
                  </a:tcPr>
                </a:tc>
              </a:tr>
              <a:tr h="220979">
                <a:tc>
                  <a:txBody>
                    <a:bodyPr/>
                    <a:lstStyle/>
                    <a:p>
                      <a:r>
                        <a:rPr sz="850" b="0">
                          <a:solidFill>
                            <a:srgbClr val="4B4B4B"/>
                          </a:solidFill>
                          <a:latin typeface="Arial"/>
                        </a:rPr>
                        <a:t>SCR-PM-03</a:t>
                      </a:r>
                    </a:p>
                  </a:txBody>
                  <a:tcPr marL="54864" marR="54864" marT="27432" marB="27432">
                    <a:solidFill>
                      <a:srgbClr val="FFFFFF"/>
                    </a:solidFill>
                  </a:tcPr>
                </a:tc>
                <a:tc>
                  <a:txBody>
                    <a:bodyPr/>
                    <a:lstStyle/>
                    <a:p>
                      <a:r>
                        <a:rPr sz="850" b="0">
                          <a:solidFill>
                            <a:srgbClr val="4B4B4B"/>
                          </a:solidFill>
                          <a:latin typeface="Arial"/>
                        </a:rPr>
                        <a:t>New Package Request and Edit Package Request</a:t>
                      </a:r>
                    </a:p>
                  </a:txBody>
                  <a:tcPr marL="54864" marR="54864" marT="27432" marB="27432">
                    <a:solidFill>
                      <a:srgbClr val="FFFFFF"/>
                    </a:solidFill>
                  </a:tcPr>
                </a:tc>
                <a:tc>
                  <a:txBody>
                    <a:bodyPr/>
                    <a:lstStyle/>
                    <a:p>
                      <a:r>
                        <a:rPr sz="850" b="0">
                          <a:solidFill>
                            <a:srgbClr val="4B4B4B"/>
                          </a:solidFill>
                          <a:latin typeface="Arial"/>
                        </a:rPr>
                        <a:t>13.1.3</a:t>
                      </a:r>
                    </a:p>
                  </a:txBody>
                  <a:tcPr marL="54864" marR="54864" marT="27432" marB="27432">
                    <a:solidFill>
                      <a:srgbClr val="FFFFFF"/>
                    </a:solidFill>
                  </a:tcPr>
                </a:tc>
                <a:tc>
                  <a:txBody>
                    <a:bodyPr/>
                    <a:lstStyle/>
                    <a:p>
                      <a:r>
                        <a:rPr sz="850" b="0">
                          <a:solidFill>
                            <a:srgbClr val="4B4B4B"/>
                          </a:solidFill>
                          <a:latin typeface="Arial"/>
                        </a:rPr>
                        <a:t>FR-PM-020, FR-PM-010, FR-PM-045</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Default, Filled, Validation error, Success message</a:t>
                      </a:r>
                    </a:p>
                  </a:txBody>
                  <a:tcPr marL="54864" marR="54864" marT="27432" marB="27432">
                    <a:solidFill>
                      <a:srgbClr val="FFFFFF"/>
                    </a:solidFill>
                  </a:tcPr>
                </a:tc>
              </a:tr>
              <a:tr h="350518">
                <a:tc>
                  <a:txBody>
                    <a:bodyPr/>
                    <a:lstStyle/>
                    <a:p>
                      <a:r>
                        <a:rPr sz="850" b="0">
                          <a:solidFill>
                            <a:srgbClr val="4B4B4B"/>
                          </a:solidFill>
                          <a:latin typeface="Arial"/>
                        </a:rPr>
                        <a:t>SCR-PM-04</a:t>
                      </a:r>
                    </a:p>
                  </a:txBody>
                  <a:tcPr marL="54864" marR="54864" marT="27432" marB="27432">
                    <a:solidFill>
                      <a:srgbClr val="E5F5FF"/>
                    </a:solidFill>
                  </a:tcPr>
                </a:tc>
                <a:tc>
                  <a:txBody>
                    <a:bodyPr/>
                    <a:lstStyle/>
                    <a:p>
                      <a:r>
                        <a:rPr sz="850" b="0">
                          <a:solidFill>
                            <a:srgbClr val="4B4B4B"/>
                          </a:solidFill>
                          <a:latin typeface="Arial"/>
                        </a:rPr>
                        <a:t>Package Request record</a:t>
                      </a:r>
                    </a:p>
                  </a:txBody>
                  <a:tcPr marL="54864" marR="54864" marT="27432" marB="27432">
                    <a:solidFill>
                      <a:srgbClr val="E5F5FF"/>
                    </a:solidFill>
                  </a:tcPr>
                </a:tc>
                <a:tc>
                  <a:txBody>
                    <a:bodyPr/>
                    <a:lstStyle/>
                    <a:p>
                      <a:r>
                        <a:rPr sz="850" b="0">
                          <a:solidFill>
                            <a:srgbClr val="4B4B4B"/>
                          </a:solidFill>
                          <a:latin typeface="Arial"/>
                        </a:rPr>
                        <a:t>13.1.4</a:t>
                      </a:r>
                    </a:p>
                  </a:txBody>
                  <a:tcPr marL="54864" marR="54864" marT="27432" marB="27432">
                    <a:solidFill>
                      <a:srgbClr val="E5F5FF"/>
                    </a:solidFill>
                  </a:tcPr>
                </a:tc>
                <a:tc>
                  <a:txBody>
                    <a:bodyPr/>
                    <a:lstStyle/>
                    <a:p>
                      <a:r>
                        <a:rPr sz="850" b="0">
                          <a:solidFill>
                            <a:srgbClr val="4B4B4B"/>
                          </a:solidFill>
                          <a:latin typeface="Arial"/>
                        </a:rPr>
                        <a:t>FR-PM-021, FR-PM-022, FR-PM-023, FR-PM-024, FR-PM-005, FR-PM-073</a:t>
                      </a:r>
                    </a:p>
                  </a:txBody>
                  <a:tcPr marL="54864" marR="54864" marT="27432" marB="27432">
                    <a:solidFill>
                      <a:srgbClr val="E5F5FF"/>
                    </a:solidFill>
                  </a:tcPr>
                </a:tc>
                <a:tc>
                  <a:txBody>
                    <a:bodyPr/>
                    <a:lstStyle/>
                    <a:p>
                      <a:r>
                        <a:rPr sz="850" b="0">
                          <a:solidFill>
                            <a:srgbClr val="4B4B4B"/>
                          </a:solidFill>
                          <a:latin typeface="Arial"/>
                        </a:rPr>
                        <a:t>11</a:t>
                      </a:r>
                    </a:p>
                  </a:txBody>
                  <a:tcPr marL="54864" marR="54864" marT="27432" marB="27432">
                    <a:solidFill>
                      <a:srgbClr val="E5F5FF"/>
                    </a:solidFill>
                  </a:tcPr>
                </a:tc>
                <a:tc>
                  <a:txBody>
                    <a:bodyPr/>
                    <a:lstStyle/>
                    <a:p>
                      <a:r>
                        <a:rPr sz="850" b="0">
                          <a:solidFill>
                            <a:srgbClr val="4B4B4B"/>
                          </a:solidFill>
                          <a:latin typeface="Arial"/>
                        </a:rPr>
                        <a:t>Default, Confirmation with reason, Success message, Read-only or locked, Pending approval, Rejected or returned</a:t>
                      </a:r>
                    </a:p>
                  </a:txBody>
                  <a:tcPr marL="54864" marR="54864" marT="27432" marB="27432">
                    <a:solidFill>
                      <a:srgbClr val="E5F5FF"/>
                    </a:solidFill>
                  </a:tcPr>
                </a:tc>
              </a:tr>
              <a:tr h="350518">
                <a:tc>
                  <a:txBody>
                    <a:bodyPr/>
                    <a:lstStyle/>
                    <a:p>
                      <a:r>
                        <a:rPr sz="850" b="0">
                          <a:solidFill>
                            <a:srgbClr val="4B4B4B"/>
                          </a:solidFill>
                          <a:latin typeface="Arial"/>
                        </a:rPr>
                        <a:t>SCR-PM-05</a:t>
                      </a:r>
                    </a:p>
                  </a:txBody>
                  <a:tcPr marL="54864" marR="54864" marT="27432" marB="27432">
                    <a:solidFill>
                      <a:srgbClr val="FFFFFF"/>
                    </a:solidFill>
                  </a:tcPr>
                </a:tc>
                <a:tc>
                  <a:txBody>
                    <a:bodyPr/>
                    <a:lstStyle/>
                    <a:p>
                      <a:r>
                        <a:rPr sz="850" b="0">
                          <a:solidFill>
                            <a:srgbClr val="4B4B4B"/>
                          </a:solidFill>
                          <a:latin typeface="Arial"/>
                        </a:rPr>
                        <a:t>Package Request record: Negotiation tab</a:t>
                      </a:r>
                    </a:p>
                  </a:txBody>
                  <a:tcPr marL="54864" marR="54864" marT="27432" marB="27432">
                    <a:solidFill>
                      <a:srgbClr val="FFFFFF"/>
                    </a:solidFill>
                  </a:tcPr>
                </a:tc>
                <a:tc>
                  <a:txBody>
                    <a:bodyPr/>
                    <a:lstStyle/>
                    <a:p>
                      <a:r>
                        <a:rPr sz="850" b="0">
                          <a:solidFill>
                            <a:srgbClr val="4B4B4B"/>
                          </a:solidFill>
                          <a:latin typeface="Arial"/>
                        </a:rPr>
                        <a:t>13.1.5</a:t>
                      </a:r>
                    </a:p>
                  </a:txBody>
                  <a:tcPr marL="54864" marR="54864" marT="27432" marB="27432">
                    <a:solidFill>
                      <a:srgbClr val="FFFFFF"/>
                    </a:solidFill>
                  </a:tcPr>
                </a:tc>
                <a:tc>
                  <a:txBody>
                    <a:bodyPr/>
                    <a:lstStyle/>
                    <a:p>
                      <a:r>
                        <a:rPr sz="850" b="0">
                          <a:solidFill>
                            <a:srgbClr val="4B4B4B"/>
                          </a:solidFill>
                          <a:latin typeface="Arial"/>
                        </a:rPr>
                        <a:t>FR-PM-030, FR-PM-031, FR-PM-032, FR-PM-033, FR-PM-004</a:t>
                      </a:r>
                    </a:p>
                  </a:txBody>
                  <a:tcPr marL="54864" marR="54864" marT="27432" marB="27432">
                    <a:solidFill>
                      <a:srgbClr val="FFFFFF"/>
                    </a:solidFill>
                  </a:tcPr>
                </a:tc>
                <a:tc>
                  <a:txBody>
                    <a:bodyPr/>
                    <a:lstStyle/>
                    <a:p>
                      <a:r>
                        <a:rPr sz="850" b="0">
                          <a:solidFill>
                            <a:srgbClr val="4B4B4B"/>
                          </a:solidFill>
                          <a:latin typeface="Arial"/>
                        </a:rPr>
                        <a:t>10</a:t>
                      </a:r>
                    </a:p>
                  </a:txBody>
                  <a:tcPr marL="54864" marR="54864" marT="27432" marB="27432">
                    <a:solidFill>
                      <a:srgbClr val="FFFFFF"/>
                    </a:solidFill>
                  </a:tcPr>
                </a:tc>
                <a:tc>
                  <a:txBody>
                    <a:bodyPr/>
                    <a:lstStyle/>
                    <a:p>
                      <a:r>
                        <a:rPr sz="850" b="0">
                          <a:solidFill>
                            <a:srgbClr val="4B4B4B"/>
                          </a:solidFill>
                          <a:latin typeface="Arial"/>
                        </a:rPr>
                        <a:t>Default, Filled, Validation error, Confirmation with reason, Success message</a:t>
                      </a:r>
                    </a:p>
                  </a:txBody>
                  <a:tcPr marL="54864" marR="54864" marT="27432" marB="27432">
                    <a:solidFill>
                      <a:srgbClr val="FFFFFF"/>
                    </a:solidFill>
                  </a:tcPr>
                </a:tc>
              </a:tr>
              <a:tr h="220979">
                <a:tc>
                  <a:txBody>
                    <a:bodyPr/>
                    <a:lstStyle/>
                    <a:p>
                      <a:r>
                        <a:rPr sz="850" b="0">
                          <a:solidFill>
                            <a:srgbClr val="4B4B4B"/>
                          </a:solidFill>
                          <a:latin typeface="Arial"/>
                        </a:rPr>
                        <a:t>SCR-PM-06</a:t>
                      </a:r>
                    </a:p>
                  </a:txBody>
                  <a:tcPr marL="54864" marR="54864" marT="27432" marB="27432">
                    <a:solidFill>
                      <a:srgbClr val="E5F5FF"/>
                    </a:solidFill>
                  </a:tcPr>
                </a:tc>
                <a:tc>
                  <a:txBody>
                    <a:bodyPr/>
                    <a:lstStyle/>
                    <a:p>
                      <a:r>
                        <a:rPr sz="850" b="0">
                          <a:solidFill>
                            <a:srgbClr val="4B4B4B"/>
                          </a:solidFill>
                          <a:latin typeface="Arial"/>
                        </a:rPr>
                        <a:t>Package Request record: Comparative tab</a:t>
                      </a:r>
                    </a:p>
                  </a:txBody>
                  <a:tcPr marL="54864" marR="54864" marT="27432" marB="27432">
                    <a:solidFill>
                      <a:srgbClr val="E5F5FF"/>
                    </a:solidFill>
                  </a:tcPr>
                </a:tc>
                <a:tc>
                  <a:txBody>
                    <a:bodyPr/>
                    <a:lstStyle/>
                    <a:p>
                      <a:r>
                        <a:rPr sz="850" b="0">
                          <a:solidFill>
                            <a:srgbClr val="4B4B4B"/>
                          </a:solidFill>
                          <a:latin typeface="Arial"/>
                        </a:rPr>
                        <a:t>13.1.6</a:t>
                      </a:r>
                    </a:p>
                  </a:txBody>
                  <a:tcPr marL="54864" marR="54864" marT="27432" marB="27432">
                    <a:solidFill>
                      <a:srgbClr val="E5F5FF"/>
                    </a:solidFill>
                  </a:tcPr>
                </a:tc>
                <a:tc>
                  <a:txBody>
                    <a:bodyPr/>
                    <a:lstStyle/>
                    <a:p>
                      <a:r>
                        <a:rPr sz="850" b="0">
                          <a:solidFill>
                            <a:srgbClr val="4B4B4B"/>
                          </a:solidFill>
                          <a:latin typeface="Arial"/>
                        </a:rPr>
                        <a:t>FR-PM-034, FR-PM-035</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SCR-PM-07</a:t>
                      </a:r>
                    </a:p>
                  </a:txBody>
                  <a:tcPr marL="54864" marR="54864" marT="27432" marB="27432">
                    <a:solidFill>
                      <a:srgbClr val="FFFFFF"/>
                    </a:solidFill>
                  </a:tcPr>
                </a:tc>
                <a:tc>
                  <a:txBody>
                    <a:bodyPr/>
                    <a:lstStyle/>
                    <a:p>
                      <a:r>
                        <a:rPr sz="850" b="0">
                          <a:solidFill>
                            <a:srgbClr val="4B4B4B"/>
                          </a:solidFill>
                          <a:latin typeface="Arial"/>
                        </a:rPr>
                        <a:t>Package Request record: Requirements &amp; Sign-off tab</a:t>
                      </a:r>
                    </a:p>
                  </a:txBody>
                  <a:tcPr marL="54864" marR="54864" marT="27432" marB="27432">
                    <a:solidFill>
                      <a:srgbClr val="FFFFFF"/>
                    </a:solidFill>
                  </a:tcPr>
                </a:tc>
                <a:tc>
                  <a:txBody>
                    <a:bodyPr/>
                    <a:lstStyle/>
                    <a:p>
                      <a:r>
                        <a:rPr sz="850" b="0">
                          <a:solidFill>
                            <a:srgbClr val="4B4B4B"/>
                          </a:solidFill>
                          <a:latin typeface="Arial"/>
                        </a:rPr>
                        <a:t>13.1.7</a:t>
                      </a:r>
                    </a:p>
                  </a:txBody>
                  <a:tcPr marL="54864" marR="54864" marT="27432" marB="27432">
                    <a:solidFill>
                      <a:srgbClr val="FFFFFF"/>
                    </a:solidFill>
                  </a:tcPr>
                </a:tc>
                <a:tc>
                  <a:txBody>
                    <a:bodyPr/>
                    <a:lstStyle/>
                    <a:p>
                      <a:r>
                        <a:rPr sz="850" b="0">
                          <a:solidFill>
                            <a:srgbClr val="4B4B4B"/>
                          </a:solidFill>
                          <a:latin typeface="Arial"/>
                        </a:rPr>
                        <a:t>FR-PM-040, FR-PM-041, FR-PM-036</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Validation error, Success message, Pending approval</a:t>
                      </a:r>
                    </a:p>
                  </a:txBody>
                  <a:tcPr marL="54864" marR="54864" marT="27432" marB="27432">
                    <a:solidFill>
                      <a:srgbClr val="FFFFFF"/>
                    </a:solidFill>
                  </a:tcPr>
                </a:tc>
              </a:tr>
              <a:tr h="350518">
                <a:tc>
                  <a:txBody>
                    <a:bodyPr/>
                    <a:lstStyle/>
                    <a:p>
                      <a:r>
                        <a:rPr sz="850" b="0">
                          <a:solidFill>
                            <a:srgbClr val="4B4B4B"/>
                          </a:solidFill>
                          <a:latin typeface="Arial"/>
                        </a:rPr>
                        <a:t>SCR-PM-08</a:t>
                      </a:r>
                    </a:p>
                  </a:txBody>
                  <a:tcPr marL="54864" marR="54864" marT="27432" marB="27432">
                    <a:solidFill>
                      <a:srgbClr val="E5F5FF"/>
                    </a:solidFill>
                  </a:tcPr>
                </a:tc>
                <a:tc>
                  <a:txBody>
                    <a:bodyPr/>
                    <a:lstStyle/>
                    <a:p>
                      <a:r>
                        <a:rPr sz="850" b="0">
                          <a:solidFill>
                            <a:srgbClr val="4B4B4B"/>
                          </a:solidFill>
                          <a:latin typeface="Arial"/>
                        </a:rPr>
                        <a:t>Package Request record: Set-up and Advisories tabs</a:t>
                      </a:r>
                    </a:p>
                  </a:txBody>
                  <a:tcPr marL="54864" marR="54864" marT="27432" marB="27432">
                    <a:solidFill>
                      <a:srgbClr val="E5F5FF"/>
                    </a:solidFill>
                  </a:tcPr>
                </a:tc>
                <a:tc>
                  <a:txBody>
                    <a:bodyPr/>
                    <a:lstStyle/>
                    <a:p>
                      <a:r>
                        <a:rPr sz="850" b="0">
                          <a:solidFill>
                            <a:srgbClr val="4B4B4B"/>
                          </a:solidFill>
                          <a:latin typeface="Arial"/>
                        </a:rPr>
                        <a:t>13.1.8</a:t>
                      </a:r>
                    </a:p>
                  </a:txBody>
                  <a:tcPr marL="54864" marR="54864" marT="27432" marB="27432">
                    <a:solidFill>
                      <a:srgbClr val="E5F5FF"/>
                    </a:solidFill>
                  </a:tcPr>
                </a:tc>
                <a:tc>
                  <a:txBody>
                    <a:bodyPr/>
                    <a:lstStyle/>
                    <a:p>
                      <a:r>
                        <a:rPr sz="850" b="0">
                          <a:solidFill>
                            <a:srgbClr val="4B4B4B"/>
                          </a:solidFill>
                          <a:latin typeface="Arial"/>
                        </a:rPr>
                        <a:t>FR-PM-042, FR-PM-043, FR-PM-044, FR-PM-045</a:t>
                      </a:r>
                    </a:p>
                  </a:txBody>
                  <a:tcPr marL="54864" marR="54864" marT="27432" marB="27432">
                    <a:solidFill>
                      <a:srgbClr val="E5F5FF"/>
                    </a:solidFill>
                  </a:tcPr>
                </a:tc>
                <a:tc>
                  <a:txBody>
                    <a:bodyPr/>
                    <a:lstStyle/>
                    <a:p>
                      <a:r>
                        <a:rPr sz="850" b="0">
                          <a:solidFill>
                            <a:srgbClr val="4B4B4B"/>
                          </a:solidFill>
                          <a:latin typeface="Arial"/>
                        </a:rPr>
                        <a:t>6</a:t>
                      </a:r>
                    </a:p>
                  </a:txBody>
                  <a:tcPr marL="54864" marR="54864" marT="27432" marB="27432">
                    <a:solidFill>
                      <a:srgbClr val="E5F5FF"/>
                    </a:solidFill>
                  </a:tcPr>
                </a:tc>
                <a:tc>
                  <a:txBody>
                    <a:bodyPr/>
                    <a:lstStyle/>
                    <a:p>
                      <a:r>
                        <a:rPr sz="850" b="0">
                          <a:solidFill>
                            <a:srgbClr val="4B4B4B"/>
                          </a:solidFill>
                          <a:latin typeface="Arial"/>
                        </a:rPr>
                        <a:t>Default, Filled, Success message, Read-only or locked, Rejected or returned</a:t>
                      </a:r>
                    </a:p>
                  </a:txBody>
                  <a:tcPr marL="54864" marR="54864" marT="27432" marB="27432">
                    <a:solidFill>
                      <a:srgbClr val="E5F5FF"/>
                    </a:solidFill>
                  </a:tcPr>
                </a:tc>
              </a:tr>
              <a:tr h="220979">
                <a:tc>
                  <a:txBody>
                    <a:bodyPr/>
                    <a:lstStyle/>
                    <a:p>
                      <a:r>
                        <a:rPr sz="850" b="0">
                          <a:solidFill>
                            <a:srgbClr val="4B4B4B"/>
                          </a:solidFill>
                          <a:latin typeface="Arial"/>
                        </a:rPr>
                        <a:t>SCR-PM-09</a:t>
                      </a:r>
                    </a:p>
                  </a:txBody>
                  <a:tcPr marL="54864" marR="54864" marT="27432" marB="27432">
                    <a:solidFill>
                      <a:srgbClr val="FFFFFF"/>
                    </a:solidFill>
                  </a:tcPr>
                </a:tc>
                <a:tc>
                  <a:txBody>
                    <a:bodyPr/>
                    <a:lstStyle/>
                    <a:p>
                      <a:r>
                        <a:rPr sz="850" b="0">
                          <a:solidFill>
                            <a:srgbClr val="4B4B4B"/>
                          </a:solidFill>
                          <a:latin typeface="Arial"/>
                        </a:rPr>
                        <a:t>TSU Workbench</a:t>
                      </a:r>
                    </a:p>
                  </a:txBody>
                  <a:tcPr marL="54864" marR="54864" marT="27432" marB="27432">
                    <a:solidFill>
                      <a:srgbClr val="FFFFFF"/>
                    </a:solidFill>
                  </a:tcPr>
                </a:tc>
                <a:tc>
                  <a:txBody>
                    <a:bodyPr/>
                    <a:lstStyle/>
                    <a:p>
                      <a:r>
                        <a:rPr sz="850" b="0">
                          <a:solidFill>
                            <a:srgbClr val="4B4B4B"/>
                          </a:solidFill>
                          <a:latin typeface="Arial"/>
                        </a:rPr>
                        <a:t>13.1.9</a:t>
                      </a:r>
                    </a:p>
                  </a:txBody>
                  <a:tcPr marL="54864" marR="54864" marT="27432" marB="27432">
                    <a:solidFill>
                      <a:srgbClr val="FFFFFF"/>
                    </a:solidFill>
                  </a:tcPr>
                </a:tc>
                <a:tc>
                  <a:txBody>
                    <a:bodyPr/>
                    <a:lstStyle/>
                    <a:p>
                      <a:r>
                        <a:rPr sz="850" b="0">
                          <a:solidFill>
                            <a:srgbClr val="4B4B4B"/>
                          </a:solidFill>
                          <a:latin typeface="Arial"/>
                        </a:rPr>
                        <a:t>FR-PM-024, FR-PM-022, FR-PM-023</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Default</a:t>
                      </a:r>
                    </a:p>
                  </a:txBody>
                  <a:tcPr marL="54864" marR="54864" marT="27432" marB="27432">
                    <a:solidFill>
                      <a:srgbClr val="FFFFFF"/>
                    </a:solidFill>
                  </a:tcPr>
                </a:tc>
              </a:tr>
              <a:tr h="220979">
                <a:tc>
                  <a:txBody>
                    <a:bodyPr/>
                    <a:lstStyle/>
                    <a:p>
                      <a:r>
                        <a:rPr sz="850" b="0">
                          <a:solidFill>
                            <a:srgbClr val="4B4B4B"/>
                          </a:solidFill>
                          <a:latin typeface="Arial"/>
                        </a:rPr>
                        <a:t>SCR-PM-10</a:t>
                      </a:r>
                    </a:p>
                  </a:txBody>
                  <a:tcPr marL="54864" marR="54864" marT="27432" marB="27432">
                    <a:solidFill>
                      <a:srgbClr val="E5F5FF"/>
                    </a:solidFill>
                  </a:tcPr>
                </a:tc>
                <a:tc>
                  <a:txBody>
                    <a:bodyPr/>
                    <a:lstStyle/>
                    <a:p>
                      <a:r>
                        <a:rPr sz="850" b="0">
                          <a:solidFill>
                            <a:srgbClr val="4B4B4B"/>
                          </a:solidFill>
                          <a:latin typeface="Arial"/>
                        </a:rPr>
                        <a:t>Package Expiry</a:t>
                      </a:r>
                    </a:p>
                  </a:txBody>
                  <a:tcPr marL="54864" marR="54864" marT="27432" marB="27432">
                    <a:solidFill>
                      <a:srgbClr val="E5F5FF"/>
                    </a:solidFill>
                  </a:tcPr>
                </a:tc>
                <a:tc>
                  <a:txBody>
                    <a:bodyPr/>
                    <a:lstStyle/>
                    <a:p>
                      <a:r>
                        <a:rPr sz="850" b="0">
                          <a:solidFill>
                            <a:srgbClr val="4B4B4B"/>
                          </a:solidFill>
                          <a:latin typeface="Arial"/>
                        </a:rPr>
                        <a:t>13.1.10</a:t>
                      </a:r>
                    </a:p>
                  </a:txBody>
                  <a:tcPr marL="54864" marR="54864" marT="27432" marB="27432">
                    <a:solidFill>
                      <a:srgbClr val="E5F5FF"/>
                    </a:solidFill>
                  </a:tcPr>
                </a:tc>
                <a:tc>
                  <a:txBody>
                    <a:bodyPr/>
                    <a:lstStyle/>
                    <a:p>
                      <a:r>
                        <a:rPr sz="850" b="0">
                          <a:solidFill>
                            <a:srgbClr val="4B4B4B"/>
                          </a:solidFill>
                          <a:latin typeface="Arial"/>
                        </a:rPr>
                        <a:t>FR-PM-060, FR-PM-061,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350518">
                <a:tc>
                  <a:txBody>
                    <a:bodyPr/>
                    <a:lstStyle/>
                    <a:p>
                      <a:r>
                        <a:rPr sz="850" b="0">
                          <a:solidFill>
                            <a:srgbClr val="4B4B4B"/>
                          </a:solidFill>
                          <a:latin typeface="Arial"/>
                        </a:rPr>
                        <a:t>SCR-PM-11</a:t>
                      </a:r>
                    </a:p>
                  </a:txBody>
                  <a:tcPr marL="54864" marR="54864" marT="27432" marB="27432">
                    <a:solidFill>
                      <a:srgbClr val="FFFFFF"/>
                    </a:solidFill>
                  </a:tcPr>
                </a:tc>
                <a:tc>
                  <a:txBody>
                    <a:bodyPr/>
                    <a:lstStyle/>
                    <a:p>
                      <a:r>
                        <a:rPr sz="850" b="0">
                          <a:solidFill>
                            <a:srgbClr val="4B4B4B"/>
                          </a:solidFill>
                          <a:latin typeface="Arial"/>
                        </a:rPr>
                        <a:t>Products</a:t>
                      </a:r>
                    </a:p>
                  </a:txBody>
                  <a:tcPr marL="54864" marR="54864" marT="27432" marB="27432">
                    <a:solidFill>
                      <a:srgbClr val="FFFFFF"/>
                    </a:solidFill>
                  </a:tcPr>
                </a:tc>
                <a:tc>
                  <a:txBody>
                    <a:bodyPr/>
                    <a:lstStyle/>
                    <a:p>
                      <a:r>
                        <a:rPr sz="850" b="0">
                          <a:solidFill>
                            <a:srgbClr val="4B4B4B"/>
                          </a:solidFill>
                          <a:latin typeface="Arial"/>
                        </a:rPr>
                        <a:t>13.2.1</a:t>
                      </a:r>
                    </a:p>
                  </a:txBody>
                  <a:tcPr marL="54864" marR="54864" marT="27432" marB="27432">
                    <a:solidFill>
                      <a:srgbClr val="FFFFFF"/>
                    </a:solidFill>
                  </a:tcPr>
                </a:tc>
                <a:tc>
                  <a:txBody>
                    <a:bodyPr/>
                    <a:lstStyle/>
                    <a:p>
                      <a:r>
                        <a:rPr sz="850" b="0">
                          <a:solidFill>
                            <a:srgbClr val="4B4B4B"/>
                          </a:solidFill>
                          <a:latin typeface="Arial"/>
                        </a:rPr>
                        <a:t>FR-PM-010, FR-PM-012, FR-PM-013, FR-PM-050, FR-PM-052</a:t>
                      </a:r>
                    </a:p>
                  </a:txBody>
                  <a:tcPr marL="54864" marR="54864" marT="27432" marB="27432">
                    <a:solidFill>
                      <a:srgbClr val="FFFFFF"/>
                    </a:solidFill>
                  </a:tcPr>
                </a:tc>
                <a:tc>
                  <a:txBody>
                    <a:bodyPr/>
                    <a:lstStyle/>
                    <a:p>
                      <a:r>
                        <a:rPr sz="850" b="0">
                          <a:solidFill>
                            <a:srgbClr val="4B4B4B"/>
                          </a:solidFill>
                          <a:latin typeface="Arial"/>
                        </a:rPr>
                        <a:t>4</a:t>
                      </a:r>
                    </a:p>
                  </a:txBody>
                  <a:tcPr marL="54864" marR="54864" marT="27432" marB="27432">
                    <a:solidFill>
                      <a:srgbClr val="FFFFFF"/>
                    </a:solidFill>
                  </a:tcPr>
                </a:tc>
                <a:tc>
                  <a:txBody>
                    <a:bodyPr/>
                    <a:lstStyle/>
                    <a:p>
                      <a:r>
                        <a:rPr sz="850" b="0">
                          <a:solidFill>
                            <a:srgbClr val="4B4B4B"/>
                          </a:solidFill>
                          <a:latin typeface="Arial"/>
                        </a:rPr>
                        <a:t>Default, Read-only or locked, Pending approval</a:t>
                      </a:r>
                    </a:p>
                  </a:txBody>
                  <a:tcPr marL="54864" marR="54864" marT="27432" marB="27432">
                    <a:solidFill>
                      <a:srgbClr val="FFFFFF"/>
                    </a:solidFill>
                  </a:tcPr>
                </a:tc>
              </a:tr>
              <a:tr h="220979">
                <a:tc>
                  <a:txBody>
                    <a:bodyPr/>
                    <a:lstStyle/>
                    <a:p>
                      <a:r>
                        <a:rPr sz="850" b="0">
                          <a:solidFill>
                            <a:srgbClr val="4B4B4B"/>
                          </a:solidFill>
                          <a:latin typeface="Arial"/>
                        </a:rPr>
                        <a:t>SCR-PM-12</a:t>
                      </a:r>
                    </a:p>
                  </a:txBody>
                  <a:tcPr marL="54864" marR="54864" marT="27432" marB="27432">
                    <a:solidFill>
                      <a:srgbClr val="E5F5FF"/>
                    </a:solidFill>
                  </a:tcPr>
                </a:tc>
                <a:tc>
                  <a:txBody>
                    <a:bodyPr/>
                    <a:lstStyle/>
                    <a:p>
                      <a:r>
                        <a:rPr sz="850" b="0">
                          <a:solidFill>
                            <a:srgbClr val="4B4B4B"/>
                          </a:solidFill>
                          <a:latin typeface="Arial"/>
                        </a:rPr>
                        <a:t>Product record</a:t>
                      </a:r>
                    </a:p>
                  </a:txBody>
                  <a:tcPr marL="54864" marR="54864" marT="27432" marB="27432">
                    <a:solidFill>
                      <a:srgbClr val="E5F5FF"/>
                    </a:solidFill>
                  </a:tcPr>
                </a:tc>
                <a:tc>
                  <a:txBody>
                    <a:bodyPr/>
                    <a:lstStyle/>
                    <a:p>
                      <a:r>
                        <a:rPr sz="850" b="0">
                          <a:solidFill>
                            <a:srgbClr val="4B4B4B"/>
                          </a:solidFill>
                          <a:latin typeface="Arial"/>
                        </a:rPr>
                        <a:t>13.2.2</a:t>
                      </a:r>
                    </a:p>
                  </a:txBody>
                  <a:tcPr marL="54864" marR="54864" marT="27432" marB="27432">
                    <a:solidFill>
                      <a:srgbClr val="E5F5FF"/>
                    </a:solidFill>
                  </a:tcPr>
                </a:tc>
                <a:tc>
                  <a:txBody>
                    <a:bodyPr/>
                    <a:lstStyle/>
                    <a:p>
                      <a:r>
                        <a:rPr sz="850" b="0">
                          <a:solidFill>
                            <a:srgbClr val="4B4B4B"/>
                          </a:solidFill>
                          <a:latin typeface="Arial"/>
                        </a:rPr>
                        <a:t>FR-PM-050, FR-PM-012, FR-PM-013, FR-PM-042</a:t>
                      </a:r>
                    </a:p>
                  </a:txBody>
                  <a:tcPr marL="54864" marR="54864" marT="27432" marB="27432">
                    <a:solidFill>
                      <a:srgbClr val="E5F5FF"/>
                    </a:solidFill>
                  </a:tcPr>
                </a:tc>
                <a:tc>
                  <a:txBody>
                    <a:bodyPr/>
                    <a:lstStyle/>
                    <a:p>
                      <a:r>
                        <a:rPr sz="850" b="0">
                          <a:solidFill>
                            <a:srgbClr val="4B4B4B"/>
                          </a:solidFill>
                          <a:latin typeface="Arial"/>
                        </a:rPr>
                        <a:t>3</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350518">
                <a:tc>
                  <a:txBody>
                    <a:bodyPr/>
                    <a:lstStyle/>
                    <a:p>
                      <a:r>
                        <a:rPr sz="850" b="0">
                          <a:solidFill>
                            <a:srgbClr val="4B4B4B"/>
                          </a:solidFill>
                          <a:latin typeface="Arial"/>
                        </a:rPr>
                        <a:t>SCR-PM-13</a:t>
                      </a:r>
                    </a:p>
                  </a:txBody>
                  <a:tcPr marL="54864" marR="54864" marT="27432" marB="27432">
                    <a:solidFill>
                      <a:srgbClr val="FFFFFF"/>
                    </a:solidFill>
                  </a:tcPr>
                </a:tc>
                <a:tc>
                  <a:txBody>
                    <a:bodyPr/>
                    <a:lstStyle/>
                    <a:p>
                      <a:r>
                        <a:rPr sz="850" b="0">
                          <a:solidFill>
                            <a:srgbClr val="4B4B4B"/>
                          </a:solidFill>
                          <a:latin typeface="Arial"/>
                        </a:rPr>
                        <a:t>Package Version</a:t>
                      </a:r>
                    </a:p>
                  </a:txBody>
                  <a:tcPr marL="54864" marR="54864" marT="27432" marB="27432">
                    <a:solidFill>
                      <a:srgbClr val="FFFFFF"/>
                    </a:solidFill>
                  </a:tcPr>
                </a:tc>
                <a:tc>
                  <a:txBody>
                    <a:bodyPr/>
                    <a:lstStyle/>
                    <a:p>
                      <a:r>
                        <a:rPr sz="850" b="0">
                          <a:solidFill>
                            <a:srgbClr val="4B4B4B"/>
                          </a:solidFill>
                          <a:latin typeface="Arial"/>
                        </a:rPr>
                        <a:t>13.2.3</a:t>
                      </a:r>
                    </a:p>
                  </a:txBody>
                  <a:tcPr marL="54864" marR="54864" marT="27432" marB="27432">
                    <a:solidFill>
                      <a:srgbClr val="FFFFFF"/>
                    </a:solidFill>
                  </a:tcPr>
                </a:tc>
                <a:tc>
                  <a:txBody>
                    <a:bodyPr/>
                    <a:lstStyle/>
                    <a:p>
                      <a:r>
                        <a:rPr sz="850" b="0">
                          <a:solidFill>
                            <a:srgbClr val="4B4B4B"/>
                          </a:solidFill>
                          <a:latin typeface="Arial"/>
                        </a:rPr>
                        <a:t>FR-PM-043, FR-PM-050, FR-PM-014, FR-PM-011, FR-PM-042</a:t>
                      </a:r>
                    </a:p>
                  </a:txBody>
                  <a:tcPr marL="54864" marR="54864" marT="27432" marB="27432">
                    <a:solidFill>
                      <a:srgbClr val="FFFFFF"/>
                    </a:solidFill>
                  </a:tcPr>
                </a:tc>
                <a:tc>
                  <a:txBody>
                    <a:bodyPr/>
                    <a:lstStyle/>
                    <a:p>
                      <a:r>
                        <a:rPr sz="850" b="0">
                          <a:solidFill>
                            <a:srgbClr val="4B4B4B"/>
                          </a:solidFill>
                          <a:latin typeface="Arial"/>
                        </a:rPr>
                        <a:t>11</a:t>
                      </a:r>
                    </a:p>
                  </a:txBody>
                  <a:tcPr marL="54864" marR="54864" marT="27432" marB="27432">
                    <a:solidFill>
                      <a:srgbClr val="FFFFFF"/>
                    </a:solidFill>
                  </a:tcPr>
                </a:tc>
                <a:tc>
                  <a:txBody>
                    <a:bodyPr/>
                    <a:lstStyle/>
                    <a:p>
                      <a:r>
                        <a:rPr sz="850" b="0">
                          <a:solidFill>
                            <a:srgbClr val="4B4B4B"/>
                          </a:solidFill>
                          <a:latin typeface="Arial"/>
                        </a:rPr>
                        <a:t>Default, Validation error, Success message, Read-only or locked, Pending approval, Rejected or returned</a:t>
                      </a:r>
                    </a:p>
                  </a:txBody>
                  <a:tcPr marL="54864" marR="54864" marT="27432" marB="27432">
                    <a:solidFill>
                      <a:srgbClr val="FFFFFF"/>
                    </a:solidFill>
                  </a:tcPr>
                </a:tc>
              </a:tr>
              <a:tr h="220979">
                <a:tc>
                  <a:txBody>
                    <a:bodyPr/>
                    <a:lstStyle/>
                    <a:p>
                      <a:r>
                        <a:rPr sz="850" b="0">
                          <a:solidFill>
                            <a:srgbClr val="4B4B4B"/>
                          </a:solidFill>
                          <a:latin typeface="Arial"/>
                        </a:rPr>
                        <a:t>SCR-PM-14</a:t>
                      </a:r>
                    </a:p>
                  </a:txBody>
                  <a:tcPr marL="54864" marR="54864" marT="27432" marB="27432">
                    <a:solidFill>
                      <a:srgbClr val="E5F5FF"/>
                    </a:solidFill>
                  </a:tcPr>
                </a:tc>
                <a:tc>
                  <a:txBody>
                    <a:bodyPr/>
                    <a:lstStyle/>
                    <a:p>
                      <a:r>
                        <a:rPr sz="850" b="0">
                          <a:solidFill>
                            <a:srgbClr val="4B4B4B"/>
                          </a:solidFill>
                          <a:latin typeface="Arial"/>
                        </a:rPr>
                        <a:t>Validation Queue</a:t>
                      </a:r>
                    </a:p>
                  </a:txBody>
                  <a:tcPr marL="54864" marR="54864" marT="27432" marB="27432">
                    <a:solidFill>
                      <a:srgbClr val="E5F5FF"/>
                    </a:solidFill>
                  </a:tcPr>
                </a:tc>
                <a:tc>
                  <a:txBody>
                    <a:bodyPr/>
                    <a:lstStyle/>
                    <a:p>
                      <a:r>
                        <a:rPr sz="850" b="0">
                          <a:solidFill>
                            <a:srgbClr val="4B4B4B"/>
                          </a:solidFill>
                          <a:latin typeface="Arial"/>
                        </a:rPr>
                        <a:t>13.2.4</a:t>
                      </a:r>
                    </a:p>
                  </a:txBody>
                  <a:tcPr marL="54864" marR="54864" marT="27432" marB="27432">
                    <a:solidFill>
                      <a:srgbClr val="E5F5FF"/>
                    </a:solidFill>
                  </a:tcPr>
                </a:tc>
                <a:tc>
                  <a:txBody>
                    <a:bodyPr/>
                    <a:lstStyle/>
                    <a:p>
                      <a:r>
                        <a:rPr sz="850" b="0">
                          <a:solidFill>
                            <a:srgbClr val="4B4B4B"/>
                          </a:solidFill>
                          <a:latin typeface="Arial"/>
                        </a:rPr>
                        <a:t>FR-PM-043</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Pending approval</a:t>
                      </a:r>
                    </a:p>
                  </a:txBody>
                  <a:tcPr marL="54864" marR="54864" marT="27432" marB="27432">
                    <a:solidFill>
                      <a:srgbClr val="E5F5FF"/>
                    </a:solidFill>
                  </a:tcPr>
                </a:tc>
              </a:tr>
              <a:tr h="220979">
                <a:tc>
                  <a:txBody>
                    <a:bodyPr/>
                    <a:lstStyle/>
                    <a:p>
                      <a:r>
                        <a:rPr sz="850" b="0">
                          <a:solidFill>
                            <a:srgbClr val="4B4B4B"/>
                          </a:solidFill>
                          <a:latin typeface="Arial"/>
                        </a:rPr>
                        <a:t>SCR-PM-15</a:t>
                      </a:r>
                    </a:p>
                  </a:txBody>
                  <a:tcPr marL="54864" marR="54864" marT="27432" marB="27432">
                    <a:solidFill>
                      <a:srgbClr val="FFFFFF"/>
                    </a:solidFill>
                  </a:tcPr>
                </a:tc>
                <a:tc>
                  <a:txBody>
                    <a:bodyPr/>
                    <a:lstStyle/>
                    <a:p>
                      <a:r>
                        <a:rPr sz="850" b="0">
                          <a:solidFill>
                            <a:srgbClr val="4B4B4B"/>
                          </a:solidFill>
                          <a:latin typeface="Arial"/>
                        </a:rPr>
                        <a:t>Coverages &amp; Clauses</a:t>
                      </a:r>
                    </a:p>
                  </a:txBody>
                  <a:tcPr marL="54864" marR="54864" marT="27432" marB="27432">
                    <a:solidFill>
                      <a:srgbClr val="FFFFFF"/>
                    </a:solidFill>
                  </a:tcPr>
                </a:tc>
                <a:tc>
                  <a:txBody>
                    <a:bodyPr/>
                    <a:lstStyle/>
                    <a:p>
                      <a:r>
                        <a:rPr sz="850" b="0">
                          <a:solidFill>
                            <a:srgbClr val="4B4B4B"/>
                          </a:solidFill>
                          <a:latin typeface="Arial"/>
                        </a:rPr>
                        <a:t>13.2.5</a:t>
                      </a:r>
                    </a:p>
                  </a:txBody>
                  <a:tcPr marL="54864" marR="54864" marT="27432" marB="27432">
                    <a:solidFill>
                      <a:srgbClr val="FFFFFF"/>
                    </a:solidFill>
                  </a:tcPr>
                </a:tc>
                <a:tc>
                  <a:txBody>
                    <a:bodyPr/>
                    <a:lstStyle/>
                    <a:p>
                      <a:r>
                        <a:rPr sz="850" b="0">
                          <a:solidFill>
                            <a:srgbClr val="4B4B4B"/>
                          </a:solidFill>
                          <a:latin typeface="Arial"/>
                        </a:rPr>
                        <a:t>FR-PM-010, FR-PM-011</a:t>
                      </a:r>
                    </a:p>
                  </a:txBody>
                  <a:tcPr marL="54864" marR="54864" marT="27432" marB="27432">
                    <a:solidFill>
                      <a:srgbClr val="FFFFFF"/>
                    </a:solidFill>
                  </a:tcPr>
                </a:tc>
                <a:tc>
                  <a:txBody>
                    <a:bodyPr/>
                    <a:lstStyle/>
                    <a:p>
                      <a:r>
                        <a:rPr sz="850" b="0">
                          <a:solidFill>
                            <a:srgbClr val="4B4B4B"/>
                          </a:solidFill>
                          <a:latin typeface="Arial"/>
                        </a:rPr>
                        <a:t>5</a:t>
                      </a:r>
                    </a:p>
                  </a:txBody>
                  <a:tcPr marL="54864" marR="54864" marT="27432" marB="27432">
                    <a:solidFill>
                      <a:srgbClr val="FFFFFF"/>
                    </a:solidFill>
                  </a:tcPr>
                </a:tc>
                <a:tc>
                  <a:txBody>
                    <a:bodyPr/>
                    <a:lstStyle/>
                    <a:p>
                      <a:r>
                        <a:rPr sz="850" b="0">
                          <a:solidFill>
                            <a:srgbClr val="4B4B4B"/>
                          </a:solidFill>
                          <a:latin typeface="Arial"/>
                        </a:rPr>
                        <a:t>Default,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SCR-PM-16</a:t>
                      </a:r>
                    </a:p>
                  </a:txBody>
                  <a:tcPr marL="54864" marR="54864" marT="27432" marB="27432">
                    <a:solidFill>
                      <a:srgbClr val="E5F5FF"/>
                    </a:solidFill>
                  </a:tcPr>
                </a:tc>
                <a:tc>
                  <a:txBody>
                    <a:bodyPr/>
                    <a:lstStyle/>
                    <a:p>
                      <a:r>
                        <a:rPr sz="850" b="0">
                          <a:solidFill>
                            <a:srgbClr val="4B4B4B"/>
                          </a:solidFill>
                          <a:latin typeface="Arial"/>
                        </a:rPr>
                        <a:t>Incentive Criteria</a:t>
                      </a:r>
                    </a:p>
                  </a:txBody>
                  <a:tcPr marL="54864" marR="54864" marT="27432" marB="27432">
                    <a:solidFill>
                      <a:srgbClr val="E5F5FF"/>
                    </a:solidFill>
                  </a:tcPr>
                </a:tc>
                <a:tc>
                  <a:txBody>
                    <a:bodyPr/>
                    <a:lstStyle/>
                    <a:p>
                      <a:r>
                        <a:rPr sz="850" b="0">
                          <a:solidFill>
                            <a:srgbClr val="4B4B4B"/>
                          </a:solidFill>
                          <a:latin typeface="Arial"/>
                        </a:rPr>
                        <a:t>13.2.6</a:t>
                      </a:r>
                    </a:p>
                  </a:txBody>
                  <a:tcPr marL="54864" marR="54864" marT="27432" marB="27432">
                    <a:solidFill>
                      <a:srgbClr val="E5F5FF"/>
                    </a:solidFill>
                  </a:tcPr>
                </a:tc>
                <a:tc>
                  <a:txBody>
                    <a:bodyPr/>
                    <a:lstStyle/>
                    <a:p>
                      <a:r>
                        <a:rPr sz="850" b="0">
                          <a:solidFill>
                            <a:srgbClr val="4B4B4B"/>
                          </a:solidFill>
                          <a:latin typeface="Arial"/>
                        </a:rPr>
                        <a:t>FR-PM-080, FR-PM-081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 Filled</a:t>
                      </a:r>
                    </a:p>
                  </a:txBody>
                  <a:tcPr marL="54864" marR="54864" marT="27432" marB="27432">
                    <a:solidFill>
                      <a:srgbClr val="E5F5FF"/>
                    </a:solidFill>
                  </a:tcPr>
                </a:tc>
              </a:tr>
              <a:tr h="220979">
                <a:tc>
                  <a:txBody>
                    <a:bodyPr/>
                    <a:lstStyle/>
                    <a:p>
                      <a:r>
                        <a:rPr sz="850" b="0">
                          <a:solidFill>
                            <a:srgbClr val="4B4B4B"/>
                          </a:solidFill>
                          <a:latin typeface="Arial"/>
                        </a:rPr>
                        <a:t>SCR-PM-17</a:t>
                      </a:r>
                    </a:p>
                  </a:txBody>
                  <a:tcPr marL="54864" marR="54864" marT="27432" marB="27432">
                    <a:solidFill>
                      <a:srgbClr val="FFFFFF"/>
                    </a:solidFill>
                  </a:tcPr>
                </a:tc>
                <a:tc>
                  <a:txBody>
                    <a:bodyPr/>
                    <a:lstStyle/>
                    <a:p>
                      <a:r>
                        <a:rPr sz="850" b="0">
                          <a:solidFill>
                            <a:srgbClr val="4B4B4B"/>
                          </a:solidFill>
                          <a:latin typeface="Arial"/>
                        </a:rPr>
                        <a:t>Insurers</a:t>
                      </a:r>
                    </a:p>
                  </a:txBody>
                  <a:tcPr marL="54864" marR="54864" marT="27432" marB="27432">
                    <a:solidFill>
                      <a:srgbClr val="FFFFFF"/>
                    </a:solidFill>
                  </a:tcPr>
                </a:tc>
                <a:tc>
                  <a:txBody>
                    <a:bodyPr/>
                    <a:lstStyle/>
                    <a:p>
                      <a:r>
                        <a:rPr sz="850" b="0">
                          <a:solidFill>
                            <a:srgbClr val="4B4B4B"/>
                          </a:solidFill>
                          <a:latin typeface="Arial"/>
                        </a:rPr>
                        <a:t>13.3.1</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Read-only or locked</a:t>
                      </a:r>
                    </a:p>
                  </a:txBody>
                  <a:tcPr marL="54864" marR="54864" marT="27432" marB="27432">
                    <a:solidFill>
                      <a:srgbClr val="FFFFFF"/>
                    </a:solidFill>
                  </a:tcPr>
                </a:tc>
              </a:tr>
            </a:tbl>
          </a:graphicData>
        </a:graphic>
      </p:graphicFrame>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(2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409</a:t>
            </a:r>
          </a:p>
        </p:txBody>
      </p:sp>
      <p:graphicFrame>
        <p:nvGraphicFramePr>
          <p:cNvPr id="9" name="Table 8"/>
          <p:cNvGraphicFramePr>
            <a:graphicFrameLocks noGrp="1"/>
          </p:cNvGraphicFramePr>
          <p:nvPr/>
        </p:nvGraphicFramePr>
        <p:xfrm>
          <a:off x="548640" y="1325880"/>
          <a:ext cx="11094412" cy="4770098"/>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SCR-PM-18</a:t>
                      </a:r>
                    </a:p>
                  </a:txBody>
                  <a:tcPr marL="54864" marR="54864" marT="27432" marB="27432">
                    <a:solidFill>
                      <a:srgbClr val="FFFFFF"/>
                    </a:solidFill>
                  </a:tcPr>
                </a:tc>
                <a:tc>
                  <a:txBody>
                    <a:bodyPr/>
                    <a:lstStyle/>
                    <a:p>
                      <a:r>
                        <a:rPr sz="850" b="0">
                          <a:solidFill>
                            <a:srgbClr val="4B4B4B"/>
                          </a:solidFill>
                          <a:latin typeface="Arial"/>
                        </a:rPr>
                        <a:t>Insurer record</a:t>
                      </a:r>
                    </a:p>
                  </a:txBody>
                  <a:tcPr marL="54864" marR="54864" marT="27432" marB="27432">
                    <a:solidFill>
                      <a:srgbClr val="FFFFFF"/>
                    </a:solidFill>
                  </a:tcPr>
                </a:tc>
                <a:tc>
                  <a:txBody>
                    <a:bodyPr/>
                    <a:lstStyle/>
                    <a:p>
                      <a:r>
                        <a:rPr sz="850" b="0">
                          <a:solidFill>
                            <a:srgbClr val="4B4B4B"/>
                          </a:solidFill>
                          <a:latin typeface="Arial"/>
                        </a:rPr>
                        <a:t>13.3.2</a:t>
                      </a:r>
                    </a:p>
                  </a:txBody>
                  <a:tcPr marL="54864" marR="54864" marT="27432" marB="27432">
                    <a:solidFill>
                      <a:srgbClr val="FFFFFF"/>
                    </a:solidFill>
                  </a:tcPr>
                </a:tc>
                <a:tc>
                  <a:txBody>
                    <a:bodyPr/>
                    <a:lstStyle/>
                    <a:p>
                      <a:r>
                        <a:rPr sz="850" b="0">
                          <a:solidFill>
                            <a:srgbClr val="4B4B4B"/>
                          </a:solidFill>
                          <a:latin typeface="Arial"/>
                        </a:rPr>
                        <a:t>FR-PM-014</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Success message</a:t>
                      </a:r>
                    </a:p>
                  </a:txBody>
                  <a:tcPr marL="54864" marR="54864" marT="27432" marB="27432">
                    <a:solidFill>
                      <a:srgbClr val="FFFFFF"/>
                    </a:solidFill>
                  </a:tcPr>
                </a:tc>
              </a:tr>
              <a:tr h="220979">
                <a:tc>
                  <a:txBody>
                    <a:bodyPr/>
                    <a:lstStyle/>
                    <a:p>
                      <a:r>
                        <a:rPr sz="850" b="0">
                          <a:solidFill>
                            <a:srgbClr val="4B4B4B"/>
                          </a:solidFill>
                          <a:latin typeface="Arial"/>
                        </a:rPr>
                        <a:t>SCR-PM-19</a:t>
                      </a:r>
                    </a:p>
                  </a:txBody>
                  <a:tcPr marL="54864" marR="54864" marT="27432" marB="27432">
                    <a:solidFill>
                      <a:srgbClr val="E5F5FF"/>
                    </a:solidFill>
                  </a:tcPr>
                </a:tc>
                <a:tc>
                  <a:txBody>
                    <a:bodyPr/>
                    <a:lstStyle/>
                    <a:p>
                      <a:r>
                        <a:rPr sz="850" b="0">
                          <a:solidFill>
                            <a:srgbClr val="4B4B4B"/>
                          </a:solidFill>
                          <a:latin typeface="Arial"/>
                        </a:rPr>
                        <a:t>Rates &amp; Taxes</a:t>
                      </a:r>
                    </a:p>
                  </a:txBody>
                  <a:tcPr marL="54864" marR="54864" marT="27432" marB="27432">
                    <a:solidFill>
                      <a:srgbClr val="E5F5FF"/>
                    </a:solidFill>
                  </a:tcPr>
                </a:tc>
                <a:tc>
                  <a:txBody>
                    <a:bodyPr/>
                    <a:lstStyle/>
                    <a:p>
                      <a:r>
                        <a:rPr sz="850" b="0">
                          <a:solidFill>
                            <a:srgbClr val="4B4B4B"/>
                          </a:solidFill>
                          <a:latin typeface="Arial"/>
                        </a:rPr>
                        <a:t>13.3.3</a:t>
                      </a:r>
                    </a:p>
                  </a:txBody>
                  <a:tcPr marL="54864" marR="54864" marT="27432" marB="27432">
                    <a:solidFill>
                      <a:srgbClr val="E5F5FF"/>
                    </a:solidFill>
                  </a:tcPr>
                </a:tc>
                <a:tc>
                  <a:txBody>
                    <a:bodyPr/>
                    <a:lstStyle/>
                    <a:p>
                      <a:r>
                        <a:rPr sz="850" b="0">
                          <a:solidFill>
                            <a:srgbClr val="4B4B4B"/>
                          </a:solidFill>
                          <a:latin typeface="Arial"/>
                        </a:rPr>
                        <a:t>FR-PM-051</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Default</a:t>
                      </a:r>
                    </a:p>
                  </a:txBody>
                  <a:tcPr marL="54864" marR="54864" marT="27432" marB="27432">
                    <a:solidFill>
                      <a:srgbClr val="E5F5FF"/>
                    </a:solidFill>
                  </a:tcPr>
                </a:tc>
              </a:tr>
              <a:tr h="220979">
                <a:tc>
                  <a:txBody>
                    <a:bodyPr/>
                    <a:lstStyle/>
                    <a:p>
                      <a:r>
                        <a:rPr sz="850" b="0">
                          <a:solidFill>
                            <a:srgbClr val="4B4B4B"/>
                          </a:solidFill>
                          <a:latin typeface="Arial"/>
                        </a:rPr>
                        <a:t>SCR-PM-20</a:t>
                      </a:r>
                    </a:p>
                  </a:txBody>
                  <a:tcPr marL="54864" marR="54864" marT="27432" marB="27432">
                    <a:solidFill>
                      <a:srgbClr val="FFFFFF"/>
                    </a:solidFill>
                  </a:tcPr>
                </a:tc>
                <a:tc>
                  <a:txBody>
                    <a:bodyPr/>
                    <a:lstStyle/>
                    <a:p>
                      <a:r>
                        <a:rPr sz="850" b="0">
                          <a:solidFill>
                            <a:srgbClr val="4B4B4B"/>
                          </a:solidFill>
                          <a:latin typeface="Arial"/>
                        </a:rPr>
                        <a:t>Sales Organisation</a:t>
                      </a:r>
                    </a:p>
                  </a:txBody>
                  <a:tcPr marL="54864" marR="54864" marT="27432" marB="27432">
                    <a:solidFill>
                      <a:srgbClr val="FFFFFF"/>
                    </a:solidFill>
                  </a:tcPr>
                </a:tc>
                <a:tc>
                  <a:txBody>
                    <a:bodyPr/>
                    <a:lstStyle/>
                    <a:p>
                      <a:r>
                        <a:rPr sz="850" b="0">
                          <a:solidFill>
                            <a:srgbClr val="4B4B4B"/>
                          </a:solidFill>
                          <a:latin typeface="Arial"/>
                        </a:rPr>
                        <a:t>13.3.4</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3</a:t>
                      </a:r>
                    </a:p>
                  </a:txBody>
                  <a:tcPr marL="54864" marR="54864" marT="27432" marB="27432">
                    <a:solidFill>
                      <a:srgbClr val="FFFFFF"/>
                    </a:solidFill>
                  </a:tcPr>
                </a:tc>
                <a:tc>
                  <a:txBody>
                    <a:bodyPr/>
                    <a:lstStyle/>
                    <a:p>
                      <a:r>
                        <a:rPr sz="850" b="0">
                          <a:solidFill>
                            <a:srgbClr val="4B4B4B"/>
                          </a:solidFill>
                          <a:latin typeface="Arial"/>
                        </a:rPr>
                        <a:t>Default, Validation error</a:t>
                      </a:r>
                    </a:p>
                  </a:txBody>
                  <a:tcPr marL="54864" marR="54864" marT="27432" marB="27432">
                    <a:solidFill>
                      <a:srgbClr val="FFFFFF"/>
                    </a:solidFill>
                  </a:tcPr>
                </a:tc>
              </a:tr>
              <a:tr h="220979">
                <a:tc>
                  <a:txBody>
                    <a:bodyPr/>
                    <a:lstStyle/>
                    <a:p>
                      <a:r>
                        <a:rPr sz="850" b="0">
                          <a:solidFill>
                            <a:srgbClr val="4B4B4B"/>
                          </a:solidFill>
                          <a:latin typeface="Arial"/>
                        </a:rPr>
                        <a:t>SCR-PM-21</a:t>
                      </a:r>
                    </a:p>
                  </a:txBody>
                  <a:tcPr marL="54864" marR="54864" marT="27432" marB="27432">
                    <a:solidFill>
                      <a:srgbClr val="E5F5FF"/>
                    </a:solidFill>
                  </a:tcPr>
                </a:tc>
                <a:tc>
                  <a:txBody>
                    <a:bodyPr/>
                    <a:lstStyle/>
                    <a:p>
                      <a:r>
                        <a:rPr sz="850" b="0">
                          <a:solidFill>
                            <a:srgbClr val="4B4B4B"/>
                          </a:solidFill>
                          <a:latin typeface="Arial"/>
                        </a:rPr>
                        <a:t>Premium Calculator</a:t>
                      </a:r>
                    </a:p>
                  </a:txBody>
                  <a:tcPr marL="54864" marR="54864" marT="27432" marB="27432">
                    <a:solidFill>
                      <a:srgbClr val="E5F5FF"/>
                    </a:solidFill>
                  </a:tcPr>
                </a:tc>
                <a:tc>
                  <a:txBody>
                    <a:bodyPr/>
                    <a:lstStyle/>
                    <a:p>
                      <a:r>
                        <a:rPr sz="850" b="0">
                          <a:solidFill>
                            <a:srgbClr val="4B4B4B"/>
                          </a:solidFill>
                          <a:latin typeface="Arial"/>
                        </a:rPr>
                        <a:t>13.3.5</a:t>
                      </a:r>
                    </a:p>
                  </a:txBody>
                  <a:tcPr marL="54864" marR="54864" marT="27432" marB="27432">
                    <a:solidFill>
                      <a:srgbClr val="E5F5FF"/>
                    </a:solidFill>
                  </a:tcPr>
                </a:tc>
                <a:tc>
                  <a:txBody>
                    <a:bodyPr/>
                    <a:lstStyle/>
                    <a:p>
                      <a:r>
                        <a:rPr sz="850" b="0">
                          <a:solidFill>
                            <a:srgbClr val="4B4B4B"/>
                          </a:solidFill>
                          <a:latin typeface="Arial"/>
                        </a:rPr>
                        <a:t>FR-PM-051, FR-PM-052</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Filled, Success message</a:t>
                      </a:r>
                    </a:p>
                  </a:txBody>
                  <a:tcPr marL="54864" marR="54864" marT="27432" marB="27432">
                    <a:solidFill>
                      <a:srgbClr val="E5F5FF"/>
                    </a:solidFill>
                  </a:tcPr>
                </a:tc>
              </a:tr>
              <a:tr h="350518">
                <a:tc>
                  <a:txBody>
                    <a:bodyPr/>
                    <a:lstStyle/>
                    <a:p>
                      <a:r>
                        <a:rPr sz="850" b="0">
                          <a:solidFill>
                            <a:srgbClr val="4B4B4B"/>
                          </a:solidFill>
                          <a:latin typeface="Arial"/>
                        </a:rPr>
                        <a:t>SCR-PM-22</a:t>
                      </a:r>
                    </a:p>
                  </a:txBody>
                  <a:tcPr marL="54864" marR="54864" marT="27432" marB="27432">
                    <a:solidFill>
                      <a:srgbClr val="FFFFFF"/>
                    </a:solidFill>
                  </a:tcPr>
                </a:tc>
                <a:tc>
                  <a:txBody>
                    <a:bodyPr/>
                    <a:lstStyle/>
                    <a:p>
                      <a:r>
                        <a:rPr sz="850" b="0">
                          <a:solidFill>
                            <a:srgbClr val="4B4B4B"/>
                          </a:solidFill>
                          <a:latin typeface="Arial"/>
                        </a:rPr>
                        <a:t>Quotation: package rate scheme and rate exception</a:t>
                      </a:r>
                    </a:p>
                  </a:txBody>
                  <a:tcPr marL="54864" marR="54864" marT="27432" marB="27432">
                    <a:solidFill>
                      <a:srgbClr val="FFFFFF"/>
                    </a:solidFill>
                  </a:tcPr>
                </a:tc>
                <a:tc>
                  <a:txBody>
                    <a:bodyPr/>
                    <a:lstStyle/>
                    <a:p>
                      <a:r>
                        <a:rPr sz="850" b="0">
                          <a:solidFill>
                            <a:srgbClr val="4B4B4B"/>
                          </a:solidFill>
                          <a:latin typeface="Arial"/>
                        </a:rPr>
                        <a:t>13.3.6</a:t>
                      </a:r>
                    </a:p>
                  </a:txBody>
                  <a:tcPr marL="54864" marR="54864" marT="27432" marB="27432">
                    <a:solidFill>
                      <a:srgbClr val="FFFFFF"/>
                    </a:solidFill>
                  </a:tcPr>
                </a:tc>
                <a:tc>
                  <a:txBody>
                    <a:bodyPr/>
                    <a:lstStyle/>
                    <a:p>
                      <a:r>
                        <a:rPr sz="850" b="0">
                          <a:solidFill>
                            <a:srgbClr val="4B4B4B"/>
                          </a:solidFill>
                          <a:latin typeface="Arial"/>
                        </a:rPr>
                        <a:t>FR-PM-051</a:t>
                      </a:r>
                    </a:p>
                  </a:txBody>
                  <a:tcPr marL="54864" marR="54864" marT="27432" marB="27432">
                    <a:solidFill>
                      <a:srgbClr val="FFFFFF"/>
                    </a:solidFill>
                  </a:tcPr>
                </a:tc>
                <a:tc>
                  <a:txBody>
                    <a:bodyPr/>
                    <a:lstStyle/>
                    <a:p>
                      <a:r>
                        <a:rPr sz="850" b="0">
                          <a:solidFill>
                            <a:srgbClr val="4B4B4B"/>
                          </a:solidFill>
                          <a:latin typeface="Arial"/>
                        </a:rPr>
                        <a:t>7</a:t>
                      </a:r>
                    </a:p>
                  </a:txBody>
                  <a:tcPr marL="54864" marR="54864" marT="27432" marB="27432">
                    <a:solidFill>
                      <a:srgbClr val="FFFFFF"/>
                    </a:solidFill>
                  </a:tcPr>
                </a:tc>
                <a:tc>
                  <a:txBody>
                    <a:bodyPr/>
                    <a:lstStyle/>
                    <a:p>
                      <a:r>
                        <a:rPr sz="850" b="0">
                          <a:solidFill>
                            <a:srgbClr val="4B4B4B"/>
                          </a:solidFill>
                          <a:latin typeface="Arial"/>
                        </a:rPr>
                        <a:t>Filled, Confirmation with reason, Success message, Pending approval</a:t>
                      </a:r>
                    </a:p>
                  </a:txBody>
                  <a:tcPr marL="54864" marR="54864" marT="27432" marB="27432">
                    <a:solidFill>
                      <a:srgbClr val="FFFFFF"/>
                    </a:solidFill>
                  </a:tcPr>
                </a:tc>
              </a:tr>
              <a:tr h="220979">
                <a:tc>
                  <a:txBody>
                    <a:bodyPr/>
                    <a:lstStyle/>
                    <a:p>
                      <a:r>
                        <a:rPr sz="850" b="0">
                          <a:solidFill>
                            <a:srgbClr val="4B4B4B"/>
                          </a:solidFill>
                          <a:latin typeface="Arial"/>
                        </a:rPr>
                        <a:t>NAV-PM-01</a:t>
                      </a:r>
                    </a:p>
                  </a:txBody>
                  <a:tcPr marL="54864" marR="54864" marT="27432" marB="27432">
                    <a:solidFill>
                      <a:srgbClr val="E5F5FF"/>
                    </a:solidFill>
                  </a:tcPr>
                </a:tc>
                <a:tc>
                  <a:txBody>
                    <a:bodyPr/>
                    <a:lstStyle/>
                    <a:p>
                      <a:r>
                        <a:rPr sz="850" b="0">
                          <a:solidFill>
                            <a:srgbClr val="4B4B4B"/>
                          </a:solidFill>
                          <a:latin typeface="Arial"/>
                        </a:rPr>
                        <a:t>Landing page and menu: Marketing Account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NAV-PM-02</a:t>
                      </a:r>
                    </a:p>
                  </a:txBody>
                  <a:tcPr marL="54864" marR="54864" marT="27432" marB="27432">
                    <a:solidFill>
                      <a:srgbClr val="FFFFFF"/>
                    </a:solidFill>
                  </a:tcPr>
                </a:tc>
                <a:tc>
                  <a:txBody>
                    <a:bodyPr/>
                    <a:lstStyle/>
                    <a:p>
                      <a:r>
                        <a:rPr sz="850" b="0">
                          <a:solidFill>
                            <a:srgbClr val="4B4B4B"/>
                          </a:solidFill>
                          <a:latin typeface="Arial"/>
                        </a:rPr>
                        <a:t>Landing page and menu: Marketing TL / TH / UH</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NAV-PM-03</a:t>
                      </a:r>
                    </a:p>
                  </a:txBody>
                  <a:tcPr marL="54864" marR="54864" marT="27432" marB="27432">
                    <a:solidFill>
                      <a:srgbClr val="E5F5FF"/>
                    </a:solidFill>
                  </a:tcPr>
                </a:tc>
                <a:tc>
                  <a:txBody>
                    <a:bodyPr/>
                    <a:lstStyle/>
                    <a:p>
                      <a:r>
                        <a:rPr sz="850" b="0">
                          <a:solidFill>
                            <a:srgbClr val="4B4B4B"/>
                          </a:solidFill>
                          <a:latin typeface="Arial"/>
                        </a:rPr>
                        <a:t>Landing page and menu: TSU Officer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NAV-PM-04</a:t>
                      </a:r>
                    </a:p>
                  </a:txBody>
                  <a:tcPr marL="54864" marR="54864" marT="27432" marB="27432">
                    <a:solidFill>
                      <a:srgbClr val="FFFFFF"/>
                    </a:solidFill>
                  </a:tcPr>
                </a:tc>
                <a:tc>
                  <a:txBody>
                    <a:bodyPr/>
                    <a:lstStyle/>
                    <a:p>
                      <a:r>
                        <a:rPr sz="850" b="0">
                          <a:solidFill>
                            <a:srgbClr val="4B4B4B"/>
                          </a:solidFill>
                          <a:latin typeface="Arial"/>
                        </a:rPr>
                        <a:t>Landing page and menu: TSU Team Lead</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NAV-PM-05</a:t>
                      </a:r>
                    </a:p>
                  </a:txBody>
                  <a:tcPr marL="54864" marR="54864" marT="27432" marB="27432">
                    <a:solidFill>
                      <a:srgbClr val="E5F5FF"/>
                    </a:solidFill>
                  </a:tcPr>
                </a:tc>
                <a:tc>
                  <a:txBody>
                    <a:bodyPr/>
                    <a:lstStyle/>
                    <a:p>
                      <a:r>
                        <a:rPr sz="850" b="0">
                          <a:solidFill>
                            <a:srgbClr val="4B4B4B"/>
                          </a:solidFill>
                          <a:latin typeface="Arial"/>
                        </a:rPr>
                        <a:t>Landing page and menu: TSU Head</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NAV-PM-06</a:t>
                      </a:r>
                    </a:p>
                  </a:txBody>
                  <a:tcPr marL="54864" marR="54864" marT="27432" marB="27432">
                    <a:solidFill>
                      <a:srgbClr val="FFFFFF"/>
                    </a:solidFill>
                  </a:tcPr>
                </a:tc>
                <a:tc>
                  <a:txBody>
                    <a:bodyPr/>
                    <a:lstStyle/>
                    <a:p>
                      <a:r>
                        <a:rPr sz="850" b="0">
                          <a:solidFill>
                            <a:srgbClr val="4B4B4B"/>
                          </a:solidFill>
                          <a:latin typeface="Arial"/>
                        </a:rPr>
                        <a:t>Landing page and menu: Marketing Business Services</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NAV-PM-07</a:t>
                      </a:r>
                    </a:p>
                  </a:txBody>
                  <a:tcPr marL="54864" marR="54864" marT="27432" marB="27432">
                    <a:solidFill>
                      <a:srgbClr val="E5F5FF"/>
                    </a:solidFill>
                  </a:tcPr>
                </a:tc>
                <a:tc>
                  <a:txBody>
                    <a:bodyPr/>
                    <a:lstStyle/>
                    <a:p>
                      <a:r>
                        <a:rPr sz="850" b="0">
                          <a:solidFill>
                            <a:srgbClr val="4B4B4B"/>
                          </a:solidFill>
                          <a:latin typeface="Arial"/>
                        </a:rPr>
                        <a:t>Landing page and menu: ManCom member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NAV-PM-08</a:t>
                      </a:r>
                    </a:p>
                  </a:txBody>
                  <a:tcPr marL="54864" marR="54864" marT="27432" marB="27432">
                    <a:solidFill>
                      <a:srgbClr val="FFFFFF"/>
                    </a:solidFill>
                  </a:tcPr>
                </a:tc>
                <a:tc>
                  <a:txBody>
                    <a:bodyPr/>
                    <a:lstStyle/>
                    <a:p>
                      <a:r>
                        <a:rPr sz="850" b="0">
                          <a:solidFill>
                            <a:srgbClr val="4B4B4B"/>
                          </a:solidFill>
                          <a:latin typeface="Arial"/>
                        </a:rPr>
                        <a:t>Landing page and menu: Business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NAV-PM-09</a:t>
                      </a:r>
                    </a:p>
                  </a:txBody>
                  <a:tcPr marL="54864" marR="54864" marT="27432" marB="27432">
                    <a:solidFill>
                      <a:srgbClr val="E5F5FF"/>
                    </a:solidFill>
                  </a:tcPr>
                </a:tc>
                <a:tc>
                  <a:txBody>
                    <a:bodyPr/>
                    <a:lstStyle/>
                    <a:p>
                      <a:r>
                        <a:rPr sz="850" b="0">
                          <a:solidFill>
                            <a:srgbClr val="4B4B4B"/>
                          </a:solidFill>
                          <a:latin typeface="Arial"/>
                        </a:rPr>
                        <a:t>Landing page and menu: New Business Approver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NAV-PM-10</a:t>
                      </a:r>
                    </a:p>
                  </a:txBody>
                  <a:tcPr marL="54864" marR="54864" marT="27432" marB="27432">
                    <a:solidFill>
                      <a:srgbClr val="FFFFFF"/>
                    </a:solidFill>
                  </a:tcPr>
                </a:tc>
                <a:tc>
                  <a:txBody>
                    <a:bodyPr/>
                    <a:lstStyle/>
                    <a:p>
                      <a:r>
                        <a:rPr sz="850" b="0">
                          <a:solidFill>
                            <a:srgbClr val="4B4B4B"/>
                          </a:solidFill>
                          <a:latin typeface="Arial"/>
                        </a:rPr>
                        <a:t>Landing page and menu: System Administrator</a:t>
                      </a:r>
                    </a:p>
                  </a:txBody>
                  <a:tcPr marL="54864" marR="54864" marT="27432" marB="27432">
                    <a:solidFill>
                      <a:srgbClr val="FFFFFF"/>
                    </a:solidFill>
                  </a:tcPr>
                </a:tc>
                <a:tc>
                  <a:txBody>
                    <a:bodyPr/>
                    <a:lstStyle/>
                    <a:p>
                      <a:r>
                        <a:rPr sz="850" b="0">
                          <a:solidFill>
                            <a:srgbClr val="4B4B4B"/>
                          </a:solidFill>
                          <a:latin typeface="Arial"/>
                        </a:rPr>
                        <a:t>12.3</a:t>
                      </a:r>
                    </a:p>
                  </a:txBody>
                  <a:tcPr marL="54864" marR="54864" marT="27432" marB="27432">
                    <a:solidFill>
                      <a:srgbClr val="FFFFFF"/>
                    </a:solidFill>
                  </a:tcPr>
                </a:tc>
                <a:tc>
                  <a:txBody>
                    <a:bodyPr/>
                    <a:lstStyle/>
                    <a:p>
                      <a:r>
                        <a:rPr sz="850" b="0">
                          <a:solidFill>
                            <a:srgbClr val="4B4B4B"/>
                          </a:solidFill>
                          <a:latin typeface="Arial"/>
                        </a:rPr>
                        <a:t>-</a:t>
                      </a:r>
                    </a:p>
                  </a:txBody>
                  <a:tcPr marL="54864" marR="54864" marT="27432" marB="27432">
                    <a:solidFill>
                      <a:srgbClr val="FFFFFF"/>
                    </a:solidFill>
                  </a:tcPr>
                </a:tc>
                <a:tc>
                  <a:txBody>
                    <a:bodyPr/>
                    <a:lstStyle/>
                    <a:p>
                      <a:r>
                        <a:rPr sz="850" b="0">
                          <a:solidFill>
                            <a:srgbClr val="4B4B4B"/>
                          </a:solidFill>
                          <a:latin typeface="Arial"/>
                        </a:rPr>
                        <a:t>2</a:t>
                      </a:r>
                    </a:p>
                  </a:txBody>
                  <a:tcPr marL="54864" marR="54864" marT="27432" marB="27432">
                    <a:solidFill>
                      <a:srgbClr val="FFFFFF"/>
                    </a:solidFill>
                  </a:tcPr>
                </a:tc>
                <a:tc>
                  <a:txBody>
                    <a:bodyPr/>
                    <a:lstStyle/>
                    <a:p>
                      <a:r>
                        <a:rPr sz="850" b="0">
                          <a:solidFill>
                            <a:srgbClr val="4B4B4B"/>
                          </a:solidFill>
                          <a:latin typeface="Arial"/>
                        </a:rPr>
                        <a:t>Landing page, Menu</a:t>
                      </a:r>
                    </a:p>
                  </a:txBody>
                  <a:tcPr marL="54864" marR="54864" marT="27432" marB="27432">
                    <a:solidFill>
                      <a:srgbClr val="FFFFFF"/>
                    </a:solidFill>
                  </a:tcPr>
                </a:tc>
              </a:tr>
              <a:tr h="220979">
                <a:tc>
                  <a:txBody>
                    <a:bodyPr/>
                    <a:lstStyle/>
                    <a:p>
                      <a:r>
                        <a:rPr sz="850" b="0">
                          <a:solidFill>
                            <a:srgbClr val="4B4B4B"/>
                          </a:solidFill>
                          <a:latin typeface="Arial"/>
                        </a:rPr>
                        <a:t>NAV-PM-11</a:t>
                      </a:r>
                    </a:p>
                  </a:txBody>
                  <a:tcPr marL="54864" marR="54864" marT="27432" marB="27432">
                    <a:solidFill>
                      <a:srgbClr val="E5F5FF"/>
                    </a:solidFill>
                  </a:tcPr>
                </a:tc>
                <a:tc>
                  <a:txBody>
                    <a:bodyPr/>
                    <a:lstStyle/>
                    <a:p>
                      <a:r>
                        <a:rPr sz="850" b="0">
                          <a:solidFill>
                            <a:srgbClr val="4B4B4B"/>
                          </a:solidFill>
                          <a:latin typeface="Arial"/>
                        </a:rPr>
                        <a:t>Landing page and menu: Auditor</a:t>
                      </a:r>
                    </a:p>
                  </a:txBody>
                  <a:tcPr marL="54864" marR="54864" marT="27432" marB="27432">
                    <a:solidFill>
                      <a:srgbClr val="E5F5FF"/>
                    </a:solidFill>
                  </a:tcPr>
                </a:tc>
                <a:tc>
                  <a:txBody>
                    <a:bodyPr/>
                    <a:lstStyle/>
                    <a:p>
                      <a:r>
                        <a:rPr sz="850" b="0">
                          <a:solidFill>
                            <a:srgbClr val="4B4B4B"/>
                          </a:solidFill>
                          <a:latin typeface="Arial"/>
                        </a:rPr>
                        <a:t>12.3</a:t>
                      </a:r>
                    </a:p>
                  </a:txBody>
                  <a:tcPr marL="54864" marR="54864" marT="27432" marB="27432">
                    <a:solidFill>
                      <a:srgbClr val="E5F5FF"/>
                    </a:solidFill>
                  </a:tcPr>
                </a:tc>
                <a:tc>
                  <a:txBody>
                    <a:bodyPr/>
                    <a:lstStyle/>
                    <a:p>
                      <a:r>
                        <a:rPr sz="850" b="0">
                          <a:solidFill>
                            <a:srgbClr val="4B4B4B"/>
                          </a:solidFill>
                          <a:latin typeface="Arial"/>
                        </a:rPr>
                        <a:t>-</a:t>
                      </a:r>
                    </a:p>
                  </a:txBody>
                  <a:tcPr marL="54864" marR="54864" marT="27432" marB="27432">
                    <a:solidFill>
                      <a:srgbClr val="E5F5FF"/>
                    </a:solidFill>
                  </a:tcPr>
                </a:tc>
                <a:tc>
                  <a:txBody>
                    <a:bodyPr/>
                    <a:lstStyle/>
                    <a:p>
                      <a:r>
                        <a:rPr sz="850" b="0">
                          <a:solidFill>
                            <a:srgbClr val="4B4B4B"/>
                          </a:solidFill>
                          <a:latin typeface="Arial"/>
                        </a:rPr>
                        <a:t>2</a:t>
                      </a:r>
                    </a:p>
                  </a:txBody>
                  <a:tcPr marL="54864" marR="54864" marT="27432" marB="27432">
                    <a:solidFill>
                      <a:srgbClr val="E5F5FF"/>
                    </a:solidFill>
                  </a:tcPr>
                </a:tc>
                <a:tc>
                  <a:txBody>
                    <a:bodyPr/>
                    <a:lstStyle/>
                    <a:p>
                      <a:r>
                        <a:rPr sz="850" b="0">
                          <a:solidFill>
                            <a:srgbClr val="4B4B4B"/>
                          </a:solidFill>
                          <a:latin typeface="Arial"/>
                        </a:rPr>
                        <a:t>Landing page, Menu</a:t>
                      </a:r>
                    </a:p>
                  </a:txBody>
                  <a:tcPr marL="54864" marR="54864" marT="27432" marB="27432">
                    <a:solidFill>
                      <a:srgbClr val="E5F5FF"/>
                    </a:solidFill>
                  </a:tcPr>
                </a:tc>
              </a:tr>
              <a:tr h="220979">
                <a:tc>
                  <a:txBody>
                    <a:bodyPr/>
                    <a:lstStyle/>
                    <a:p>
                      <a:r>
                        <a:rPr sz="850" b="0">
                          <a:solidFill>
                            <a:srgbClr val="4B4B4B"/>
                          </a:solidFill>
                          <a:latin typeface="Arial"/>
                        </a:rPr>
                        <a:t>DO-01</a:t>
                      </a:r>
                    </a:p>
                  </a:txBody>
                  <a:tcPr marL="54864" marR="54864" marT="27432" marB="27432">
                    <a:solidFill>
                      <a:srgbClr val="FFFFFF"/>
                    </a:solidFill>
                  </a:tcPr>
                </a:tc>
                <a:tc>
                  <a:txBody>
                    <a:bodyPr/>
                    <a:lstStyle/>
                    <a:p>
                      <a:r>
                        <a:rPr sz="850" b="0">
                          <a:solidFill>
                            <a:srgbClr val="4B4B4B"/>
                          </a:solidFill>
                          <a:latin typeface="Arial"/>
                        </a:rPr>
                        <a:t>Package Request Form</a:t>
                      </a:r>
                    </a:p>
                  </a:txBody>
                  <a:tcPr marL="54864" marR="54864" marT="27432" marB="27432">
                    <a:solidFill>
                      <a:srgbClr val="FFFFFF"/>
                    </a:solidFill>
                  </a:tcPr>
                </a:tc>
                <a:tc>
                  <a:txBody>
                    <a:bodyPr/>
                    <a:lstStyle/>
                    <a:p>
                      <a:r>
                        <a:rPr sz="850" b="0">
                          <a:solidFill>
                            <a:srgbClr val="4B4B4B"/>
                          </a:solidFill>
                          <a:latin typeface="Arial"/>
                        </a:rPr>
                        <a:t>17.1</a:t>
                      </a:r>
                    </a:p>
                  </a:txBody>
                  <a:tcPr marL="54864" marR="54864" marT="27432" marB="27432">
                    <a:solidFill>
                      <a:srgbClr val="FFFFFF"/>
                    </a:solidFill>
                  </a:tcPr>
                </a:tc>
                <a:tc>
                  <a:txBody>
                    <a:bodyPr/>
                    <a:lstStyle/>
                    <a:p>
                      <a:r>
                        <a:rPr sz="850" b="0">
                          <a:solidFill>
                            <a:srgbClr val="4B4B4B"/>
                          </a:solidFill>
                          <a:latin typeface="Arial"/>
                        </a:rPr>
                        <a:t>FR-PM-020</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DO-02</a:t>
                      </a:r>
                    </a:p>
                  </a:txBody>
                  <a:tcPr marL="54864" marR="54864" marT="27432" marB="27432">
                    <a:solidFill>
                      <a:srgbClr val="E5F5FF"/>
                    </a:solidFill>
                  </a:tcPr>
                </a:tc>
                <a:tc>
                  <a:txBody>
                    <a:bodyPr/>
                    <a:lstStyle/>
                    <a:p>
                      <a:r>
                        <a:rPr sz="850" b="0">
                          <a:solidFill>
                            <a:srgbClr val="4B4B4B"/>
                          </a:solidFill>
                          <a:latin typeface="Arial"/>
                        </a:rPr>
                        <a:t>Package quotation slip</a:t>
                      </a:r>
                    </a:p>
                  </a:txBody>
                  <a:tcPr marL="54864" marR="54864" marT="27432" marB="27432">
                    <a:solidFill>
                      <a:srgbClr val="E5F5FF"/>
                    </a:solidFill>
                  </a:tcPr>
                </a:tc>
                <a:tc>
                  <a:txBody>
                    <a:bodyPr/>
                    <a:lstStyle/>
                    <a:p>
                      <a:r>
                        <a:rPr sz="850" b="0">
                          <a:solidFill>
                            <a:srgbClr val="4B4B4B"/>
                          </a:solidFill>
                          <a:latin typeface="Arial"/>
                        </a:rPr>
                        <a:t>17.2</a:t>
                      </a:r>
                    </a:p>
                  </a:txBody>
                  <a:tcPr marL="54864" marR="54864" marT="27432" marB="27432">
                    <a:solidFill>
                      <a:srgbClr val="E5F5FF"/>
                    </a:solidFill>
                  </a:tcPr>
                </a:tc>
                <a:tc>
                  <a:txBody>
                    <a:bodyPr/>
                    <a:lstStyle/>
                    <a:p>
                      <a:r>
                        <a:rPr sz="850" b="0">
                          <a:solidFill>
                            <a:srgbClr val="4B4B4B"/>
                          </a:solidFill>
                          <a:latin typeface="Arial"/>
                        </a:rPr>
                        <a:t>FR-PM-030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r h="220979">
                <a:tc>
                  <a:txBody>
                    <a:bodyPr/>
                    <a:lstStyle/>
                    <a:p>
                      <a:r>
                        <a:rPr sz="850" b="0">
                          <a:solidFill>
                            <a:srgbClr val="4B4B4B"/>
                          </a:solidFill>
                          <a:latin typeface="Arial"/>
                        </a:rPr>
                        <a:t>DO-03</a:t>
                      </a:r>
                    </a:p>
                  </a:txBody>
                  <a:tcPr marL="54864" marR="54864" marT="27432" marB="27432">
                    <a:solidFill>
                      <a:srgbClr val="FFFFFF"/>
                    </a:solidFill>
                  </a:tcPr>
                </a:tc>
                <a:tc>
                  <a:txBody>
                    <a:bodyPr/>
                    <a:lstStyle/>
                    <a:p>
                      <a:r>
                        <a:rPr sz="850" b="0">
                          <a:solidFill>
                            <a:srgbClr val="4B4B4B"/>
                          </a:solidFill>
                          <a:latin typeface="Arial"/>
                        </a:rPr>
                        <a:t>Comparative table (audit master and client view)</a:t>
                      </a:r>
                    </a:p>
                  </a:txBody>
                  <a:tcPr marL="54864" marR="54864" marT="27432" marB="27432">
                    <a:solidFill>
                      <a:srgbClr val="FFFFFF"/>
                    </a:solidFill>
                  </a:tcPr>
                </a:tc>
                <a:tc>
                  <a:txBody>
                    <a:bodyPr/>
                    <a:lstStyle/>
                    <a:p>
                      <a:r>
                        <a:rPr sz="850" b="0">
                          <a:solidFill>
                            <a:srgbClr val="4B4B4B"/>
                          </a:solidFill>
                          <a:latin typeface="Arial"/>
                        </a:rPr>
                        <a:t>17.3</a:t>
                      </a:r>
                    </a:p>
                  </a:txBody>
                  <a:tcPr marL="54864" marR="54864" marT="27432" marB="27432">
                    <a:solidFill>
                      <a:srgbClr val="FFFFFF"/>
                    </a:solidFill>
                  </a:tcPr>
                </a:tc>
                <a:tc>
                  <a:txBody>
                    <a:bodyPr/>
                    <a:lstStyle/>
                    <a:p>
                      <a:r>
                        <a:rPr sz="850" b="0">
                          <a:solidFill>
                            <a:srgbClr val="4B4B4B"/>
                          </a:solidFill>
                          <a:latin typeface="Arial"/>
                        </a:rPr>
                        <a:t>FR-PM-034, FR-PM-035</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DO-04</a:t>
                      </a:r>
                    </a:p>
                  </a:txBody>
                  <a:tcPr marL="54864" marR="54864" marT="27432" marB="27432">
                    <a:solidFill>
                      <a:srgbClr val="E5F5FF"/>
                    </a:solidFill>
                  </a:tcPr>
                </a:tc>
                <a:tc>
                  <a:txBody>
                    <a:bodyPr/>
                    <a:lstStyle/>
                    <a:p>
                      <a:r>
                        <a:rPr sz="850" b="0">
                          <a:solidFill>
                            <a:srgbClr val="4B4B4B"/>
                          </a:solidFill>
                          <a:latin typeface="Arial"/>
                        </a:rPr>
                        <a:t>Package slip</a:t>
                      </a:r>
                    </a:p>
                  </a:txBody>
                  <a:tcPr marL="54864" marR="54864" marT="27432" marB="27432">
                    <a:solidFill>
                      <a:srgbClr val="E5F5FF"/>
                    </a:solidFill>
                  </a:tcPr>
                </a:tc>
                <a:tc>
                  <a:txBody>
                    <a:bodyPr/>
                    <a:lstStyle/>
                    <a:p>
                      <a:r>
                        <a:rPr sz="850" b="0">
                          <a:solidFill>
                            <a:srgbClr val="4B4B4B"/>
                          </a:solidFill>
                          <a:latin typeface="Arial"/>
                        </a:rPr>
                        <a:t>17.4</a:t>
                      </a:r>
                    </a:p>
                  </a:txBody>
                  <a:tcPr marL="54864" marR="54864" marT="27432" marB="27432">
                    <a:solidFill>
                      <a:srgbClr val="E5F5FF"/>
                    </a:solidFill>
                  </a:tcPr>
                </a:tc>
                <a:tc>
                  <a:txBody>
                    <a:bodyPr/>
                    <a:lstStyle/>
                    <a:p>
                      <a:r>
                        <a:rPr sz="850" b="0">
                          <a:solidFill>
                            <a:srgbClr val="4B4B4B"/>
                          </a:solidFill>
                          <a:latin typeface="Arial"/>
                        </a:rPr>
                        <a:t>FR-PM-040</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Screen ID, FRS section and requirements (3 of 3)</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UX Screen Deck BRD-3 Product Maintenance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410</a:t>
            </a:r>
          </a:p>
        </p:txBody>
      </p:sp>
      <p:graphicFrame>
        <p:nvGraphicFramePr>
          <p:cNvPr id="9" name="Table 8"/>
          <p:cNvGraphicFramePr>
            <a:graphicFrameLocks noGrp="1"/>
          </p:cNvGraphicFramePr>
          <p:nvPr/>
        </p:nvGraphicFramePr>
        <p:xfrm>
          <a:off x="548640" y="1325880"/>
          <a:ext cx="11094412" cy="662937"/>
        </p:xfrm>
        <a:graphic>
          <a:graphicData uri="http://schemas.openxmlformats.org/drawingml/2006/table">
            <a:tbl>
              <a:tblPr firstRow="1" bandRow="1">
                <a:tableStyleId>{5C22544A-7EE6-4342-B048-85BDC9FD1C3A}</a:tableStyleId>
              </a:tblPr>
              <a:tblGrid>
                <a:gridCol w="1109441"/>
                <a:gridCol w="2816274"/>
                <a:gridCol w="938758"/>
                <a:gridCol w="2560249"/>
                <a:gridCol w="682733"/>
                <a:gridCol w="2986957"/>
              </a:tblGrid>
              <a:tr h="220979">
                <a:tc>
                  <a:txBody>
                    <a:bodyPr/>
                    <a:lstStyle/>
                    <a:p>
                      <a:r>
                        <a:rPr sz="850" b="1">
                          <a:solidFill>
                            <a:srgbClr val="FFFFFF"/>
                          </a:solidFill>
                          <a:latin typeface="Arial"/>
                        </a:rPr>
                        <a:t>Screen ID</a:t>
                      </a:r>
                    </a:p>
                  </a:txBody>
                  <a:tcPr marL="54864" marR="54864" marT="27432" marB="27432">
                    <a:solidFill>
                      <a:srgbClr val="004EA8"/>
                    </a:solidFill>
                  </a:tcPr>
                </a:tc>
                <a:tc>
                  <a:txBody>
                    <a:bodyPr/>
                    <a:lstStyle/>
                    <a:p>
                      <a:r>
                        <a:rPr sz="850" b="1">
                          <a:solidFill>
                            <a:srgbClr val="FFFFFF"/>
                          </a:solidFill>
                          <a:latin typeface="Arial"/>
                        </a:rPr>
                        <a:t>Screen</a:t>
                      </a:r>
                    </a:p>
                  </a:txBody>
                  <a:tcPr marL="54864" marR="54864" marT="27432" marB="27432">
                    <a:solidFill>
                      <a:srgbClr val="004EA8"/>
                    </a:solidFill>
                  </a:tcPr>
                </a:tc>
                <a:tc>
                  <a:txBody>
                    <a:bodyPr/>
                    <a:lstStyle/>
                    <a:p>
                      <a:r>
                        <a:rPr sz="850" b="1">
                          <a:solidFill>
                            <a:srgbClr val="FFFFFF"/>
                          </a:solidFill>
                          <a:latin typeface="Arial"/>
                        </a:rPr>
                        <a:t>FRS section</a:t>
                      </a:r>
                    </a:p>
                  </a:txBody>
                  <a:tcPr marL="54864" marR="54864" marT="27432" marB="27432">
                    <a:solidFill>
                      <a:srgbClr val="004EA8"/>
                    </a:solidFill>
                  </a:tcPr>
                </a:tc>
                <a:tc>
                  <a:txBody>
                    <a:bodyPr/>
                    <a:lstStyle/>
                    <a:p>
                      <a:r>
                        <a:rPr sz="850" b="1">
                          <a:solidFill>
                            <a:srgbClr val="FFFFFF"/>
                          </a:solidFill>
                          <a:latin typeface="Arial"/>
                        </a:rPr>
                        <a:t>Requirements</a:t>
                      </a:r>
                    </a:p>
                  </a:txBody>
                  <a:tcPr marL="54864" marR="54864" marT="27432" marB="27432">
                    <a:solidFill>
                      <a:srgbClr val="004EA8"/>
                    </a:solidFill>
                  </a:tcPr>
                </a:tc>
                <a:tc>
                  <a:txBody>
                    <a:bodyPr/>
                    <a:lstStyle/>
                    <a:p>
                      <a:r>
                        <a:rPr sz="850" b="1">
                          <a:solidFill>
                            <a:srgbClr val="FFFFFF"/>
                          </a:solidFill>
                          <a:latin typeface="Arial"/>
                        </a:rPr>
                        <a:t>Images</a:t>
                      </a:r>
                    </a:p>
                  </a:txBody>
                  <a:tcPr marL="54864" marR="54864" marT="27432" marB="27432">
                    <a:solidFill>
                      <a:srgbClr val="004EA8"/>
                    </a:solidFill>
                  </a:tcPr>
                </a:tc>
                <a:tc>
                  <a:txBody>
                    <a:bodyPr/>
                    <a:lstStyle/>
                    <a:p>
                      <a:r>
                        <a:rPr sz="850" b="1">
                          <a:solidFill>
                            <a:srgbClr val="FFFFFF"/>
                          </a:solidFill>
                          <a:latin typeface="Arial"/>
                        </a:rPr>
                        <a:t>States</a:t>
                      </a:r>
                    </a:p>
                  </a:txBody>
                  <a:tcPr marL="54864" marR="54864" marT="27432" marB="27432">
                    <a:solidFill>
                      <a:srgbClr val="004EA8"/>
                    </a:solidFill>
                  </a:tcPr>
                </a:tc>
              </a:tr>
              <a:tr h="220979">
                <a:tc>
                  <a:txBody>
                    <a:bodyPr/>
                    <a:lstStyle/>
                    <a:p>
                      <a:r>
                        <a:rPr sz="850" b="0">
                          <a:solidFill>
                            <a:srgbClr val="4B4B4B"/>
                          </a:solidFill>
                          <a:latin typeface="Arial"/>
                        </a:rPr>
                        <a:t>DO-05</a:t>
                      </a:r>
                    </a:p>
                  </a:txBody>
                  <a:tcPr marL="54864" marR="54864" marT="27432" marB="27432">
                    <a:solidFill>
                      <a:srgbClr val="FFFFFF"/>
                    </a:solidFill>
                  </a:tcPr>
                </a:tc>
                <a:tc>
                  <a:txBody>
                    <a:bodyPr/>
                    <a:lstStyle/>
                    <a:p>
                      <a:r>
                        <a:rPr sz="850" b="0">
                          <a:solidFill>
                            <a:srgbClr val="4B4B4B"/>
                          </a:solidFill>
                          <a:latin typeface="Arial"/>
                        </a:rPr>
                        <a:t>ManCom sign-off record</a:t>
                      </a:r>
                    </a:p>
                  </a:txBody>
                  <a:tcPr marL="54864" marR="54864" marT="27432" marB="27432">
                    <a:solidFill>
                      <a:srgbClr val="FFFFFF"/>
                    </a:solidFill>
                  </a:tcPr>
                </a:tc>
                <a:tc>
                  <a:txBody>
                    <a:bodyPr/>
                    <a:lstStyle/>
                    <a:p>
                      <a:r>
                        <a:rPr sz="850" b="0">
                          <a:solidFill>
                            <a:srgbClr val="4B4B4B"/>
                          </a:solidFill>
                          <a:latin typeface="Arial"/>
                        </a:rPr>
                        <a:t>17.5</a:t>
                      </a:r>
                    </a:p>
                  </a:txBody>
                  <a:tcPr marL="54864" marR="54864" marT="27432" marB="27432">
                    <a:solidFill>
                      <a:srgbClr val="FFFFFF"/>
                    </a:solidFill>
                  </a:tcPr>
                </a:tc>
                <a:tc>
                  <a:txBody>
                    <a:bodyPr/>
                    <a:lstStyle/>
                    <a:p>
                      <a:r>
                        <a:rPr sz="850" b="0">
                          <a:solidFill>
                            <a:srgbClr val="4B4B4B"/>
                          </a:solidFill>
                          <a:latin typeface="Arial"/>
                        </a:rPr>
                        <a:t>FR-PM-041</a:t>
                      </a:r>
                    </a:p>
                  </a:txBody>
                  <a:tcPr marL="54864" marR="54864" marT="27432" marB="27432">
                    <a:solidFill>
                      <a:srgbClr val="FFFFFF"/>
                    </a:solidFill>
                  </a:tcPr>
                </a:tc>
                <a:tc>
                  <a:txBody>
                    <a:bodyPr/>
                    <a:lstStyle/>
                    <a:p>
                      <a:r>
                        <a:rPr sz="850" b="0">
                          <a:solidFill>
                            <a:srgbClr val="4B4B4B"/>
                          </a:solidFill>
                          <a:latin typeface="Arial"/>
                        </a:rPr>
                        <a:t>1</a:t>
                      </a:r>
                    </a:p>
                  </a:txBody>
                  <a:tcPr marL="54864" marR="54864" marT="27432" marB="27432">
                    <a:solidFill>
                      <a:srgbClr val="FFFFFF"/>
                    </a:solidFill>
                  </a:tcPr>
                </a:tc>
                <a:tc>
                  <a:txBody>
                    <a:bodyPr/>
                    <a:lstStyle/>
                    <a:p>
                      <a:r>
                        <a:rPr sz="850" b="0">
                          <a:solidFill>
                            <a:srgbClr val="4B4B4B"/>
                          </a:solidFill>
                          <a:latin typeface="Arial"/>
                        </a:rPr>
                        <a:t>Document as received</a:t>
                      </a:r>
                    </a:p>
                  </a:txBody>
                  <a:tcPr marL="54864" marR="54864" marT="27432" marB="27432">
                    <a:solidFill>
                      <a:srgbClr val="FFFFFF"/>
                    </a:solidFill>
                  </a:tcPr>
                </a:tc>
              </a:tr>
              <a:tr h="220979">
                <a:tc>
                  <a:txBody>
                    <a:bodyPr/>
                    <a:lstStyle/>
                    <a:p>
                      <a:r>
                        <a:rPr sz="850" b="0">
                          <a:solidFill>
                            <a:srgbClr val="4B4B4B"/>
                          </a:solidFill>
                          <a:latin typeface="Arial"/>
                        </a:rPr>
                        <a:t>DO-06</a:t>
                      </a:r>
                    </a:p>
                  </a:txBody>
                  <a:tcPr marL="54864" marR="54864" marT="27432" marB="27432">
                    <a:solidFill>
                      <a:srgbClr val="E5F5FF"/>
                    </a:solidFill>
                  </a:tcPr>
                </a:tc>
                <a:tc>
                  <a:txBody>
                    <a:bodyPr/>
                    <a:lstStyle/>
                    <a:p>
                      <a:r>
                        <a:rPr sz="850" b="0">
                          <a:solidFill>
                            <a:srgbClr val="4B4B4B"/>
                          </a:solidFill>
                          <a:latin typeface="Arial"/>
                        </a:rPr>
                        <a:t>Package advisory</a:t>
                      </a:r>
                    </a:p>
                  </a:txBody>
                  <a:tcPr marL="54864" marR="54864" marT="27432" marB="27432">
                    <a:solidFill>
                      <a:srgbClr val="E5F5FF"/>
                    </a:solidFill>
                  </a:tcPr>
                </a:tc>
                <a:tc>
                  <a:txBody>
                    <a:bodyPr/>
                    <a:lstStyle/>
                    <a:p>
                      <a:r>
                        <a:rPr sz="850" b="0">
                          <a:solidFill>
                            <a:srgbClr val="4B4B4B"/>
                          </a:solidFill>
                          <a:latin typeface="Arial"/>
                        </a:rPr>
                        <a:t>17.6</a:t>
                      </a:r>
                    </a:p>
                  </a:txBody>
                  <a:tcPr marL="54864" marR="54864" marT="27432" marB="27432">
                    <a:solidFill>
                      <a:srgbClr val="E5F5FF"/>
                    </a:solidFill>
                  </a:tcPr>
                </a:tc>
                <a:tc>
                  <a:txBody>
                    <a:bodyPr/>
                    <a:lstStyle/>
                    <a:p>
                      <a:r>
                        <a:rPr sz="850" b="0">
                          <a:solidFill>
                            <a:srgbClr val="4B4B4B"/>
                          </a:solidFill>
                          <a:latin typeface="Arial"/>
                        </a:rPr>
                        <a:t>FR-PM-044</a:t>
                      </a:r>
                    </a:p>
                  </a:txBody>
                  <a:tcPr marL="54864" marR="54864" marT="27432" marB="27432">
                    <a:solidFill>
                      <a:srgbClr val="E5F5FF"/>
                    </a:solidFill>
                  </a:tcPr>
                </a:tc>
                <a:tc>
                  <a:txBody>
                    <a:bodyPr/>
                    <a:lstStyle/>
                    <a:p>
                      <a:r>
                        <a:rPr sz="850" b="0">
                          <a:solidFill>
                            <a:srgbClr val="4B4B4B"/>
                          </a:solidFill>
                          <a:latin typeface="Arial"/>
                        </a:rPr>
                        <a:t>1</a:t>
                      </a:r>
                    </a:p>
                  </a:txBody>
                  <a:tcPr marL="54864" marR="54864" marT="27432" marB="27432">
                    <a:solidFill>
                      <a:srgbClr val="E5F5FF"/>
                    </a:solidFill>
                  </a:tcPr>
                </a:tc>
                <a:tc>
                  <a:txBody>
                    <a:bodyPr/>
                    <a:lstStyle/>
                    <a:p>
                      <a:r>
                        <a:rPr sz="850" b="0">
                          <a:solidFill>
                            <a:srgbClr val="4B4B4B"/>
                          </a:solidFill>
                          <a:latin typeface="Arial"/>
                        </a:rPr>
                        <a:t>Document as received</a:t>
                      </a:r>
                    </a:p>
                  </a:txBody>
                  <a:tcPr marL="54864" marR="54864" marT="27432" marB="27432">
                    <a:solidFill>
                      <a:srgbClr val="E5F5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UX Screen Deck BRD-3 Product Maintenance</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